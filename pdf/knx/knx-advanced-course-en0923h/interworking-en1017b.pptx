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37"/>
  </p:notesMasterIdLst>
  <p:handoutMasterIdLst>
    <p:handoutMasterId r:id="rId38"/>
  </p:handoutMasterIdLst>
  <p:sldIdLst>
    <p:sldId id="256" r:id="rId2"/>
    <p:sldId id="308" r:id="rId3"/>
    <p:sldId id="258" r:id="rId4"/>
    <p:sldId id="309" r:id="rId5"/>
    <p:sldId id="310" r:id="rId6"/>
    <p:sldId id="259" r:id="rId7"/>
    <p:sldId id="286" r:id="rId8"/>
    <p:sldId id="311" r:id="rId9"/>
    <p:sldId id="312" r:id="rId10"/>
    <p:sldId id="313" r:id="rId11"/>
    <p:sldId id="314" r:id="rId12"/>
    <p:sldId id="315" r:id="rId13"/>
    <p:sldId id="316" r:id="rId14"/>
    <p:sldId id="317" r:id="rId15"/>
    <p:sldId id="318" r:id="rId16"/>
    <p:sldId id="319" r:id="rId17"/>
    <p:sldId id="320" r:id="rId18"/>
    <p:sldId id="288" r:id="rId19"/>
    <p:sldId id="289" r:id="rId20"/>
    <p:sldId id="290" r:id="rId21"/>
    <p:sldId id="291" r:id="rId22"/>
    <p:sldId id="292" r:id="rId23"/>
    <p:sldId id="293" r:id="rId24"/>
    <p:sldId id="294" r:id="rId25"/>
    <p:sldId id="296" r:id="rId26"/>
    <p:sldId id="295" r:id="rId27"/>
    <p:sldId id="297" r:id="rId28"/>
    <p:sldId id="298" r:id="rId29"/>
    <p:sldId id="299" r:id="rId30"/>
    <p:sldId id="301" r:id="rId31"/>
    <p:sldId id="300" r:id="rId32"/>
    <p:sldId id="302" r:id="rId33"/>
    <p:sldId id="303" r:id="rId34"/>
    <p:sldId id="304" r:id="rId35"/>
    <p:sldId id="305" r:id="rId36"/>
  </p:sldIdLst>
  <p:sldSz cx="9144000" cy="6858000" type="screen4x3"/>
  <p:notesSz cx="6858000" cy="9144000"/>
  <p:custDataLst>
    <p:tags r:id="rId3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06.04.2023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Already under the predecessor system to KNX, i.e. EIB, the Association not only took care of the standardisation of the protocol but also laid down rules for the encoding of the useful data inside telegrams.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Without standardisation of this aspect, devices of different manufacturers would be able to talk KNX but could still code the useful data contained in the tail of the telegram differently, e.g. manufacturer A would code temperatures as 1 byte and another as 3 bytes.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a start such group objects could then not be linked by means of ETS and secondly, these devices would not understand one another.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order to ensure interworking between manufacturers and even products of different application domains, KNX Association therefore laid down formats for common functions like switching, dimming, blinds control, integer and float values, percentage, date/time, HVAC modes, scene control, …. These formats are referred to as “KNX standardized Data types”.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most common data types were also standardized on a European level and integrated into the EN 50090 series as Part 3-3.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standardized format for a certain function exists, for certification the KNX manufacturer is obliged to use this format. Compliance to the format is also checked during the KNX interworking tests as carried out by KNX accredited test labs.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Advantages of Interworking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benefits of Home and Building Control only become truly visible when devices of different manufacturers and different application domains interwork: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Presence detector is part of the alarm system at night;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Room thermostat of Manufacturer A sets position of valves of Manufacturer B;</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“All off” button of Manufacturer A switches the lights off, controlled by switching actuators of Manufacturer B, C, D,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Scheduler of Manufacturer A ensures presence simulation, thereby controlling blinds of Manufacturer B</a:t>
            </a:r>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dirty="0">
                <a:solidFill>
                  <a:schemeClr val="tx1"/>
                </a:solidFill>
                <a:effectLst/>
                <a:latin typeface="Arial" charset="0"/>
                <a:ea typeface="+mn-ea"/>
                <a:cs typeface="+mn-cs"/>
              </a:rPr>
              <a:t>It goes without saying that this is an enormous benefit to end users. When a product line A is defective but Manufacturer A has discontinued product line, the end user can find a replacement at Manufacturer B.</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system with true interworking also attracts manufacturers of niche products, as one single manufacturer can simply not offer all possible HBES solutions, from lighting to HVAC to Load management, etc.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This in turn boosts the OEM market: what Manufacturer A does not produce himself, he can easily find at another HBES manufacturer and complete his offer by </a:t>
            </a:r>
            <a:r>
              <a:rPr lang="en-GB" sz="1200" kern="1200" dirty="0" err="1">
                <a:solidFill>
                  <a:schemeClr val="tx1"/>
                </a:solidFill>
                <a:effectLst/>
                <a:latin typeface="Arial" charset="0"/>
                <a:ea typeface="+mn-ea"/>
                <a:cs typeface="+mn-cs"/>
              </a:rPr>
              <a:t>relabeling</a:t>
            </a:r>
            <a:r>
              <a:rPr lang="en-GB" sz="1200" kern="1200" dirty="0">
                <a:solidFill>
                  <a:schemeClr val="tx1"/>
                </a:solidFill>
                <a:effectLst/>
                <a:latin typeface="Arial" charset="0"/>
                <a:ea typeface="+mn-ea"/>
                <a:cs typeface="+mn-cs"/>
              </a:rPr>
              <a:t> the products he buys from Manufacturer 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Gateway solutions between KNX and proprietary or other standardized systems (e.g. DALI, BACnet, …) are easier to develop, as the proprietary encoding can be easily mapped to common KNX data formats as described in the KNX standard.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Last but not least, it would have been impossible for KNX to establish the common market infrastructure that exists today: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fact that all products of all manufacturers can be linked to one working installation is the corner stone of the KNX one configuration tool (ETS) approach.</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It would have been impossible to establish the common training scheme for the training of persons interested in using the KNX technology in home or commercial projects. The training scheme of Basic, Advanced and Tutor courses is worldwide standardized. In contrast to that, manufacturers of proprietary systems must establish each individually their own training schemes and users of such material must visit several courses if they wish to combine material of several manufacturers into an installation. </a:t>
            </a:r>
            <a:endParaRPr lang="en-GB"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nl-BE" sz="1200" kern="1200" dirty="0">
                <a:solidFill>
                  <a:schemeClr val="tx1"/>
                </a:solidFill>
                <a:effectLst/>
                <a:latin typeface="Arial" charset="0"/>
                <a:ea typeface="+mn-ea"/>
                <a:cs typeface="+mn-cs"/>
              </a:rPr>
              <a:t>OEM: Original Equipment Manufacturer</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Principles of KNX Interworking</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KNX devices that are programmed with the ETS, KNX requires that at least the group objects are coded according to KNX standardized data types. The encoding of parameters that are described in the product data  descriptions can be manufacturer specific.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some of the device types (e.g. like dimming, blind control or switching with priority), it is however necessary that actuators show a certain behaviour when data is sent to the available group objects. In this case, the specification of functional blocks becomes necessary and needs to be complied with during KNX product certification.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Functional blocks group a number of inputs, outputs and parameters. For this combination, a precise function description is provided.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Especially when devices support Easy installation, a clear definition of the description of each channel in the device in the form of functional blocks is necessary. </a:t>
            </a:r>
            <a:endParaRPr lang="es-ES" sz="14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20423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Coding of Datapoint types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Introduction</a:t>
            </a:r>
          </a:p>
          <a:p>
            <a:r>
              <a:rPr lang="en-GB" sz="1200" kern="1200" dirty="0">
                <a:solidFill>
                  <a:schemeClr val="tx1"/>
                </a:solidFill>
                <a:effectLst/>
                <a:latin typeface="Arial" charset="0"/>
                <a:ea typeface="+mn-ea"/>
                <a:cs typeface="+mn-cs"/>
              </a:rPr>
              <a:t>A group object is regarded as a certain type of datapoint. Also parameters can be regarded as datapoints.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Datapoint type is determined by the following four elements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Format:	Which fields is the Datapoint type composed of? Each field can consist of one or several bits.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Coding:	How is the data encoded?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Value range:	Are there any limitations to the value range? There may be different minimum and maximum values or valid values for each field or lists of valid values.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Unit:	Which units does the data of the individual fields have?</a:t>
            </a:r>
            <a:endParaRPr lang="es-ES" sz="1200"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612110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Principle Datapoint types classes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Five classes can be distinguished according to their internal structure. More explanation is given in the next clauses.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Simple Types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Examples of simple types are: </a:t>
            </a:r>
            <a:r>
              <a:rPr lang="en-GB" sz="1200" kern="1200" dirty="0" err="1">
                <a:solidFill>
                  <a:schemeClr val="tx1"/>
                </a:solidFill>
                <a:effectLst/>
                <a:latin typeface="Arial" charset="0"/>
                <a:ea typeface="+mn-ea"/>
                <a:cs typeface="+mn-cs"/>
              </a:rPr>
              <a:t>boolean</a:t>
            </a:r>
            <a:r>
              <a:rPr lang="en-GB" sz="1200" kern="1200" dirty="0">
                <a:solidFill>
                  <a:schemeClr val="tx1"/>
                </a:solidFill>
                <a:effectLst/>
                <a:latin typeface="Arial" charset="0"/>
                <a:ea typeface="+mn-ea"/>
                <a:cs typeface="+mn-cs"/>
              </a:rPr>
              <a:t> values, pure numerical values.</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Enumerated Types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Enumerations are used for datapoints with a clearly limited number of values and no precise hierarchical order. If a datapoint uses an enumerated data type, all possible states shall be described. If invalid / undefined values are sent, no malfunctions may occur.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Examples are: Toggling between “Comfort”, “Standby” “Night”,… operating modes in room thermostats.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Structured Types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Structured Datapoint types consist of several parts which are combined in a datapoint. Only fields which cannot be interpreted meaningfully on their own can be combined to a structured Datapoint type.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Examples are : KNX relative dimming (3.007 </a:t>
            </a:r>
            <a:r>
              <a:rPr lang="en-GB" sz="1200" kern="1200" dirty="0" err="1">
                <a:solidFill>
                  <a:schemeClr val="tx1"/>
                </a:solidFill>
                <a:effectLst/>
                <a:latin typeface="Arial" charset="0"/>
                <a:ea typeface="+mn-ea"/>
                <a:cs typeface="+mn-cs"/>
              </a:rPr>
              <a:t>DPT_Control_Dimming</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Status Types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Datapoint types for transmitting status information should meet two goals:</a:t>
            </a:r>
            <a:endParaRPr lang="es-ES" sz="1200" kern="1200" dirty="0">
              <a:solidFill>
                <a:schemeClr val="tx1"/>
              </a:solidFill>
              <a:effectLst/>
              <a:latin typeface="Arial" charset="0"/>
              <a:ea typeface="+mn-ea"/>
              <a:cs typeface="+mn-cs"/>
            </a:endParaRPr>
          </a:p>
          <a:p>
            <a:pPr marL="228600" lvl="0" indent="-228600">
              <a:buFont typeface="+mj-lt"/>
              <a:buAutoNum type="arabicPeriod"/>
            </a:pPr>
            <a:r>
              <a:rPr lang="en-GB" sz="1200" kern="1200" dirty="0">
                <a:solidFill>
                  <a:schemeClr val="tx1"/>
                </a:solidFill>
                <a:effectLst/>
                <a:latin typeface="Arial" charset="0"/>
                <a:ea typeface="+mn-ea"/>
                <a:cs typeface="+mn-cs"/>
              </a:rPr>
              <a:t>A device should be able to report its operating mode to other devices.</a:t>
            </a:r>
            <a:endParaRPr lang="es-ES" sz="1200" kern="1200" dirty="0">
              <a:solidFill>
                <a:schemeClr val="tx1"/>
              </a:solidFill>
              <a:effectLst/>
              <a:latin typeface="Arial" charset="0"/>
              <a:ea typeface="+mn-ea"/>
              <a:cs typeface="+mn-cs"/>
            </a:endParaRPr>
          </a:p>
          <a:p>
            <a:pPr marL="228600" lvl="0" indent="-228600">
              <a:buFont typeface="+mj-lt"/>
              <a:buAutoNum type="arabicPeriod"/>
            </a:pPr>
            <a:r>
              <a:rPr lang="en-GB" sz="1200" kern="1200" dirty="0">
                <a:solidFill>
                  <a:schemeClr val="tx1"/>
                </a:solidFill>
                <a:effectLst/>
                <a:latin typeface="Arial" charset="0"/>
                <a:ea typeface="+mn-ea"/>
                <a:cs typeface="+mn-cs"/>
              </a:rPr>
              <a:t>A device should be able to be switched to a specific operating mode.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achieve this, further bits are sent as a mask in addition to the actual status information. The mask determines whether the data of the status fields should be used as valid commands or only for information purposes.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Datapoint types are primarily used in the area of heating technology.</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Principle Datapoint types classes</a:t>
            </a:r>
            <a:endParaRPr lang="es-ES" sz="1200" b="1"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“Multi-state” Types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Multi-state Datapoint types are intended for transmitting data</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of which the encodable values follow a hierarchical sequence and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of which all encodable values are meaningful</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Examples: a fan controller (motor) can drive the fan from standstill over 5 positions up to a maximum speed. </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Definition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be able to cover all cases in which senders and receivers operate with many different steps, they both convert their steps to a range between 0 and 255.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applies for the sender: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value is rounded up or down and sent as a byte without a sign.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applies for the receiver: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75673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“Multi-state” Types Example</a:t>
            </a:r>
          </a:p>
          <a:p>
            <a:pPr lvl="0"/>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Example: A sender with 3 steps (N</a:t>
            </a:r>
            <a:r>
              <a:rPr lang="en-GB" sz="1200" kern="1200" baseline="-25000" dirty="0">
                <a:solidFill>
                  <a:schemeClr val="tx1"/>
                </a:solidFill>
                <a:effectLst/>
                <a:latin typeface="Arial" charset="0"/>
                <a:ea typeface="+mn-ea"/>
                <a:cs typeface="+mn-cs"/>
              </a:rPr>
              <a:t>S</a:t>
            </a:r>
            <a:r>
              <a:rPr lang="en-GB" sz="1200" kern="1200" dirty="0">
                <a:solidFill>
                  <a:schemeClr val="tx1"/>
                </a:solidFill>
                <a:effectLst/>
                <a:latin typeface="Arial" charset="0"/>
                <a:ea typeface="+mn-ea"/>
                <a:cs typeface="+mn-cs"/>
              </a:rPr>
              <a:t>=3) controls a receiver with 5 steps (N</a:t>
            </a:r>
            <a:r>
              <a:rPr lang="en-GB" sz="1200" kern="1200" baseline="-25000" dirty="0">
                <a:solidFill>
                  <a:schemeClr val="tx1"/>
                </a:solidFill>
                <a:effectLst/>
                <a:latin typeface="Arial" charset="0"/>
                <a:ea typeface="+mn-ea"/>
                <a:cs typeface="+mn-cs"/>
              </a:rPr>
              <a:t>R</a:t>
            </a:r>
            <a:r>
              <a:rPr lang="en-GB" sz="1200" kern="1200" dirty="0">
                <a:solidFill>
                  <a:schemeClr val="tx1"/>
                </a:solidFill>
                <a:effectLst/>
                <a:latin typeface="Arial" charset="0"/>
                <a:ea typeface="+mn-ea"/>
                <a:cs typeface="+mn-cs"/>
              </a:rPr>
              <a:t>=5).</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Step 2 (S</a:t>
            </a:r>
            <a:r>
              <a:rPr lang="en-GB" sz="1200" kern="1200" baseline="-25000" dirty="0">
                <a:solidFill>
                  <a:schemeClr val="tx1"/>
                </a:solidFill>
                <a:effectLst/>
                <a:latin typeface="Arial" charset="0"/>
                <a:ea typeface="+mn-ea"/>
                <a:cs typeface="+mn-cs"/>
              </a:rPr>
              <a:t> x</a:t>
            </a:r>
            <a:r>
              <a:rPr lang="en-GB" sz="1200" kern="1200" dirty="0">
                <a:solidFill>
                  <a:schemeClr val="tx1"/>
                </a:solidFill>
                <a:effectLst/>
                <a:latin typeface="Arial" charset="0"/>
                <a:ea typeface="+mn-ea"/>
                <a:cs typeface="+mn-cs"/>
              </a:rPr>
              <a:t>=2) of the sender is thus transmitted as = 170. The receiver interprets this as and moves to its level 3.</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Datapoint types can only be used if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states have a clearly defined sequence,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no exact linear conversion of the steps between sender and receiver is required</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687325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common datapoint types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Introduction</a:t>
            </a:r>
            <a:endParaRPr lang="es-ES" sz="16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section lists some common KNX Datapoint types.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All Datapoint types have a unique identification consisting of two digits. The first digit denotes the format and the encoding. The second digit represents the value range and the unit.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course of technical development, KNX members may submit suggestions for new Datapoint types to the KNX Association. New Datapoint types are also drawn up by the responsible KNX working group ‘WGI’ (Working Group Interworking) when elaborating new application descriptions and corresponding KNX standardised functional blocks.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Group objects complying to DPT types with a size of 6 bits or less only use the bits directly following the APCI (any unused bits are set to zero) in the KNX telegram. Any group objects complying to DPTs with a size greater than 6 bits will result in telegrams, where the 6 bits following the APCI are set to zero and the useful data padded after these unused bits.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13280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Boolean Data</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ID 1.xxx is used for all possible applications in which two different values are to be set or sent. </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Datapoint types B</a:t>
            </a:r>
            <a:r>
              <a:rPr lang="en-GB" sz="1200" b="1" kern="1200" baseline="-25000" dirty="0">
                <a:solidFill>
                  <a:schemeClr val="tx1"/>
                </a:solidFill>
                <a:effectLst/>
                <a:latin typeface="Arial" charset="0"/>
                <a:ea typeface="+mn-ea"/>
                <a:cs typeface="+mn-cs"/>
              </a:rPr>
              <a:t>1</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506326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Bit with priority control</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Datapoint types are intended for applications offering a priority control that has precedence over the normal (manual) operation. In other words, if an actuator is switched via its priority datapoint, switching via its usual DPT 1.xxx group objects is disabled.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Switching with priority is ensured via 2-bit Datapoint types.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interaction between the 2 and the 1 bit datapoint functions according to the underneath diagram.</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3540668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Bit with priority control</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Datapoint types B</a:t>
            </a:r>
            <a:r>
              <a:rPr lang="en-GB" sz="1200" b="1" kern="1200" baseline="-25000" dirty="0">
                <a:solidFill>
                  <a:schemeClr val="tx1"/>
                </a:solidFill>
                <a:effectLst/>
                <a:latin typeface="Arial" charset="0"/>
                <a:ea typeface="+mn-ea"/>
                <a:cs typeface="+mn-cs"/>
              </a:rPr>
              <a:t>2</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583911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3 Bit with Control</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Datapoint types are amongst others used to realize relative dimming or moving blinds relative to a certain start position.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Datapoint </a:t>
            </a:r>
            <a:r>
              <a:rPr lang="en-GB" sz="1200" b="1" kern="1200" dirty="0" err="1">
                <a:solidFill>
                  <a:schemeClr val="tx1"/>
                </a:solidFill>
                <a:effectLst/>
                <a:latin typeface="Arial" charset="0"/>
                <a:ea typeface="+mn-ea"/>
                <a:cs typeface="+mn-cs"/>
              </a:rPr>
              <a:t>DPT_Control_Dimming</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3 Bit with Control</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r>
              <a:rPr lang="en-GB" sz="1200" b="1" kern="1200" dirty="0">
                <a:solidFill>
                  <a:schemeClr val="tx1"/>
                </a:solidFill>
                <a:effectLst/>
                <a:latin typeface="Arial" charset="0"/>
                <a:ea typeface="+mn-ea"/>
                <a:cs typeface="+mn-cs"/>
              </a:rPr>
              <a:t>Datapoint </a:t>
            </a:r>
            <a:r>
              <a:rPr lang="en-GB" sz="1200" b="1" kern="1200" dirty="0" err="1">
                <a:solidFill>
                  <a:schemeClr val="tx1"/>
                </a:solidFill>
                <a:effectLst/>
                <a:latin typeface="Arial" charset="0"/>
                <a:ea typeface="+mn-ea"/>
                <a:cs typeface="+mn-cs"/>
              </a:rPr>
              <a:t>DPT_Control_Blinds</a:t>
            </a:r>
            <a:endParaRPr lang="en-GB"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0" kern="1200" dirty="0">
                <a:solidFill>
                  <a:schemeClr val="tx1"/>
                </a:solidFill>
                <a:effectLst/>
                <a:latin typeface="Arial" charset="0"/>
                <a:ea typeface="+mn-ea"/>
                <a:cs typeface="+mn-cs"/>
              </a:rPr>
              <a:t>NOTE: </a:t>
            </a:r>
            <a:r>
              <a:rPr lang="en-GB" sz="1200" kern="1200" dirty="0">
                <a:solidFill>
                  <a:schemeClr val="tx1"/>
                </a:solidFill>
                <a:effectLst/>
                <a:latin typeface="Arial" charset="0"/>
                <a:ea typeface="+mn-ea"/>
                <a:cs typeface="+mn-cs"/>
              </a:rPr>
              <a:t>This DPT can be used both for the relative positioning of the vertical blinds positions as well as for the relative positioning of the angle of the slats.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1858185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Character Set</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4.xxx is defined for transmitting individual (text) characters. The encoding sent on the bus corresponds to the coordinates of a look up table, containing the different characters.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Datapoint types Character Set</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424330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8 Bit without Sign</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5.xxx is defined for transmitting unsigned values up to 255.</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Scaled values</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Non-Scaled values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914522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8 Bit with Sign</a:t>
            </a:r>
          </a:p>
          <a:p>
            <a:pPr lvl="0"/>
            <a:endParaRPr lang="en-US" sz="1200"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General</a:t>
            </a:r>
          </a:p>
          <a:p>
            <a:pPr lvl="0"/>
            <a:r>
              <a:rPr lang="en-US" sz="1200" kern="1200" dirty="0">
                <a:solidFill>
                  <a:schemeClr val="tx1"/>
                </a:solidFill>
                <a:effectLst/>
                <a:latin typeface="Arial" charset="0"/>
                <a:ea typeface="+mn-ea"/>
                <a:cs typeface="+mn-cs"/>
              </a:rPr>
              <a:t>DPT 6.xxx is defined for transmitting values from -128 up to +127.</a:t>
            </a:r>
          </a:p>
          <a:p>
            <a:pPr lvl="0"/>
            <a:r>
              <a:rPr lang="en-US" sz="1200" kern="1200" dirty="0">
                <a:solidFill>
                  <a:schemeClr val="tx1"/>
                </a:solidFill>
                <a:effectLst/>
                <a:latin typeface="Arial" charset="0"/>
                <a:ea typeface="+mn-ea"/>
                <a:cs typeface="+mn-cs"/>
              </a:rPr>
              <a:t>Negative numbers are represented as two’s complement. To do so, the binary representation of the positive number is inverted and 1 is added.</a:t>
            </a:r>
          </a:p>
          <a:p>
            <a:pPr lvl="0"/>
            <a:endParaRPr lang="en-US" sz="1200"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Datapoint types V8 - Signed Relative Value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2674224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2 Octet without Sign</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7.xxx is defined for transmitting values up to 65535.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2‑octet unsigned counter value</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480993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2 Octet with Sign</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8.xxx is defined for transmitting values from -32768 up to +32767. As for 1 octet with sign, negative values are transferred as two’s complement.</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2‑octet signed counter value</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590514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Octet Floating Point Number</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9.xxx is defined for transmitting floating point values. Various Datapoint types have been defined for different physical variables.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Not all Datapoint types use the maximum value range. Devices shall ignore invalid or undefined values.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value to be transferred shall be coded in the mantissa. If the value multiplied by 100 (because of the resolution of 0,01) does not fit in the range of –2048 and +2047, the mantissa shall be divided by a factor, which constitutes the exponent. The sign bit indicates whether the value is a negative (S bit = 1) or a positive value (S bit =0). In case of negative values, the mantissa shall moreover be the two’s complement of the corresponding positive value.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a:p>
            <a:pPr lvl="2"/>
            <a:r>
              <a:rPr lang="en-GB" sz="1200" b="1" kern="1200" dirty="0">
                <a:solidFill>
                  <a:schemeClr val="tx1"/>
                </a:solidFill>
                <a:effectLst/>
                <a:latin typeface="Arial" charset="0"/>
                <a:ea typeface="+mn-ea"/>
                <a:cs typeface="+mn-cs"/>
              </a:rPr>
              <a:t>Example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temperature value of - 30 degrees C can be calculated according DPT 9.001 as follows: </a:t>
            </a:r>
            <a:endParaRPr lang="es-ES" sz="1200" kern="1200" dirty="0">
              <a:solidFill>
                <a:schemeClr val="tx1"/>
              </a:solidFill>
              <a:effectLst/>
              <a:latin typeface="Arial" charset="0"/>
              <a:ea typeface="+mn-ea"/>
              <a:cs typeface="+mn-cs"/>
            </a:endParaRPr>
          </a:p>
          <a:p>
            <a:r>
              <a:rPr lang="en-GB" sz="1200" u="sng" kern="1200" dirty="0">
                <a:solidFill>
                  <a:schemeClr val="tx1"/>
                </a:solidFill>
                <a:effectLst/>
                <a:latin typeface="Arial" charset="0"/>
                <a:ea typeface="+mn-ea"/>
                <a:cs typeface="+mn-cs"/>
              </a:rPr>
              <a:t>Step 1: Calculate the mantissa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Due to the resolution of 0.01, the value to be coded must be multiplied by 100: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30 x 100 = 3000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dirty="0">
                <a:solidFill>
                  <a:schemeClr val="tx1"/>
                </a:solidFill>
                <a:effectLst/>
                <a:latin typeface="Arial" charset="0"/>
                <a:ea typeface="+mn-ea"/>
                <a:cs typeface="+mn-cs"/>
              </a:rPr>
              <a:t>Step 2: Check if exponent is required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Mantissa is 11 bits, range is from + 2047 to -2048.</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3000 is larger, therefore exponent is required.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Which exponent? 2</a:t>
            </a:r>
            <a:r>
              <a:rPr lang="en-GB" sz="1200" kern="1200" baseline="30000" dirty="0">
                <a:solidFill>
                  <a:schemeClr val="tx1"/>
                </a:solidFill>
                <a:effectLst/>
                <a:latin typeface="Arial" charset="0"/>
                <a:ea typeface="+mn-ea"/>
                <a:cs typeface="+mn-cs"/>
              </a:rPr>
              <a:t>1 </a:t>
            </a:r>
            <a:r>
              <a:rPr lang="en-GB" sz="1200" kern="1200" dirty="0">
                <a:solidFill>
                  <a:schemeClr val="tx1"/>
                </a:solidFill>
                <a:effectLst/>
                <a:latin typeface="Arial" charset="0"/>
                <a:ea typeface="+mn-ea"/>
                <a:cs typeface="+mn-cs"/>
              </a:rPr>
              <a:t>= 2</a:t>
            </a:r>
            <a:r>
              <a:rPr lang="en-GB" sz="1200" kern="1200" baseline="300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is sufficient as 3000 : 2 = 1500, and this number can be coded in the mantissa.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dirty="0">
                <a:solidFill>
                  <a:schemeClr val="tx1"/>
                </a:solidFill>
                <a:effectLst/>
                <a:latin typeface="Arial" charset="0"/>
                <a:ea typeface="+mn-ea"/>
                <a:cs typeface="+mn-cs"/>
              </a:rPr>
              <a:t>Step 3: Code the mantissa: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Value:</a:t>
            </a:r>
            <a:endParaRPr lang="es-ES" sz="16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1024 | 512 | 256 | 128 | 64 | 32 | 16 | 8 | 4 | 2 | 1</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Number:</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1 | 0 </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0</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1</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0</a:t>
            </a:r>
            <a:r>
              <a:rPr lang="en-GB" sz="1600" kern="1200" dirty="0">
                <a:solidFill>
                  <a:schemeClr val="tx1"/>
                </a:solidFill>
                <a:effectLst/>
                <a:latin typeface="Arial" charset="0"/>
                <a:ea typeface="+mn-ea"/>
                <a:cs typeface="+mn-cs"/>
              </a:rPr>
              <a:t> | </a:t>
            </a:r>
            <a:r>
              <a:rPr lang="en-GB" sz="1200" kern="1200" dirty="0">
                <a:solidFill>
                  <a:schemeClr val="tx1"/>
                </a:solidFill>
                <a:effectLst/>
                <a:latin typeface="Arial" charset="0"/>
                <a:ea typeface="+mn-ea"/>
                <a:cs typeface="+mn-cs"/>
              </a:rPr>
              <a:t>0</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number is negative, then create a two’s complement!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Output value:	101 1101 1100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Invert:		010 0010 0011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+1		                      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010 0010 0100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dirty="0">
                <a:solidFill>
                  <a:schemeClr val="tx1"/>
                </a:solidFill>
                <a:effectLst/>
                <a:latin typeface="Arial" charset="0"/>
                <a:ea typeface="+mn-ea"/>
                <a:cs typeface="+mn-cs"/>
              </a:rPr>
              <a:t>Step 4: Code sign and exponent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Number is negative, therefore the S bit = 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Exponent = 1, coded in four bits = 0001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dirty="0">
                <a:solidFill>
                  <a:schemeClr val="tx1"/>
                </a:solidFill>
                <a:effectLst/>
                <a:latin typeface="Arial" charset="0"/>
                <a:ea typeface="+mn-ea"/>
                <a:cs typeface="+mn-cs"/>
              </a:rPr>
              <a:t>Step 5: Final result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-30 = 1   0001   010 0010 0100</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2684690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Time</a:t>
            </a: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General</a:t>
            </a:r>
          </a:p>
          <a:p>
            <a:pPr lvl="0"/>
            <a:r>
              <a:rPr lang="en-US" sz="1200" b="0" kern="1200" dirty="0">
                <a:solidFill>
                  <a:schemeClr val="tx1"/>
                </a:solidFill>
                <a:effectLst/>
                <a:latin typeface="Arial" charset="0"/>
                <a:ea typeface="+mn-ea"/>
                <a:cs typeface="+mn-cs"/>
              </a:rPr>
              <a:t>DPT 10.001 is defined for transmitting the time of the day (e.g. cyclically by a system clock).</a:t>
            </a: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Datapoint type Time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3682039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Date</a:t>
            </a:r>
          </a:p>
          <a:p>
            <a:pPr lvl="0"/>
            <a:r>
              <a:rPr lang="en-US" sz="1200" b="1" kern="1200" dirty="0">
                <a:solidFill>
                  <a:schemeClr val="tx1"/>
                </a:solidFill>
                <a:effectLst/>
                <a:latin typeface="Arial" charset="0"/>
                <a:ea typeface="+mn-ea"/>
                <a:cs typeface="+mn-cs"/>
              </a:rPr>
              <a:t>General</a:t>
            </a:r>
          </a:p>
          <a:p>
            <a:pPr lvl="0"/>
            <a:r>
              <a:rPr lang="en-US" sz="1200" b="0" kern="1200" dirty="0">
                <a:solidFill>
                  <a:schemeClr val="tx1"/>
                </a:solidFill>
                <a:effectLst/>
                <a:latin typeface="Arial" charset="0"/>
                <a:ea typeface="+mn-ea"/>
                <a:cs typeface="+mn-cs"/>
              </a:rPr>
              <a:t>DPT 11.001 is defined for transmitting the date of the day (e.g. cyclically by a system clock). Please note that the day of the week is not transmitted in DPT 11.001. </a:t>
            </a:r>
          </a:p>
          <a:p>
            <a:pPr lvl="0"/>
            <a:r>
              <a:rPr lang="en-US" sz="1200" b="0" kern="1200" dirty="0">
                <a:solidFill>
                  <a:schemeClr val="tx1"/>
                </a:solidFill>
                <a:effectLst/>
                <a:latin typeface="Arial" charset="0"/>
                <a:ea typeface="+mn-ea"/>
                <a:cs typeface="+mn-cs"/>
              </a:rPr>
              <a:t>It shall be noted that values shall be interpreted as follows by a receiver:</a:t>
            </a:r>
          </a:p>
          <a:p>
            <a:pPr lvl="0"/>
            <a:r>
              <a:rPr lang="en-US" sz="1200" b="0" kern="1200" dirty="0">
                <a:solidFill>
                  <a:schemeClr val="tx1"/>
                </a:solidFill>
                <a:effectLst/>
                <a:latin typeface="Arial" charset="0"/>
                <a:ea typeface="+mn-ea"/>
                <a:cs typeface="+mn-cs"/>
              </a:rPr>
              <a:t>Year data &gt;= 90 signifies year in the 20th century.</a:t>
            </a:r>
          </a:p>
          <a:p>
            <a:pPr lvl="0"/>
            <a:r>
              <a:rPr lang="en-US" sz="1200" b="0" kern="1200" dirty="0">
                <a:solidFill>
                  <a:schemeClr val="tx1"/>
                </a:solidFill>
                <a:effectLst/>
                <a:latin typeface="Arial" charset="0"/>
                <a:ea typeface="+mn-ea"/>
                <a:cs typeface="+mn-cs"/>
              </a:rPr>
              <a:t>Year data &lt; 90 signifies year in the 21st (this) century.</a:t>
            </a:r>
          </a:p>
          <a:p>
            <a:pPr lvl="0"/>
            <a:r>
              <a:rPr lang="en-US" sz="1200" b="0" kern="1200" dirty="0">
                <a:solidFill>
                  <a:schemeClr val="tx1"/>
                </a:solidFill>
                <a:effectLst/>
                <a:latin typeface="Arial" charset="0"/>
                <a:ea typeface="+mn-ea"/>
                <a:cs typeface="+mn-cs"/>
              </a:rPr>
              <a:t>The encoding therefore covers years between 1990 and 2089.</a:t>
            </a:r>
          </a:p>
          <a:p>
            <a:pPr lvl="0"/>
            <a:r>
              <a:rPr lang="en-US" sz="1200" b="0" kern="1200" dirty="0">
                <a:solidFill>
                  <a:schemeClr val="tx1"/>
                </a:solidFill>
                <a:effectLst/>
                <a:latin typeface="Arial" charset="0"/>
                <a:ea typeface="+mn-ea"/>
                <a:cs typeface="+mn-cs"/>
              </a:rPr>
              <a:t>Example:</a:t>
            </a:r>
          </a:p>
          <a:p>
            <a:pPr marL="171450" lvl="0" indent="-171450">
              <a:buFont typeface="Arial" panose="020B0604020202020204" pitchFamily="34" charset="0"/>
              <a:buChar char="•"/>
            </a:pPr>
            <a:r>
              <a:rPr lang="en-US" sz="1200" b="0" kern="1200" dirty="0">
                <a:solidFill>
                  <a:schemeClr val="tx1"/>
                </a:solidFill>
                <a:effectLst/>
                <a:latin typeface="Arial" charset="0"/>
                <a:ea typeface="+mn-ea"/>
                <a:cs typeface="+mn-cs"/>
              </a:rPr>
              <a:t>YYYYYYY = 99d equals 1999</a:t>
            </a:r>
          </a:p>
          <a:p>
            <a:pPr marL="171450" lvl="0" indent="-171450">
              <a:buFont typeface="Arial" panose="020B0604020202020204" pitchFamily="34" charset="0"/>
              <a:buChar char="•"/>
            </a:pPr>
            <a:r>
              <a:rPr lang="en-US" sz="1200" b="0" kern="1200" dirty="0">
                <a:solidFill>
                  <a:schemeClr val="tx1"/>
                </a:solidFill>
                <a:effectLst/>
                <a:latin typeface="Arial" charset="0"/>
                <a:ea typeface="+mn-ea"/>
                <a:cs typeface="+mn-cs"/>
              </a:rPr>
              <a:t>YYYYYYY = 0d equals 2000</a:t>
            </a:r>
          </a:p>
          <a:p>
            <a:pPr marL="171450" lvl="0" indent="-171450">
              <a:buFont typeface="Arial" panose="020B0604020202020204" pitchFamily="34" charset="0"/>
              <a:buChar char="•"/>
            </a:pPr>
            <a:r>
              <a:rPr lang="en-US" sz="1200" b="0" kern="1200" dirty="0">
                <a:solidFill>
                  <a:schemeClr val="tx1"/>
                </a:solidFill>
                <a:effectLst/>
                <a:latin typeface="Arial" charset="0"/>
                <a:ea typeface="+mn-ea"/>
                <a:cs typeface="+mn-cs"/>
              </a:rPr>
              <a:t>YYYYYYY = 4d equals 2004</a:t>
            </a: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Datapoint type Date</a:t>
            </a:r>
          </a:p>
          <a:p>
            <a:pPr lvl="0"/>
            <a:endParaRPr lang="en-US" sz="1200"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Datapoint types V8 - Signed Relative Value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477586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Date and Time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19.001 is defined for transmitting the date and time of the day.</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Datapoint type combines and extends the </a:t>
            </a:r>
            <a:r>
              <a:rPr lang="en-GB" sz="1200" kern="1200" dirty="0" err="1">
                <a:solidFill>
                  <a:schemeClr val="tx1"/>
                </a:solidFill>
                <a:effectLst/>
                <a:latin typeface="Arial" charset="0"/>
                <a:ea typeface="+mn-ea"/>
                <a:cs typeface="+mn-cs"/>
              </a:rPr>
              <a:t>DPT_TimeOfDay</a:t>
            </a:r>
            <a:r>
              <a:rPr lang="en-GB" sz="1200" kern="1200" dirty="0">
                <a:solidFill>
                  <a:schemeClr val="tx1"/>
                </a:solidFill>
                <a:effectLst/>
                <a:latin typeface="Arial" charset="0"/>
                <a:ea typeface="+mn-ea"/>
                <a:cs typeface="+mn-cs"/>
              </a:rPr>
              <a:t> (10.001) and </a:t>
            </a:r>
            <a:r>
              <a:rPr lang="en-GB" sz="1200" kern="1200" dirty="0" err="1">
                <a:solidFill>
                  <a:schemeClr val="tx1"/>
                </a:solidFill>
                <a:effectLst/>
                <a:latin typeface="Arial" charset="0"/>
                <a:ea typeface="+mn-ea"/>
                <a:cs typeface="+mn-cs"/>
              </a:rPr>
              <a:t>DPT_Date</a:t>
            </a:r>
            <a:r>
              <a:rPr lang="en-GB" sz="1200" kern="1200" dirty="0">
                <a:solidFill>
                  <a:schemeClr val="tx1"/>
                </a:solidFill>
                <a:effectLst/>
                <a:latin typeface="Arial" charset="0"/>
                <a:ea typeface="+mn-ea"/>
                <a:cs typeface="+mn-cs"/>
              </a:rPr>
              <a:t> (11.001) and has a size of 8 bytes.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this Datapoint type, the year is encoded as an unsigned byte and calculated as an offset to the year 1900. The period between 1900 and 2155 is thus covered with this Datapoint type.</a:t>
            </a:r>
            <a:endParaRPr lang="es-ES" sz="1200" kern="1200" dirty="0">
              <a:solidFill>
                <a:schemeClr val="tx1"/>
              </a:solidFill>
              <a:effectLst/>
              <a:latin typeface="Arial" charset="0"/>
              <a:ea typeface="+mn-ea"/>
              <a:cs typeface="+mn-cs"/>
            </a:endParaRPr>
          </a:p>
          <a:p>
            <a:pPr lvl="0"/>
            <a:br>
              <a:rPr lang="en-GB" sz="1200" b="1" kern="1200" dirty="0">
                <a:solidFill>
                  <a:schemeClr val="tx1"/>
                </a:solidFill>
                <a:effectLst/>
                <a:latin typeface="Arial" charset="0"/>
                <a:ea typeface="+mn-ea"/>
                <a:cs typeface="+mn-cs"/>
              </a:rPr>
            </a:br>
            <a:r>
              <a:rPr lang="en-GB" sz="1200" b="1" kern="1200" dirty="0">
                <a:solidFill>
                  <a:schemeClr val="tx1"/>
                </a:solidFill>
                <a:effectLst/>
                <a:latin typeface="Arial" charset="0"/>
                <a:ea typeface="+mn-ea"/>
                <a:cs typeface="+mn-cs"/>
              </a:rPr>
              <a:t>Datapoint type Time and Date</a:t>
            </a: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1645483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Date and Time</a:t>
            </a:r>
          </a:p>
          <a:p>
            <a:pPr lvl="0"/>
            <a:r>
              <a:rPr lang="en-GB" sz="1200" b="1" kern="1200" dirty="0">
                <a:solidFill>
                  <a:schemeClr val="tx1"/>
                </a:solidFill>
                <a:effectLst/>
                <a:latin typeface="Arial" charset="0"/>
                <a:ea typeface="+mn-ea"/>
                <a:cs typeface="+mn-cs"/>
              </a:rPr>
              <a:t>Comments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Year field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year is encoded on 8 bits instead of on 7 bits as in </a:t>
            </a:r>
            <a:r>
              <a:rPr lang="en-GB" sz="1200" kern="1200" dirty="0" err="1">
                <a:solidFill>
                  <a:schemeClr val="tx1"/>
                </a:solidFill>
                <a:effectLst/>
                <a:latin typeface="Arial" charset="0"/>
                <a:ea typeface="+mn-ea"/>
                <a:cs typeface="+mn-cs"/>
              </a:rPr>
              <a:t>DPT_Date</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Hour field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encoding of the hour is within the range [0…24] instead of [0…23].</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the hour is set to "24", the values of octet 3 (Minutes) and 2 (Seconds) shall be set to zero. Messages with invalid values ("Hour = 24", Minutes and Seconds not zero) have to be ignored by the receiver.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In this way, it is possible to use this Datapoint type to encode e.g. schedule programs. In daily schedule programs usually "end of day" is encoded as 24:00:00 and not 23:59:59; otherwise there would be a 1 s "break" at midnight.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Without the value 24:00:00 one can not differentiate between a full 24 h period and a 0 h period.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 daily program with 24 h comfort level is encoded as "start comfort: 00:00:00" and "end of comfort: 24:00:00".</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 daily program with 0 h comfort level (</a:t>
            </a:r>
            <a:r>
              <a:rPr lang="en-GB" sz="1200"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 all day economy level) is encoded as "start comfort: 00:00:00" and "end of comfort: 00:00:00".</a:t>
            </a:r>
            <a:endParaRPr lang="es-ES" sz="1200" kern="1200" dirty="0">
              <a:solidFill>
                <a:schemeClr val="tx1"/>
              </a:solidFill>
              <a:effectLst/>
              <a:latin typeface="Arial" charset="0"/>
              <a:ea typeface="+mn-ea"/>
              <a:cs typeface="+mn-cs"/>
            </a:endParaRPr>
          </a:p>
          <a:p>
            <a:pPr lvl="3"/>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Fault field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"Fault" is set if one or more supported fields of the Date &amp; Time information are corrupted. This is not the same as when the NY, ND, NW etc. attributes would be set (in this case the corresponding fields are not supported).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"Fault" is set e.g.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After power-down, if battery backup of the clock was not sufficient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After 1st start-up of the device (clock unconfigured)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Radio-clock (DCF 77) had no reception for a very long time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"Fault" is usually cleared automatically by the device (producer) if the local clock is set or clock data is refreshed by other means (e.g. by reception of system clock message, reception of DCF 77 radio message etc.).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receiver (e.g. the user interface of a room unit) will interpret Date &amp; Time with "Fault" as corrupted and will either ignore the message or show --:--:-- or blinking 00:00:00 (as known from video recorders after power-up).</a:t>
            </a: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SUTI field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SUTI is only an attribute for information / visualisation. In the hour field, summer-time correction is already considered. Therefore no hour offset shall be added by the receiver if SUTI is set.</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SUTI = 0 standard time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SUTI = 1 summer daylight saving time</a:t>
            </a:r>
            <a:endParaRPr lang="es-ES" sz="1200" kern="1200" dirty="0">
              <a:solidFill>
                <a:schemeClr val="tx1"/>
              </a:solidFill>
              <a:effectLst/>
              <a:latin typeface="Arial" charset="0"/>
              <a:ea typeface="+mn-ea"/>
              <a:cs typeface="+mn-cs"/>
            </a:endParaRPr>
          </a:p>
          <a:p>
            <a:pPr lvl="3"/>
            <a:endParaRPr lang="en-GB" sz="1200" b="1" kern="1200" dirty="0">
              <a:solidFill>
                <a:schemeClr val="tx1"/>
              </a:solidFill>
              <a:effectLst/>
              <a:latin typeface="Arial" charset="0"/>
              <a:ea typeface="+mn-ea"/>
              <a:cs typeface="+mn-cs"/>
            </a:endParaRPr>
          </a:p>
          <a:p>
            <a:pPr lvl="0"/>
            <a:r>
              <a:rPr lang="en-GB" sz="1200" b="1" kern="1200" dirty="0" err="1">
                <a:solidFill>
                  <a:schemeClr val="tx1"/>
                </a:solidFill>
                <a:effectLst/>
                <a:latin typeface="Arial" charset="0"/>
                <a:ea typeface="+mn-ea"/>
                <a:cs typeface="+mn-cs"/>
              </a:rPr>
              <a:t>NDoW</a:t>
            </a:r>
            <a:r>
              <a:rPr lang="en-GB" sz="1200" b="1" kern="1200" dirty="0">
                <a:solidFill>
                  <a:schemeClr val="tx1"/>
                </a:solidFill>
                <a:effectLst/>
                <a:latin typeface="Arial" charset="0"/>
                <a:ea typeface="+mn-ea"/>
                <a:cs typeface="+mn-cs"/>
              </a:rPr>
              <a:t> field</a:t>
            </a:r>
            <a:endParaRPr lang="es-ES" sz="1200" b="1" kern="1200" dirty="0">
              <a:solidFill>
                <a:schemeClr val="tx1"/>
              </a:solidFill>
              <a:effectLst/>
              <a:latin typeface="Arial" charset="0"/>
              <a:ea typeface="+mn-ea"/>
              <a:cs typeface="+mn-cs"/>
            </a:endParaRPr>
          </a:p>
          <a:p>
            <a:pPr lvl="0"/>
            <a:r>
              <a:rPr lang="en-GB" sz="1200" kern="1200" dirty="0" err="1">
                <a:solidFill>
                  <a:schemeClr val="tx1"/>
                </a:solidFill>
                <a:effectLst/>
                <a:latin typeface="Arial" charset="0"/>
                <a:ea typeface="+mn-ea"/>
                <a:cs typeface="+mn-cs"/>
              </a:rPr>
              <a:t>NDoW</a:t>
            </a:r>
            <a:r>
              <a:rPr lang="en-GB" sz="1200" kern="1200" dirty="0">
                <a:solidFill>
                  <a:schemeClr val="tx1"/>
                </a:solidFill>
                <a:effectLst/>
                <a:latin typeface="Arial" charset="0"/>
                <a:ea typeface="+mn-ea"/>
                <a:cs typeface="+mn-cs"/>
              </a:rPr>
              <a:t> = 1	means that the “Day of Week”-field </a:t>
            </a:r>
            <a:r>
              <a:rPr lang="en-GB" sz="1200" kern="1200" dirty="0" err="1">
                <a:solidFill>
                  <a:schemeClr val="tx1"/>
                </a:solidFill>
                <a:effectLst/>
                <a:latin typeface="Arial" charset="0"/>
                <a:ea typeface="+mn-ea"/>
                <a:cs typeface="+mn-cs"/>
              </a:rPr>
              <a:t>ddd</a:t>
            </a:r>
            <a:r>
              <a:rPr lang="en-GB" sz="1200" kern="1200" dirty="0">
                <a:solidFill>
                  <a:schemeClr val="tx1"/>
                </a:solidFill>
                <a:effectLst/>
                <a:latin typeface="Arial" charset="0"/>
                <a:ea typeface="+mn-ea"/>
                <a:cs typeface="+mn-cs"/>
              </a:rPr>
              <a:t> is invalid and the </a:t>
            </a:r>
            <a:r>
              <a:rPr lang="en-GB" sz="1200" kern="1200" dirty="0" err="1">
                <a:solidFill>
                  <a:schemeClr val="tx1"/>
                </a:solidFill>
                <a:effectLst/>
                <a:latin typeface="Arial" charset="0"/>
                <a:ea typeface="+mn-ea"/>
                <a:cs typeface="+mn-cs"/>
              </a:rPr>
              <a:t>ddd</a:t>
            </a:r>
            <a:r>
              <a:rPr lang="en-GB" sz="1200" kern="1200" dirty="0">
                <a:solidFill>
                  <a:schemeClr val="tx1"/>
                </a:solidFill>
                <a:effectLst/>
                <a:latin typeface="Arial" charset="0"/>
                <a:ea typeface="+mn-ea"/>
                <a:cs typeface="+mn-cs"/>
              </a:rPr>
              <a:t> information shall be ignored. A Clock not supporting Day of Week information shall set </a:t>
            </a:r>
            <a:r>
              <a:rPr lang="en-GB" sz="1200" kern="1200" dirty="0" err="1">
                <a:solidFill>
                  <a:schemeClr val="tx1"/>
                </a:solidFill>
                <a:effectLst/>
                <a:latin typeface="Arial" charset="0"/>
                <a:ea typeface="+mn-ea"/>
                <a:cs typeface="+mn-cs"/>
              </a:rPr>
              <a:t>NdoW</a:t>
            </a:r>
            <a:r>
              <a:rPr lang="en-GB" sz="1200" kern="1200" dirty="0">
                <a:solidFill>
                  <a:schemeClr val="tx1"/>
                </a:solidFill>
                <a:effectLst/>
                <a:latin typeface="Arial" charset="0"/>
                <a:ea typeface="+mn-ea"/>
                <a:cs typeface="+mn-cs"/>
              </a:rPr>
              <a:t> = 1.</a:t>
            </a:r>
            <a:endParaRPr lang="es-ES" sz="1200" kern="1200" dirty="0">
              <a:solidFill>
                <a:schemeClr val="tx1"/>
              </a:solidFill>
              <a:effectLst/>
              <a:latin typeface="Arial" charset="0"/>
              <a:ea typeface="+mn-ea"/>
              <a:cs typeface="+mn-cs"/>
            </a:endParaRPr>
          </a:p>
          <a:p>
            <a:pPr lvl="0"/>
            <a:r>
              <a:rPr lang="en-GB" sz="1200" kern="1200" dirty="0" err="1">
                <a:solidFill>
                  <a:schemeClr val="tx1"/>
                </a:solidFill>
                <a:effectLst/>
                <a:latin typeface="Arial" charset="0"/>
                <a:ea typeface="+mn-ea"/>
                <a:cs typeface="+mn-cs"/>
              </a:rPr>
              <a:t>NDoW</a:t>
            </a:r>
            <a:r>
              <a:rPr lang="en-GB" sz="1200" kern="1200" dirty="0">
                <a:solidFill>
                  <a:schemeClr val="tx1"/>
                </a:solidFill>
                <a:effectLst/>
                <a:latin typeface="Arial" charset="0"/>
                <a:ea typeface="+mn-ea"/>
                <a:cs typeface="+mn-cs"/>
              </a:rPr>
              <a:t> = 0 and </a:t>
            </a:r>
            <a:r>
              <a:rPr lang="en-GB" sz="1200" kern="1200" dirty="0" err="1">
                <a:solidFill>
                  <a:schemeClr val="tx1"/>
                </a:solidFill>
                <a:effectLst/>
                <a:latin typeface="Arial" charset="0"/>
                <a:ea typeface="+mn-ea"/>
                <a:cs typeface="+mn-cs"/>
              </a:rPr>
              <a:t>ddd</a:t>
            </a:r>
            <a:r>
              <a:rPr lang="en-GB" sz="1200" kern="1200" dirty="0">
                <a:solidFill>
                  <a:schemeClr val="tx1"/>
                </a:solidFill>
                <a:effectLst/>
                <a:latin typeface="Arial" charset="0"/>
                <a:ea typeface="+mn-ea"/>
                <a:cs typeface="+mn-cs"/>
              </a:rPr>
              <a:t> = 0	means that the </a:t>
            </a:r>
            <a:r>
              <a:rPr lang="en-GB" sz="1200" kern="1200" dirty="0" err="1">
                <a:solidFill>
                  <a:schemeClr val="tx1"/>
                </a:solidFill>
                <a:effectLst/>
                <a:latin typeface="Arial" charset="0"/>
                <a:ea typeface="+mn-ea"/>
                <a:cs typeface="+mn-cs"/>
              </a:rPr>
              <a:t>ddd</a:t>
            </a:r>
            <a:r>
              <a:rPr lang="en-GB" sz="1200" kern="1200" dirty="0">
                <a:solidFill>
                  <a:schemeClr val="tx1"/>
                </a:solidFill>
                <a:effectLst/>
                <a:latin typeface="Arial" charset="0"/>
                <a:ea typeface="+mn-ea"/>
                <a:cs typeface="+mn-cs"/>
              </a:rPr>
              <a:t>-field is valid and that </a:t>
            </a:r>
            <a:r>
              <a:rPr lang="en-GB" sz="1200" kern="1200" dirty="0" err="1">
                <a:solidFill>
                  <a:schemeClr val="tx1"/>
                </a:solidFill>
                <a:effectLst/>
                <a:latin typeface="Arial" charset="0"/>
                <a:ea typeface="+mn-ea"/>
                <a:cs typeface="+mn-cs"/>
              </a:rPr>
              <a:t>ddd</a:t>
            </a:r>
            <a:r>
              <a:rPr lang="en-GB" sz="1200" kern="1200" dirty="0">
                <a:solidFill>
                  <a:schemeClr val="tx1"/>
                </a:solidFill>
                <a:effectLst/>
                <a:latin typeface="Arial" charset="0"/>
                <a:ea typeface="+mn-ea"/>
                <a:cs typeface="+mn-cs"/>
              </a:rPr>
              <a:t> is a wildcard. This encoding feature is thought for use in for instance scheduling information.</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CLQ field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Bit 7 of the 1</a:t>
            </a:r>
            <a:r>
              <a:rPr lang="en-GB" sz="1200" kern="1200" baseline="30000" dirty="0">
                <a:solidFill>
                  <a:schemeClr val="tx1"/>
                </a:solidFill>
                <a:effectLst/>
                <a:latin typeface="Arial" charset="0"/>
                <a:ea typeface="+mn-ea"/>
                <a:cs typeface="+mn-cs"/>
              </a:rPr>
              <a:t>st</a:t>
            </a:r>
            <a:r>
              <a:rPr lang="en-GB" sz="1200" kern="1200" dirty="0">
                <a:solidFill>
                  <a:schemeClr val="tx1"/>
                </a:solidFill>
                <a:effectLst/>
                <a:latin typeface="Arial" charset="0"/>
                <a:ea typeface="+mn-ea"/>
                <a:cs typeface="+mn-cs"/>
              </a:rPr>
              <a:t> byte is used for “Quality of Clock” bit (CLQ). The other bits of this byte are reserved for future extensions. Their values shall be 0. If this Datapoint </a:t>
            </a:r>
            <a:r>
              <a:rPr lang="en-GB" sz="1200" kern="1200" dirty="0" err="1">
                <a:solidFill>
                  <a:schemeClr val="tx1"/>
                </a:solidFill>
                <a:effectLst/>
                <a:latin typeface="Arial" charset="0"/>
                <a:ea typeface="+mn-ea"/>
                <a:cs typeface="+mn-cs"/>
              </a:rPr>
              <a:t>typeDatapoint</a:t>
            </a:r>
            <a:r>
              <a:rPr lang="en-GB" sz="1200" kern="1200" dirty="0">
                <a:solidFill>
                  <a:schemeClr val="tx1"/>
                </a:solidFill>
                <a:effectLst/>
                <a:latin typeface="Arial" charset="0"/>
                <a:ea typeface="+mn-ea"/>
                <a:cs typeface="+mn-cs"/>
              </a:rPr>
              <a:t> type is used for transmitting data, transmitters shall set the lower 7 bits to 0. Receivers shall check these bits to be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Encoding</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0:	Clock without an external synchronisation signal.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device sending date &amp; time information has a local clock, which can however be inaccurate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1:	Clock with an external synchronisation signal (like DCF77, videotext, etc.).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device sending date &amp; time information sends signals which are synchronised (time to time) with external date &amp; time information.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default value is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Also an externally synchronised clock should send CLQ = 0 after start-up (until reception of first synchronisation signal) or after a synchronisation timeout.</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194297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4 Octet without Sign</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12.xxx is defined for transmitting unsigned counter values up to 4294967295.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925823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4 Octet with Sign</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DPT 13.xxx is defined for transmitting signed counter values from -2147483648 up to +2147483647, where negative values are transmitted as 2’s complement. </a:t>
            </a:r>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2‑octet signed counter value</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2579942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4 Octet Floating Point Number</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DPT 14.xxx is defined for floating point values with greater accuracy. Various Datapoint types have been defined depending on the different physical variables.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IEEE floating point format is used in accordance with IEEE 754 so that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higher values than for DPT 9.xxx can be transferred,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compatibility to other systems using this format is ensured.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79 different Datapoint types have been defined, of which some are given in the underneath paragraph.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920056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Access Control</a:t>
            </a:r>
          </a:p>
          <a:p>
            <a:pPr lvl="0"/>
            <a:r>
              <a:rPr lang="en-US" sz="1200" b="1" kern="1200" dirty="0">
                <a:solidFill>
                  <a:schemeClr val="tx1"/>
                </a:solidFill>
                <a:effectLst/>
                <a:latin typeface="Arial" charset="0"/>
                <a:ea typeface="+mn-ea"/>
                <a:cs typeface="+mn-cs"/>
              </a:rPr>
              <a:t>General</a:t>
            </a:r>
          </a:p>
          <a:p>
            <a:pPr lvl="0"/>
            <a:r>
              <a:rPr lang="en-US" sz="1200" b="0" kern="1200" dirty="0">
                <a:solidFill>
                  <a:schemeClr val="tx1"/>
                </a:solidFill>
                <a:effectLst/>
                <a:latin typeface="Arial" charset="0"/>
                <a:ea typeface="+mn-ea"/>
                <a:cs typeface="+mn-cs"/>
              </a:rPr>
              <a:t>DPT 15.000 is defined to represent or log access procedures. </a:t>
            </a: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Datapoint type </a:t>
            </a:r>
            <a:r>
              <a:rPr lang="en-US" sz="1200" b="1" kern="1200" dirty="0" err="1">
                <a:solidFill>
                  <a:schemeClr val="tx1"/>
                </a:solidFill>
                <a:effectLst/>
                <a:latin typeface="Arial" charset="0"/>
                <a:ea typeface="+mn-ea"/>
                <a:cs typeface="+mn-cs"/>
              </a:rPr>
              <a:t>DPT_Access_Data</a:t>
            </a:r>
            <a:endParaRPr lang="en-U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4011726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Access Control</a:t>
            </a:r>
          </a:p>
          <a:p>
            <a:pPr lvl="0"/>
            <a:endParaRPr lang="en-GB"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 1: Transmission of the access identification code “123456”, without error indication, permission accepted, badge read from left to right, no encryption and index 13.</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1464963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Character String</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transfer strings of characters, Datapoint types 16.000 and 16.001 allow sending text of up to 14 characters. The encoding of the individual characters corresponds to the Datapoint types 4.001 and 4.002. The contents in both cases starts with the MSB. </a:t>
            </a: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Two data types exist: DPT 16.001 (</a:t>
            </a:r>
            <a:r>
              <a:rPr lang="en-GB" sz="1200" kern="1200" dirty="0" err="1">
                <a:solidFill>
                  <a:schemeClr val="tx1"/>
                </a:solidFill>
                <a:effectLst/>
                <a:latin typeface="Arial" charset="0"/>
                <a:ea typeface="+mn-ea"/>
                <a:cs typeface="+mn-cs"/>
              </a:rPr>
              <a:t>DPT_String_ASCII</a:t>
            </a:r>
            <a:r>
              <a:rPr lang="en-GB" sz="1200" kern="1200" dirty="0">
                <a:solidFill>
                  <a:schemeClr val="tx1"/>
                </a:solidFill>
                <a:effectLst/>
                <a:latin typeface="Arial" charset="0"/>
                <a:ea typeface="+mn-ea"/>
                <a:cs typeface="+mn-cs"/>
              </a:rPr>
              <a:t> – unused characters are set to value 00h) and DPT 16.002 (DPT_String_8859_1).</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1022433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Scene Control</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KNX three different approaches exist for setting scenes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Setting the scene conditions via ETS parameters and calling the desired parameterized scene by using the </a:t>
            </a:r>
            <a:r>
              <a:rPr lang="en-GB" sz="1200" kern="1200" dirty="0" err="1">
                <a:solidFill>
                  <a:schemeClr val="tx1"/>
                </a:solidFill>
                <a:effectLst/>
                <a:latin typeface="Arial" charset="0"/>
                <a:ea typeface="+mn-ea"/>
                <a:cs typeface="+mn-cs"/>
              </a:rPr>
              <a:t>DPT_Scene_AB</a:t>
            </a:r>
            <a:r>
              <a:rPr lang="en-GB" sz="1200" kern="1200" dirty="0">
                <a:solidFill>
                  <a:schemeClr val="tx1"/>
                </a:solidFill>
                <a:effectLst/>
                <a:latin typeface="Arial" charset="0"/>
                <a:ea typeface="+mn-ea"/>
                <a:cs typeface="+mn-cs"/>
              </a:rPr>
              <a:t> (1.022) 1 bit Datapoint type. In this case, it is not possible that the user changes the scene.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Setting the scene conditions of the connected actuators and storing this scene as a scene number in the connected actuators by using the </a:t>
            </a:r>
            <a:r>
              <a:rPr lang="en-GB" sz="1200" kern="1200" dirty="0" err="1">
                <a:solidFill>
                  <a:schemeClr val="tx1"/>
                </a:solidFill>
                <a:effectLst/>
                <a:latin typeface="Arial" charset="0"/>
                <a:ea typeface="+mn-ea"/>
                <a:cs typeface="+mn-cs"/>
              </a:rPr>
              <a:t>DPT_Scene_Control</a:t>
            </a:r>
            <a:r>
              <a:rPr lang="en-GB" sz="1200" kern="1200" dirty="0">
                <a:solidFill>
                  <a:schemeClr val="tx1"/>
                </a:solidFill>
                <a:effectLst/>
                <a:latin typeface="Arial" charset="0"/>
                <a:ea typeface="+mn-ea"/>
                <a:cs typeface="+mn-cs"/>
              </a:rPr>
              <a:t>. With the same DPT, scenes can thus be set and called.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By using the </a:t>
            </a:r>
            <a:r>
              <a:rPr lang="en-GB" sz="1200" kern="1200" dirty="0" err="1">
                <a:solidFill>
                  <a:schemeClr val="tx1"/>
                </a:solidFill>
                <a:effectLst/>
                <a:latin typeface="Arial" charset="0"/>
                <a:ea typeface="+mn-ea"/>
                <a:cs typeface="+mn-cs"/>
              </a:rPr>
              <a:t>DPT_SceneNumber</a:t>
            </a:r>
            <a:r>
              <a:rPr lang="en-GB" sz="1200" kern="1200" dirty="0">
                <a:solidFill>
                  <a:schemeClr val="tx1"/>
                </a:solidFill>
                <a:effectLst/>
                <a:latin typeface="Arial" charset="0"/>
                <a:ea typeface="+mn-ea"/>
                <a:cs typeface="+mn-cs"/>
              </a:rPr>
              <a:t>: this DPT is identical to the </a:t>
            </a:r>
            <a:r>
              <a:rPr lang="en-GB" sz="1200" kern="1200" dirty="0" err="1">
                <a:solidFill>
                  <a:schemeClr val="tx1"/>
                </a:solidFill>
                <a:effectLst/>
                <a:latin typeface="Arial" charset="0"/>
                <a:ea typeface="+mn-ea"/>
                <a:cs typeface="+mn-cs"/>
              </a:rPr>
              <a:t>DPT_Scene_Control</a:t>
            </a:r>
            <a:r>
              <a:rPr lang="en-GB" sz="1200" kern="1200" dirty="0">
                <a:solidFill>
                  <a:schemeClr val="tx1"/>
                </a:solidFill>
                <a:effectLst/>
                <a:latin typeface="Arial" charset="0"/>
                <a:ea typeface="+mn-ea"/>
                <a:cs typeface="+mn-cs"/>
              </a:rPr>
              <a:t>, however it does not allow to store new scenes.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Datapoint type Scene Number</a:t>
            </a: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Datapoint type </a:t>
            </a:r>
            <a:r>
              <a:rPr lang="en-GB" sz="1200" b="1" kern="1200" dirty="0" err="1">
                <a:solidFill>
                  <a:schemeClr val="tx1"/>
                </a:solidFill>
                <a:effectLst/>
                <a:latin typeface="Arial" charset="0"/>
                <a:ea typeface="+mn-ea"/>
                <a:cs typeface="+mn-cs"/>
              </a:rPr>
              <a:t>DPT_SceneControl</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1353170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Common HVAC Datapoint types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earlier developments, the operating mode of room thermostat was set by one bit Datapoint types.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Since some years, a general new </a:t>
            </a:r>
            <a:r>
              <a:rPr lang="en-GB" sz="1200" kern="1200" dirty="0" err="1">
                <a:solidFill>
                  <a:schemeClr val="tx1"/>
                </a:solidFill>
                <a:effectLst/>
                <a:latin typeface="Arial" charset="0"/>
                <a:ea typeface="+mn-ea"/>
                <a:cs typeface="+mn-cs"/>
              </a:rPr>
              <a:t>DPT_HVACMode</a:t>
            </a:r>
            <a:r>
              <a:rPr lang="en-GB" sz="1200" kern="1200" dirty="0">
                <a:solidFill>
                  <a:schemeClr val="tx1"/>
                </a:solidFill>
                <a:effectLst/>
                <a:latin typeface="Arial" charset="0"/>
                <a:ea typeface="+mn-ea"/>
                <a:cs typeface="+mn-cs"/>
              </a:rPr>
              <a:t> has been introduced, of which the use has become obligatory for new developments. The operating mode may be additionally set by single bit DPTs.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Next to this, a number of enumerations have been standardised for amongst others building occupancy and building mode.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Room thermostats inform on their status with the standardised </a:t>
            </a:r>
            <a:r>
              <a:rPr lang="en-GB" sz="1200" kern="1200" dirty="0" err="1">
                <a:solidFill>
                  <a:schemeClr val="tx1"/>
                </a:solidFill>
                <a:effectLst/>
                <a:latin typeface="Arial" charset="0"/>
                <a:ea typeface="+mn-ea"/>
                <a:cs typeface="+mn-cs"/>
              </a:rPr>
              <a:t>DPT_HVACContrMode</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1470126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Combination of DPTs into devices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two very common device types, the combination of DPTs into devices has been standardized and is obligatory for certification.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standards called ‘functional blocks’ are respectively the “Dimming actuator basic” and the “Sunblind Actuator basic”. </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Functional Block – Dimming Actuator Basic</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dimming actuator shall per channel at least support three group objects complying to the underneath stated DPTs: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Switch, DPT 1.001</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Relative dimming, DPT 3.007</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Absolute dimming, DPT 5.001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Any other group objects are optional.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067675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Dimming Actuator Basic – Status Diagram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basic function of the dimming actuator is described in the following status diagram.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dimming actuator can find itself in one of three states – depending on which telegram(s) it receives: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State</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Description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Off</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actuator is switched off</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actuator is switched 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at least the lowest possible brightness is set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Dimmer controller is enabled, brightness is adjusted in the direction of the setpoint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change from one state to another is triggered by so-called “events”. Events include: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Name</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Meaning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OFF command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Switching object receives value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ON command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Switching object receives value 1</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up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object receives a new value, upward dimming direction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down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object receives a new value, downward dimming direction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Stop</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object receives value ‘Stop’</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value OFF</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Brightness object receives value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Dimming value x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Brightness object receives value &gt; 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Value reached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Brightness has reached setpoint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event “Value reached” is an internal event. The function of the application software of a dimming actuator is illustrated by the following status diagram. The ellipses represent the states while the arrows represent the events.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behaviour is checked during KNX certification tests.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4290685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Functional Block – Sunblind Actuator Basic</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function “Drive Control” is used primarily for controlling blind and roller shutter motors.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sunblind actuator shall per channel at least support two group objects complying to the underneath stated DPTs: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Step/Stop (DPT 1.007)</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Up/Down (DPT 1.008)</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Any other group objects are optional.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Important: </a:t>
            </a:r>
            <a:r>
              <a:rPr lang="en-GB" sz="1200" kern="1200" dirty="0">
                <a:solidFill>
                  <a:schemeClr val="tx1"/>
                </a:solidFill>
                <a:effectLst/>
                <a:latin typeface="Arial" charset="0"/>
                <a:ea typeface="+mn-ea"/>
                <a:cs typeface="+mn-cs"/>
              </a:rPr>
              <a:t>Group objects</a:t>
            </a:r>
            <a:r>
              <a:rPr lang="en-GB" sz="1200" b="1"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using this function shall not reply to read requests through the bus (Group Value Read messages). This restriction ensures that drives are not inadvertently set into motion. The READ flag of the group objects shall therefore be reset! This applies both to sensors AND actuators!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devices are not of the type BCU 1, the above is not needed, provided that the update flag in the respective group objects are not set.</a:t>
            </a:r>
            <a:endParaRPr lang="es-ES" sz="1200" kern="1200" dirty="0">
              <a:solidFill>
                <a:schemeClr val="tx1"/>
              </a:solidFill>
              <a:effectLst/>
              <a:latin typeface="Arial" charset="0"/>
              <a:ea typeface="+mn-ea"/>
              <a:cs typeface="+mn-cs"/>
            </a:endParaRPr>
          </a:p>
          <a:p>
            <a:br>
              <a:rPr lang="en-GB" sz="11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This behaviour is checked during KNX certification tests. </a:t>
            </a:r>
          </a:p>
          <a:p>
            <a:endParaRPr lang="en-GB" sz="1200" kern="1200" dirty="0">
              <a:solidFill>
                <a:schemeClr val="tx1"/>
              </a:solidFill>
              <a:effectLst/>
              <a:latin typeface="Arial" charset="0"/>
              <a:ea typeface="+mn-ea"/>
              <a:cs typeface="+mn-cs"/>
            </a:endParaRPr>
          </a:p>
          <a:p>
            <a:pPr lvl="2"/>
            <a:r>
              <a:rPr lang="en-GB" sz="1200" b="1" kern="1200" dirty="0">
                <a:solidFill>
                  <a:schemeClr val="tx1"/>
                </a:solidFill>
                <a:effectLst/>
                <a:latin typeface="Arial" charset="0"/>
                <a:ea typeface="+mn-ea"/>
                <a:cs typeface="+mn-cs"/>
              </a:rPr>
              <a:t>Sunblind Actuator Basic – Status Diagram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actuator for the control of blinds and shutters may be in one of four states, depending on the type of telegram(s) received: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Status</a:t>
            </a:r>
            <a:endParaRPr lang="es-ES" sz="16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Description</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Stopped</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 movement</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motion</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connected drive moves upwards or downwards</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UP</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drive is in the step mode and is moved upwards by one step</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DOWN</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drive is in the step mode and is moved downwards by one step</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(Depending on the type of application, it is of course possible to declare other directions of movement than those stated above, e.g. right/left or forwards/backwards.</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Example: motor-driven sliding door.)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events trigger the changeover from one status to another: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Name</a:t>
            </a:r>
            <a:endParaRPr lang="es-ES" sz="1600" kern="1200" dirty="0">
              <a:solidFill>
                <a:schemeClr val="tx1"/>
              </a:solidFill>
              <a:effectLst/>
              <a:latin typeface="Arial" charset="0"/>
              <a:ea typeface="+mn-ea"/>
              <a:cs typeface="+mn-cs"/>
            </a:endParaRPr>
          </a:p>
          <a:p>
            <a:r>
              <a:rPr lang="en-GB" sz="1200" b="1" i="1" kern="1200" dirty="0">
                <a:solidFill>
                  <a:schemeClr val="tx1"/>
                </a:solidFill>
                <a:effectLst/>
                <a:latin typeface="Arial" charset="0"/>
                <a:ea typeface="+mn-ea"/>
                <a:cs typeface="+mn-cs"/>
              </a:rPr>
              <a:t>Meaning</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Move UP</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Move object receives value ‘0’</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Move DOWN</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Move object receives value ‘1’</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UP</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object receives value ‘0’</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DOWN</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Step object receives value ‘1’</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Time elapsed</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Time limit defined for the motion of one step or for the entire range of motions has run out.</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event ‘Time elapsed’ is an internal event. The operation of an actuator for the control of blinds and shutters is illustrated by the following status diagram. The ellipses represent the states whereas the arrows indicate the events. This behaviour is checked during KNX certification tests.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4028032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0.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image" Target="../media/image3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err="1"/>
              <a:t>Interworking</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Introduction</a:t>
            </a:r>
          </a:p>
        </p:txBody>
      </p:sp>
      <p:sp>
        <p:nvSpPr>
          <p:cNvPr id="4" name="Content Placeholder 1">
            <a:extLst>
              <a:ext uri="{FF2B5EF4-FFF2-40B4-BE49-F238E27FC236}">
                <a16:creationId xmlns:a16="http://schemas.microsoft.com/office/drawing/2014/main" id="{538A7ABA-4547-437A-BFFC-9D47001B09A4}"/>
              </a:ext>
            </a:extLst>
          </p:cNvPr>
          <p:cNvSpPr txBox="1">
            <a:spLocks/>
          </p:cNvSpPr>
          <p:nvPr/>
        </p:nvSpPr>
        <p:spPr>
          <a:xfrm>
            <a:off x="971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s-ES" sz="2000" kern="0" dirty="0">
                <a:ea typeface="Open Sans" panose="020B0606030504020204" pitchFamily="34" charset="0"/>
                <a:cs typeface="Open Sans" panose="020B0606030504020204" pitchFamily="34" charset="0"/>
              </a:rPr>
              <a:t>KNXA</a:t>
            </a:r>
            <a:r>
              <a:rPr lang="es-ES" sz="2000" kern="0" dirty="0">
                <a:solidFill>
                  <a:schemeClr val="bg2">
                    <a:lumMod val="10000"/>
                  </a:schemeClr>
                </a:solidFill>
                <a:ea typeface="Open Sans" panose="020B0606030504020204" pitchFamily="34" charset="0"/>
                <a:cs typeface="Open Sans" panose="020B0606030504020204" pitchFamily="34" charset="0"/>
              </a:rPr>
              <a:t> </a:t>
            </a:r>
            <a:r>
              <a:rPr lang="en-GB" sz="2000" kern="1200" dirty="0">
                <a:solidFill>
                  <a:schemeClr val="tx1"/>
                </a:solidFill>
                <a:latin typeface="Arial" charset="0"/>
              </a:rPr>
              <a:t>takes care of the </a:t>
            </a:r>
            <a:r>
              <a:rPr lang="en-GB" sz="2000" kern="1200" dirty="0">
                <a:latin typeface="Arial" charset="0"/>
              </a:rPr>
              <a:t>standardisation </a:t>
            </a:r>
            <a:r>
              <a:rPr lang="en-GB" sz="2000" kern="1200" dirty="0">
                <a:solidFill>
                  <a:schemeClr val="tx1"/>
                </a:solidFill>
                <a:latin typeface="Arial" charset="0"/>
              </a:rPr>
              <a:t>of the protocol and laid down </a:t>
            </a:r>
            <a:r>
              <a:rPr lang="en-GB" sz="2000" kern="1200" dirty="0">
                <a:latin typeface="Arial" charset="0"/>
              </a:rPr>
              <a:t>rules for the encoding </a:t>
            </a:r>
            <a:r>
              <a:rPr lang="en-GB" sz="2000" kern="1200" dirty="0">
                <a:solidFill>
                  <a:schemeClr val="tx1"/>
                </a:solidFill>
                <a:latin typeface="Arial" charset="0"/>
              </a:rPr>
              <a:t>of the useful data inside telegrams</a:t>
            </a:r>
            <a:r>
              <a:rPr lang="es-ES" sz="2000" kern="0" dirty="0">
                <a:solidFill>
                  <a:schemeClr val="bg2">
                    <a:lumMod val="10000"/>
                  </a:schemeClr>
                </a:solidFill>
                <a:ea typeface="Open Sans" panose="020B0606030504020204" pitchFamily="34" charset="0"/>
                <a:cs typeface="Open Sans" panose="020B0606030504020204" pitchFamily="34" charset="0"/>
              </a:rPr>
              <a:t> </a:t>
            </a:r>
          </a:p>
          <a:p>
            <a:endParaRPr lang="es-ES" sz="2000" kern="0" dirty="0">
              <a:solidFill>
                <a:schemeClr val="bg2">
                  <a:lumMod val="10000"/>
                </a:schemeClr>
              </a:solidFill>
              <a:ea typeface="Open Sans" panose="020B0606030504020204" pitchFamily="34" charset="0"/>
              <a:cs typeface="Open Sans" panose="020B0606030504020204" pitchFamily="34" charset="0"/>
            </a:endParaRPr>
          </a:p>
          <a:p>
            <a:r>
              <a:rPr lang="en-US" sz="2000" kern="0" dirty="0">
                <a:solidFill>
                  <a:schemeClr val="bg2">
                    <a:lumMod val="10000"/>
                  </a:schemeClr>
                </a:solidFill>
                <a:ea typeface="Open Sans" panose="020B0606030504020204" pitchFamily="34" charset="0"/>
                <a:cs typeface="Open Sans" panose="020B0606030504020204" pitchFamily="34" charset="0"/>
              </a:rPr>
              <a:t>The most common data types are standardized on a European level and integrated into the </a:t>
            </a:r>
            <a:r>
              <a:rPr lang="en-US" sz="2000" kern="0" dirty="0">
                <a:ea typeface="Open Sans" panose="020B0606030504020204" pitchFamily="34" charset="0"/>
                <a:cs typeface="Open Sans" panose="020B0606030504020204" pitchFamily="34" charset="0"/>
              </a:rPr>
              <a:t>EN 50090 series as Part 3-3</a:t>
            </a:r>
            <a:endParaRPr lang="en-US" sz="2000" kern="0" dirty="0">
              <a:solidFill>
                <a:schemeClr val="bg2">
                  <a:lumMod val="10000"/>
                </a:schemeClr>
              </a:solidFill>
              <a:ea typeface="Open Sans" panose="020B0606030504020204" pitchFamily="34" charset="0"/>
              <a:cs typeface="Open Sans" panose="020B0606030504020204" pitchFamily="34" charset="0"/>
            </a:endParaRPr>
          </a:p>
          <a:p>
            <a:endParaRPr lang="en-US" sz="2000" kern="0" dirty="0">
              <a:solidFill>
                <a:schemeClr val="bg2">
                  <a:lumMod val="10000"/>
                </a:schemeClr>
              </a:solidFill>
              <a:ea typeface="Open Sans" panose="020B0606030504020204" pitchFamily="34" charset="0"/>
              <a:cs typeface="Open Sans" panose="020B0606030504020204" pitchFamily="34" charset="0"/>
            </a:endParaRPr>
          </a:p>
          <a:p>
            <a:r>
              <a:rPr lang="en-GB" sz="2000" kern="1200" dirty="0">
                <a:latin typeface="Arial" charset="0"/>
              </a:rPr>
              <a:t>Standardized formats </a:t>
            </a:r>
            <a:r>
              <a:rPr lang="en-GB" sz="2000" kern="1200" dirty="0">
                <a:solidFill>
                  <a:schemeClr val="tx1"/>
                </a:solidFill>
                <a:latin typeface="Arial" charset="0"/>
              </a:rPr>
              <a:t>for functions are </a:t>
            </a:r>
            <a:r>
              <a:rPr lang="en-GB" sz="2000" kern="1200" dirty="0">
                <a:latin typeface="Arial" charset="0"/>
              </a:rPr>
              <a:t>mandatory for certification</a:t>
            </a:r>
            <a:r>
              <a:rPr lang="en-GB" sz="2000" kern="1200" dirty="0">
                <a:solidFill>
                  <a:schemeClr val="tx1"/>
                </a:solidFill>
                <a:latin typeface="Arial" charset="0"/>
              </a:rPr>
              <a:t>. Compliance of format is checked during the </a:t>
            </a:r>
            <a:r>
              <a:rPr lang="en-GB" sz="2000" kern="1200" dirty="0">
                <a:latin typeface="Arial" charset="0"/>
              </a:rPr>
              <a:t>KNX interworking tests </a:t>
            </a:r>
            <a:r>
              <a:rPr lang="en-GB" sz="2000" kern="1200" dirty="0">
                <a:solidFill>
                  <a:schemeClr val="tx1"/>
                </a:solidFill>
                <a:latin typeface="Arial" charset="0"/>
              </a:rPr>
              <a:t>as carried out by KNX accredited test labs</a:t>
            </a:r>
            <a:endParaRPr lang="es-ES" sz="2000" kern="1200" dirty="0">
              <a:solidFill>
                <a:schemeClr val="tx1"/>
              </a:solidFill>
              <a:latin typeface="Arial" charset="0"/>
            </a:endParaRPr>
          </a:p>
        </p:txBody>
      </p:sp>
    </p:spTree>
    <p:extLst>
      <p:ext uri="{BB962C8B-B14F-4D97-AF65-F5344CB8AC3E}">
        <p14:creationId xmlns:p14="http://schemas.microsoft.com/office/powerpoint/2010/main" val="3560129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Advantages of Interworking</a:t>
            </a:r>
          </a:p>
        </p:txBody>
      </p:sp>
      <p:sp>
        <p:nvSpPr>
          <p:cNvPr id="4" name="Content Placeholder 1">
            <a:extLst>
              <a:ext uri="{FF2B5EF4-FFF2-40B4-BE49-F238E27FC236}">
                <a16:creationId xmlns:a16="http://schemas.microsoft.com/office/drawing/2014/main" id="{EB693853-05CC-4DA9-A27C-61170ED90CEE}"/>
              </a:ext>
            </a:extLst>
          </p:cNvPr>
          <p:cNvSpPr txBox="1">
            <a:spLocks/>
          </p:cNvSpPr>
          <p:nvPr/>
        </p:nvSpPr>
        <p:spPr>
          <a:xfrm>
            <a:off x="971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solidFill>
                  <a:schemeClr val="tx1"/>
                </a:solidFill>
                <a:ea typeface="Open Sans" panose="020B0606030504020204" pitchFamily="34" charset="0"/>
                <a:cs typeface="Open Sans" panose="020B0606030504020204" pitchFamily="34" charset="0"/>
              </a:rPr>
              <a:t>When a product line A is defective but Manufacturer A has discontinued product line, the end user can find a </a:t>
            </a:r>
            <a:r>
              <a:rPr lang="en-US" sz="2000" kern="0" dirty="0">
                <a:ea typeface="Open Sans" panose="020B0606030504020204" pitchFamily="34" charset="0"/>
                <a:cs typeface="Open Sans" panose="020B0606030504020204" pitchFamily="34" charset="0"/>
              </a:rPr>
              <a:t>replacement </a:t>
            </a:r>
            <a:r>
              <a:rPr lang="en-US" sz="2000" kern="0" dirty="0">
                <a:solidFill>
                  <a:schemeClr val="tx1"/>
                </a:solidFill>
                <a:ea typeface="Open Sans" panose="020B0606030504020204" pitchFamily="34" charset="0"/>
                <a:cs typeface="Open Sans" panose="020B0606030504020204" pitchFamily="34" charset="0"/>
              </a:rPr>
              <a:t>at Manufacturer B</a:t>
            </a:r>
            <a:endParaRPr lang="es-ES" sz="2000" kern="0" dirty="0">
              <a:solidFill>
                <a:schemeClr val="tx1"/>
              </a:solidFill>
              <a:ea typeface="Open Sans" panose="020B0606030504020204" pitchFamily="34" charset="0"/>
              <a:cs typeface="Open Sans" panose="020B0606030504020204" pitchFamily="34" charset="0"/>
            </a:endParaRPr>
          </a:p>
          <a:p>
            <a:endParaRPr lang="es-ES" sz="2400" kern="0" dirty="0">
              <a:solidFill>
                <a:schemeClr val="tx1"/>
              </a:solidFill>
              <a:ea typeface="Open Sans" panose="020B0606030504020204" pitchFamily="34" charset="0"/>
              <a:cs typeface="Open Sans" panose="020B0606030504020204" pitchFamily="34" charset="0"/>
            </a:endParaRPr>
          </a:p>
          <a:p>
            <a:r>
              <a:rPr lang="en-US" sz="2000" kern="0" dirty="0">
                <a:solidFill>
                  <a:schemeClr val="tx1"/>
                </a:solidFill>
                <a:ea typeface="Open Sans" panose="020B0606030504020204" pitchFamily="34" charset="0"/>
                <a:cs typeface="Open Sans" panose="020B0606030504020204" pitchFamily="34" charset="0"/>
              </a:rPr>
              <a:t>OEM market: what Manufacturer A does not produce himself, he can find at another HBES manufacturer and </a:t>
            </a:r>
            <a:r>
              <a:rPr lang="en-US" sz="2000" kern="0" dirty="0">
                <a:ea typeface="Open Sans" panose="020B0606030504020204" pitchFamily="34" charset="0"/>
                <a:cs typeface="Open Sans" panose="020B0606030504020204" pitchFamily="34" charset="0"/>
              </a:rPr>
              <a:t>relabeling the products </a:t>
            </a:r>
            <a:r>
              <a:rPr lang="en-US" sz="2000" kern="0" dirty="0">
                <a:solidFill>
                  <a:schemeClr val="tx1"/>
                </a:solidFill>
                <a:ea typeface="Open Sans" panose="020B0606030504020204" pitchFamily="34" charset="0"/>
                <a:cs typeface="Open Sans" panose="020B0606030504020204" pitchFamily="34" charset="0"/>
              </a:rPr>
              <a:t>he buys from Manufacturer A</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ea typeface="Open Sans" panose="020B0606030504020204" pitchFamily="34" charset="0"/>
                <a:cs typeface="Open Sans" panose="020B0606030504020204" pitchFamily="34" charset="0"/>
              </a:rPr>
              <a:t>All products of all manufacturers can be linked </a:t>
            </a:r>
            <a:r>
              <a:rPr lang="en-US" sz="2000" kern="0" dirty="0">
                <a:solidFill>
                  <a:schemeClr val="tx1"/>
                </a:solidFill>
                <a:ea typeface="Open Sans" panose="020B0606030504020204" pitchFamily="34" charset="0"/>
                <a:cs typeface="Open Sans" panose="020B0606030504020204" pitchFamily="34" charset="0"/>
              </a:rPr>
              <a:t>to one working installation is the corner stone of the KNX one configuration tool (ETS) approach</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solidFill>
                  <a:schemeClr val="tx1"/>
                </a:solidFill>
                <a:ea typeface="Open Sans" panose="020B0606030504020204" pitchFamily="34" charset="0"/>
                <a:cs typeface="Open Sans" panose="020B0606030504020204" pitchFamily="34" charset="0"/>
              </a:rPr>
              <a:t>KNX </a:t>
            </a:r>
            <a:r>
              <a:rPr lang="en-US" sz="2000" kern="0" dirty="0">
                <a:ea typeface="Open Sans" panose="020B0606030504020204" pitchFamily="34" charset="0"/>
                <a:cs typeface="Open Sans" panose="020B0606030504020204" pitchFamily="34" charset="0"/>
              </a:rPr>
              <a:t>worldwide standardized training scheme</a:t>
            </a:r>
            <a:r>
              <a:rPr lang="en-US" sz="2000" kern="0" dirty="0">
                <a:solidFill>
                  <a:schemeClr val="tx1"/>
                </a:solidFill>
                <a:ea typeface="Open Sans" panose="020B0606030504020204" pitchFamily="34" charset="0"/>
                <a:cs typeface="Open Sans" panose="020B0606030504020204" pitchFamily="34" charset="0"/>
              </a:rPr>
              <a:t> </a:t>
            </a: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0766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Principles of KNX Interworking</a:t>
            </a:r>
          </a:p>
        </p:txBody>
      </p:sp>
      <p:pic>
        <p:nvPicPr>
          <p:cNvPr id="2" name="Picture 1">
            <a:extLst>
              <a:ext uri="{FF2B5EF4-FFF2-40B4-BE49-F238E27FC236}">
                <a16:creationId xmlns:a16="http://schemas.microsoft.com/office/drawing/2014/main" id="{E850A26B-4B32-4E60-862C-FD222690AD30}"/>
              </a:ext>
            </a:extLst>
          </p:cNvPr>
          <p:cNvPicPr>
            <a:picLocks noChangeAspect="1"/>
          </p:cNvPicPr>
          <p:nvPr/>
        </p:nvPicPr>
        <p:blipFill>
          <a:blip r:embed="rId3"/>
          <a:stretch>
            <a:fillRect/>
          </a:stretch>
        </p:blipFill>
        <p:spPr>
          <a:xfrm>
            <a:off x="1907704" y="3449615"/>
            <a:ext cx="6156605" cy="2882203"/>
          </a:xfrm>
          <a:prstGeom prst="rect">
            <a:avLst/>
          </a:prstGeom>
        </p:spPr>
      </p:pic>
      <p:sp>
        <p:nvSpPr>
          <p:cNvPr id="4" name="Rectangle 3">
            <a:extLst>
              <a:ext uri="{FF2B5EF4-FFF2-40B4-BE49-F238E27FC236}">
                <a16:creationId xmlns:a16="http://schemas.microsoft.com/office/drawing/2014/main" id="{6F6513DB-9FCF-482B-A034-5C4FB9D46DC4}"/>
              </a:ext>
            </a:extLst>
          </p:cNvPr>
          <p:cNvSpPr/>
          <p:nvPr/>
        </p:nvSpPr>
        <p:spPr>
          <a:xfrm>
            <a:off x="878772" y="1463293"/>
            <a:ext cx="7941700" cy="3170099"/>
          </a:xfrm>
          <a:prstGeom prst="rect">
            <a:avLst/>
          </a:prstGeom>
        </p:spPr>
        <p:txBody>
          <a:bodyPr wrap="square">
            <a:spAutoFit/>
          </a:bodyPr>
          <a:lstStyle/>
          <a:p>
            <a:r>
              <a:rPr lang="en-US" sz="2000" b="1" dirty="0">
                <a:cs typeface="+mn-cs"/>
              </a:rPr>
              <a:t>KNX group objects are coded according to </a:t>
            </a:r>
            <a:r>
              <a:rPr lang="en-US" sz="2000" b="1" dirty="0">
                <a:solidFill>
                  <a:srgbClr val="369226"/>
                </a:solidFill>
                <a:cs typeface="+mn-cs"/>
              </a:rPr>
              <a:t>KNX standardized data types</a:t>
            </a:r>
            <a:r>
              <a:rPr lang="en-US" sz="2000" b="1" dirty="0">
                <a:cs typeface="+mn-cs"/>
              </a:rPr>
              <a:t>.  The encoding of parameters can be manufacturer specific</a:t>
            </a:r>
          </a:p>
          <a:p>
            <a:endParaRPr lang="en-US" sz="2000" b="1" dirty="0">
              <a:cs typeface="+mn-cs"/>
            </a:endParaRPr>
          </a:p>
          <a:p>
            <a:r>
              <a:rPr lang="en-US" sz="2000" b="1" dirty="0">
                <a:solidFill>
                  <a:srgbClr val="369226"/>
                </a:solidFill>
                <a:cs typeface="+mn-cs"/>
              </a:rPr>
              <a:t>Functional blocks group inputs, outputs and parameters</a:t>
            </a:r>
            <a:r>
              <a:rPr lang="en-US" sz="2000" b="1" dirty="0">
                <a:cs typeface="+mn-cs"/>
              </a:rPr>
              <a:t>. For this combination, a precise function description is provided</a:t>
            </a:r>
          </a:p>
          <a:p>
            <a:endParaRPr lang="en-US" sz="2000" b="1" dirty="0">
              <a:cs typeface="+mn-cs"/>
            </a:endParaRPr>
          </a:p>
          <a:p>
            <a:endParaRPr lang="en-US" sz="2000" b="1" dirty="0">
              <a:cs typeface="+mn-cs"/>
            </a:endParaRPr>
          </a:p>
          <a:p>
            <a:r>
              <a:rPr lang="en-US" sz="2000" b="1" dirty="0">
                <a:cs typeface="+mn-cs"/>
              </a:rPr>
              <a:t> </a:t>
            </a:r>
          </a:p>
          <a:p>
            <a:endParaRPr lang="es-ES" sz="2000" b="1" dirty="0">
              <a:cs typeface="+mn-cs"/>
            </a:endParaRPr>
          </a:p>
        </p:txBody>
      </p:sp>
    </p:spTree>
    <p:extLst>
      <p:ext uri="{BB962C8B-B14F-4D97-AF65-F5344CB8AC3E}">
        <p14:creationId xmlns:p14="http://schemas.microsoft.com/office/powerpoint/2010/main" val="4029207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Coding of Datapoint types</a:t>
            </a:r>
          </a:p>
        </p:txBody>
      </p:sp>
      <p:pic>
        <p:nvPicPr>
          <p:cNvPr id="2" name="Picture 1">
            <a:extLst>
              <a:ext uri="{FF2B5EF4-FFF2-40B4-BE49-F238E27FC236}">
                <a16:creationId xmlns:a16="http://schemas.microsoft.com/office/drawing/2014/main" id="{2C3F6D12-D156-49D6-B58F-C9C0EC09C6C9}"/>
              </a:ext>
            </a:extLst>
          </p:cNvPr>
          <p:cNvPicPr>
            <a:picLocks noChangeAspect="1"/>
          </p:cNvPicPr>
          <p:nvPr/>
        </p:nvPicPr>
        <p:blipFill>
          <a:blip r:embed="rId3"/>
          <a:stretch>
            <a:fillRect/>
          </a:stretch>
        </p:blipFill>
        <p:spPr>
          <a:xfrm>
            <a:off x="611560" y="1505812"/>
            <a:ext cx="8422902" cy="2633842"/>
          </a:xfrm>
          <a:prstGeom prst="rect">
            <a:avLst/>
          </a:prstGeom>
        </p:spPr>
      </p:pic>
      <p:sp>
        <p:nvSpPr>
          <p:cNvPr id="5" name="Content Placeholder 1">
            <a:extLst>
              <a:ext uri="{FF2B5EF4-FFF2-40B4-BE49-F238E27FC236}">
                <a16:creationId xmlns:a16="http://schemas.microsoft.com/office/drawing/2014/main" id="{54DA1F2D-2E64-4183-8D23-A9B1132510C9}"/>
              </a:ext>
            </a:extLst>
          </p:cNvPr>
          <p:cNvSpPr txBox="1">
            <a:spLocks/>
          </p:cNvSpPr>
          <p:nvPr/>
        </p:nvSpPr>
        <p:spPr>
          <a:xfrm>
            <a:off x="971600" y="4293096"/>
            <a:ext cx="7632848" cy="1944216"/>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ea typeface="Open Sans" panose="020B0606030504020204" pitchFamily="34" charset="0"/>
                <a:cs typeface="Open Sans" panose="020B0606030504020204" pitchFamily="34" charset="0"/>
              </a:rPr>
              <a:t>Format: </a:t>
            </a:r>
            <a:r>
              <a:rPr lang="en-US" sz="2000" kern="0" dirty="0">
                <a:solidFill>
                  <a:schemeClr val="tx1"/>
                </a:solidFill>
                <a:ea typeface="Open Sans" panose="020B0606030504020204" pitchFamily="34" charset="0"/>
                <a:cs typeface="Open Sans" panose="020B0606030504020204" pitchFamily="34" charset="0"/>
              </a:rPr>
              <a:t>Sets the fields that compose the Datapoint type. Each field can consist of one or several bits</a:t>
            </a:r>
          </a:p>
          <a:p>
            <a:r>
              <a:rPr lang="en-US" sz="2000" kern="0" dirty="0">
                <a:ea typeface="Open Sans" panose="020B0606030504020204" pitchFamily="34" charset="0"/>
                <a:cs typeface="Open Sans" panose="020B0606030504020204" pitchFamily="34" charset="0"/>
              </a:rPr>
              <a:t>Coding: </a:t>
            </a:r>
            <a:r>
              <a:rPr lang="en-US" sz="2000" kern="0" dirty="0">
                <a:solidFill>
                  <a:schemeClr val="tx1"/>
                </a:solidFill>
                <a:ea typeface="Open Sans" panose="020B0606030504020204" pitchFamily="34" charset="0"/>
                <a:cs typeface="Open Sans" panose="020B0606030504020204" pitchFamily="34" charset="0"/>
              </a:rPr>
              <a:t>Sets the data encoding</a:t>
            </a:r>
          </a:p>
          <a:p>
            <a:r>
              <a:rPr lang="en-US" sz="2000" kern="0" dirty="0">
                <a:ea typeface="Open Sans" panose="020B0606030504020204" pitchFamily="34" charset="0"/>
                <a:cs typeface="Open Sans" panose="020B0606030504020204" pitchFamily="34" charset="0"/>
              </a:rPr>
              <a:t>Value range: </a:t>
            </a:r>
            <a:r>
              <a:rPr lang="en-US" sz="2000" kern="0" dirty="0">
                <a:solidFill>
                  <a:schemeClr val="tx1"/>
                </a:solidFill>
                <a:ea typeface="Open Sans" panose="020B0606030504020204" pitchFamily="34" charset="0"/>
                <a:cs typeface="Open Sans" panose="020B0606030504020204" pitchFamily="34" charset="0"/>
              </a:rPr>
              <a:t>Sets the range limitations and valid values</a:t>
            </a:r>
          </a:p>
          <a:p>
            <a:r>
              <a:rPr lang="en-US" sz="2000" kern="0" dirty="0">
                <a:ea typeface="Open Sans" panose="020B0606030504020204" pitchFamily="34" charset="0"/>
                <a:cs typeface="Open Sans" panose="020B0606030504020204" pitchFamily="34" charset="0"/>
              </a:rPr>
              <a:t>Unit: </a:t>
            </a:r>
            <a:r>
              <a:rPr lang="en-US" sz="2000" kern="0" dirty="0">
                <a:solidFill>
                  <a:schemeClr val="tx1"/>
                </a:solidFill>
                <a:ea typeface="Open Sans" panose="020B0606030504020204" pitchFamily="34" charset="0"/>
                <a:cs typeface="Open Sans" panose="020B0606030504020204" pitchFamily="34" charset="0"/>
              </a:rPr>
              <a:t>Sets the data unit </a:t>
            </a: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27059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Principle Datapoint types classes</a:t>
            </a:r>
            <a:endParaRPr lang="en-GB" dirty="0"/>
          </a:p>
        </p:txBody>
      </p:sp>
      <p:sp>
        <p:nvSpPr>
          <p:cNvPr id="4" name="Content Placeholder 1">
            <a:extLst>
              <a:ext uri="{FF2B5EF4-FFF2-40B4-BE49-F238E27FC236}">
                <a16:creationId xmlns:a16="http://schemas.microsoft.com/office/drawing/2014/main" id="{8E01A131-56CB-4632-8FB6-BD795D06DBBE}"/>
              </a:ext>
            </a:extLst>
          </p:cNvPr>
          <p:cNvSpPr txBox="1">
            <a:spLocks/>
          </p:cNvSpPr>
          <p:nvPr/>
        </p:nvSpPr>
        <p:spPr>
          <a:xfrm>
            <a:off x="971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ea typeface="Open Sans" panose="020B0606030504020204" pitchFamily="34" charset="0"/>
                <a:cs typeface="Open Sans" panose="020B0606030504020204" pitchFamily="34" charset="0"/>
              </a:rPr>
              <a:t>Simple types</a:t>
            </a:r>
            <a:r>
              <a:rPr lang="en-US" sz="2000" kern="0" dirty="0">
                <a:solidFill>
                  <a:schemeClr val="tx1"/>
                </a:solidFill>
                <a:ea typeface="Open Sans" panose="020B0606030504020204" pitchFamily="34" charset="0"/>
                <a:cs typeface="Open Sans" panose="020B0606030504020204" pitchFamily="34" charset="0"/>
              </a:rPr>
              <a:t>: Example: </a:t>
            </a:r>
            <a:r>
              <a:rPr lang="en-US" sz="2000" kern="0" dirty="0" err="1">
                <a:solidFill>
                  <a:schemeClr val="tx1"/>
                </a:solidFill>
                <a:ea typeface="Open Sans" panose="020B0606030504020204" pitchFamily="34" charset="0"/>
                <a:cs typeface="Open Sans" panose="020B0606030504020204" pitchFamily="34" charset="0"/>
              </a:rPr>
              <a:t>boolean</a:t>
            </a:r>
            <a:r>
              <a:rPr lang="en-US" sz="2000" kern="0" dirty="0">
                <a:solidFill>
                  <a:schemeClr val="tx1"/>
                </a:solidFill>
                <a:ea typeface="Open Sans" panose="020B0606030504020204" pitchFamily="34" charset="0"/>
                <a:cs typeface="Open Sans" panose="020B0606030504020204" pitchFamily="34" charset="0"/>
              </a:rPr>
              <a:t>, pure numeric values</a:t>
            </a:r>
          </a:p>
          <a:p>
            <a:endParaRPr lang="es-ES" sz="2400" kern="0" dirty="0">
              <a:solidFill>
                <a:schemeClr val="tx1"/>
              </a:solidFill>
              <a:ea typeface="Open Sans" panose="020B0606030504020204" pitchFamily="34" charset="0"/>
              <a:cs typeface="Open Sans" panose="020B0606030504020204" pitchFamily="34" charset="0"/>
            </a:endParaRPr>
          </a:p>
          <a:p>
            <a:r>
              <a:rPr lang="en-US" sz="2000" kern="0" dirty="0">
                <a:ea typeface="Open Sans" panose="020B0606030504020204" pitchFamily="34" charset="0"/>
                <a:cs typeface="Open Sans" panose="020B0606030504020204" pitchFamily="34" charset="0"/>
              </a:rPr>
              <a:t>Enumerated Types: </a:t>
            </a:r>
            <a:r>
              <a:rPr lang="en-US" sz="2000" kern="0" dirty="0">
                <a:solidFill>
                  <a:schemeClr val="tx1"/>
                </a:solidFill>
                <a:ea typeface="Open Sans" panose="020B0606030504020204" pitchFamily="34" charset="0"/>
                <a:cs typeface="Open Sans" panose="020B0606030504020204" pitchFamily="34" charset="0"/>
              </a:rPr>
              <a:t>limited number of values and no precise hierarchical order. All  states shall be described. If invalid/undefined values are sent, no malfunctions may occur. Examples: operating modes in room thermostats </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ea typeface="Open Sans" panose="020B0606030504020204" pitchFamily="34" charset="0"/>
                <a:cs typeface="Open Sans" panose="020B0606030504020204" pitchFamily="34" charset="0"/>
              </a:rPr>
              <a:t>Structured Type: </a:t>
            </a:r>
            <a:r>
              <a:rPr lang="en-US" sz="2000" kern="0" dirty="0">
                <a:solidFill>
                  <a:schemeClr val="tx1"/>
                </a:solidFill>
                <a:ea typeface="Open Sans" panose="020B0606030504020204" pitchFamily="34" charset="0"/>
                <a:cs typeface="Open Sans" panose="020B0606030504020204" pitchFamily="34" charset="0"/>
              </a:rPr>
              <a:t>several parts which are combined in a datapoint. Examples: KNX relative dimming (3.007 </a:t>
            </a:r>
            <a:r>
              <a:rPr lang="en-US" sz="2000" kern="0" dirty="0" err="1">
                <a:solidFill>
                  <a:schemeClr val="tx1"/>
                </a:solidFill>
                <a:ea typeface="Open Sans" panose="020B0606030504020204" pitchFamily="34" charset="0"/>
                <a:cs typeface="Open Sans" panose="020B0606030504020204" pitchFamily="34" charset="0"/>
              </a:rPr>
              <a:t>DPT_Control_Dimming</a:t>
            </a:r>
            <a:r>
              <a:rPr lang="en-US" sz="2000" kern="0" dirty="0">
                <a:solidFill>
                  <a:schemeClr val="tx1"/>
                </a:solidFill>
                <a:ea typeface="Open Sans" panose="020B0606030504020204" pitchFamily="34" charset="0"/>
                <a:cs typeface="Open Sans" panose="020B0606030504020204" pitchFamily="34" charset="0"/>
              </a:rPr>
              <a:t>)</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ea typeface="Open Sans" panose="020B0606030504020204" pitchFamily="34" charset="0"/>
                <a:cs typeface="Open Sans" panose="020B0606030504020204" pitchFamily="34" charset="0"/>
              </a:rPr>
              <a:t>Status Types: </a:t>
            </a:r>
            <a:r>
              <a:rPr lang="en-US" sz="2000" kern="0" dirty="0">
                <a:solidFill>
                  <a:schemeClr val="tx1"/>
                </a:solidFill>
                <a:ea typeface="Open Sans" panose="020B0606030504020204" pitchFamily="34" charset="0"/>
                <a:cs typeface="Open Sans" panose="020B0606030504020204" pitchFamily="34" charset="0"/>
              </a:rPr>
              <a:t>Used when a</a:t>
            </a:r>
            <a:r>
              <a:rPr lang="en-US" sz="2000" b="1" kern="0" dirty="0">
                <a:solidFill>
                  <a:schemeClr val="tx1"/>
                </a:solidFill>
                <a:ea typeface="Open Sans" panose="020B0606030504020204" pitchFamily="34" charset="0"/>
                <a:cs typeface="Open Sans" panose="020B0606030504020204" pitchFamily="34" charset="0"/>
              </a:rPr>
              <a:t> device is able to report its operating mode and to be switched to a specific mode.</a:t>
            </a:r>
            <a:r>
              <a:rPr lang="en-US" sz="2000" kern="0" dirty="0">
                <a:solidFill>
                  <a:schemeClr val="tx1"/>
                </a:solidFill>
                <a:ea typeface="Open Sans" panose="020B0606030504020204" pitchFamily="34" charset="0"/>
                <a:cs typeface="Open Sans" panose="020B0606030504020204" pitchFamily="34" charset="0"/>
              </a:rPr>
              <a:t> </a:t>
            </a:r>
            <a:r>
              <a:rPr lang="en-US" sz="2000" b="1" kern="0" dirty="0">
                <a:solidFill>
                  <a:schemeClr val="tx1"/>
                </a:solidFill>
                <a:ea typeface="Open Sans" panose="020B0606030504020204" pitchFamily="34" charset="0"/>
                <a:cs typeface="Open Sans" panose="020B0606030504020204" pitchFamily="34" charset="0"/>
              </a:rPr>
              <a:t>Sent as a mask. Primarily used in heating technology</a:t>
            </a: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0527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Principle Datapoint types classes</a:t>
            </a:r>
            <a:endParaRPr lang="en-GB" dirty="0"/>
          </a:p>
        </p:txBody>
      </p:sp>
      <p:sp>
        <p:nvSpPr>
          <p:cNvPr id="4" name="Content Placeholder 1">
            <a:extLst>
              <a:ext uri="{FF2B5EF4-FFF2-40B4-BE49-F238E27FC236}">
                <a16:creationId xmlns:a16="http://schemas.microsoft.com/office/drawing/2014/main" id="{8E01A131-56CB-4632-8FB6-BD795D06DBBE}"/>
              </a:ext>
            </a:extLst>
          </p:cNvPr>
          <p:cNvSpPr txBox="1">
            <a:spLocks/>
          </p:cNvSpPr>
          <p:nvPr/>
        </p:nvSpPr>
        <p:spPr>
          <a:xfrm>
            <a:off x="899592" y="1412875"/>
            <a:ext cx="7776864"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ea typeface="Open Sans" panose="020B0606030504020204" pitchFamily="34" charset="0"/>
                <a:cs typeface="Open Sans" panose="020B0606030504020204" pitchFamily="34" charset="0"/>
              </a:rPr>
              <a:t>“Multi-state” Types:  </a:t>
            </a:r>
            <a:r>
              <a:rPr lang="en-US" sz="2000" kern="0" dirty="0">
                <a:solidFill>
                  <a:schemeClr val="tx1"/>
                </a:solidFill>
                <a:ea typeface="Open Sans" panose="020B0606030504020204" pitchFamily="34" charset="0"/>
                <a:cs typeface="Open Sans" panose="020B0606030504020204" pitchFamily="34" charset="0"/>
              </a:rPr>
              <a:t>meaningful encodable values following a hierarchical sequence. Example: the 5 speed positions of a fan controller (motor) </a:t>
            </a:r>
          </a:p>
          <a:p>
            <a:endParaRPr lang="en-US" sz="2000" kern="0" dirty="0">
              <a:solidFill>
                <a:schemeClr val="tx1"/>
              </a:solidFill>
              <a:ea typeface="Open Sans" panose="020B0606030504020204" pitchFamily="34" charset="0"/>
              <a:cs typeface="Open Sans" panose="020B0606030504020204" pitchFamily="34" charset="0"/>
            </a:endParaRPr>
          </a:p>
          <a:p>
            <a:r>
              <a:rPr lang="en-US" sz="2000" b="1" kern="0" dirty="0">
                <a:solidFill>
                  <a:schemeClr val="tx1"/>
                </a:solidFill>
                <a:ea typeface="Open Sans" panose="020B0606030504020204" pitchFamily="34" charset="0"/>
                <a:cs typeface="Open Sans" panose="020B0606030504020204" pitchFamily="34" charset="0"/>
              </a:rPr>
              <a:t>To cover operating with different steps, sender and receiver must convert the steps to a range between 0 and 255 </a:t>
            </a: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solidFill>
                  <a:schemeClr val="tx1"/>
                </a:solidFill>
                <a:ea typeface="Open Sans" panose="020B0606030504020204" pitchFamily="34" charset="0"/>
                <a:cs typeface="Open Sans" panose="020B0606030504020204" pitchFamily="34" charset="0"/>
              </a:rPr>
              <a:t>These Datapoint types can only be used if </a:t>
            </a:r>
          </a:p>
          <a:p>
            <a:pPr lvl="1">
              <a:buFont typeface="Wingdings" panose="05000000000000000000" pitchFamily="2" charset="2"/>
              <a:buChar char="§"/>
            </a:pPr>
            <a:r>
              <a:rPr lang="en-US" sz="2000" b="1" kern="0" dirty="0">
                <a:solidFill>
                  <a:schemeClr val="tx1"/>
                </a:solidFill>
                <a:ea typeface="Open Sans" panose="020B0606030504020204" pitchFamily="34" charset="0"/>
                <a:cs typeface="Open Sans" panose="020B0606030504020204" pitchFamily="34" charset="0"/>
              </a:rPr>
              <a:t>the states have a clearly defined sequence,</a:t>
            </a:r>
          </a:p>
          <a:p>
            <a:pPr lvl="1">
              <a:buFont typeface="Wingdings" panose="05000000000000000000" pitchFamily="2" charset="2"/>
              <a:buChar char="§"/>
            </a:pPr>
            <a:r>
              <a:rPr lang="en-US" sz="2000" b="1" kern="0" dirty="0">
                <a:solidFill>
                  <a:schemeClr val="tx1"/>
                </a:solidFill>
                <a:ea typeface="Open Sans" panose="020B0606030504020204" pitchFamily="34" charset="0"/>
                <a:cs typeface="Open Sans" panose="020B0606030504020204" pitchFamily="34" charset="0"/>
              </a:rPr>
              <a:t>no exact linear conversion of the is required</a:t>
            </a:r>
          </a:p>
          <a:p>
            <a:endParaRPr lang="en-US" sz="2000" b="1"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p:txBody>
      </p:sp>
      <p:graphicFrame>
        <p:nvGraphicFramePr>
          <p:cNvPr id="6" name="Object 5">
            <a:extLst>
              <a:ext uri="{FF2B5EF4-FFF2-40B4-BE49-F238E27FC236}">
                <a16:creationId xmlns:a16="http://schemas.microsoft.com/office/drawing/2014/main" id="{5B3FBBEA-2863-4340-90A8-1277CC4E76CE}"/>
              </a:ext>
            </a:extLst>
          </p:cNvPr>
          <p:cNvGraphicFramePr>
            <a:graphicFrameLocks noChangeAspect="1"/>
          </p:cNvGraphicFramePr>
          <p:nvPr/>
        </p:nvGraphicFramePr>
        <p:xfrm>
          <a:off x="1371716" y="3979303"/>
          <a:ext cx="2696228" cy="615638"/>
        </p:xfrm>
        <a:graphic>
          <a:graphicData uri="http://schemas.openxmlformats.org/presentationml/2006/ole">
            <mc:AlternateContent xmlns:mc="http://schemas.openxmlformats.org/markup-compatibility/2006">
              <mc:Choice xmlns:v="urn:schemas-microsoft-com:vml" Requires="v">
                <p:oleObj r:id="rId3" imgW="1905000" imgH="431800" progId="Equation.3">
                  <p:embed/>
                </p:oleObj>
              </mc:Choice>
              <mc:Fallback>
                <p:oleObj r:id="rId3" imgW="1905000" imgH="431800" progId="Equation.3">
                  <p:embed/>
                  <p:pic>
                    <p:nvPicPr>
                      <p:cNvPr id="6" name="Object 5">
                        <a:extLst>
                          <a:ext uri="{FF2B5EF4-FFF2-40B4-BE49-F238E27FC236}">
                            <a16:creationId xmlns:a16="http://schemas.microsoft.com/office/drawing/2014/main" id="{5B3FBBEA-2863-4340-90A8-1277CC4E76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716" y="3979303"/>
                        <a:ext cx="2696228" cy="615638"/>
                      </a:xfrm>
                      <a:prstGeom prst="rect">
                        <a:avLst/>
                      </a:prstGeom>
                      <a:noFill/>
                    </p:spPr>
                  </p:pic>
                </p:oleObj>
              </mc:Fallback>
            </mc:AlternateContent>
          </a:graphicData>
        </a:graphic>
      </p:graphicFrame>
      <p:pic>
        <p:nvPicPr>
          <p:cNvPr id="7" name="Picture 6">
            <a:extLst>
              <a:ext uri="{FF2B5EF4-FFF2-40B4-BE49-F238E27FC236}">
                <a16:creationId xmlns:a16="http://schemas.microsoft.com/office/drawing/2014/main" id="{D063FB37-98A7-4292-8DDD-08F42E6CBD35}"/>
              </a:ext>
            </a:extLst>
          </p:cNvPr>
          <p:cNvPicPr>
            <a:picLocks noChangeAspect="1"/>
          </p:cNvPicPr>
          <p:nvPr/>
        </p:nvPicPr>
        <p:blipFill>
          <a:blip r:embed="rId5"/>
          <a:stretch>
            <a:fillRect/>
          </a:stretch>
        </p:blipFill>
        <p:spPr>
          <a:xfrm>
            <a:off x="4576128" y="3991582"/>
            <a:ext cx="3829916" cy="611622"/>
          </a:xfrm>
          <a:prstGeom prst="rect">
            <a:avLst/>
          </a:prstGeom>
        </p:spPr>
      </p:pic>
      <p:sp>
        <p:nvSpPr>
          <p:cNvPr id="8" name="Rectangle 7">
            <a:extLst>
              <a:ext uri="{FF2B5EF4-FFF2-40B4-BE49-F238E27FC236}">
                <a16:creationId xmlns:a16="http://schemas.microsoft.com/office/drawing/2014/main" id="{8E80D1CD-1BE9-4B78-A633-F069C9AF95E0}"/>
              </a:ext>
            </a:extLst>
          </p:cNvPr>
          <p:cNvSpPr/>
          <p:nvPr/>
        </p:nvSpPr>
        <p:spPr>
          <a:xfrm>
            <a:off x="1342480" y="3613666"/>
            <a:ext cx="1043876" cy="369332"/>
          </a:xfrm>
          <a:prstGeom prst="rect">
            <a:avLst/>
          </a:prstGeom>
        </p:spPr>
        <p:txBody>
          <a:bodyPr wrap="none">
            <a:spAutoFit/>
          </a:bodyPr>
          <a:lstStyle/>
          <a:p>
            <a:r>
              <a:rPr lang="en-US" b="1" kern="0" dirty="0">
                <a:ea typeface="Open Sans" panose="020B0606030504020204" pitchFamily="34" charset="0"/>
                <a:cs typeface="Open Sans" panose="020B0606030504020204" pitchFamily="34" charset="0"/>
              </a:rPr>
              <a:t>Sender:</a:t>
            </a:r>
            <a:endParaRPr lang="es-ES" b="1" dirty="0"/>
          </a:p>
        </p:txBody>
      </p:sp>
      <p:sp>
        <p:nvSpPr>
          <p:cNvPr id="9" name="Rectangle 8">
            <a:extLst>
              <a:ext uri="{FF2B5EF4-FFF2-40B4-BE49-F238E27FC236}">
                <a16:creationId xmlns:a16="http://schemas.microsoft.com/office/drawing/2014/main" id="{D2CDDAFC-1C1E-404F-8B7A-645976432F1E}"/>
              </a:ext>
            </a:extLst>
          </p:cNvPr>
          <p:cNvSpPr/>
          <p:nvPr/>
        </p:nvSpPr>
        <p:spPr>
          <a:xfrm>
            <a:off x="4497886" y="3573016"/>
            <a:ext cx="1223412" cy="369332"/>
          </a:xfrm>
          <a:prstGeom prst="rect">
            <a:avLst/>
          </a:prstGeom>
        </p:spPr>
        <p:txBody>
          <a:bodyPr wrap="none">
            <a:spAutoFit/>
          </a:bodyPr>
          <a:lstStyle/>
          <a:p>
            <a:r>
              <a:rPr lang="en-US" b="1" kern="0" dirty="0">
                <a:ea typeface="Open Sans" panose="020B0606030504020204" pitchFamily="34" charset="0"/>
                <a:cs typeface="Open Sans" panose="020B0606030504020204" pitchFamily="34" charset="0"/>
              </a:rPr>
              <a:t>Receiver:</a:t>
            </a:r>
            <a:endParaRPr lang="es-ES" b="1" dirty="0"/>
          </a:p>
        </p:txBody>
      </p:sp>
    </p:spTree>
    <p:extLst>
      <p:ext uri="{BB962C8B-B14F-4D97-AF65-F5344CB8AC3E}">
        <p14:creationId xmlns:p14="http://schemas.microsoft.com/office/powerpoint/2010/main" val="984203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“Multi-state” Types Example</a:t>
            </a:r>
          </a:p>
        </p:txBody>
      </p:sp>
      <p:sp>
        <p:nvSpPr>
          <p:cNvPr id="2" name="Rectangle 2">
            <a:extLst>
              <a:ext uri="{FF2B5EF4-FFF2-40B4-BE49-F238E27FC236}">
                <a16:creationId xmlns:a16="http://schemas.microsoft.com/office/drawing/2014/main" id="{E08AB984-96B8-4BF6-B2E6-0A1A19254418}"/>
              </a:ext>
            </a:extLst>
          </p:cNvPr>
          <p:cNvSpPr>
            <a:spLocks noChangeArrowheads="1"/>
          </p:cNvSpPr>
          <p:nvPr/>
        </p:nvSpPr>
        <p:spPr bwMode="auto">
          <a:xfrm>
            <a:off x="3131840" y="249289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C1B0A817-167D-4CB5-8927-E0C4CC92159B}"/>
              </a:ext>
            </a:extLst>
          </p:cNvPr>
          <p:cNvGraphicFramePr>
            <a:graphicFrameLocks noChangeAspect="1"/>
          </p:cNvGraphicFramePr>
          <p:nvPr/>
        </p:nvGraphicFramePr>
        <p:xfrm>
          <a:off x="1910962" y="2668201"/>
          <a:ext cx="6280845" cy="3851799"/>
        </p:xfrm>
        <a:graphic>
          <a:graphicData uri="http://schemas.openxmlformats.org/presentationml/2006/ole">
            <mc:AlternateContent xmlns:mc="http://schemas.openxmlformats.org/markup-compatibility/2006">
              <mc:Choice xmlns:v="urn:schemas-microsoft-com:vml" Requires="v">
                <p:oleObj r:id="rId3" imgW="8372607" imgH="5143500" progId="Visio.Drawing.15">
                  <p:embed/>
                </p:oleObj>
              </mc:Choice>
              <mc:Fallback>
                <p:oleObj r:id="rId3" imgW="8372607" imgH="5143500" progId="Visio.Drawing.15">
                  <p:embed/>
                  <p:pic>
                    <p:nvPicPr>
                      <p:cNvPr id="4" name="Object 3">
                        <a:extLst>
                          <a:ext uri="{FF2B5EF4-FFF2-40B4-BE49-F238E27FC236}">
                            <a16:creationId xmlns:a16="http://schemas.microsoft.com/office/drawing/2014/main" id="{C1B0A817-167D-4CB5-8927-E0C4CC9215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0962" y="2668201"/>
                        <a:ext cx="6280845" cy="3851799"/>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00B9F184-FBE0-44C5-A5BA-CC300C9CECE5}"/>
              </a:ext>
            </a:extLst>
          </p:cNvPr>
          <p:cNvSpPr/>
          <p:nvPr/>
        </p:nvSpPr>
        <p:spPr>
          <a:xfrm>
            <a:off x="903600" y="1484784"/>
            <a:ext cx="7704335" cy="1200329"/>
          </a:xfrm>
          <a:prstGeom prst="rect">
            <a:avLst/>
          </a:prstGeom>
        </p:spPr>
        <p:txBody>
          <a:bodyPr wrap="square">
            <a:spAutoFit/>
          </a:bodyPr>
          <a:lstStyle/>
          <a:p>
            <a:r>
              <a:rPr lang="en-US" b="1" dirty="0"/>
              <a:t>A sender with 3 steps (NS=3) controls a receiver with 5 steps (NR=5).</a:t>
            </a:r>
          </a:p>
          <a:p>
            <a:r>
              <a:rPr lang="en-US" b="1" dirty="0"/>
              <a:t>Step 2 (S x=2) of the sender is thus transmitted as  = 170 </a:t>
            </a:r>
          </a:p>
          <a:p>
            <a:endParaRPr lang="en-US" b="1" dirty="0"/>
          </a:p>
          <a:p>
            <a:r>
              <a:rPr lang="en-US" b="1" dirty="0"/>
              <a:t>The receiver interprets this as                  and moves to its level 3</a:t>
            </a:r>
          </a:p>
        </p:txBody>
      </p:sp>
      <p:graphicFrame>
        <p:nvGraphicFramePr>
          <p:cNvPr id="7" name="Object 6">
            <a:extLst>
              <a:ext uri="{FF2B5EF4-FFF2-40B4-BE49-F238E27FC236}">
                <a16:creationId xmlns:a16="http://schemas.microsoft.com/office/drawing/2014/main" id="{5D3B0BD2-DAB3-4990-A388-F45B5D25F095}"/>
              </a:ext>
            </a:extLst>
          </p:cNvPr>
          <p:cNvGraphicFramePr>
            <a:graphicFrameLocks noChangeAspect="1"/>
          </p:cNvGraphicFramePr>
          <p:nvPr/>
        </p:nvGraphicFramePr>
        <p:xfrm>
          <a:off x="4332937" y="2256552"/>
          <a:ext cx="959143" cy="562178"/>
        </p:xfrm>
        <a:graphic>
          <a:graphicData uri="http://schemas.openxmlformats.org/presentationml/2006/ole">
            <mc:AlternateContent xmlns:mc="http://schemas.openxmlformats.org/markup-compatibility/2006">
              <mc:Choice xmlns:v="urn:schemas-microsoft-com:vml" Requires="v">
                <p:oleObj r:id="rId5" imgW="660113" imgH="393529" progId="Equation.3">
                  <p:embed/>
                </p:oleObj>
              </mc:Choice>
              <mc:Fallback>
                <p:oleObj r:id="rId5" imgW="660113" imgH="393529" progId="Equation.3">
                  <p:embed/>
                  <p:pic>
                    <p:nvPicPr>
                      <p:cNvPr id="7" name="Object 6">
                        <a:extLst>
                          <a:ext uri="{FF2B5EF4-FFF2-40B4-BE49-F238E27FC236}">
                            <a16:creationId xmlns:a16="http://schemas.microsoft.com/office/drawing/2014/main" id="{5D3B0BD2-DAB3-4990-A388-F45B5D25F0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2937" y="2256552"/>
                        <a:ext cx="959143" cy="562178"/>
                      </a:xfrm>
                      <a:prstGeom prst="rect">
                        <a:avLst/>
                      </a:prstGeom>
                      <a:noFill/>
                    </p:spPr>
                  </p:pic>
                </p:oleObj>
              </mc:Fallback>
            </mc:AlternateContent>
          </a:graphicData>
        </a:graphic>
      </p:graphicFrame>
    </p:spTree>
    <p:extLst>
      <p:ext uri="{BB962C8B-B14F-4D97-AF65-F5344CB8AC3E}">
        <p14:creationId xmlns:p14="http://schemas.microsoft.com/office/powerpoint/2010/main" val="149031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KNX common datapoint types</a:t>
            </a:r>
          </a:p>
        </p:txBody>
      </p:sp>
      <p:sp>
        <p:nvSpPr>
          <p:cNvPr id="4" name="Content Placeholder 1">
            <a:extLst>
              <a:ext uri="{FF2B5EF4-FFF2-40B4-BE49-F238E27FC236}">
                <a16:creationId xmlns:a16="http://schemas.microsoft.com/office/drawing/2014/main" id="{DCCF80E8-B45F-461F-BF7F-AE7A871D77CF}"/>
              </a:ext>
            </a:extLst>
          </p:cNvPr>
          <p:cNvSpPr txBox="1">
            <a:spLocks/>
          </p:cNvSpPr>
          <p:nvPr/>
        </p:nvSpPr>
        <p:spPr>
          <a:xfrm>
            <a:off x="903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solidFill>
                  <a:schemeClr val="tx1"/>
                </a:solidFill>
                <a:ea typeface="Open Sans" panose="020B0606030504020204" pitchFamily="34" charset="0"/>
                <a:cs typeface="Open Sans" panose="020B0606030504020204" pitchFamily="34" charset="0"/>
              </a:rPr>
              <a:t>All Datapoint types have a unique identification consisting of two digits:</a:t>
            </a:r>
          </a:p>
          <a:p>
            <a:pPr lvl="1">
              <a:buFont typeface="Wingdings" panose="05000000000000000000" pitchFamily="2" charset="2"/>
              <a:buChar char="§"/>
            </a:pPr>
            <a:r>
              <a:rPr lang="en-US" sz="2000" b="1" kern="0" dirty="0">
                <a:solidFill>
                  <a:schemeClr val="tx1"/>
                </a:solidFill>
                <a:ea typeface="Open Sans" panose="020B0606030504020204" pitchFamily="34" charset="0"/>
                <a:cs typeface="Open Sans" panose="020B0606030504020204" pitchFamily="34" charset="0"/>
              </a:rPr>
              <a:t>Digit 1 : </a:t>
            </a:r>
            <a:r>
              <a:rPr lang="en-US" sz="2000" b="1" kern="0" dirty="0">
                <a:solidFill>
                  <a:srgbClr val="369226"/>
                </a:solidFill>
                <a:ea typeface="Open Sans" panose="020B0606030504020204" pitchFamily="34" charset="0"/>
                <a:cs typeface="Open Sans" panose="020B0606030504020204" pitchFamily="34" charset="0"/>
              </a:rPr>
              <a:t>Format and Codification</a:t>
            </a:r>
          </a:p>
          <a:p>
            <a:pPr lvl="1">
              <a:buFont typeface="Wingdings" panose="05000000000000000000" pitchFamily="2" charset="2"/>
              <a:buChar char="§"/>
            </a:pPr>
            <a:r>
              <a:rPr lang="en-US" sz="2000" b="1" kern="0" dirty="0">
                <a:solidFill>
                  <a:schemeClr val="tx1"/>
                </a:solidFill>
                <a:ea typeface="Open Sans" panose="020B0606030504020204" pitchFamily="34" charset="0"/>
                <a:cs typeface="Open Sans" panose="020B0606030504020204" pitchFamily="34" charset="0"/>
              </a:rPr>
              <a:t>Digit 2 : </a:t>
            </a:r>
            <a:r>
              <a:rPr lang="en-US" sz="2000" b="1" kern="0" dirty="0">
                <a:solidFill>
                  <a:srgbClr val="369226"/>
                </a:solidFill>
                <a:ea typeface="Open Sans" panose="020B0606030504020204" pitchFamily="34" charset="0"/>
                <a:cs typeface="Open Sans" panose="020B0606030504020204" pitchFamily="34" charset="0"/>
              </a:rPr>
              <a:t>Range and Unit</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dirty="0">
                <a:solidFill>
                  <a:schemeClr val="tx1"/>
                </a:solidFill>
                <a:ea typeface="Open Sans" panose="020B0606030504020204" pitchFamily="34" charset="0"/>
                <a:cs typeface="Open Sans" panose="020B0606030504020204" pitchFamily="34" charset="0"/>
              </a:rPr>
              <a:t>Group Objects with DPT types with a size:  	</a:t>
            </a:r>
          </a:p>
          <a:p>
            <a:pPr lvl="1">
              <a:buFont typeface="Wingdings" panose="05000000000000000000" pitchFamily="2" charset="2"/>
              <a:buChar char="§"/>
            </a:pPr>
            <a:r>
              <a:rPr lang="en-US" sz="2000" b="1" kern="0" dirty="0">
                <a:solidFill>
                  <a:srgbClr val="369226"/>
                </a:solidFill>
                <a:ea typeface="Open Sans" panose="020B0606030504020204" pitchFamily="34" charset="0"/>
                <a:cs typeface="Open Sans" panose="020B0606030504020204" pitchFamily="34" charset="0"/>
              </a:rPr>
              <a:t>6 bits or less: </a:t>
            </a:r>
            <a:r>
              <a:rPr lang="en-US" sz="2000" b="1" kern="0" dirty="0">
                <a:solidFill>
                  <a:schemeClr val="tx1"/>
                </a:solidFill>
                <a:ea typeface="Open Sans" panose="020B0606030504020204" pitchFamily="34" charset="0"/>
                <a:cs typeface="Open Sans" panose="020B0606030504020204" pitchFamily="34" charset="0"/>
              </a:rPr>
              <a:t>only use the bits directly following the APCI (bits not used are null)</a:t>
            </a:r>
          </a:p>
          <a:p>
            <a:pPr lvl="1">
              <a:buFont typeface="Wingdings" panose="05000000000000000000" pitchFamily="2" charset="2"/>
              <a:buChar char="§"/>
            </a:pPr>
            <a:r>
              <a:rPr lang="en-US" sz="2000" b="1" kern="0" dirty="0">
                <a:solidFill>
                  <a:srgbClr val="369226"/>
                </a:solidFill>
                <a:ea typeface="Open Sans" panose="020B0606030504020204" pitchFamily="34" charset="0"/>
                <a:cs typeface="Open Sans" panose="020B0606030504020204" pitchFamily="34" charset="0"/>
              </a:rPr>
              <a:t>greater than 6 bits: </a:t>
            </a:r>
            <a:r>
              <a:rPr lang="en-US" sz="2000" b="1" kern="0" dirty="0">
                <a:solidFill>
                  <a:schemeClr val="tx1"/>
                </a:solidFill>
                <a:ea typeface="Open Sans" panose="020B0606030504020204" pitchFamily="34" charset="0"/>
                <a:cs typeface="Open Sans" panose="020B0606030504020204" pitchFamily="34" charset="0"/>
              </a:rPr>
              <a:t>the 6 bits following the APCI are set to zero and the useful data padded after these bits</a:t>
            </a:r>
          </a:p>
          <a:p>
            <a:endParaRPr lang="es-ES" sz="2400" kern="0" dirty="0">
              <a:solidFill>
                <a:schemeClr val="tx1"/>
              </a:solidFill>
              <a:ea typeface="Open Sans" panose="020B0606030504020204" pitchFamily="34" charset="0"/>
              <a:cs typeface="Open Sans" panose="020B0606030504020204" pitchFamily="34" charset="0"/>
            </a:endParaRPr>
          </a:p>
          <a:p>
            <a:r>
              <a:rPr lang="en-US" sz="2000" kern="0" dirty="0">
                <a:solidFill>
                  <a:schemeClr val="tx1"/>
                </a:solidFill>
                <a:ea typeface="Open Sans" panose="020B0606030504020204" pitchFamily="34" charset="0"/>
                <a:cs typeface="Open Sans" panose="020B0606030504020204" pitchFamily="34" charset="0"/>
              </a:rPr>
              <a:t>Datapoint types are responsibility of the KNX working group ‘WGI’ (</a:t>
            </a:r>
            <a:r>
              <a:rPr lang="en-US" sz="2000" kern="0" dirty="0">
                <a:ea typeface="Open Sans" panose="020B0606030504020204" pitchFamily="34" charset="0"/>
                <a:cs typeface="Open Sans" panose="020B0606030504020204" pitchFamily="34" charset="0"/>
              </a:rPr>
              <a:t>Working Group Interworking</a:t>
            </a:r>
            <a:r>
              <a:rPr lang="en-US" sz="2000" kern="0" dirty="0">
                <a:solidFill>
                  <a:schemeClr val="tx1"/>
                </a:solidFill>
                <a:ea typeface="Open Sans" panose="020B0606030504020204" pitchFamily="34" charset="0"/>
                <a:cs typeface="Open Sans" panose="020B0606030504020204" pitchFamily="34" charset="0"/>
              </a:rPr>
              <a:t>)</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29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35496" y="909662"/>
            <a:ext cx="3888432" cy="503114"/>
          </a:xfrm>
        </p:spPr>
        <p:txBody>
          <a:bodyPr/>
          <a:lstStyle/>
          <a:p>
            <a:r>
              <a:rPr lang="en-US" dirty="0"/>
              <a:t>Boolean Data: DPT B1</a:t>
            </a:r>
            <a:endParaRPr lang="en-GB" dirty="0"/>
          </a:p>
        </p:txBody>
      </p:sp>
      <p:graphicFrame>
        <p:nvGraphicFramePr>
          <p:cNvPr id="6" name="Table 5">
            <a:extLst>
              <a:ext uri="{FF2B5EF4-FFF2-40B4-BE49-F238E27FC236}">
                <a16:creationId xmlns:a16="http://schemas.microsoft.com/office/drawing/2014/main" id="{0510798F-8428-4D5C-9F16-6F11780ECF27}"/>
              </a:ext>
            </a:extLst>
          </p:cNvPr>
          <p:cNvGraphicFramePr>
            <a:graphicFrameLocks noGrp="1"/>
          </p:cNvGraphicFramePr>
          <p:nvPr>
            <p:extLst>
              <p:ext uri="{D42A27DB-BD31-4B8C-83A1-F6EECF244321}">
                <p14:modId xmlns:p14="http://schemas.microsoft.com/office/powerpoint/2010/main" val="1578220817"/>
              </p:ext>
            </p:extLst>
          </p:nvPr>
        </p:nvGraphicFramePr>
        <p:xfrm>
          <a:off x="4063934" y="1161219"/>
          <a:ext cx="4176466" cy="5143048"/>
        </p:xfrm>
        <a:graphic>
          <a:graphicData uri="http://schemas.openxmlformats.org/drawingml/2006/table">
            <a:tbl>
              <a:tblPr/>
              <a:tblGrid>
                <a:gridCol w="454328">
                  <a:extLst>
                    <a:ext uri="{9D8B030D-6E8A-4147-A177-3AD203B41FA5}">
                      <a16:colId xmlns:a16="http://schemas.microsoft.com/office/drawing/2014/main" val="630898584"/>
                    </a:ext>
                  </a:extLst>
                </a:gridCol>
                <a:gridCol w="111077">
                  <a:extLst>
                    <a:ext uri="{9D8B030D-6E8A-4147-A177-3AD203B41FA5}">
                      <a16:colId xmlns:a16="http://schemas.microsoft.com/office/drawing/2014/main" val="1729715286"/>
                    </a:ext>
                  </a:extLst>
                </a:gridCol>
                <a:gridCol w="101554">
                  <a:extLst>
                    <a:ext uri="{9D8B030D-6E8A-4147-A177-3AD203B41FA5}">
                      <a16:colId xmlns:a16="http://schemas.microsoft.com/office/drawing/2014/main" val="1237613271"/>
                    </a:ext>
                  </a:extLst>
                </a:gridCol>
                <a:gridCol w="94607">
                  <a:extLst>
                    <a:ext uri="{9D8B030D-6E8A-4147-A177-3AD203B41FA5}">
                      <a16:colId xmlns:a16="http://schemas.microsoft.com/office/drawing/2014/main" val="1065597003"/>
                    </a:ext>
                  </a:extLst>
                </a:gridCol>
                <a:gridCol w="94607">
                  <a:extLst>
                    <a:ext uri="{9D8B030D-6E8A-4147-A177-3AD203B41FA5}">
                      <a16:colId xmlns:a16="http://schemas.microsoft.com/office/drawing/2014/main" val="676385324"/>
                    </a:ext>
                  </a:extLst>
                </a:gridCol>
                <a:gridCol w="94607">
                  <a:extLst>
                    <a:ext uri="{9D8B030D-6E8A-4147-A177-3AD203B41FA5}">
                      <a16:colId xmlns:a16="http://schemas.microsoft.com/office/drawing/2014/main" val="185523216"/>
                    </a:ext>
                  </a:extLst>
                </a:gridCol>
                <a:gridCol w="95141">
                  <a:extLst>
                    <a:ext uri="{9D8B030D-6E8A-4147-A177-3AD203B41FA5}">
                      <a16:colId xmlns:a16="http://schemas.microsoft.com/office/drawing/2014/main" val="184885985"/>
                    </a:ext>
                  </a:extLst>
                </a:gridCol>
                <a:gridCol w="94607">
                  <a:extLst>
                    <a:ext uri="{9D8B030D-6E8A-4147-A177-3AD203B41FA5}">
                      <a16:colId xmlns:a16="http://schemas.microsoft.com/office/drawing/2014/main" val="4251027036"/>
                    </a:ext>
                  </a:extLst>
                </a:gridCol>
                <a:gridCol w="94607">
                  <a:extLst>
                    <a:ext uri="{9D8B030D-6E8A-4147-A177-3AD203B41FA5}">
                      <a16:colId xmlns:a16="http://schemas.microsoft.com/office/drawing/2014/main" val="2766497990"/>
                    </a:ext>
                  </a:extLst>
                </a:gridCol>
                <a:gridCol w="94607">
                  <a:extLst>
                    <a:ext uri="{9D8B030D-6E8A-4147-A177-3AD203B41FA5}">
                      <a16:colId xmlns:a16="http://schemas.microsoft.com/office/drawing/2014/main" val="537523884"/>
                    </a:ext>
                  </a:extLst>
                </a:gridCol>
                <a:gridCol w="95141">
                  <a:extLst>
                    <a:ext uri="{9D8B030D-6E8A-4147-A177-3AD203B41FA5}">
                      <a16:colId xmlns:a16="http://schemas.microsoft.com/office/drawing/2014/main" val="342785192"/>
                    </a:ext>
                  </a:extLst>
                </a:gridCol>
                <a:gridCol w="80231">
                  <a:extLst>
                    <a:ext uri="{9D8B030D-6E8A-4147-A177-3AD203B41FA5}">
                      <a16:colId xmlns:a16="http://schemas.microsoft.com/office/drawing/2014/main" val="3227459815"/>
                    </a:ext>
                  </a:extLst>
                </a:gridCol>
                <a:gridCol w="111077">
                  <a:extLst>
                    <a:ext uri="{9D8B030D-6E8A-4147-A177-3AD203B41FA5}">
                      <a16:colId xmlns:a16="http://schemas.microsoft.com/office/drawing/2014/main" val="3414872844"/>
                    </a:ext>
                  </a:extLst>
                </a:gridCol>
                <a:gridCol w="111077">
                  <a:extLst>
                    <a:ext uri="{9D8B030D-6E8A-4147-A177-3AD203B41FA5}">
                      <a16:colId xmlns:a16="http://schemas.microsoft.com/office/drawing/2014/main" val="4117012638"/>
                    </a:ext>
                  </a:extLst>
                </a:gridCol>
                <a:gridCol w="80231">
                  <a:extLst>
                    <a:ext uri="{9D8B030D-6E8A-4147-A177-3AD203B41FA5}">
                      <a16:colId xmlns:a16="http://schemas.microsoft.com/office/drawing/2014/main" val="3997127504"/>
                    </a:ext>
                  </a:extLst>
                </a:gridCol>
                <a:gridCol w="727456">
                  <a:extLst>
                    <a:ext uri="{9D8B030D-6E8A-4147-A177-3AD203B41FA5}">
                      <a16:colId xmlns:a16="http://schemas.microsoft.com/office/drawing/2014/main" val="1456310360"/>
                    </a:ext>
                  </a:extLst>
                </a:gridCol>
                <a:gridCol w="80231">
                  <a:extLst>
                    <a:ext uri="{9D8B030D-6E8A-4147-A177-3AD203B41FA5}">
                      <a16:colId xmlns:a16="http://schemas.microsoft.com/office/drawing/2014/main" val="2394286796"/>
                    </a:ext>
                  </a:extLst>
                </a:gridCol>
                <a:gridCol w="727456">
                  <a:extLst>
                    <a:ext uri="{9D8B030D-6E8A-4147-A177-3AD203B41FA5}">
                      <a16:colId xmlns:a16="http://schemas.microsoft.com/office/drawing/2014/main" val="992898981"/>
                    </a:ext>
                  </a:extLst>
                </a:gridCol>
                <a:gridCol w="833824">
                  <a:extLst>
                    <a:ext uri="{9D8B030D-6E8A-4147-A177-3AD203B41FA5}">
                      <a16:colId xmlns:a16="http://schemas.microsoft.com/office/drawing/2014/main" val="423721481"/>
                    </a:ext>
                  </a:extLst>
                </a:gridCol>
              </a:tblGrid>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Format: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bit: B</a:t>
                      </a:r>
                      <a:r>
                        <a:rPr lang="en-GB" sz="500" baseline="-25000">
                          <a:effectLst/>
                          <a:latin typeface="Arial" panose="020B0604020202020204" pitchFamily="34" charset="0"/>
                          <a:ea typeface="Times New Roman" panose="02020603050405020304" pitchFamily="18" charset="0"/>
                          <a:cs typeface="Times New Roman" panose="02020603050405020304" pitchFamily="18" charset="0"/>
                        </a:rPr>
                        <a:t>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7106862"/>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octet nr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737648999"/>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086308195"/>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field names</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953607708"/>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771625114"/>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encoding</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872877519"/>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Range: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b = {0,1}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718636992"/>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Unit: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None.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667833877"/>
                  </a:ext>
                </a:extLst>
              </a:tr>
              <a:tr h="124167">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Resol.:</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(not applicable)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625766463"/>
                  </a:ext>
                </a:extLst>
              </a:tr>
              <a:tr h="75026">
                <a:tc gridSpan="19">
                  <a:txBody>
                    <a:bodyPr/>
                    <a:lstStyle/>
                    <a:p>
                      <a:pPr>
                        <a:spcBef>
                          <a:spcPts val="300"/>
                        </a:spcBef>
                        <a:spcAft>
                          <a:spcPts val="300"/>
                        </a:spcAft>
                      </a:pPr>
                      <a:r>
                        <a:rPr lang="en-GB" sz="500" b="1">
                          <a:effectLst/>
                          <a:latin typeface="Arial" panose="020B0604020202020204" pitchFamily="34" charset="0"/>
                          <a:ea typeface="Times New Roman" panose="02020603050405020304" pitchFamily="18" charset="0"/>
                          <a:cs typeface="Times New Roman" panose="02020603050405020304" pitchFamily="18" charset="0"/>
                        </a:rPr>
                        <a:t>Datapoint types</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07655158"/>
                  </a:ext>
                </a:extLst>
              </a:tr>
              <a:tr h="75026">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ID:</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Name: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Encoding: 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62489422"/>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DPT_Switch</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Off</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On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95707873"/>
                  </a:ext>
                </a:extLst>
              </a:tr>
              <a:tr h="187565">
                <a:tc>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1.002</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DPT_Bool</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False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True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743067809"/>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1.003</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DPT_Enable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Disable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Enable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298332877"/>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1.004</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DPT_Ramp</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No ramp</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Ramp</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272857690"/>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1.005</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DPT_Alarm</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No alarm</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Alarm</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44070628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1.006</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DPT_BinaryValue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Low</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High</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02332942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1.007</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DPT_Step</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Decrease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Increase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51975585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1.008</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DPT_UpDown</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Up</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Down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348567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1.009</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DPT_OpenClose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Open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Close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144316955"/>
                  </a:ext>
                </a:extLst>
              </a:tr>
              <a:tr h="187565">
                <a:tc>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1.010</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DPT_Start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Stop</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Start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9977773"/>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DPT_State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Inactive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Active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911899007"/>
                  </a:ext>
                </a:extLst>
              </a:tr>
              <a:tr h="187565">
                <a:tc>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1.012</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DPT_Invert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Not inverted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Inverted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38364907"/>
                  </a:ext>
                </a:extLst>
              </a:tr>
              <a:tr h="187565">
                <a:tc>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1.013</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DPT_DimSendStyle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Start/stop</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Cyclically</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76616840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1.014</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DPT_InputSource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0          =            Fixed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Times New Roman" panose="02020603050405020304" pitchFamily="18" charset="0"/>
                        </a:rPr>
                        <a:t>1          =            Calculated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115115245"/>
                  </a:ext>
                </a:extLst>
              </a:tr>
              <a:tr h="190768">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1.015</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DPT_Reset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no action (dummy)</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reset command (trigger)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004452142"/>
                  </a:ext>
                </a:extLst>
              </a:tr>
              <a:tr h="20041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1.016</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DPT_Ack</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no action (dummy)</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acknowledge command (trigger), e.g. for alarming</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50532775"/>
                  </a:ext>
                </a:extLst>
              </a:tr>
              <a:tr h="188241">
                <a:tc>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1.017</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DPT_Trigger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1      =             trigger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79318001"/>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1.018</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DPT_Occupancy</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not occupied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occupied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22871075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1.019</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DPT_Window_Door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closed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open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510139152"/>
                  </a:ext>
                </a:extLst>
              </a:tr>
              <a:tr h="22224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dirty="0" err="1">
                          <a:effectLst/>
                          <a:latin typeface="Arial" panose="020B0604020202020204" pitchFamily="34" charset="0"/>
                          <a:ea typeface="Times New Roman" panose="02020603050405020304" pitchFamily="18" charset="0"/>
                          <a:cs typeface="Arial" panose="020B0604020202020204" pitchFamily="34" charset="0"/>
                        </a:rPr>
                        <a:t>DPT_LogicalFunction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logical function OR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logical function AND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491399715"/>
                  </a:ext>
                </a:extLst>
              </a:tr>
              <a:tr h="19195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1.022</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DPT_Scene_AB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scene A</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scene B</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934219448"/>
                  </a:ext>
                </a:extLst>
              </a:tr>
              <a:tr h="215266">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1.023</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DPT_ShutterBlinds_Mode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0          =            only move Up/Down mode (shutter)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dirty="0">
                          <a:effectLst/>
                          <a:latin typeface="Arial" panose="020B0604020202020204" pitchFamily="34" charset="0"/>
                          <a:ea typeface="Times New Roman" panose="02020603050405020304" pitchFamily="18" charset="0"/>
                          <a:cs typeface="Arial" panose="020B0604020202020204" pitchFamily="34" charset="0"/>
                        </a:rPr>
                        <a:t>1          =            move Up/Down + </a:t>
                      </a:r>
                      <a:r>
                        <a:rPr lang="en-GB" sz="500" dirty="0" err="1">
                          <a:effectLst/>
                          <a:latin typeface="Arial" panose="020B0604020202020204" pitchFamily="34" charset="0"/>
                          <a:ea typeface="Times New Roman" panose="02020603050405020304" pitchFamily="18" charset="0"/>
                          <a:cs typeface="Arial" panose="020B0604020202020204" pitchFamily="34" charset="0"/>
                        </a:rPr>
                        <a:t>StepStop</a:t>
                      </a:r>
                      <a:r>
                        <a:rPr lang="en-GB" sz="500" dirty="0">
                          <a:effectLst/>
                          <a:latin typeface="Arial" panose="020B0604020202020204" pitchFamily="34" charset="0"/>
                          <a:ea typeface="Times New Roman" panose="02020603050405020304" pitchFamily="18" charset="0"/>
                          <a:cs typeface="Arial" panose="020B0604020202020204" pitchFamily="34" charset="0"/>
                        </a:rPr>
                        <a:t> mode (blind)</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997526905"/>
                  </a:ext>
                </a:extLst>
              </a:tr>
            </a:tbl>
          </a:graphicData>
        </a:graphic>
      </p:graphicFrame>
      <p:sp>
        <p:nvSpPr>
          <p:cNvPr id="2" name="Rectangle 1">
            <a:extLst>
              <a:ext uri="{FF2B5EF4-FFF2-40B4-BE49-F238E27FC236}">
                <a16:creationId xmlns:a16="http://schemas.microsoft.com/office/drawing/2014/main" id="{78D1D891-EB6B-4A4F-8441-1E284D96E12F}"/>
              </a:ext>
            </a:extLst>
          </p:cNvPr>
          <p:cNvSpPr/>
          <p:nvPr/>
        </p:nvSpPr>
        <p:spPr>
          <a:xfrm>
            <a:off x="903600" y="1484784"/>
            <a:ext cx="2882895" cy="1015663"/>
          </a:xfrm>
          <a:prstGeom prst="rect">
            <a:avLst/>
          </a:prstGeom>
        </p:spPr>
        <p:txBody>
          <a:bodyPr wrap="square">
            <a:spAutoFit/>
          </a:bodyPr>
          <a:lstStyle/>
          <a:p>
            <a:r>
              <a:rPr lang="en-US" sz="2000" b="1" dirty="0"/>
              <a:t>Used for applications with two different values </a:t>
            </a:r>
            <a:endParaRPr lang="es-ES" sz="2000" b="1" dirty="0"/>
          </a:p>
        </p:txBody>
      </p:sp>
    </p:spTree>
    <p:extLst>
      <p:ext uri="{BB962C8B-B14F-4D97-AF65-F5344CB8AC3E}">
        <p14:creationId xmlns:p14="http://schemas.microsoft.com/office/powerpoint/2010/main" val="3032814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Bit with priority control</a:t>
            </a:r>
          </a:p>
        </p:txBody>
      </p:sp>
      <p:sp>
        <p:nvSpPr>
          <p:cNvPr id="2" name="Rectangle 2">
            <a:extLst>
              <a:ext uri="{FF2B5EF4-FFF2-40B4-BE49-F238E27FC236}">
                <a16:creationId xmlns:a16="http://schemas.microsoft.com/office/drawing/2014/main" id="{103841BB-E976-4D36-82BA-03C2D5A534A1}"/>
              </a:ext>
            </a:extLst>
          </p:cNvPr>
          <p:cNvSpPr>
            <a:spLocks noChangeArrowheads="1"/>
          </p:cNvSpPr>
          <p:nvPr/>
        </p:nvSpPr>
        <p:spPr bwMode="auto">
          <a:xfrm>
            <a:off x="1187624" y="206084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30AD631C-ACDC-498A-AC77-2BB8F7D98C29}"/>
              </a:ext>
            </a:extLst>
          </p:cNvPr>
          <p:cNvGraphicFramePr>
            <a:graphicFrameLocks noChangeAspect="1"/>
          </p:cNvGraphicFramePr>
          <p:nvPr/>
        </p:nvGraphicFramePr>
        <p:xfrm>
          <a:off x="877961" y="2924944"/>
          <a:ext cx="7820644" cy="2232245"/>
        </p:xfrm>
        <a:graphic>
          <a:graphicData uri="http://schemas.openxmlformats.org/presentationml/2006/ole">
            <mc:AlternateContent xmlns:mc="http://schemas.openxmlformats.org/markup-compatibility/2006">
              <mc:Choice xmlns:v="urn:schemas-microsoft-com:vml" Requires="v">
                <p:oleObj r:id="rId3" imgW="7915215" imgH="2257382" progId="Visio.Drawing.15">
                  <p:embed/>
                </p:oleObj>
              </mc:Choice>
              <mc:Fallback>
                <p:oleObj r:id="rId3" imgW="7915215" imgH="2257382" progId="Visio.Drawing.15">
                  <p:embed/>
                  <p:pic>
                    <p:nvPicPr>
                      <p:cNvPr id="4" name="Object 3">
                        <a:extLst>
                          <a:ext uri="{FF2B5EF4-FFF2-40B4-BE49-F238E27FC236}">
                            <a16:creationId xmlns:a16="http://schemas.microsoft.com/office/drawing/2014/main" id="{30AD631C-ACDC-498A-AC77-2BB8F7D98C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961" y="2924944"/>
                        <a:ext cx="7820644" cy="2232245"/>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F0E33393-E948-49E3-852A-677D8B035824}"/>
              </a:ext>
            </a:extLst>
          </p:cNvPr>
          <p:cNvSpPr/>
          <p:nvPr/>
        </p:nvSpPr>
        <p:spPr>
          <a:xfrm>
            <a:off x="900112" y="1579092"/>
            <a:ext cx="7776343" cy="707886"/>
          </a:xfrm>
          <a:prstGeom prst="rect">
            <a:avLst/>
          </a:prstGeom>
        </p:spPr>
        <p:txBody>
          <a:bodyPr wrap="square">
            <a:spAutoFit/>
          </a:bodyPr>
          <a:lstStyle/>
          <a:p>
            <a:r>
              <a:rPr lang="en-US" sz="2000" b="1" dirty="0"/>
              <a:t>Intended for applications offering a priority control that has precedence over the normal (manual) operation. </a:t>
            </a:r>
            <a:endParaRPr lang="es-ES" sz="2000" b="1" dirty="0"/>
          </a:p>
        </p:txBody>
      </p:sp>
    </p:spTree>
    <p:extLst>
      <p:ext uri="{BB962C8B-B14F-4D97-AF65-F5344CB8AC3E}">
        <p14:creationId xmlns:p14="http://schemas.microsoft.com/office/powerpoint/2010/main" val="2148050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A337C7-BCD4-4DDC-AA67-611E65BD55C2}"/>
              </a:ext>
            </a:extLst>
          </p:cNvPr>
          <p:cNvPicPr>
            <a:picLocks noChangeAspect="1"/>
          </p:cNvPicPr>
          <p:nvPr/>
        </p:nvPicPr>
        <p:blipFill>
          <a:blip r:embed="rId3"/>
          <a:stretch>
            <a:fillRect/>
          </a:stretch>
        </p:blipFill>
        <p:spPr>
          <a:xfrm>
            <a:off x="1619672" y="1052736"/>
            <a:ext cx="5976664" cy="5238054"/>
          </a:xfrm>
          <a:prstGeom prst="rect">
            <a:avLst/>
          </a:prstGeom>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Bit with priority control: DPT B2</a:t>
            </a:r>
            <a:endParaRPr lang="en-GB" dirty="0"/>
          </a:p>
        </p:txBody>
      </p:sp>
    </p:spTree>
    <p:extLst>
      <p:ext uri="{BB962C8B-B14F-4D97-AF65-F5344CB8AC3E}">
        <p14:creationId xmlns:p14="http://schemas.microsoft.com/office/powerpoint/2010/main" val="593316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0688"/>
            <a:ext cx="7416303" cy="719138"/>
          </a:xfrm>
        </p:spPr>
        <p:txBody>
          <a:bodyPr/>
          <a:lstStyle/>
          <a:p>
            <a:r>
              <a:rPr lang="en-US" dirty="0"/>
              <a:t>3 Bit with Control: </a:t>
            </a:r>
            <a:r>
              <a:rPr lang="en-US" dirty="0" err="1"/>
              <a:t>DPT_Control_Dimming</a:t>
            </a:r>
            <a:endParaRPr lang="en-GB" dirty="0"/>
          </a:p>
        </p:txBody>
      </p:sp>
      <p:pic>
        <p:nvPicPr>
          <p:cNvPr id="8" name="Picture 7">
            <a:extLst>
              <a:ext uri="{FF2B5EF4-FFF2-40B4-BE49-F238E27FC236}">
                <a16:creationId xmlns:a16="http://schemas.microsoft.com/office/drawing/2014/main" id="{2F0003E1-2FBC-4361-8D04-8B9609E79108}"/>
              </a:ext>
            </a:extLst>
          </p:cNvPr>
          <p:cNvPicPr>
            <a:picLocks noChangeAspect="1"/>
          </p:cNvPicPr>
          <p:nvPr/>
        </p:nvPicPr>
        <p:blipFill>
          <a:blip r:embed="rId3"/>
          <a:stretch>
            <a:fillRect/>
          </a:stretch>
        </p:blipFill>
        <p:spPr>
          <a:xfrm>
            <a:off x="1115616" y="2060848"/>
            <a:ext cx="6812375" cy="4320480"/>
          </a:xfrm>
          <a:prstGeom prst="rect">
            <a:avLst/>
          </a:prstGeom>
        </p:spPr>
      </p:pic>
      <p:sp>
        <p:nvSpPr>
          <p:cNvPr id="2" name="Rectangle 1">
            <a:extLst>
              <a:ext uri="{FF2B5EF4-FFF2-40B4-BE49-F238E27FC236}">
                <a16:creationId xmlns:a16="http://schemas.microsoft.com/office/drawing/2014/main" id="{AFCE8DBB-B27E-411A-92AB-78FF5A3EAAA3}"/>
              </a:ext>
            </a:extLst>
          </p:cNvPr>
          <p:cNvSpPr/>
          <p:nvPr/>
        </p:nvSpPr>
        <p:spPr>
          <a:xfrm>
            <a:off x="903600" y="1484784"/>
            <a:ext cx="7992368" cy="400110"/>
          </a:xfrm>
          <a:prstGeom prst="rect">
            <a:avLst/>
          </a:prstGeom>
        </p:spPr>
        <p:txBody>
          <a:bodyPr wrap="square">
            <a:spAutoFit/>
          </a:bodyPr>
          <a:lstStyle/>
          <a:p>
            <a:r>
              <a:rPr lang="en-US" sz="2000" b="1" dirty="0"/>
              <a:t>Relative dimming or moving blinds relative to a certain position</a:t>
            </a:r>
            <a:endParaRPr lang="es-ES" sz="2000" b="1" dirty="0"/>
          </a:p>
        </p:txBody>
      </p:sp>
    </p:spTree>
    <p:extLst>
      <p:ext uri="{BB962C8B-B14F-4D97-AF65-F5344CB8AC3E}">
        <p14:creationId xmlns:p14="http://schemas.microsoft.com/office/powerpoint/2010/main" val="1028473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3600" y="633862"/>
            <a:ext cx="6984255" cy="719138"/>
          </a:xfrm>
        </p:spPr>
        <p:txBody>
          <a:bodyPr/>
          <a:lstStyle/>
          <a:p>
            <a:r>
              <a:rPr lang="en-US" dirty="0"/>
              <a:t>3 Bit with Control: </a:t>
            </a:r>
            <a:r>
              <a:rPr lang="en-US" dirty="0" err="1"/>
              <a:t>DPT_Control_Blinds</a:t>
            </a:r>
            <a:endParaRPr lang="en-GB" dirty="0"/>
          </a:p>
        </p:txBody>
      </p:sp>
      <p:pic>
        <p:nvPicPr>
          <p:cNvPr id="9" name="Picture 8">
            <a:extLst>
              <a:ext uri="{FF2B5EF4-FFF2-40B4-BE49-F238E27FC236}">
                <a16:creationId xmlns:a16="http://schemas.microsoft.com/office/drawing/2014/main" id="{A768AF46-74CD-4EF2-B8E4-3B1C8104AA64}"/>
              </a:ext>
            </a:extLst>
          </p:cNvPr>
          <p:cNvPicPr>
            <a:picLocks noChangeAspect="1"/>
          </p:cNvPicPr>
          <p:nvPr/>
        </p:nvPicPr>
        <p:blipFill>
          <a:blip r:embed="rId3"/>
          <a:stretch>
            <a:fillRect/>
          </a:stretch>
        </p:blipFill>
        <p:spPr>
          <a:xfrm>
            <a:off x="1403648" y="2104680"/>
            <a:ext cx="6687269" cy="4390184"/>
          </a:xfrm>
          <a:prstGeom prst="rect">
            <a:avLst/>
          </a:prstGeom>
        </p:spPr>
      </p:pic>
      <p:sp>
        <p:nvSpPr>
          <p:cNvPr id="2" name="Rectangle 1">
            <a:extLst>
              <a:ext uri="{FF2B5EF4-FFF2-40B4-BE49-F238E27FC236}">
                <a16:creationId xmlns:a16="http://schemas.microsoft.com/office/drawing/2014/main" id="{27B2574A-4653-401A-AAA3-F5C60D57DCAF}"/>
              </a:ext>
            </a:extLst>
          </p:cNvPr>
          <p:cNvSpPr/>
          <p:nvPr/>
        </p:nvSpPr>
        <p:spPr>
          <a:xfrm>
            <a:off x="903600" y="1340768"/>
            <a:ext cx="7769095" cy="707886"/>
          </a:xfrm>
          <a:prstGeom prst="rect">
            <a:avLst/>
          </a:prstGeom>
        </p:spPr>
        <p:txBody>
          <a:bodyPr wrap="square">
            <a:spAutoFit/>
          </a:bodyPr>
          <a:lstStyle/>
          <a:p>
            <a:r>
              <a:rPr lang="en-US" sz="2000" b="1" dirty="0"/>
              <a:t>Relative positioning of the vertical blinds as well as for the angle of the slats</a:t>
            </a:r>
            <a:endParaRPr lang="es-ES" sz="2000" b="1" dirty="0"/>
          </a:p>
        </p:txBody>
      </p:sp>
    </p:spTree>
    <p:extLst>
      <p:ext uri="{BB962C8B-B14F-4D97-AF65-F5344CB8AC3E}">
        <p14:creationId xmlns:p14="http://schemas.microsoft.com/office/powerpoint/2010/main" val="3480523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Datapoint types Character Set</a:t>
            </a:r>
          </a:p>
        </p:txBody>
      </p:sp>
      <p:pic>
        <p:nvPicPr>
          <p:cNvPr id="15" name="Picture 14">
            <a:extLst>
              <a:ext uri="{FF2B5EF4-FFF2-40B4-BE49-F238E27FC236}">
                <a16:creationId xmlns:a16="http://schemas.microsoft.com/office/drawing/2014/main" id="{B7625734-9CB0-4BCF-A666-28020AAD4162}"/>
              </a:ext>
            </a:extLst>
          </p:cNvPr>
          <p:cNvPicPr>
            <a:picLocks noChangeAspect="1"/>
          </p:cNvPicPr>
          <p:nvPr/>
        </p:nvPicPr>
        <p:blipFill>
          <a:blip r:embed="rId3"/>
          <a:stretch>
            <a:fillRect/>
          </a:stretch>
        </p:blipFill>
        <p:spPr>
          <a:xfrm>
            <a:off x="3563888" y="1338603"/>
            <a:ext cx="4954899" cy="5114733"/>
          </a:xfrm>
          <a:prstGeom prst="rect">
            <a:avLst/>
          </a:prstGeom>
        </p:spPr>
      </p:pic>
      <p:sp>
        <p:nvSpPr>
          <p:cNvPr id="2" name="Rectangle 1">
            <a:extLst>
              <a:ext uri="{FF2B5EF4-FFF2-40B4-BE49-F238E27FC236}">
                <a16:creationId xmlns:a16="http://schemas.microsoft.com/office/drawing/2014/main" id="{B140294C-6021-4109-9E7A-03679720A878}"/>
              </a:ext>
            </a:extLst>
          </p:cNvPr>
          <p:cNvSpPr/>
          <p:nvPr/>
        </p:nvSpPr>
        <p:spPr>
          <a:xfrm>
            <a:off x="900113" y="1412776"/>
            <a:ext cx="2375743" cy="3477875"/>
          </a:xfrm>
          <a:prstGeom prst="rect">
            <a:avLst/>
          </a:prstGeom>
        </p:spPr>
        <p:txBody>
          <a:bodyPr wrap="square">
            <a:spAutoFit/>
          </a:bodyPr>
          <a:lstStyle/>
          <a:p>
            <a:r>
              <a:rPr lang="en-US" sz="2000" b="1" dirty="0"/>
              <a:t>Transmission of  individual (text) characters</a:t>
            </a:r>
          </a:p>
          <a:p>
            <a:endParaRPr lang="en-US" sz="2000" b="1" dirty="0"/>
          </a:p>
          <a:p>
            <a:r>
              <a:rPr lang="en-US" sz="2000" b="1" dirty="0"/>
              <a:t>The encoding corresponds to the coordinates of a look up table, containing the different characters</a:t>
            </a:r>
            <a:endParaRPr lang="es-ES" sz="2000" b="1" dirty="0"/>
          </a:p>
        </p:txBody>
      </p:sp>
    </p:spTree>
    <p:extLst>
      <p:ext uri="{BB962C8B-B14F-4D97-AF65-F5344CB8AC3E}">
        <p14:creationId xmlns:p14="http://schemas.microsoft.com/office/powerpoint/2010/main" val="81157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153838" y="682133"/>
            <a:ext cx="6768231" cy="719138"/>
          </a:xfrm>
        </p:spPr>
        <p:txBody>
          <a:bodyPr/>
          <a:lstStyle/>
          <a:p>
            <a:r>
              <a:rPr lang="en-US" dirty="0"/>
              <a:t>8 Bit without Sign</a:t>
            </a:r>
            <a:endParaRPr lang="en-GB" dirty="0"/>
          </a:p>
        </p:txBody>
      </p:sp>
      <p:pic>
        <p:nvPicPr>
          <p:cNvPr id="5" name="Picture 4">
            <a:extLst>
              <a:ext uri="{FF2B5EF4-FFF2-40B4-BE49-F238E27FC236}">
                <a16:creationId xmlns:a16="http://schemas.microsoft.com/office/drawing/2014/main" id="{4CA2233B-450E-437E-AA39-252AB550FD67}"/>
              </a:ext>
            </a:extLst>
          </p:cNvPr>
          <p:cNvPicPr>
            <a:picLocks noChangeAspect="1"/>
          </p:cNvPicPr>
          <p:nvPr/>
        </p:nvPicPr>
        <p:blipFill>
          <a:blip r:embed="rId3"/>
          <a:stretch>
            <a:fillRect/>
          </a:stretch>
        </p:blipFill>
        <p:spPr>
          <a:xfrm>
            <a:off x="814667" y="2522654"/>
            <a:ext cx="3867091" cy="2562530"/>
          </a:xfrm>
          <a:prstGeom prst="rect">
            <a:avLst/>
          </a:prstGeom>
        </p:spPr>
      </p:pic>
      <p:sp>
        <p:nvSpPr>
          <p:cNvPr id="2" name="Rectangle 1">
            <a:extLst>
              <a:ext uri="{FF2B5EF4-FFF2-40B4-BE49-F238E27FC236}">
                <a16:creationId xmlns:a16="http://schemas.microsoft.com/office/drawing/2014/main" id="{C0130671-ACD9-449E-B282-63C015091EBF}"/>
              </a:ext>
            </a:extLst>
          </p:cNvPr>
          <p:cNvSpPr/>
          <p:nvPr/>
        </p:nvSpPr>
        <p:spPr>
          <a:xfrm>
            <a:off x="900112" y="1412776"/>
            <a:ext cx="7488311" cy="677108"/>
          </a:xfrm>
          <a:prstGeom prst="rect">
            <a:avLst/>
          </a:prstGeom>
        </p:spPr>
        <p:txBody>
          <a:bodyPr wrap="square">
            <a:spAutoFit/>
          </a:bodyPr>
          <a:lstStyle/>
          <a:p>
            <a:r>
              <a:rPr lang="en-US" sz="2000" b="1" dirty="0"/>
              <a:t>Transmission of unsigned values up to 255</a:t>
            </a:r>
          </a:p>
          <a:p>
            <a:endParaRPr lang="en-US" dirty="0"/>
          </a:p>
        </p:txBody>
      </p:sp>
      <p:pic>
        <p:nvPicPr>
          <p:cNvPr id="4" name="Picture 3">
            <a:extLst>
              <a:ext uri="{FF2B5EF4-FFF2-40B4-BE49-F238E27FC236}">
                <a16:creationId xmlns:a16="http://schemas.microsoft.com/office/drawing/2014/main" id="{985C8015-9820-4C1A-8B9E-890D5BA5E365}"/>
              </a:ext>
            </a:extLst>
          </p:cNvPr>
          <p:cNvPicPr>
            <a:picLocks noChangeAspect="1"/>
          </p:cNvPicPr>
          <p:nvPr/>
        </p:nvPicPr>
        <p:blipFill>
          <a:blip r:embed="rId4"/>
          <a:stretch>
            <a:fillRect/>
          </a:stretch>
        </p:blipFill>
        <p:spPr>
          <a:xfrm>
            <a:off x="746346" y="5412898"/>
            <a:ext cx="4064691" cy="896422"/>
          </a:xfrm>
          <a:prstGeom prst="rect">
            <a:avLst/>
          </a:prstGeom>
        </p:spPr>
      </p:pic>
      <p:sp>
        <p:nvSpPr>
          <p:cNvPr id="7" name="Rectangle 6">
            <a:extLst>
              <a:ext uri="{FF2B5EF4-FFF2-40B4-BE49-F238E27FC236}">
                <a16:creationId xmlns:a16="http://schemas.microsoft.com/office/drawing/2014/main" id="{39C89DC9-0252-4AA2-A5A3-2C5646AD67DD}"/>
              </a:ext>
            </a:extLst>
          </p:cNvPr>
          <p:cNvSpPr/>
          <p:nvPr/>
        </p:nvSpPr>
        <p:spPr>
          <a:xfrm>
            <a:off x="814667" y="2060848"/>
            <a:ext cx="3469301" cy="400110"/>
          </a:xfrm>
          <a:prstGeom prst="rect">
            <a:avLst/>
          </a:prstGeom>
        </p:spPr>
        <p:txBody>
          <a:bodyPr wrap="square">
            <a:spAutoFit/>
          </a:bodyPr>
          <a:lstStyle/>
          <a:p>
            <a:r>
              <a:rPr lang="en-US" sz="2000" b="1" dirty="0">
                <a:solidFill>
                  <a:srgbClr val="369226"/>
                </a:solidFill>
              </a:rPr>
              <a:t>Scaled Values</a:t>
            </a:r>
            <a:endParaRPr lang="en-US" dirty="0">
              <a:solidFill>
                <a:srgbClr val="369226"/>
              </a:solidFill>
            </a:endParaRPr>
          </a:p>
        </p:txBody>
      </p:sp>
      <p:sp>
        <p:nvSpPr>
          <p:cNvPr id="8" name="Rectangle 7">
            <a:extLst>
              <a:ext uri="{FF2B5EF4-FFF2-40B4-BE49-F238E27FC236}">
                <a16:creationId xmlns:a16="http://schemas.microsoft.com/office/drawing/2014/main" id="{125D1797-9BFE-4021-A2D5-1E0CF0685778}"/>
              </a:ext>
            </a:extLst>
          </p:cNvPr>
          <p:cNvSpPr/>
          <p:nvPr/>
        </p:nvSpPr>
        <p:spPr>
          <a:xfrm>
            <a:off x="5076056" y="2060848"/>
            <a:ext cx="3469301" cy="400110"/>
          </a:xfrm>
          <a:prstGeom prst="rect">
            <a:avLst/>
          </a:prstGeom>
        </p:spPr>
        <p:txBody>
          <a:bodyPr wrap="square">
            <a:spAutoFit/>
          </a:bodyPr>
          <a:lstStyle/>
          <a:p>
            <a:r>
              <a:rPr lang="en-US" sz="2000" b="1" dirty="0">
                <a:solidFill>
                  <a:srgbClr val="369226"/>
                </a:solidFill>
              </a:rPr>
              <a:t>Non Scaled Values</a:t>
            </a:r>
            <a:endParaRPr lang="en-US" dirty="0">
              <a:solidFill>
                <a:srgbClr val="369226"/>
              </a:solidFill>
            </a:endParaRPr>
          </a:p>
        </p:txBody>
      </p:sp>
      <p:pic>
        <p:nvPicPr>
          <p:cNvPr id="9" name="Picture 8">
            <a:extLst>
              <a:ext uri="{FF2B5EF4-FFF2-40B4-BE49-F238E27FC236}">
                <a16:creationId xmlns:a16="http://schemas.microsoft.com/office/drawing/2014/main" id="{608C6136-3BF0-4AA1-BDE5-716344CD4932}"/>
              </a:ext>
            </a:extLst>
          </p:cNvPr>
          <p:cNvPicPr>
            <a:picLocks noChangeAspect="1"/>
          </p:cNvPicPr>
          <p:nvPr/>
        </p:nvPicPr>
        <p:blipFill>
          <a:blip r:embed="rId5"/>
          <a:stretch>
            <a:fillRect/>
          </a:stretch>
        </p:blipFill>
        <p:spPr>
          <a:xfrm>
            <a:off x="4954586" y="2522654"/>
            <a:ext cx="3989401" cy="1513406"/>
          </a:xfrm>
          <a:prstGeom prst="rect">
            <a:avLst/>
          </a:prstGeom>
        </p:spPr>
      </p:pic>
      <p:sp>
        <p:nvSpPr>
          <p:cNvPr id="10" name="Rectangle 9">
            <a:extLst>
              <a:ext uri="{FF2B5EF4-FFF2-40B4-BE49-F238E27FC236}">
                <a16:creationId xmlns:a16="http://schemas.microsoft.com/office/drawing/2014/main" id="{09742B36-8EB8-4CCF-8398-C37BE7098D1F}"/>
              </a:ext>
            </a:extLst>
          </p:cNvPr>
          <p:cNvSpPr/>
          <p:nvPr/>
        </p:nvSpPr>
        <p:spPr>
          <a:xfrm>
            <a:off x="746346" y="5176464"/>
            <a:ext cx="867545" cy="276999"/>
          </a:xfrm>
          <a:prstGeom prst="rect">
            <a:avLst/>
          </a:prstGeom>
        </p:spPr>
        <p:txBody>
          <a:bodyPr wrap="none">
            <a:spAutoFit/>
          </a:bodyPr>
          <a:lstStyle/>
          <a:p>
            <a:r>
              <a:rPr lang="en-GB" sz="1200" b="1" dirty="0"/>
              <a:t>Example</a:t>
            </a:r>
            <a:r>
              <a:rPr lang="es-ES" sz="1200" b="1" dirty="0"/>
              <a:t>:</a:t>
            </a:r>
          </a:p>
        </p:txBody>
      </p:sp>
    </p:spTree>
    <p:extLst>
      <p:ext uri="{BB962C8B-B14F-4D97-AF65-F5344CB8AC3E}">
        <p14:creationId xmlns:p14="http://schemas.microsoft.com/office/powerpoint/2010/main" val="4013204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8 Bit with Sign</a:t>
            </a:r>
            <a:endParaRPr lang="en-GB" dirty="0"/>
          </a:p>
        </p:txBody>
      </p:sp>
      <p:pic>
        <p:nvPicPr>
          <p:cNvPr id="2" name="Picture 1">
            <a:extLst>
              <a:ext uri="{FF2B5EF4-FFF2-40B4-BE49-F238E27FC236}">
                <a16:creationId xmlns:a16="http://schemas.microsoft.com/office/drawing/2014/main" id="{318DA18E-B4D2-4654-A471-C3DCE02E9458}"/>
              </a:ext>
            </a:extLst>
          </p:cNvPr>
          <p:cNvPicPr>
            <a:picLocks noChangeAspect="1"/>
          </p:cNvPicPr>
          <p:nvPr/>
        </p:nvPicPr>
        <p:blipFill>
          <a:blip r:embed="rId3"/>
          <a:stretch>
            <a:fillRect/>
          </a:stretch>
        </p:blipFill>
        <p:spPr>
          <a:xfrm>
            <a:off x="921170" y="3140968"/>
            <a:ext cx="7467253" cy="3024336"/>
          </a:xfrm>
          <a:prstGeom prst="rect">
            <a:avLst/>
          </a:prstGeom>
        </p:spPr>
      </p:pic>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292662"/>
          </a:xfrm>
          <a:prstGeom prst="rect">
            <a:avLst/>
          </a:prstGeom>
        </p:spPr>
        <p:txBody>
          <a:bodyPr wrap="square">
            <a:spAutoFit/>
          </a:bodyPr>
          <a:lstStyle/>
          <a:p>
            <a:r>
              <a:rPr lang="en-US" sz="2000" b="1" dirty="0"/>
              <a:t>Transmission of values from -128 up to +127</a:t>
            </a:r>
          </a:p>
          <a:p>
            <a:endParaRPr lang="en-US" sz="2000" b="1" dirty="0"/>
          </a:p>
          <a:p>
            <a:r>
              <a:rPr lang="en-US" sz="2000" b="1" dirty="0"/>
              <a:t>Negative numbers are represented as two’s complement</a:t>
            </a:r>
          </a:p>
          <a:p>
            <a:endParaRPr lang="en-US" dirty="0"/>
          </a:p>
        </p:txBody>
      </p:sp>
      <p:sp>
        <p:nvSpPr>
          <p:cNvPr id="6" name="Rectangle 5">
            <a:extLst>
              <a:ext uri="{FF2B5EF4-FFF2-40B4-BE49-F238E27FC236}">
                <a16:creationId xmlns:a16="http://schemas.microsoft.com/office/drawing/2014/main" id="{A7DBEFD2-D87C-42C9-9B88-6093180A74DE}"/>
              </a:ext>
            </a:extLst>
          </p:cNvPr>
          <p:cNvSpPr/>
          <p:nvPr/>
        </p:nvSpPr>
        <p:spPr>
          <a:xfrm>
            <a:off x="900112" y="2771636"/>
            <a:ext cx="2374240" cy="338554"/>
          </a:xfrm>
          <a:prstGeom prst="rect">
            <a:avLst/>
          </a:prstGeom>
        </p:spPr>
        <p:txBody>
          <a:bodyPr wrap="none">
            <a:spAutoFit/>
          </a:bodyPr>
          <a:lstStyle/>
          <a:p>
            <a:r>
              <a:rPr lang="en-GB" sz="1600" b="1" dirty="0"/>
              <a:t>Signed Relative Value:</a:t>
            </a:r>
          </a:p>
        </p:txBody>
      </p:sp>
    </p:spTree>
    <p:extLst>
      <p:ext uri="{BB962C8B-B14F-4D97-AF65-F5344CB8AC3E}">
        <p14:creationId xmlns:p14="http://schemas.microsoft.com/office/powerpoint/2010/main" val="3238799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2 Octet without Sign</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015704" cy="1600438"/>
          </a:xfrm>
          <a:prstGeom prst="rect">
            <a:avLst/>
          </a:prstGeom>
        </p:spPr>
        <p:txBody>
          <a:bodyPr wrap="square">
            <a:spAutoFit/>
          </a:bodyPr>
          <a:lstStyle/>
          <a:p>
            <a:r>
              <a:rPr lang="en-US" sz="2000" b="1" dirty="0"/>
              <a:t>Transmission of values up to 65.535</a:t>
            </a:r>
          </a:p>
          <a:p>
            <a:endParaRPr lang="en-US" sz="2000" b="1" dirty="0"/>
          </a:p>
          <a:p>
            <a:endParaRPr lang="en-US" dirty="0"/>
          </a:p>
        </p:txBody>
      </p:sp>
      <p:pic>
        <p:nvPicPr>
          <p:cNvPr id="5" name="Picture 4">
            <a:extLst>
              <a:ext uri="{FF2B5EF4-FFF2-40B4-BE49-F238E27FC236}">
                <a16:creationId xmlns:a16="http://schemas.microsoft.com/office/drawing/2014/main" id="{B5A8FACB-4116-4206-A62B-A146D1750900}"/>
              </a:ext>
            </a:extLst>
          </p:cNvPr>
          <p:cNvPicPr>
            <a:picLocks noChangeAspect="1"/>
          </p:cNvPicPr>
          <p:nvPr/>
        </p:nvPicPr>
        <p:blipFill>
          <a:blip r:embed="rId3"/>
          <a:stretch>
            <a:fillRect/>
          </a:stretch>
        </p:blipFill>
        <p:spPr>
          <a:xfrm>
            <a:off x="3114264" y="1412776"/>
            <a:ext cx="5575389" cy="4968974"/>
          </a:xfrm>
          <a:prstGeom prst="rect">
            <a:avLst/>
          </a:prstGeom>
        </p:spPr>
      </p:pic>
    </p:spTree>
    <p:extLst>
      <p:ext uri="{BB962C8B-B14F-4D97-AF65-F5344CB8AC3E}">
        <p14:creationId xmlns:p14="http://schemas.microsoft.com/office/powerpoint/2010/main" val="2901985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2 Octet with Sign</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292662"/>
          </a:xfrm>
          <a:prstGeom prst="rect">
            <a:avLst/>
          </a:prstGeom>
        </p:spPr>
        <p:txBody>
          <a:bodyPr wrap="square">
            <a:spAutoFit/>
          </a:bodyPr>
          <a:lstStyle/>
          <a:p>
            <a:r>
              <a:rPr lang="en-US" sz="2000" b="1" dirty="0"/>
              <a:t>Transmission of values from -32.768 up to +32.767</a:t>
            </a:r>
          </a:p>
          <a:p>
            <a:endParaRPr lang="en-US" sz="2000" b="1" dirty="0"/>
          </a:p>
          <a:p>
            <a:r>
              <a:rPr lang="en-US" sz="2000" b="1" dirty="0"/>
              <a:t>Negative numbers are represented as two’s complement</a:t>
            </a:r>
          </a:p>
          <a:p>
            <a:endParaRPr lang="en-US" dirty="0"/>
          </a:p>
        </p:txBody>
      </p:sp>
      <p:pic>
        <p:nvPicPr>
          <p:cNvPr id="5" name="Picture 4">
            <a:extLst>
              <a:ext uri="{FF2B5EF4-FFF2-40B4-BE49-F238E27FC236}">
                <a16:creationId xmlns:a16="http://schemas.microsoft.com/office/drawing/2014/main" id="{D0BF85FF-E894-4321-A124-E57CB0FCB663}"/>
              </a:ext>
            </a:extLst>
          </p:cNvPr>
          <p:cNvPicPr>
            <a:picLocks noChangeAspect="1"/>
          </p:cNvPicPr>
          <p:nvPr/>
        </p:nvPicPr>
        <p:blipFill>
          <a:blip r:embed="rId3"/>
          <a:stretch>
            <a:fillRect/>
          </a:stretch>
        </p:blipFill>
        <p:spPr>
          <a:xfrm>
            <a:off x="904987" y="2705438"/>
            <a:ext cx="7446786" cy="3643650"/>
          </a:xfrm>
          <a:prstGeom prst="rect">
            <a:avLst/>
          </a:prstGeom>
        </p:spPr>
      </p:pic>
    </p:spTree>
    <p:extLst>
      <p:ext uri="{BB962C8B-B14F-4D97-AF65-F5344CB8AC3E}">
        <p14:creationId xmlns:p14="http://schemas.microsoft.com/office/powerpoint/2010/main" val="3861152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Octet Floating Point Number</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3455864" cy="707886"/>
          </a:xfrm>
          <a:prstGeom prst="rect">
            <a:avLst/>
          </a:prstGeom>
        </p:spPr>
        <p:txBody>
          <a:bodyPr wrap="square">
            <a:spAutoFit/>
          </a:bodyPr>
          <a:lstStyle/>
          <a:p>
            <a:r>
              <a:rPr lang="en-US" sz="2000" b="1" dirty="0"/>
              <a:t>Transmission of floating point values</a:t>
            </a:r>
          </a:p>
        </p:txBody>
      </p:sp>
      <p:pic>
        <p:nvPicPr>
          <p:cNvPr id="5" name="Picture 4">
            <a:extLst>
              <a:ext uri="{FF2B5EF4-FFF2-40B4-BE49-F238E27FC236}">
                <a16:creationId xmlns:a16="http://schemas.microsoft.com/office/drawing/2014/main" id="{005932D8-ABB1-4DA5-8C48-BFF1D9C4AF4B}"/>
              </a:ext>
            </a:extLst>
          </p:cNvPr>
          <p:cNvPicPr>
            <a:picLocks noChangeAspect="1"/>
          </p:cNvPicPr>
          <p:nvPr/>
        </p:nvPicPr>
        <p:blipFill>
          <a:blip r:embed="rId3"/>
          <a:stretch>
            <a:fillRect/>
          </a:stretch>
        </p:blipFill>
        <p:spPr>
          <a:xfrm>
            <a:off x="4355976" y="1308203"/>
            <a:ext cx="4393571" cy="5086896"/>
          </a:xfrm>
          <a:prstGeom prst="rect">
            <a:avLst/>
          </a:prstGeom>
        </p:spPr>
      </p:pic>
      <p:sp>
        <p:nvSpPr>
          <p:cNvPr id="7" name="Rectangle 6">
            <a:extLst>
              <a:ext uri="{FF2B5EF4-FFF2-40B4-BE49-F238E27FC236}">
                <a16:creationId xmlns:a16="http://schemas.microsoft.com/office/drawing/2014/main" id="{846F5B44-F92C-46F8-96F0-E4A4E43B0EDA}"/>
              </a:ext>
            </a:extLst>
          </p:cNvPr>
          <p:cNvSpPr/>
          <p:nvPr/>
        </p:nvSpPr>
        <p:spPr>
          <a:xfrm>
            <a:off x="889352" y="2750490"/>
            <a:ext cx="1859805" cy="369332"/>
          </a:xfrm>
          <a:prstGeom prst="rect">
            <a:avLst/>
          </a:prstGeom>
        </p:spPr>
        <p:txBody>
          <a:bodyPr wrap="none">
            <a:spAutoFit/>
          </a:bodyPr>
          <a:lstStyle/>
          <a:p>
            <a:r>
              <a:rPr lang="en-GB" b="1" dirty="0">
                <a:solidFill>
                  <a:srgbClr val="369226"/>
                </a:solidFill>
              </a:rPr>
              <a:t>Example</a:t>
            </a:r>
            <a:r>
              <a:rPr lang="es-ES" b="1" dirty="0">
                <a:solidFill>
                  <a:srgbClr val="369226"/>
                </a:solidFill>
              </a:rPr>
              <a:t>: -30ºC</a:t>
            </a:r>
          </a:p>
        </p:txBody>
      </p:sp>
      <p:sp>
        <p:nvSpPr>
          <p:cNvPr id="8" name="Rectangle 5">
            <a:extLst>
              <a:ext uri="{FF2B5EF4-FFF2-40B4-BE49-F238E27FC236}">
                <a16:creationId xmlns:a16="http://schemas.microsoft.com/office/drawing/2014/main" id="{3EA94C5C-5CB9-4FBC-B5B2-4AF2E387CE29}"/>
              </a:ext>
            </a:extLst>
          </p:cNvPr>
          <p:cNvSpPr txBox="1">
            <a:spLocks noChangeArrowheads="1"/>
          </p:cNvSpPr>
          <p:nvPr/>
        </p:nvSpPr>
        <p:spPr bwMode="gray">
          <a:xfrm>
            <a:off x="1023609" y="2935125"/>
            <a:ext cx="3451096" cy="3604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defTabSz="914400">
              <a:lnSpc>
                <a:spcPct val="95000"/>
              </a:lnSpc>
              <a:defRPr/>
            </a:pPr>
            <a:r>
              <a:rPr lang="en-GB" altLang="es-ES" sz="1200" b="1" dirty="0">
                <a:solidFill>
                  <a:srgbClr val="171717"/>
                </a:solidFill>
                <a:cs typeface="Arial" panose="020B0604020202020204" pitchFamily="34" charset="0"/>
              </a:rPr>
              <a:t>Resolution = 0,01 → Mantis = 3.000</a:t>
            </a:r>
          </a:p>
          <a:p>
            <a:pPr defTabSz="914400">
              <a:lnSpc>
                <a:spcPct val="95000"/>
              </a:lnSpc>
              <a:defRPr/>
            </a:pPr>
            <a:r>
              <a:rPr lang="en-GB" altLang="es-ES" sz="1200" b="1" dirty="0">
                <a:solidFill>
                  <a:srgbClr val="171717"/>
                </a:solidFill>
                <a:cs typeface="Arial" panose="020B0604020202020204" pitchFamily="34" charset="0"/>
              </a:rPr>
              <a:t>Mantissa &gt; 2047 → Exponent = </a:t>
            </a:r>
            <a:r>
              <a:rPr lang="en-GB" sz="1200" b="1" dirty="0">
                <a:solidFill>
                  <a:prstClr val="black"/>
                </a:solidFill>
                <a:ea typeface="+mn-ea"/>
                <a:cs typeface="Arial" panose="020B0604020202020204" pitchFamily="34" charset="0"/>
              </a:rPr>
              <a:t>2</a:t>
            </a:r>
            <a:r>
              <a:rPr lang="en-GB" sz="1200" b="1" baseline="30000" dirty="0">
                <a:solidFill>
                  <a:prstClr val="black"/>
                </a:solidFill>
                <a:ea typeface="+mn-ea"/>
                <a:cs typeface="Arial" panose="020B0604020202020204" pitchFamily="34" charset="0"/>
              </a:rPr>
              <a:t>1</a:t>
            </a: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dirty="0">
                <a:solidFill>
                  <a:srgbClr val="171717"/>
                </a:solidFill>
                <a:cs typeface="Arial" panose="020B0604020202020204" pitchFamily="34" charset="0"/>
              </a:rPr>
              <a:t>Mantissa = 1500 x </a:t>
            </a:r>
            <a:r>
              <a:rPr lang="en-GB" sz="1200" b="1" dirty="0">
                <a:solidFill>
                  <a:prstClr val="black"/>
                </a:solidFill>
                <a:cs typeface="Arial" panose="020B0604020202020204" pitchFamily="34" charset="0"/>
              </a:rPr>
              <a:t>2</a:t>
            </a:r>
            <a:r>
              <a:rPr lang="en-GB" sz="1200" b="1" baseline="30000" dirty="0">
                <a:solidFill>
                  <a:prstClr val="black"/>
                </a:solidFill>
                <a:cs typeface="Arial" panose="020B0604020202020204" pitchFamily="34" charset="0"/>
              </a:rPr>
              <a:t>1 </a:t>
            </a:r>
            <a:endParaRPr lang="en-GB" sz="1200" b="1" baseline="30000" dirty="0">
              <a:solidFill>
                <a:prstClr val="black"/>
              </a:solidFill>
              <a:ea typeface="+mn-ea"/>
              <a:cs typeface="Arial" panose="020B0604020202020204" pitchFamily="34" charset="0"/>
            </a:endParaRPr>
          </a:p>
          <a:p>
            <a:pPr defTabSz="914400">
              <a:lnSpc>
                <a:spcPct val="95000"/>
              </a:lnSpc>
              <a:defRPr/>
            </a:pPr>
            <a:endParaRPr lang="en-GB" altLang="es-ES" sz="1200" b="1" baseline="30000" dirty="0">
              <a:solidFill>
                <a:prstClr val="black"/>
              </a:solidFill>
              <a:ea typeface="+mn-ea"/>
              <a:cs typeface="Arial" panose="020B0604020202020204" pitchFamily="34" charset="0"/>
            </a:endParaRPr>
          </a:p>
          <a:p>
            <a:pPr defTabSz="914400">
              <a:lnSpc>
                <a:spcPct val="95000"/>
              </a:lnSpc>
              <a:defRPr/>
            </a:pPr>
            <a:r>
              <a:rPr lang="en-GB" altLang="es-ES" sz="1200" b="1" dirty="0">
                <a:solidFill>
                  <a:srgbClr val="171717"/>
                </a:solidFill>
                <a:cs typeface="Arial" panose="020B0604020202020204" pitchFamily="34" charset="0"/>
              </a:rPr>
              <a:t>Value to represent &lt; 0 → Two’s Complement</a:t>
            </a:r>
          </a:p>
          <a:p>
            <a:pPr defTabSz="914400">
              <a:lnSpc>
                <a:spcPct val="95000"/>
              </a:lnSpc>
              <a:defRPr/>
            </a:pPr>
            <a:endParaRPr lang="en-GB" altLang="es-ES" sz="1200" b="1" baseline="30000" dirty="0">
              <a:solidFill>
                <a:prstClr val="black"/>
              </a:solidFill>
              <a:ea typeface="+mn-ea"/>
              <a:cs typeface="Arial" panose="020B0604020202020204" pitchFamily="34" charset="0"/>
            </a:endParaRP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dirty="0">
                <a:solidFill>
                  <a:srgbClr val="171717"/>
                </a:solidFill>
                <a:cs typeface="Arial" panose="020B0604020202020204" pitchFamily="34" charset="0"/>
              </a:rPr>
              <a:t>Code the mantis:        101 1101 1100</a:t>
            </a:r>
          </a:p>
          <a:p>
            <a:pPr defTabSz="914400">
              <a:lnSpc>
                <a:spcPct val="95000"/>
              </a:lnSpc>
              <a:defRPr/>
            </a:pPr>
            <a:r>
              <a:rPr lang="en-GB" altLang="es-ES" sz="1200" b="1" dirty="0">
                <a:solidFill>
                  <a:srgbClr val="171717"/>
                </a:solidFill>
                <a:cs typeface="Arial" panose="020B0604020202020204" pitchFamily="34" charset="0"/>
              </a:rPr>
              <a:t>Two’s Complement:    010 0010 0100</a:t>
            </a: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br>
              <a:rPr lang="en-GB" altLang="es-ES" sz="1200" b="1" dirty="0">
                <a:solidFill>
                  <a:srgbClr val="171717"/>
                </a:solidFill>
                <a:cs typeface="Arial" panose="020B0604020202020204" pitchFamily="34" charset="0"/>
              </a:rPr>
            </a:br>
            <a:r>
              <a:rPr lang="en-GB" altLang="es-ES" sz="1200" b="1" dirty="0">
                <a:solidFill>
                  <a:srgbClr val="171717"/>
                </a:solidFill>
                <a:cs typeface="Arial" panose="020B0604020202020204" pitchFamily="34" charset="0"/>
              </a:rPr>
              <a:t>Value to represent &lt; 0 → Sign = 1</a:t>
            </a:r>
          </a:p>
          <a:p>
            <a:pPr defTabSz="914400">
              <a:lnSpc>
                <a:spcPct val="95000"/>
              </a:lnSpc>
              <a:defRPr/>
            </a:pPr>
            <a:r>
              <a:rPr lang="en-GB" altLang="es-ES" sz="1200" b="1" dirty="0">
                <a:solidFill>
                  <a:srgbClr val="171717"/>
                </a:solidFill>
                <a:cs typeface="Arial" panose="020B0604020202020204" pitchFamily="34" charset="0"/>
              </a:rPr>
              <a:t>Coded exponent with four bits= 0001</a:t>
            </a: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dirty="0">
                <a:solidFill>
                  <a:srgbClr val="171717"/>
                </a:solidFill>
                <a:cs typeface="Arial" panose="020B0604020202020204" pitchFamily="34" charset="0"/>
              </a:rPr>
              <a:t>Result (Sign | Mantis | Exponent):</a:t>
            </a:r>
          </a:p>
          <a:p>
            <a:pPr defTabSz="914400">
              <a:lnSpc>
                <a:spcPct val="95000"/>
              </a:lnSpc>
              <a:defRPr/>
            </a:pPr>
            <a:r>
              <a:rPr lang="en-GB" altLang="es-ES" sz="1200" b="1" dirty="0">
                <a:solidFill>
                  <a:srgbClr val="171717"/>
                </a:solidFill>
                <a:cs typeface="Arial" panose="020B0604020202020204" pitchFamily="34" charset="0"/>
              </a:rPr>
              <a:t>-30 ºC = 1  0001  010 0010 0100  = 8A24h</a:t>
            </a:r>
          </a:p>
        </p:txBody>
      </p:sp>
    </p:spTree>
    <p:extLst>
      <p:ext uri="{BB962C8B-B14F-4D97-AF65-F5344CB8AC3E}">
        <p14:creationId xmlns:p14="http://schemas.microsoft.com/office/powerpoint/2010/main" val="4260977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Time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400110"/>
          </a:xfrm>
          <a:prstGeom prst="rect">
            <a:avLst/>
          </a:prstGeom>
        </p:spPr>
        <p:txBody>
          <a:bodyPr wrap="square">
            <a:spAutoFit/>
          </a:bodyPr>
          <a:lstStyle/>
          <a:p>
            <a:r>
              <a:rPr lang="en-US" sz="2000" b="1" dirty="0"/>
              <a:t>Transmission of the time of the day</a:t>
            </a:r>
          </a:p>
        </p:txBody>
      </p:sp>
      <p:pic>
        <p:nvPicPr>
          <p:cNvPr id="5" name="Picture 4">
            <a:extLst>
              <a:ext uri="{FF2B5EF4-FFF2-40B4-BE49-F238E27FC236}">
                <a16:creationId xmlns:a16="http://schemas.microsoft.com/office/drawing/2014/main" id="{2F52D029-6CE2-42D6-8AB2-963282F8F034}"/>
              </a:ext>
            </a:extLst>
          </p:cNvPr>
          <p:cNvPicPr>
            <a:picLocks noChangeAspect="1"/>
          </p:cNvPicPr>
          <p:nvPr/>
        </p:nvPicPr>
        <p:blipFill>
          <a:blip r:embed="rId3"/>
          <a:stretch>
            <a:fillRect/>
          </a:stretch>
        </p:blipFill>
        <p:spPr>
          <a:xfrm>
            <a:off x="1043608" y="2053426"/>
            <a:ext cx="7163955" cy="4034309"/>
          </a:xfrm>
          <a:prstGeom prst="rect">
            <a:avLst/>
          </a:prstGeom>
        </p:spPr>
      </p:pic>
    </p:spTree>
    <p:extLst>
      <p:ext uri="{BB962C8B-B14F-4D97-AF65-F5344CB8AC3E}">
        <p14:creationId xmlns:p14="http://schemas.microsoft.com/office/powerpoint/2010/main" val="219051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Date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dirty="0"/>
              <a:t>Transmission of the date of the day</a:t>
            </a:r>
          </a:p>
          <a:p>
            <a:endParaRPr lang="en-US" sz="2000" b="1" dirty="0"/>
          </a:p>
          <a:p>
            <a:r>
              <a:rPr lang="en-US" sz="2000" b="1" dirty="0"/>
              <a:t>Year data &gt;= 90 signifies year in the 20th century</a:t>
            </a:r>
          </a:p>
          <a:p>
            <a:r>
              <a:rPr lang="en-US" sz="2000" b="1" dirty="0"/>
              <a:t>Year data &lt; 90 signifies year in the 21st (this) century</a:t>
            </a:r>
          </a:p>
          <a:p>
            <a:endParaRPr lang="en-US" dirty="0"/>
          </a:p>
        </p:txBody>
      </p:sp>
      <p:pic>
        <p:nvPicPr>
          <p:cNvPr id="5" name="Picture 4">
            <a:extLst>
              <a:ext uri="{FF2B5EF4-FFF2-40B4-BE49-F238E27FC236}">
                <a16:creationId xmlns:a16="http://schemas.microsoft.com/office/drawing/2014/main" id="{C1C02DC9-009B-461B-856D-4375C03DA2CD}"/>
              </a:ext>
            </a:extLst>
          </p:cNvPr>
          <p:cNvPicPr>
            <a:picLocks noChangeAspect="1"/>
          </p:cNvPicPr>
          <p:nvPr/>
        </p:nvPicPr>
        <p:blipFill>
          <a:blip r:embed="rId3"/>
          <a:stretch>
            <a:fillRect/>
          </a:stretch>
        </p:blipFill>
        <p:spPr>
          <a:xfrm>
            <a:off x="1090115" y="3068960"/>
            <a:ext cx="7108304" cy="2955810"/>
          </a:xfrm>
          <a:prstGeom prst="rect">
            <a:avLst/>
          </a:prstGeom>
        </p:spPr>
      </p:pic>
    </p:spTree>
    <p:extLst>
      <p:ext uri="{BB962C8B-B14F-4D97-AF65-F5344CB8AC3E}">
        <p14:creationId xmlns:p14="http://schemas.microsoft.com/office/powerpoint/2010/main" val="1725426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Date and Time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3239840" cy="4370427"/>
          </a:xfrm>
          <a:prstGeom prst="rect">
            <a:avLst/>
          </a:prstGeom>
        </p:spPr>
        <p:txBody>
          <a:bodyPr wrap="square">
            <a:spAutoFit/>
          </a:bodyPr>
          <a:lstStyle/>
          <a:p>
            <a:r>
              <a:rPr lang="en-US" sz="2000" b="1" dirty="0"/>
              <a:t>Transmission of the date and time of the day</a:t>
            </a:r>
          </a:p>
          <a:p>
            <a:endParaRPr lang="en-US" sz="2000" b="1" dirty="0"/>
          </a:p>
          <a:p>
            <a:r>
              <a:rPr lang="en-US" sz="2000" b="1" dirty="0"/>
              <a:t>Combines and extends the </a:t>
            </a:r>
            <a:r>
              <a:rPr lang="en-US" sz="2000" b="1" dirty="0" err="1"/>
              <a:t>DPT_TimeOfDay</a:t>
            </a:r>
            <a:r>
              <a:rPr lang="en-US" sz="2000" b="1" dirty="0"/>
              <a:t> (10.001) and </a:t>
            </a:r>
            <a:r>
              <a:rPr lang="en-US" sz="2000" b="1" dirty="0" err="1"/>
              <a:t>DPT_Date</a:t>
            </a:r>
            <a:r>
              <a:rPr lang="en-US" sz="2000" b="1" dirty="0"/>
              <a:t> (11.001) </a:t>
            </a:r>
          </a:p>
          <a:p>
            <a:endParaRPr lang="en-US" sz="2000" b="1" dirty="0"/>
          </a:p>
          <a:p>
            <a:r>
              <a:rPr lang="en-US" sz="2000" b="1" dirty="0"/>
              <a:t>Year is encoded as an unsigned byte and calculated as an offset to the year 1900. Covered period: 1900 - 2155</a:t>
            </a:r>
          </a:p>
          <a:p>
            <a:endParaRPr lang="en-US" dirty="0"/>
          </a:p>
        </p:txBody>
      </p:sp>
      <p:pic>
        <p:nvPicPr>
          <p:cNvPr id="2" name="Picture 1">
            <a:extLst>
              <a:ext uri="{FF2B5EF4-FFF2-40B4-BE49-F238E27FC236}">
                <a16:creationId xmlns:a16="http://schemas.microsoft.com/office/drawing/2014/main" id="{91935766-DF62-40FA-B705-582FF3844FE0}"/>
              </a:ext>
            </a:extLst>
          </p:cNvPr>
          <p:cNvPicPr>
            <a:picLocks noChangeAspect="1"/>
          </p:cNvPicPr>
          <p:nvPr/>
        </p:nvPicPr>
        <p:blipFill>
          <a:blip r:embed="rId3"/>
          <a:stretch>
            <a:fillRect/>
          </a:stretch>
        </p:blipFill>
        <p:spPr>
          <a:xfrm>
            <a:off x="4283968" y="1268759"/>
            <a:ext cx="4120970" cy="5157011"/>
          </a:xfrm>
          <a:prstGeom prst="rect">
            <a:avLst/>
          </a:prstGeom>
        </p:spPr>
      </p:pic>
    </p:spTree>
    <p:extLst>
      <p:ext uri="{BB962C8B-B14F-4D97-AF65-F5344CB8AC3E}">
        <p14:creationId xmlns:p14="http://schemas.microsoft.com/office/powerpoint/2010/main" val="467470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Date and Time Comments</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3" y="1556792"/>
            <a:ext cx="7344296" cy="4752528"/>
          </a:xfrm>
          <a:prstGeom prst="rect">
            <a:avLst/>
          </a:prstGeom>
        </p:spPr>
        <p:txBody>
          <a:bodyPr/>
          <a:lstStyle/>
          <a:p>
            <a:pPr marL="342900" indent="-342900" eaLnBrk="0" hangingPunct="0">
              <a:spcBef>
                <a:spcPct val="20000"/>
              </a:spcBef>
              <a:buClr>
                <a:srgbClr val="369226"/>
              </a:buClr>
              <a:buFont typeface="Wingdings"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Year field: </a:t>
            </a:r>
            <a:r>
              <a:rPr lang="en-US" sz="2000" b="1" kern="0" dirty="0">
                <a:latin typeface="+mn-lt"/>
                <a:ea typeface="Open Sans" panose="020B0606030504020204" pitchFamily="34" charset="0"/>
                <a:cs typeface="Open Sans" panose="020B0606030504020204" pitchFamily="34" charset="0"/>
              </a:rPr>
              <a:t>encoded on 8 bits</a:t>
            </a:r>
          </a:p>
          <a:p>
            <a:pPr marL="342900" indent="-342900" eaLnBrk="0" hangingPunct="0">
              <a:spcBef>
                <a:spcPct val="20000"/>
              </a:spcBef>
              <a:buClr>
                <a:srgbClr val="369226"/>
              </a:buClr>
              <a:buFont typeface="Wingdings" pitchFamily="2" charset="2"/>
              <a:buChar char="§"/>
            </a:pPr>
            <a:endParaRPr lang="en-US" sz="12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Hour field: </a:t>
            </a:r>
            <a:r>
              <a:rPr lang="en-US" sz="2000" b="1" kern="0" dirty="0">
                <a:latin typeface="+mn-lt"/>
                <a:ea typeface="Open Sans" panose="020B0606030504020204" pitchFamily="34" charset="0"/>
                <a:cs typeface="Open Sans" panose="020B0606030504020204" pitchFamily="34" charset="0"/>
              </a:rPr>
              <a:t>encoding is within the range [0…24]. It is possible to use this type to encode schedule programs</a:t>
            </a:r>
          </a:p>
          <a:p>
            <a:pPr marL="342900" indent="-342900" eaLnBrk="0" hangingPunct="0">
              <a:spcBef>
                <a:spcPct val="20000"/>
              </a:spcBef>
              <a:buClr>
                <a:srgbClr val="369226"/>
              </a:buClr>
              <a:buFont typeface="Wingdings" pitchFamily="2" charset="2"/>
              <a:buChar char="§"/>
            </a:pPr>
            <a:endParaRPr lang="en-US" sz="1200" b="1" kern="0" dirty="0">
              <a:solidFill>
                <a:srgbClr val="369226"/>
              </a:solidFill>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Fault field: </a:t>
            </a:r>
            <a:r>
              <a:rPr lang="en-US" sz="2000" b="1" kern="0" dirty="0">
                <a:latin typeface="+mn-lt"/>
                <a:ea typeface="Open Sans" panose="020B0606030504020204" pitchFamily="34" charset="0"/>
                <a:cs typeface="Open Sans" panose="020B0606030504020204" pitchFamily="34" charset="0"/>
              </a:rPr>
              <a:t>is set if one or more supported fields of the Date &amp; Time information are corrupted</a:t>
            </a:r>
          </a:p>
          <a:p>
            <a:pPr marL="342900" indent="-342900" eaLnBrk="0" hangingPunct="0">
              <a:spcBef>
                <a:spcPct val="20000"/>
              </a:spcBef>
              <a:buClr>
                <a:srgbClr val="369226"/>
              </a:buClr>
              <a:buFont typeface="Wingdings" pitchFamily="2" charset="2"/>
              <a:buChar char="§"/>
            </a:pPr>
            <a:endParaRPr lang="en-US" sz="12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SUTI field: </a:t>
            </a:r>
            <a:r>
              <a:rPr lang="en-US" sz="2000" b="1" kern="0" dirty="0">
                <a:latin typeface="+mn-lt"/>
                <a:ea typeface="Open Sans" panose="020B0606030504020204" pitchFamily="34" charset="0"/>
                <a:cs typeface="Open Sans" panose="020B0606030504020204" pitchFamily="34" charset="0"/>
              </a:rPr>
              <a:t>attribute for information / visualization. In the hour field, summer-time correction is considered</a:t>
            </a:r>
          </a:p>
          <a:p>
            <a:pPr marL="342900" indent="-342900" eaLnBrk="0" hangingPunct="0">
              <a:spcBef>
                <a:spcPct val="20000"/>
              </a:spcBef>
              <a:buClr>
                <a:srgbClr val="369226"/>
              </a:buClr>
              <a:buFont typeface="Wingdings" pitchFamily="2" charset="2"/>
              <a:buChar char="§"/>
            </a:pPr>
            <a:endParaRPr lang="en-US" sz="12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sz="2000" b="1" dirty="0" err="1">
                <a:solidFill>
                  <a:srgbClr val="369226"/>
                </a:solidFill>
              </a:rPr>
              <a:t>NDoW</a:t>
            </a:r>
            <a:r>
              <a:rPr lang="en-GB" sz="2000" b="1" dirty="0">
                <a:solidFill>
                  <a:srgbClr val="369226"/>
                </a:solidFill>
              </a:rPr>
              <a:t> field: </a:t>
            </a:r>
            <a:r>
              <a:rPr lang="en-GB" sz="2000" b="1" dirty="0"/>
              <a:t>Support of the Day of Week (</a:t>
            </a:r>
            <a:r>
              <a:rPr lang="en-GB" sz="2000" b="1" dirty="0" err="1"/>
              <a:t>NDoW</a:t>
            </a:r>
            <a:r>
              <a:rPr lang="en-GB" sz="2000" b="1" dirty="0"/>
              <a:t> = 0)</a:t>
            </a:r>
            <a:endParaRPr lang="en-US" sz="2000" b="1" dirty="0"/>
          </a:p>
          <a:p>
            <a:pPr marL="342900" indent="-342900" eaLnBrk="0" hangingPunct="0">
              <a:spcBef>
                <a:spcPct val="20000"/>
              </a:spcBef>
              <a:buClr>
                <a:srgbClr val="369226"/>
              </a:buClr>
              <a:buFont typeface="Wingdings" pitchFamily="2" charset="2"/>
              <a:buChar char="§"/>
            </a:pPr>
            <a:endParaRPr lang="en-US" sz="1200" b="1" dirty="0">
              <a:solidFill>
                <a:srgbClr val="369226"/>
              </a:solidFill>
            </a:endParaRPr>
          </a:p>
          <a:p>
            <a:pPr marL="342900" indent="-342900" eaLnBrk="0" hangingPunct="0">
              <a:spcBef>
                <a:spcPct val="20000"/>
              </a:spcBef>
              <a:buClr>
                <a:srgbClr val="369226"/>
              </a:buClr>
              <a:buFont typeface="Wingdings" pitchFamily="2" charset="2"/>
              <a:buChar char="§"/>
            </a:pPr>
            <a:r>
              <a:rPr lang="en-US" sz="2000" b="1" dirty="0">
                <a:solidFill>
                  <a:srgbClr val="369226"/>
                </a:solidFill>
              </a:rPr>
              <a:t>CLQ field:  </a:t>
            </a:r>
            <a:r>
              <a:rPr lang="en-US" sz="2000" b="1" dirty="0"/>
              <a:t>Bit 7 of the 1st byte is used for “Quality of Clock” bit.  ( 1 = </a:t>
            </a:r>
            <a:r>
              <a:rPr lang="en-GB" sz="2000" b="1" dirty="0"/>
              <a:t>Clock with an external synchronisation</a:t>
            </a:r>
            <a:r>
              <a:rPr lang="en-GB" sz="2000" dirty="0"/>
              <a:t>)</a:t>
            </a:r>
            <a:endParaRPr lang="es-ES" sz="2000" b="1" dirty="0"/>
          </a:p>
          <a:p>
            <a:pPr marL="342900" indent="-342900" eaLnBrk="0" hangingPunct="0">
              <a:spcBef>
                <a:spcPct val="20000"/>
              </a:spcBef>
              <a:buClr>
                <a:srgbClr val="369226"/>
              </a:buClr>
              <a:buFont typeface="Wingdings" pitchFamily="2" charset="2"/>
              <a:buChar char="§"/>
            </a:pPr>
            <a:endParaRPr lang="en-US" sz="20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sz="20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sz="20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sz="2000"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10644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4 Octet without Sign</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dirty="0"/>
              <a:t>Transmission of unsigned counter values up to 4.294.967.295 </a:t>
            </a:r>
          </a:p>
          <a:p>
            <a:endParaRPr lang="en-US" sz="2000" b="1" dirty="0"/>
          </a:p>
          <a:p>
            <a:endParaRPr lang="en-US" sz="2000" b="1" dirty="0"/>
          </a:p>
          <a:p>
            <a:endParaRPr lang="en-US" dirty="0"/>
          </a:p>
        </p:txBody>
      </p:sp>
      <p:pic>
        <p:nvPicPr>
          <p:cNvPr id="2" name="Picture 1">
            <a:extLst>
              <a:ext uri="{FF2B5EF4-FFF2-40B4-BE49-F238E27FC236}">
                <a16:creationId xmlns:a16="http://schemas.microsoft.com/office/drawing/2014/main" id="{7C055419-B7D6-419E-A5FF-6B926D589B6A}"/>
              </a:ext>
            </a:extLst>
          </p:cNvPr>
          <p:cNvPicPr>
            <a:picLocks noChangeAspect="1"/>
          </p:cNvPicPr>
          <p:nvPr/>
        </p:nvPicPr>
        <p:blipFill>
          <a:blip r:embed="rId3"/>
          <a:stretch>
            <a:fillRect/>
          </a:stretch>
        </p:blipFill>
        <p:spPr>
          <a:xfrm>
            <a:off x="779217" y="2483544"/>
            <a:ext cx="7730099" cy="2961680"/>
          </a:xfrm>
          <a:prstGeom prst="rect">
            <a:avLst/>
          </a:prstGeom>
        </p:spPr>
      </p:pic>
    </p:spTree>
    <p:extLst>
      <p:ext uri="{BB962C8B-B14F-4D97-AF65-F5344CB8AC3E}">
        <p14:creationId xmlns:p14="http://schemas.microsoft.com/office/powerpoint/2010/main" val="630788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4 Octet with Sign</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dirty="0"/>
              <a:t>Transmission of values from -2.147.483.648 up to +2.147.483.647</a:t>
            </a:r>
          </a:p>
          <a:p>
            <a:endParaRPr lang="en-US" sz="2000" b="1" dirty="0"/>
          </a:p>
          <a:p>
            <a:r>
              <a:rPr lang="en-US" sz="2000" b="1" dirty="0"/>
              <a:t>Negative numbers are represented as two’s complement</a:t>
            </a:r>
          </a:p>
          <a:p>
            <a:endParaRPr lang="en-US" dirty="0"/>
          </a:p>
        </p:txBody>
      </p:sp>
      <p:pic>
        <p:nvPicPr>
          <p:cNvPr id="2" name="Picture 1">
            <a:extLst>
              <a:ext uri="{FF2B5EF4-FFF2-40B4-BE49-F238E27FC236}">
                <a16:creationId xmlns:a16="http://schemas.microsoft.com/office/drawing/2014/main" id="{CBBBB612-B1E0-46B7-ADB0-E5F82E52E08A}"/>
              </a:ext>
            </a:extLst>
          </p:cNvPr>
          <p:cNvPicPr>
            <a:picLocks noChangeAspect="1"/>
          </p:cNvPicPr>
          <p:nvPr/>
        </p:nvPicPr>
        <p:blipFill>
          <a:blip r:embed="rId3"/>
          <a:stretch>
            <a:fillRect/>
          </a:stretch>
        </p:blipFill>
        <p:spPr>
          <a:xfrm>
            <a:off x="806378" y="3013214"/>
            <a:ext cx="7531244" cy="3008074"/>
          </a:xfrm>
          <a:prstGeom prst="rect">
            <a:avLst/>
          </a:prstGeom>
        </p:spPr>
      </p:pic>
    </p:spTree>
    <p:extLst>
      <p:ext uri="{BB962C8B-B14F-4D97-AF65-F5344CB8AC3E}">
        <p14:creationId xmlns:p14="http://schemas.microsoft.com/office/powerpoint/2010/main" val="1969527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4 Octet Floating Point Number</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447752" cy="2554545"/>
          </a:xfrm>
          <a:prstGeom prst="rect">
            <a:avLst/>
          </a:prstGeom>
        </p:spPr>
        <p:txBody>
          <a:bodyPr wrap="square">
            <a:spAutoFit/>
          </a:bodyPr>
          <a:lstStyle/>
          <a:p>
            <a:r>
              <a:rPr lang="en-US" sz="2000" b="1" dirty="0"/>
              <a:t>Transmission of floating point values with greater accuracy</a:t>
            </a:r>
          </a:p>
          <a:p>
            <a:endParaRPr lang="en-US" sz="2000" b="1" dirty="0"/>
          </a:p>
          <a:p>
            <a:r>
              <a:rPr lang="en-US" sz="2000" b="1" dirty="0"/>
              <a:t>It is used in accordance with IEEE 754 </a:t>
            </a:r>
            <a:endParaRPr lang="en-US" dirty="0"/>
          </a:p>
        </p:txBody>
      </p:sp>
      <p:pic>
        <p:nvPicPr>
          <p:cNvPr id="5" name="Picture 4">
            <a:extLst>
              <a:ext uri="{FF2B5EF4-FFF2-40B4-BE49-F238E27FC236}">
                <a16:creationId xmlns:a16="http://schemas.microsoft.com/office/drawing/2014/main" id="{3B25BAF4-9C94-4E03-A211-79491CAD0DF0}"/>
              </a:ext>
            </a:extLst>
          </p:cNvPr>
          <p:cNvPicPr>
            <a:picLocks noChangeAspect="1"/>
          </p:cNvPicPr>
          <p:nvPr/>
        </p:nvPicPr>
        <p:blipFill>
          <a:blip r:embed="rId3"/>
          <a:stretch>
            <a:fillRect/>
          </a:stretch>
        </p:blipFill>
        <p:spPr>
          <a:xfrm>
            <a:off x="3347864" y="1412776"/>
            <a:ext cx="5407676" cy="4968974"/>
          </a:xfrm>
          <a:prstGeom prst="rect">
            <a:avLst/>
          </a:prstGeom>
        </p:spPr>
      </p:pic>
    </p:spTree>
    <p:extLst>
      <p:ext uri="{BB962C8B-B14F-4D97-AF65-F5344CB8AC3E}">
        <p14:creationId xmlns:p14="http://schemas.microsoft.com/office/powerpoint/2010/main" val="4149561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Access Control</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087711" cy="1015663"/>
          </a:xfrm>
          <a:prstGeom prst="rect">
            <a:avLst/>
          </a:prstGeom>
        </p:spPr>
        <p:txBody>
          <a:bodyPr wrap="square">
            <a:spAutoFit/>
          </a:bodyPr>
          <a:lstStyle/>
          <a:p>
            <a:r>
              <a:rPr lang="en-US" sz="2000" b="1" dirty="0"/>
              <a:t>Represent or log access procedures</a:t>
            </a:r>
            <a:endParaRPr lang="en-US" dirty="0"/>
          </a:p>
        </p:txBody>
      </p:sp>
      <p:pic>
        <p:nvPicPr>
          <p:cNvPr id="6" name="Picture 5">
            <a:extLst>
              <a:ext uri="{FF2B5EF4-FFF2-40B4-BE49-F238E27FC236}">
                <a16:creationId xmlns:a16="http://schemas.microsoft.com/office/drawing/2014/main" id="{9129E04D-BCDF-4BFF-B3D3-6C1ABF1653E9}"/>
              </a:ext>
            </a:extLst>
          </p:cNvPr>
          <p:cNvPicPr>
            <a:picLocks noChangeAspect="1"/>
          </p:cNvPicPr>
          <p:nvPr/>
        </p:nvPicPr>
        <p:blipFill>
          <a:blip r:embed="rId3"/>
          <a:stretch>
            <a:fillRect/>
          </a:stretch>
        </p:blipFill>
        <p:spPr>
          <a:xfrm>
            <a:off x="2699791" y="1412776"/>
            <a:ext cx="5640627" cy="5040560"/>
          </a:xfrm>
          <a:prstGeom prst="rect">
            <a:avLst/>
          </a:prstGeom>
        </p:spPr>
      </p:pic>
    </p:spTree>
    <p:extLst>
      <p:ext uri="{BB962C8B-B14F-4D97-AF65-F5344CB8AC3E}">
        <p14:creationId xmlns:p14="http://schemas.microsoft.com/office/powerpoint/2010/main" val="2067563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Access Control Example</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703030"/>
          </a:xfrm>
          <a:prstGeom prst="rect">
            <a:avLst/>
          </a:prstGeom>
        </p:spPr>
        <p:txBody>
          <a:bodyPr wrap="square">
            <a:spAutoFit/>
          </a:bodyPr>
          <a:lstStyle/>
          <a:p>
            <a:pPr>
              <a:lnSpc>
                <a:spcPct val="150000"/>
              </a:lnSpc>
            </a:pPr>
            <a:r>
              <a:rPr lang="en-US" b="1" dirty="0"/>
              <a:t>Transmission of the Access ID code "123456", without error display,  permission accepted, card reading from left to right, not encrypted, match with 13</a:t>
            </a:r>
          </a:p>
          <a:p>
            <a:pPr>
              <a:lnSpc>
                <a:spcPct val="150000"/>
              </a:lnSpc>
            </a:pPr>
            <a:endParaRPr lang="en-US" dirty="0"/>
          </a:p>
        </p:txBody>
      </p:sp>
      <p:pic>
        <p:nvPicPr>
          <p:cNvPr id="16" name="Picture 15">
            <a:extLst>
              <a:ext uri="{FF2B5EF4-FFF2-40B4-BE49-F238E27FC236}">
                <a16:creationId xmlns:a16="http://schemas.microsoft.com/office/drawing/2014/main" id="{C5BB1823-502A-48CB-B20A-A9C2D0173A2F}"/>
              </a:ext>
            </a:extLst>
          </p:cNvPr>
          <p:cNvPicPr>
            <a:picLocks noChangeAspect="1"/>
          </p:cNvPicPr>
          <p:nvPr/>
        </p:nvPicPr>
        <p:blipFill>
          <a:blip r:embed="rId3"/>
          <a:stretch>
            <a:fillRect/>
          </a:stretch>
        </p:blipFill>
        <p:spPr>
          <a:xfrm>
            <a:off x="900112" y="3284984"/>
            <a:ext cx="7343057" cy="1631791"/>
          </a:xfrm>
          <a:prstGeom prst="rect">
            <a:avLst/>
          </a:prstGeom>
        </p:spPr>
      </p:pic>
    </p:spTree>
    <p:extLst>
      <p:ext uri="{BB962C8B-B14F-4D97-AF65-F5344CB8AC3E}">
        <p14:creationId xmlns:p14="http://schemas.microsoft.com/office/powerpoint/2010/main" val="1769847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Character String</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7344295" cy="2800767"/>
          </a:xfrm>
          <a:prstGeom prst="rect">
            <a:avLst/>
          </a:prstGeom>
        </p:spPr>
        <p:txBody>
          <a:bodyPr wrap="square">
            <a:spAutoFit/>
          </a:bodyPr>
          <a:lstStyle/>
          <a:p>
            <a:r>
              <a:rPr lang="en-US" sz="2000" b="1" dirty="0"/>
              <a:t>Transfer strings of characters, Datapoint types 16.000 and 16.001 allow sending text of up to 14 characters</a:t>
            </a:r>
          </a:p>
          <a:p>
            <a:endParaRPr lang="en-US" sz="2000" b="1" dirty="0"/>
          </a:p>
          <a:p>
            <a:r>
              <a:rPr lang="en-GB" sz="2000" b="1" dirty="0"/>
              <a:t>Encoding of the individual characters corresponds to the Datapoint types 4.001 and 4.002</a:t>
            </a:r>
          </a:p>
          <a:p>
            <a:endParaRPr lang="en-GB" sz="2000" b="1" dirty="0"/>
          </a:p>
          <a:p>
            <a:r>
              <a:rPr lang="en-GB" sz="2000" b="1" dirty="0"/>
              <a:t>The contents in both cases starts with the MSB</a:t>
            </a:r>
          </a:p>
          <a:p>
            <a:endParaRPr lang="es-ES" dirty="0"/>
          </a:p>
          <a:p>
            <a:endParaRPr lang="en-US" dirty="0"/>
          </a:p>
        </p:txBody>
      </p:sp>
      <p:pic>
        <p:nvPicPr>
          <p:cNvPr id="5" name="Picture 4">
            <a:extLst>
              <a:ext uri="{FF2B5EF4-FFF2-40B4-BE49-F238E27FC236}">
                <a16:creationId xmlns:a16="http://schemas.microsoft.com/office/drawing/2014/main" id="{B5052A97-BF08-4C5F-889E-C407517956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7023" y="4541478"/>
            <a:ext cx="7521401" cy="1295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8C46611-79C2-4505-8B08-3D4BD400AC77}"/>
              </a:ext>
            </a:extLst>
          </p:cNvPr>
          <p:cNvSpPr/>
          <p:nvPr/>
        </p:nvSpPr>
        <p:spPr>
          <a:xfrm>
            <a:off x="955837" y="4221088"/>
            <a:ext cx="1274708" cy="369332"/>
          </a:xfrm>
          <a:prstGeom prst="rect">
            <a:avLst/>
          </a:prstGeom>
        </p:spPr>
        <p:txBody>
          <a:bodyPr wrap="none">
            <a:spAutoFit/>
          </a:bodyPr>
          <a:lstStyle/>
          <a:p>
            <a:r>
              <a:rPr lang="en-US" b="1" kern="0" dirty="0">
                <a:ea typeface="Open Sans" panose="020B0606030504020204" pitchFamily="34" charset="0"/>
                <a:cs typeface="Open Sans" panose="020B0606030504020204" pitchFamily="34" charset="0"/>
              </a:rPr>
              <a:t>Example: </a:t>
            </a:r>
            <a:endParaRPr lang="es-ES" dirty="0"/>
          </a:p>
        </p:txBody>
      </p:sp>
    </p:spTree>
    <p:extLst>
      <p:ext uri="{BB962C8B-B14F-4D97-AF65-F5344CB8AC3E}">
        <p14:creationId xmlns:p14="http://schemas.microsoft.com/office/powerpoint/2010/main" val="3664538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Scene Control</a:t>
            </a:r>
          </a:p>
        </p:txBody>
      </p:sp>
      <p:sp>
        <p:nvSpPr>
          <p:cNvPr id="4" name="Rectangle 3">
            <a:extLst>
              <a:ext uri="{FF2B5EF4-FFF2-40B4-BE49-F238E27FC236}">
                <a16:creationId xmlns:a16="http://schemas.microsoft.com/office/drawing/2014/main" id="{816F9A5F-289D-44E6-93C7-604C0415BFD7}"/>
              </a:ext>
            </a:extLst>
          </p:cNvPr>
          <p:cNvSpPr/>
          <p:nvPr/>
        </p:nvSpPr>
        <p:spPr>
          <a:xfrm>
            <a:off x="755576" y="1484784"/>
            <a:ext cx="3744416" cy="4799103"/>
          </a:xfrm>
          <a:prstGeom prst="rect">
            <a:avLst/>
          </a:prstGeom>
        </p:spPr>
        <p:txBody>
          <a:bodyPr/>
          <a:lstStyle/>
          <a:p>
            <a:pPr eaLnBrk="0" hangingPunct="0">
              <a:spcBef>
                <a:spcPct val="20000"/>
              </a:spcBef>
              <a:buClr>
                <a:srgbClr val="369226"/>
              </a:buClr>
            </a:pPr>
            <a:r>
              <a:rPr lang="en-US" sz="2000" b="1" kern="0" dirty="0">
                <a:solidFill>
                  <a:srgbClr val="369226"/>
                </a:solidFill>
                <a:latin typeface="+mn-lt"/>
                <a:ea typeface="Open Sans" panose="020B0606030504020204" pitchFamily="34" charset="0"/>
                <a:cs typeface="Open Sans" panose="020B0606030504020204" pitchFamily="34" charset="0"/>
              </a:rPr>
              <a:t>Approaches:</a:t>
            </a:r>
          </a:p>
          <a:p>
            <a:pPr marL="342900" indent="-342900" eaLnBrk="0" hangingPunct="0">
              <a:spcBef>
                <a:spcPct val="20000"/>
              </a:spcBef>
              <a:buClr>
                <a:srgbClr val="369226"/>
              </a:buClr>
              <a:buFont typeface="Wingdings" pitchFamily="2" charset="2"/>
              <a:buChar char="§"/>
            </a:pPr>
            <a:r>
              <a:rPr lang="en-GB" b="1" kern="0" dirty="0">
                <a:latin typeface="+mn-lt"/>
                <a:ea typeface="Open Sans" panose="020B0606030504020204" pitchFamily="34" charset="0"/>
                <a:cs typeface="Open Sans" panose="020B0606030504020204" pitchFamily="34" charset="0"/>
              </a:rPr>
              <a:t>Setting the scene by using the </a:t>
            </a:r>
            <a:r>
              <a:rPr lang="en-GB" b="1" kern="0" dirty="0" err="1">
                <a:solidFill>
                  <a:srgbClr val="369226"/>
                </a:solidFill>
                <a:latin typeface="+mn-lt"/>
                <a:ea typeface="Open Sans" panose="020B0606030504020204" pitchFamily="34" charset="0"/>
                <a:cs typeface="Open Sans" panose="020B0606030504020204" pitchFamily="34" charset="0"/>
              </a:rPr>
              <a:t>DPT_Scene_AB</a:t>
            </a:r>
            <a:r>
              <a:rPr lang="en-GB" b="1" kern="0" dirty="0">
                <a:solidFill>
                  <a:srgbClr val="369226"/>
                </a:solidFill>
                <a:latin typeface="+mn-lt"/>
                <a:ea typeface="Open Sans" panose="020B0606030504020204" pitchFamily="34" charset="0"/>
                <a:cs typeface="Open Sans" panose="020B0606030504020204" pitchFamily="34" charset="0"/>
              </a:rPr>
              <a:t> </a:t>
            </a:r>
            <a:r>
              <a:rPr lang="en-GB" b="1" kern="0" dirty="0">
                <a:latin typeface="+mn-lt"/>
                <a:ea typeface="Open Sans" panose="020B0606030504020204" pitchFamily="34" charset="0"/>
                <a:cs typeface="Open Sans" panose="020B0606030504020204" pitchFamily="34" charset="0"/>
              </a:rPr>
              <a:t>(1.022). </a:t>
            </a:r>
            <a:r>
              <a:rPr lang="en-GB" b="1" dirty="0">
                <a:latin typeface="+mn-lt"/>
              </a:rPr>
              <a:t>it is not possible that the user changes the scene</a:t>
            </a:r>
            <a:endParaRPr lang="es-E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GB"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b="1" kern="0" dirty="0">
                <a:latin typeface="+mn-lt"/>
                <a:ea typeface="Open Sans" panose="020B0606030504020204" pitchFamily="34" charset="0"/>
                <a:cs typeface="Open Sans" panose="020B0606030504020204" pitchFamily="34" charset="0"/>
              </a:rPr>
              <a:t>Setting and storing the scene as a number by using the </a:t>
            </a:r>
            <a:r>
              <a:rPr lang="en-GB" b="1" kern="0" dirty="0" err="1">
                <a:solidFill>
                  <a:srgbClr val="369226"/>
                </a:solidFill>
                <a:latin typeface="+mn-lt"/>
                <a:ea typeface="Open Sans" panose="020B0606030504020204" pitchFamily="34" charset="0"/>
                <a:cs typeface="Open Sans" panose="020B0606030504020204" pitchFamily="34" charset="0"/>
              </a:rPr>
              <a:t>DPT_Scene_Control</a:t>
            </a:r>
            <a:r>
              <a:rPr lang="en-GB" b="1" kern="0" dirty="0">
                <a:latin typeface="+mn-lt"/>
                <a:ea typeface="Open Sans" panose="020B0606030504020204" pitchFamily="34" charset="0"/>
                <a:cs typeface="Open Sans" panose="020B0606030504020204" pitchFamily="34" charset="0"/>
              </a:rPr>
              <a:t>. Scenes can be set and called </a:t>
            </a:r>
            <a:endParaRPr lang="es-E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GB"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b="1" kern="0" dirty="0">
                <a:latin typeface="+mn-lt"/>
                <a:ea typeface="Open Sans" panose="020B0606030504020204" pitchFamily="34" charset="0"/>
                <a:cs typeface="Open Sans" panose="020B0606030504020204" pitchFamily="34" charset="0"/>
              </a:rPr>
              <a:t>By using the </a:t>
            </a:r>
            <a:r>
              <a:rPr lang="en-GB" b="1" kern="0" dirty="0" err="1">
                <a:solidFill>
                  <a:srgbClr val="369226"/>
                </a:solidFill>
                <a:latin typeface="+mn-lt"/>
                <a:ea typeface="Open Sans" panose="020B0606030504020204" pitchFamily="34" charset="0"/>
                <a:cs typeface="Open Sans" panose="020B0606030504020204" pitchFamily="34" charset="0"/>
              </a:rPr>
              <a:t>DPT_SceneNumber</a:t>
            </a:r>
            <a:r>
              <a:rPr lang="en-GB" b="1" kern="0" dirty="0">
                <a:latin typeface="+mn-lt"/>
                <a:ea typeface="Open Sans" panose="020B0606030504020204" pitchFamily="34" charset="0"/>
                <a:cs typeface="Open Sans" panose="020B0606030504020204" pitchFamily="34" charset="0"/>
              </a:rPr>
              <a:t>: identical to the </a:t>
            </a:r>
            <a:r>
              <a:rPr lang="en-GB" b="1" kern="0" dirty="0" err="1">
                <a:latin typeface="+mn-lt"/>
                <a:ea typeface="Open Sans" panose="020B0606030504020204" pitchFamily="34" charset="0"/>
                <a:cs typeface="Open Sans" panose="020B0606030504020204" pitchFamily="34" charset="0"/>
              </a:rPr>
              <a:t>DPT_Scene_Control</a:t>
            </a:r>
            <a:r>
              <a:rPr lang="en-GB" b="1" kern="0" dirty="0">
                <a:latin typeface="+mn-lt"/>
                <a:ea typeface="Open Sans" panose="020B0606030504020204" pitchFamily="34" charset="0"/>
                <a:cs typeface="Open Sans" panose="020B0606030504020204" pitchFamily="34" charset="0"/>
              </a:rPr>
              <a:t>, however it does not allow to store new scenes</a:t>
            </a:r>
            <a:endParaRPr lang="es-ES" b="1" kern="0" dirty="0">
              <a:latin typeface="+mn-lt"/>
              <a:ea typeface="Open Sans" panose="020B0606030504020204" pitchFamily="34" charset="0"/>
              <a:cs typeface="Open Sans" panose="020B0606030504020204" pitchFamily="34" charset="0"/>
            </a:endParaRPr>
          </a:p>
          <a:p>
            <a:pPr eaLnBrk="0" hangingPunct="0">
              <a:spcBef>
                <a:spcPct val="20000"/>
              </a:spcBef>
              <a:buClr>
                <a:srgbClr val="369226"/>
              </a:buClr>
            </a:pPr>
            <a:endParaRPr lang="en-US" b="1" kern="0" dirty="0">
              <a:latin typeface="+mn-lt"/>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C6257641-F3F9-4874-9F0C-B814DA219C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50405" y="1844824"/>
            <a:ext cx="4142075" cy="153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C0DB980F-42DA-4850-9D6C-1ACDF93726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50405" y="4005064"/>
            <a:ext cx="4142075" cy="2260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09E8756-32AD-4EF3-9F1C-F5E45E053F88}"/>
              </a:ext>
            </a:extLst>
          </p:cNvPr>
          <p:cNvSpPr/>
          <p:nvPr/>
        </p:nvSpPr>
        <p:spPr>
          <a:xfrm>
            <a:off x="4710787" y="1484784"/>
            <a:ext cx="1877437" cy="369332"/>
          </a:xfrm>
          <a:prstGeom prst="rect">
            <a:avLst/>
          </a:prstGeom>
        </p:spPr>
        <p:txBody>
          <a:bodyPr wrap="none">
            <a:spAutoFit/>
          </a:bodyPr>
          <a:lstStyle/>
          <a:p>
            <a:pPr lvl="0"/>
            <a:r>
              <a:rPr lang="en-GB" b="1" dirty="0">
                <a:solidFill>
                  <a:srgbClr val="369226"/>
                </a:solidFill>
              </a:rPr>
              <a:t>Scene Number:</a:t>
            </a:r>
          </a:p>
        </p:txBody>
      </p:sp>
      <p:sp>
        <p:nvSpPr>
          <p:cNvPr id="8" name="Rectangle 7">
            <a:extLst>
              <a:ext uri="{FF2B5EF4-FFF2-40B4-BE49-F238E27FC236}">
                <a16:creationId xmlns:a16="http://schemas.microsoft.com/office/drawing/2014/main" id="{649755A6-9F7B-4F26-8ED4-8AF49EACAFAF}"/>
              </a:ext>
            </a:extLst>
          </p:cNvPr>
          <p:cNvSpPr/>
          <p:nvPr/>
        </p:nvSpPr>
        <p:spPr>
          <a:xfrm>
            <a:off x="4690075" y="3645024"/>
            <a:ext cx="1826141" cy="369332"/>
          </a:xfrm>
          <a:prstGeom prst="rect">
            <a:avLst/>
          </a:prstGeom>
        </p:spPr>
        <p:txBody>
          <a:bodyPr wrap="none">
            <a:spAutoFit/>
          </a:bodyPr>
          <a:lstStyle/>
          <a:p>
            <a:pPr lvl="0"/>
            <a:r>
              <a:rPr lang="en-GB" b="1" dirty="0">
                <a:solidFill>
                  <a:srgbClr val="369226"/>
                </a:solidFill>
              </a:rPr>
              <a:t>Scene Control:</a:t>
            </a:r>
          </a:p>
        </p:txBody>
      </p:sp>
    </p:spTree>
    <p:extLst>
      <p:ext uri="{BB962C8B-B14F-4D97-AF65-F5344CB8AC3E}">
        <p14:creationId xmlns:p14="http://schemas.microsoft.com/office/powerpoint/2010/main" val="1944162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Common HVAC Datapoint types</a:t>
            </a:r>
          </a:p>
        </p:txBody>
      </p:sp>
      <p:pic>
        <p:nvPicPr>
          <p:cNvPr id="5" name="Picture 2">
            <a:extLst>
              <a:ext uri="{FF2B5EF4-FFF2-40B4-BE49-F238E27FC236}">
                <a16:creationId xmlns:a16="http://schemas.microsoft.com/office/drawing/2014/main" id="{151E401C-E987-4291-A2C2-93FC7737AD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412776"/>
            <a:ext cx="5051174" cy="4834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2117AAD-4BDA-4D66-93E9-CBCF256F6EA5}"/>
              </a:ext>
            </a:extLst>
          </p:cNvPr>
          <p:cNvSpPr/>
          <p:nvPr/>
        </p:nvSpPr>
        <p:spPr>
          <a:xfrm>
            <a:off x="900113" y="1412776"/>
            <a:ext cx="2951807" cy="2523768"/>
          </a:xfrm>
          <a:prstGeom prst="rect">
            <a:avLst/>
          </a:prstGeom>
        </p:spPr>
        <p:txBody>
          <a:bodyPr wrap="square">
            <a:spAutoFit/>
          </a:bodyPr>
          <a:lstStyle/>
          <a:p>
            <a:r>
              <a:rPr lang="en-GB" sz="2000" b="1" dirty="0"/>
              <a:t>New DPT: </a:t>
            </a:r>
            <a:r>
              <a:rPr lang="en-GB" sz="2000" b="1" dirty="0" err="1"/>
              <a:t>DPT_HVACMode</a:t>
            </a:r>
            <a:r>
              <a:rPr lang="en-GB" sz="2000" b="1" dirty="0"/>
              <a:t> </a:t>
            </a:r>
          </a:p>
          <a:p>
            <a:endParaRPr lang="en-GB" sz="2000" b="1" dirty="0"/>
          </a:p>
          <a:p>
            <a:r>
              <a:rPr lang="en-GB" sz="2000" b="1" dirty="0"/>
              <a:t>Room thermostats inform on their status with the standardised </a:t>
            </a:r>
            <a:r>
              <a:rPr lang="en-GB" sz="2000" b="1" dirty="0" err="1"/>
              <a:t>DPT_HVACContrMode</a:t>
            </a:r>
            <a:endParaRPr lang="en-GB" sz="2000" b="1" dirty="0"/>
          </a:p>
          <a:p>
            <a:endParaRPr lang="en-US" dirty="0"/>
          </a:p>
        </p:txBody>
      </p:sp>
    </p:spTree>
    <p:extLst>
      <p:ext uri="{BB962C8B-B14F-4D97-AF65-F5344CB8AC3E}">
        <p14:creationId xmlns:p14="http://schemas.microsoft.com/office/powerpoint/2010/main" val="3858812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Combination of DPTs into devices</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2246769"/>
          </a:xfrm>
          <a:prstGeom prst="rect">
            <a:avLst/>
          </a:prstGeom>
        </p:spPr>
        <p:txBody>
          <a:bodyPr wrap="square">
            <a:spAutoFit/>
          </a:bodyPr>
          <a:lstStyle/>
          <a:p>
            <a:r>
              <a:rPr lang="en-US" sz="2000" b="1" dirty="0"/>
              <a:t>Combination of DPTs into devices has been </a:t>
            </a:r>
            <a:r>
              <a:rPr lang="en-US" sz="2000" b="1" dirty="0">
                <a:solidFill>
                  <a:srgbClr val="369226"/>
                </a:solidFill>
              </a:rPr>
              <a:t>standardized</a:t>
            </a:r>
            <a:r>
              <a:rPr lang="en-US" sz="2000" b="1" dirty="0"/>
              <a:t> and is </a:t>
            </a:r>
            <a:r>
              <a:rPr lang="en-US" sz="2000" b="1" dirty="0">
                <a:solidFill>
                  <a:srgbClr val="369226"/>
                </a:solidFill>
              </a:rPr>
              <a:t>obligatory for certification</a:t>
            </a:r>
          </a:p>
          <a:p>
            <a:endParaRPr lang="en-US" sz="2000" b="1" dirty="0"/>
          </a:p>
          <a:p>
            <a:r>
              <a:rPr lang="en-GB" sz="2000" b="1" dirty="0"/>
              <a:t>These standards called ‘</a:t>
            </a:r>
            <a:r>
              <a:rPr lang="en-GB" sz="2000" b="1" dirty="0">
                <a:solidFill>
                  <a:srgbClr val="369226"/>
                </a:solidFill>
              </a:rPr>
              <a:t>functional blocks</a:t>
            </a:r>
            <a:r>
              <a:rPr lang="en-GB" sz="2000" b="1" dirty="0"/>
              <a:t>’ are respectively the “</a:t>
            </a:r>
            <a:r>
              <a:rPr lang="en-GB" sz="2000" b="1" dirty="0">
                <a:solidFill>
                  <a:srgbClr val="369226"/>
                </a:solidFill>
              </a:rPr>
              <a:t>Dimming actuator basic</a:t>
            </a:r>
            <a:r>
              <a:rPr lang="en-GB" sz="2000" b="1" dirty="0"/>
              <a:t>” and the “</a:t>
            </a:r>
            <a:r>
              <a:rPr lang="en-GB" sz="2000" b="1" dirty="0">
                <a:solidFill>
                  <a:srgbClr val="369226"/>
                </a:solidFill>
              </a:rPr>
              <a:t>Sunblind Actuator basic</a:t>
            </a:r>
            <a:r>
              <a:rPr lang="en-GB" sz="2000" b="1" dirty="0"/>
              <a:t>” </a:t>
            </a:r>
          </a:p>
          <a:p>
            <a:endParaRPr lang="en-US" sz="2000" dirty="0">
              <a:solidFill>
                <a:srgbClr val="369226"/>
              </a:solidFill>
            </a:endParaRPr>
          </a:p>
        </p:txBody>
      </p:sp>
      <p:sp>
        <p:nvSpPr>
          <p:cNvPr id="2" name="Rectangle 1">
            <a:extLst>
              <a:ext uri="{FF2B5EF4-FFF2-40B4-BE49-F238E27FC236}">
                <a16:creationId xmlns:a16="http://schemas.microsoft.com/office/drawing/2014/main" id="{92043441-4156-44BE-9C39-9D5A75EDDE06}"/>
              </a:ext>
            </a:extLst>
          </p:cNvPr>
          <p:cNvSpPr/>
          <p:nvPr/>
        </p:nvSpPr>
        <p:spPr>
          <a:xfrm>
            <a:off x="929826" y="3876933"/>
            <a:ext cx="3786189" cy="1323439"/>
          </a:xfrm>
          <a:prstGeom prst="rect">
            <a:avLst/>
          </a:prstGeom>
        </p:spPr>
        <p:txBody>
          <a:bodyPr wrap="square">
            <a:spAutoFit/>
          </a:bodyPr>
          <a:lstStyle/>
          <a:p>
            <a:r>
              <a:rPr lang="en-GB" sz="2000" b="1" u="sng" dirty="0">
                <a:solidFill>
                  <a:srgbClr val="369226"/>
                </a:solidFill>
              </a:rPr>
              <a:t>Dimming Actuator Basic</a:t>
            </a:r>
            <a:endParaRPr lang="es-ES" sz="2000" u="sng" dirty="0">
              <a:solidFill>
                <a:srgbClr val="369226"/>
              </a:solidFill>
            </a:endParaRPr>
          </a:p>
          <a:p>
            <a:r>
              <a:rPr lang="es-ES" sz="2000" b="1" dirty="0" err="1"/>
              <a:t>Switch</a:t>
            </a:r>
            <a:r>
              <a:rPr lang="es-ES" sz="2000" b="1" dirty="0"/>
              <a:t>, DPT 1.001</a:t>
            </a:r>
          </a:p>
          <a:p>
            <a:r>
              <a:rPr lang="es-ES" sz="2000" b="1" dirty="0" err="1"/>
              <a:t>Relative</a:t>
            </a:r>
            <a:r>
              <a:rPr lang="es-ES" sz="2000" b="1" dirty="0"/>
              <a:t> </a:t>
            </a:r>
            <a:r>
              <a:rPr lang="es-ES" sz="2000" b="1" dirty="0" err="1"/>
              <a:t>dimming</a:t>
            </a:r>
            <a:r>
              <a:rPr lang="es-ES" sz="2000" b="1" dirty="0"/>
              <a:t>, DPT 3.007</a:t>
            </a:r>
          </a:p>
          <a:p>
            <a:r>
              <a:rPr lang="es-ES" sz="2000" b="1" dirty="0"/>
              <a:t>Absolute </a:t>
            </a:r>
            <a:r>
              <a:rPr lang="es-ES" sz="2000" b="1" dirty="0" err="1"/>
              <a:t>dimming</a:t>
            </a:r>
            <a:r>
              <a:rPr lang="es-ES" sz="2000" b="1" dirty="0"/>
              <a:t>, DPT 5.001</a:t>
            </a:r>
          </a:p>
        </p:txBody>
      </p:sp>
      <p:sp>
        <p:nvSpPr>
          <p:cNvPr id="6" name="Rectangle 5">
            <a:extLst>
              <a:ext uri="{FF2B5EF4-FFF2-40B4-BE49-F238E27FC236}">
                <a16:creationId xmlns:a16="http://schemas.microsoft.com/office/drawing/2014/main" id="{806DE4F8-8D7D-4746-90AA-CB6A94CFED32}"/>
              </a:ext>
            </a:extLst>
          </p:cNvPr>
          <p:cNvSpPr/>
          <p:nvPr/>
        </p:nvSpPr>
        <p:spPr>
          <a:xfrm>
            <a:off x="5004048" y="3861048"/>
            <a:ext cx="3528392" cy="1323439"/>
          </a:xfrm>
          <a:prstGeom prst="rect">
            <a:avLst/>
          </a:prstGeom>
        </p:spPr>
        <p:txBody>
          <a:bodyPr wrap="square">
            <a:spAutoFit/>
          </a:bodyPr>
          <a:lstStyle/>
          <a:p>
            <a:r>
              <a:rPr lang="en-GB" sz="2000" b="1" u="sng" dirty="0">
                <a:solidFill>
                  <a:srgbClr val="369226"/>
                </a:solidFill>
              </a:rPr>
              <a:t>Sunblind Actuator Basic</a:t>
            </a:r>
          </a:p>
          <a:p>
            <a:r>
              <a:rPr lang="en-US" sz="2000" b="1" dirty="0"/>
              <a:t>Step/Stop (DPT 1.007)</a:t>
            </a:r>
          </a:p>
          <a:p>
            <a:r>
              <a:rPr lang="en-US" sz="2000" b="1" dirty="0"/>
              <a:t>Up/Down (DPT 1.008)</a:t>
            </a:r>
          </a:p>
          <a:p>
            <a:endParaRPr lang="es-ES" sz="2000" b="1" dirty="0"/>
          </a:p>
        </p:txBody>
      </p:sp>
    </p:spTree>
    <p:extLst>
      <p:ext uri="{BB962C8B-B14F-4D97-AF65-F5344CB8AC3E}">
        <p14:creationId xmlns:p14="http://schemas.microsoft.com/office/powerpoint/2010/main" val="180488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007864" y="764704"/>
            <a:ext cx="7128271" cy="719138"/>
          </a:xfrm>
        </p:spPr>
        <p:txBody>
          <a:bodyPr/>
          <a:lstStyle/>
          <a:p>
            <a:r>
              <a:rPr lang="en-US" dirty="0"/>
              <a:t>Dimming Actuator Basic – Status Diagram </a:t>
            </a:r>
          </a:p>
        </p:txBody>
      </p:sp>
      <p:graphicFrame>
        <p:nvGraphicFramePr>
          <p:cNvPr id="5" name="Object 4">
            <a:extLst>
              <a:ext uri="{FF2B5EF4-FFF2-40B4-BE49-F238E27FC236}">
                <a16:creationId xmlns:a16="http://schemas.microsoft.com/office/drawing/2014/main" id="{B0902746-65CA-4273-9A5C-F91F9765543C}"/>
              </a:ext>
            </a:extLst>
          </p:cNvPr>
          <p:cNvGraphicFramePr>
            <a:graphicFrameLocks noChangeAspect="1"/>
          </p:cNvGraphicFramePr>
          <p:nvPr/>
        </p:nvGraphicFramePr>
        <p:xfrm>
          <a:off x="680934" y="1484784"/>
          <a:ext cx="7782132" cy="4608512"/>
        </p:xfrm>
        <a:graphic>
          <a:graphicData uri="http://schemas.openxmlformats.org/presentationml/2006/ole">
            <mc:AlternateContent xmlns:mc="http://schemas.openxmlformats.org/markup-compatibility/2006">
              <mc:Choice xmlns:v="urn:schemas-microsoft-com:vml" Requires="v">
                <p:oleObj r:id="rId3" imgW="9877437" imgH="5848236" progId="Visio.Drawing.15">
                  <p:embed/>
                </p:oleObj>
              </mc:Choice>
              <mc:Fallback>
                <p:oleObj r:id="rId3" imgW="9877437" imgH="5848236" progId="Visio.Drawing.15">
                  <p:embed/>
                  <p:pic>
                    <p:nvPicPr>
                      <p:cNvPr id="5" name="Object 4">
                        <a:extLst>
                          <a:ext uri="{FF2B5EF4-FFF2-40B4-BE49-F238E27FC236}">
                            <a16:creationId xmlns:a16="http://schemas.microsoft.com/office/drawing/2014/main" id="{B0902746-65CA-4273-9A5C-F91F976554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34" y="1484784"/>
                        <a:ext cx="7782132" cy="4608512"/>
                      </a:xfrm>
                      <a:prstGeom prst="rect">
                        <a:avLst/>
                      </a:prstGeom>
                      <a:noFill/>
                    </p:spPr>
                  </p:pic>
                </p:oleObj>
              </mc:Fallback>
            </mc:AlternateContent>
          </a:graphicData>
        </a:graphic>
      </p:graphicFrame>
    </p:spTree>
    <p:extLst>
      <p:ext uri="{BB962C8B-B14F-4D97-AF65-F5344CB8AC3E}">
        <p14:creationId xmlns:p14="http://schemas.microsoft.com/office/powerpoint/2010/main" val="1288756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007864" y="765646"/>
            <a:ext cx="7128271" cy="719138"/>
          </a:xfrm>
        </p:spPr>
        <p:txBody>
          <a:bodyPr/>
          <a:lstStyle/>
          <a:p>
            <a:r>
              <a:rPr lang="en-US" dirty="0"/>
              <a:t>Sunblind Actuator Basic – Status Diagram </a:t>
            </a:r>
          </a:p>
        </p:txBody>
      </p:sp>
      <p:graphicFrame>
        <p:nvGraphicFramePr>
          <p:cNvPr id="4" name="Object 3">
            <a:extLst>
              <a:ext uri="{FF2B5EF4-FFF2-40B4-BE49-F238E27FC236}">
                <a16:creationId xmlns:a16="http://schemas.microsoft.com/office/drawing/2014/main" id="{4A149AF3-3CD9-40B8-8A18-6809DAAE8411}"/>
              </a:ext>
            </a:extLst>
          </p:cNvPr>
          <p:cNvGraphicFramePr>
            <a:graphicFrameLocks noChangeAspect="1"/>
          </p:cNvGraphicFramePr>
          <p:nvPr/>
        </p:nvGraphicFramePr>
        <p:xfrm>
          <a:off x="1187624" y="1484784"/>
          <a:ext cx="6408712" cy="4680972"/>
        </p:xfrm>
        <a:graphic>
          <a:graphicData uri="http://schemas.openxmlformats.org/presentationml/2006/ole">
            <mc:AlternateContent xmlns:mc="http://schemas.openxmlformats.org/markup-compatibility/2006">
              <mc:Choice xmlns:v="urn:schemas-microsoft-com:vml" Requires="v">
                <p:oleObj r:id="rId3" imgW="9258252" imgH="6753339" progId="Visio.Drawing.15">
                  <p:embed/>
                </p:oleObj>
              </mc:Choice>
              <mc:Fallback>
                <p:oleObj r:id="rId3" imgW="9258252" imgH="6753339" progId="Visio.Drawing.15">
                  <p:embed/>
                  <p:pic>
                    <p:nvPicPr>
                      <p:cNvPr id="4" name="Object 3">
                        <a:extLst>
                          <a:ext uri="{FF2B5EF4-FFF2-40B4-BE49-F238E27FC236}">
                            <a16:creationId xmlns:a16="http://schemas.microsoft.com/office/drawing/2014/main" id="{4A149AF3-3CD9-40B8-8A18-6809DAAE84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484784"/>
                        <a:ext cx="6408712" cy="4680972"/>
                      </a:xfrm>
                      <a:prstGeom prst="rect">
                        <a:avLst/>
                      </a:prstGeom>
                      <a:noFill/>
                    </p:spPr>
                  </p:pic>
                </p:oleObj>
              </mc:Fallback>
            </mc:AlternateContent>
          </a:graphicData>
        </a:graphic>
      </p:graphicFrame>
    </p:spTree>
    <p:extLst>
      <p:ext uri="{BB962C8B-B14F-4D97-AF65-F5344CB8AC3E}">
        <p14:creationId xmlns:p14="http://schemas.microsoft.com/office/powerpoint/2010/main" val="4289051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7242</TotalTime>
  <Words>6335</Words>
  <Application>Microsoft Office PowerPoint</Application>
  <PresentationFormat>On-screen Show (4:3)</PresentationFormat>
  <Paragraphs>825</Paragraphs>
  <Slides>35</Slides>
  <Notes>35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3" baseType="lpstr">
      <vt:lpstr>Arial</vt:lpstr>
      <vt:lpstr>Calibri</vt:lpstr>
      <vt:lpstr>Gotham Light</vt:lpstr>
      <vt:lpstr>Gotham Medium</vt:lpstr>
      <vt:lpstr>Wingdings</vt:lpstr>
      <vt:lpstr>Training 2</vt:lpstr>
      <vt:lpstr>Equation.3</vt:lpstr>
      <vt:lpstr>Microsoft Visio Drawing</vt:lpstr>
      <vt:lpstr>KNX Advanced Course</vt:lpstr>
      <vt:lpstr>Introduction</vt:lpstr>
      <vt:lpstr>Advantages of Interworking</vt:lpstr>
      <vt:lpstr>Principles of KNX Interworking</vt:lpstr>
      <vt:lpstr>Coding of Datapoint types</vt:lpstr>
      <vt:lpstr>Principle Datapoint types classes</vt:lpstr>
      <vt:lpstr>Principle Datapoint types classes</vt:lpstr>
      <vt:lpstr>“Multi-state” Types Example</vt:lpstr>
      <vt:lpstr>KNX common datapoint types</vt:lpstr>
      <vt:lpstr>Boolean Data: DPT B1</vt:lpstr>
      <vt:lpstr>Bit with priority control</vt:lpstr>
      <vt:lpstr>Bit with priority control: DPT B2</vt:lpstr>
      <vt:lpstr>3 Bit with Control: DPT_Control_Dimming</vt:lpstr>
      <vt:lpstr>3 Bit with Control: DPT_Control_Blinds</vt:lpstr>
      <vt:lpstr>Datapoint types Character Set</vt:lpstr>
      <vt:lpstr>8 Bit without Sign</vt:lpstr>
      <vt:lpstr>8 Bit with Sign</vt:lpstr>
      <vt:lpstr>2 Octet without Sign</vt:lpstr>
      <vt:lpstr>2 Octet with Sign</vt:lpstr>
      <vt:lpstr>Octet Floating Point Number</vt:lpstr>
      <vt:lpstr>Time</vt:lpstr>
      <vt:lpstr>Date</vt:lpstr>
      <vt:lpstr>Date and Time</vt:lpstr>
      <vt:lpstr>Date and Time Comments</vt:lpstr>
      <vt:lpstr>4 Octet without Sign</vt:lpstr>
      <vt:lpstr>4 Octet with Sign</vt:lpstr>
      <vt:lpstr>4 Octet Floating Point Number</vt:lpstr>
      <vt:lpstr>Access Control</vt:lpstr>
      <vt:lpstr>Access Control Example</vt:lpstr>
      <vt:lpstr>Character String</vt:lpstr>
      <vt:lpstr>Scene Control</vt:lpstr>
      <vt:lpstr>Common HVAC Datapoint types</vt:lpstr>
      <vt:lpstr>Combination of DPTs into devices</vt:lpstr>
      <vt:lpstr>Dimming Actuator Basic – Status Diagram </vt:lpstr>
      <vt:lpstr>Sunblind Actuator Basic – Status Diagram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346</cp:revision>
  <dcterms:created xsi:type="dcterms:W3CDTF">2012-09-10T07:59:43Z</dcterms:created>
  <dcterms:modified xsi:type="dcterms:W3CDTF">2023-04-06T13:28:26Z</dcterms:modified>
</cp:coreProperties>
</file>