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782" r:id="rId1"/>
  </p:sldMasterIdLst>
  <p:notesMasterIdLst>
    <p:notesMasterId r:id="rId38"/>
  </p:notesMasterIdLst>
  <p:handoutMasterIdLst>
    <p:handoutMasterId r:id="rId39"/>
  </p:handoutMasterIdLst>
  <p:sldIdLst>
    <p:sldId id="256" r:id="rId2"/>
    <p:sldId id="325" r:id="rId3"/>
    <p:sldId id="341" r:id="rId4"/>
    <p:sldId id="342" r:id="rId5"/>
    <p:sldId id="343" r:id="rId6"/>
    <p:sldId id="344" r:id="rId7"/>
    <p:sldId id="353" r:id="rId8"/>
    <p:sldId id="354" r:id="rId9"/>
    <p:sldId id="359" r:id="rId10"/>
    <p:sldId id="355" r:id="rId11"/>
    <p:sldId id="345" r:id="rId12"/>
    <p:sldId id="346" r:id="rId13"/>
    <p:sldId id="360" r:id="rId14"/>
    <p:sldId id="347" r:id="rId15"/>
    <p:sldId id="361" r:id="rId16"/>
    <p:sldId id="349" r:id="rId17"/>
    <p:sldId id="350" r:id="rId18"/>
    <p:sldId id="351" r:id="rId19"/>
    <p:sldId id="358" r:id="rId20"/>
    <p:sldId id="352" r:id="rId21"/>
    <p:sldId id="362" r:id="rId22"/>
    <p:sldId id="363" r:id="rId23"/>
    <p:sldId id="364" r:id="rId24"/>
    <p:sldId id="365" r:id="rId25"/>
    <p:sldId id="357" r:id="rId26"/>
    <p:sldId id="326" r:id="rId27"/>
    <p:sldId id="366" r:id="rId28"/>
    <p:sldId id="327" r:id="rId29"/>
    <p:sldId id="328" r:id="rId30"/>
    <p:sldId id="367" r:id="rId31"/>
    <p:sldId id="368" r:id="rId32"/>
    <p:sldId id="329" r:id="rId33"/>
    <p:sldId id="369" r:id="rId34"/>
    <p:sldId id="370" r:id="rId35"/>
    <p:sldId id="372" r:id="rId36"/>
    <p:sldId id="371" r:id="rId37"/>
  </p:sldIdLst>
  <p:sldSz cx="9144000" cy="6858000" type="screen4x3"/>
  <p:notesSz cx="6858000" cy="9144000"/>
  <p:custDataLst>
    <p:tags r:id="rId40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935">
          <p15:clr>
            <a:srgbClr val="A4A3A4"/>
          </p15:clr>
        </p15:guide>
        <p15:guide id="3" orient="horz" pos="3475">
          <p15:clr>
            <a:srgbClr val="A4A3A4"/>
          </p15:clr>
        </p15:guide>
        <p15:guide id="4" orient="horz" pos="3294">
          <p15:clr>
            <a:srgbClr val="A4A3A4"/>
          </p15:clr>
        </p15:guide>
        <p15:guide id="5" orient="horz" pos="3974">
          <p15:clr>
            <a:srgbClr val="A4A3A4"/>
          </p15:clr>
        </p15:guide>
        <p15:guide id="6" orient="horz" pos="1253">
          <p15:clr>
            <a:srgbClr val="A4A3A4"/>
          </p15:clr>
        </p15:guide>
        <p15:guide id="7" orient="horz" pos="2614">
          <p15:clr>
            <a:srgbClr val="A4A3A4"/>
          </p15:clr>
        </p15:guide>
        <p15:guide id="8" orient="horz" pos="2840">
          <p15:clr>
            <a:srgbClr val="A4A3A4"/>
          </p15:clr>
        </p15:guide>
        <p15:guide id="9" pos="2290">
          <p15:clr>
            <a:srgbClr val="A4A3A4"/>
          </p15:clr>
        </p15:guide>
        <p15:guide id="10" pos="3334">
          <p15:clr>
            <a:srgbClr val="A4A3A4"/>
          </p15:clr>
        </p15:guide>
        <p15:guide id="11" pos="387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9226"/>
    <a:srgbClr val="0C4BAF"/>
    <a:srgbClr val="D6E3BC"/>
    <a:srgbClr val="B4CAFA"/>
    <a:srgbClr val="AFEAFF"/>
    <a:srgbClr val="E6F2AC"/>
    <a:srgbClr val="FF9F9F"/>
    <a:srgbClr val="0C4B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DF57DB-BE44-48D9-A5E9-05DDE94F5005}" v="2" dt="2023-03-14T10:09:30.8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55" autoAdjust="0"/>
    <p:restoredTop sz="72829" autoAdjust="0"/>
  </p:normalViewPr>
  <p:slideViewPr>
    <p:cSldViewPr>
      <p:cViewPr varScale="1">
        <p:scale>
          <a:sx n="66" d="100"/>
          <a:sy n="66" d="100"/>
        </p:scale>
        <p:origin x="1858" y="45"/>
      </p:cViewPr>
      <p:guideLst>
        <p:guide orient="horz" pos="663"/>
        <p:guide orient="horz" pos="935"/>
        <p:guide orient="horz" pos="3475"/>
        <p:guide orient="horz" pos="3294"/>
        <p:guide orient="horz" pos="3974"/>
        <p:guide orient="horz" pos="1253"/>
        <p:guide orient="horz" pos="2614"/>
        <p:guide orient="horz" pos="2840"/>
        <p:guide pos="2290"/>
        <p:guide pos="3334"/>
        <p:guide pos="3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>
      <p:cViewPr varScale="1">
        <p:scale>
          <a:sx n="71" d="100"/>
          <a:sy n="71" d="100"/>
        </p:scale>
        <p:origin x="-279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ags" Target="tags/tag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fuk Unal" userId="d77f72b3-53d7-4cb7-8425-5a8f29447216" providerId="ADAL" clId="{B0DF57DB-BE44-48D9-A5E9-05DDE94F5005}"/>
    <pc:docChg chg="custSel modSld modMainMaster">
      <pc:chgData name="Ufuk Unal" userId="d77f72b3-53d7-4cb7-8425-5a8f29447216" providerId="ADAL" clId="{B0DF57DB-BE44-48D9-A5E9-05DDE94F5005}" dt="2023-03-14T10:09:21.256" v="54" actId="6549"/>
      <pc:docMkLst>
        <pc:docMk/>
      </pc:docMkLst>
      <pc:sldChg chg="delSp modSp mod">
        <pc:chgData name="Ufuk Unal" userId="d77f72b3-53d7-4cb7-8425-5a8f29447216" providerId="ADAL" clId="{B0DF57DB-BE44-48D9-A5E9-05DDE94F5005}" dt="2023-03-14T09:40:49.424" v="2" actId="20577"/>
        <pc:sldMkLst>
          <pc:docMk/>
          <pc:sldMk cId="2459807384" sldId="256"/>
        </pc:sldMkLst>
        <pc:spChg chg="del">
          <ac:chgData name="Ufuk Unal" userId="d77f72b3-53d7-4cb7-8425-5a8f29447216" providerId="ADAL" clId="{B0DF57DB-BE44-48D9-A5E9-05DDE94F5005}" dt="2023-03-14T09:40:47.278" v="0" actId="478"/>
          <ac:spMkLst>
            <pc:docMk/>
            <pc:sldMk cId="2459807384" sldId="256"/>
            <ac:spMk id="5" creationId="{1D73F070-14E5-431D-9BB5-D0DFC46463AA}"/>
          </ac:spMkLst>
        </pc:spChg>
        <pc:spChg chg="mod">
          <ac:chgData name="Ufuk Unal" userId="d77f72b3-53d7-4cb7-8425-5a8f29447216" providerId="ADAL" clId="{B0DF57DB-BE44-48D9-A5E9-05DDE94F5005}" dt="2023-03-14T09:40:49.424" v="2" actId="20577"/>
          <ac:spMkLst>
            <pc:docMk/>
            <pc:sldMk cId="2459807384" sldId="256"/>
            <ac:spMk id="6" creationId="{36891D17-0544-4779-B232-7495C4C552DF}"/>
          </ac:spMkLst>
        </pc:spChg>
      </pc:sldChg>
      <pc:sldChg chg="modNotesTx">
        <pc:chgData name="Ufuk Unal" userId="d77f72b3-53d7-4cb7-8425-5a8f29447216" providerId="ADAL" clId="{B0DF57DB-BE44-48D9-A5E9-05DDE94F5005}" dt="2023-03-14T09:41:48.685" v="4" actId="6549"/>
        <pc:sldMkLst>
          <pc:docMk/>
          <pc:sldMk cId="3311703480" sldId="325"/>
        </pc:sldMkLst>
      </pc:sldChg>
      <pc:sldChg chg="modNotesTx">
        <pc:chgData name="Ufuk Unal" userId="d77f72b3-53d7-4cb7-8425-5a8f29447216" providerId="ADAL" clId="{B0DF57DB-BE44-48D9-A5E9-05DDE94F5005}" dt="2023-03-14T10:07:00.303" v="45" actId="6549"/>
        <pc:sldMkLst>
          <pc:docMk/>
          <pc:sldMk cId="3673250314" sldId="326"/>
        </pc:sldMkLst>
      </pc:sldChg>
      <pc:sldChg chg="modNotesTx">
        <pc:chgData name="Ufuk Unal" userId="d77f72b3-53d7-4cb7-8425-5a8f29447216" providerId="ADAL" clId="{B0DF57DB-BE44-48D9-A5E9-05DDE94F5005}" dt="2023-03-14T10:08:53.084" v="50" actId="6549"/>
        <pc:sldMkLst>
          <pc:docMk/>
          <pc:sldMk cId="2503827922" sldId="327"/>
        </pc:sldMkLst>
      </pc:sldChg>
      <pc:sldChg chg="modNotesTx">
        <pc:chgData name="Ufuk Unal" userId="d77f72b3-53d7-4cb7-8425-5a8f29447216" providerId="ADAL" clId="{B0DF57DB-BE44-48D9-A5E9-05DDE94F5005}" dt="2023-03-14T10:08:58.409" v="51" actId="6549"/>
        <pc:sldMkLst>
          <pc:docMk/>
          <pc:sldMk cId="4063430119" sldId="328"/>
        </pc:sldMkLst>
      </pc:sldChg>
      <pc:sldChg chg="modNotesTx">
        <pc:chgData name="Ufuk Unal" userId="d77f72b3-53d7-4cb7-8425-5a8f29447216" providerId="ADAL" clId="{B0DF57DB-BE44-48D9-A5E9-05DDE94F5005}" dt="2023-03-14T10:09:07.868" v="53" actId="6549"/>
        <pc:sldMkLst>
          <pc:docMk/>
          <pc:sldMk cId="1976804067" sldId="329"/>
        </pc:sldMkLst>
      </pc:sldChg>
      <pc:sldChg chg="modSp mod modNotesTx">
        <pc:chgData name="Ufuk Unal" userId="d77f72b3-53d7-4cb7-8425-5a8f29447216" providerId="ADAL" clId="{B0DF57DB-BE44-48D9-A5E9-05DDE94F5005}" dt="2023-03-14T09:42:40.900" v="18" actId="20577"/>
        <pc:sldMkLst>
          <pc:docMk/>
          <pc:sldMk cId="1374603204" sldId="341"/>
        </pc:sldMkLst>
        <pc:spChg chg="mod">
          <ac:chgData name="Ufuk Unal" userId="d77f72b3-53d7-4cb7-8425-5a8f29447216" providerId="ADAL" clId="{B0DF57DB-BE44-48D9-A5E9-05DDE94F5005}" dt="2023-03-14T09:42:40.900" v="18" actId="20577"/>
          <ac:spMkLst>
            <pc:docMk/>
            <pc:sldMk cId="1374603204" sldId="341"/>
            <ac:spMk id="8" creationId="{9F2C7172-BF0D-4756-AB0D-E9B70C83CC4C}"/>
          </ac:spMkLst>
        </pc:spChg>
      </pc:sldChg>
      <pc:sldChg chg="modNotesTx">
        <pc:chgData name="Ufuk Unal" userId="d77f72b3-53d7-4cb7-8425-5a8f29447216" providerId="ADAL" clId="{B0DF57DB-BE44-48D9-A5E9-05DDE94F5005}" dt="2023-03-14T09:43:14.588" v="19" actId="6549"/>
        <pc:sldMkLst>
          <pc:docMk/>
          <pc:sldMk cId="1994260570" sldId="342"/>
        </pc:sldMkLst>
      </pc:sldChg>
      <pc:sldChg chg="modNotesTx">
        <pc:chgData name="Ufuk Unal" userId="d77f72b3-53d7-4cb7-8425-5a8f29447216" providerId="ADAL" clId="{B0DF57DB-BE44-48D9-A5E9-05DDE94F5005}" dt="2023-03-14T09:43:33.699" v="20" actId="6549"/>
        <pc:sldMkLst>
          <pc:docMk/>
          <pc:sldMk cId="2416504450" sldId="343"/>
        </pc:sldMkLst>
      </pc:sldChg>
      <pc:sldChg chg="modSp mod modNotesTx">
        <pc:chgData name="Ufuk Unal" userId="d77f72b3-53d7-4cb7-8425-5a8f29447216" providerId="ADAL" clId="{B0DF57DB-BE44-48D9-A5E9-05DDE94F5005}" dt="2023-03-14T09:44:48.693" v="25" actId="20577"/>
        <pc:sldMkLst>
          <pc:docMk/>
          <pc:sldMk cId="2684641891" sldId="344"/>
        </pc:sldMkLst>
        <pc:spChg chg="mod">
          <ac:chgData name="Ufuk Unal" userId="d77f72b3-53d7-4cb7-8425-5a8f29447216" providerId="ADAL" clId="{B0DF57DB-BE44-48D9-A5E9-05DDE94F5005}" dt="2023-03-14T09:44:48.693" v="25" actId="20577"/>
          <ac:spMkLst>
            <pc:docMk/>
            <pc:sldMk cId="2684641891" sldId="344"/>
            <ac:spMk id="9" creationId="{0A5586CE-EB4A-496E-9B62-001E25693E4A}"/>
          </ac:spMkLst>
        </pc:spChg>
      </pc:sldChg>
      <pc:sldChg chg="modNotesTx">
        <pc:chgData name="Ufuk Unal" userId="d77f72b3-53d7-4cb7-8425-5a8f29447216" providerId="ADAL" clId="{B0DF57DB-BE44-48D9-A5E9-05DDE94F5005}" dt="2023-03-14T09:46:02.188" v="30" actId="6549"/>
        <pc:sldMkLst>
          <pc:docMk/>
          <pc:sldMk cId="1396881717" sldId="345"/>
        </pc:sldMkLst>
      </pc:sldChg>
      <pc:sldChg chg="modNotesTx">
        <pc:chgData name="Ufuk Unal" userId="d77f72b3-53d7-4cb7-8425-5a8f29447216" providerId="ADAL" clId="{B0DF57DB-BE44-48D9-A5E9-05DDE94F5005}" dt="2023-03-14T09:46:08.139" v="31" actId="6549"/>
        <pc:sldMkLst>
          <pc:docMk/>
          <pc:sldMk cId="4104435945" sldId="346"/>
        </pc:sldMkLst>
      </pc:sldChg>
      <pc:sldChg chg="modNotesTx">
        <pc:chgData name="Ufuk Unal" userId="d77f72b3-53d7-4cb7-8425-5a8f29447216" providerId="ADAL" clId="{B0DF57DB-BE44-48D9-A5E9-05DDE94F5005}" dt="2023-03-14T09:46:29.030" v="33" actId="6549"/>
        <pc:sldMkLst>
          <pc:docMk/>
          <pc:sldMk cId="2470924352" sldId="347"/>
        </pc:sldMkLst>
      </pc:sldChg>
      <pc:sldChg chg="modNotesTx">
        <pc:chgData name="Ufuk Unal" userId="d77f72b3-53d7-4cb7-8425-5a8f29447216" providerId="ADAL" clId="{B0DF57DB-BE44-48D9-A5E9-05DDE94F5005}" dt="2023-03-14T09:46:37.348" v="35" actId="6549"/>
        <pc:sldMkLst>
          <pc:docMk/>
          <pc:sldMk cId="838802227" sldId="349"/>
        </pc:sldMkLst>
      </pc:sldChg>
      <pc:sldChg chg="modNotesTx">
        <pc:chgData name="Ufuk Unal" userId="d77f72b3-53d7-4cb7-8425-5a8f29447216" providerId="ADAL" clId="{B0DF57DB-BE44-48D9-A5E9-05DDE94F5005}" dt="2023-03-14T09:46:40.629" v="36" actId="6549"/>
        <pc:sldMkLst>
          <pc:docMk/>
          <pc:sldMk cId="1108545243" sldId="350"/>
        </pc:sldMkLst>
      </pc:sldChg>
      <pc:sldChg chg="modNotesTx">
        <pc:chgData name="Ufuk Unal" userId="d77f72b3-53d7-4cb7-8425-5a8f29447216" providerId="ADAL" clId="{B0DF57DB-BE44-48D9-A5E9-05DDE94F5005}" dt="2023-03-14T09:46:43.386" v="37" actId="6549"/>
        <pc:sldMkLst>
          <pc:docMk/>
          <pc:sldMk cId="1001165308" sldId="351"/>
        </pc:sldMkLst>
      </pc:sldChg>
      <pc:sldChg chg="modNotesTx">
        <pc:chgData name="Ufuk Unal" userId="d77f72b3-53d7-4cb7-8425-5a8f29447216" providerId="ADAL" clId="{B0DF57DB-BE44-48D9-A5E9-05DDE94F5005}" dt="2023-03-14T09:46:50.877" v="39" actId="6549"/>
        <pc:sldMkLst>
          <pc:docMk/>
          <pc:sldMk cId="3243177277" sldId="352"/>
        </pc:sldMkLst>
      </pc:sldChg>
      <pc:sldChg chg="modNotesTx">
        <pc:chgData name="Ufuk Unal" userId="d77f72b3-53d7-4cb7-8425-5a8f29447216" providerId="ADAL" clId="{B0DF57DB-BE44-48D9-A5E9-05DDE94F5005}" dt="2023-03-14T09:45:29.636" v="26" actId="6549"/>
        <pc:sldMkLst>
          <pc:docMk/>
          <pc:sldMk cId="2021682167" sldId="353"/>
        </pc:sldMkLst>
      </pc:sldChg>
      <pc:sldChg chg="modNotesTx">
        <pc:chgData name="Ufuk Unal" userId="d77f72b3-53d7-4cb7-8425-5a8f29447216" providerId="ADAL" clId="{B0DF57DB-BE44-48D9-A5E9-05DDE94F5005}" dt="2023-03-14T09:45:36.796" v="27" actId="6549"/>
        <pc:sldMkLst>
          <pc:docMk/>
          <pc:sldMk cId="423197906" sldId="354"/>
        </pc:sldMkLst>
      </pc:sldChg>
      <pc:sldChg chg="modNotesTx">
        <pc:chgData name="Ufuk Unal" userId="d77f72b3-53d7-4cb7-8425-5a8f29447216" providerId="ADAL" clId="{B0DF57DB-BE44-48D9-A5E9-05DDE94F5005}" dt="2023-03-14T09:45:58.106" v="29" actId="6549"/>
        <pc:sldMkLst>
          <pc:docMk/>
          <pc:sldMk cId="4233599654" sldId="355"/>
        </pc:sldMkLst>
      </pc:sldChg>
      <pc:sldChg chg="modSp mod modNotesTx">
        <pc:chgData name="Ufuk Unal" userId="d77f72b3-53d7-4cb7-8425-5a8f29447216" providerId="ADAL" clId="{B0DF57DB-BE44-48D9-A5E9-05DDE94F5005}" dt="2023-03-14T10:07:55.220" v="48" actId="6549"/>
        <pc:sldMkLst>
          <pc:docMk/>
          <pc:sldMk cId="3798046907" sldId="357"/>
        </pc:sldMkLst>
        <pc:spChg chg="mod">
          <ac:chgData name="Ufuk Unal" userId="d77f72b3-53d7-4cb7-8425-5a8f29447216" providerId="ADAL" clId="{B0DF57DB-BE44-48D9-A5E9-05DDE94F5005}" dt="2023-03-14T10:07:55.220" v="48" actId="6549"/>
          <ac:spMkLst>
            <pc:docMk/>
            <pc:sldMk cId="3798046907" sldId="357"/>
            <ac:spMk id="9" creationId="{0A5586CE-EB4A-496E-9B62-001E25693E4A}"/>
          </ac:spMkLst>
        </pc:spChg>
      </pc:sldChg>
      <pc:sldChg chg="modNotesTx">
        <pc:chgData name="Ufuk Unal" userId="d77f72b3-53d7-4cb7-8425-5a8f29447216" providerId="ADAL" clId="{B0DF57DB-BE44-48D9-A5E9-05DDE94F5005}" dt="2023-03-14T09:46:47.782" v="38" actId="6549"/>
        <pc:sldMkLst>
          <pc:docMk/>
          <pc:sldMk cId="2763019059" sldId="358"/>
        </pc:sldMkLst>
      </pc:sldChg>
      <pc:sldChg chg="modNotesTx">
        <pc:chgData name="Ufuk Unal" userId="d77f72b3-53d7-4cb7-8425-5a8f29447216" providerId="ADAL" clId="{B0DF57DB-BE44-48D9-A5E9-05DDE94F5005}" dt="2023-03-14T09:45:53.949" v="28" actId="6549"/>
        <pc:sldMkLst>
          <pc:docMk/>
          <pc:sldMk cId="1502931874" sldId="359"/>
        </pc:sldMkLst>
      </pc:sldChg>
      <pc:sldChg chg="modNotesTx">
        <pc:chgData name="Ufuk Unal" userId="d77f72b3-53d7-4cb7-8425-5a8f29447216" providerId="ADAL" clId="{B0DF57DB-BE44-48D9-A5E9-05DDE94F5005}" dt="2023-03-14T09:46:18.797" v="32" actId="6549"/>
        <pc:sldMkLst>
          <pc:docMk/>
          <pc:sldMk cId="2784854281" sldId="360"/>
        </pc:sldMkLst>
      </pc:sldChg>
      <pc:sldChg chg="modNotesTx">
        <pc:chgData name="Ufuk Unal" userId="d77f72b3-53d7-4cb7-8425-5a8f29447216" providerId="ADAL" clId="{B0DF57DB-BE44-48D9-A5E9-05DDE94F5005}" dt="2023-03-14T09:46:32.749" v="34" actId="6549"/>
        <pc:sldMkLst>
          <pc:docMk/>
          <pc:sldMk cId="81848509" sldId="361"/>
        </pc:sldMkLst>
      </pc:sldChg>
      <pc:sldChg chg="modNotesTx">
        <pc:chgData name="Ufuk Unal" userId="d77f72b3-53d7-4cb7-8425-5a8f29447216" providerId="ADAL" clId="{B0DF57DB-BE44-48D9-A5E9-05DDE94F5005}" dt="2023-03-14T09:46:54.846" v="40" actId="6549"/>
        <pc:sldMkLst>
          <pc:docMk/>
          <pc:sldMk cId="2726252616" sldId="362"/>
        </pc:sldMkLst>
      </pc:sldChg>
      <pc:sldChg chg="modNotesTx">
        <pc:chgData name="Ufuk Unal" userId="d77f72b3-53d7-4cb7-8425-5a8f29447216" providerId="ADAL" clId="{B0DF57DB-BE44-48D9-A5E9-05DDE94F5005}" dt="2023-03-14T09:46:57.442" v="41" actId="6549"/>
        <pc:sldMkLst>
          <pc:docMk/>
          <pc:sldMk cId="114654693" sldId="363"/>
        </pc:sldMkLst>
      </pc:sldChg>
      <pc:sldChg chg="modNotesTx">
        <pc:chgData name="Ufuk Unal" userId="d77f72b3-53d7-4cb7-8425-5a8f29447216" providerId="ADAL" clId="{B0DF57DB-BE44-48D9-A5E9-05DDE94F5005}" dt="2023-03-14T09:47:03.519" v="42" actId="6549"/>
        <pc:sldMkLst>
          <pc:docMk/>
          <pc:sldMk cId="68671429" sldId="364"/>
        </pc:sldMkLst>
      </pc:sldChg>
      <pc:sldChg chg="modNotesTx">
        <pc:chgData name="Ufuk Unal" userId="d77f72b3-53d7-4cb7-8425-5a8f29447216" providerId="ADAL" clId="{B0DF57DB-BE44-48D9-A5E9-05DDE94F5005}" dt="2023-03-14T10:06:47.184" v="43" actId="6549"/>
        <pc:sldMkLst>
          <pc:docMk/>
          <pc:sldMk cId="3814972833" sldId="365"/>
        </pc:sldMkLst>
      </pc:sldChg>
      <pc:sldChg chg="modNotesTx">
        <pc:chgData name="Ufuk Unal" userId="d77f72b3-53d7-4cb7-8425-5a8f29447216" providerId="ADAL" clId="{B0DF57DB-BE44-48D9-A5E9-05DDE94F5005}" dt="2023-03-14T10:08:48.939" v="49" actId="6549"/>
        <pc:sldMkLst>
          <pc:docMk/>
          <pc:sldMk cId="1766050880" sldId="366"/>
        </pc:sldMkLst>
      </pc:sldChg>
      <pc:sldChg chg="modNotesTx">
        <pc:chgData name="Ufuk Unal" userId="d77f72b3-53d7-4cb7-8425-5a8f29447216" providerId="ADAL" clId="{B0DF57DB-BE44-48D9-A5E9-05DDE94F5005}" dt="2023-03-14T10:09:21.256" v="54" actId="6549"/>
        <pc:sldMkLst>
          <pc:docMk/>
          <pc:sldMk cId="2830932289" sldId="367"/>
        </pc:sldMkLst>
      </pc:sldChg>
      <pc:sldChg chg="modNotesTx">
        <pc:chgData name="Ufuk Unal" userId="d77f72b3-53d7-4cb7-8425-5a8f29447216" providerId="ADAL" clId="{B0DF57DB-BE44-48D9-A5E9-05DDE94F5005}" dt="2023-03-14T10:09:03.930" v="52" actId="6549"/>
        <pc:sldMkLst>
          <pc:docMk/>
          <pc:sldMk cId="3461289532" sldId="368"/>
        </pc:sldMkLst>
      </pc:sldChg>
      <pc:sldMasterChg chg="modSldLayout">
        <pc:chgData name="Ufuk Unal" userId="d77f72b3-53d7-4cb7-8425-5a8f29447216" providerId="ADAL" clId="{B0DF57DB-BE44-48D9-A5E9-05DDE94F5005}" dt="2023-03-14T09:41:05.076" v="3" actId="478"/>
        <pc:sldMasterMkLst>
          <pc:docMk/>
          <pc:sldMasterMk cId="100049181" sldId="2147483782"/>
        </pc:sldMasterMkLst>
        <pc:sldLayoutChg chg="delSp">
          <pc:chgData name="Ufuk Unal" userId="d77f72b3-53d7-4cb7-8425-5a8f29447216" providerId="ADAL" clId="{B0DF57DB-BE44-48D9-A5E9-05DDE94F5005}" dt="2023-03-14T09:41:05.076" v="3" actId="478"/>
          <pc:sldLayoutMkLst>
            <pc:docMk/>
            <pc:sldMasterMk cId="100049181" sldId="2147483782"/>
            <pc:sldLayoutMk cId="2489093777" sldId="2147483783"/>
          </pc:sldLayoutMkLst>
          <pc:spChg chg="del">
            <ac:chgData name="Ufuk Unal" userId="d77f72b3-53d7-4cb7-8425-5a8f29447216" providerId="ADAL" clId="{B0DF57DB-BE44-48D9-A5E9-05DDE94F5005}" dt="2023-03-14T09:41:05.076" v="3" actId="478"/>
            <ac:spMkLst>
              <pc:docMk/>
              <pc:sldMasterMk cId="100049181" sldId="2147483782"/>
              <pc:sldLayoutMk cId="2489093777" sldId="2147483783"/>
              <ac:spMk id="5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36FCBC5-022F-4F31-A153-EFFC809EC573}" type="datetimeFigureOut">
              <a:rPr lang="de-DE"/>
              <a:pPr>
                <a:defRPr/>
              </a:pPr>
              <a:t>14.03.2023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222AC1C-78EB-4159-9788-A81CB6D78FF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7723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974181A-B52E-4AEA-801A-5F0AC153D3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7195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482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641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9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13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58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0639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227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212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2115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1585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8813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7005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0729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9646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241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3783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061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932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2914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347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2537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154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445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284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0474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6454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517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026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3388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178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331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358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283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LEV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663" y="4630738"/>
            <a:ext cx="3443287" cy="173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7675" y="2122715"/>
            <a:ext cx="6890657" cy="996042"/>
          </a:xfrm>
        </p:spPr>
        <p:txBody>
          <a:bodyPr/>
          <a:lstStyle>
            <a:lvl1pPr algn="l">
              <a:defRPr sz="2800" baseline="0">
                <a:latin typeface="Gotham Medium"/>
              </a:defRPr>
            </a:lvl1pPr>
          </a:lstStyle>
          <a:p>
            <a:r>
              <a:rPr lang="en-US" dirty="0"/>
              <a:t>&lt;&lt;Main Title&gt;&gt;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47675" y="3393054"/>
            <a:ext cx="4343400" cy="481693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  <a:latin typeface="Gotham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</p:spTree>
    <p:extLst>
      <p:ext uri="{BB962C8B-B14F-4D97-AF65-F5344CB8AC3E}">
        <p14:creationId xmlns:p14="http://schemas.microsoft.com/office/powerpoint/2010/main" val="2489093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LEV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 of slide&gt;&gt;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1911010"/>
            <a:ext cx="8229600" cy="4089740"/>
          </a:xfrm>
        </p:spPr>
        <p:txBody>
          <a:bodyPr/>
          <a:lstStyle>
            <a:lvl1pPr>
              <a:defRPr sz="2000">
                <a:latin typeface="Gotham Light"/>
              </a:defRPr>
            </a:lvl1pPr>
            <a:lvl2pPr>
              <a:defRPr sz="1800">
                <a:latin typeface="Gotham Light"/>
              </a:defRPr>
            </a:lvl2pPr>
            <a:lvl3pPr>
              <a:defRPr sz="1500">
                <a:latin typeface="Gotham Light"/>
              </a:defRPr>
            </a:lvl3pPr>
            <a:lvl4pPr>
              <a:defRPr sz="1500">
                <a:latin typeface="Gotham Light"/>
              </a:defRPr>
            </a:lvl4pPr>
            <a:lvl5pPr>
              <a:defRPr sz="1500">
                <a:latin typeface="Gotham 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635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LEV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7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1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690563" y="3148013"/>
            <a:ext cx="6889750" cy="66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 algn="l" defTabSz="457200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500" kern="1200">
                <a:solidFill>
                  <a:schemeClr val="tx1"/>
                </a:solidFill>
                <a:latin typeface="Gotham Medium"/>
                <a:ea typeface="MS PGothic" panose="020B0600070205080204" pitchFamily="34" charset="-128"/>
                <a:cs typeface="MS PGothic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s-ES_tradnl" dirty="0" err="1"/>
              <a:t>Title</a:t>
            </a:r>
            <a:r>
              <a:rPr lang="es-ES_tradnl" dirty="0"/>
              <a:t> 2 </a:t>
            </a:r>
            <a:r>
              <a:rPr lang="en-US" dirty="0"/>
              <a:t>&lt;&lt;e.g. agenda point&gt;&gt;</a:t>
            </a:r>
          </a:p>
        </p:txBody>
      </p:sp>
      <p:sp>
        <p:nvSpPr>
          <p:cNvPr id="10" name="Subtitle 2"/>
          <p:cNvSpPr txBox="1">
            <a:spLocks/>
          </p:cNvSpPr>
          <p:nvPr/>
        </p:nvSpPr>
        <p:spPr bwMode="auto">
          <a:xfrm>
            <a:off x="936625" y="3867150"/>
            <a:ext cx="43434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Gotham Light"/>
                <a:ea typeface="MS PGothic" panose="020B0600070205080204" pitchFamily="34" charset="-128"/>
                <a:cs typeface="MS PGothic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690108" y="1449155"/>
            <a:ext cx="6890657" cy="719476"/>
          </a:xfrm>
        </p:spPr>
        <p:txBody>
          <a:bodyPr/>
          <a:lstStyle>
            <a:lvl1pPr marL="342900" indent="-342900" algn="l">
              <a:buFont typeface="Wingdings" panose="05000000000000000000" pitchFamily="2" charset="2"/>
              <a:buChar char="§"/>
              <a:defRPr sz="2500">
                <a:latin typeface="Gotham Medium"/>
              </a:defRPr>
            </a:lvl1pPr>
          </a:lstStyle>
          <a:p>
            <a:r>
              <a:rPr lang="en-US" dirty="0"/>
              <a:t>Title 1 &lt;&lt;e.g. agenda point&gt;&gt;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36625" y="2168631"/>
            <a:ext cx="4343400" cy="481693"/>
          </a:xfrm>
        </p:spPr>
        <p:txBody>
          <a:bodyPr/>
          <a:lstStyle>
            <a:lvl1pPr marL="0" indent="0" algn="l">
              <a:buNone/>
              <a:defRPr sz="1500" baseline="0">
                <a:solidFill>
                  <a:schemeClr val="tx1"/>
                </a:solidFill>
                <a:latin typeface="Gotham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</p:spTree>
    <p:extLst>
      <p:ext uri="{BB962C8B-B14F-4D97-AF65-F5344CB8AC3E}">
        <p14:creationId xmlns:p14="http://schemas.microsoft.com/office/powerpoint/2010/main" val="1134689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 of slide&gt;&gt;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784452" y="2376262"/>
            <a:ext cx="3668485" cy="64475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28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&lt;&lt;Headline&gt;&gt;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1159693" y="3298825"/>
            <a:ext cx="3293244" cy="1330325"/>
          </a:xfrm>
        </p:spPr>
        <p:txBody>
          <a:bodyPr/>
          <a:lstStyle>
            <a:lvl1pPr marL="0" indent="0">
              <a:buNone/>
              <a:defRPr lang="en-US" sz="15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4452938" y="1927225"/>
            <a:ext cx="4691062" cy="3135313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42906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25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26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482600" y="1915316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2563950" y="1761443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6389688" y="1501099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496212" y="3586277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2577562" y="3432404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19" name="Picture Placeholder 20"/>
          <p:cNvSpPr>
            <a:spLocks noGrp="1"/>
          </p:cNvSpPr>
          <p:nvPr>
            <p:ph type="pic" sz="quarter" idx="16"/>
          </p:nvPr>
        </p:nvSpPr>
        <p:spPr>
          <a:xfrm>
            <a:off x="6403300" y="3172060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501653" y="5281727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2583003" y="5127854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3" name="Picture Placeholder 20"/>
          <p:cNvSpPr>
            <a:spLocks noGrp="1"/>
          </p:cNvSpPr>
          <p:nvPr>
            <p:ph type="pic" sz="quarter" idx="19"/>
          </p:nvPr>
        </p:nvSpPr>
        <p:spPr>
          <a:xfrm>
            <a:off x="6408741" y="4867510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7713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LARGE PICTUR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8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339726" y="1477053"/>
            <a:ext cx="8804274" cy="4835752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808628" y="2020548"/>
            <a:ext cx="3293244" cy="1330325"/>
          </a:xfrm>
        </p:spPr>
        <p:txBody>
          <a:bodyPr/>
          <a:lstStyle>
            <a:lvl1pPr marL="0" indent="0">
              <a:buNone/>
              <a:defRPr lang="en-US" sz="1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</p:spTree>
    <p:extLst>
      <p:ext uri="{BB962C8B-B14F-4D97-AF65-F5344CB8AC3E}">
        <p14:creationId xmlns:p14="http://schemas.microsoft.com/office/powerpoint/2010/main" val="104650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8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984375" y="1466392"/>
            <a:ext cx="5511800" cy="444500"/>
          </a:xfrm>
        </p:spPr>
        <p:txBody>
          <a:bodyPr/>
          <a:lstStyle>
            <a:lvl1pPr marL="0" indent="0" algn="ctr">
              <a:buNone/>
              <a:defRPr sz="2000" baseline="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016250" y="4998247"/>
            <a:ext cx="3787865" cy="658482"/>
          </a:xfrm>
        </p:spPr>
        <p:txBody>
          <a:bodyPr/>
          <a:lstStyle>
            <a:lvl1pPr marL="0" indent="0" algn="ctr">
              <a:buNone/>
              <a:defRPr lang="en-US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media&gt;&gt;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3" name="Media Placeholder 2"/>
          <p:cNvSpPr>
            <a:spLocks noGrp="1"/>
          </p:cNvSpPr>
          <p:nvPr>
            <p:ph type="media" sz="quarter" idx="14"/>
          </p:nvPr>
        </p:nvSpPr>
        <p:spPr>
          <a:xfrm>
            <a:off x="1984375" y="2020888"/>
            <a:ext cx="5511800" cy="28638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icon to add media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5434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5222875"/>
            <a:ext cx="1465262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263525" y="5962650"/>
            <a:ext cx="4224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404040"/>
                </a:solidFill>
                <a:latin typeface="Gotham Light" charset="0"/>
              </a:rPr>
              <a:t>Smart home and building solutions.</a:t>
            </a:r>
          </a:p>
          <a:p>
            <a:pPr eaLnBrk="1" hangingPunct="1"/>
            <a:r>
              <a:rPr lang="en-US" altLang="en-US" sz="1400">
                <a:solidFill>
                  <a:srgbClr val="404040"/>
                </a:solidFill>
                <a:latin typeface="Gotham Light" charset="0"/>
              </a:rPr>
              <a:t>Global. Secure. Connected.</a:t>
            </a:r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886325"/>
            <a:ext cx="2935287" cy="147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8"/>
          <p:cNvSpPr txBox="1"/>
          <p:nvPr/>
        </p:nvSpPr>
        <p:spPr>
          <a:xfrm>
            <a:off x="3205163" y="1665288"/>
            <a:ext cx="2565400" cy="769937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ea typeface="+mn-ea"/>
                <a:cs typeface="Gotham Medium"/>
              </a:rPr>
              <a:t>Thanks.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2712131" y="2686050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[Full name of presenter]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2702606" y="2960345"/>
            <a:ext cx="3552825" cy="252639"/>
          </a:xfrm>
        </p:spPr>
        <p:txBody>
          <a:bodyPr/>
          <a:lstStyle>
            <a:lvl1pPr marL="0" indent="0" algn="ctr">
              <a:buNone/>
              <a:defRPr sz="1000" baseline="0">
                <a:latin typeface="Gotham Light"/>
              </a:defRPr>
            </a:lvl1pPr>
          </a:lstStyle>
          <a:p>
            <a:pPr lvl="0"/>
            <a:r>
              <a:rPr lang="en-US" dirty="0"/>
              <a:t>[Position of presenter]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2717579" y="3311978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[Phone number]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714860" y="3595006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[Email]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5" name="TextBox 12"/>
          <p:cNvSpPr txBox="1">
            <a:spLocks noChangeArrowheads="1"/>
          </p:cNvSpPr>
          <p:nvPr/>
        </p:nvSpPr>
        <p:spPr bwMode="auto">
          <a:xfrm>
            <a:off x="2717579" y="3998787"/>
            <a:ext cx="35514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Light" charset="0"/>
              </a:rPr>
              <a:t>For general questions: </a:t>
            </a:r>
          </a:p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Light" charset="0"/>
              </a:rPr>
              <a:t>info@knx.org – www.knx.org</a:t>
            </a:r>
          </a:p>
        </p:txBody>
      </p:sp>
    </p:spTree>
    <p:extLst>
      <p:ext uri="{BB962C8B-B14F-4D97-AF65-F5344CB8AC3E}">
        <p14:creationId xmlns:p14="http://schemas.microsoft.com/office/powerpoint/2010/main" val="137734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556791"/>
            <a:ext cx="8856984" cy="4751933"/>
          </a:xfrm>
          <a:prstGeom prst="rect">
            <a:avLst/>
          </a:prstGeom>
        </p:spPr>
        <p:txBody>
          <a:bodyPr/>
          <a:lstStyle>
            <a:lvl2pPr>
              <a:defRPr sz="1800"/>
            </a:lvl2pPr>
            <a:lvl3pPr>
              <a:defRPr sz="15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670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59274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8081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1"/>
            <a:ext cx="8568952" cy="4751933"/>
          </a:xfrm>
          <a:prstGeom prst="rect">
            <a:avLst/>
          </a:prstGeom>
        </p:spPr>
        <p:txBody>
          <a:bodyPr/>
          <a:lstStyle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264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401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1"/>
            <a:ext cx="8568952" cy="4751933"/>
          </a:xfrm>
          <a:prstGeom prst="rect">
            <a:avLst/>
          </a:prstGeom>
        </p:spPr>
        <p:txBody>
          <a:bodyPr/>
          <a:lstStyle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95267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1679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113" y="1412875"/>
            <a:ext cx="7416800" cy="48958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5792430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5108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113" y="1412875"/>
            <a:ext cx="7416800" cy="48958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776642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7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921070"/>
            <a:ext cx="8229600" cy="491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7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301718"/>
            <a:ext cx="11049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Conector recto 20"/>
          <p:cNvCxnSpPr/>
          <p:nvPr/>
        </p:nvCxnSpPr>
        <p:spPr>
          <a:xfrm>
            <a:off x="0" y="1484784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sp>
        <p:nvSpPr>
          <p:cNvPr id="14" name="TextBox 11"/>
          <p:cNvSpPr txBox="1">
            <a:spLocks noChangeArrowheads="1"/>
          </p:cNvSpPr>
          <p:nvPr/>
        </p:nvSpPr>
        <p:spPr bwMode="auto">
          <a:xfrm>
            <a:off x="8104188" y="6367462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</p:spTree>
    <p:extLst>
      <p:ext uri="{BB962C8B-B14F-4D97-AF65-F5344CB8AC3E}">
        <p14:creationId xmlns:p14="http://schemas.microsoft.com/office/powerpoint/2010/main" val="10004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95" r:id="rId13"/>
    <p:sldLayoutId id="2147483796" r:id="rId14"/>
    <p:sldLayoutId id="2147483797" r:id="rId15"/>
    <p:sldLayoutId id="2147483798" r:id="rId16"/>
    <p:sldLayoutId id="2147483799" r:id="rId17"/>
    <p:sldLayoutId id="2147483770" r:id="rId18"/>
    <p:sldLayoutId id="2147483772" r:id="rId19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2000" kern="1200">
          <a:solidFill>
            <a:schemeClr val="tx1"/>
          </a:solidFill>
          <a:latin typeface="Gotham Medium"/>
          <a:ea typeface="MS PGothic" panose="020B0600070205080204" pitchFamily="34" charset="-128"/>
          <a:cs typeface="Gotham Medium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package" Target="../embeddings/Microsoft_Visio_Drawing.vsdx"/><Relationship Id="rId7" Type="http://schemas.openxmlformats.org/officeDocument/2006/relationships/image" Target="../media/image1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package" Target="../embeddings/Microsoft_Visio_Drawing1.vsdx"/><Relationship Id="rId5" Type="http://schemas.openxmlformats.org/officeDocument/2006/relationships/image" Target="../media/image13.jpeg"/><Relationship Id="rId4" Type="http://schemas.openxmlformats.org/officeDocument/2006/relationships/image" Target="../media/image1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2.vsdx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2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6.JP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3.jpg"/><Relationship Id="rId5" Type="http://schemas.openxmlformats.org/officeDocument/2006/relationships/image" Target="../media/image42.jpeg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2.gif"/><Relationship Id="rId5" Type="http://schemas.openxmlformats.org/officeDocument/2006/relationships/image" Target="../media/image51.jpeg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jpeg"/><Relationship Id="rId5" Type="http://schemas.openxmlformats.org/officeDocument/2006/relationships/image" Target="../media/image59.jpeg"/><Relationship Id="rId4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A4048-93B1-4D7E-924E-3B2609D395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KNX Advanced Course</a:t>
            </a:r>
            <a:endParaRPr lang="en-GB" sz="2400" b="0" dirty="0">
              <a:solidFill>
                <a:srgbClr val="0C4B9D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6891D17-0544-4779-B232-7495C4C552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188" y="3447972"/>
            <a:ext cx="4607868" cy="1076325"/>
          </a:xfrm>
        </p:spPr>
        <p:txBody>
          <a:bodyPr/>
          <a:lstStyle/>
          <a:p>
            <a:r>
              <a:rPr lang="en-GB" sz="2400" dirty="0"/>
              <a:t>Visualization</a:t>
            </a:r>
            <a:r>
              <a:rPr lang="en-US" sz="2400" dirty="0"/>
              <a:t> Systems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459807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6696223" cy="719138"/>
          </a:xfrm>
        </p:spPr>
        <p:txBody>
          <a:bodyPr/>
          <a:lstStyle/>
          <a:p>
            <a:r>
              <a:rPr lang="en-US" dirty="0"/>
              <a:t>General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776344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Representation of  functions in graphical format, both as remote operating elements and display elements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en-US" sz="20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2000" kern="0" dirty="0">
                <a:ea typeface="Open Sans" panose="020B0606030504020204" pitchFamily="34" charset="0"/>
                <a:cs typeface="Open Sans" panose="020B0606030504020204" pitchFamily="34" charset="0"/>
              </a:rPr>
              <a:t>Requirements for a central display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>
                <a:solidFill>
                  <a:schemeClr val="tx1"/>
                </a:solidFill>
                <a:latin typeface="Arial" charset="0"/>
              </a:rPr>
              <a:t>Have collective status of functions or devices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>
                <a:solidFill>
                  <a:schemeClr val="tx1"/>
                </a:solidFill>
                <a:latin typeface="Arial" charset="0"/>
              </a:rPr>
              <a:t>Be aware of any alarms or faults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>
                <a:solidFill>
                  <a:schemeClr val="tx1"/>
                </a:solidFill>
                <a:latin typeface="Arial" charset="0"/>
              </a:rPr>
              <a:t>Have operational data displayed independent from hardware / software platforms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>
                <a:solidFill>
                  <a:schemeClr val="tx1"/>
                </a:solidFill>
                <a:latin typeface="Arial" charset="0"/>
              </a:rPr>
              <a:t>Communication channels independent from environment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en-US" sz="2000" dirty="0">
              <a:solidFill>
                <a:schemeClr val="tx1"/>
              </a:solidFill>
              <a:latin typeface="Arial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en-US" sz="20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en-US" sz="24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703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6696223" cy="719138"/>
          </a:xfrm>
        </p:spPr>
        <p:txBody>
          <a:bodyPr/>
          <a:lstStyle/>
          <a:p>
            <a:r>
              <a:rPr lang="en-US" dirty="0"/>
              <a:t>Terms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36016" y="3302300"/>
            <a:ext cx="7776344" cy="336465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sz="2000" kern="0" dirty="0">
                <a:ea typeface="Open Sans" panose="020B0606030504020204" pitchFamily="34" charset="0"/>
                <a:cs typeface="Open Sans" panose="020B0606030504020204" pitchFamily="34" charset="0"/>
              </a:rPr>
              <a:t>Datapoint Type: </a:t>
            </a:r>
            <a:r>
              <a:rPr lang="en-US" sz="2000" kern="0" dirty="0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Determines the format of information to be displayed. Not only include the value, comprises its further interpretation</a:t>
            </a:r>
          </a:p>
          <a:p>
            <a:pPr>
              <a:lnSpc>
                <a:spcPct val="150000"/>
              </a:lnSpc>
              <a:defRPr/>
            </a:pPr>
            <a:r>
              <a:rPr lang="en-US" sz="2000" kern="0" dirty="0">
                <a:ea typeface="Open Sans" panose="020B0606030504020204" pitchFamily="34" charset="0"/>
                <a:cs typeface="Open Sans" panose="020B0606030504020204" pitchFamily="34" charset="0"/>
              </a:rPr>
              <a:t>Process point: </a:t>
            </a:r>
            <a:r>
              <a:rPr lang="en-US" sz="2000" kern="0" dirty="0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Interface between the information for display or selection and their graphical representation</a:t>
            </a:r>
          </a:p>
          <a:p>
            <a:pPr marL="457200" indent="-457200">
              <a:buFont typeface="+mj-lt"/>
              <a:buAutoNum type="arabicPeriod"/>
            </a:pPr>
            <a:endParaRPr lang="en-US" sz="24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9F2C7172-BF0D-4756-AB0D-E9B70C83CC4C}"/>
              </a:ext>
            </a:extLst>
          </p:cNvPr>
          <p:cNvSpPr txBox="1">
            <a:spLocks/>
          </p:cNvSpPr>
          <p:nvPr/>
        </p:nvSpPr>
        <p:spPr>
          <a:xfrm>
            <a:off x="35496" y="1706852"/>
            <a:ext cx="4391968" cy="159544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GB" sz="2000" kern="0" dirty="0">
                <a:ea typeface="Open Sans" panose="020B0606030504020204" pitchFamily="34" charset="0"/>
                <a:cs typeface="Open Sans" panose="020B0606030504020204" pitchFamily="34" charset="0"/>
              </a:rPr>
              <a:t>Visualisation</a:t>
            </a:r>
            <a:r>
              <a:rPr lang="en-US" sz="2000" kern="0" dirty="0"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en-US" sz="2000" kern="0" dirty="0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Representation of states (observation) and “Control” the selection of states (operation)</a:t>
            </a:r>
          </a:p>
        </p:txBody>
      </p:sp>
      <p:pic>
        <p:nvPicPr>
          <p:cNvPr id="4" name="Imagen 3" descr="Captura de pantalla de computadora&#10;&#10;Descripción generada automáticamente">
            <a:extLst>
              <a:ext uri="{FF2B5EF4-FFF2-40B4-BE49-F238E27FC236}">
                <a16:creationId xmlns:a16="http://schemas.microsoft.com/office/drawing/2014/main" id="{12E3180A-B919-BDB5-FE15-90BA915199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591571"/>
            <a:ext cx="3717570" cy="2710729"/>
          </a:xfrm>
          <a:prstGeom prst="rect">
            <a:avLst/>
          </a:prstGeom>
        </p:spPr>
      </p:pic>
      <p:pic>
        <p:nvPicPr>
          <p:cNvPr id="11" name="Imagen 10" descr="Una pantalla de un celular&#10;&#10;Descripción generada automáticamente">
            <a:extLst>
              <a:ext uri="{FF2B5EF4-FFF2-40B4-BE49-F238E27FC236}">
                <a16:creationId xmlns:a16="http://schemas.microsoft.com/office/drawing/2014/main" id="{103B94D3-5BAD-0D0E-B7B4-AAD26A59E8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2636912"/>
            <a:ext cx="1267969" cy="210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603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6696223" cy="719138"/>
          </a:xfrm>
        </p:spPr>
        <p:txBody>
          <a:bodyPr/>
          <a:lstStyle/>
          <a:p>
            <a:r>
              <a:rPr lang="en-US" dirty="0"/>
              <a:t>Terms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35496" y="1556792"/>
            <a:ext cx="5758532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sz="2000" kern="0" dirty="0">
                <a:ea typeface="Open Sans" panose="020B0606030504020204" pitchFamily="34" charset="0"/>
                <a:cs typeface="Open Sans" panose="020B0606030504020204" pitchFamily="34" charset="0"/>
              </a:rPr>
              <a:t>Static Images</a:t>
            </a:r>
            <a:r>
              <a:rPr lang="en-US" sz="2400" kern="0" dirty="0"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n-US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Visual aid is used as static background images</a:t>
            </a:r>
          </a:p>
          <a:p>
            <a:pPr>
              <a:lnSpc>
                <a:spcPct val="150000"/>
              </a:lnSpc>
              <a:defRPr/>
            </a:pPr>
            <a:endParaRPr lang="en-US" sz="20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sz="2000" kern="0" dirty="0">
                <a:ea typeface="Open Sans" panose="020B0606030504020204" pitchFamily="34" charset="0"/>
                <a:cs typeface="Open Sans" panose="020B0606030504020204" pitchFamily="34" charset="0"/>
              </a:rPr>
              <a:t>Dynamic Image Elements: </a:t>
            </a:r>
            <a:r>
              <a:rPr lang="en-US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Used for display the required information/states. </a:t>
            </a:r>
          </a:p>
          <a:p>
            <a:pPr marL="400050" lvl="1" indent="0">
              <a:lnSpc>
                <a:spcPct val="150000"/>
              </a:lnSpc>
              <a:buNone/>
              <a:defRPr/>
            </a:pPr>
            <a:r>
              <a:rPr lang="en-US" sz="2000" b="1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 process point must be assigned to each variable</a:t>
            </a:r>
          </a:p>
          <a:p>
            <a:pPr>
              <a:lnSpc>
                <a:spcPct val="150000"/>
              </a:lnSpc>
              <a:defRPr/>
            </a:pPr>
            <a:endParaRPr lang="en-US" sz="2000" kern="0" dirty="0">
              <a:solidFill>
                <a:schemeClr val="tx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Imagen 6" descr="Imagen que contiene edificio, tabla, brócoli, luz&#10;&#10;Descripción generada automáticamente">
            <a:extLst>
              <a:ext uri="{FF2B5EF4-FFF2-40B4-BE49-F238E27FC236}">
                <a16:creationId xmlns:a16="http://schemas.microsoft.com/office/drawing/2014/main" id="{6D866435-9326-B669-EFF7-9E01217A8F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454" y="1294468"/>
            <a:ext cx="2867815" cy="1630476"/>
          </a:xfrm>
          <a:prstGeom prst="rect">
            <a:avLst/>
          </a:prstGeom>
        </p:spPr>
      </p:pic>
      <p:pic>
        <p:nvPicPr>
          <p:cNvPr id="10" name="Imagen 9" descr="Tabla&#10;&#10;Descripción generada automáticamente">
            <a:extLst>
              <a:ext uri="{FF2B5EF4-FFF2-40B4-BE49-F238E27FC236}">
                <a16:creationId xmlns:a16="http://schemas.microsoft.com/office/drawing/2014/main" id="{FC3B0105-C5B0-35C5-C6A1-8EA54DF7DBD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455" y="2863384"/>
            <a:ext cx="2867814" cy="1769851"/>
          </a:xfrm>
          <a:prstGeom prst="rect">
            <a:avLst/>
          </a:prstGeom>
        </p:spPr>
      </p:pic>
      <p:pic>
        <p:nvPicPr>
          <p:cNvPr id="12" name="Imagen 11" descr="Diagrama, Mapa&#10;&#10;Descripción generada automáticamente">
            <a:extLst>
              <a:ext uri="{FF2B5EF4-FFF2-40B4-BE49-F238E27FC236}">
                <a16:creationId xmlns:a16="http://schemas.microsoft.com/office/drawing/2014/main" id="{4504EA8A-8F40-1E54-E31A-C3A173F2731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455" y="4621236"/>
            <a:ext cx="2867814" cy="161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260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7056263" cy="719138"/>
          </a:xfrm>
        </p:spPr>
        <p:txBody>
          <a:bodyPr/>
          <a:lstStyle/>
          <a:p>
            <a:r>
              <a:rPr lang="en-US" dirty="0"/>
              <a:t>Transfer the KNX Project Design Data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3BA81E-1AC5-4D6C-B9D5-43F34E780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00" y="2132856"/>
            <a:ext cx="7153894" cy="410445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AA7CA1F-274B-4245-9589-E1F659BD7852}"/>
              </a:ext>
            </a:extLst>
          </p:cNvPr>
          <p:cNvSpPr/>
          <p:nvPr/>
        </p:nvSpPr>
        <p:spPr>
          <a:xfrm>
            <a:off x="4969025" y="1508767"/>
            <a:ext cx="33473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Structured Project Design</a:t>
            </a:r>
            <a:endParaRPr lang="es-ES" sz="2000" b="1" dirty="0"/>
          </a:p>
        </p:txBody>
      </p:sp>
    </p:spTree>
    <p:extLst>
      <p:ext uri="{BB962C8B-B14F-4D97-AF65-F5344CB8AC3E}">
        <p14:creationId xmlns:p14="http://schemas.microsoft.com/office/powerpoint/2010/main" val="2416504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6696223" cy="719138"/>
          </a:xfrm>
        </p:spPr>
        <p:txBody>
          <a:bodyPr/>
          <a:lstStyle/>
          <a:p>
            <a:r>
              <a:rPr lang="en-GB" dirty="0"/>
              <a:t>Visualisation</a:t>
            </a:r>
            <a:r>
              <a:rPr lang="en-US" dirty="0"/>
              <a:t> Notes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36016" y="1484784"/>
            <a:ext cx="5760120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sz="1600" kern="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Notes for Recording the Status with the Visualization</a:t>
            </a:r>
          </a:p>
          <a:p>
            <a:pPr>
              <a:lnSpc>
                <a:spcPct val="150000"/>
              </a:lnSpc>
              <a:defRPr/>
            </a:pPr>
            <a:r>
              <a:rPr lang="en-US" sz="1400" kern="0" dirty="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States are detected by listening to the bus telegrams</a:t>
            </a:r>
          </a:p>
          <a:p>
            <a:pPr>
              <a:lnSpc>
                <a:spcPct val="150000"/>
              </a:lnSpc>
              <a:defRPr/>
            </a:pPr>
            <a:r>
              <a:rPr lang="en-US" sz="1400" kern="0" dirty="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If status are not transmitted on change, they must be read cyclically</a:t>
            </a:r>
          </a:p>
          <a:p>
            <a:pPr>
              <a:lnSpc>
                <a:spcPct val="150000"/>
              </a:lnSpc>
              <a:defRPr/>
            </a:pPr>
            <a:r>
              <a:rPr lang="en-US" sz="1400" kern="0" dirty="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Read flag must be set in the status to respond to read requests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Notes for Starting the Visualisation</a:t>
            </a:r>
          </a:p>
          <a:p>
            <a:pPr>
              <a:lnSpc>
                <a:spcPct val="150000"/>
              </a:lnSpc>
              <a:defRPr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a restart, the current device states must be requested (enabling the ‘sending group address’ )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Important: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central address or used by several devices may never be implemented as a sending group address. 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response of a read request will be interpreted as a normal write telegram</a:t>
            </a:r>
            <a:endParaRPr lang="es-E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1600" kern="0" dirty="0"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1600" kern="0" dirty="0">
              <a:solidFill>
                <a:schemeClr val="bg1">
                  <a:lumMod val="10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1800" kern="0" dirty="0"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39A1312-8AD4-6DB4-6915-FB65FD074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5984" y="328498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0D66B9AA-98FB-234D-16C6-5CFEB5D475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6575577"/>
              </p:ext>
            </p:extLst>
          </p:nvPr>
        </p:nvGraphicFramePr>
        <p:xfrm>
          <a:off x="5076056" y="2204863"/>
          <a:ext cx="4067944" cy="2517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4400833" imgH="2666944" progId="Word.Picture.8">
                  <p:embed/>
                </p:oleObj>
              </mc:Choice>
              <mc:Fallback>
                <p:oleObj name="Picture" r:id="rId3" imgW="4400833" imgH="2666944" progId="Word.Picture.8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0D66B9AA-98FB-234D-16C6-5CFEB5D475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2204863"/>
                        <a:ext cx="4067944" cy="25170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4641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6696223" cy="719138"/>
          </a:xfrm>
        </p:spPr>
        <p:txBody>
          <a:bodyPr/>
          <a:lstStyle/>
          <a:p>
            <a:r>
              <a:rPr lang="en-US" dirty="0"/>
              <a:t>Types of Bus Communication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776344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sz="2000" kern="0" dirty="0">
                <a:ea typeface="Open Sans" panose="020B0606030504020204" pitchFamily="34" charset="0"/>
                <a:cs typeface="Open Sans" panose="020B0606030504020204" pitchFamily="34" charset="0"/>
              </a:rPr>
              <a:t>Program Start-up: </a:t>
            </a:r>
            <a:r>
              <a:rPr lang="en-US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When starting, all groups should be read out. Read flags may be set only once per group address </a:t>
            </a:r>
            <a:br>
              <a:rPr lang="en-US" sz="2000" kern="0" dirty="0"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2000" kern="0" dirty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6F2CD8-B984-4F09-9111-7583F693C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2739774"/>
            <a:ext cx="6743770" cy="362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82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6696223" cy="719138"/>
          </a:xfrm>
        </p:spPr>
        <p:txBody>
          <a:bodyPr/>
          <a:lstStyle/>
          <a:p>
            <a:r>
              <a:rPr lang="en-US" dirty="0"/>
              <a:t>Types of Bus Communication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776344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sz="2000" kern="0" dirty="0">
                <a:ea typeface="Open Sans" panose="020B0606030504020204" pitchFamily="34" charset="0"/>
                <a:cs typeface="Open Sans" panose="020B0606030504020204" pitchFamily="34" charset="0"/>
              </a:rPr>
              <a:t>Normal Operation: </a:t>
            </a:r>
            <a:r>
              <a:rPr lang="en-US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Update of the process image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  <a:defRPr/>
            </a:pPr>
            <a:r>
              <a:rPr lang="en-US" sz="1800" b="1" kern="0" dirty="0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permanently listening into the bus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  <a:defRPr/>
            </a:pPr>
            <a:r>
              <a:rPr lang="en-US" sz="1800" b="1" kern="0" dirty="0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Mirroring and reading back after transmitting (this method becomes obsolete with automatic responding status objects)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  <a:defRPr/>
            </a:pPr>
            <a:r>
              <a:rPr lang="en-US" sz="1800" b="1" kern="0" dirty="0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cyclic read back: keep status information as current as possible is only used. Methods:</a:t>
            </a:r>
          </a:p>
          <a:p>
            <a:pPr lvl="2">
              <a:lnSpc>
                <a:spcPct val="150000"/>
              </a:lnSpc>
              <a:defRPr/>
            </a:pPr>
            <a:r>
              <a:rPr lang="en-US" sz="1800" b="1" kern="0" dirty="0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Automatic status transmission after change</a:t>
            </a:r>
          </a:p>
          <a:p>
            <a:pPr lvl="2">
              <a:lnSpc>
                <a:spcPct val="150000"/>
              </a:lnSpc>
              <a:defRPr/>
            </a:pPr>
            <a:r>
              <a:rPr lang="en-US" sz="1800" b="1" kern="0" dirty="0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Cyclical update of status</a:t>
            </a:r>
          </a:p>
          <a:p>
            <a:pPr lvl="1">
              <a:lnSpc>
                <a:spcPct val="150000"/>
              </a:lnSpc>
              <a:defRPr/>
            </a:pPr>
            <a:endParaRPr lang="en-US" sz="1600" kern="0" dirty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97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6696223" cy="719138"/>
          </a:xfrm>
        </p:spPr>
        <p:txBody>
          <a:bodyPr/>
          <a:lstStyle/>
          <a:p>
            <a:r>
              <a:rPr lang="en-US" dirty="0"/>
              <a:t>Types of Bus Communication</a:t>
            </a:r>
            <a:endParaRPr lang="en-GB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846D620-844B-4851-BC59-837E145632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4651986"/>
              </p:ext>
            </p:extLst>
          </p:nvPr>
        </p:nvGraphicFramePr>
        <p:xfrm>
          <a:off x="934317" y="1484784"/>
          <a:ext cx="5578475" cy="130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399757" imgH="1963714" progId="Visio.Drawing.15">
                  <p:embed/>
                </p:oleObj>
              </mc:Choice>
              <mc:Fallback>
                <p:oleObj r:id="rId3" imgW="8399757" imgH="1963714" progId="Visio.Drawing.15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B846D620-844B-4851-BC59-837E145632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4317" y="1484784"/>
                        <a:ext cx="5578475" cy="1303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senden_und_zurücklesen">
            <a:extLst>
              <a:ext uri="{FF2B5EF4-FFF2-40B4-BE49-F238E27FC236}">
                <a16:creationId xmlns:a16="http://schemas.microsoft.com/office/drawing/2014/main" id="{861E7ECC-72B2-48CF-9DC7-E9E85C95EC76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762" y="2915538"/>
            <a:ext cx="5574030" cy="585470"/>
          </a:xfrm>
          <a:prstGeom prst="rect">
            <a:avLst/>
          </a:prstGeom>
          <a:noFill/>
          <a:ln w="6350" cmpd="sng">
            <a:solidFill>
              <a:srgbClr val="000000"/>
            </a:solidFill>
            <a:miter lim="800000"/>
            <a:headEnd/>
            <a:tailEnd/>
          </a:ln>
          <a:effectLst/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F8E77F4-C8EE-41F4-9A31-5D78161DB281}"/>
              </a:ext>
            </a:extLst>
          </p:cNvPr>
          <p:cNvSpPr/>
          <p:nvPr/>
        </p:nvSpPr>
        <p:spPr>
          <a:xfrm>
            <a:off x="6874977" y="1857598"/>
            <a:ext cx="1800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Visualisation: Reading back after sending</a:t>
            </a: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ED868814-F2EE-4387-88A9-C55E722B91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2048431"/>
              </p:ext>
            </p:extLst>
          </p:nvPr>
        </p:nvGraphicFramePr>
        <p:xfrm>
          <a:off x="934317" y="3789040"/>
          <a:ext cx="5578475" cy="130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8399757" imgH="1963714" progId="Visio.Drawing.15">
                  <p:embed/>
                </p:oleObj>
              </mc:Choice>
              <mc:Fallback>
                <p:oleObj r:id="rId6" imgW="8399757" imgH="1963714" progId="Visio.Drawing.15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ED868814-F2EE-4387-88A9-C55E722B91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4317" y="3789040"/>
                        <a:ext cx="5578475" cy="1303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 descr="senden_zyklisch">
            <a:extLst>
              <a:ext uri="{FF2B5EF4-FFF2-40B4-BE49-F238E27FC236}">
                <a16:creationId xmlns:a16="http://schemas.microsoft.com/office/drawing/2014/main" id="{ED9D9959-2A5B-424D-97EB-C31BEC4678E6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177" y="5229200"/>
            <a:ext cx="5575300" cy="996315"/>
          </a:xfrm>
          <a:prstGeom prst="rect">
            <a:avLst/>
          </a:prstGeom>
          <a:noFill/>
          <a:ln w="6350" cmpd="sng">
            <a:solidFill>
              <a:srgbClr val="000000"/>
            </a:solidFill>
            <a:miter lim="800000"/>
            <a:headEnd/>
            <a:tailEnd/>
          </a:ln>
          <a:effectLst/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1D4993A-CB19-4796-B035-B8D1C4F37FB3}"/>
              </a:ext>
            </a:extLst>
          </p:cNvPr>
          <p:cNvSpPr/>
          <p:nvPr/>
        </p:nvSpPr>
        <p:spPr>
          <a:xfrm>
            <a:off x="6876256" y="4437112"/>
            <a:ext cx="1800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Visualisation: Reading out cyclically</a:t>
            </a:r>
          </a:p>
        </p:txBody>
      </p:sp>
    </p:spTree>
    <p:extLst>
      <p:ext uri="{BB962C8B-B14F-4D97-AF65-F5344CB8AC3E}">
        <p14:creationId xmlns:p14="http://schemas.microsoft.com/office/powerpoint/2010/main" val="1502931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6696223" cy="719138"/>
          </a:xfrm>
        </p:spPr>
        <p:txBody>
          <a:bodyPr/>
          <a:lstStyle/>
          <a:p>
            <a:r>
              <a:rPr lang="en-US" dirty="0"/>
              <a:t>Types of Bus Communication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776344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sz="2000" kern="0" dirty="0">
                <a:ea typeface="Open Sans" panose="020B0606030504020204" pitchFamily="34" charset="0"/>
                <a:cs typeface="Open Sans" panose="020B0606030504020204" pitchFamily="34" charset="0"/>
              </a:rPr>
              <a:t>Data Recording Modes: </a:t>
            </a:r>
            <a:r>
              <a:rPr lang="en-US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Data tracking operations to </a:t>
            </a:r>
            <a:r>
              <a:rPr lang="en-GB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analyse</a:t>
            </a:r>
            <a:r>
              <a:rPr lang="en-US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and draw decisions</a:t>
            </a:r>
          </a:p>
          <a:p>
            <a:pPr>
              <a:lnSpc>
                <a:spcPct val="150000"/>
              </a:lnSpc>
              <a:defRPr/>
            </a:pPr>
            <a:endParaRPr lang="en-US" sz="2000" kern="0" dirty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714BFF-CA5D-47CA-9BFA-4906C6E56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2326427"/>
            <a:ext cx="6359605" cy="398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599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4704"/>
            <a:ext cx="6696223" cy="719138"/>
          </a:xfrm>
        </p:spPr>
        <p:txBody>
          <a:bodyPr/>
          <a:lstStyle/>
          <a:p>
            <a:r>
              <a:rPr lang="en-US" dirty="0"/>
              <a:t>Connection of the </a:t>
            </a:r>
            <a:r>
              <a:rPr lang="en-GB" dirty="0"/>
              <a:t>Visualisation</a:t>
            </a:r>
            <a:r>
              <a:rPr lang="en-US" dirty="0"/>
              <a:t> 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776344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sz="2000" kern="0" dirty="0">
                <a:ea typeface="Open Sans" panose="020B0606030504020204" pitchFamily="34" charset="0"/>
                <a:cs typeface="Open Sans" panose="020B0606030504020204" pitchFamily="34" charset="0"/>
              </a:rPr>
              <a:t>Direct Connection </a:t>
            </a:r>
            <a:r>
              <a:rPr lang="en-US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via Hardware Interface</a:t>
            </a:r>
          </a:p>
          <a:p>
            <a:pPr>
              <a:lnSpc>
                <a:spcPct val="150000"/>
              </a:lnSpc>
              <a:defRPr/>
            </a:pPr>
            <a:r>
              <a:rPr lang="en-US" sz="2000" kern="0" dirty="0">
                <a:ea typeface="Open Sans" panose="020B0606030504020204" pitchFamily="34" charset="0"/>
                <a:cs typeface="Open Sans" panose="020B0606030504020204" pitchFamily="34" charset="0"/>
              </a:rPr>
              <a:t>Indirect Connection </a:t>
            </a:r>
            <a:r>
              <a:rPr lang="en-US" sz="2000" kern="0" dirty="0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via Gateway (Hardware) or Server (Software, e.g. OPC):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GB" sz="2000" b="1" dirty="0">
                <a:solidFill>
                  <a:schemeClr val="tx1"/>
                </a:solidFill>
                <a:latin typeface="Arial" charset="0"/>
              </a:rPr>
              <a:t>Connection via Gateway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GB" sz="2000" b="1" dirty="0">
                <a:solidFill>
                  <a:schemeClr val="tx1"/>
                </a:solidFill>
                <a:latin typeface="Arial" charset="0"/>
              </a:rPr>
              <a:t>Connection via OPC Server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GB" sz="2000" b="1" dirty="0">
                <a:solidFill>
                  <a:schemeClr val="tx1"/>
                </a:solidFill>
                <a:latin typeface="Arial" charset="0"/>
              </a:rPr>
              <a:t>Webserver and HTML - Bus access can be:</a:t>
            </a:r>
          </a:p>
          <a:p>
            <a:pPr marL="1200150" lvl="2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GB" sz="2000" b="1" dirty="0">
                <a:solidFill>
                  <a:schemeClr val="tx1"/>
                </a:solidFill>
                <a:latin typeface="Arial" charset="0"/>
              </a:rPr>
              <a:t>local via a webserver embedded in a KNX device</a:t>
            </a:r>
          </a:p>
          <a:p>
            <a:pPr marL="1200150" lvl="2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GB" sz="2000" b="1" dirty="0">
                <a:solidFill>
                  <a:schemeClr val="tx1"/>
                </a:solidFill>
                <a:latin typeface="Arial" charset="0"/>
              </a:rPr>
              <a:t>distributed via the </a:t>
            </a:r>
            <a:r>
              <a:rPr lang="en-GB" sz="2000" b="1" dirty="0" err="1">
                <a:solidFill>
                  <a:schemeClr val="tx1"/>
                </a:solidFill>
                <a:latin typeface="Arial" charset="0"/>
              </a:rPr>
              <a:t>KNXnet</a:t>
            </a:r>
            <a:r>
              <a:rPr lang="en-GB" sz="2000" b="1" dirty="0">
                <a:solidFill>
                  <a:schemeClr val="tx1"/>
                </a:solidFill>
                <a:latin typeface="Arial" charset="0"/>
              </a:rPr>
              <a:t>/IP services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  <a:defRPr/>
            </a:pPr>
            <a:endParaRPr lang="es-ES" sz="2000" b="1" dirty="0">
              <a:solidFill>
                <a:schemeClr val="tx1"/>
              </a:solidFill>
              <a:latin typeface="Arial" charset="0"/>
            </a:endParaRPr>
          </a:p>
          <a:p>
            <a:pPr>
              <a:lnSpc>
                <a:spcPct val="150000"/>
              </a:lnSpc>
              <a:defRPr/>
            </a:pPr>
            <a:endParaRPr lang="en-US" sz="2000" kern="0" dirty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2000" kern="0" dirty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881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6696223" cy="719138"/>
          </a:xfrm>
        </p:spPr>
        <p:txBody>
          <a:bodyPr/>
          <a:lstStyle/>
          <a:p>
            <a:r>
              <a:rPr lang="en-US" dirty="0"/>
              <a:t>OPC server operation concept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992368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Software program for data transfer, intermediate saving (buffering the process image) and if necessary conversion</a:t>
            </a:r>
          </a:p>
          <a:p>
            <a:pPr>
              <a:lnSpc>
                <a:spcPct val="150000"/>
              </a:lnSpc>
              <a:defRPr/>
            </a:pPr>
            <a:r>
              <a:rPr lang="en-US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Process image is stored in memory and is always up to date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2F53FF0-75C2-4225-B8DA-6084054C8B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6127402"/>
              </p:ext>
            </p:extLst>
          </p:nvPr>
        </p:nvGraphicFramePr>
        <p:xfrm>
          <a:off x="1331640" y="3068960"/>
          <a:ext cx="6697944" cy="3202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658237" imgH="4152800" progId="Visio.Drawing.15">
                  <p:embed/>
                </p:oleObj>
              </mc:Choice>
              <mc:Fallback>
                <p:oleObj r:id="rId3" imgW="8658237" imgH="4152800" progId="Visio.Drawing.15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C2F53FF0-75C2-4225-B8DA-6084054C8B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068960"/>
                        <a:ext cx="6697944" cy="32022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4435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6696223" cy="719138"/>
          </a:xfrm>
        </p:spPr>
        <p:txBody>
          <a:bodyPr/>
          <a:lstStyle/>
          <a:p>
            <a:r>
              <a:rPr lang="en-US" dirty="0"/>
              <a:t>Bus Access via </a:t>
            </a:r>
            <a:r>
              <a:rPr lang="en-US" dirty="0" err="1"/>
              <a:t>KNXnet</a:t>
            </a:r>
            <a:r>
              <a:rPr lang="en-US" dirty="0"/>
              <a:t>/IP Server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179512" y="1484784"/>
            <a:ext cx="7920360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Location independent KNX network access via Ethernet:</a:t>
            </a:r>
          </a:p>
          <a:p>
            <a:pPr>
              <a:lnSpc>
                <a:spcPct val="150000"/>
              </a:lnSpc>
              <a:defRPr/>
            </a:pPr>
            <a:r>
              <a:rPr lang="en-US" sz="1600" kern="0" dirty="0">
                <a:ea typeface="Open Sans" panose="020B0606030504020204" pitchFamily="34" charset="0"/>
                <a:cs typeface="Open Sans" panose="020B0606030504020204" pitchFamily="34" charset="0"/>
              </a:rPr>
              <a:t>Routing: </a:t>
            </a:r>
            <a:r>
              <a:rPr lang="en-US" sz="1600" kern="0" dirty="0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Communication via IP multicast address. KNX Multicast address 224.0.23.12.  Not suitable to be used via the Internet</a:t>
            </a:r>
          </a:p>
          <a:p>
            <a:pPr>
              <a:lnSpc>
                <a:spcPct val="150000"/>
              </a:lnSpc>
              <a:defRPr/>
            </a:pPr>
            <a:endParaRPr lang="en-GB" sz="8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2000" kern="0" dirty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2000" kern="0" dirty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Imagen 1" descr="Diagrama&#10;&#10;Descripción generada automáticamente">
            <a:extLst>
              <a:ext uri="{FF2B5EF4-FFF2-40B4-BE49-F238E27FC236}">
                <a16:creationId xmlns:a16="http://schemas.microsoft.com/office/drawing/2014/main" id="{7A0D0F06-DCF1-8BE8-7D91-E31321649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2780928"/>
            <a:ext cx="6789160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854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6696223" cy="719138"/>
          </a:xfrm>
        </p:spPr>
        <p:txBody>
          <a:bodyPr/>
          <a:lstStyle/>
          <a:p>
            <a:r>
              <a:rPr lang="en-US" dirty="0"/>
              <a:t>Bus Access via </a:t>
            </a:r>
            <a:r>
              <a:rPr lang="en-US" dirty="0" err="1"/>
              <a:t>KNXnet</a:t>
            </a:r>
            <a:r>
              <a:rPr lang="en-US" dirty="0"/>
              <a:t>/IP Server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35496" y="1556792"/>
            <a:ext cx="7920360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Location independent KNX network access via Ethernet:</a:t>
            </a:r>
          </a:p>
          <a:p>
            <a:pPr>
              <a:lnSpc>
                <a:spcPct val="150000"/>
              </a:lnSpc>
              <a:defRPr/>
            </a:pPr>
            <a:r>
              <a:rPr lang="en-GB" sz="1600" kern="0" dirty="0">
                <a:ea typeface="Open Sans" panose="020B0606030504020204" pitchFamily="34" charset="0"/>
                <a:cs typeface="Open Sans" panose="020B0606030504020204" pitchFamily="34" charset="0"/>
              </a:rPr>
              <a:t>Tunnelling</a:t>
            </a:r>
            <a:r>
              <a:rPr lang="en-US" sz="1600" kern="0" dirty="0"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en-US" sz="1600" kern="0" dirty="0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unlimited, direct access via IP gateway. Filter tables are ignored; telegrams are “</a:t>
            </a:r>
            <a:r>
              <a:rPr lang="en-GB" sz="1600" kern="0" dirty="0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tunnelled</a:t>
            </a:r>
            <a:r>
              <a:rPr lang="en-US" sz="1600" kern="0" dirty="0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” through the filter table of router. Benefit: the filter tables do not have to match. Disadvantage: Only one line is addressed. Suitable for remote access via the Internet</a:t>
            </a:r>
            <a:endParaRPr lang="en-US" sz="16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Imagen 1" descr="Diagrama&#10;&#10;Descripción generada automáticamente">
            <a:extLst>
              <a:ext uri="{FF2B5EF4-FFF2-40B4-BE49-F238E27FC236}">
                <a16:creationId xmlns:a16="http://schemas.microsoft.com/office/drawing/2014/main" id="{65F52BFE-E5AF-8615-A800-D3349D177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7" y="3140968"/>
            <a:ext cx="5787555" cy="308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24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6696223" cy="719138"/>
          </a:xfrm>
        </p:spPr>
        <p:txBody>
          <a:bodyPr/>
          <a:lstStyle/>
          <a:p>
            <a:r>
              <a:rPr lang="en-US" dirty="0"/>
              <a:t>Bus Access via </a:t>
            </a:r>
            <a:r>
              <a:rPr lang="en-US" dirty="0" err="1"/>
              <a:t>KNXnet</a:t>
            </a:r>
            <a:r>
              <a:rPr lang="en-US" dirty="0"/>
              <a:t>/IP Server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920360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Location independent KNX network access via Ethernet:</a:t>
            </a:r>
          </a:p>
          <a:p>
            <a:pPr>
              <a:lnSpc>
                <a:spcPct val="150000"/>
              </a:lnSpc>
              <a:defRPr/>
            </a:pPr>
            <a:endParaRPr lang="en-US" sz="8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sz="1800" kern="0" dirty="0">
                <a:ea typeface="Open Sans" panose="020B0606030504020204" pitchFamily="34" charset="0"/>
                <a:cs typeface="Open Sans" panose="020B0606030504020204" pitchFamily="34" charset="0"/>
              </a:rPr>
              <a:t>Object server: </a:t>
            </a:r>
            <a:r>
              <a:rPr lang="en-US" sz="1800" kern="0" dirty="0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tunnel access but only for group communication. Used for large distances during remote access. It should be used if ping response time &gt; 1.000 </a:t>
            </a:r>
            <a:r>
              <a:rPr lang="en-US" sz="1800" kern="0" dirty="0" err="1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ms</a:t>
            </a:r>
            <a:endParaRPr lang="en-US" sz="1800" kern="0" dirty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2000" kern="0" dirty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2000" kern="0" dirty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48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6696223" cy="719138"/>
          </a:xfrm>
        </p:spPr>
        <p:txBody>
          <a:bodyPr/>
          <a:lstStyle/>
          <a:p>
            <a:r>
              <a:rPr lang="en-US" dirty="0"/>
              <a:t>Exporting Project Data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776344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sz="2000" kern="0" dirty="0">
                <a:ea typeface="Open Sans" panose="020B0606030504020204" pitchFamily="34" charset="0"/>
                <a:cs typeface="Open Sans" panose="020B0606030504020204" pitchFamily="34" charset="0"/>
              </a:rPr>
              <a:t>Data: </a:t>
            </a:r>
            <a:r>
              <a:rPr lang="en-US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Group addresses + datapoint format + comm. flags</a:t>
            </a:r>
          </a:p>
          <a:p>
            <a:pPr>
              <a:lnSpc>
                <a:spcPct val="150000"/>
              </a:lnSpc>
              <a:defRPr/>
            </a:pPr>
            <a:endParaRPr lang="en-US" sz="2000" kern="0" dirty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Imagen 3" descr="Interfaz de usuario gráfica, Aplicación, Word&#10;&#10;Descripción generada automáticamente">
            <a:extLst>
              <a:ext uri="{FF2B5EF4-FFF2-40B4-BE49-F238E27FC236}">
                <a16:creationId xmlns:a16="http://schemas.microsoft.com/office/drawing/2014/main" id="{E34478D0-3B08-28E5-87C8-EFAA34C49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074525"/>
            <a:ext cx="5580380" cy="27946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151123-E42B-4741-92CC-FF3E2E62A7F7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3212976"/>
            <a:ext cx="4857580" cy="26470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8802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121" y="765646"/>
            <a:ext cx="6696223" cy="719138"/>
          </a:xfrm>
        </p:spPr>
        <p:txBody>
          <a:bodyPr/>
          <a:lstStyle/>
          <a:p>
            <a:r>
              <a:rPr lang="en-US" dirty="0"/>
              <a:t>Exporting Project Data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E22FC7-A3AB-4A90-88F2-767455547538}"/>
              </a:ext>
            </a:extLst>
          </p:cNvPr>
          <p:cNvSpPr/>
          <p:nvPr/>
        </p:nvSpPr>
        <p:spPr>
          <a:xfrm>
            <a:off x="5968973" y="6012418"/>
            <a:ext cx="26212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/>
              <a:t>Group export in ETS6 </a:t>
            </a:r>
            <a:endParaRPr lang="es-ES" dirty="0"/>
          </a:p>
        </p:txBody>
      </p:sp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DF0A9CD4-12E3-1360-A917-65AC45B06F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605915"/>
            <a:ext cx="5580380" cy="3646170"/>
          </a:xfrm>
          <a:prstGeom prst="rect">
            <a:avLst/>
          </a:prstGeom>
        </p:spPr>
      </p:pic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72DD4C33-EA91-259B-B421-4D70A4B79F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2348880"/>
            <a:ext cx="3962400" cy="343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545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7200279" cy="719138"/>
          </a:xfrm>
        </p:spPr>
        <p:txBody>
          <a:bodyPr/>
          <a:lstStyle/>
          <a:p>
            <a:r>
              <a:rPr lang="en-US" dirty="0"/>
              <a:t>Physical Access Point in Bus System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179512" y="1556792"/>
            <a:ext cx="7776344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bus system consists of several 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lines</a:t>
            </a:r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v</a:t>
            </a:r>
            <a:r>
              <a:rPr lang="en-GB" sz="1800" kern="0" dirty="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isualisation</a:t>
            </a:r>
            <a:r>
              <a:rPr lang="en-US" sz="1800" kern="0" dirty="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shall be connected to the </a:t>
            </a:r>
            <a:r>
              <a:rPr lang="en-US" sz="1800" kern="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main line</a:t>
            </a:r>
            <a:r>
              <a:rPr lang="en-US" sz="1800" kern="0" dirty="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to enable optimum access</a:t>
            </a:r>
          </a:p>
          <a:p>
            <a:pPr marL="457200" indent="-457200">
              <a:buFont typeface="+mj-lt"/>
              <a:buAutoNum type="arabicPeriod"/>
            </a:pPr>
            <a:endParaRPr lang="en-US" sz="18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9CF938-6334-4DD5-8084-AE9723D71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037" y="2564904"/>
            <a:ext cx="6224236" cy="342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165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121" y="765646"/>
            <a:ext cx="7200279" cy="719138"/>
          </a:xfrm>
        </p:spPr>
        <p:txBody>
          <a:bodyPr/>
          <a:lstStyle/>
          <a:p>
            <a:r>
              <a:rPr lang="en-US" dirty="0"/>
              <a:t>Physical Access Point in Bus System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776344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GB" sz="2000" b="0" dirty="0">
                <a:solidFill>
                  <a:schemeClr val="tx1"/>
                </a:solidFill>
                <a:latin typeface="Arial" charset="0"/>
              </a:rPr>
              <a:t>Scenario with a central visualization in a big installation</a:t>
            </a:r>
            <a:endParaRPr lang="en-US" sz="2400" b="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Imagen 1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00AB2D4C-1394-CDD0-990E-8E9301995B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00" y="2098278"/>
            <a:ext cx="7985540" cy="394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019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880" y="1008122"/>
            <a:ext cx="6696223" cy="358676"/>
          </a:xfrm>
        </p:spPr>
        <p:txBody>
          <a:bodyPr/>
          <a:lstStyle/>
          <a:p>
            <a:r>
              <a:rPr lang="en-US" dirty="0"/>
              <a:t>Telegrams sent across Lines/Areas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776344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Relevant information for the visualization across lines or areas depend on the </a:t>
            </a:r>
            <a:r>
              <a:rPr lang="en-GB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behaviour</a:t>
            </a:r>
            <a:r>
              <a:rPr lang="en-US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of the coupler</a:t>
            </a:r>
          </a:p>
          <a:p>
            <a:pPr>
              <a:defRPr/>
            </a:pPr>
            <a:r>
              <a:rPr lang="en-GB" sz="2000" dirty="0"/>
              <a:t>Enabling the Filter Table</a:t>
            </a:r>
          </a:p>
          <a:p>
            <a:pPr>
              <a:defRPr/>
            </a:pPr>
            <a:r>
              <a:rPr lang="en-GB" sz="2000" dirty="0"/>
              <a:t>Use of IP Routers instead of Line Couplers</a:t>
            </a:r>
            <a:endParaRPr lang="es-ES" sz="2000" dirty="0"/>
          </a:p>
          <a:p>
            <a:pPr>
              <a:defRPr/>
            </a:pPr>
            <a:r>
              <a:rPr lang="en-US" sz="2000" dirty="0"/>
              <a:t>Correcting the Filter Table via Dummy Devices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es-ES" sz="20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sz="2000" kern="0" dirty="0">
              <a:solidFill>
                <a:schemeClr val="tx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2000" kern="0" dirty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A96523-2074-4533-B9DF-A0F697887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3961428"/>
            <a:ext cx="3371469" cy="2059860"/>
          </a:xfrm>
          <a:prstGeom prst="rect">
            <a:avLst/>
          </a:prstGeom>
        </p:spPr>
      </p:pic>
      <p:pic>
        <p:nvPicPr>
          <p:cNvPr id="5" name="Picture 4" descr="dummy_obj">
            <a:extLst>
              <a:ext uri="{FF2B5EF4-FFF2-40B4-BE49-F238E27FC236}">
                <a16:creationId xmlns:a16="http://schemas.microsoft.com/office/drawing/2014/main" id="{FB58D864-24CD-483A-BCCA-32E4C90343C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3961428"/>
            <a:ext cx="4104456" cy="2059860"/>
          </a:xfrm>
          <a:prstGeom prst="rect">
            <a:avLst/>
          </a:prstGeom>
          <a:noFill/>
          <a:ln w="6350" cmpd="sng">
            <a:solidFill>
              <a:srgbClr val="000000"/>
            </a:solidFill>
            <a:miter lim="800000"/>
            <a:headEnd/>
            <a:tailEnd/>
          </a:ln>
          <a:effectLst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93E085E-7647-42ED-B04F-EA0F43B54334}"/>
              </a:ext>
            </a:extLst>
          </p:cNvPr>
          <p:cNvSpPr/>
          <p:nvPr/>
        </p:nvSpPr>
        <p:spPr>
          <a:xfrm>
            <a:off x="3347864" y="6021288"/>
            <a:ext cx="5400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Parameters and objects of a dummy application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43177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145" y="1011217"/>
            <a:ext cx="6696223" cy="401559"/>
          </a:xfrm>
        </p:spPr>
        <p:txBody>
          <a:bodyPr/>
          <a:lstStyle/>
          <a:p>
            <a:r>
              <a:rPr lang="en-US" dirty="0"/>
              <a:t>Use of IP Routers instead of TP Couplers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776344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sz="2000" b="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Backbone OK but maybe still a problem with coupler´s buffers</a:t>
            </a:r>
          </a:p>
          <a:p>
            <a:pPr>
              <a:lnSpc>
                <a:spcPct val="150000"/>
              </a:lnSpc>
              <a:defRPr/>
            </a:pPr>
            <a:endParaRPr lang="en-US" sz="2000" kern="0" dirty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" name="Imagen 5" descr="Diagrama&#10;&#10;Descripción generada automáticamente">
            <a:extLst>
              <a:ext uri="{FF2B5EF4-FFF2-40B4-BE49-F238E27FC236}">
                <a16:creationId xmlns:a16="http://schemas.microsoft.com/office/drawing/2014/main" id="{545A5FDD-82C9-C922-7F74-7EB84F4DB9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21" y="1988840"/>
            <a:ext cx="7667311" cy="407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2526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145" y="1011217"/>
            <a:ext cx="6696223" cy="401559"/>
          </a:xfrm>
        </p:spPr>
        <p:txBody>
          <a:bodyPr/>
          <a:lstStyle/>
          <a:p>
            <a:r>
              <a:rPr lang="en-US" dirty="0"/>
              <a:t>Use of IP Routers instead of TP Couplers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776344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sz="2000" b="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Solution for massive KNX installations using BMS software</a:t>
            </a:r>
          </a:p>
          <a:p>
            <a:pPr>
              <a:lnSpc>
                <a:spcPct val="150000"/>
              </a:lnSpc>
              <a:defRPr/>
            </a:pPr>
            <a:endParaRPr lang="en-US" sz="2000" kern="0" dirty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Imagen 1" descr="Diagrama&#10;&#10;Descripción generada automáticamente">
            <a:extLst>
              <a:ext uri="{FF2B5EF4-FFF2-40B4-BE49-F238E27FC236}">
                <a16:creationId xmlns:a16="http://schemas.microsoft.com/office/drawing/2014/main" id="{5E504B56-2989-BD43-63C0-AC10429C99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81" y="2276871"/>
            <a:ext cx="7325711" cy="390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546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145" y="1011217"/>
            <a:ext cx="6696223" cy="401559"/>
          </a:xfrm>
        </p:spPr>
        <p:txBody>
          <a:bodyPr/>
          <a:lstStyle/>
          <a:p>
            <a:r>
              <a:rPr lang="en-US" dirty="0"/>
              <a:t>Use of IP Interfaces instead of TP Couplers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323528" y="1412776"/>
            <a:ext cx="8640960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sz="2000" b="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Solution for multi-site visualization using BMS software and IP Interfaces instead of IP Routers</a:t>
            </a:r>
          </a:p>
          <a:p>
            <a:pPr>
              <a:lnSpc>
                <a:spcPct val="150000"/>
              </a:lnSpc>
              <a:defRPr/>
            </a:pPr>
            <a:endParaRPr lang="en-US" sz="2000" kern="0" dirty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Imagen 3" descr="Diagrama, Esquemático&#10;&#10;Descripción generada automáticamente">
            <a:extLst>
              <a:ext uri="{FF2B5EF4-FFF2-40B4-BE49-F238E27FC236}">
                <a16:creationId xmlns:a16="http://schemas.microsoft.com/office/drawing/2014/main" id="{0732BE38-3750-BB87-65CC-1B62538FFA0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36"/>
          <a:stretch/>
        </p:blipFill>
        <p:spPr bwMode="auto">
          <a:xfrm>
            <a:off x="885740" y="2348880"/>
            <a:ext cx="7516535" cy="394426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86714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145" y="1011217"/>
            <a:ext cx="6696223" cy="401559"/>
          </a:xfrm>
        </p:spPr>
        <p:txBody>
          <a:bodyPr/>
          <a:lstStyle/>
          <a:p>
            <a:r>
              <a:rPr lang="en-US" dirty="0"/>
              <a:t>Use of IP Interfaces and TP Couplers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323528" y="1412776"/>
            <a:ext cx="8640960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sz="2000" b="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Solution for old KNX TP installations using BMS software and IP Interfaces</a:t>
            </a:r>
          </a:p>
          <a:p>
            <a:pPr>
              <a:lnSpc>
                <a:spcPct val="150000"/>
              </a:lnSpc>
              <a:defRPr/>
            </a:pPr>
            <a:endParaRPr lang="en-US" sz="2000" kern="0" dirty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Imagen 1" descr="Diagrama, Esquemático&#10;&#10;Descripción generada automáticamente">
            <a:extLst>
              <a:ext uri="{FF2B5EF4-FFF2-40B4-BE49-F238E27FC236}">
                <a16:creationId xmlns:a16="http://schemas.microsoft.com/office/drawing/2014/main" id="{D1F936EB-AEB6-FB05-E9F9-749553B688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851" y="2996952"/>
            <a:ext cx="7083653" cy="3240360"/>
          </a:xfrm>
          <a:prstGeom prst="rect">
            <a:avLst/>
          </a:prstGeom>
        </p:spPr>
      </p:pic>
      <p:pic>
        <p:nvPicPr>
          <p:cNvPr id="5" name="Imagen 4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2EC006B7-C781-69C3-1EFB-0AAEAB94B0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1916832"/>
            <a:ext cx="3794503" cy="1872208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BDBC4CA0-115A-0074-411F-16A2161B07B7}"/>
              </a:ext>
            </a:extLst>
          </p:cNvPr>
          <p:cNvCxnSpPr/>
          <p:nvPr/>
        </p:nvCxnSpPr>
        <p:spPr>
          <a:xfrm>
            <a:off x="2987824" y="3068960"/>
            <a:ext cx="1440160" cy="864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4972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137" y="1052736"/>
            <a:ext cx="6696223" cy="432048"/>
          </a:xfrm>
        </p:spPr>
        <p:txBody>
          <a:bodyPr/>
          <a:lstStyle/>
          <a:p>
            <a:r>
              <a:rPr lang="en-US" dirty="0"/>
              <a:t>Types of </a:t>
            </a:r>
            <a:r>
              <a:rPr lang="en-GB" dirty="0"/>
              <a:t>Visualization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632328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sz="2000" kern="0" dirty="0">
                <a:ea typeface="Open Sans" panose="020B0606030504020204" pitchFamily="34" charset="0"/>
                <a:cs typeface="Open Sans" panose="020B0606030504020204" pitchFamily="34" charset="0"/>
              </a:rPr>
              <a:t>KNX device with embedded </a:t>
            </a:r>
            <a:r>
              <a:rPr lang="en-GB" sz="2000" kern="0" dirty="0">
                <a:ea typeface="Open Sans" panose="020B0606030504020204" pitchFamily="34" charset="0"/>
                <a:cs typeface="Open Sans" panose="020B0606030504020204" pitchFamily="34" charset="0"/>
              </a:rPr>
              <a:t>visualization</a:t>
            </a:r>
            <a:r>
              <a:rPr lang="en-US" sz="2000" kern="0" dirty="0">
                <a:ea typeface="Open Sans" panose="020B0606030504020204" pitchFamily="34" charset="0"/>
                <a:cs typeface="Open Sans" panose="020B0606030504020204" pitchFamily="34" charset="0"/>
              </a:rPr>
              <a:t> software: </a:t>
            </a:r>
            <a:r>
              <a:rPr lang="en-US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Such as a touch panel with an embedded configurable KNX BCU</a:t>
            </a:r>
          </a:p>
          <a:p>
            <a:pPr>
              <a:lnSpc>
                <a:spcPct val="150000"/>
              </a:lnSpc>
              <a:defRPr/>
            </a:pPr>
            <a:endParaRPr lang="en-US" sz="1000" kern="0" dirty="0">
              <a:solidFill>
                <a:schemeClr val="tx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sz="2000" kern="0" dirty="0">
                <a:ea typeface="Open Sans" panose="020B0606030504020204" pitchFamily="34" charset="0"/>
                <a:cs typeface="Open Sans" panose="020B0606030504020204" pitchFamily="34" charset="0"/>
              </a:rPr>
              <a:t>Mobile device</a:t>
            </a:r>
            <a:r>
              <a:rPr lang="en-US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: Such as a smartphone or a tablet, which has the software installed on it. Usually, the connection is achieved via </a:t>
            </a:r>
            <a:r>
              <a:rPr lang="en-US" sz="2000" kern="0" dirty="0" err="1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WiFi</a:t>
            </a:r>
            <a:r>
              <a:rPr lang="en-US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using a </a:t>
            </a:r>
            <a:r>
              <a:rPr lang="en-US" sz="2000" kern="0" dirty="0" err="1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KNXnet</a:t>
            </a:r>
            <a:r>
              <a:rPr lang="en-US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/IP router/interface</a:t>
            </a:r>
          </a:p>
          <a:p>
            <a:pPr>
              <a:lnSpc>
                <a:spcPct val="150000"/>
              </a:lnSpc>
              <a:defRPr/>
            </a:pPr>
            <a:endParaRPr lang="en-US" sz="10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sz="2000" kern="0" dirty="0">
                <a:ea typeface="Open Sans" panose="020B0606030504020204" pitchFamily="34" charset="0"/>
                <a:cs typeface="Open Sans" panose="020B0606030504020204" pitchFamily="34" charset="0"/>
              </a:rPr>
              <a:t>Client/Server based </a:t>
            </a:r>
            <a:r>
              <a:rPr lang="en-GB" sz="2000" kern="0" dirty="0">
                <a:ea typeface="Open Sans" panose="020B0606030504020204" pitchFamily="34" charset="0"/>
                <a:cs typeface="Open Sans" panose="020B0606030504020204" pitchFamily="34" charset="0"/>
              </a:rPr>
              <a:t>visualization</a:t>
            </a:r>
            <a:r>
              <a:rPr lang="en-US" sz="2000" kern="0" dirty="0">
                <a:ea typeface="Open Sans" panose="020B0606030504020204" pitchFamily="34" charset="0"/>
                <a:cs typeface="Open Sans" panose="020B0606030504020204" pitchFamily="34" charset="0"/>
              </a:rPr>
              <a:t>:  </a:t>
            </a:r>
            <a:r>
              <a:rPr lang="en-US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Software runs on a central device as server and can be accessed by other devices as clients</a:t>
            </a:r>
          </a:p>
          <a:p>
            <a:pPr marL="457200" indent="-457200">
              <a:buFont typeface="+mj-lt"/>
              <a:buAutoNum type="arabicPeriod"/>
            </a:pPr>
            <a:endParaRPr lang="en-US" sz="24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0469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4704"/>
            <a:ext cx="6696223" cy="719138"/>
          </a:xfrm>
        </p:spPr>
        <p:txBody>
          <a:bodyPr/>
          <a:lstStyle/>
          <a:p>
            <a:r>
              <a:rPr lang="en-US" dirty="0"/>
              <a:t>KNX Device with Embedded Software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35496" y="1556792"/>
            <a:ext cx="7128792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sz="1600" kern="0" dirty="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It is usually a display unit or touch panel, with an embedded KNX controller, to connect to the bus and monitor and control the KNX installation. </a:t>
            </a:r>
          </a:p>
          <a:p>
            <a:pPr>
              <a:lnSpc>
                <a:spcPct val="150000"/>
              </a:lnSpc>
              <a:defRPr/>
            </a:pPr>
            <a:r>
              <a:rPr lang="en-US" sz="1600" kern="0" dirty="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Configured and commissioned with 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KNX “S-mode” by ETS, sometime using DCA Apps or plug-ins. </a:t>
            </a:r>
            <a:endParaRPr lang="en-US" sz="1600" kern="0" dirty="0">
              <a:solidFill>
                <a:schemeClr val="tx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n 1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FD80A7E0-E500-AEFB-07BC-D796F9C666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3717032"/>
            <a:ext cx="6342530" cy="2417783"/>
          </a:xfrm>
          <a:prstGeom prst="rect">
            <a:avLst/>
          </a:prstGeom>
        </p:spPr>
      </p:pic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936C1FF8-D6A2-425A-1426-ECBA15767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296" y="1063397"/>
            <a:ext cx="1727200" cy="986790"/>
          </a:xfrm>
          <a:prstGeom prst="rect">
            <a:avLst/>
          </a:prstGeom>
        </p:spPr>
      </p:pic>
      <p:pic>
        <p:nvPicPr>
          <p:cNvPr id="5" name="Imagen 4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87F82D1C-AA9E-3599-0A80-B83E500060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6895" y="4204485"/>
            <a:ext cx="2595032" cy="1600779"/>
          </a:xfrm>
          <a:prstGeom prst="rect">
            <a:avLst/>
          </a:prstGeom>
        </p:spPr>
      </p:pic>
      <p:pic>
        <p:nvPicPr>
          <p:cNvPr id="6" name="Imagen 5" descr="Imagen de la pantalla de un celular con letras&#10;&#10;Descripción generada automáticamente con confianza media">
            <a:extLst>
              <a:ext uri="{FF2B5EF4-FFF2-40B4-BE49-F238E27FC236}">
                <a16:creationId xmlns:a16="http://schemas.microsoft.com/office/drawing/2014/main" id="{2E2A77A1-7C8B-44BF-3BF7-9E1A48C94C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5713" y="2078955"/>
            <a:ext cx="1048385" cy="1990725"/>
          </a:xfrm>
          <a:prstGeom prst="rect">
            <a:avLst/>
          </a:prstGeom>
        </p:spPr>
      </p:pic>
      <p:pic>
        <p:nvPicPr>
          <p:cNvPr id="8" name="Imagen 7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48C17F5B-A454-321A-BB1C-4C9B3882DFA3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8" t="15188" r="69618" b="19526"/>
          <a:stretch/>
        </p:blipFill>
        <p:spPr bwMode="auto">
          <a:xfrm>
            <a:off x="7070265" y="2146131"/>
            <a:ext cx="920574" cy="174421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732503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5646"/>
            <a:ext cx="6696223" cy="719138"/>
          </a:xfrm>
        </p:spPr>
        <p:txBody>
          <a:bodyPr/>
          <a:lstStyle/>
          <a:p>
            <a:r>
              <a:rPr lang="en-US" dirty="0"/>
              <a:t>KNX Device with Embedded Software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35496" y="1556792"/>
            <a:ext cx="7128792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sz="16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Touch screen with additional smartphone/tablet access</a:t>
            </a:r>
          </a:p>
          <a:p>
            <a:pPr>
              <a:lnSpc>
                <a:spcPct val="150000"/>
              </a:lnSpc>
              <a:defRPr/>
            </a:pPr>
            <a:r>
              <a:rPr lang="en-US" sz="16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Allow local or secured remote access to the device</a:t>
            </a:r>
          </a:p>
          <a:p>
            <a:pPr>
              <a:lnSpc>
                <a:spcPct val="150000"/>
              </a:lnSpc>
              <a:defRPr/>
            </a:pPr>
            <a:r>
              <a:rPr lang="en-US" sz="16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No networking configuration is needed</a:t>
            </a:r>
          </a:p>
        </p:txBody>
      </p:sp>
      <p:pic>
        <p:nvPicPr>
          <p:cNvPr id="7" name="Imagen 6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0FBBA57D-1262-4CAA-BF05-734FDF1F90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945" y="3405187"/>
            <a:ext cx="1202055" cy="2543175"/>
          </a:xfrm>
          <a:prstGeom prst="rect">
            <a:avLst/>
          </a:prstGeom>
        </p:spPr>
      </p:pic>
      <p:pic>
        <p:nvPicPr>
          <p:cNvPr id="10" name="Imagen 9" descr="Pantalla de un celular en la mano&#10;&#10;Descripción generada automáticamente">
            <a:extLst>
              <a:ext uri="{FF2B5EF4-FFF2-40B4-BE49-F238E27FC236}">
                <a16:creationId xmlns:a16="http://schemas.microsoft.com/office/drawing/2014/main" id="{C1DF0060-DD33-8D97-1334-11DD51AC5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757" y="3429000"/>
            <a:ext cx="1412875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0508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888" y="736034"/>
            <a:ext cx="6696223" cy="719138"/>
          </a:xfrm>
        </p:spPr>
        <p:txBody>
          <a:bodyPr/>
          <a:lstStyle/>
          <a:p>
            <a:r>
              <a:rPr lang="en-US" dirty="0"/>
              <a:t>Mobile </a:t>
            </a:r>
            <a:r>
              <a:rPr lang="en-GB" dirty="0"/>
              <a:t>Visualization</a:t>
            </a:r>
            <a:r>
              <a:rPr lang="en-US" dirty="0"/>
              <a:t> Software 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776344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sz="2000" kern="0" dirty="0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Mobile device, usually equipped with </a:t>
            </a:r>
            <a:r>
              <a:rPr lang="en-US" sz="2000" kern="0" dirty="0" err="1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WiFi</a:t>
            </a:r>
            <a:r>
              <a:rPr lang="en-US" sz="2000" kern="0" dirty="0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adapter and using a visualization app accessing data via </a:t>
            </a:r>
            <a:r>
              <a:rPr lang="en-US" sz="2000" kern="0" dirty="0" err="1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KNXnet</a:t>
            </a:r>
            <a:r>
              <a:rPr lang="en-US" sz="2000" kern="0" dirty="0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/IP</a:t>
            </a:r>
          </a:p>
          <a:p>
            <a:pPr marL="457200" indent="-457200">
              <a:buFont typeface="+mj-lt"/>
              <a:buAutoNum type="arabicPeriod"/>
            </a:pPr>
            <a:endParaRPr lang="en-US" sz="24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2E1937-93F7-4CDE-88E0-EAF35F39D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733080"/>
            <a:ext cx="6264696" cy="36179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D986A6-9EEE-4A10-8078-89BDF778C35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525" y="4324497"/>
            <a:ext cx="1287195" cy="19425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E1DAFF-A710-4BB8-821F-B9E643F1A8EE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533" y="4329919"/>
            <a:ext cx="1287195" cy="19425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7C35AD-9F7B-4F57-8A46-221230E11BC7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542" y="4324497"/>
            <a:ext cx="1883866" cy="194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8279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386" y="698284"/>
            <a:ext cx="6696223" cy="719138"/>
          </a:xfrm>
        </p:spPr>
        <p:txBody>
          <a:bodyPr/>
          <a:lstStyle/>
          <a:p>
            <a:r>
              <a:rPr lang="en-US" dirty="0"/>
              <a:t>Configuring a Mobile </a:t>
            </a:r>
            <a:r>
              <a:rPr lang="en-GB" dirty="0"/>
              <a:t>Visualization</a:t>
            </a:r>
            <a:r>
              <a:rPr lang="en-US" dirty="0"/>
              <a:t> Software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1" y="1556792"/>
            <a:ext cx="3095825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sz="1800" kern="0" dirty="0">
                <a:ea typeface="Open Sans" panose="020B0606030504020204" pitchFamily="34" charset="0"/>
                <a:cs typeface="Open Sans" panose="020B0606030504020204" pitchFamily="34" charset="0"/>
              </a:rPr>
              <a:t>Use of external configuration software</a:t>
            </a:r>
          </a:p>
          <a:p>
            <a:pPr>
              <a:lnSpc>
                <a:spcPct val="150000"/>
              </a:lnSpc>
              <a:defRPr/>
            </a:pPr>
            <a:endParaRPr lang="en-US" sz="1800" kern="0" dirty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1800" kern="0" dirty="0">
              <a:solidFill>
                <a:schemeClr val="bg1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GB" sz="1800" dirty="0"/>
              <a:t>Use of the embedded configurator of the app</a:t>
            </a:r>
            <a:endParaRPr lang="en-US" sz="18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15556E-783A-4B3D-8C11-434D08DA873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1484784"/>
            <a:ext cx="2715984" cy="19684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A08C27-320D-46D2-9A1A-E526E5CFC27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1494943"/>
            <a:ext cx="1327061" cy="19582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D7F149-BD05-4464-BC4A-AD03FD53FE6E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857" y="3933056"/>
            <a:ext cx="1180465" cy="17703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0DCE82-5C62-40FE-8E3B-1F8930D1703E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226" y="3933056"/>
            <a:ext cx="1180465" cy="17703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36172F-A877-4245-BC51-A3F02ABBA417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4596" y="3933056"/>
            <a:ext cx="1181100" cy="17710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D20BF9A-BA3F-4D93-A2DF-82F625691953}"/>
              </a:ext>
            </a:extLst>
          </p:cNvPr>
          <p:cNvSpPr/>
          <p:nvPr/>
        </p:nvSpPr>
        <p:spPr>
          <a:xfrm>
            <a:off x="5004048" y="3429000"/>
            <a:ext cx="360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Arial" panose="020B0604020202020204" pitchFamily="34" charset="0"/>
                <a:ea typeface="Calibri" panose="020F0502020204030204" pitchFamily="34" charset="0"/>
              </a:rPr>
              <a:t>Configuration tool and preview</a:t>
            </a:r>
            <a:endParaRPr lang="es-ES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03B113-0E75-43F3-B935-77AA9EE1DD0F}"/>
              </a:ext>
            </a:extLst>
          </p:cNvPr>
          <p:cNvSpPr/>
          <p:nvPr/>
        </p:nvSpPr>
        <p:spPr>
          <a:xfrm>
            <a:off x="4503901" y="5733256"/>
            <a:ext cx="41005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/>
              <a:t>Embedded configurator. Adding group addresses manually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40634301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4704"/>
            <a:ext cx="6696223" cy="719138"/>
          </a:xfrm>
        </p:spPr>
        <p:txBody>
          <a:bodyPr/>
          <a:lstStyle/>
          <a:p>
            <a:r>
              <a:rPr lang="en-US" dirty="0"/>
              <a:t>Webservers and Logic controllers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35496" y="1484784"/>
            <a:ext cx="7776344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sz="2000" kern="0" dirty="0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Embedded devices, usually for DIN rail installation.</a:t>
            </a:r>
          </a:p>
          <a:p>
            <a:pPr>
              <a:lnSpc>
                <a:spcPct val="150000"/>
              </a:lnSpc>
              <a:defRPr/>
            </a:pPr>
            <a:r>
              <a:rPr lang="en-US" sz="2000" kern="0" dirty="0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Not limited only to visualization: </a:t>
            </a:r>
          </a:p>
          <a:p>
            <a:pPr marL="457200" indent="-457200">
              <a:buFont typeface="+mj-lt"/>
              <a:buAutoNum type="arabicPeriod"/>
            </a:pPr>
            <a:endParaRPr lang="en-US" sz="24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2771" name="Imagen 303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EC5616EE-BFC6-1D19-0446-48AAE41C9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858" y="3301869"/>
            <a:ext cx="1857375" cy="2231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70" name="Imagen 304" descr="Imagen que contiene Gráfico de embudo&#10;&#10;Descripción generada automáticamente">
            <a:extLst>
              <a:ext uri="{FF2B5EF4-FFF2-40B4-BE49-F238E27FC236}">
                <a16:creationId xmlns:a16="http://schemas.microsoft.com/office/drawing/2014/main" id="{56FE9D14-BD57-3C29-FFAB-9AA94DDCB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45" r="19727"/>
          <a:stretch>
            <a:fillRect/>
          </a:stretch>
        </p:blipFill>
        <p:spPr bwMode="auto">
          <a:xfrm>
            <a:off x="6883152" y="2176897"/>
            <a:ext cx="1857375" cy="170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69" name="Imagen 305" descr="Texto, Código QR&#10;&#10;Descripción generada automáticamente">
            <a:extLst>
              <a:ext uri="{FF2B5EF4-FFF2-40B4-BE49-F238E27FC236}">
                <a16:creationId xmlns:a16="http://schemas.microsoft.com/office/drawing/2014/main" id="{61ED44CE-0C25-CDE5-EAF8-4990785F9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2892" y="3965865"/>
            <a:ext cx="1600200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7A23B33A-DC75-6B44-8E32-341573C71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C3CD725-4C48-019B-D037-19A76EFB3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864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70DA22D-FFCC-1492-AE1F-9D17B804DBC1}"/>
              </a:ext>
            </a:extLst>
          </p:cNvPr>
          <p:cNvSpPr txBox="1"/>
          <p:nvPr/>
        </p:nvSpPr>
        <p:spPr>
          <a:xfrm>
            <a:off x="35495" y="2492896"/>
            <a:ext cx="5328593" cy="378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Bef>
                <a:spcPts val="300"/>
              </a:spcBef>
              <a:buFont typeface="Symbol" panose="05050102010706020507" pitchFamily="18" charset="2"/>
              <a:buBlip>
                <a:blip r:embed="rId6"/>
              </a:buBlip>
            </a:pPr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Allow Configuration of alarms, scenes, macros and schedules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Blip>
                <a:blip r:embed="rId6"/>
              </a:buBlip>
            </a:pPr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Allow recording of data for their representation in graphs.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Blip>
                <a:blip r:embed="rId6"/>
              </a:buBlip>
            </a:pPr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Can be used as IP Router and coupler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Blip>
                <a:blip r:embed="rId6"/>
              </a:buBlip>
            </a:pPr>
            <a:r>
              <a:rPr lang="en-GB" sz="1400" dirty="0">
                <a:latin typeface="Arial" panose="020B0604020202020204" pitchFamily="34" charset="0"/>
                <a:ea typeface="Calibri" panose="020F0502020204030204" pitchFamily="34" charset="0"/>
              </a:rPr>
              <a:t>T</a:t>
            </a:r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unneling connection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Blip>
                <a:blip r:embed="rId6"/>
              </a:buBlip>
            </a:pPr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Secure VPN access configuration to the installation through the device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Blip>
                <a:blip r:embed="rId6"/>
              </a:buBlip>
            </a:pPr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Include a logic engine and a script engine for more complex configurations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Blip>
                <a:blip r:embed="rId6"/>
              </a:buBlip>
            </a:pPr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Voice control and integration with smart assistants like Alexa or Google Home.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Blip>
                <a:blip r:embed="rId6"/>
              </a:buBlip>
            </a:pPr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Integration with sound systems like </a:t>
            </a:r>
            <a:r>
              <a:rPr lang="en-GB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Sonos</a:t>
            </a:r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®.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300"/>
              </a:spcAft>
              <a:buFont typeface="Symbol" panose="05050102010706020507" pitchFamily="18" charset="2"/>
              <a:buBlip>
                <a:blip r:embed="rId6"/>
              </a:buBlip>
            </a:pPr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Direct integration of KNX with other field buses and with other protocols such as Modbus RTU, Modbus TCP, BACnet IP, MQTT, LORA, Zigbee, etc.</a:t>
            </a:r>
            <a:endParaRPr lang="es-ES" sz="1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9322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764704"/>
            <a:ext cx="6696223" cy="719138"/>
          </a:xfrm>
        </p:spPr>
        <p:txBody>
          <a:bodyPr/>
          <a:lstStyle/>
          <a:p>
            <a:r>
              <a:rPr lang="en-US" dirty="0"/>
              <a:t>Webservers and Logic controllers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35496" y="1556792"/>
            <a:ext cx="9144000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sz="2000" kern="0" dirty="0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Configuration made via web. </a:t>
            </a:r>
            <a:r>
              <a:rPr lang="en-US" sz="2000" kern="0" dirty="0" err="1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Wizzard</a:t>
            </a:r>
            <a:r>
              <a:rPr lang="en-US" sz="2000" kern="0" dirty="0">
                <a:solidFill>
                  <a:schemeClr val="bg1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/assistant sometimes also available</a:t>
            </a:r>
          </a:p>
          <a:p>
            <a:pPr marL="457200" indent="-457200">
              <a:buFont typeface="+mj-lt"/>
              <a:buAutoNum type="arabicPeriod"/>
            </a:pPr>
            <a:endParaRPr lang="en-US" sz="24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23B33A-DC75-6B44-8E32-341573C71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C3CD725-4C48-019B-D037-19A76EFB3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864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2" name="Imagen 1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6A21029C-9EDA-75E8-3FA0-332420A86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2244411"/>
            <a:ext cx="5580380" cy="3053715"/>
          </a:xfrm>
          <a:prstGeom prst="rect">
            <a:avLst/>
          </a:prstGeom>
        </p:spPr>
      </p:pic>
      <p:pic>
        <p:nvPicPr>
          <p:cNvPr id="5" name="Imagen 4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3DBCE4AA-3A78-F358-19C7-7895A495D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9724" y="3212976"/>
            <a:ext cx="5094764" cy="297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2895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624" y="1052736"/>
            <a:ext cx="6696223" cy="266924"/>
          </a:xfrm>
        </p:spPr>
        <p:txBody>
          <a:bodyPr/>
          <a:lstStyle/>
          <a:p>
            <a:r>
              <a:rPr lang="en-US" dirty="0"/>
              <a:t>Client/Server based Visualization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586CE-EB4A-496E-9B62-001E25693E4A}"/>
              </a:ext>
            </a:extLst>
          </p:cNvPr>
          <p:cNvSpPr txBox="1">
            <a:spLocks/>
          </p:cNvSpPr>
          <p:nvPr/>
        </p:nvSpPr>
        <p:spPr>
          <a:xfrm>
            <a:off x="900112" y="1556792"/>
            <a:ext cx="7776344" cy="489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Central units with the ability to access them by several users and in many cases with different privileges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en-US" sz="14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2000" kern="0" dirty="0">
                <a:ea typeface="Open Sans" panose="020B0606030504020204" pitchFamily="34" charset="0"/>
                <a:cs typeface="Open Sans" panose="020B0606030504020204" pitchFamily="34" charset="0"/>
              </a:rPr>
              <a:t>Models:</a:t>
            </a:r>
          </a:p>
          <a:p>
            <a:pPr>
              <a:lnSpc>
                <a:spcPct val="150000"/>
              </a:lnSpc>
              <a:defRPr/>
            </a:pPr>
            <a:r>
              <a:rPr lang="en-US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standalone software tool, installed on a PC with access to the bus and other clients</a:t>
            </a:r>
          </a:p>
          <a:p>
            <a:pPr>
              <a:lnSpc>
                <a:spcPct val="150000"/>
              </a:lnSpc>
              <a:defRPr/>
            </a:pPr>
            <a:r>
              <a:rPr lang="en-US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Compact computer with an embedded, freely configurable visualization software and a KNX interface to the bus </a:t>
            </a:r>
          </a:p>
          <a:p>
            <a:pPr marL="0" indent="0">
              <a:buNone/>
            </a:pPr>
            <a:endParaRPr lang="en-US" sz="18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Configuration can differ from one manufacturer to another</a:t>
            </a:r>
          </a:p>
        </p:txBody>
      </p:sp>
    </p:spTree>
    <p:extLst>
      <p:ext uri="{BB962C8B-B14F-4D97-AF65-F5344CB8AC3E}">
        <p14:creationId xmlns:p14="http://schemas.microsoft.com/office/powerpoint/2010/main" val="19768040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5FC957C7-A689-4ED3-EFBF-218C2B10905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9" r="3733"/>
          <a:stretch/>
        </p:blipFill>
        <p:spPr bwMode="auto">
          <a:xfrm>
            <a:off x="179512" y="2492896"/>
            <a:ext cx="8834860" cy="378108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6C8626DE-F5E6-CCD5-378E-5B4842D0E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Client/Server based Visualization</a:t>
            </a:r>
            <a:endParaRPr lang="en-GB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2DF27B7-11A0-2434-6FCB-A3E4A3F977C3}"/>
              </a:ext>
            </a:extLst>
          </p:cNvPr>
          <p:cNvSpPr txBox="1"/>
          <p:nvPr/>
        </p:nvSpPr>
        <p:spPr>
          <a:xfrm>
            <a:off x="179512" y="1548854"/>
            <a:ext cx="7704856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sz="18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For big projects, usually as a client of a BMS.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18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Allow different levels of visualization (central, partial, per user,…)</a:t>
            </a:r>
          </a:p>
        </p:txBody>
      </p:sp>
    </p:spTree>
    <p:extLst>
      <p:ext uri="{BB962C8B-B14F-4D97-AF65-F5344CB8AC3E}">
        <p14:creationId xmlns:p14="http://schemas.microsoft.com/office/powerpoint/2010/main" val="10061817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4C310BE-DC3F-211E-173E-7D249BA0BE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New </a:t>
            </a:r>
            <a:r>
              <a:rPr lang="es-ES" dirty="0" err="1"/>
              <a:t>user</a:t>
            </a:r>
            <a:r>
              <a:rPr lang="es-ES" dirty="0"/>
              <a:t> interfaces. </a:t>
            </a:r>
            <a:r>
              <a:rPr lang="es-ES" dirty="0" err="1"/>
              <a:t>Voice</a:t>
            </a:r>
            <a:r>
              <a:rPr lang="es-ES" dirty="0"/>
              <a:t> control and </a:t>
            </a:r>
            <a:r>
              <a:rPr lang="es-ES" dirty="0" err="1"/>
              <a:t>intelligent</a:t>
            </a:r>
            <a:r>
              <a:rPr lang="es-ES" dirty="0"/>
              <a:t> </a:t>
            </a:r>
            <a:r>
              <a:rPr lang="es-ES" dirty="0" err="1"/>
              <a:t>assistants</a:t>
            </a:r>
            <a:endParaRPr lang="es-ES" dirty="0"/>
          </a:p>
        </p:txBody>
      </p:sp>
      <p:pic>
        <p:nvPicPr>
          <p:cNvPr id="4" name="Marcador de contenido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9A8AEBFA-4514-0D63-3FFA-0B4DF57395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68" y="2593938"/>
            <a:ext cx="5573952" cy="2635262"/>
          </a:xfrm>
          <a:prstGeom prst="rect">
            <a:avLst/>
          </a:prstGeom>
        </p:spPr>
      </p:pic>
      <p:pic>
        <p:nvPicPr>
          <p:cNvPr id="34820" name="Imagen 4096" descr="Imagen de la pantalla de un celular con letras&#10;&#10;Descripción generada automáticamente con confianza media">
            <a:extLst>
              <a:ext uri="{FF2B5EF4-FFF2-40B4-BE49-F238E27FC236}">
                <a16:creationId xmlns:a16="http://schemas.microsoft.com/office/drawing/2014/main" id="{DBF5EFE7-AD44-02F5-E551-AE829A40E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85" t="8363" r="19948" b="12608"/>
          <a:stretch>
            <a:fillRect/>
          </a:stretch>
        </p:blipFill>
        <p:spPr bwMode="auto">
          <a:xfrm>
            <a:off x="5980137" y="2003011"/>
            <a:ext cx="1400175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19" name="Picture 14" descr="Imagen que contiene pequeño, monitor, microondas, medidor&#10;&#10;Descripción generada automáticamente">
            <a:extLst>
              <a:ext uri="{FF2B5EF4-FFF2-40B4-BE49-F238E27FC236}">
                <a16:creationId xmlns:a16="http://schemas.microsoft.com/office/drawing/2014/main" id="{F5C30E4A-603A-10B7-B708-B7A7877E3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62" r="4155"/>
          <a:stretch>
            <a:fillRect/>
          </a:stretch>
        </p:blipFill>
        <p:spPr bwMode="auto">
          <a:xfrm>
            <a:off x="6503582" y="4230440"/>
            <a:ext cx="1209675" cy="192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18" name="Imagen 316" descr="Texto, Pizarra&#10;&#10;Descripción generada automáticamente">
            <a:extLst>
              <a:ext uri="{FF2B5EF4-FFF2-40B4-BE49-F238E27FC236}">
                <a16:creationId xmlns:a16="http://schemas.microsoft.com/office/drawing/2014/main" id="{8B036F0E-D3F6-E397-5BAC-E5735BD32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5" t="7178" r="10526"/>
          <a:stretch>
            <a:fillRect/>
          </a:stretch>
        </p:blipFill>
        <p:spPr bwMode="auto">
          <a:xfrm>
            <a:off x="7380312" y="1988906"/>
            <a:ext cx="16287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17" name="Imagen 319" descr="Imagen que contiene firmar, calle, oscuro, lado&#10;&#10;Descripción generada automáticamente">
            <a:extLst>
              <a:ext uri="{FF2B5EF4-FFF2-40B4-BE49-F238E27FC236}">
                <a16:creationId xmlns:a16="http://schemas.microsoft.com/office/drawing/2014/main" id="{D322CAAB-DB98-9E2A-912B-83A929199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71" t="12482" r="39919" b="13591"/>
          <a:stretch>
            <a:fillRect/>
          </a:stretch>
        </p:blipFill>
        <p:spPr bwMode="auto">
          <a:xfrm>
            <a:off x="7956376" y="4306987"/>
            <a:ext cx="962025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FDA5EF16-1FA8-C6B6-7DB1-17C03FA21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8A962E8-7508-E677-6D1C-E5CB28BBE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8581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49428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4C310BE-DC3F-211E-173E-7D249BA0BE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 err="1"/>
              <a:t>Configuring</a:t>
            </a:r>
            <a:r>
              <a:rPr lang="es-ES" dirty="0"/>
              <a:t> a Smart Assistant </a:t>
            </a:r>
            <a:r>
              <a:rPr lang="es-ES" dirty="0" err="1"/>
              <a:t>for</a:t>
            </a:r>
            <a:r>
              <a:rPr lang="es-ES" dirty="0"/>
              <a:t> a KNX </a:t>
            </a:r>
            <a:r>
              <a:rPr lang="es-ES" dirty="0" err="1"/>
              <a:t>installation</a:t>
            </a:r>
            <a:endParaRPr lang="es-E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DA5EF16-1FA8-C6B6-7DB1-17C03FA21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8A962E8-7508-E677-6D1C-E5CB28BBE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8581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37890" name="Imagen 4099" descr="Interfaz de usuario gráfica, Texto, Aplicación, Sitio web&#10;&#10;Descripción generada automáticamente">
            <a:extLst>
              <a:ext uri="{FF2B5EF4-FFF2-40B4-BE49-F238E27FC236}">
                <a16:creationId xmlns:a16="http://schemas.microsoft.com/office/drawing/2014/main" id="{4F2E7993-0CC6-3E3F-22A0-CECA243A5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603715"/>
            <a:ext cx="3719771" cy="1897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889" name="Imagen 4100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DFD31B34-5C34-123C-76A6-C2545D817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173659"/>
            <a:ext cx="6102499" cy="2983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CAA041F8-C884-D324-A200-DC00593D7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490FC1F-8311-D868-B878-AE278B781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43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D430B282-4D13-9285-1C1E-62E752681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29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32664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A051941-D8CE-293F-7CAA-3E2B4E94AE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 err="1"/>
              <a:t>Comparison</a:t>
            </a:r>
            <a:r>
              <a:rPr lang="es-ES" dirty="0"/>
              <a:t> </a:t>
            </a:r>
            <a:r>
              <a:rPr lang="es-ES" dirty="0" err="1"/>
              <a:t>between</a:t>
            </a:r>
            <a:r>
              <a:rPr lang="es-ES" dirty="0"/>
              <a:t> Smart </a:t>
            </a:r>
            <a:r>
              <a:rPr lang="es-ES" dirty="0" err="1"/>
              <a:t>Assistants</a:t>
            </a:r>
            <a:endParaRPr lang="es-ES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57A8F2E-A96A-B810-032E-E333EE99D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498528"/>
              </p:ext>
            </p:extLst>
          </p:nvPr>
        </p:nvGraphicFramePr>
        <p:xfrm>
          <a:off x="2837475" y="1600204"/>
          <a:ext cx="3606733" cy="45259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51143">
                  <a:extLst>
                    <a:ext uri="{9D8B030D-6E8A-4147-A177-3AD203B41FA5}">
                      <a16:colId xmlns:a16="http://schemas.microsoft.com/office/drawing/2014/main" val="1036064050"/>
                    </a:ext>
                  </a:extLst>
                </a:gridCol>
                <a:gridCol w="2355590">
                  <a:extLst>
                    <a:ext uri="{9D8B030D-6E8A-4147-A177-3AD203B41FA5}">
                      <a16:colId xmlns:a16="http://schemas.microsoft.com/office/drawing/2014/main" val="2946360121"/>
                    </a:ext>
                  </a:extLst>
                </a:gridCol>
              </a:tblGrid>
              <a:tr h="6031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</a:pPr>
                      <a:r>
                        <a:rPr lang="en-GB" sz="800">
                          <a:effectLst/>
                        </a:rPr>
                        <a:t>Voice control service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rowSpan="2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GB" sz="9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900" dirty="0">
                          <a:effectLst/>
                        </a:rPr>
                        <a:t> </a:t>
                      </a:r>
                      <a:endParaRPr lang="es-ES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356544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GB" sz="800">
                          <a:effectLst/>
                        </a:rPr>
                        <a:t>ON/OFF Lights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968470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GB" sz="800">
                          <a:effectLst/>
                        </a:rPr>
                        <a:t>Dimmable Lights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694692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GB" sz="800">
                          <a:effectLst/>
                        </a:rPr>
                        <a:t>RGB coloured lights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381352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GB" sz="800">
                          <a:effectLst/>
                        </a:rPr>
                        <a:t>Switchs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872981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GB" sz="800">
                          <a:effectLst/>
                        </a:rPr>
                        <a:t>Sockets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206042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GB" sz="800">
                          <a:effectLst/>
                        </a:rPr>
                        <a:t>Thermostats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039606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GB" sz="800">
                          <a:effectLst/>
                        </a:rPr>
                        <a:t>Speakers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591633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GB" sz="800">
                          <a:effectLst/>
                        </a:rPr>
                        <a:t>Vacuum cleaners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607480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GB" sz="800">
                          <a:effectLst/>
                        </a:rPr>
                        <a:t>TV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786632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GB" sz="800">
                          <a:effectLst/>
                        </a:rPr>
                        <a:t>Cameras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563202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GB" sz="800">
                          <a:effectLst/>
                        </a:rPr>
                        <a:t>Locks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40612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GB" sz="800">
                          <a:effectLst/>
                        </a:rPr>
                        <a:t>Shutters / Blinds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056444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GB" sz="800">
                          <a:effectLst/>
                        </a:rPr>
                        <a:t>Temperature sensors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885583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GB" sz="800">
                          <a:effectLst/>
                        </a:rPr>
                        <a:t>Thermovalve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839254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GB" sz="800">
                          <a:effectLst/>
                        </a:rPr>
                        <a:t>Humidity sensors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720261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GB" sz="800">
                          <a:effectLst/>
                        </a:rPr>
                        <a:t>Magnetic contacts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36375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GB" sz="800">
                          <a:effectLst/>
                        </a:rPr>
                        <a:t>Smoke Sensors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943731"/>
                  </a:ext>
                </a:extLst>
              </a:tr>
              <a:tr h="1941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GB" sz="800">
                          <a:effectLst/>
                        </a:rPr>
                        <a:t>CO</a:t>
                      </a:r>
                      <a:r>
                        <a:rPr lang="en-GB" sz="800" baseline="-25000">
                          <a:effectLst/>
                        </a:rPr>
                        <a:t>2</a:t>
                      </a:r>
                      <a:r>
                        <a:rPr lang="en-GB" sz="800">
                          <a:effectLst/>
                        </a:rPr>
                        <a:t> Sensors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291631"/>
                  </a:ext>
                </a:extLst>
              </a:tr>
              <a:tr h="213713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GB" sz="800">
                          <a:effectLst/>
                        </a:rPr>
                        <a:t>Leak sensors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348141"/>
                  </a:ext>
                </a:extLst>
              </a:tr>
              <a:tr h="2137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700" dirty="0">
                          <a:effectLst/>
                        </a:rPr>
                        <a:t>v* : only voice control </a:t>
                      </a:r>
                      <a:endParaRPr lang="es-ES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990" marR="56990" marT="0" marB="0" anchor="ctr"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848239"/>
                  </a:ext>
                </a:extLst>
              </a:tr>
            </a:tbl>
          </a:graphicData>
        </a:graphic>
      </p:graphicFrame>
      <p:pic>
        <p:nvPicPr>
          <p:cNvPr id="5" name="Imagen 4" descr="Imagen que contiene Tabla&#10;&#10;Descripción generada automáticamente">
            <a:extLst>
              <a:ext uri="{FF2B5EF4-FFF2-40B4-BE49-F238E27FC236}">
                <a16:creationId xmlns:a16="http://schemas.microsoft.com/office/drawing/2014/main" id="{801DA6BF-6ACC-D2F4-310D-82F7FD116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944" y="1615160"/>
            <a:ext cx="1944216" cy="429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4019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f47fad2980124742eb3a1b2ef6477a9279f5fc26"/>
  <p:tag name="ISPRING_RESOURCE_PATHS_HASH_PRESENTER" val="afe921d51fb26fdb5fa66f1b85c65c336fff"/>
</p:tagLst>
</file>

<file path=ppt/theme/theme1.xml><?xml version="1.0" encoding="utf-8"?>
<a:theme xmlns:a="http://schemas.openxmlformats.org/drawingml/2006/main" name="Training 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2" id="{FBEFB063-18B4-47A3-AFC2-88D58203559B}" vid="{76D4A2F0-3A75-437D-877A-8CC66E725EBE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7233</TotalTime>
  <Words>1348</Words>
  <Application>Microsoft Office PowerPoint</Application>
  <PresentationFormat>On-screen Show (4:3)</PresentationFormat>
  <Paragraphs>202</Paragraphs>
  <Slides>36</Slides>
  <Notes>33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Calibri</vt:lpstr>
      <vt:lpstr>Gotham Light</vt:lpstr>
      <vt:lpstr>Gotham Medium</vt:lpstr>
      <vt:lpstr>Symbol</vt:lpstr>
      <vt:lpstr>Wingdings</vt:lpstr>
      <vt:lpstr>Training 2</vt:lpstr>
      <vt:lpstr>Picture</vt:lpstr>
      <vt:lpstr>Microsoft Visio Drawing</vt:lpstr>
      <vt:lpstr>KNX Advanced Course</vt:lpstr>
      <vt:lpstr>General</vt:lpstr>
      <vt:lpstr>Terms</vt:lpstr>
      <vt:lpstr>Terms</vt:lpstr>
      <vt:lpstr>Transfer the KNX Project Design Data</vt:lpstr>
      <vt:lpstr>Visualisation Notes</vt:lpstr>
      <vt:lpstr>Types of Bus Communication</vt:lpstr>
      <vt:lpstr>Types of Bus Communication</vt:lpstr>
      <vt:lpstr>Types of Bus Communication</vt:lpstr>
      <vt:lpstr>Types of Bus Communication</vt:lpstr>
      <vt:lpstr>Connection of the Visualisation </vt:lpstr>
      <vt:lpstr>OPC server operation concept</vt:lpstr>
      <vt:lpstr>Bus Access via KNXnet/IP Server</vt:lpstr>
      <vt:lpstr>Bus Access via KNXnet/IP Server</vt:lpstr>
      <vt:lpstr>Bus Access via KNXnet/IP Server</vt:lpstr>
      <vt:lpstr>Exporting Project Data</vt:lpstr>
      <vt:lpstr>Exporting Project Data</vt:lpstr>
      <vt:lpstr>Physical Access Point in Bus System</vt:lpstr>
      <vt:lpstr>Physical Access Point in Bus System</vt:lpstr>
      <vt:lpstr>Telegrams sent across Lines/Areas</vt:lpstr>
      <vt:lpstr>Use of IP Routers instead of TP Couplers</vt:lpstr>
      <vt:lpstr>Use of IP Routers instead of TP Couplers</vt:lpstr>
      <vt:lpstr>Use of IP Interfaces instead of TP Couplers</vt:lpstr>
      <vt:lpstr>Use of IP Interfaces and TP Couplers</vt:lpstr>
      <vt:lpstr>Types of Visualization</vt:lpstr>
      <vt:lpstr>KNX Device with Embedded Software</vt:lpstr>
      <vt:lpstr>KNX Device with Embedded Software</vt:lpstr>
      <vt:lpstr>Mobile Visualization Software </vt:lpstr>
      <vt:lpstr>Configuring a Mobile Visualization Software</vt:lpstr>
      <vt:lpstr>Webservers and Logic controllers</vt:lpstr>
      <vt:lpstr>Webservers and Logic controllers</vt:lpstr>
      <vt:lpstr>Client/Server based Visualization</vt:lpstr>
      <vt:lpstr>Client/Server based Visualization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arguments</dc:title>
  <dc:creator>KNX Association;R. Hernandez</dc:creator>
  <cp:lastModifiedBy>Ufuk Unal</cp:lastModifiedBy>
  <cp:revision>343</cp:revision>
  <dcterms:created xsi:type="dcterms:W3CDTF">2012-09-10T07:59:43Z</dcterms:created>
  <dcterms:modified xsi:type="dcterms:W3CDTF">2023-03-14T10:09:35Z</dcterms:modified>
</cp:coreProperties>
</file>