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31"/>
  </p:notesMasterIdLst>
  <p:handoutMasterIdLst>
    <p:handoutMasterId r:id="rId32"/>
  </p:handout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7" r:id="rId14"/>
    <p:sldId id="268" r:id="rId15"/>
    <p:sldId id="269" r:id="rId16"/>
    <p:sldId id="270" r:id="rId17"/>
    <p:sldId id="271" r:id="rId18"/>
    <p:sldId id="272" r:id="rId19"/>
    <p:sldId id="282" r:id="rId20"/>
    <p:sldId id="274" r:id="rId21"/>
    <p:sldId id="275" r:id="rId22"/>
    <p:sldId id="276" r:id="rId23"/>
    <p:sldId id="277" r:id="rId24"/>
    <p:sldId id="278" r:id="rId25"/>
    <p:sldId id="279" r:id="rId26"/>
    <p:sldId id="283" r:id="rId27"/>
    <p:sldId id="280" r:id="rId28"/>
    <p:sldId id="284" r:id="rId29"/>
    <p:sldId id="281" r:id="rId30"/>
  </p:sldIdLst>
  <p:sldSz cx="9144000" cy="6858000" type="screen4x3"/>
  <p:notesSz cx="6858000" cy="9144000"/>
  <p:custDataLst>
    <p:tags r:id="rId33"/>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AFF"/>
    <a:srgbClr val="B4CAFA"/>
    <a:srgbClr val="369226"/>
    <a:srgbClr val="0C4BAF"/>
    <a:srgbClr val="D6E3BC"/>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F399A7-432B-412F-B9A6-40C51F58A5D4}" v="1" dt="2024-12-23T09:07:21.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79061" autoAdjust="0"/>
  </p:normalViewPr>
  <p:slideViewPr>
    <p:cSldViewPr>
      <p:cViewPr varScale="1">
        <p:scale>
          <a:sx n="70" d="100"/>
          <a:sy n="70" d="100"/>
        </p:scale>
        <p:origin x="1968" y="40"/>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1237"/>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5BF399A7-432B-412F-B9A6-40C51F58A5D4}"/>
    <pc:docChg chg="undo redo custSel modSld">
      <pc:chgData name="Ufuk Unal" userId="d77f72b3-53d7-4cb7-8425-5a8f29447216" providerId="ADAL" clId="{5BF399A7-432B-412F-B9A6-40C51F58A5D4}" dt="2024-12-23T09:07:21.852" v="47" actId="478"/>
      <pc:docMkLst>
        <pc:docMk/>
      </pc:docMkLst>
      <pc:sldChg chg="modNotesTx">
        <pc:chgData name="Ufuk Unal" userId="d77f72b3-53d7-4cb7-8425-5a8f29447216" providerId="ADAL" clId="{5BF399A7-432B-412F-B9A6-40C51F58A5D4}" dt="2024-12-23T08:56:44.048" v="0" actId="20577"/>
        <pc:sldMkLst>
          <pc:docMk/>
          <pc:sldMk cId="998842949" sldId="257"/>
        </pc:sldMkLst>
      </pc:sldChg>
      <pc:sldChg chg="modSp mod">
        <pc:chgData name="Ufuk Unal" userId="d77f72b3-53d7-4cb7-8425-5a8f29447216" providerId="ADAL" clId="{5BF399A7-432B-412F-B9A6-40C51F58A5D4}" dt="2024-12-23T08:59:23.083" v="30" actId="120"/>
        <pc:sldMkLst>
          <pc:docMk/>
          <pc:sldMk cId="3472260022" sldId="260"/>
        </pc:sldMkLst>
        <pc:spChg chg="mod">
          <ac:chgData name="Ufuk Unal" userId="d77f72b3-53d7-4cb7-8425-5a8f29447216" providerId="ADAL" clId="{5BF399A7-432B-412F-B9A6-40C51F58A5D4}" dt="2024-12-23T08:59:23.083" v="30" actId="120"/>
          <ac:spMkLst>
            <pc:docMk/>
            <pc:sldMk cId="3472260022" sldId="260"/>
            <ac:spMk id="11" creationId="{77957DA6-ED97-4576-8C05-571807AE0069}"/>
          </ac:spMkLst>
        </pc:spChg>
      </pc:sldChg>
      <pc:sldChg chg="delSp modSp mod modNotesTx">
        <pc:chgData name="Ufuk Unal" userId="d77f72b3-53d7-4cb7-8425-5a8f29447216" providerId="ADAL" clId="{5BF399A7-432B-412F-B9A6-40C51F58A5D4}" dt="2024-12-23T09:07:21.852" v="47" actId="478"/>
        <pc:sldMkLst>
          <pc:docMk/>
          <pc:sldMk cId="3738459520" sldId="270"/>
        </pc:sldMkLst>
        <pc:spChg chg="mod">
          <ac:chgData name="Ufuk Unal" userId="d77f72b3-53d7-4cb7-8425-5a8f29447216" providerId="ADAL" clId="{5BF399A7-432B-412F-B9A6-40C51F58A5D4}" dt="2024-12-23T09:07:08.442" v="46" actId="20577"/>
          <ac:spMkLst>
            <pc:docMk/>
            <pc:sldMk cId="3738459520" sldId="270"/>
            <ac:spMk id="3" creationId="{82320CDD-8188-453B-A81F-CED337736B3C}"/>
          </ac:spMkLst>
        </pc:spChg>
        <pc:grpChg chg="del">
          <ac:chgData name="Ufuk Unal" userId="d77f72b3-53d7-4cb7-8425-5a8f29447216" providerId="ADAL" clId="{5BF399A7-432B-412F-B9A6-40C51F58A5D4}" dt="2024-12-23T09:07:21.852" v="47" actId="478"/>
          <ac:grpSpMkLst>
            <pc:docMk/>
            <pc:sldMk cId="3738459520" sldId="270"/>
            <ac:grpSpMk id="13" creationId="{9437D18A-0C9C-499B-ABE8-7B3967BE60FD}"/>
          </ac:grpSpMkLst>
        </pc:grpChg>
      </pc:sldChg>
    </pc:docChg>
  </pc:docChgLst>
  <pc:docChgLst>
    <pc:chgData name="Ufuk Unal" userId="d77f72b3-53d7-4cb7-8425-5a8f29447216" providerId="ADAL" clId="{70771078-9D66-49D0-905B-AD990AC86BC2}"/>
    <pc:docChg chg="addSld delSld modSld">
      <pc:chgData name="Ufuk Unal" userId="d77f72b3-53d7-4cb7-8425-5a8f29447216" providerId="ADAL" clId="{70771078-9D66-49D0-905B-AD990AC86BC2}" dt="2023-04-06T12:49:35.537" v="30" actId="404"/>
      <pc:docMkLst>
        <pc:docMk/>
      </pc:docMkLst>
      <pc:sldChg chg="modSp mod">
        <pc:chgData name="Ufuk Unal" userId="d77f72b3-53d7-4cb7-8425-5a8f29447216" providerId="ADAL" clId="{70771078-9D66-49D0-905B-AD990AC86BC2}" dt="2023-04-06T12:46:40.421" v="7" actId="20577"/>
        <pc:sldMkLst>
          <pc:docMk/>
          <pc:sldMk cId="2459807384" sldId="256"/>
        </pc:sldMkLst>
      </pc:sldChg>
      <pc:sldChg chg="add del">
        <pc:chgData name="Ufuk Unal" userId="d77f72b3-53d7-4cb7-8425-5a8f29447216" providerId="ADAL" clId="{70771078-9D66-49D0-905B-AD990AC86BC2}" dt="2023-04-06T12:48:24.139" v="28"/>
        <pc:sldMkLst>
          <pc:docMk/>
          <pc:sldMk cId="998842949" sldId="257"/>
        </pc:sldMkLst>
      </pc:sldChg>
      <pc:sldChg chg="add">
        <pc:chgData name="Ufuk Unal" userId="d77f72b3-53d7-4cb7-8425-5a8f29447216" providerId="ADAL" clId="{70771078-9D66-49D0-905B-AD990AC86BC2}" dt="2023-04-06T12:48:24.139" v="28"/>
        <pc:sldMkLst>
          <pc:docMk/>
          <pc:sldMk cId="1484489420" sldId="258"/>
        </pc:sldMkLst>
      </pc:sldChg>
      <pc:sldChg chg="add">
        <pc:chgData name="Ufuk Unal" userId="d77f72b3-53d7-4cb7-8425-5a8f29447216" providerId="ADAL" clId="{70771078-9D66-49D0-905B-AD990AC86BC2}" dt="2023-04-06T12:48:24.139" v="28"/>
        <pc:sldMkLst>
          <pc:docMk/>
          <pc:sldMk cId="800985286" sldId="259"/>
        </pc:sldMkLst>
      </pc:sldChg>
      <pc:sldChg chg="add">
        <pc:chgData name="Ufuk Unal" userId="d77f72b3-53d7-4cb7-8425-5a8f29447216" providerId="ADAL" clId="{70771078-9D66-49D0-905B-AD990AC86BC2}" dt="2023-04-06T12:48:24.139" v="28"/>
        <pc:sldMkLst>
          <pc:docMk/>
          <pc:sldMk cId="3472260022" sldId="260"/>
        </pc:sldMkLst>
      </pc:sldChg>
      <pc:sldChg chg="add">
        <pc:chgData name="Ufuk Unal" userId="d77f72b3-53d7-4cb7-8425-5a8f29447216" providerId="ADAL" clId="{70771078-9D66-49D0-905B-AD990AC86BC2}" dt="2023-04-06T12:48:24.139" v="28"/>
        <pc:sldMkLst>
          <pc:docMk/>
          <pc:sldMk cId="4193280801" sldId="261"/>
        </pc:sldMkLst>
      </pc:sldChg>
      <pc:sldChg chg="add">
        <pc:chgData name="Ufuk Unal" userId="d77f72b3-53d7-4cb7-8425-5a8f29447216" providerId="ADAL" clId="{70771078-9D66-49D0-905B-AD990AC86BC2}" dt="2023-04-06T12:48:24.139" v="28"/>
        <pc:sldMkLst>
          <pc:docMk/>
          <pc:sldMk cId="3833297479" sldId="262"/>
        </pc:sldMkLst>
      </pc:sldChg>
      <pc:sldChg chg="add">
        <pc:chgData name="Ufuk Unal" userId="d77f72b3-53d7-4cb7-8425-5a8f29447216" providerId="ADAL" clId="{70771078-9D66-49D0-905B-AD990AC86BC2}" dt="2023-04-06T12:48:24.139" v="28"/>
        <pc:sldMkLst>
          <pc:docMk/>
          <pc:sldMk cId="3081799857" sldId="263"/>
        </pc:sldMkLst>
      </pc:sldChg>
      <pc:sldChg chg="add">
        <pc:chgData name="Ufuk Unal" userId="d77f72b3-53d7-4cb7-8425-5a8f29447216" providerId="ADAL" clId="{70771078-9D66-49D0-905B-AD990AC86BC2}" dt="2023-04-06T12:48:24.139" v="28"/>
        <pc:sldMkLst>
          <pc:docMk/>
          <pc:sldMk cId="597523344" sldId="264"/>
        </pc:sldMkLst>
      </pc:sldChg>
      <pc:sldChg chg="add">
        <pc:chgData name="Ufuk Unal" userId="d77f72b3-53d7-4cb7-8425-5a8f29447216" providerId="ADAL" clId="{70771078-9D66-49D0-905B-AD990AC86BC2}" dt="2023-04-06T12:48:24.139" v="28"/>
        <pc:sldMkLst>
          <pc:docMk/>
          <pc:sldMk cId="2112717365" sldId="265"/>
        </pc:sldMkLst>
      </pc:sldChg>
      <pc:sldChg chg="add">
        <pc:chgData name="Ufuk Unal" userId="d77f72b3-53d7-4cb7-8425-5a8f29447216" providerId="ADAL" clId="{70771078-9D66-49D0-905B-AD990AC86BC2}" dt="2023-04-06T12:48:24.139" v="28"/>
        <pc:sldMkLst>
          <pc:docMk/>
          <pc:sldMk cId="2949182924" sldId="266"/>
        </pc:sldMkLst>
      </pc:sldChg>
      <pc:sldChg chg="add">
        <pc:chgData name="Ufuk Unal" userId="d77f72b3-53d7-4cb7-8425-5a8f29447216" providerId="ADAL" clId="{70771078-9D66-49D0-905B-AD990AC86BC2}" dt="2023-04-06T12:48:24.139" v="28"/>
        <pc:sldMkLst>
          <pc:docMk/>
          <pc:sldMk cId="1481909529" sldId="267"/>
        </pc:sldMkLst>
      </pc:sldChg>
      <pc:sldChg chg="add">
        <pc:chgData name="Ufuk Unal" userId="d77f72b3-53d7-4cb7-8425-5a8f29447216" providerId="ADAL" clId="{70771078-9D66-49D0-905B-AD990AC86BC2}" dt="2023-04-06T12:48:24.139" v="28"/>
        <pc:sldMkLst>
          <pc:docMk/>
          <pc:sldMk cId="948198953" sldId="268"/>
        </pc:sldMkLst>
      </pc:sldChg>
      <pc:sldChg chg="modSp add">
        <pc:chgData name="Ufuk Unal" userId="d77f72b3-53d7-4cb7-8425-5a8f29447216" providerId="ADAL" clId="{70771078-9D66-49D0-905B-AD990AC86BC2}" dt="2023-04-06T12:49:35.537" v="30" actId="404"/>
        <pc:sldMkLst>
          <pc:docMk/>
          <pc:sldMk cId="927216672" sldId="269"/>
        </pc:sldMkLst>
      </pc:sldChg>
      <pc:sldChg chg="add">
        <pc:chgData name="Ufuk Unal" userId="d77f72b3-53d7-4cb7-8425-5a8f29447216" providerId="ADAL" clId="{70771078-9D66-49D0-905B-AD990AC86BC2}" dt="2023-04-06T12:48:24.139" v="28"/>
        <pc:sldMkLst>
          <pc:docMk/>
          <pc:sldMk cId="3738459520" sldId="270"/>
        </pc:sldMkLst>
      </pc:sldChg>
      <pc:sldChg chg="add">
        <pc:chgData name="Ufuk Unal" userId="d77f72b3-53d7-4cb7-8425-5a8f29447216" providerId="ADAL" clId="{70771078-9D66-49D0-905B-AD990AC86BC2}" dt="2023-04-06T12:48:24.139" v="28"/>
        <pc:sldMkLst>
          <pc:docMk/>
          <pc:sldMk cId="2484710693" sldId="271"/>
        </pc:sldMkLst>
      </pc:sldChg>
      <pc:sldChg chg="add">
        <pc:chgData name="Ufuk Unal" userId="d77f72b3-53d7-4cb7-8425-5a8f29447216" providerId="ADAL" clId="{70771078-9D66-49D0-905B-AD990AC86BC2}" dt="2023-04-06T12:48:24.139" v="28"/>
        <pc:sldMkLst>
          <pc:docMk/>
          <pc:sldMk cId="375605357" sldId="272"/>
        </pc:sldMkLst>
      </pc:sldChg>
      <pc:sldChg chg="add">
        <pc:chgData name="Ufuk Unal" userId="d77f72b3-53d7-4cb7-8425-5a8f29447216" providerId="ADAL" clId="{70771078-9D66-49D0-905B-AD990AC86BC2}" dt="2023-04-06T12:48:24.139" v="28"/>
        <pc:sldMkLst>
          <pc:docMk/>
          <pc:sldMk cId="1126185712" sldId="273"/>
        </pc:sldMkLst>
      </pc:sldChg>
      <pc:sldChg chg="add">
        <pc:chgData name="Ufuk Unal" userId="d77f72b3-53d7-4cb7-8425-5a8f29447216" providerId="ADAL" clId="{70771078-9D66-49D0-905B-AD990AC86BC2}" dt="2023-04-06T12:48:24.139" v="28"/>
        <pc:sldMkLst>
          <pc:docMk/>
          <pc:sldMk cId="373833356" sldId="274"/>
        </pc:sldMkLst>
      </pc:sldChg>
      <pc:sldChg chg="add">
        <pc:chgData name="Ufuk Unal" userId="d77f72b3-53d7-4cb7-8425-5a8f29447216" providerId="ADAL" clId="{70771078-9D66-49D0-905B-AD990AC86BC2}" dt="2023-04-06T12:48:24.139" v="28"/>
        <pc:sldMkLst>
          <pc:docMk/>
          <pc:sldMk cId="1090091743" sldId="275"/>
        </pc:sldMkLst>
      </pc:sldChg>
      <pc:sldChg chg="add">
        <pc:chgData name="Ufuk Unal" userId="d77f72b3-53d7-4cb7-8425-5a8f29447216" providerId="ADAL" clId="{70771078-9D66-49D0-905B-AD990AC86BC2}" dt="2023-04-06T12:48:24.139" v="28"/>
        <pc:sldMkLst>
          <pc:docMk/>
          <pc:sldMk cId="3108706907" sldId="276"/>
        </pc:sldMkLst>
      </pc:sldChg>
      <pc:sldChg chg="add">
        <pc:chgData name="Ufuk Unal" userId="d77f72b3-53d7-4cb7-8425-5a8f29447216" providerId="ADAL" clId="{70771078-9D66-49D0-905B-AD990AC86BC2}" dt="2023-04-06T12:48:24.139" v="28"/>
        <pc:sldMkLst>
          <pc:docMk/>
          <pc:sldMk cId="3070299256" sldId="277"/>
        </pc:sldMkLst>
      </pc:sldChg>
      <pc:sldChg chg="add">
        <pc:chgData name="Ufuk Unal" userId="d77f72b3-53d7-4cb7-8425-5a8f29447216" providerId="ADAL" clId="{70771078-9D66-49D0-905B-AD990AC86BC2}" dt="2023-04-06T12:48:24.139" v="28"/>
        <pc:sldMkLst>
          <pc:docMk/>
          <pc:sldMk cId="383654786" sldId="278"/>
        </pc:sldMkLst>
      </pc:sldChg>
      <pc:sldChg chg="add">
        <pc:chgData name="Ufuk Unal" userId="d77f72b3-53d7-4cb7-8425-5a8f29447216" providerId="ADAL" clId="{70771078-9D66-49D0-905B-AD990AC86BC2}" dt="2023-04-06T12:48:24.139" v="28"/>
        <pc:sldMkLst>
          <pc:docMk/>
          <pc:sldMk cId="3605167847" sldId="279"/>
        </pc:sldMkLst>
      </pc:sldChg>
      <pc:sldChg chg="add">
        <pc:chgData name="Ufuk Unal" userId="d77f72b3-53d7-4cb7-8425-5a8f29447216" providerId="ADAL" clId="{70771078-9D66-49D0-905B-AD990AC86BC2}" dt="2023-04-06T12:48:24.139" v="28"/>
        <pc:sldMkLst>
          <pc:docMk/>
          <pc:sldMk cId="4206312661" sldId="280"/>
        </pc:sldMkLst>
      </pc:sldChg>
      <pc:sldChg chg="add">
        <pc:chgData name="Ufuk Unal" userId="d77f72b3-53d7-4cb7-8425-5a8f29447216" providerId="ADAL" clId="{70771078-9D66-49D0-905B-AD990AC86BC2}" dt="2023-04-06T12:48:24.139" v="28"/>
        <pc:sldMkLst>
          <pc:docMk/>
          <pc:sldMk cId="912718920" sldId="281"/>
        </pc:sldMkLst>
      </pc:sldChg>
      <pc:sldChg chg="add">
        <pc:chgData name="Ufuk Unal" userId="d77f72b3-53d7-4cb7-8425-5a8f29447216" providerId="ADAL" clId="{70771078-9D66-49D0-905B-AD990AC86BC2}" dt="2023-04-06T12:48:24.139" v="28"/>
        <pc:sldMkLst>
          <pc:docMk/>
          <pc:sldMk cId="1760052234" sldId="282"/>
        </pc:sldMkLst>
      </pc:sldChg>
      <pc:sldChg chg="add">
        <pc:chgData name="Ufuk Unal" userId="d77f72b3-53d7-4cb7-8425-5a8f29447216" providerId="ADAL" clId="{70771078-9D66-49D0-905B-AD990AC86BC2}" dt="2023-04-06T12:48:24.139" v="28"/>
        <pc:sldMkLst>
          <pc:docMk/>
          <pc:sldMk cId="2235014627" sldId="283"/>
        </pc:sldMkLst>
      </pc:sldChg>
      <pc:sldChg chg="del">
        <pc:chgData name="Ufuk Unal" userId="d77f72b3-53d7-4cb7-8425-5a8f29447216" providerId="ADAL" clId="{70771078-9D66-49D0-905B-AD990AC86BC2}" dt="2023-04-06T12:48:07.145" v="26" actId="47"/>
        <pc:sldMkLst>
          <pc:docMk/>
          <pc:sldMk cId="4273073496" sldId="283"/>
        </pc:sldMkLst>
      </pc:sldChg>
      <pc:sldChg chg="add">
        <pc:chgData name="Ufuk Unal" userId="d77f72b3-53d7-4cb7-8425-5a8f29447216" providerId="ADAL" clId="{70771078-9D66-49D0-905B-AD990AC86BC2}" dt="2023-04-06T12:48:24.139" v="28"/>
        <pc:sldMkLst>
          <pc:docMk/>
          <pc:sldMk cId="1373639563" sldId="284"/>
        </pc:sldMkLst>
      </pc:sldChg>
      <pc:sldChg chg="del">
        <pc:chgData name="Ufuk Unal" userId="d77f72b3-53d7-4cb7-8425-5a8f29447216" providerId="ADAL" clId="{70771078-9D66-49D0-905B-AD990AC86BC2}" dt="2023-04-06T12:48:07.145" v="26" actId="47"/>
        <pc:sldMkLst>
          <pc:docMk/>
          <pc:sldMk cId="1627137011" sldId="284"/>
        </pc:sldMkLst>
      </pc:sldChg>
      <pc:sldChg chg="del">
        <pc:chgData name="Ufuk Unal" userId="d77f72b3-53d7-4cb7-8425-5a8f29447216" providerId="ADAL" clId="{70771078-9D66-49D0-905B-AD990AC86BC2}" dt="2023-04-06T12:48:07.145" v="26" actId="47"/>
        <pc:sldMkLst>
          <pc:docMk/>
          <pc:sldMk cId="3281927006" sldId="285"/>
        </pc:sldMkLst>
      </pc:sldChg>
      <pc:sldChg chg="del">
        <pc:chgData name="Ufuk Unal" userId="d77f72b3-53d7-4cb7-8425-5a8f29447216" providerId="ADAL" clId="{70771078-9D66-49D0-905B-AD990AC86BC2}" dt="2023-04-06T12:48:07.145" v="26" actId="47"/>
        <pc:sldMkLst>
          <pc:docMk/>
          <pc:sldMk cId="3740121746" sldId="286"/>
        </pc:sldMkLst>
      </pc:sldChg>
      <pc:sldChg chg="del">
        <pc:chgData name="Ufuk Unal" userId="d77f72b3-53d7-4cb7-8425-5a8f29447216" providerId="ADAL" clId="{70771078-9D66-49D0-905B-AD990AC86BC2}" dt="2023-04-06T12:48:07.145" v="26" actId="47"/>
        <pc:sldMkLst>
          <pc:docMk/>
          <pc:sldMk cId="2835134412" sldId="287"/>
        </pc:sldMkLst>
      </pc:sldChg>
      <pc:sldChg chg="del">
        <pc:chgData name="Ufuk Unal" userId="d77f72b3-53d7-4cb7-8425-5a8f29447216" providerId="ADAL" clId="{70771078-9D66-49D0-905B-AD990AC86BC2}" dt="2023-04-06T12:48:07.145" v="26" actId="47"/>
        <pc:sldMkLst>
          <pc:docMk/>
          <pc:sldMk cId="1182389414" sldId="288"/>
        </pc:sldMkLst>
      </pc:sldChg>
      <pc:sldChg chg="del">
        <pc:chgData name="Ufuk Unal" userId="d77f72b3-53d7-4cb7-8425-5a8f29447216" providerId="ADAL" clId="{70771078-9D66-49D0-905B-AD990AC86BC2}" dt="2023-04-06T12:48:07.145" v="26" actId="47"/>
        <pc:sldMkLst>
          <pc:docMk/>
          <pc:sldMk cId="3329768290" sldId="289"/>
        </pc:sldMkLst>
      </pc:sldChg>
      <pc:sldChg chg="del">
        <pc:chgData name="Ufuk Unal" userId="d77f72b3-53d7-4cb7-8425-5a8f29447216" providerId="ADAL" clId="{70771078-9D66-49D0-905B-AD990AC86BC2}" dt="2023-04-06T12:48:07.145" v="26" actId="47"/>
        <pc:sldMkLst>
          <pc:docMk/>
          <pc:sldMk cId="2062638938" sldId="290"/>
        </pc:sldMkLst>
      </pc:sldChg>
      <pc:sldChg chg="del">
        <pc:chgData name="Ufuk Unal" userId="d77f72b3-53d7-4cb7-8425-5a8f29447216" providerId="ADAL" clId="{70771078-9D66-49D0-905B-AD990AC86BC2}" dt="2023-04-06T12:48:07.145" v="26" actId="47"/>
        <pc:sldMkLst>
          <pc:docMk/>
          <pc:sldMk cId="3311760208" sldId="291"/>
        </pc:sldMkLst>
      </pc:sldChg>
      <pc:sldChg chg="del">
        <pc:chgData name="Ufuk Unal" userId="d77f72b3-53d7-4cb7-8425-5a8f29447216" providerId="ADAL" clId="{70771078-9D66-49D0-905B-AD990AC86BC2}" dt="2023-04-06T12:48:07.145" v="26" actId="47"/>
        <pc:sldMkLst>
          <pc:docMk/>
          <pc:sldMk cId="2217615130" sldId="292"/>
        </pc:sldMkLst>
      </pc:sldChg>
      <pc:sldChg chg="del">
        <pc:chgData name="Ufuk Unal" userId="d77f72b3-53d7-4cb7-8425-5a8f29447216" providerId="ADAL" clId="{70771078-9D66-49D0-905B-AD990AC86BC2}" dt="2023-04-06T12:48:07.145" v="26" actId="47"/>
        <pc:sldMkLst>
          <pc:docMk/>
          <pc:sldMk cId="2388057866" sldId="293"/>
        </pc:sldMkLst>
      </pc:sldChg>
      <pc:sldChg chg="del">
        <pc:chgData name="Ufuk Unal" userId="d77f72b3-53d7-4cb7-8425-5a8f29447216" providerId="ADAL" clId="{70771078-9D66-49D0-905B-AD990AC86BC2}" dt="2023-04-06T12:48:07.145" v="26" actId="47"/>
        <pc:sldMkLst>
          <pc:docMk/>
          <pc:sldMk cId="2711975686" sldId="294"/>
        </pc:sldMkLst>
      </pc:sldChg>
      <pc:sldChg chg="del">
        <pc:chgData name="Ufuk Unal" userId="d77f72b3-53d7-4cb7-8425-5a8f29447216" providerId="ADAL" clId="{70771078-9D66-49D0-905B-AD990AC86BC2}" dt="2023-04-06T12:48:07.145" v="26" actId="47"/>
        <pc:sldMkLst>
          <pc:docMk/>
          <pc:sldMk cId="1712194570" sldId="295"/>
        </pc:sldMkLst>
      </pc:sldChg>
      <pc:sldChg chg="del">
        <pc:chgData name="Ufuk Unal" userId="d77f72b3-53d7-4cb7-8425-5a8f29447216" providerId="ADAL" clId="{70771078-9D66-49D0-905B-AD990AC86BC2}" dt="2023-04-06T12:48:07.145" v="26" actId="47"/>
        <pc:sldMkLst>
          <pc:docMk/>
          <pc:sldMk cId="4188884644" sldId="296"/>
        </pc:sldMkLst>
      </pc:sldChg>
      <pc:sldChg chg="del">
        <pc:chgData name="Ufuk Unal" userId="d77f72b3-53d7-4cb7-8425-5a8f29447216" providerId="ADAL" clId="{70771078-9D66-49D0-905B-AD990AC86BC2}" dt="2023-04-06T12:48:07.145" v="26" actId="47"/>
        <pc:sldMkLst>
          <pc:docMk/>
          <pc:sldMk cId="321061083" sldId="297"/>
        </pc:sldMkLst>
      </pc:sldChg>
      <pc:sldChg chg="addSp delSp modSp del mod">
        <pc:chgData name="Ufuk Unal" userId="d77f72b3-53d7-4cb7-8425-5a8f29447216" providerId="ADAL" clId="{70771078-9D66-49D0-905B-AD990AC86BC2}" dt="2023-04-06T12:47:59.469" v="25" actId="47"/>
        <pc:sldMkLst>
          <pc:docMk/>
          <pc:sldMk cId="3681724144" sldId="298"/>
        </pc:sldMkLst>
      </pc:sldChg>
      <pc:sldChg chg="addSp delSp modSp del">
        <pc:chgData name="Ufuk Unal" userId="d77f72b3-53d7-4cb7-8425-5a8f29447216" providerId="ADAL" clId="{70771078-9D66-49D0-905B-AD990AC86BC2}" dt="2023-04-06T12:48:12.786" v="27" actId="47"/>
        <pc:sldMkLst>
          <pc:docMk/>
          <pc:sldMk cId="814638336" sldId="299"/>
        </pc:sldMkLst>
      </pc:sldChg>
      <pc:sldChg chg="del">
        <pc:chgData name="Ufuk Unal" userId="d77f72b3-53d7-4cb7-8425-5a8f29447216" providerId="ADAL" clId="{70771078-9D66-49D0-905B-AD990AC86BC2}" dt="2023-04-06T12:48:12.786" v="27" actId="47"/>
        <pc:sldMkLst>
          <pc:docMk/>
          <pc:sldMk cId="3591231352" sldId="300"/>
        </pc:sldMkLst>
      </pc:sldChg>
      <pc:sldChg chg="del">
        <pc:chgData name="Ufuk Unal" userId="d77f72b3-53d7-4cb7-8425-5a8f29447216" providerId="ADAL" clId="{70771078-9D66-49D0-905B-AD990AC86BC2}" dt="2023-04-06T12:48:12.786" v="27" actId="47"/>
        <pc:sldMkLst>
          <pc:docMk/>
          <pc:sldMk cId="302239537" sldId="301"/>
        </pc:sldMkLst>
      </pc:sldChg>
      <pc:sldChg chg="del">
        <pc:chgData name="Ufuk Unal" userId="d77f72b3-53d7-4cb7-8425-5a8f29447216" providerId="ADAL" clId="{70771078-9D66-49D0-905B-AD990AC86BC2}" dt="2023-04-06T12:48:12.786" v="27" actId="47"/>
        <pc:sldMkLst>
          <pc:docMk/>
          <pc:sldMk cId="3882282165" sldId="302"/>
        </pc:sldMkLst>
      </pc:sldChg>
      <pc:sldChg chg="del">
        <pc:chgData name="Ufuk Unal" userId="d77f72b3-53d7-4cb7-8425-5a8f29447216" providerId="ADAL" clId="{70771078-9D66-49D0-905B-AD990AC86BC2}" dt="2023-04-06T12:48:07.145" v="26" actId="47"/>
        <pc:sldMkLst>
          <pc:docMk/>
          <pc:sldMk cId="86558760" sldId="303"/>
        </pc:sldMkLst>
      </pc:sldChg>
      <pc:sldChg chg="del">
        <pc:chgData name="Ufuk Unal" userId="d77f72b3-53d7-4cb7-8425-5a8f29447216" providerId="ADAL" clId="{70771078-9D66-49D0-905B-AD990AC86BC2}" dt="2023-04-06T12:48:07.145" v="26" actId="47"/>
        <pc:sldMkLst>
          <pc:docMk/>
          <pc:sldMk cId="252866284" sldId="304"/>
        </pc:sldMkLst>
      </pc:sldChg>
      <pc:sldChg chg="del">
        <pc:chgData name="Ufuk Unal" userId="d77f72b3-53d7-4cb7-8425-5a8f29447216" providerId="ADAL" clId="{70771078-9D66-49D0-905B-AD990AC86BC2}" dt="2023-04-06T12:48:07.145" v="26" actId="47"/>
        <pc:sldMkLst>
          <pc:docMk/>
          <pc:sldMk cId="51972286" sldId="305"/>
        </pc:sldMkLst>
      </pc:sldChg>
      <pc:sldChg chg="del">
        <pc:chgData name="Ufuk Unal" userId="d77f72b3-53d7-4cb7-8425-5a8f29447216" providerId="ADAL" clId="{70771078-9D66-49D0-905B-AD990AC86BC2}" dt="2023-04-06T12:48:07.145" v="26" actId="47"/>
        <pc:sldMkLst>
          <pc:docMk/>
          <pc:sldMk cId="1127587892" sldId="306"/>
        </pc:sldMkLst>
      </pc:sldChg>
      <pc:sldChg chg="del">
        <pc:chgData name="Ufuk Unal" userId="d77f72b3-53d7-4cb7-8425-5a8f29447216" providerId="ADAL" clId="{70771078-9D66-49D0-905B-AD990AC86BC2}" dt="2023-04-06T12:48:07.145" v="26" actId="47"/>
        <pc:sldMkLst>
          <pc:docMk/>
          <pc:sldMk cId="1264201419" sldId="307"/>
        </pc:sldMkLst>
      </pc:sldChg>
      <pc:sldChg chg="del">
        <pc:chgData name="Ufuk Unal" userId="d77f72b3-53d7-4cb7-8425-5a8f29447216" providerId="ADAL" clId="{70771078-9D66-49D0-905B-AD990AC86BC2}" dt="2023-04-06T12:48:07.145" v="26" actId="47"/>
        <pc:sldMkLst>
          <pc:docMk/>
          <pc:sldMk cId="2036788587" sldId="308"/>
        </pc:sldMkLst>
      </pc:sldChg>
      <pc:sldChg chg="del">
        <pc:chgData name="Ufuk Unal" userId="d77f72b3-53d7-4cb7-8425-5a8f29447216" providerId="ADAL" clId="{70771078-9D66-49D0-905B-AD990AC86BC2}" dt="2023-04-06T12:48:07.145" v="26" actId="47"/>
        <pc:sldMkLst>
          <pc:docMk/>
          <pc:sldMk cId="4119661318" sldId="309"/>
        </pc:sldMkLst>
      </pc:sldChg>
      <pc:sldChg chg="del">
        <pc:chgData name="Ufuk Unal" userId="d77f72b3-53d7-4cb7-8425-5a8f29447216" providerId="ADAL" clId="{70771078-9D66-49D0-905B-AD990AC86BC2}" dt="2023-04-06T12:48:07.145" v="26" actId="47"/>
        <pc:sldMkLst>
          <pc:docMk/>
          <pc:sldMk cId="3147429778" sldId="310"/>
        </pc:sldMkLst>
      </pc:sldChg>
      <pc:sldChg chg="del">
        <pc:chgData name="Ufuk Unal" userId="d77f72b3-53d7-4cb7-8425-5a8f29447216" providerId="ADAL" clId="{70771078-9D66-49D0-905B-AD990AC86BC2}" dt="2023-04-06T12:48:12.786" v="27" actId="47"/>
        <pc:sldMkLst>
          <pc:docMk/>
          <pc:sldMk cId="1604600404" sldId="311"/>
        </pc:sldMkLst>
      </pc:sldChg>
      <pc:sldChg chg="add del">
        <pc:chgData name="Ufuk Unal" userId="d77f72b3-53d7-4cb7-8425-5a8f29447216" providerId="ADAL" clId="{70771078-9D66-49D0-905B-AD990AC86BC2}" dt="2023-04-06T12:48:30.300" v="29" actId="47"/>
        <pc:sldMkLst>
          <pc:docMk/>
          <pc:sldMk cId="1847825098" sldId="312"/>
        </pc:sldMkLst>
      </pc:sldChg>
    </pc:docChg>
  </pc:docChgLst>
  <pc:docChgLst>
    <pc:chgData name="Ufuk Unal" userId="d77f72b3-53d7-4cb7-8425-5a8f29447216" providerId="ADAL" clId="{A17BE986-4AB8-4034-BC71-80E4D957233E}"/>
    <pc:docChg chg="custSel modSld">
      <pc:chgData name="Ufuk Unal" userId="d77f72b3-53d7-4cb7-8425-5a8f29447216" providerId="ADAL" clId="{A17BE986-4AB8-4034-BC71-80E4D957233E}" dt="2023-09-06T07:47:06.561" v="77" actId="20577"/>
      <pc:docMkLst>
        <pc:docMk/>
      </pc:docMkLst>
      <pc:sldChg chg="modSp mod modNotesTx">
        <pc:chgData name="Ufuk Unal" userId="d77f72b3-53d7-4cb7-8425-5a8f29447216" providerId="ADAL" clId="{A17BE986-4AB8-4034-BC71-80E4D957233E}" dt="2023-08-29T09:06:00.883" v="35" actId="20577"/>
        <pc:sldMkLst>
          <pc:docMk/>
          <pc:sldMk cId="4193280801" sldId="261"/>
        </pc:sldMkLst>
      </pc:sldChg>
      <pc:sldChg chg="modSp mod">
        <pc:chgData name="Ufuk Unal" userId="d77f72b3-53d7-4cb7-8425-5a8f29447216" providerId="ADAL" clId="{A17BE986-4AB8-4034-BC71-80E4D957233E}" dt="2023-09-06T07:47:06.561" v="77" actId="20577"/>
        <pc:sldMkLst>
          <pc:docMk/>
          <pc:sldMk cId="375605357" sldId="27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23.12.2024</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dirty="0"/>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noProof="0" dirty="0">
                <a:solidFill>
                  <a:schemeClr val="tx1"/>
                </a:solidFill>
                <a:effectLst/>
                <a:latin typeface="Arial" charset="0"/>
                <a:ea typeface="+mn-ea"/>
                <a:cs typeface="+mn-cs"/>
              </a:rPr>
              <a:t>Couplers</a:t>
            </a:r>
          </a:p>
          <a:p>
            <a:endParaRPr lang="en-GB" sz="1200" kern="1200" noProof="0" dirty="0">
              <a:solidFill>
                <a:schemeClr val="tx1"/>
              </a:solidFill>
              <a:effectLst/>
              <a:latin typeface="Arial" charset="0"/>
              <a:ea typeface="+mn-ea"/>
              <a:cs typeface="+mn-cs"/>
            </a:endParaRPr>
          </a:p>
          <a:p>
            <a:r>
              <a:rPr lang="en-GB" sz="1200" kern="1200" noProof="0" dirty="0">
                <a:solidFill>
                  <a:schemeClr val="tx1"/>
                </a:solidFill>
                <a:effectLst/>
                <a:latin typeface="Arial" charset="0"/>
                <a:ea typeface="+mn-ea"/>
                <a:cs typeface="+mn-cs"/>
              </a:rPr>
              <a:t>Couplers (not to be confused with bus coupling devices) are system devices which enable  a hierarchical structure of the KNX system. Couplers transfer data between electrically independent parts of a KNX installation. </a:t>
            </a:r>
          </a:p>
          <a:p>
            <a:r>
              <a:rPr lang="en-GB" sz="1200" kern="1200" noProof="0" dirty="0">
                <a:solidFill>
                  <a:schemeClr val="tx1"/>
                </a:solidFill>
                <a:effectLst/>
                <a:latin typeface="Arial" charset="0"/>
                <a:ea typeface="+mn-ea"/>
                <a:cs typeface="+mn-cs"/>
              </a:rPr>
              <a:t> </a:t>
            </a:r>
          </a:p>
          <a:p>
            <a:r>
              <a:rPr lang="en-GB" sz="1200" kern="1200" noProof="0" dirty="0">
                <a:solidFill>
                  <a:schemeClr val="tx1"/>
                </a:solidFill>
                <a:effectLst/>
                <a:latin typeface="Arial" charset="0"/>
                <a:ea typeface="+mn-ea"/>
                <a:cs typeface="+mn-cs"/>
              </a:rPr>
              <a:t>Couplers reduce telegram traffic throughout the installation with the help of filter tables. Filter tables are automatically calculated by ETS in the background.</a:t>
            </a:r>
          </a:p>
          <a:p>
            <a:r>
              <a:rPr lang="en-GB" sz="1200" kern="1200" noProof="0" dirty="0">
                <a:solidFill>
                  <a:schemeClr val="tx1"/>
                </a:solidFill>
                <a:effectLst/>
                <a:latin typeface="Arial" charset="0"/>
                <a:ea typeface="+mn-ea"/>
                <a:cs typeface="+mn-cs"/>
              </a:rPr>
              <a:t> </a:t>
            </a:r>
          </a:p>
          <a:p>
            <a:r>
              <a:rPr lang="en-GB" sz="1200" kern="1200" noProof="0" dirty="0">
                <a:solidFill>
                  <a:schemeClr val="tx1"/>
                </a:solidFill>
                <a:effectLst/>
                <a:latin typeface="Arial" charset="0"/>
                <a:ea typeface="+mn-ea"/>
                <a:cs typeface="+mn-cs"/>
              </a:rPr>
              <a:t>Filter tables are transferred into each coupler via </a:t>
            </a:r>
            <a:r>
              <a:rPr lang="en-GB" sz="1200" i="1" kern="1200" noProof="0" dirty="0">
                <a:solidFill>
                  <a:schemeClr val="tx1"/>
                </a:solidFill>
                <a:effectLst/>
                <a:latin typeface="Arial" charset="0"/>
                <a:ea typeface="+mn-ea"/>
                <a:cs typeface="+mn-cs"/>
              </a:rPr>
              <a:t>Program</a:t>
            </a:r>
            <a:r>
              <a:rPr lang="en-GB" sz="1200" kern="1200" noProof="0" dirty="0">
                <a:solidFill>
                  <a:schemeClr val="tx1"/>
                </a:solidFill>
                <a:effectLst/>
                <a:latin typeface="Arial" charset="0"/>
                <a:ea typeface="+mn-ea"/>
                <a:cs typeface="+mn-cs"/>
              </a:rPr>
              <a:t> </a:t>
            </a:r>
            <a:r>
              <a:rPr lang="en-GB" sz="1200" kern="1200" noProof="0" dirty="0">
                <a:solidFill>
                  <a:schemeClr val="tx1"/>
                </a:solidFill>
                <a:effectLst/>
                <a:latin typeface="Arial" charset="0"/>
                <a:ea typeface="+mn-ea"/>
                <a:cs typeface="+mn-cs"/>
                <a:sym typeface="Wingdings" panose="05000000000000000000" pitchFamily="2" charset="2"/>
              </a:rPr>
              <a:t></a:t>
            </a:r>
            <a:r>
              <a:rPr lang="en-GB" sz="1200" kern="1200" noProof="0" dirty="0">
                <a:solidFill>
                  <a:schemeClr val="tx1"/>
                </a:solidFill>
                <a:effectLst/>
                <a:latin typeface="Arial" charset="0"/>
                <a:ea typeface="+mn-ea"/>
                <a:cs typeface="+mn-cs"/>
              </a:rPr>
              <a:t> </a:t>
            </a:r>
            <a:r>
              <a:rPr lang="en-GB" sz="1200" i="1" kern="1200" noProof="0" dirty="0">
                <a:solidFill>
                  <a:schemeClr val="tx1"/>
                </a:solidFill>
                <a:effectLst/>
                <a:latin typeface="Arial" charset="0"/>
                <a:ea typeface="+mn-ea"/>
                <a:cs typeface="+mn-cs"/>
              </a:rPr>
              <a:t>Application</a:t>
            </a:r>
            <a:r>
              <a:rPr lang="en-GB" sz="1200" kern="1200" noProof="0" dirty="0">
                <a:solidFill>
                  <a:schemeClr val="tx1"/>
                </a:solidFill>
                <a:effectLst/>
                <a:latin typeface="Arial" charset="0"/>
                <a:ea typeface="+mn-ea"/>
                <a:cs typeface="+mn-cs"/>
              </a:rPr>
              <a:t>. If ETS has determined a change for a filter table, it resets the </a:t>
            </a:r>
            <a:r>
              <a:rPr lang="en-GB" sz="1200" i="1" kern="1200" noProof="0" dirty="0">
                <a:solidFill>
                  <a:schemeClr val="tx1"/>
                </a:solidFill>
                <a:effectLst/>
                <a:latin typeface="Arial" charset="0"/>
                <a:ea typeface="+mn-ea"/>
                <a:cs typeface="+mn-cs"/>
              </a:rPr>
              <a:t>GRP</a:t>
            </a:r>
            <a:r>
              <a:rPr lang="en-GB" sz="1200" kern="1200" noProof="0" dirty="0">
                <a:solidFill>
                  <a:schemeClr val="tx1"/>
                </a:solidFill>
                <a:effectLst/>
                <a:latin typeface="Arial" charset="0"/>
                <a:ea typeface="+mn-ea"/>
                <a:cs typeface="+mn-cs"/>
              </a:rPr>
              <a:t> tick and thus signals that a transfer to the coupler has become necessary.</a:t>
            </a: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kern="1200" dirty="0">
                <a:solidFill>
                  <a:schemeClr val="tx1"/>
                </a:solidFill>
                <a:effectLst/>
                <a:latin typeface="Arial" charset="0"/>
                <a:ea typeface="+mn-ea"/>
                <a:cs typeface="+mn-cs"/>
              </a:rPr>
              <a:t>The </a:t>
            </a:r>
            <a:r>
              <a:rPr lang="en-GB" sz="1200" kern="1200" noProof="0" dirty="0">
                <a:solidFill>
                  <a:schemeClr val="tx1"/>
                </a:solidFill>
                <a:effectLst/>
                <a:latin typeface="Arial" charset="0"/>
                <a:ea typeface="+mn-ea"/>
                <a:cs typeface="+mn-cs"/>
              </a:rPr>
              <a:t>exact designation of a coupler depends on its location within the KNX hierarchy and the supported </a:t>
            </a:r>
            <a:r>
              <a:rPr lang="es-ES" sz="1200" kern="1200" dirty="0">
                <a:solidFill>
                  <a:schemeClr val="tx1"/>
                </a:solidFill>
                <a:effectLst/>
                <a:latin typeface="Arial" charset="0"/>
                <a:ea typeface="+mn-ea"/>
                <a:cs typeface="+mn-cs"/>
              </a:rPr>
              <a:t>media.</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Line couplers (LC) connect a TP line with a TP main line</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Backbone couplers (BC) connect a TP main line with the TP backbone line</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PL media couplers link a PL line with a TP main line</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RF media couplers link an RF lines with a TP main line</a:t>
            </a:r>
          </a:p>
          <a:p>
            <a:pPr marL="171450" lvl="0" indent="-171450">
              <a:buFont typeface="Arial" panose="020B0604020202020204" pitchFamily="34" charset="0"/>
              <a:buChar char="•"/>
            </a:pPr>
            <a:r>
              <a:rPr lang="en-GB" sz="1200" kern="1200" noProof="0" dirty="0" err="1">
                <a:solidFill>
                  <a:schemeClr val="tx1"/>
                </a:solidFill>
                <a:effectLst/>
                <a:latin typeface="Arial" charset="0"/>
                <a:ea typeface="+mn-ea"/>
                <a:cs typeface="+mn-cs"/>
              </a:rPr>
              <a:t>KNXnet</a:t>
            </a:r>
            <a:r>
              <a:rPr lang="en-GB" sz="1200" kern="1200" noProof="0" dirty="0">
                <a:solidFill>
                  <a:schemeClr val="tx1"/>
                </a:solidFill>
                <a:effectLst/>
                <a:latin typeface="Arial" charset="0"/>
                <a:ea typeface="+mn-ea"/>
                <a:cs typeface="+mn-cs"/>
              </a:rPr>
              <a:t>/IP routers link a TP line or a TP area with an Ethernet LAN. With several </a:t>
            </a:r>
            <a:r>
              <a:rPr lang="en-GB" sz="1200" kern="1200" noProof="0" dirty="0" err="1">
                <a:solidFill>
                  <a:schemeClr val="tx1"/>
                </a:solidFill>
                <a:effectLst/>
                <a:latin typeface="Arial" charset="0"/>
                <a:ea typeface="+mn-ea"/>
                <a:cs typeface="+mn-cs"/>
              </a:rPr>
              <a:t>KNXnet</a:t>
            </a:r>
            <a:r>
              <a:rPr lang="en-GB" sz="1200" kern="1200" noProof="0" dirty="0">
                <a:solidFill>
                  <a:schemeClr val="tx1"/>
                </a:solidFill>
                <a:effectLst/>
                <a:latin typeface="Arial" charset="0"/>
                <a:ea typeface="+mn-ea"/>
                <a:cs typeface="+mn-cs"/>
              </a:rPr>
              <a:t>/IP routers, several KNX lines, areas or even complete installations can be linked via Ethernet LAN</a:t>
            </a:r>
          </a:p>
          <a:p>
            <a:endParaRPr lang="en-GB" noProof="0" dirty="0"/>
          </a:p>
          <a:p>
            <a:endParaRPr lang="en-GB" noProof="0" dirty="0"/>
          </a:p>
          <a:p>
            <a:pPr lvl="0"/>
            <a:r>
              <a:rPr lang="en-GB" sz="1200" b="1" kern="1200" noProof="0" dirty="0">
                <a:solidFill>
                  <a:schemeClr val="tx1"/>
                </a:solidFill>
                <a:effectLst/>
                <a:latin typeface="Arial" charset="0"/>
                <a:ea typeface="+mn-ea"/>
                <a:cs typeface="+mn-cs"/>
              </a:rPr>
              <a:t>Operation Modes of the TP-TP Coupler </a:t>
            </a:r>
          </a:p>
          <a:p>
            <a:r>
              <a:rPr lang="en-GB" sz="1200" kern="1200" noProof="0" dirty="0">
                <a:solidFill>
                  <a:schemeClr val="tx1"/>
                </a:solidFill>
                <a:effectLst/>
                <a:latin typeface="Arial" charset="0"/>
                <a:ea typeface="+mn-ea"/>
                <a:cs typeface="+mn-cs"/>
              </a:rPr>
              <a:t>Couplers for TP can be used as Backbone coupler (BC), line coupler (LC) and as Line repeater (LR). The assigned individual address determines the operation mode of the coupler</a:t>
            </a:r>
            <a:r>
              <a:rPr lang="es-ES" sz="1200" kern="1200" dirty="0">
                <a:solidFill>
                  <a:schemeClr val="tx1"/>
                </a:solidFill>
                <a:effectLst/>
                <a:latin typeface="Arial" charset="0"/>
                <a:ea typeface="+mn-ea"/>
                <a:cs typeface="+mn-cs"/>
              </a:rPr>
              <a:t>.</a:t>
            </a: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2558350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noProof="0" dirty="0">
                <a:solidFill>
                  <a:schemeClr val="tx1"/>
                </a:solidFill>
                <a:effectLst/>
                <a:latin typeface="Arial" charset="0"/>
                <a:ea typeface="+mn-ea"/>
                <a:cs typeface="+mn-cs"/>
              </a:rPr>
              <a:t>A basic distinction must be made between couplers and interfaces. Interfaces (in contrast to couplers) are devices that link a KNX installation with other technical equipment. They are not fully integrated into the KNX installation and do not have a filter table. Instead such devices have a table that assigns group telegrams to elements of the other system. Interfaces are frequently also designated as gateways</a:t>
            </a:r>
            <a:r>
              <a:rPr lang="en-US" sz="1200" kern="1200" dirty="0">
                <a:solidFill>
                  <a:schemeClr val="tx1"/>
                </a:solidFill>
                <a:effectLst/>
                <a:latin typeface="Arial" charset="0"/>
                <a:ea typeface="+mn-ea"/>
                <a:cs typeface="+mn-cs"/>
              </a:rPr>
              <a:t>. Some examples of interfaces/gateways are: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s-ES" sz="1200" kern="1200" dirty="0">
                <a:solidFill>
                  <a:schemeClr val="tx1"/>
                </a:solidFill>
                <a:effectLst/>
                <a:latin typeface="Arial" charset="0"/>
                <a:ea typeface="+mn-ea"/>
                <a:cs typeface="+mn-cs"/>
              </a:rPr>
              <a:t>Telecontrol/</a:t>
            </a:r>
            <a:r>
              <a:rPr lang="en-GB" sz="1200" kern="1200" noProof="0" dirty="0" err="1">
                <a:solidFill>
                  <a:schemeClr val="tx1"/>
                </a:solidFill>
                <a:effectLst/>
                <a:latin typeface="Arial" charset="0"/>
                <a:ea typeface="+mn-ea"/>
                <a:cs typeface="+mn-cs"/>
              </a:rPr>
              <a:t>Teleswitch</a:t>
            </a:r>
            <a:r>
              <a:rPr lang="en-GB" sz="1200" kern="1200" noProof="0" dirty="0">
                <a:solidFill>
                  <a:schemeClr val="tx1"/>
                </a:solidFill>
                <a:effectLst/>
                <a:latin typeface="Arial" charset="0"/>
                <a:ea typeface="+mn-ea"/>
                <a:cs typeface="+mn-cs"/>
              </a:rPr>
              <a:t> (analogue telephone </a:t>
            </a:r>
            <a:r>
              <a:rPr lang="es-ES" sz="1200" kern="1200" dirty="0">
                <a:solidFill>
                  <a:schemeClr val="tx1"/>
                </a:solidFill>
                <a:effectLst/>
                <a:latin typeface="Arial" charset="0"/>
                <a:ea typeface="+mn-ea"/>
                <a:cs typeface="+mn-cs"/>
              </a:rPr>
              <a:t>interface)</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DP/KNX link, interlinking of PROFIBUS-DP and KNX</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Radio Frequency gateway of the Insta group</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LAN/ISDN gateways</a:t>
            </a:r>
          </a:p>
          <a:p>
            <a:pPr marL="171450" lvl="0" indent="-171450">
              <a:buFont typeface="Arial" panose="020B0604020202020204" pitchFamily="34" charset="0"/>
              <a:buChar char="•"/>
            </a:pPr>
            <a:r>
              <a:rPr lang="en-GB" sz="1200" kern="1200" noProof="0" dirty="0">
                <a:solidFill>
                  <a:schemeClr val="tx1"/>
                </a:solidFill>
                <a:effectLst/>
                <a:latin typeface="Arial" charset="0"/>
                <a:ea typeface="+mn-ea"/>
                <a:cs typeface="+mn-cs"/>
              </a:rPr>
              <a:t>Many visualisation programs also contain a gateway function</a:t>
            </a: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4178357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475171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TP-TP Coupler – Old and New Design</a:t>
            </a: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During the course of the development of semiconductor technology, the first generation coupler was replaced by a new variant in June 2003. A distinction is therefore made in some sections between the “old” and “new” coupler. As the old coupler type has been used in a large number of installations, it is a good idea to outline its characteristics.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de-DE" sz="1200" b="1" kern="1200" dirty="0">
                <a:solidFill>
                  <a:schemeClr val="tx1"/>
                </a:solidFill>
                <a:effectLst/>
                <a:latin typeface="Arial" charset="0"/>
                <a:ea typeface="+mn-ea"/>
                <a:cs typeface="+mn-cs"/>
              </a:rPr>
              <a:t>Old design (</a:t>
            </a:r>
            <a:r>
              <a:rPr lang="en-GB" sz="1200" b="1" kern="1200" noProof="0" dirty="0">
                <a:solidFill>
                  <a:schemeClr val="tx1"/>
                </a:solidFill>
                <a:effectLst/>
                <a:latin typeface="Arial" charset="0"/>
                <a:ea typeface="+mn-ea"/>
                <a:cs typeface="+mn-cs"/>
              </a:rPr>
              <a:t>before</a:t>
            </a:r>
            <a:r>
              <a:rPr lang="de-DE" sz="1200" b="1" kern="1200" dirty="0">
                <a:solidFill>
                  <a:schemeClr val="tx1"/>
                </a:solidFill>
                <a:effectLst/>
                <a:latin typeface="Arial" charset="0"/>
                <a:ea typeface="+mn-ea"/>
                <a:cs typeface="+mn-cs"/>
              </a:rPr>
              <a:t> 2003)</a:t>
            </a:r>
            <a:endParaRPr lang="es-ES" sz="1200" kern="1200" dirty="0">
              <a:solidFill>
                <a:schemeClr val="tx1"/>
              </a:solidFill>
              <a:effectLst/>
              <a:latin typeface="Arial" charset="0"/>
              <a:ea typeface="+mn-ea"/>
              <a:cs typeface="+mn-cs"/>
            </a:endParaRPr>
          </a:p>
          <a:p>
            <a:r>
              <a:rPr lang="de-DE" sz="1200" kern="1200" dirty="0">
                <a:solidFill>
                  <a:schemeClr val="tx1"/>
                </a:solidFill>
                <a:effectLst/>
                <a:latin typeface="Arial" charset="0"/>
                <a:ea typeface="+mn-ea"/>
                <a:cs typeface="+mn-cs"/>
              </a:rPr>
              <a:t>- </a:t>
            </a:r>
            <a:r>
              <a:rPr lang="en-GB" sz="1200" kern="1200" noProof="0" dirty="0">
                <a:solidFill>
                  <a:schemeClr val="tx1"/>
                </a:solidFill>
                <a:effectLst/>
                <a:latin typeface="Arial" charset="0"/>
                <a:ea typeface="+mn-ea"/>
                <a:cs typeface="+mn-cs"/>
              </a:rPr>
              <a:t>Two microcontrollers</a:t>
            </a:r>
          </a:p>
          <a:p>
            <a:r>
              <a:rPr lang="en-GB" sz="1200" kern="1200" dirty="0">
                <a:solidFill>
                  <a:schemeClr val="tx1"/>
                </a:solidFill>
                <a:effectLst/>
                <a:latin typeface="Arial" charset="0"/>
                <a:ea typeface="+mn-ea"/>
                <a:cs typeface="+mn-cs"/>
              </a:rPr>
              <a:t>- Two transmission modules (R/L/C)</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- 4 Kbyte static “dual-ported“ SRAM, buffered against voltage failure for more than 10 years via a lithium battery</a:t>
            </a:r>
            <a:endParaRPr lang="es-ES" sz="1200" kern="1200" dirty="0">
              <a:solidFill>
                <a:schemeClr val="tx1"/>
              </a:solidFill>
              <a:effectLst/>
              <a:latin typeface="Arial" charset="0"/>
              <a:ea typeface="+mn-ea"/>
              <a:cs typeface="+mn-cs"/>
            </a:endParaRPr>
          </a:p>
          <a:p>
            <a:r>
              <a:rPr lang="en-GB" sz="1200" u="none" kern="1200" dirty="0">
                <a:solidFill>
                  <a:schemeClr val="tx1"/>
                </a:solidFill>
                <a:effectLst/>
                <a:latin typeface="Arial" charset="0"/>
                <a:ea typeface="+mn-ea"/>
                <a:cs typeface="+mn-cs"/>
              </a:rPr>
              <a:t>- </a:t>
            </a:r>
            <a:r>
              <a:rPr lang="en-GB" sz="1200" u="sng" kern="1200" dirty="0">
                <a:solidFill>
                  <a:schemeClr val="tx1"/>
                </a:solidFill>
                <a:effectLst/>
                <a:latin typeface="Arial" charset="0"/>
                <a:ea typeface="+mn-ea"/>
                <a:cs typeface="+mn-cs"/>
              </a:rPr>
              <a:t>Upper memory area (3.5 KiB): </a:t>
            </a:r>
            <a:r>
              <a:rPr lang="en-GB" sz="1200" kern="1200" dirty="0">
                <a:solidFill>
                  <a:schemeClr val="tx1"/>
                </a:solidFill>
                <a:effectLst/>
                <a:latin typeface="Arial" charset="0"/>
                <a:ea typeface="+mn-ea"/>
                <a:cs typeface="+mn-cs"/>
              </a:rPr>
              <a:t>Filter table for 28,672 group addresses (main groups 14/15 do not have any place)</a:t>
            </a:r>
            <a:endParaRPr lang="es-ES" sz="1200" kern="1200" dirty="0">
              <a:solidFill>
                <a:schemeClr val="tx1"/>
              </a:solidFill>
              <a:effectLst/>
              <a:latin typeface="Arial" charset="0"/>
              <a:ea typeface="+mn-ea"/>
              <a:cs typeface="+mn-cs"/>
            </a:endParaRPr>
          </a:p>
          <a:p>
            <a:r>
              <a:rPr lang="en-GB" sz="1200" u="none" kern="1200" dirty="0">
                <a:solidFill>
                  <a:schemeClr val="tx1"/>
                </a:solidFill>
                <a:effectLst/>
                <a:latin typeface="Arial" charset="0"/>
                <a:ea typeface="+mn-ea"/>
                <a:cs typeface="+mn-cs"/>
              </a:rPr>
              <a:t>-</a:t>
            </a:r>
            <a:r>
              <a:rPr lang="en-GB" sz="1200" u="sng" kern="1200" dirty="0">
                <a:solidFill>
                  <a:schemeClr val="tx1"/>
                </a:solidFill>
                <a:effectLst/>
                <a:latin typeface="Arial" charset="0"/>
                <a:ea typeface="+mn-ea"/>
                <a:cs typeface="+mn-cs"/>
              </a:rPr>
              <a:t> Lower memory area (0.5 KiB): </a:t>
            </a:r>
            <a:r>
              <a:rPr lang="en-GB" sz="1200" kern="1200" dirty="0">
                <a:solidFill>
                  <a:schemeClr val="tx1"/>
                </a:solidFill>
                <a:effectLst/>
                <a:latin typeface="Arial" charset="0"/>
                <a:ea typeface="+mn-ea"/>
                <a:cs typeface="+mn-cs"/>
              </a:rPr>
              <a:t>Telegram buffer for 20 telegrams, each 23 bytes long with a flag byte before the telegram and a status byte after the telegram. Each buffer of 10 telegrams is reserved for each direction</a:t>
            </a:r>
            <a:r>
              <a:rPr lang="de-DE"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pPr marL="171450" indent="-171450">
              <a:buFontTx/>
              <a:buChar char="-"/>
            </a:pPr>
            <a:r>
              <a:rPr lang="en-GB" sz="1200" kern="1200" dirty="0">
                <a:solidFill>
                  <a:schemeClr val="tx1"/>
                </a:solidFill>
                <a:effectLst/>
                <a:latin typeface="Arial" charset="0"/>
                <a:ea typeface="+mn-ea"/>
                <a:cs typeface="+mn-cs"/>
              </a:rPr>
              <a:t>Energy supply via secondary line (data rail)</a:t>
            </a:r>
          </a:p>
          <a:p>
            <a:pPr marL="171450" indent="-171450">
              <a:buFontTx/>
              <a:buChar char="-"/>
            </a:pPr>
            <a:r>
              <a:rPr lang="en-GB" sz="1200" kern="1200" dirty="0">
                <a:solidFill>
                  <a:schemeClr val="tx1"/>
                </a:solidFill>
                <a:effectLst/>
                <a:latin typeface="Arial" charset="0"/>
                <a:ea typeface="+mn-ea"/>
                <a:cs typeface="+mn-cs"/>
              </a:rPr>
              <a:t>DIN rail mounted device, 4 modules wide</a:t>
            </a:r>
            <a:endParaRPr lang="es-ES" sz="1200" kern="1200" dirty="0">
              <a:solidFill>
                <a:schemeClr val="tx1"/>
              </a:solidFill>
              <a:effectLst/>
              <a:latin typeface="Arial" charset="0"/>
              <a:ea typeface="+mn-ea"/>
              <a:cs typeface="+mn-cs"/>
            </a:endParaRPr>
          </a:p>
          <a:p>
            <a:r>
              <a:rPr lang="en-GB" sz="1200" u="none" kern="1200" dirty="0">
                <a:solidFill>
                  <a:schemeClr val="tx1"/>
                </a:solidFill>
                <a:effectLst/>
                <a:latin typeface="Arial" charset="0"/>
                <a:ea typeface="+mn-ea"/>
                <a:cs typeface="+mn-cs"/>
              </a:rPr>
              <a:t>- </a:t>
            </a:r>
            <a:r>
              <a:rPr lang="en-GB" sz="1200" u="sng" kern="1200" dirty="0">
                <a:solidFill>
                  <a:schemeClr val="tx1"/>
                </a:solidFill>
                <a:effectLst/>
                <a:latin typeface="Arial" charset="0"/>
                <a:ea typeface="+mn-ea"/>
                <a:cs typeface="+mn-cs"/>
              </a:rPr>
              <a:t>Connection of secondary line: </a:t>
            </a:r>
            <a:r>
              <a:rPr lang="en-GB" sz="1200" kern="1200" dirty="0">
                <a:solidFill>
                  <a:schemeClr val="tx1"/>
                </a:solidFill>
                <a:effectLst/>
                <a:latin typeface="Arial" charset="0"/>
                <a:ea typeface="+mn-ea"/>
                <a:cs typeface="+mn-cs"/>
              </a:rPr>
              <a:t>Data rail via spring-loaded contacts on the rear of the device. </a:t>
            </a:r>
            <a:endParaRPr lang="es-ES" sz="1200" kern="1200" dirty="0">
              <a:solidFill>
                <a:schemeClr val="tx1"/>
              </a:solidFill>
              <a:effectLst/>
              <a:latin typeface="Arial" charset="0"/>
              <a:ea typeface="+mn-ea"/>
              <a:cs typeface="+mn-cs"/>
            </a:endParaRPr>
          </a:p>
          <a:p>
            <a:r>
              <a:rPr lang="en-GB" sz="1200" u="none" kern="1200" dirty="0">
                <a:solidFill>
                  <a:schemeClr val="tx1"/>
                </a:solidFill>
                <a:effectLst/>
                <a:latin typeface="Arial" charset="0"/>
                <a:ea typeface="+mn-ea"/>
                <a:cs typeface="+mn-cs"/>
              </a:rPr>
              <a:t>- </a:t>
            </a:r>
            <a:r>
              <a:rPr lang="en-GB" sz="1200" u="sng" kern="1200" dirty="0">
                <a:solidFill>
                  <a:schemeClr val="tx1"/>
                </a:solidFill>
                <a:effectLst/>
                <a:latin typeface="Arial" charset="0"/>
                <a:ea typeface="+mn-ea"/>
                <a:cs typeface="+mn-cs"/>
              </a:rPr>
              <a:t>Connection of primary line: </a:t>
            </a:r>
            <a:r>
              <a:rPr lang="en-GB" sz="1200" kern="1200" dirty="0">
                <a:solidFill>
                  <a:schemeClr val="tx1"/>
                </a:solidFill>
                <a:effectLst/>
                <a:latin typeface="Arial" charset="0"/>
                <a:ea typeface="+mn-ea"/>
                <a:cs typeface="+mn-cs"/>
              </a:rPr>
              <a:t>Bus terminal on the front of the coupler.</a:t>
            </a:r>
            <a:endParaRPr lang="es-ES" sz="1200" kern="1200" dirty="0">
              <a:solidFill>
                <a:schemeClr val="tx1"/>
              </a:solidFill>
              <a:effectLst/>
              <a:latin typeface="Arial" charset="0"/>
              <a:ea typeface="+mn-ea"/>
              <a:cs typeface="+mn-cs"/>
            </a:endParaRPr>
          </a:p>
          <a:p>
            <a:pPr marL="0" indent="0">
              <a:buFontTx/>
              <a:buNone/>
            </a:pPr>
            <a:r>
              <a:rPr lang="en-GB" sz="1200" u="none" kern="1200" dirty="0">
                <a:solidFill>
                  <a:schemeClr val="tx1"/>
                </a:solidFill>
                <a:effectLst/>
                <a:latin typeface="Arial" charset="0"/>
                <a:ea typeface="+mn-ea"/>
                <a:cs typeface="+mn-cs"/>
              </a:rPr>
              <a:t>- </a:t>
            </a:r>
            <a:r>
              <a:rPr lang="en-GB" sz="1200" u="sng" kern="1200" dirty="0">
                <a:solidFill>
                  <a:schemeClr val="tx1"/>
                </a:solidFill>
                <a:effectLst/>
                <a:latin typeface="Arial" charset="0"/>
                <a:ea typeface="+mn-ea"/>
                <a:cs typeface="+mn-cs"/>
              </a:rPr>
              <a:t>Main groups:</a:t>
            </a:r>
            <a:r>
              <a:rPr lang="en-GB" sz="1200" kern="1200" dirty="0">
                <a:solidFill>
                  <a:schemeClr val="tx1"/>
                </a:solidFill>
                <a:effectLst/>
                <a:latin typeface="Arial" charset="0"/>
                <a:ea typeface="+mn-ea"/>
                <a:cs typeface="+mn-cs"/>
              </a:rPr>
              <a:t> 0 to 15</a:t>
            </a:r>
            <a:r>
              <a:rPr lang="en-GB" sz="1200" u="sng"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main groups 14/15 without individual filtering</a:t>
            </a:r>
          </a:p>
          <a:p>
            <a:pPr marL="171450" indent="-171450">
              <a:buFontTx/>
              <a:buChar cha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de-DE" sz="1200" b="1" kern="1200" dirty="0">
                <a:solidFill>
                  <a:schemeClr val="tx1"/>
                </a:solidFill>
                <a:effectLst/>
                <a:latin typeface="Arial" charset="0"/>
                <a:ea typeface="+mn-ea"/>
                <a:cs typeface="+mn-cs"/>
              </a:rPr>
              <a:t>New design (</a:t>
            </a:r>
            <a:r>
              <a:rPr lang="de-DE" sz="1200" b="1" kern="1200" dirty="0" err="1">
                <a:solidFill>
                  <a:schemeClr val="tx1"/>
                </a:solidFill>
                <a:effectLst/>
                <a:latin typeface="Arial" charset="0"/>
                <a:ea typeface="+mn-ea"/>
                <a:cs typeface="+mn-cs"/>
              </a:rPr>
              <a:t>from</a:t>
            </a:r>
            <a:r>
              <a:rPr lang="de-DE" sz="1200" b="1" kern="1200" dirty="0">
                <a:solidFill>
                  <a:schemeClr val="tx1"/>
                </a:solidFill>
                <a:effectLst/>
                <a:latin typeface="Arial" charset="0"/>
                <a:ea typeface="+mn-ea"/>
                <a:cs typeface="+mn-cs"/>
              </a:rPr>
              <a:t> 2003)</a:t>
            </a:r>
            <a:endParaRPr lang="es-ES" sz="1200" kern="1200" dirty="0">
              <a:solidFill>
                <a:schemeClr val="tx1"/>
              </a:solidFill>
              <a:effectLst/>
              <a:latin typeface="Arial" charset="0"/>
              <a:ea typeface="+mn-ea"/>
              <a:cs typeface="+mn-cs"/>
            </a:endParaRPr>
          </a:p>
          <a:p>
            <a:r>
              <a:rPr lang="de-DE" sz="1200" kern="1200" dirty="0">
                <a:solidFill>
                  <a:schemeClr val="tx1"/>
                </a:solidFill>
                <a:effectLst/>
                <a:latin typeface="Arial" charset="0"/>
                <a:ea typeface="+mn-ea"/>
                <a:cs typeface="+mn-cs"/>
              </a:rPr>
              <a:t>- </a:t>
            </a:r>
            <a:r>
              <a:rPr lang="de-DE" sz="1200" kern="1200" dirty="0" err="1">
                <a:solidFill>
                  <a:schemeClr val="tx1"/>
                </a:solidFill>
                <a:effectLst/>
                <a:latin typeface="Arial" charset="0"/>
                <a:ea typeface="+mn-ea"/>
                <a:cs typeface="+mn-cs"/>
              </a:rPr>
              <a:t>One</a:t>
            </a:r>
            <a:r>
              <a:rPr lang="de-DE" sz="1200" kern="1200" dirty="0">
                <a:solidFill>
                  <a:schemeClr val="tx1"/>
                </a:solidFill>
                <a:effectLst/>
                <a:latin typeface="Arial" charset="0"/>
                <a:ea typeface="+mn-ea"/>
                <a:cs typeface="+mn-cs"/>
              </a:rPr>
              <a:t> </a:t>
            </a:r>
            <a:r>
              <a:rPr lang="de-DE" sz="1200" kern="1200" dirty="0" err="1">
                <a:solidFill>
                  <a:schemeClr val="tx1"/>
                </a:solidFill>
                <a:effectLst/>
                <a:latin typeface="Arial" charset="0"/>
                <a:ea typeface="+mn-ea"/>
                <a:cs typeface="+mn-cs"/>
              </a:rPr>
              <a:t>common</a:t>
            </a:r>
            <a:r>
              <a:rPr lang="de-DE" sz="1200" kern="1200" dirty="0">
                <a:solidFill>
                  <a:schemeClr val="tx1"/>
                </a:solidFill>
                <a:effectLst/>
                <a:latin typeface="Arial" charset="0"/>
                <a:ea typeface="+mn-ea"/>
                <a:cs typeface="+mn-cs"/>
              </a:rPr>
              <a:t> </a:t>
            </a:r>
            <a:r>
              <a:rPr lang="de-DE" sz="1200" kern="1200" dirty="0" err="1">
                <a:solidFill>
                  <a:schemeClr val="tx1"/>
                </a:solidFill>
                <a:effectLst/>
                <a:latin typeface="Arial" charset="0"/>
                <a:ea typeface="+mn-ea"/>
                <a:cs typeface="+mn-cs"/>
              </a:rPr>
              <a:t>controller</a:t>
            </a:r>
            <a:endParaRPr lang="es-ES" sz="1200" kern="1200" dirty="0">
              <a:solidFill>
                <a:schemeClr val="tx1"/>
              </a:solidFill>
              <a:effectLst/>
              <a:latin typeface="Arial" charset="0"/>
              <a:ea typeface="+mn-ea"/>
              <a:cs typeface="+mn-cs"/>
            </a:endParaRPr>
          </a:p>
          <a:p>
            <a:r>
              <a:rPr lang="de-DE" sz="1200" kern="1200" dirty="0">
                <a:solidFill>
                  <a:schemeClr val="tx1"/>
                </a:solidFill>
                <a:effectLst/>
                <a:latin typeface="Arial" charset="0"/>
                <a:ea typeface="+mn-ea"/>
                <a:cs typeface="+mn-cs"/>
              </a:rPr>
              <a:t>- </a:t>
            </a:r>
            <a:r>
              <a:rPr lang="de-DE" sz="1200" kern="1200" dirty="0" err="1">
                <a:solidFill>
                  <a:schemeClr val="tx1"/>
                </a:solidFill>
                <a:effectLst/>
                <a:latin typeface="Arial" charset="0"/>
                <a:ea typeface="+mn-ea"/>
                <a:cs typeface="+mn-cs"/>
              </a:rPr>
              <a:t>Two</a:t>
            </a:r>
            <a:r>
              <a:rPr lang="de-DE" sz="1200" kern="1200" dirty="0">
                <a:solidFill>
                  <a:schemeClr val="tx1"/>
                </a:solidFill>
                <a:effectLst/>
                <a:latin typeface="Arial" charset="0"/>
                <a:ea typeface="+mn-ea"/>
                <a:cs typeface="+mn-cs"/>
              </a:rPr>
              <a:t> </a:t>
            </a:r>
            <a:r>
              <a:rPr lang="de-DE" sz="1200" kern="1200" dirty="0" err="1">
                <a:solidFill>
                  <a:schemeClr val="tx1"/>
                </a:solidFill>
                <a:effectLst/>
                <a:latin typeface="Arial" charset="0"/>
                <a:ea typeface="+mn-ea"/>
                <a:cs typeface="+mn-cs"/>
              </a:rPr>
              <a:t>transmission</a:t>
            </a:r>
            <a:r>
              <a:rPr lang="de-DE" sz="1200" kern="1200" dirty="0">
                <a:solidFill>
                  <a:schemeClr val="tx1"/>
                </a:solidFill>
                <a:effectLst/>
                <a:latin typeface="Arial" charset="0"/>
                <a:ea typeface="+mn-ea"/>
                <a:cs typeface="+mn-cs"/>
              </a:rPr>
              <a:t> </a:t>
            </a:r>
            <a:r>
              <a:rPr lang="de-DE" sz="1200" kern="1200" dirty="0" err="1">
                <a:solidFill>
                  <a:schemeClr val="tx1"/>
                </a:solidFill>
                <a:effectLst/>
                <a:latin typeface="Arial" charset="0"/>
                <a:ea typeface="+mn-ea"/>
                <a:cs typeface="+mn-cs"/>
              </a:rPr>
              <a:t>modules</a:t>
            </a:r>
            <a:r>
              <a:rPr lang="de-DE" sz="1200" kern="1200" dirty="0">
                <a:solidFill>
                  <a:schemeClr val="tx1"/>
                </a:solidFill>
                <a:effectLst/>
                <a:latin typeface="Arial" charset="0"/>
                <a:ea typeface="+mn-ea"/>
                <a:cs typeface="+mn-cs"/>
              </a:rPr>
              <a:t> (electronic)</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Memory for the filter table is implemented as a non-volatile flash memory so that buffering via a battery is not necessary.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Energy supply via primary line or secondary line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DIN rail mounted device, 2 modules wide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Connection of </a:t>
            </a:r>
            <a:r>
              <a:rPr lang="en-GB" sz="1200" u="sng" kern="1200" dirty="0">
                <a:solidFill>
                  <a:schemeClr val="tx1"/>
                </a:solidFill>
                <a:effectLst/>
                <a:latin typeface="Arial" charset="0"/>
                <a:ea typeface="+mn-ea"/>
                <a:cs typeface="+mn-cs"/>
              </a:rPr>
              <a:t>both lines via bus terminals </a:t>
            </a:r>
            <a:r>
              <a:rPr lang="en-GB" sz="1200" kern="1200" dirty="0">
                <a:solidFill>
                  <a:schemeClr val="tx1"/>
                </a:solidFill>
                <a:effectLst/>
                <a:latin typeface="Arial" charset="0"/>
                <a:ea typeface="+mn-ea"/>
                <a:cs typeface="+mn-cs"/>
              </a:rPr>
              <a:t>on the front of the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r>
              <a:rPr lang="en-GB" sz="1200" u="sng" kern="1200" dirty="0">
                <a:solidFill>
                  <a:schemeClr val="tx1"/>
                </a:solidFill>
                <a:effectLst/>
                <a:latin typeface="Arial" charset="0"/>
                <a:ea typeface="+mn-ea"/>
                <a:cs typeface="+mn-cs"/>
              </a:rPr>
              <a:t>Main groups:</a:t>
            </a:r>
            <a:r>
              <a:rPr lang="en-GB" sz="1200" kern="1200" dirty="0">
                <a:solidFill>
                  <a:schemeClr val="tx1"/>
                </a:solidFill>
                <a:effectLst/>
                <a:latin typeface="Arial" charset="0"/>
                <a:ea typeface="+mn-ea"/>
                <a:cs typeface="+mn-cs"/>
              </a:rPr>
              <a:t> 0 to 31</a:t>
            </a:r>
            <a:r>
              <a:rPr lang="en-GB" sz="1200" u="sng" kern="1200" dirty="0">
                <a:solidFill>
                  <a:schemeClr val="tx1"/>
                </a:solidFill>
                <a:effectLst/>
                <a:latin typeface="Arial" charset="0"/>
                <a:ea typeface="+mn-ea"/>
                <a:cs typeface="+mn-cs"/>
              </a:rPr>
              <a:t>,</a:t>
            </a:r>
            <a:br>
              <a:rPr lang="en-GB" sz="1200" u="sng"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for compatibility reasons frequently main groups 14/15 without individual filtering (depending on manufacturer and device)</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assignment of the two TP connections is solved differently by the manufacturers: imprints “Primary Line” or “Main Line” correspond to the upper segment while “Secondary Line” or “Line” correspond to the lower segment.</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NOTE: The assignment of the two TP connections is solved differently by the manufacturers: imprints “Primary Line” or “Main Line” correspond to the upper segment while “Secondary Line” or “Line” correspond to the lower segment.</a:t>
            </a:r>
            <a:endParaRPr lang="es-ES" sz="1200" kern="1200" dirty="0">
              <a:solidFill>
                <a:schemeClr val="tx1"/>
              </a:solidFill>
              <a:effectLst/>
              <a:latin typeface="Arial" charset="0"/>
              <a:ea typeface="+mn-ea"/>
              <a:cs typeface="+mn-cs"/>
            </a:endParaRPr>
          </a:p>
          <a:p>
            <a:pPr marL="171450" indent="-171450">
              <a:buFontTx/>
              <a:buChar char="-"/>
            </a:pP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707213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Parameters of Line and Backbone Couplers</a:t>
            </a: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a:t>
            </a:r>
            <a:r>
              <a:rPr lang="en-GB" sz="1200" kern="1200" dirty="0">
                <a:solidFill>
                  <a:schemeClr val="tx1"/>
                </a:solidFill>
                <a:effectLst/>
                <a:latin typeface="Arial" charset="0"/>
                <a:ea typeface="+mn-ea"/>
                <a:cs typeface="+mn-cs"/>
              </a:rPr>
              <a:t> shows the parameters of a coupler of the older design. Two parameters are omitted for the new coupler (</a:t>
            </a:r>
            <a:r>
              <a:rPr lang="en-GB" sz="1200" b="1" kern="1200" dirty="0">
                <a:solidFill>
                  <a:schemeClr val="tx1"/>
                </a:solidFill>
                <a:effectLst/>
                <a:latin typeface="Arial" charset="0"/>
                <a:ea typeface="+mn-ea"/>
                <a:cs typeface="+mn-cs"/>
              </a:rPr>
              <a:t>Figure 2</a:t>
            </a:r>
            <a:r>
              <a:rPr lang="en-GB" sz="1200" kern="1200" dirty="0">
                <a:solidFill>
                  <a:schemeClr val="tx1"/>
                </a:solidFill>
                <a:effectLst/>
                <a:latin typeface="Arial" charset="0"/>
                <a:ea typeface="+mn-ea"/>
                <a:cs typeface="+mn-cs"/>
              </a:rPr>
              <a:t>), the rest is identical.</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Parameter: </a:t>
            </a:r>
            <a:r>
              <a:rPr lang="en-GB" sz="1200" b="1" i="1" kern="1200" dirty="0">
                <a:solidFill>
                  <a:schemeClr val="tx1"/>
                </a:solidFill>
                <a:effectLst/>
                <a:latin typeface="Arial" charset="0"/>
                <a:ea typeface="+mn-ea"/>
                <a:cs typeface="+mn-cs"/>
              </a:rPr>
              <a:t>“Group Telegrams”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filter behaviour can be modified with the first two parameters “Group telegram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can be set separately for both directions: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normal (or filter): Filter table is used, telegrams are routed selectively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route: All group telegrams are routed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block: Group telegrams are not routed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default is “normal (or filter)”. The settings “route” and “block” should only be used for diagnostics purposes or during the commissioning phase.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Even if e.g. a visualisation is used, the couplers can work with a filter function. ETS can calculate the filter tables correctly if a dummy application with the visualised group addresses is configured in the line of the visualisation PC. Some visualisation packages automatically maintain a dummy application in the ETS project with the addresses that have been used.</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Parameter: </a:t>
            </a:r>
            <a:r>
              <a:rPr lang="en-GB" sz="1200" b="1" i="1" kern="1200" dirty="0">
                <a:solidFill>
                  <a:schemeClr val="tx1"/>
                </a:solidFill>
                <a:effectLst/>
                <a:latin typeface="Arial" charset="0"/>
                <a:ea typeface="+mn-ea"/>
                <a:cs typeface="+mn-cs"/>
              </a:rPr>
              <a:t>“Check Filter Table?”</a:t>
            </a:r>
            <a:endParaRPr lang="es-ES" sz="1200" b="1" kern="1200" dirty="0">
              <a:solidFill>
                <a:schemeClr val="tx1"/>
              </a:solidFill>
              <a:effectLst/>
              <a:latin typeface="Arial" charset="0"/>
              <a:ea typeface="+mn-ea"/>
              <a:cs typeface="+mn-cs"/>
            </a:endParaRPr>
          </a:p>
          <a:p>
            <a:r>
              <a:rPr lang="en-GB" sz="1200" i="1" kern="1200" dirty="0">
                <a:solidFill>
                  <a:schemeClr val="tx1"/>
                </a:solidFill>
                <a:effectLst/>
                <a:latin typeface="Arial" charset="0"/>
                <a:ea typeface="+mn-ea"/>
                <a:cs typeface="+mn-cs"/>
              </a:rPr>
              <a:t>A test algorithm is activated via this parameter. It checks the filter table for data loss through the evaluation of check sums. </a:t>
            </a:r>
            <a:r>
              <a:rPr lang="de-DE" sz="1200" i="1" kern="1200" dirty="0">
                <a:solidFill>
                  <a:schemeClr val="tx1"/>
                </a:solidFill>
                <a:effectLst/>
                <a:latin typeface="Arial" charset="0"/>
                <a:ea typeface="+mn-ea"/>
                <a:cs typeface="+mn-cs"/>
              </a:rPr>
              <a:t>The </a:t>
            </a:r>
            <a:r>
              <a:rPr lang="de-DE" sz="1200" i="1" kern="1200" dirty="0" err="1">
                <a:solidFill>
                  <a:schemeClr val="tx1"/>
                </a:solidFill>
                <a:effectLst/>
                <a:latin typeface="Arial" charset="0"/>
                <a:ea typeface="+mn-ea"/>
                <a:cs typeface="+mn-cs"/>
              </a:rPr>
              <a:t>following</a:t>
            </a:r>
            <a:r>
              <a:rPr lang="de-DE" sz="1200" i="1" kern="1200" dirty="0">
                <a:solidFill>
                  <a:schemeClr val="tx1"/>
                </a:solidFill>
                <a:effectLst/>
                <a:latin typeface="Arial" charset="0"/>
                <a:ea typeface="+mn-ea"/>
                <a:cs typeface="+mn-cs"/>
              </a:rPr>
              <a:t> </a:t>
            </a:r>
            <a:r>
              <a:rPr lang="de-DE" sz="1200" i="1" kern="1200" dirty="0" err="1">
                <a:solidFill>
                  <a:schemeClr val="tx1"/>
                </a:solidFill>
                <a:effectLst/>
                <a:latin typeface="Arial" charset="0"/>
                <a:ea typeface="+mn-ea"/>
                <a:cs typeface="+mn-cs"/>
              </a:rPr>
              <a:t>options</a:t>
            </a:r>
            <a:r>
              <a:rPr lang="de-DE" sz="1200" i="1" kern="1200" dirty="0">
                <a:solidFill>
                  <a:schemeClr val="tx1"/>
                </a:solidFill>
                <a:effectLst/>
                <a:latin typeface="Arial" charset="0"/>
                <a:ea typeface="+mn-ea"/>
                <a:cs typeface="+mn-cs"/>
              </a:rPr>
              <a:t> </a:t>
            </a:r>
            <a:r>
              <a:rPr lang="de-DE" sz="1200" i="1" kern="1200" dirty="0" err="1">
                <a:solidFill>
                  <a:schemeClr val="tx1"/>
                </a:solidFill>
                <a:effectLst/>
                <a:latin typeface="Arial" charset="0"/>
                <a:ea typeface="+mn-ea"/>
                <a:cs typeface="+mn-cs"/>
              </a:rPr>
              <a:t>can</a:t>
            </a:r>
            <a:r>
              <a:rPr lang="de-DE" sz="1200" i="1" kern="1200" dirty="0">
                <a:solidFill>
                  <a:schemeClr val="tx1"/>
                </a:solidFill>
                <a:effectLst/>
                <a:latin typeface="Arial" charset="0"/>
                <a:ea typeface="+mn-ea"/>
                <a:cs typeface="+mn-cs"/>
              </a:rPr>
              <a:t> </a:t>
            </a:r>
            <a:r>
              <a:rPr lang="de-DE" sz="1200" i="1" kern="1200" dirty="0" err="1">
                <a:solidFill>
                  <a:schemeClr val="tx1"/>
                </a:solidFill>
                <a:effectLst/>
                <a:latin typeface="Arial" charset="0"/>
                <a:ea typeface="+mn-ea"/>
                <a:cs typeface="+mn-cs"/>
              </a:rPr>
              <a:t>be</a:t>
            </a:r>
            <a:r>
              <a:rPr lang="de-DE" sz="1200" i="1" kern="1200" dirty="0">
                <a:solidFill>
                  <a:schemeClr val="tx1"/>
                </a:solidFill>
                <a:effectLst/>
                <a:latin typeface="Arial" charset="0"/>
                <a:ea typeface="+mn-ea"/>
                <a:cs typeface="+mn-cs"/>
              </a:rPr>
              <a:t> </a:t>
            </a:r>
            <a:r>
              <a:rPr lang="de-DE" sz="1200" i="1" kern="1200" dirty="0" err="1">
                <a:solidFill>
                  <a:schemeClr val="tx1"/>
                </a:solidFill>
                <a:effectLst/>
                <a:latin typeface="Arial" charset="0"/>
                <a:ea typeface="+mn-ea"/>
                <a:cs typeface="+mn-cs"/>
              </a:rPr>
              <a:t>set</a:t>
            </a:r>
            <a:r>
              <a:rPr lang="de-DE" sz="1200" i="1"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de-DE" sz="1200" i="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YES – The filter table is checked cyclically for errors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NO – The filter table is not checked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the new type of coupler, the parameter ‘Check filter table’ is always set internally and can therefore no longer be configured.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Parameter:</a:t>
            </a:r>
            <a:r>
              <a:rPr lang="en-GB" sz="1200" b="1" i="1" kern="1200" dirty="0">
                <a:solidFill>
                  <a:schemeClr val="tx1"/>
                </a:solidFill>
                <a:effectLst/>
                <a:latin typeface="Arial" charset="0"/>
                <a:ea typeface="+mn-ea"/>
                <a:cs typeface="+mn-cs"/>
              </a:rPr>
              <a:t> “On Error in Filter Table…”</a:t>
            </a:r>
            <a:endParaRPr lang="es-ES" sz="1200" b="1" kern="1200" dirty="0">
              <a:solidFill>
                <a:schemeClr val="tx1"/>
              </a:solidFill>
              <a:effectLst/>
              <a:latin typeface="Arial" charset="0"/>
              <a:ea typeface="+mn-ea"/>
              <a:cs typeface="+mn-cs"/>
            </a:endParaRPr>
          </a:p>
          <a:p>
            <a:r>
              <a:rPr lang="en-GB" sz="1200" i="1" kern="1200" dirty="0">
                <a:solidFill>
                  <a:schemeClr val="tx1"/>
                </a:solidFill>
                <a:effectLst/>
                <a:latin typeface="Arial" charset="0"/>
                <a:ea typeface="+mn-ea"/>
                <a:cs typeface="+mn-cs"/>
              </a:rPr>
              <a:t>(only for the old type of coupler):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coupler establishes a defect in the filter table, the setting of the parameter “On Error in Filter Table” determines the behaviour: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i="1" kern="1200" dirty="0">
                <a:solidFill>
                  <a:schemeClr val="tx1"/>
                </a:solidFill>
                <a:effectLst/>
                <a:latin typeface="Arial" charset="0"/>
                <a:ea typeface="+mn-ea"/>
                <a:cs typeface="+mn-cs"/>
              </a:rPr>
              <a:t>route	   	Bus load increases, installation continues to function, fault remains</a:t>
            </a:r>
            <a:endParaRPr lang="es-ES" sz="1200" kern="1200" dirty="0">
              <a:solidFill>
                <a:schemeClr val="tx1"/>
              </a:solidFill>
              <a:effectLst/>
              <a:latin typeface="Arial" charset="0"/>
              <a:ea typeface="+mn-ea"/>
              <a:cs typeface="+mn-cs"/>
            </a:endParaRPr>
          </a:p>
          <a:p>
            <a:r>
              <a:rPr lang="en-GB" sz="1200" i="1" kern="1200" dirty="0">
                <a:solidFill>
                  <a:schemeClr val="tx1"/>
                </a:solidFill>
                <a:effectLst/>
                <a:latin typeface="Arial" charset="0"/>
                <a:ea typeface="+mn-ea"/>
                <a:cs typeface="+mn-cs"/>
              </a:rPr>
              <a:t>undetected </a:t>
            </a:r>
            <a:endParaRPr lang="es-ES" sz="1200" kern="1200" dirty="0">
              <a:solidFill>
                <a:schemeClr val="tx1"/>
              </a:solidFill>
              <a:effectLst/>
              <a:latin typeface="Arial" charset="0"/>
              <a:ea typeface="+mn-ea"/>
              <a:cs typeface="+mn-cs"/>
            </a:endParaRPr>
          </a:p>
          <a:p>
            <a:pPr lvl="0"/>
            <a:r>
              <a:rPr lang="en-GB" sz="1200" i="1" kern="1200" dirty="0">
                <a:solidFill>
                  <a:schemeClr val="tx1"/>
                </a:solidFill>
                <a:effectLst/>
                <a:latin typeface="Arial" charset="0"/>
                <a:ea typeface="+mn-ea"/>
                <a:cs typeface="+mn-cs"/>
              </a:rPr>
              <a:t>block		Malfunction of the installation, fault becomes apparent</a:t>
            </a:r>
            <a:endParaRPr lang="es-ES" sz="1200" kern="1200" dirty="0">
              <a:solidFill>
                <a:schemeClr val="tx1"/>
              </a:solidFill>
              <a:effectLst/>
              <a:latin typeface="Arial" charset="0"/>
              <a:ea typeface="+mn-ea"/>
              <a:cs typeface="+mn-cs"/>
            </a:endParaRPr>
          </a:p>
          <a:p>
            <a:pPr lvl="0"/>
            <a:r>
              <a:rPr lang="en-GB" sz="1200" i="1" kern="1200" dirty="0">
                <a:solidFill>
                  <a:schemeClr val="tx1"/>
                </a:solidFill>
                <a:effectLst/>
                <a:latin typeface="Arial" charset="0"/>
                <a:ea typeface="+mn-ea"/>
                <a:cs typeface="+mn-cs"/>
              </a:rPr>
              <a:t>ignore		Coupler behaves according to the first two parameters “Group</a:t>
            </a:r>
            <a:endParaRPr lang="es-ES" sz="1200" kern="1200" dirty="0">
              <a:solidFill>
                <a:schemeClr val="tx1"/>
              </a:solidFill>
              <a:effectLst/>
              <a:latin typeface="Arial" charset="0"/>
              <a:ea typeface="+mn-ea"/>
              <a:cs typeface="+mn-cs"/>
            </a:endParaRPr>
          </a:p>
          <a:p>
            <a:r>
              <a:rPr lang="en-GB" sz="1200" i="1" kern="1200" dirty="0">
                <a:solidFill>
                  <a:schemeClr val="tx1"/>
                </a:solidFill>
                <a:effectLst/>
                <a:latin typeface="Arial" charset="0"/>
                <a:ea typeface="+mn-ea"/>
                <a:cs typeface="+mn-cs"/>
              </a:rPr>
              <a:t>Telegrams…”, fault does not become apparent or only very late</a:t>
            </a:r>
            <a:endParaRPr lang="es-ES" sz="1200" kern="1200" dirty="0">
              <a:solidFill>
                <a:schemeClr val="tx1"/>
              </a:solidFill>
              <a:effectLst/>
              <a:latin typeface="Arial" charset="0"/>
              <a:ea typeface="+mn-ea"/>
              <a:cs typeface="+mn-cs"/>
            </a:endParaRPr>
          </a:p>
          <a:p>
            <a:r>
              <a:rPr lang="en-GB" sz="1200" i="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the new type of couplers, this parameter is always set internally to “route”.</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Parameter: </a:t>
            </a:r>
            <a:r>
              <a:rPr lang="en-GB" sz="1200" b="1" i="1" kern="1200" dirty="0">
                <a:solidFill>
                  <a:schemeClr val="tx1"/>
                </a:solidFill>
                <a:effectLst/>
                <a:latin typeface="Arial" charset="0"/>
                <a:ea typeface="+mn-ea"/>
                <a:cs typeface="+mn-cs"/>
              </a:rPr>
              <a:t>“Main Group 14/15”</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Entries for all the group addresses of main groups 14 and 15 did not originally fit in the filter table memory. They cannot be filtered by address but only be routed or blocked “collectively”.</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route – both main groups are routed in both directions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block – both main groups are blocked in both directions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main groups 14 and 15 are used, they should only be used for internal line functions and the parameter should be set to “block”. The bus load would be increased unnecessarily in the setting “route”.</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Parameter:</a:t>
            </a:r>
            <a:r>
              <a:rPr lang="en-GB" sz="1200" b="1" i="1" kern="1200" dirty="0">
                <a:solidFill>
                  <a:schemeClr val="tx1"/>
                </a:solidFill>
                <a:effectLst/>
                <a:latin typeface="Arial" charset="0"/>
                <a:ea typeface="+mn-ea"/>
                <a:cs typeface="+mn-cs"/>
              </a:rPr>
              <a:t> “Repetition if Transmission Error on Main Line” or “Repetition if Transmission Error on Line”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parameters control the repetition process if there is no acknowledgement or only a negative acknowledgement on the corresponding line. The following options can be set:</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none, 1, 2, 3 or</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yes/no for the new type of coupler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last two parameters “Telegram confirmation on main line” and “Telegram confirmation on line” determine the acknowledgement process for received telegrams:</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only if routing – the telegram is only acknowledged if it is routed by the coupler</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always – all received telegrams are acknowledged</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1223147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These parameters should only be modified in specific cases as the following examples show:</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 visualisation PC is connected to the main line via a data interface. The filter tables of the line coupler are active and the filtering is set in such a way that the telegrams for the visualisation can reach the main line. If telegrams which only address the visualisation are now routed to the main line, the IACK is missing for the line coupler and the telegrams are repeated e.g. three times which leads to a high bus load on the main line. This can be remedied by:</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Changing the parameter “Telegram confirmation on main line” to “always” for all line couplers so that all the couplers respond and the telegram is not repeated or</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Changing the parameter “Repetitions if transmission errors on main line” to “none” for all couplers so that the telegram is likewise not repeated. The disadvantage is that telegrams are lost if transmission errors actually occur or the input buffers of the couplers are full and send “busy”. This option is however the only one available if there is only one line coupler present.</a:t>
            </a:r>
            <a:endParaRPr lang="es-ES" sz="1200" kern="1200" dirty="0">
              <a:solidFill>
                <a:schemeClr val="tx1"/>
              </a:solidFill>
              <a:effectLst/>
              <a:latin typeface="Arial" charset="0"/>
              <a:ea typeface="+mn-ea"/>
              <a:cs typeface="+mn-cs"/>
            </a:endParaRPr>
          </a:p>
          <a:p>
            <a:pPr lvl="0"/>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A visualisation PC is connected to a secondary line via a data interface. The filter tables of the line coupler are active and the filtering is set in such a way that the telegrams for the visualisation reach the line. If telegrams which only address the visualisation are now routed to the line, the IACK is missing for the line coupler and the telegrams are repeated e.g. three times which leads to a high bus load on the line. This can be remedied by:</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Changing the parameter “Repetitions if transmission errors on line” is set to “none” for the coupler; the telegram is therefore not repeated. The disadvantage is that telegrams are lost if transmission errors actually occur.</a:t>
            </a: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87120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Parameters of Line Repeaters</a:t>
            </a:r>
            <a:endParaRPr lang="en-GB" sz="1200" b="1"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 TP-TP coupler is used as a line repeater, it receives a device number from 1 onwards (not 0 as this is reserved for LC/BC). By this, the coupler application will know that it shall operate as repeater.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special “Line repeater” application can also be selected as an option, in which only two parameters can be set for programming the individual address and the sending of group telegrams. The line coupler/backbone coupler application can however also be used as the individual address has priority over the operation mode.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the ETS program does not make a distinction between different line segments, it is not able to create a filter table for the line repeater. The repeater therefore routes all group telegrams. Telegrams with physical destination addresses are also generally routed.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Therefore only two of the previously described parameters of the TP coupler are of significance: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Repetitions if transmission errors on primary  line segment (“line”)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Repetitions if transmission errors on secondary line segment (“segment”)</a:t>
            </a:r>
          </a:p>
          <a:p>
            <a:pPr marL="0" lv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ES" dirty="0"/>
              <a:t>The </a:t>
            </a:r>
            <a:r>
              <a:rPr lang="en-GB" noProof="0" dirty="0"/>
              <a:t>available parameters in these </a:t>
            </a:r>
            <a:r>
              <a:rPr lang="es-ES" dirty="0"/>
              <a:t>cases are:</a:t>
            </a: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Repetitions if transmission errors on (primary) line (segment) when assigning individual address </a:t>
            </a:r>
            <a:r>
              <a:rPr lang="en-GB" sz="1200" kern="1200" dirty="0" err="1">
                <a:solidFill>
                  <a:schemeClr val="tx1"/>
                </a:solidFill>
                <a:effectLst/>
                <a:latin typeface="Arial" charset="0"/>
                <a:ea typeface="+mn-ea"/>
                <a:cs typeface="+mn-cs"/>
              </a:rPr>
              <a:t>address</a:t>
            </a:r>
            <a:r>
              <a:rPr lang="en-GB" sz="1200" kern="1200" dirty="0">
                <a:solidFill>
                  <a:schemeClr val="tx1"/>
                </a:solidFill>
                <a:effectLst/>
                <a:latin typeface="Arial" charset="0"/>
                <a:ea typeface="+mn-ea"/>
                <a:cs typeface="+mn-cs"/>
              </a:rPr>
              <a:t>: yes/no</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Repetitions if transmission errors on (primary) line (segment) in group telegrams: yes/no</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Repetitions if transmission errors on (secondary) line segment when assigning individual address: yes/no</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Repetitions if transmission errors on (secondary) line segment in group telegrams:  yes/no</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default values should normally be set as shown in Figure 3.</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3993912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Routing</a:t>
            </a:r>
          </a:p>
          <a:p>
            <a:r>
              <a:rPr lang="en-US" dirty="0"/>
              <a:t>Once a coupler is put into operation, there are five possible ways in which the coupler can respond on reception of a telegram:</a:t>
            </a:r>
          </a:p>
          <a:p>
            <a:r>
              <a:rPr lang="en-US" dirty="0"/>
              <a:t> If the telegram is acknowledged:</a:t>
            </a:r>
          </a:p>
          <a:p>
            <a:pPr marL="171450" indent="-171450">
              <a:buFont typeface="Arial" panose="020B0604020202020204" pitchFamily="34" charset="0"/>
              <a:buChar char="•"/>
            </a:pPr>
            <a:r>
              <a:rPr lang="en-US" dirty="0"/>
              <a:t>telegram is routed unchanged (TEL_ROUT_UN)</a:t>
            </a:r>
          </a:p>
          <a:p>
            <a:pPr marL="171450" indent="-171450">
              <a:buFont typeface="Arial" panose="020B0604020202020204" pitchFamily="34" charset="0"/>
              <a:buChar char="•"/>
            </a:pPr>
            <a:r>
              <a:rPr lang="en-US" dirty="0"/>
              <a:t>telegram is routed and the routing counter is reduced by 1 (TEL_ROUT_DEC)</a:t>
            </a:r>
          </a:p>
          <a:p>
            <a:pPr marL="171450" indent="-171450">
              <a:buFont typeface="Arial" panose="020B0604020202020204" pitchFamily="34" charset="0"/>
              <a:buChar char="•"/>
            </a:pPr>
            <a:r>
              <a:rPr lang="en-US" dirty="0"/>
              <a:t>telegram is intended for the coupler itself in order to change internal data (TEL_INT) ) and is not routed </a:t>
            </a:r>
          </a:p>
          <a:p>
            <a:pPr marL="171450" indent="-171450">
              <a:buFont typeface="Arial" panose="020B0604020202020204" pitchFamily="34" charset="0"/>
              <a:buChar char="•"/>
            </a:pPr>
            <a:r>
              <a:rPr lang="en-US" dirty="0"/>
              <a:t>telegram is ignored (TEL_IGN_AK)</a:t>
            </a:r>
          </a:p>
          <a:p>
            <a:r>
              <a:rPr lang="en-US" dirty="0"/>
              <a:t>If the telegram is not acknowledged:</a:t>
            </a:r>
          </a:p>
          <a:p>
            <a:pPr marL="171450" indent="-171450">
              <a:buFont typeface="Arial" panose="020B0604020202020204" pitchFamily="34" charset="0"/>
              <a:buChar char="•"/>
            </a:pPr>
            <a:r>
              <a:rPr lang="en-US" dirty="0"/>
              <a:t>telegram is ignored without an acknowledgement (TEL_IGN_NOAK)</a:t>
            </a: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380901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de-DE" sz="1200" b="1" kern="1200" dirty="0">
                <a:solidFill>
                  <a:schemeClr val="tx1"/>
                </a:solidFill>
                <a:effectLst/>
                <a:latin typeface="Arial" charset="0"/>
                <a:ea typeface="+mn-ea"/>
                <a:cs typeface="+mn-cs"/>
              </a:rPr>
              <a:t>Routing </a:t>
            </a:r>
            <a:r>
              <a:rPr lang="en-GB" sz="1200" b="1" kern="1200" noProof="0" dirty="0">
                <a:solidFill>
                  <a:schemeClr val="tx1"/>
                </a:solidFill>
                <a:effectLst/>
                <a:latin typeface="Arial" charset="0"/>
                <a:ea typeface="+mn-ea"/>
                <a:cs typeface="+mn-cs"/>
              </a:rPr>
              <a:t>for Physically Addressed Telegrams</a:t>
            </a:r>
          </a:p>
          <a:p>
            <a:pPr lvl="0"/>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KNX Basic Course, you have learnt how a line coupler can reduce the bus load in the system by filtering group telegrams.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Couplers carry out further filtering however almost invisibly by filtering physically addressed telegrams.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means telegrams whose destination is an individual address.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telegrams occur typically during the transmission of device data from ETS to a bus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put it simply, a coupler only routes those physical telegrams where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the sender address in the telegram is plausible and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target address in the topology makes routing necessary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endParaRPr lang="es-ES"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Example: Routing Physically Addressed Telegrams in the Line Coupler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shows the routing algorithm of physically addressed telegrams in the line coupler in detail.</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de-DE" sz="1200" b="1" kern="1200" dirty="0">
                <a:solidFill>
                  <a:schemeClr val="tx1"/>
                </a:solidFill>
                <a:effectLst/>
                <a:latin typeface="Arial" charset="0"/>
                <a:ea typeface="+mn-ea"/>
                <a:cs typeface="+mn-cs"/>
              </a:rPr>
              <a:t>Legend: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Physical destination address of destination device: A.B.C</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 = Area in which target device is located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B = Line in which target device is located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C = Device number of target device in the line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Individual address of the line coupler: X.Y.0 (zero)</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X = Area in which line coupler is located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Y = Line in which line coupler is located</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0 = Device number of line coupler (always zero)</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Main line to line: Figure 4: Routing with “target address is individual address” – Main line to line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Line to main line: Figure 5: Routing with “target address is individual address” – Line to main line</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br>
              <a:rPr lang="en-GB" sz="1200" kern="1200" dirty="0">
                <a:solidFill>
                  <a:schemeClr val="tx1"/>
                </a:solidFill>
                <a:effectLst/>
                <a:latin typeface="Arial" charset="0"/>
                <a:ea typeface="+mn-ea"/>
                <a:cs typeface="+mn-cs"/>
              </a:rPr>
            </a:br>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2061142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Routing for Group Telegrams (Target Address is Group Address)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Prerequisite: filter table is set for both directions.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Example: line coupler, whereby:</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GT = Group address of the telegram</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FT = Filter table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RC = Routing counter</a:t>
            </a: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382740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Example: Telegram Transmission “Step by Step”</a:t>
            </a: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Abbreviations used: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BC = Backbone coupler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LC = Line coupler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LR = Line repeater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RC = Routing counter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DVC = Bus device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PS/CH = Power supply / choke</a:t>
            </a:r>
            <a:endParaRPr lang="es-ES" sz="1200" kern="1200" dirty="0">
              <a:solidFill>
                <a:schemeClr val="tx1"/>
              </a:solidFill>
              <a:effectLst/>
              <a:latin typeface="Arial" charset="0"/>
              <a:ea typeface="+mn-ea"/>
              <a:cs typeface="+mn-cs"/>
            </a:endParaRPr>
          </a:p>
          <a:p>
            <a:endParaRPr lang="es-ES" dirty="0"/>
          </a:p>
          <a:p>
            <a:pPr lvl="0"/>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Using the KNX installation represented above, telegram transmission across lines will be clarified "step by step". It is a prerequisite that the installation has been properly designed and has been put into operation. The couplers take into account their filter table.</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1245530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kern="1200" dirty="0">
                <a:solidFill>
                  <a:schemeClr val="tx1"/>
                </a:solidFill>
                <a:effectLst/>
                <a:latin typeface="Arial" charset="0"/>
                <a:ea typeface="+mn-ea"/>
                <a:cs typeface="+mn-cs"/>
              </a:rPr>
              <a:t>Start:</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 1-fold pushbutton with individual address 1.1.65 sends a telegram to the group address 5/88.</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End: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 telegram is received by 1-fold switch actuator 15.15.127 which then returns a reply telegram (ACK).</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actuator switches its output according to the transferred group object value.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result of using telegram filtering is that telegrams are only passed to lines that really require them. Telegrams are not routed to places where they have no effect. The advantage of this is that the bus load in the installation is reduced.</a:t>
            </a:r>
            <a:endParaRPr lang="es-ES" sz="1200" kern="1200" dirty="0">
              <a:solidFill>
                <a:schemeClr val="tx1"/>
              </a:solidFill>
              <a:effectLst/>
              <a:latin typeface="Arial" charset="0"/>
              <a:ea typeface="+mn-ea"/>
              <a:cs typeface="+mn-cs"/>
            </a:endParaRPr>
          </a:p>
          <a:p>
            <a:endParaRPr lang="es-E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Line repeaters do not filter. They should therefore not be used in the planning of a new KNX installation but only in the extension of an existing one.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The routing counter has the benefit that even when the installation has faulty wiring (loop formation with couplers), a telegram circulates in the loop a maximum of six times. The installation is not blocked! On the other hand, the routing counter has the effect that a telegram can only pass through a maximum of six couplers.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As a result, line repeaters may not be connected in series.</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1368128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GB" noProof="0" dirty="0">
                <a:solidFill>
                  <a:schemeClr val="bg2">
                    <a:lumMod val="10000"/>
                  </a:schemeClr>
                </a:solidFill>
              </a:rPr>
              <a:t>We should </a:t>
            </a:r>
            <a:r>
              <a:rPr lang="en-GB" b="1" noProof="0" dirty="0">
                <a:solidFill>
                  <a:schemeClr val="bg2">
                    <a:lumMod val="10000"/>
                  </a:schemeClr>
                </a:solidFill>
              </a:rPr>
              <a:t>remember that</a:t>
            </a:r>
            <a:r>
              <a:rPr lang="en-GB" dirty="0">
                <a:solidFill>
                  <a:schemeClr val="bg2">
                    <a:lumMod val="10000"/>
                  </a:schemeClr>
                </a:solidFill>
              </a:rPr>
              <a:t>:</a:t>
            </a:r>
          </a:p>
          <a:p>
            <a:pPr marL="742950" lvl="1" indent="-285750">
              <a:lnSpc>
                <a:spcPct val="150000"/>
              </a:lnSpc>
              <a:buFontTx/>
              <a:buChar char="-"/>
              <a:defRPr/>
            </a:pPr>
            <a:r>
              <a:rPr lang="en-US" dirty="0">
                <a:solidFill>
                  <a:schemeClr val="bg2">
                    <a:lumMod val="10000"/>
                  </a:schemeClr>
                </a:solidFill>
              </a:rPr>
              <a:t>telegrams are </a:t>
            </a:r>
            <a:r>
              <a:rPr lang="en-US" b="1" dirty="0">
                <a:solidFill>
                  <a:schemeClr val="accent4">
                    <a:lumMod val="75000"/>
                  </a:schemeClr>
                </a:solidFill>
              </a:rPr>
              <a:t>only passed to lines that really require them.</a:t>
            </a:r>
            <a:endParaRPr lang="es-ES" b="1" dirty="0">
              <a:solidFill>
                <a:schemeClr val="accent4">
                  <a:lumMod val="75000"/>
                </a:schemeClr>
              </a:solidFill>
            </a:endParaRPr>
          </a:p>
          <a:p>
            <a:pPr marL="742950" lvl="1" indent="-285750">
              <a:lnSpc>
                <a:spcPct val="150000"/>
              </a:lnSpc>
              <a:buFontTx/>
              <a:buChar char="-"/>
              <a:defRPr/>
            </a:pPr>
            <a:r>
              <a:rPr lang="en-US" dirty="0">
                <a:solidFill>
                  <a:schemeClr val="bg2">
                    <a:lumMod val="10000"/>
                  </a:schemeClr>
                </a:solidFill>
              </a:rPr>
              <a:t>Telegrams are </a:t>
            </a:r>
            <a:r>
              <a:rPr lang="en-US" b="1" dirty="0">
                <a:solidFill>
                  <a:schemeClr val="accent4">
                    <a:lumMod val="75000"/>
                  </a:schemeClr>
                </a:solidFill>
              </a:rPr>
              <a:t>not routed to places where they have no effect</a:t>
            </a:r>
            <a:r>
              <a:rPr lang="es-ES" b="1" dirty="0">
                <a:solidFill>
                  <a:schemeClr val="accent4">
                    <a:lumMod val="75000"/>
                  </a:schemeClr>
                </a:solidFill>
              </a:rPr>
              <a:t>.</a:t>
            </a:r>
          </a:p>
          <a:p>
            <a:pPr lvl="1">
              <a:lnSpc>
                <a:spcPct val="150000"/>
              </a:lnSpc>
              <a:defRPr/>
            </a:pPr>
            <a:endParaRPr lang="es-ES" dirty="0">
              <a:solidFill>
                <a:schemeClr val="bg2">
                  <a:lumMod val="10000"/>
                </a:schemeClr>
              </a:solidFill>
            </a:endParaRPr>
          </a:p>
          <a:p>
            <a:pPr lvl="1">
              <a:lnSpc>
                <a:spcPct val="150000"/>
              </a:lnSpc>
              <a:defRPr/>
            </a:pPr>
            <a:r>
              <a:rPr lang="es-ES" b="1" dirty="0">
                <a:solidFill>
                  <a:schemeClr val="bg2">
                    <a:lumMod val="10000"/>
                  </a:schemeClr>
                </a:solidFill>
              </a:rPr>
              <a:t>ADVANTAGE: </a:t>
            </a:r>
            <a:r>
              <a:rPr lang="en-US" dirty="0">
                <a:solidFill>
                  <a:schemeClr val="bg2">
                    <a:lumMod val="10000"/>
                  </a:schemeClr>
                </a:solidFill>
              </a:rPr>
              <a:t>bus load in the installation is reduced</a:t>
            </a:r>
            <a:r>
              <a:rPr lang="en-GB" dirty="0">
                <a:solidFill>
                  <a:schemeClr val="bg2">
                    <a:lumMod val="10000"/>
                  </a:schemeClr>
                </a:solidFill>
              </a:rPr>
              <a:t>.</a:t>
            </a:r>
            <a:endParaRPr lang="en-US" dirty="0">
              <a:solidFill>
                <a:schemeClr val="bg2">
                  <a:lumMod val="10000"/>
                </a:schemeClr>
              </a:solidFill>
            </a:endParaRPr>
          </a:p>
          <a:p>
            <a:pPr eaLnBrk="1" hangingPunct="1"/>
            <a:endParaRPr lang="es-ES" altLang="es-ES" dirty="0"/>
          </a:p>
          <a:p>
            <a:pPr>
              <a:defRPr/>
            </a:pPr>
            <a:r>
              <a:rPr lang="en-GB" dirty="0">
                <a:solidFill>
                  <a:schemeClr val="bg2">
                    <a:lumMod val="10000"/>
                  </a:schemeClr>
                </a:solidFill>
              </a:rPr>
              <a:t>And : </a:t>
            </a:r>
          </a:p>
          <a:p>
            <a:pPr>
              <a:defRPr/>
            </a:pPr>
            <a:endParaRPr lang="en-US" dirty="0">
              <a:solidFill>
                <a:schemeClr val="bg2">
                  <a:lumMod val="10000"/>
                </a:schemeClr>
              </a:solidFill>
            </a:endParaRPr>
          </a:p>
          <a:p>
            <a:pPr marL="285750" marR="0" lvl="0" indent="-285750" algn="l" defTabSz="914400" rtl="0" eaLnBrk="0" fontAlgn="base" latinLnBrk="0" hangingPunct="0">
              <a:lnSpc>
                <a:spcPct val="150000"/>
              </a:lnSpc>
              <a:spcBef>
                <a:spcPct val="30000"/>
              </a:spcBef>
              <a:spcAft>
                <a:spcPct val="0"/>
              </a:spcAft>
              <a:buClrTx/>
              <a:buSzTx/>
              <a:buFontTx/>
              <a:buChar char="-"/>
              <a:tabLst/>
              <a:defRPr/>
            </a:pPr>
            <a:r>
              <a:rPr lang="en-GB" sz="1200" b="0" kern="1200" dirty="0">
                <a:solidFill>
                  <a:schemeClr val="tx1"/>
                </a:solidFill>
                <a:effectLst/>
                <a:latin typeface="Arial" charset="0"/>
                <a:ea typeface="+mn-ea"/>
                <a:cs typeface="+mn-cs"/>
              </a:rPr>
              <a:t>Line repeaters do not filter. They should therefore not be used in the planning of a new KNX installation but only in the extension of an existing one.</a:t>
            </a:r>
            <a:endParaRPr lang="es-ES" sz="1200" b="0" kern="1200" dirty="0">
              <a:solidFill>
                <a:schemeClr val="tx1"/>
              </a:solidFill>
              <a:effectLst/>
              <a:latin typeface="Arial" charset="0"/>
              <a:ea typeface="+mn-ea"/>
              <a:cs typeface="+mn-cs"/>
            </a:endParaRPr>
          </a:p>
          <a:p>
            <a:pPr marL="285750" indent="-285750">
              <a:lnSpc>
                <a:spcPct val="150000"/>
              </a:lnSpc>
              <a:buFontTx/>
              <a:buChar char="-"/>
              <a:defRPr/>
            </a:pPr>
            <a:r>
              <a:rPr lang="en-US" dirty="0">
                <a:solidFill>
                  <a:schemeClr val="bg2">
                    <a:lumMod val="10000"/>
                  </a:schemeClr>
                </a:solidFill>
              </a:rPr>
              <a:t>The routing counter has the benefit that even when the installation has faulty wiring</a:t>
            </a:r>
            <a:r>
              <a:rPr lang="es-ES" dirty="0">
                <a:solidFill>
                  <a:schemeClr val="bg2">
                    <a:lumMod val="10000"/>
                  </a:schemeClr>
                </a:solidFill>
              </a:rPr>
              <a:t>, </a:t>
            </a:r>
            <a:r>
              <a:rPr lang="en-US" dirty="0">
                <a:solidFill>
                  <a:schemeClr val="bg2">
                    <a:lumMod val="10000"/>
                  </a:schemeClr>
                </a:solidFill>
              </a:rPr>
              <a:t>a telegram circulates in the loop a maximum of six times</a:t>
            </a:r>
            <a:r>
              <a:rPr lang="es-ES" dirty="0">
                <a:solidFill>
                  <a:schemeClr val="bg2">
                    <a:lumMod val="10000"/>
                  </a:schemeClr>
                </a:solidFill>
              </a:rPr>
              <a:t>. </a:t>
            </a:r>
            <a:r>
              <a:rPr lang="en-US" b="1" dirty="0">
                <a:solidFill>
                  <a:schemeClr val="bg2">
                    <a:lumMod val="10000"/>
                  </a:schemeClr>
                </a:solidFill>
              </a:rPr>
              <a:t>The installation is not blocked!</a:t>
            </a:r>
            <a:endParaRPr lang="es-ES" dirty="0">
              <a:solidFill>
                <a:schemeClr val="bg2">
                  <a:lumMod val="10000"/>
                </a:schemeClr>
              </a:solidFill>
            </a:endParaRPr>
          </a:p>
          <a:p>
            <a:pPr marL="285750" indent="-285750">
              <a:lnSpc>
                <a:spcPct val="150000"/>
              </a:lnSpc>
              <a:buFontTx/>
              <a:buChar char="-"/>
              <a:defRPr/>
            </a:pPr>
            <a:r>
              <a:rPr lang="en-US" dirty="0">
                <a:solidFill>
                  <a:schemeClr val="bg2">
                    <a:lumMod val="10000"/>
                  </a:schemeClr>
                </a:solidFill>
              </a:rPr>
              <a:t>On the other hand, the routing counter has the effect that a telegram can only pass through a maximum of six couplers. As a result, line repeaters may not be connected in series.</a:t>
            </a: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3405180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Telegram Structure for Downloading of Couplers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the download of filter tables, couplers are addressed by ETS with other telegram types (APCIs) than normal devices. </a:t>
            </a:r>
          </a:p>
          <a:p>
            <a:endParaRPr lang="es-ES"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Filter Table – Automatic and/or Manual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filter tables are generated by ETS </a:t>
            </a:r>
            <a:r>
              <a:rPr lang="en-GB" sz="1200" b="1" kern="1200" dirty="0">
                <a:solidFill>
                  <a:schemeClr val="tx1"/>
                </a:solidFill>
                <a:effectLst/>
                <a:latin typeface="Arial" charset="0"/>
                <a:ea typeface="+mn-ea"/>
                <a:cs typeface="+mn-cs"/>
              </a:rPr>
              <a:t>automatically in the background</a:t>
            </a:r>
            <a:r>
              <a:rPr lang="en-GB" sz="1200" kern="1200" dirty="0">
                <a:solidFill>
                  <a:schemeClr val="tx1"/>
                </a:solidFill>
                <a:effectLst/>
                <a:latin typeface="Arial" charset="0"/>
                <a:ea typeface="+mn-ea"/>
                <a:cs typeface="+mn-cs"/>
              </a:rPr>
              <a:t>.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They are transferred to the line/backbone coupler with “</a:t>
            </a:r>
            <a:r>
              <a:rPr lang="en-GB" sz="1200" i="1" kern="1200" dirty="0">
                <a:solidFill>
                  <a:schemeClr val="tx1"/>
                </a:solidFill>
                <a:effectLst/>
                <a:latin typeface="Arial" charset="0"/>
                <a:ea typeface="+mn-ea"/>
                <a:cs typeface="+mn-cs"/>
              </a:rPr>
              <a:t>Download Application</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a:lnSpc>
                <a:spcPct val="115000"/>
              </a:lnSpc>
              <a:spcBef>
                <a:spcPts val="300"/>
              </a:spcBef>
            </a:pPr>
            <a:r>
              <a:rPr lang="en-GB" sz="1800" dirty="0">
                <a:effectLst/>
                <a:latin typeface="Arial" panose="020B0604020202020204" pitchFamily="34" charset="0"/>
                <a:ea typeface="Calibri" panose="020F0502020204030204" pitchFamily="34" charset="0"/>
              </a:rPr>
              <a:t>Before the actual “Download”, it is possible to check the virtual filter tables. This can be done by clicking with the right-mouse button on the line/backbone coupler and by clicking on “Preview Filter Table”.</a:t>
            </a:r>
            <a:endParaRPr lang="en-US" sz="1800" dirty="0">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br>
              <a:rPr lang="en-GB" sz="1200" kern="1200" dirty="0">
                <a:solidFill>
                  <a:schemeClr val="tx1"/>
                </a:solidFill>
                <a:effectLst/>
                <a:latin typeface="Arial" charset="0"/>
                <a:ea typeface="+mn-ea"/>
                <a:cs typeface="+mn-cs"/>
              </a:rPr>
            </a:br>
            <a:r>
              <a:rPr lang="en-GB" sz="1800" dirty="0">
                <a:effectLst/>
                <a:latin typeface="Arial" panose="020B0604020202020204" pitchFamily="34" charset="0"/>
                <a:ea typeface="Calibri" panose="020F0502020204030204" pitchFamily="34" charset="0"/>
              </a:rPr>
              <a:t>The latest downloaded filter table from the coupler’s memory can be read out via the context-sensitive menu “Device info (with group communication)”</a:t>
            </a:r>
            <a:r>
              <a:rPr lang="en-US" sz="1800" i="1" dirty="0">
                <a:effectLst/>
                <a:latin typeface="Arial" panose="020B0604020202020204" pitchFamily="34" charset="0"/>
                <a:ea typeface="Calibri" panose="020F0502020204030204" pitchFamily="34" charset="0"/>
              </a:rPr>
              <a:t>.</a:t>
            </a:r>
            <a:endParaRPr lang="en-US" sz="1800" dirty="0">
              <a:effectLst/>
              <a:latin typeface="Arial" panose="020B0604020202020204" pitchFamily="34" charset="0"/>
              <a:ea typeface="Calibri" panose="020F0502020204030204" pitchFamily="34" charset="0"/>
            </a:endParaRPr>
          </a:p>
          <a:p>
            <a:pPr>
              <a:lnSpc>
                <a:spcPct val="115000"/>
              </a:lnSpc>
              <a:spcBef>
                <a:spcPts val="300"/>
              </a:spcBef>
            </a:pPr>
            <a:r>
              <a:rPr lang="en-US" sz="1200" kern="1200" dirty="0">
                <a:solidFill>
                  <a:schemeClr val="tx1"/>
                </a:solidFill>
                <a:effectLst/>
                <a:latin typeface="Arial" charset="0"/>
                <a:ea typeface="+mn-ea"/>
                <a:cs typeface="+mn-cs"/>
              </a:rPr>
              <a:t> </a:t>
            </a:r>
            <a:br>
              <a:rPr lang="en-GB" sz="1200" kern="1200" dirty="0">
                <a:solidFill>
                  <a:schemeClr val="tx1"/>
                </a:solidFill>
                <a:effectLst/>
                <a:latin typeface="Arial" charset="0"/>
                <a:ea typeface="+mn-ea"/>
                <a:cs typeface="+mn-cs"/>
              </a:rPr>
            </a:br>
            <a:r>
              <a:rPr lang="en-GB" sz="1800" dirty="0">
                <a:effectLst/>
                <a:latin typeface="Arial" panose="020B0604020202020204" pitchFamily="34" charset="0"/>
                <a:ea typeface="Calibri" panose="020F0502020204030204" pitchFamily="34" charset="0"/>
              </a:rPr>
              <a:t>Since ETS6.3.0 it is not possible anymore to manually insert group addresses into the filter table of new ETS projects. Manual alterations can lead to security risks and a reduced project overview. The automated management ensures a better accuracy, security and project clarity.</a:t>
            </a:r>
            <a:endParaRPr lang="en-US" sz="1800" dirty="0">
              <a:effectLst/>
              <a:latin typeface="Arial" panose="020B0604020202020204" pitchFamily="34" charset="0"/>
              <a:ea typeface="Calibri" panose="020F0502020204030204" pitchFamily="34" charset="0"/>
            </a:endParaRPr>
          </a:p>
          <a:p>
            <a:pPr>
              <a:lnSpc>
                <a:spcPct val="115000"/>
              </a:lnSpc>
            </a:pPr>
            <a:r>
              <a:rPr lang="en-GB" sz="1800" dirty="0">
                <a:effectLst/>
                <a:latin typeface="Arial" panose="020B0604020202020204" pitchFamily="34" charset="0"/>
                <a:ea typeface="Calibri" panose="020F0502020204030204" pitchFamily="34" charset="0"/>
              </a:rPr>
              <a:t> </a:t>
            </a:r>
            <a:endParaRPr lang="en-US" sz="1800" dirty="0">
              <a:effectLst/>
              <a:latin typeface="Arial" panose="020B0604020202020204" pitchFamily="34" charset="0"/>
              <a:ea typeface="Calibri" panose="020F0502020204030204" pitchFamily="34" charset="0"/>
            </a:endParaRPr>
          </a:p>
          <a:p>
            <a:pPr>
              <a:lnSpc>
                <a:spcPct val="115000"/>
              </a:lnSpc>
            </a:pPr>
            <a:r>
              <a:rPr lang="en-GB" sz="1800" dirty="0">
                <a:effectLst/>
                <a:latin typeface="Arial" panose="020B0604020202020204" pitchFamily="34" charset="0"/>
                <a:ea typeface="Calibri" panose="020F0502020204030204" pitchFamily="34" charset="0"/>
              </a:rPr>
              <a:t>Existing ETS projects with manual filter tables can still be edited in ETS, but a deprecation message will be displayed under the Sidebar properties and a warning dialog will appear when opening the project.</a:t>
            </a:r>
            <a:r>
              <a:rPr lang="de-DE"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1239411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Couplers for Different Media: Media Couplers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KNX project can contain different communication media. The system devices for coupling the various media are </a:t>
            </a:r>
            <a:r>
              <a:rPr lang="en-GB" sz="1200" b="1" i="1" kern="1200" dirty="0">
                <a:solidFill>
                  <a:schemeClr val="tx1"/>
                </a:solidFill>
                <a:effectLst/>
                <a:latin typeface="Arial" charset="0"/>
                <a:ea typeface="+mn-ea"/>
                <a:cs typeface="+mn-cs"/>
              </a:rPr>
              <a:t>media couplers</a:t>
            </a: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example, there are media couplers for linking TP subsystems with</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de-DE" sz="1200" kern="1200" dirty="0">
                <a:solidFill>
                  <a:schemeClr val="tx1"/>
                </a:solidFill>
                <a:effectLst/>
                <a:latin typeface="Arial" charset="0"/>
                <a:ea typeface="+mn-ea"/>
                <a:cs typeface="+mn-cs"/>
              </a:rPr>
              <a:t>IP </a:t>
            </a:r>
            <a:r>
              <a:rPr lang="de-DE" sz="1200" kern="1200" dirty="0" err="1">
                <a:solidFill>
                  <a:schemeClr val="tx1"/>
                </a:solidFill>
                <a:effectLst/>
                <a:latin typeface="Arial" charset="0"/>
                <a:ea typeface="+mn-ea"/>
                <a:cs typeface="+mn-cs"/>
              </a:rPr>
              <a:t>subsystems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Powerline subsystems (see informative appendix / KNX Basic Course documentation)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RF subsystems (see informative appendix / KNX Basic Course documentation)</a:t>
            </a: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3719609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TP-IP Router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TP Ethernet media coupler, otherwise known as the </a:t>
            </a:r>
            <a:r>
              <a:rPr lang="en-GB" sz="1200" kern="1200" dirty="0" err="1">
                <a:solidFill>
                  <a:schemeClr val="tx1"/>
                </a:solidFill>
                <a:effectLst/>
                <a:latin typeface="Arial" charset="0"/>
                <a:ea typeface="+mn-ea"/>
                <a:cs typeface="+mn-cs"/>
              </a:rPr>
              <a:t>KNXnet</a:t>
            </a:r>
            <a:r>
              <a:rPr lang="en-GB" sz="1200" kern="1200" dirty="0">
                <a:solidFill>
                  <a:schemeClr val="tx1"/>
                </a:solidFill>
                <a:effectLst/>
                <a:latin typeface="Arial" charset="0"/>
                <a:ea typeface="+mn-ea"/>
                <a:cs typeface="+mn-cs"/>
              </a:rPr>
              <a:t>/IP router or IP router for short, is widely used: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IP routers link TP lines with Ethernet data networks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IP routers link TP lines together over the data network: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Main and/or backbone lines are supplied with a large </a:t>
            </a:r>
            <a:r>
              <a:rPr lang="en-GB" sz="1200" kern="1200" dirty="0" err="1">
                <a:solidFill>
                  <a:schemeClr val="tx1"/>
                </a:solidFill>
                <a:effectLst/>
                <a:latin typeface="Arial" charset="0"/>
                <a:ea typeface="+mn-ea"/>
                <a:cs typeface="+mn-cs"/>
              </a:rPr>
              <a:t>bandwith</a:t>
            </a:r>
            <a:r>
              <a:rPr lang="en-GB" sz="1200" kern="1200" dirty="0">
                <a:solidFill>
                  <a:schemeClr val="tx1"/>
                </a:solidFill>
                <a:effectLst/>
                <a:latin typeface="Arial" charset="0"/>
                <a:ea typeface="+mn-ea"/>
                <a:cs typeface="+mn-cs"/>
              </a:rPr>
              <a:t> over Ethernet and IP.</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IP routers offer an IP interface for access to the bus – not only for ETS – and replace the USB interfaces that are otherwise used.</a:t>
            </a:r>
          </a:p>
          <a:p>
            <a:pPr marL="171450" lvl="0" indent="-171450">
              <a:buFont typeface="Arial" panose="020B0604020202020204" pitchFamily="34" charset="0"/>
              <a:buChar char="•"/>
            </a:pPr>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connection to the KNX TP is established via a bus connector. The link to the data network (IP via 10BaseT) is carried out via an RJ45 socket.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its operation, the IP router also requires AC/DC 24 V which is supplied via a second connector.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IP router uses the </a:t>
            </a:r>
            <a:r>
              <a:rPr lang="en-GB" sz="1200" kern="1200" dirty="0" err="1">
                <a:solidFill>
                  <a:schemeClr val="tx1"/>
                </a:solidFill>
                <a:effectLst/>
                <a:latin typeface="Arial" charset="0"/>
                <a:ea typeface="+mn-ea"/>
                <a:cs typeface="+mn-cs"/>
              </a:rPr>
              <a:t>KNXnet</a:t>
            </a:r>
            <a:r>
              <a:rPr lang="en-GB" sz="1200" kern="1200" dirty="0">
                <a:solidFill>
                  <a:schemeClr val="tx1"/>
                </a:solidFill>
                <a:effectLst/>
                <a:latin typeface="Arial" charset="0"/>
                <a:ea typeface="+mn-ea"/>
                <a:cs typeface="+mn-cs"/>
              </a:rPr>
              <a:t>/IP standard defined by KNX Association. This standard specifies how KNX telegrams must be sent via an IP network so that KNX telegrams between lines can be routed via an IP network and the bus can also be accessed from a PC.</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IP router can be used as a line coupler and backbone coupler, both in existing KNX networks and new KNX networks. It also contains filter tables which enable specific bus telegrams from or to the bus line to be blocked or passed through and therefore contributes to a reduction in the bus load. The filter table is created automatically by the ETS program during the parameterisation and commissioning of the installation.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399834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An overview of the features of the IP router: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Simple interface connection to higher-order systems through the use of the Internet protocol (IP)</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Direct access to the KNX installation (</a:t>
            </a:r>
            <a:r>
              <a:rPr lang="en-GB" sz="1200" kern="1200" dirty="0" err="1">
                <a:solidFill>
                  <a:schemeClr val="tx1"/>
                </a:solidFill>
                <a:effectLst/>
                <a:latin typeface="Arial" charset="0"/>
                <a:ea typeface="+mn-ea"/>
                <a:cs typeface="+mn-cs"/>
              </a:rPr>
              <a:t>KNXnet</a:t>
            </a:r>
            <a:r>
              <a:rPr lang="en-GB" sz="1200" kern="1200" dirty="0">
                <a:solidFill>
                  <a:schemeClr val="tx1"/>
                </a:solidFill>
                <a:effectLst/>
                <a:latin typeface="Arial" charset="0"/>
                <a:ea typeface="+mn-ea"/>
                <a:cs typeface="+mn-cs"/>
              </a:rPr>
              <a:t>/IP tunnelling) from any point in the IP network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Rapid communication between KNX lines, KNX areas and systems (</a:t>
            </a:r>
            <a:r>
              <a:rPr lang="en-GB" sz="1200" kern="1200" dirty="0" err="1">
                <a:solidFill>
                  <a:schemeClr val="tx1"/>
                </a:solidFill>
                <a:effectLst/>
                <a:latin typeface="Arial" charset="0"/>
                <a:ea typeface="+mn-ea"/>
                <a:cs typeface="+mn-cs"/>
              </a:rPr>
              <a:t>KNXnet</a:t>
            </a:r>
            <a:r>
              <a:rPr lang="en-GB" sz="1200" kern="1200" dirty="0">
                <a:solidFill>
                  <a:schemeClr val="tx1"/>
                </a:solidFill>
                <a:effectLst/>
                <a:latin typeface="Arial" charset="0"/>
                <a:ea typeface="+mn-ea"/>
                <a:cs typeface="+mn-cs"/>
              </a:rPr>
              <a:t>/IP routing)</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Communication across buildings and properties (networking of properties)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Filtering and routing of telegrams according to</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individual address</a:t>
            </a:r>
            <a:endParaRPr lang="es-ES" sz="1200" kern="1200" dirty="0">
              <a:solidFill>
                <a:schemeClr val="tx1"/>
              </a:solidFill>
              <a:effectLst/>
              <a:latin typeface="Arial"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group address</a:t>
            </a:r>
            <a:endParaRPr lang="es-ES" sz="1200" kern="1200" dirty="0">
              <a:solidFill>
                <a:schemeClr val="tx1"/>
              </a:solidFill>
              <a:effectLst/>
              <a:latin typeface="Bahnschrift" panose="020B0502040204020203" pitchFamily="34"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Bahnschrift" panose="020B0502040204020203" pitchFamily="34" charset="0"/>
                <a:ea typeface="+mn-ea"/>
                <a:cs typeface="+mn-cs"/>
              </a:rPr>
              <a:t>LED displays for</a:t>
            </a:r>
            <a:endParaRPr lang="es-ES" sz="1200" kern="1200" dirty="0">
              <a:solidFill>
                <a:schemeClr val="tx1"/>
              </a:solidFill>
              <a:effectLst/>
              <a:latin typeface="Bahnschrift" panose="020B0502040204020203" pitchFamily="34"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Bahnschrift" panose="020B0502040204020203" pitchFamily="34" charset="0"/>
                <a:ea typeface="+mn-ea"/>
                <a:cs typeface="+mn-cs"/>
              </a:rPr>
              <a:t>Readiness for operation</a:t>
            </a:r>
            <a:endParaRPr lang="es-ES" sz="1200" kern="1200" dirty="0">
              <a:solidFill>
                <a:schemeClr val="tx1"/>
              </a:solidFill>
              <a:effectLst/>
              <a:latin typeface="Bahnschrift" panose="020B0502040204020203" pitchFamily="34"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Bahnschrift" panose="020B0502040204020203" pitchFamily="34" charset="0"/>
                <a:ea typeface="+mn-ea"/>
                <a:cs typeface="+mn-cs"/>
              </a:rPr>
              <a:t>KNX communication</a:t>
            </a:r>
            <a:endParaRPr lang="es-ES" sz="1200" kern="1200" dirty="0">
              <a:solidFill>
                <a:schemeClr val="tx1"/>
              </a:solidFill>
              <a:effectLst/>
              <a:latin typeface="Bahnschrift" panose="020B0502040204020203" pitchFamily="34" charset="0"/>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Arial" charset="0"/>
                <a:ea typeface="+mn-ea"/>
                <a:cs typeface="+mn-cs"/>
              </a:rPr>
              <a:t>IP communication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Simple configuration with ETS without any plug-ins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Simple interface connection of visualisation systems</a:t>
            </a:r>
            <a:endParaRPr lang="es-ES" sz="1200" kern="1200" dirty="0">
              <a:solidFill>
                <a:schemeClr val="tx1"/>
              </a:solidFill>
              <a:effectLst/>
              <a:latin typeface="Arial" charset="0"/>
              <a:ea typeface="+mn-ea"/>
              <a:cs typeface="+mn-cs"/>
            </a:endParaRPr>
          </a:p>
          <a:p>
            <a:endParaRPr lang="es-ES" dirty="0"/>
          </a:p>
          <a:p>
            <a:endParaRPr lang="es-ES" dirty="0"/>
          </a:p>
          <a:p>
            <a:pPr lvl="0"/>
            <a:r>
              <a:rPr lang="en-GB" sz="1200" b="1" kern="1200" dirty="0">
                <a:solidFill>
                  <a:schemeClr val="tx1"/>
                </a:solidFill>
                <a:effectLst/>
                <a:latin typeface="Arial" charset="0"/>
                <a:ea typeface="+mn-ea"/>
                <a:cs typeface="+mn-cs"/>
              </a:rPr>
              <a:t>Individual addresses of IP Routers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IP routers can adopt the function of both backbone couplers and line couplers.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IP router can in principle be used as a line coupler or as a backbone coupler. The individual address has the format x.y.0, with x=1...15, y=1...15.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individual addresses for IP routers have the same format as classic TP/TP line/backbone couplers.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Careful planning and assignment of the individual address is more significant for IP routers than for classic line/backbone couplers as main line(s) and backbone line can lie on the same medium (Ethernet)! What is physically tangible in pure TP installations as a bus cable, is somewhat abstract in the IP installation and only determined by the individual address.</a:t>
            </a: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268737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IP Router as Backbone Coupler</a:t>
            </a:r>
          </a:p>
          <a:p>
            <a:endParaRPr lang="en-US" b="1" dirty="0"/>
          </a:p>
          <a:p>
            <a:r>
              <a:rPr lang="en-GB" sz="1200" b="1" kern="1200" dirty="0">
                <a:solidFill>
                  <a:schemeClr val="tx1"/>
                </a:solidFill>
                <a:effectLst/>
                <a:latin typeface="Arial" charset="0"/>
                <a:ea typeface="+mn-ea"/>
                <a:cs typeface="+mn-cs"/>
              </a:rPr>
              <a:t>Caution: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an IP router is used as a backbone coupler with the individual address B.0.0 (B=1...15) e.g. 2.0.0, no other IP routers may be used topologically “below” this IP router i.e. with an individual address B.L.0 (L=1...15) e.g. 2.1.0.</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Therefore: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If there is an IP router </a:t>
            </a:r>
            <a:r>
              <a:rPr lang="en-GB" sz="1200" u="sng" kern="1200" dirty="0">
                <a:solidFill>
                  <a:schemeClr val="tx1"/>
                </a:solidFill>
                <a:effectLst/>
                <a:latin typeface="Arial" charset="0"/>
                <a:ea typeface="+mn-ea"/>
                <a:cs typeface="+mn-cs"/>
              </a:rPr>
              <a:t>as backbone coupler</a:t>
            </a:r>
            <a:r>
              <a:rPr lang="en-GB" sz="1200" kern="1200" dirty="0">
                <a:solidFill>
                  <a:schemeClr val="tx1"/>
                </a:solidFill>
                <a:effectLst/>
                <a:latin typeface="Arial" charset="0"/>
                <a:ea typeface="+mn-ea"/>
                <a:cs typeface="+mn-cs"/>
              </a:rPr>
              <a:t> for an area, no IP routers may be used </a:t>
            </a:r>
            <a:r>
              <a:rPr lang="en-GB" sz="1200" u="sng" kern="1200" dirty="0">
                <a:solidFill>
                  <a:schemeClr val="tx1"/>
                </a:solidFill>
                <a:effectLst/>
                <a:latin typeface="Arial" charset="0"/>
                <a:ea typeface="+mn-ea"/>
                <a:cs typeface="+mn-cs"/>
              </a:rPr>
              <a:t>as a line coupler</a:t>
            </a:r>
            <a:r>
              <a:rPr lang="en-GB" sz="1200" kern="1200" dirty="0">
                <a:solidFill>
                  <a:schemeClr val="tx1"/>
                </a:solidFill>
                <a:effectLst/>
                <a:latin typeface="Arial" charset="0"/>
                <a:ea typeface="+mn-ea"/>
                <a:cs typeface="+mn-cs"/>
              </a:rPr>
              <a:t> </a:t>
            </a:r>
            <a:r>
              <a:rPr lang="en-GB" sz="1200" u="sng" kern="1200" dirty="0">
                <a:solidFill>
                  <a:schemeClr val="tx1"/>
                </a:solidFill>
                <a:effectLst/>
                <a:latin typeface="Arial" charset="0"/>
                <a:ea typeface="+mn-ea"/>
                <a:cs typeface="+mn-cs"/>
              </a:rPr>
              <a:t>in this area</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reason for this is that IP main lines and IP backbone lines in the IP network – as for TP – are not separated from each other but are both operated on the same medium (Ethernet).</a:t>
            </a:r>
            <a:endParaRPr lang="es-ES" sz="1200" kern="1200" dirty="0">
              <a:solidFill>
                <a:schemeClr val="tx1"/>
              </a:solidFill>
              <a:effectLst/>
              <a:latin typeface="Arial" charset="0"/>
              <a:ea typeface="+mn-ea"/>
              <a:cs typeface="+mn-cs"/>
            </a:endParaRPr>
          </a:p>
          <a:p>
            <a:endParaRPr lang="es-ES" b="1"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34584622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IP Router as Line Coupler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an IP router is used as a line coupler (e.g. 1.2.0), no IP routers with the associated backbone coupler address (e.g. 1.0.0) may be used “above” this device in the system (see explanation in section 3.3).</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2710258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IP Router as Line and Backbone Coupler</a:t>
            </a:r>
          </a:p>
          <a:p>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If an IP router is used as a line coupler (e.g. 1.2.0), it is not possible for an IP router with the associated backbone coupler address (e.g. 1.0.0) to be used “above” in the system (see explanation in section 3.3).</a:t>
            </a: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3618729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IP Router as Backbone/Network Coupler</a:t>
            </a:r>
          </a:p>
          <a:p>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With the IP router, even existing installations with possibly identical group addresses may be linked. The IP router here is functioning as a combined backbone/network coupler.</a:t>
            </a:r>
            <a:endParaRPr lang="es-ES" sz="1200" kern="1200" dirty="0">
              <a:solidFill>
                <a:schemeClr val="tx1"/>
              </a:solidFill>
              <a:effectLst/>
              <a:latin typeface="Arial" charset="0"/>
              <a:ea typeface="+mn-ea"/>
              <a:cs typeface="+mn-cs"/>
            </a:endParaRPr>
          </a:p>
          <a:p>
            <a:endParaRPr lang="es-ES" b="1"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2313573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Network Settings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On the IP side, the IP router requires an IP address for communication. This IP address can be assigned automatically via a DHCP service or defined manually. DHCP is the abbreviation for “Dynamic Host Configuration Protocol“ and the name for an Internet or LAN service which “dynamically” assigns IP addresses to network devices “on request”.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IP address must always be set manually if there is no DHCP service available in the network.</a:t>
            </a: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36691114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Parameters of the IP Router</a:t>
            </a:r>
          </a:p>
          <a:p>
            <a:endParaRPr lang="en-GB"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parameters of the IP router are self-explanatory and underneath therefore only a general overview is given: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Parameter group “General”</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It is possible to assign a device name to the IP router here. This name is used to more easily find the device in the network. It is also possible via this name to connect together separate installations which use the same group addresses internally.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Parameter groups “Routing Bus → </a:t>
            </a:r>
            <a:r>
              <a:rPr lang="en-GB" sz="1200" kern="1200" dirty="0" err="1">
                <a:solidFill>
                  <a:schemeClr val="tx1"/>
                </a:solidFill>
                <a:effectLst/>
                <a:latin typeface="Arial" charset="0"/>
                <a:ea typeface="+mn-ea"/>
                <a:cs typeface="+mn-cs"/>
              </a:rPr>
              <a:t>KNXnet</a:t>
            </a:r>
            <a:r>
              <a:rPr lang="en-GB" sz="1200" kern="1200" dirty="0">
                <a:solidFill>
                  <a:schemeClr val="tx1"/>
                </a:solidFill>
                <a:effectLst/>
                <a:latin typeface="Arial" charset="0"/>
                <a:ea typeface="+mn-ea"/>
                <a:cs typeface="+mn-cs"/>
              </a:rPr>
              <a:t>/IP” and “Routing </a:t>
            </a:r>
            <a:r>
              <a:rPr lang="en-GB" sz="1200" kern="1200" dirty="0" err="1">
                <a:solidFill>
                  <a:schemeClr val="tx1"/>
                </a:solidFill>
                <a:effectLst/>
                <a:latin typeface="Arial" charset="0"/>
                <a:ea typeface="+mn-ea"/>
                <a:cs typeface="+mn-cs"/>
              </a:rPr>
              <a:t>KNXnet</a:t>
            </a:r>
            <a:r>
              <a:rPr lang="en-GB" sz="1200" kern="1200" dirty="0">
                <a:solidFill>
                  <a:schemeClr val="tx1"/>
                </a:solidFill>
                <a:effectLst/>
                <a:latin typeface="Arial" charset="0"/>
                <a:ea typeface="+mn-ea"/>
                <a:cs typeface="+mn-cs"/>
              </a:rPr>
              <a:t>/IP → Bus”</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As with the TP coupler, the filter behaviour and the telegram acknowledgement of the IP router is set via these parameters.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Parameter group “IP configuration”</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Used for setting IP data such as IP addresses, subnet masks.</a:t>
            </a:r>
            <a:endParaRPr lang="es-ES" sz="1200" kern="1200" dirty="0">
              <a:solidFill>
                <a:schemeClr val="tx1"/>
              </a:solidFill>
              <a:effectLst/>
              <a:latin typeface="Arial" charset="0"/>
              <a:ea typeface="+mn-ea"/>
              <a:cs typeface="+mn-cs"/>
            </a:endParaRPr>
          </a:p>
          <a:p>
            <a:endParaRPr lang="es-ES" b="1"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1180862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noProof="0" dirty="0">
                <a:solidFill>
                  <a:schemeClr val="tx1"/>
                </a:solidFill>
                <a:effectLst/>
                <a:latin typeface="Arial" charset="0"/>
                <a:ea typeface="+mn-ea"/>
                <a:cs typeface="+mn-cs"/>
              </a:rPr>
              <a:t>Supplementary</a:t>
            </a:r>
            <a:r>
              <a:rPr lang="de-DE" sz="1200" b="1" kern="1200" dirty="0">
                <a:solidFill>
                  <a:schemeClr val="tx1"/>
                </a:solidFill>
                <a:effectLst/>
                <a:latin typeface="Arial" charset="0"/>
                <a:ea typeface="+mn-ea"/>
                <a:cs typeface="+mn-cs"/>
              </a:rPr>
              <a:t> Information / Informative Appendix</a:t>
            </a:r>
            <a:endParaRPr lang="es-ES" sz="1200" b="1" kern="1200" dirty="0">
              <a:solidFill>
                <a:schemeClr val="tx1"/>
              </a:solidFill>
              <a:effectLst/>
              <a:latin typeface="Arial" charset="0"/>
              <a:ea typeface="+mn-ea"/>
              <a:cs typeface="+mn-cs"/>
            </a:endParaRPr>
          </a:p>
          <a:p>
            <a:endParaRPr lang="es-ES" dirty="0"/>
          </a:p>
          <a:p>
            <a:endParaRPr lang="es-ES" dirty="0"/>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4022702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Couplers for Powerline Installations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To keep the number of telegrams as low as possible in large KNX Powerline installations, it is necessary to divide the installation up into several KNX areas. Each PL area receives its own domain address and is isolated from the total installation with band-stop filters. The individual PL areas are interfaced via PL backbone couplers. These correspond to the media coupler PL-TP in their structure and function but a data cable is connected instead of the primary line. It has an internal power supply that can be used to power the TP side, but an additional choke must then be used. The same specifications apply for the data cable as for a TP backbone line.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Telegrams that cross different areas are routed selectively via the data cable to the corresponding PL areas. At first different devices existed for the tasks of coupling Powerline areas and media coupling. However, the two functionalities have meanwhile been combined in one device called system coupler. </a:t>
            </a:r>
            <a:endParaRPr lang="es-ES" sz="1200" kern="1200" dirty="0">
              <a:solidFill>
                <a:schemeClr val="tx1"/>
              </a:solidFill>
              <a:effectLst/>
              <a:latin typeface="Arial" charset="0"/>
              <a:ea typeface="+mn-ea"/>
              <a:cs typeface="+mn-cs"/>
            </a:endParaRPr>
          </a:p>
          <a:p>
            <a:endParaRPr lang="es-ES" dirty="0"/>
          </a:p>
          <a:p>
            <a:endParaRPr lang="es-ES" dirty="0"/>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3456403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Structure of the TP-PL Media Coupler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PL media coupler is a DIN rail mounted device. It contains a Powerline repeater, a TP bus coupler with a special BCU and a power supply for supplying up to five TP devices.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secondary side of the device is connected to PL while the primary side is always connected to TP. On the TP side, it operates either as a line coupler or a backbone coupler while on the PL side it also functions as a repeater.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connection of </a:t>
            </a:r>
            <a:r>
              <a:rPr lang="en-GB" sz="1200" kern="1200" dirty="0" err="1">
                <a:solidFill>
                  <a:schemeClr val="tx1"/>
                </a:solidFill>
                <a:effectLst/>
                <a:latin typeface="Arial" charset="0"/>
                <a:ea typeface="+mn-ea"/>
                <a:cs typeface="+mn-cs"/>
              </a:rPr>
              <a:t>Powernet</a:t>
            </a:r>
            <a:r>
              <a:rPr lang="en-GB" sz="1200" kern="1200" dirty="0">
                <a:solidFill>
                  <a:schemeClr val="tx1"/>
                </a:solidFill>
                <a:effectLst/>
                <a:latin typeface="Arial" charset="0"/>
                <a:ea typeface="+mn-ea"/>
                <a:cs typeface="+mn-cs"/>
              </a:rPr>
              <a:t> KNX is carried out via screw terminals while KNX-TP bus is connected via the black/red bus connector.</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Is also designated a system coupler</a:t>
            </a:r>
          </a:p>
          <a:p>
            <a:endParaRPr lang="en-U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media coupler has a red LED and a programming button for assigning the individual address. The operation mode is set via a local push button and indicated via a two-colour LED. It also has a send/receive LED for each side. They flash green briefly when a telegram is received and red when a telegram is sent.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device is configured in the Powerline line with the device number 0. As the system coupler functions simultaneously as a repeater, no further repeaters may be installed on the line. Due to the repeater functionality, the same recommendations apply as for the repeater.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destination address is a group address, a search is made in the filter table depending on the parameterisation. If the destination address is an individual address, the telegram is filtered with the help if its own individual address.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same happens when a telegram reaches the TP-BCU. A decision is then likewise made in the network layer as to whether it is routed to the repeater via the PEI.</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 telegram cannot be sent because the bus is busy, it is stored temporarily in the RAM of the telegram buffer. A maximum of 255 telegrams can be buffered.</a:t>
            </a:r>
            <a:endParaRPr lang="es-ES" sz="1200" b="0" kern="1200" dirty="0">
              <a:solidFill>
                <a:schemeClr val="tx1"/>
              </a:solidFill>
              <a:effectLst/>
              <a:latin typeface="Arial" charset="0"/>
              <a:ea typeface="+mn-ea"/>
              <a:cs typeface="+mn-cs"/>
            </a:endParaRPr>
          </a:p>
          <a:p>
            <a:endParaRPr lang="es-ES" sz="1200" b="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Filter Table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media coupler uses a filter table to route the telegrams that have a group address as destination address. This filter table is created by the ETS program and should be loaded into the media coupler via TP-KNX. All group addresses up to 7FFF are contained in the filter table i.e. main group 14 and 15 are also accommodated. The filter table is located in the EEPROM of the media coupler. A battery is therefore not required.</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Parameters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operation mode of the media coupler is set via the parameter “Device function” with the options of media coupler or Powerline backbone coupler.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second parameter “Telegram confirmation for routed telegrams on TP side” influences the acknowledgement behaviour. It is permanently set to “yes”. A third parameter “Repetitions if transmission errors on TP (1...6)” indicates for the TP side how often the telegram should be repeated if the ACK is missing (IACK): 1,2,3,4,5 or 6.</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media coupler also has configurable parameters by means of which the filter behaviour of group telegrams can be modified.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can be set separately for both directions: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filter – Filter table is used, telegrams are routed selectively</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route – All telegrams with group addresses are routed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block – All telegrams with group addresses are blocked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Finally, it is possible to set whether system broadcast telegrams should be routed by the coupler.</a:t>
            </a:r>
            <a:endParaRPr lang="es-ES" sz="1200" kern="1200" dirty="0">
              <a:solidFill>
                <a:schemeClr val="tx1"/>
              </a:solidFill>
              <a:effectLst/>
              <a:latin typeface="Arial" charset="0"/>
              <a:ea typeface="+mn-ea"/>
              <a:cs typeface="+mn-cs"/>
            </a:endParaRPr>
          </a:p>
          <a:p>
            <a:pPr lvl="0"/>
            <a:br>
              <a:rPr lang="en-GB" sz="1200" b="1" kern="1200" dirty="0">
                <a:solidFill>
                  <a:schemeClr val="tx1"/>
                </a:solidFill>
                <a:effectLst/>
                <a:latin typeface="Arial" charset="0"/>
                <a:ea typeface="+mn-ea"/>
                <a:cs typeface="+mn-cs"/>
              </a:rPr>
            </a:br>
            <a:r>
              <a:rPr lang="en-GB" sz="1200" b="1" kern="1200" dirty="0">
                <a:solidFill>
                  <a:schemeClr val="tx1"/>
                </a:solidFill>
                <a:effectLst/>
                <a:latin typeface="Arial" charset="0"/>
                <a:ea typeface="+mn-ea"/>
                <a:cs typeface="+mn-cs"/>
              </a:rPr>
              <a:t>Commissioning of Devices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data interface must always be inserted in the same medium as the device that is to be programmed. It is currently not possible to commission devices across different media.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functions can however be carried out across media using ETS: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Switching the programming LED of the bus coupling unit or mains coupler ON/OFF</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Reading the individual address (on the PL side, only one programming LED may be switched on) ‑ the system ID is not transmitted to the TP side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Sending group address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Reading device info</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25707748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noProof="0" dirty="0">
                <a:solidFill>
                  <a:schemeClr val="tx1"/>
                </a:solidFill>
                <a:effectLst/>
                <a:latin typeface="Arial" charset="0"/>
                <a:ea typeface="+mn-ea"/>
                <a:cs typeface="+mn-cs"/>
              </a:rPr>
              <a:t>Couplers for </a:t>
            </a:r>
            <a:r>
              <a:rPr lang="de-DE" sz="1200" b="1" kern="1200" dirty="0">
                <a:solidFill>
                  <a:schemeClr val="tx1"/>
                </a:solidFill>
                <a:effectLst/>
                <a:latin typeface="Arial" charset="0"/>
                <a:ea typeface="+mn-ea"/>
                <a:cs typeface="+mn-cs"/>
              </a:rPr>
              <a:t>RF </a:t>
            </a:r>
            <a:r>
              <a:rPr lang="en-GB" sz="1200" b="1" kern="1200" noProof="0" dirty="0">
                <a:solidFill>
                  <a:schemeClr val="tx1"/>
                </a:solidFill>
                <a:effectLst/>
                <a:latin typeface="Arial" charset="0"/>
                <a:ea typeface="+mn-ea"/>
                <a:cs typeface="+mn-cs"/>
              </a:rPr>
              <a:t>Installations</a:t>
            </a:r>
          </a:p>
          <a:p>
            <a:r>
              <a:rPr lang="en-GB" sz="1200" kern="1200" dirty="0">
                <a:solidFill>
                  <a:schemeClr val="tx1"/>
                </a:solidFill>
                <a:effectLst/>
                <a:latin typeface="Arial" charset="0"/>
                <a:ea typeface="+mn-ea"/>
                <a:cs typeface="+mn-cs"/>
              </a:rPr>
              <a:t>Detailed information about KNX-RF and different media couplers can be found in the documentation about the KNX Basic Course in the section “KNX RF”.</a:t>
            </a:r>
            <a:endParaRPr lang="es-ES" sz="1200" kern="1200" dirty="0">
              <a:solidFill>
                <a:schemeClr val="tx1"/>
              </a:solidFill>
              <a:effectLst/>
              <a:latin typeface="Arial" charset="0"/>
              <a:ea typeface="+mn-ea"/>
              <a:cs typeface="+mn-cs"/>
            </a:endParaRPr>
          </a:p>
          <a:p>
            <a:endParaRPr lang="es-ES"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26297491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sp>
        <p:nvSpPr>
          <p:cNvPr id="5" name="TextBox 7"/>
          <p:cNvSpPr txBox="1">
            <a:spLocks noChangeArrowheads="1"/>
          </p:cNvSpPr>
          <p:nvPr/>
        </p:nvSpPr>
        <p:spPr bwMode="auto">
          <a:xfrm>
            <a:off x="447675" y="1020763"/>
            <a:ext cx="42243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879925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233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192395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0271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61869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3538332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407699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836271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014060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824345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5811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9332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1476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1133693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853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3833210813"/>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70" r:id="rId16"/>
    <p:sldLayoutId id="2147483772" r:id="rId17"/>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14.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15.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16.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3.xml"/><Relationship Id="rId1" Type="http://schemas.openxmlformats.org/officeDocument/2006/relationships/slideLayout" Target="../slideLayouts/slideLayout10.xml"/><Relationship Id="rId4" Type="http://schemas.openxmlformats.org/officeDocument/2006/relationships/image" Target="../media/image17.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endParaRPr lang="en-GB" sz="2400" b="0" dirty="0">
              <a:solidFill>
                <a:srgbClr val="0C4B9D"/>
              </a:solidFill>
              <a:latin typeface="+mn-lt"/>
              <a:ea typeface="+mn-ea"/>
              <a:cs typeface="+mn-cs"/>
            </a:endParaRPr>
          </a:p>
        </p:txBody>
      </p:sp>
      <p:sp>
        <p:nvSpPr>
          <p:cNvPr id="8" name="Subtitle 2">
            <a:extLst>
              <a:ext uri="{FF2B5EF4-FFF2-40B4-BE49-F238E27FC236}">
                <a16:creationId xmlns:a16="http://schemas.microsoft.com/office/drawing/2014/main" id="{4AD0C2BC-0F89-4FA7-ABF3-8E3EFEC4BCA3}"/>
              </a:ext>
            </a:extLst>
          </p:cNvPr>
          <p:cNvSpPr>
            <a:spLocks noGrp="1"/>
          </p:cNvSpPr>
          <p:nvPr>
            <p:ph type="subTitle" idx="1"/>
          </p:nvPr>
        </p:nvSpPr>
        <p:spPr/>
        <p:txBody>
          <a:bodyPr/>
          <a:lstStyle/>
          <a:p>
            <a:r>
              <a:rPr lang="en-GB" sz="2400" dirty="0"/>
              <a:t>Couplers</a:t>
            </a:r>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Couplers</a:t>
            </a:r>
          </a:p>
        </p:txBody>
      </p:sp>
      <p:sp>
        <p:nvSpPr>
          <p:cNvPr id="4" name="Content Placeholder 1">
            <a:extLst>
              <a:ext uri="{FF2B5EF4-FFF2-40B4-BE49-F238E27FC236}">
                <a16:creationId xmlns:a16="http://schemas.microsoft.com/office/drawing/2014/main" id="{781E74C5-624A-44BE-9154-39E9F596BCF6}"/>
              </a:ext>
            </a:extLst>
          </p:cNvPr>
          <p:cNvSpPr txBox="1">
            <a:spLocks/>
          </p:cNvSpPr>
          <p:nvPr/>
        </p:nvSpPr>
        <p:spPr>
          <a:xfrm>
            <a:off x="971600" y="1412875"/>
            <a:ext cx="756084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000" kern="0" dirty="0"/>
              <a:t>System devices by means of which a KNX system can be hierarchically structured</a:t>
            </a:r>
          </a:p>
          <a:p>
            <a:endParaRPr lang="en-US" sz="2000" kern="0" dirty="0"/>
          </a:p>
          <a:p>
            <a:pPr marL="0" indent="0">
              <a:buFont typeface="Wingdings" pitchFamily="2" charset="2"/>
              <a:buNone/>
            </a:pPr>
            <a:r>
              <a:rPr lang="en-US" sz="2000" kern="0" dirty="0"/>
              <a:t>Advantages:</a:t>
            </a:r>
          </a:p>
          <a:p>
            <a:pPr marL="0" indent="0">
              <a:buFont typeface="Wingdings" pitchFamily="2" charset="2"/>
              <a:buNone/>
            </a:pPr>
            <a:endParaRPr lang="en-US" sz="800" kern="0" dirty="0"/>
          </a:p>
          <a:p>
            <a:pPr marL="457200" indent="-457200">
              <a:buFont typeface="+mj-lt"/>
              <a:buAutoNum type="arabicPeriod"/>
            </a:pPr>
            <a:r>
              <a:rPr lang="en-GB" sz="2000" kern="0" dirty="0">
                <a:solidFill>
                  <a:schemeClr val="bg2">
                    <a:lumMod val="25000"/>
                  </a:schemeClr>
                </a:solidFill>
                <a:ea typeface="ＭＳ Ｐゴシック" pitchFamily="-97" charset="-128"/>
                <a:cs typeface="Arial" pitchFamily="34" charset="0"/>
              </a:rPr>
              <a:t>Allow to</a:t>
            </a:r>
            <a:r>
              <a:rPr lang="es-ES" sz="2000" kern="0" dirty="0">
                <a:solidFill>
                  <a:schemeClr val="bg2">
                    <a:lumMod val="25000"/>
                  </a:schemeClr>
                </a:solidFill>
                <a:ea typeface="ＭＳ Ｐゴシック" pitchFamily="-97" charset="-128"/>
                <a:cs typeface="Arial" pitchFamily="34" charset="0"/>
              </a:rPr>
              <a:t> </a:t>
            </a:r>
            <a:r>
              <a:rPr lang="es-ES" sz="2000" kern="0" dirty="0">
                <a:ea typeface="ＭＳ Ｐゴシック" pitchFamily="-97" charset="-128"/>
                <a:cs typeface="Arial" pitchFamily="34" charset="0"/>
              </a:rPr>
              <a:t>transfer data </a:t>
            </a:r>
            <a:r>
              <a:rPr lang="en-US" sz="2000" kern="0" dirty="0">
                <a:solidFill>
                  <a:schemeClr val="bg2">
                    <a:lumMod val="25000"/>
                  </a:schemeClr>
                </a:solidFill>
                <a:ea typeface="ＭＳ Ｐゴシック" pitchFamily="-97" charset="-128"/>
                <a:cs typeface="Arial" pitchFamily="34" charset="0"/>
              </a:rPr>
              <a:t>between electrically independent parts of a KNX installation. </a:t>
            </a:r>
          </a:p>
          <a:p>
            <a:pPr marL="457200" indent="-457200">
              <a:buFont typeface="+mj-lt"/>
              <a:buAutoNum type="arabicPeriod"/>
            </a:pPr>
            <a:endParaRPr lang="en-US" sz="2000" kern="0" dirty="0">
              <a:solidFill>
                <a:schemeClr val="bg2">
                  <a:lumMod val="25000"/>
                </a:schemeClr>
              </a:solidFill>
              <a:ea typeface="ＭＳ Ｐゴシック" pitchFamily="-97" charset="-128"/>
              <a:cs typeface="Arial" pitchFamily="34" charset="0"/>
            </a:endParaRPr>
          </a:p>
          <a:p>
            <a:pPr marL="457200" indent="-457200" algn="just" eaLnBrk="1" hangingPunct="1">
              <a:buFont typeface="+mj-lt"/>
              <a:buAutoNum type="arabicPeriod"/>
              <a:defRPr/>
            </a:pPr>
            <a:r>
              <a:rPr lang="es-ES" sz="2000" kern="0" dirty="0">
                <a:solidFill>
                  <a:schemeClr val="bg2">
                    <a:lumMod val="25000"/>
                  </a:schemeClr>
                </a:solidFill>
                <a:ea typeface="ＭＳ Ｐゴシック" pitchFamily="-97" charset="-128"/>
                <a:cs typeface="Arial" pitchFamily="34" charset="0"/>
              </a:rPr>
              <a:t>Reduce </a:t>
            </a:r>
            <a:r>
              <a:rPr lang="en-GB" sz="2000" kern="0" dirty="0">
                <a:solidFill>
                  <a:schemeClr val="bg2">
                    <a:lumMod val="25000"/>
                  </a:schemeClr>
                </a:solidFill>
                <a:ea typeface="ＭＳ Ｐゴシック" pitchFamily="-97" charset="-128"/>
                <a:cs typeface="Arial" pitchFamily="34" charset="0"/>
              </a:rPr>
              <a:t>the </a:t>
            </a:r>
            <a:r>
              <a:rPr lang="en-GB" sz="2000" kern="0" dirty="0">
                <a:ea typeface="ＭＳ Ｐゴシック" pitchFamily="-97" charset="-128"/>
                <a:cs typeface="Arial" pitchFamily="34" charset="0"/>
              </a:rPr>
              <a:t>telegrams traffic </a:t>
            </a:r>
            <a:r>
              <a:rPr lang="en-US" sz="2000" kern="0" dirty="0">
                <a:solidFill>
                  <a:schemeClr val="bg2">
                    <a:lumMod val="25000"/>
                  </a:schemeClr>
                </a:solidFill>
                <a:ea typeface="ＭＳ Ｐゴシック" pitchFamily="-97" charset="-128"/>
                <a:cs typeface="Arial" pitchFamily="34" charset="0"/>
              </a:rPr>
              <a:t>throughout the installation by the use of filter tables</a:t>
            </a:r>
          </a:p>
          <a:p>
            <a:pPr marL="457200" indent="-457200" algn="just" eaLnBrk="1" hangingPunct="1">
              <a:buFont typeface="+mj-lt"/>
              <a:buAutoNum type="arabicPeriod"/>
              <a:defRPr/>
            </a:pPr>
            <a:endParaRPr lang="es-ES" sz="2000" kern="0" dirty="0">
              <a:solidFill>
                <a:schemeClr val="bg2">
                  <a:lumMod val="25000"/>
                </a:schemeClr>
              </a:solidFill>
              <a:ea typeface="ＭＳ Ｐゴシック" pitchFamily="-97" charset="-128"/>
              <a:cs typeface="Arial" pitchFamily="34" charset="0"/>
            </a:endParaRPr>
          </a:p>
          <a:p>
            <a:pPr marL="457200" indent="-457200">
              <a:buFont typeface="+mj-lt"/>
              <a:buAutoNum type="arabicPeriod"/>
            </a:pPr>
            <a:r>
              <a:rPr lang="en-GB" sz="2000" kern="0" dirty="0">
                <a:solidFill>
                  <a:schemeClr val="bg2">
                    <a:lumMod val="25000"/>
                  </a:schemeClr>
                </a:solidFill>
                <a:ea typeface="ＭＳ Ｐゴシック" pitchFamily="-97" charset="-128"/>
                <a:cs typeface="Arial" pitchFamily="34" charset="0"/>
              </a:rPr>
              <a:t>Filter Tables can be calculated </a:t>
            </a:r>
            <a:r>
              <a:rPr lang="en-GB" sz="2000" kern="0" dirty="0">
                <a:ea typeface="ＭＳ Ｐゴシック" pitchFamily="-97" charset="-128"/>
                <a:cs typeface="Arial" pitchFamily="34" charset="0"/>
              </a:rPr>
              <a:t>automatically or manually </a:t>
            </a:r>
            <a:r>
              <a:rPr lang="en-GB" sz="2000" kern="0" dirty="0">
                <a:solidFill>
                  <a:schemeClr val="bg2">
                    <a:lumMod val="25000"/>
                  </a:schemeClr>
                </a:solidFill>
                <a:ea typeface="ＭＳ Ｐゴシック" pitchFamily="-97" charset="-128"/>
                <a:cs typeface="Arial" pitchFamily="34" charset="0"/>
              </a:rPr>
              <a:t>edited </a:t>
            </a:r>
            <a:r>
              <a:rPr lang="es-ES" sz="2000" kern="0" dirty="0">
                <a:solidFill>
                  <a:schemeClr val="bg2">
                    <a:lumMod val="25000"/>
                  </a:schemeClr>
                </a:solidFill>
                <a:ea typeface="ＭＳ Ｐゴシック" pitchFamily="-97" charset="-128"/>
                <a:cs typeface="Arial" pitchFamily="34" charset="0"/>
              </a:rPr>
              <a:t>in ETS</a:t>
            </a: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Type of Couplers</a:t>
            </a:r>
          </a:p>
        </p:txBody>
      </p:sp>
      <p:grpSp>
        <p:nvGrpSpPr>
          <p:cNvPr id="4" name="Group 3">
            <a:extLst>
              <a:ext uri="{FF2B5EF4-FFF2-40B4-BE49-F238E27FC236}">
                <a16:creationId xmlns:a16="http://schemas.microsoft.com/office/drawing/2014/main" id="{580BD65B-1ABD-4702-8247-2047499E364A}"/>
              </a:ext>
            </a:extLst>
          </p:cNvPr>
          <p:cNvGrpSpPr>
            <a:grpSpLocks/>
          </p:cNvGrpSpPr>
          <p:nvPr/>
        </p:nvGrpSpPr>
        <p:grpSpPr bwMode="auto">
          <a:xfrm>
            <a:off x="777162" y="1739900"/>
            <a:ext cx="6931025" cy="912813"/>
            <a:chOff x="978146" y="1739900"/>
            <a:chExt cx="6930779" cy="912813"/>
          </a:xfrm>
        </p:grpSpPr>
        <p:sp>
          <p:nvSpPr>
            <p:cNvPr id="5" name="Rectangle 89">
              <a:extLst>
                <a:ext uri="{FF2B5EF4-FFF2-40B4-BE49-F238E27FC236}">
                  <a16:creationId xmlns:a16="http://schemas.microsoft.com/office/drawing/2014/main" id="{B43832D7-E41C-45A9-ADC9-5BD8AAFBA46A}"/>
                </a:ext>
              </a:extLst>
            </p:cNvPr>
            <p:cNvSpPr>
              <a:spLocks noChangeArrowheads="1"/>
            </p:cNvSpPr>
            <p:nvPr/>
          </p:nvSpPr>
          <p:spPr bwMode="auto">
            <a:xfrm>
              <a:off x="3000549" y="1779588"/>
              <a:ext cx="842932" cy="258762"/>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a:pPr>
              <a:r>
                <a:rPr lang="de-DE" sz="1100" b="1" kern="0" dirty="0">
                  <a:solidFill>
                    <a:sysClr val="windowText" lastClr="000000"/>
                  </a:solidFill>
                </a:rPr>
                <a:t>backbone</a:t>
              </a:r>
            </a:p>
          </p:txBody>
        </p:sp>
        <p:sp>
          <p:nvSpPr>
            <p:cNvPr id="6" name="Line 91">
              <a:extLst>
                <a:ext uri="{FF2B5EF4-FFF2-40B4-BE49-F238E27FC236}">
                  <a16:creationId xmlns:a16="http://schemas.microsoft.com/office/drawing/2014/main" id="{0FC6A59E-A30D-4111-854F-827CEEA38B9F}"/>
                </a:ext>
              </a:extLst>
            </p:cNvPr>
            <p:cNvSpPr>
              <a:spLocks noChangeShapeType="1"/>
            </p:cNvSpPr>
            <p:nvPr/>
          </p:nvSpPr>
          <p:spPr bwMode="auto">
            <a:xfrm>
              <a:off x="1679796" y="1779588"/>
              <a:ext cx="6229129"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dirty="0">
                <a:solidFill>
                  <a:sysClr val="windowText" lastClr="000000"/>
                </a:solidFill>
              </a:endParaRPr>
            </a:p>
          </p:txBody>
        </p:sp>
        <p:sp>
          <p:nvSpPr>
            <p:cNvPr id="7" name="Line 100">
              <a:extLst>
                <a:ext uri="{FF2B5EF4-FFF2-40B4-BE49-F238E27FC236}">
                  <a16:creationId xmlns:a16="http://schemas.microsoft.com/office/drawing/2014/main" id="{0E278190-BC72-40C0-BA92-92FF7654E354}"/>
                </a:ext>
              </a:extLst>
            </p:cNvPr>
            <p:cNvSpPr>
              <a:spLocks noChangeShapeType="1"/>
            </p:cNvSpPr>
            <p:nvPr/>
          </p:nvSpPr>
          <p:spPr bwMode="auto">
            <a:xfrm>
              <a:off x="4302253" y="2625725"/>
              <a:ext cx="2150986"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8" name="Line 101">
              <a:extLst>
                <a:ext uri="{FF2B5EF4-FFF2-40B4-BE49-F238E27FC236}">
                  <a16:creationId xmlns:a16="http://schemas.microsoft.com/office/drawing/2014/main" id="{44ABFE81-C782-4BBB-B823-3C8FCF24D34D}"/>
                </a:ext>
              </a:extLst>
            </p:cNvPr>
            <p:cNvSpPr>
              <a:spLocks noChangeShapeType="1"/>
            </p:cNvSpPr>
            <p:nvPr/>
          </p:nvSpPr>
          <p:spPr bwMode="auto">
            <a:xfrm>
              <a:off x="5702378" y="1781175"/>
              <a:ext cx="0" cy="833438"/>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grpSp>
          <p:nvGrpSpPr>
            <p:cNvPr id="9" name="Group 103">
              <a:extLst>
                <a:ext uri="{FF2B5EF4-FFF2-40B4-BE49-F238E27FC236}">
                  <a16:creationId xmlns:a16="http://schemas.microsoft.com/office/drawing/2014/main" id="{5AFFB690-6E43-407E-AC18-3C99F0D2E412}"/>
                </a:ext>
              </a:extLst>
            </p:cNvPr>
            <p:cNvGrpSpPr>
              <a:grpSpLocks/>
            </p:cNvGrpSpPr>
            <p:nvPr/>
          </p:nvGrpSpPr>
          <p:grpSpPr bwMode="auto">
            <a:xfrm>
              <a:off x="5362357" y="2011363"/>
              <a:ext cx="709612" cy="452437"/>
              <a:chOff x="4349" y="688"/>
              <a:chExt cx="553" cy="369"/>
            </a:xfrm>
          </p:grpSpPr>
          <p:sp>
            <p:nvSpPr>
              <p:cNvPr id="21" name="Freeform 104">
                <a:extLst>
                  <a:ext uri="{FF2B5EF4-FFF2-40B4-BE49-F238E27FC236}">
                    <a16:creationId xmlns:a16="http://schemas.microsoft.com/office/drawing/2014/main" id="{D24C2E10-A61C-492B-9274-55D6DF8ECA45}"/>
                  </a:ext>
                </a:extLst>
              </p:cNvPr>
              <p:cNvSpPr>
                <a:spLocks/>
              </p:cNvSpPr>
              <p:nvPr/>
            </p:nvSpPr>
            <p:spPr bwMode="auto">
              <a:xfrm>
                <a:off x="4368" y="704"/>
                <a:ext cx="534" cy="353"/>
              </a:xfrm>
              <a:custGeom>
                <a:avLst/>
                <a:gdLst>
                  <a:gd name="T0" fmla="*/ 0 w 534"/>
                  <a:gd name="T1" fmla="*/ 0 h 354"/>
                  <a:gd name="T2" fmla="*/ 533 w 534"/>
                  <a:gd name="T3" fmla="*/ 0 h 354"/>
                  <a:gd name="T4" fmla="*/ 533 w 534"/>
                  <a:gd name="T5" fmla="*/ 353 h 354"/>
                  <a:gd name="T6" fmla="*/ 0 w 534"/>
                  <a:gd name="T7" fmla="*/ 353 h 354"/>
                  <a:gd name="T8" fmla="*/ 0 w 534"/>
                  <a:gd name="T9" fmla="*/ 0 h 354"/>
                  <a:gd name="T10" fmla="*/ 0 60000 65536"/>
                  <a:gd name="T11" fmla="*/ 0 60000 65536"/>
                  <a:gd name="T12" fmla="*/ 0 60000 65536"/>
                  <a:gd name="T13" fmla="*/ 0 60000 65536"/>
                  <a:gd name="T14" fmla="*/ 0 60000 65536"/>
                  <a:gd name="T15" fmla="*/ 0 w 534"/>
                  <a:gd name="T16" fmla="*/ 0 h 354"/>
                  <a:gd name="T17" fmla="*/ 534 w 534"/>
                  <a:gd name="T18" fmla="*/ 354 h 354"/>
                </a:gdLst>
                <a:ahLst/>
                <a:cxnLst>
                  <a:cxn ang="T10">
                    <a:pos x="T0" y="T1"/>
                  </a:cxn>
                  <a:cxn ang="T11">
                    <a:pos x="T2" y="T3"/>
                  </a:cxn>
                  <a:cxn ang="T12">
                    <a:pos x="T4" y="T5"/>
                  </a:cxn>
                  <a:cxn ang="T13">
                    <a:pos x="T6" y="T7"/>
                  </a:cxn>
                  <a:cxn ang="T14">
                    <a:pos x="T8" y="T9"/>
                  </a:cxn>
                </a:cxnLst>
                <a:rect l="T15" t="T16" r="T17" b="T18"/>
                <a:pathLst>
                  <a:path w="534" h="354">
                    <a:moveTo>
                      <a:pt x="0" y="0"/>
                    </a:moveTo>
                    <a:lnTo>
                      <a:pt x="533" y="0"/>
                    </a:lnTo>
                    <a:lnTo>
                      <a:pt x="533"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22" name="Group 105">
                <a:extLst>
                  <a:ext uri="{FF2B5EF4-FFF2-40B4-BE49-F238E27FC236}">
                    <a16:creationId xmlns:a16="http://schemas.microsoft.com/office/drawing/2014/main" id="{980AEBC6-2872-48AF-9FC2-69E50992E472}"/>
                  </a:ext>
                </a:extLst>
              </p:cNvPr>
              <p:cNvGrpSpPr>
                <a:grpSpLocks/>
              </p:cNvGrpSpPr>
              <p:nvPr/>
            </p:nvGrpSpPr>
            <p:grpSpPr bwMode="auto">
              <a:xfrm>
                <a:off x="4349" y="688"/>
                <a:ext cx="531" cy="351"/>
                <a:chOff x="4349" y="688"/>
                <a:chExt cx="531" cy="351"/>
              </a:xfrm>
            </p:grpSpPr>
            <p:sp>
              <p:nvSpPr>
                <p:cNvPr id="23" name="Freeform 106">
                  <a:extLst>
                    <a:ext uri="{FF2B5EF4-FFF2-40B4-BE49-F238E27FC236}">
                      <a16:creationId xmlns:a16="http://schemas.microsoft.com/office/drawing/2014/main" id="{FD8F50F5-1AE3-41D7-81C3-64B68261ECFE}"/>
                    </a:ext>
                  </a:extLst>
                </p:cNvPr>
                <p:cNvSpPr>
                  <a:spLocks/>
                </p:cNvSpPr>
                <p:nvPr/>
              </p:nvSpPr>
              <p:spPr bwMode="auto">
                <a:xfrm>
                  <a:off x="4349" y="688"/>
                  <a:ext cx="531" cy="351"/>
                </a:xfrm>
                <a:custGeom>
                  <a:avLst/>
                  <a:gdLst>
                    <a:gd name="T0" fmla="*/ 0 w 531"/>
                    <a:gd name="T1" fmla="*/ 0 h 351"/>
                    <a:gd name="T2" fmla="*/ 530 w 531"/>
                    <a:gd name="T3" fmla="*/ 0 h 351"/>
                    <a:gd name="T4" fmla="*/ 530 w 531"/>
                    <a:gd name="T5" fmla="*/ 350 h 351"/>
                    <a:gd name="T6" fmla="*/ 0 w 531"/>
                    <a:gd name="T7" fmla="*/ 35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530" y="0"/>
                      </a:lnTo>
                      <a:lnTo>
                        <a:pt x="530" y="350"/>
                      </a:lnTo>
                      <a:lnTo>
                        <a:pt x="0" y="350"/>
                      </a:lnTo>
                      <a:lnTo>
                        <a:pt x="0" y="0"/>
                      </a:lnTo>
                    </a:path>
                  </a:pathLst>
                </a:custGeom>
                <a:solidFill>
                  <a:srgbClr val="369226"/>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24" name="Rectangle 107">
                  <a:extLst>
                    <a:ext uri="{FF2B5EF4-FFF2-40B4-BE49-F238E27FC236}">
                      <a16:creationId xmlns:a16="http://schemas.microsoft.com/office/drawing/2014/main" id="{68D4F547-4294-438B-B9A4-9FCD1CF747E7}"/>
                    </a:ext>
                  </a:extLst>
                </p:cNvPr>
                <p:cNvSpPr>
                  <a:spLocks noChangeArrowheads="1"/>
                </p:cNvSpPr>
                <p:nvPr/>
              </p:nvSpPr>
              <p:spPr bwMode="auto">
                <a:xfrm>
                  <a:off x="4453" y="749"/>
                  <a:ext cx="302" cy="211"/>
                </a:xfrm>
                <a:prstGeom prst="rect">
                  <a:avLst/>
                </a:prstGeom>
                <a:gradFill rotWithShape="1">
                  <a:gsLst>
                    <a:gs pos="79000">
                      <a:srgbClr val="369226"/>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FFFFFF"/>
                      </a:solidFill>
                      <a:latin typeface="Arial"/>
                      <a:cs typeface="Arial"/>
                    </a:rPr>
                    <a:t>B</a:t>
                  </a:r>
                  <a:r>
                    <a:rPr lang="de-DE" sz="1100" b="1" kern="0" dirty="0">
                      <a:solidFill>
                        <a:srgbClr val="FFFFFF"/>
                      </a:solidFill>
                      <a:latin typeface="Arial"/>
                      <a:ea typeface="+mn-ea"/>
                      <a:cs typeface="Arial"/>
                    </a:rPr>
                    <a:t>C</a:t>
                  </a:r>
                </a:p>
              </p:txBody>
            </p:sp>
          </p:grpSp>
        </p:grpSp>
        <p:sp>
          <p:nvSpPr>
            <p:cNvPr id="10" name="Oval 109">
              <a:extLst>
                <a:ext uri="{FF2B5EF4-FFF2-40B4-BE49-F238E27FC236}">
                  <a16:creationId xmlns:a16="http://schemas.microsoft.com/office/drawing/2014/main" id="{297AF39D-FF1A-4077-B75C-3CF68A318032}"/>
                </a:ext>
              </a:extLst>
            </p:cNvPr>
            <p:cNvSpPr>
              <a:spLocks noChangeArrowheads="1"/>
            </p:cNvSpPr>
            <p:nvPr/>
          </p:nvSpPr>
          <p:spPr bwMode="auto">
            <a:xfrm>
              <a:off x="5692854" y="1762125"/>
              <a:ext cx="20636" cy="19050"/>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11" name="Line 123">
              <a:extLst>
                <a:ext uri="{FF2B5EF4-FFF2-40B4-BE49-F238E27FC236}">
                  <a16:creationId xmlns:a16="http://schemas.microsoft.com/office/drawing/2014/main" id="{D33C5C56-FA35-4230-938C-58FD8C872AD1}"/>
                </a:ext>
              </a:extLst>
            </p:cNvPr>
            <p:cNvSpPr>
              <a:spLocks noChangeShapeType="1"/>
            </p:cNvSpPr>
            <p:nvPr/>
          </p:nvSpPr>
          <p:spPr bwMode="auto">
            <a:xfrm flipV="1">
              <a:off x="1740119" y="1739900"/>
              <a:ext cx="0" cy="912813"/>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2" name="Line 134">
              <a:extLst>
                <a:ext uri="{FF2B5EF4-FFF2-40B4-BE49-F238E27FC236}">
                  <a16:creationId xmlns:a16="http://schemas.microsoft.com/office/drawing/2014/main" id="{A8281F12-C030-479A-84F8-1E6C0932788E}"/>
                </a:ext>
              </a:extLst>
            </p:cNvPr>
            <p:cNvSpPr>
              <a:spLocks noChangeShapeType="1"/>
            </p:cNvSpPr>
            <p:nvPr/>
          </p:nvSpPr>
          <p:spPr bwMode="auto">
            <a:xfrm>
              <a:off x="978146" y="2624138"/>
              <a:ext cx="1963667" cy="14287"/>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3" name="Freeform 136">
              <a:extLst>
                <a:ext uri="{FF2B5EF4-FFF2-40B4-BE49-F238E27FC236}">
                  <a16:creationId xmlns:a16="http://schemas.microsoft.com/office/drawing/2014/main" id="{E417692C-F282-4EA2-B80D-43E9F9C668EE}"/>
                </a:ext>
              </a:extLst>
            </p:cNvPr>
            <p:cNvSpPr>
              <a:spLocks/>
            </p:cNvSpPr>
            <p:nvPr/>
          </p:nvSpPr>
          <p:spPr bwMode="auto">
            <a:xfrm>
              <a:off x="1438505" y="2019300"/>
              <a:ext cx="685776" cy="431800"/>
            </a:xfrm>
            <a:custGeom>
              <a:avLst/>
              <a:gdLst>
                <a:gd name="T0" fmla="*/ 0 w 534"/>
                <a:gd name="T1" fmla="*/ 0 h 354"/>
                <a:gd name="T2" fmla="*/ 533 w 534"/>
                <a:gd name="T3" fmla="*/ 0 h 354"/>
                <a:gd name="T4" fmla="*/ 533 w 534"/>
                <a:gd name="T5" fmla="*/ 353 h 354"/>
                <a:gd name="T6" fmla="*/ 0 w 534"/>
                <a:gd name="T7" fmla="*/ 353 h 354"/>
                <a:gd name="T8" fmla="*/ 0 w 534"/>
                <a:gd name="T9" fmla="*/ 0 h 354"/>
                <a:gd name="T10" fmla="*/ 0 60000 65536"/>
                <a:gd name="T11" fmla="*/ 0 60000 65536"/>
                <a:gd name="T12" fmla="*/ 0 60000 65536"/>
                <a:gd name="T13" fmla="*/ 0 60000 65536"/>
                <a:gd name="T14" fmla="*/ 0 60000 65536"/>
                <a:gd name="T15" fmla="*/ 0 w 534"/>
                <a:gd name="T16" fmla="*/ 0 h 354"/>
                <a:gd name="T17" fmla="*/ 534 w 534"/>
                <a:gd name="T18" fmla="*/ 354 h 354"/>
              </a:gdLst>
              <a:ahLst/>
              <a:cxnLst>
                <a:cxn ang="T10">
                  <a:pos x="T0" y="T1"/>
                </a:cxn>
                <a:cxn ang="T11">
                  <a:pos x="T2" y="T3"/>
                </a:cxn>
                <a:cxn ang="T12">
                  <a:pos x="T4" y="T5"/>
                </a:cxn>
                <a:cxn ang="T13">
                  <a:pos x="T6" y="T7"/>
                </a:cxn>
                <a:cxn ang="T14">
                  <a:pos x="T8" y="T9"/>
                </a:cxn>
              </a:cxnLst>
              <a:rect l="T15" t="T16" r="T17" b="T18"/>
              <a:pathLst>
                <a:path w="534" h="354">
                  <a:moveTo>
                    <a:pt x="0" y="0"/>
                  </a:moveTo>
                  <a:lnTo>
                    <a:pt x="533" y="0"/>
                  </a:lnTo>
                  <a:lnTo>
                    <a:pt x="533"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14" name="Group 137">
              <a:extLst>
                <a:ext uri="{FF2B5EF4-FFF2-40B4-BE49-F238E27FC236}">
                  <a16:creationId xmlns:a16="http://schemas.microsoft.com/office/drawing/2014/main" id="{F8FB95A9-2081-4CFF-B45C-E7836B718ED7}"/>
                </a:ext>
              </a:extLst>
            </p:cNvPr>
            <p:cNvGrpSpPr>
              <a:grpSpLocks/>
            </p:cNvGrpSpPr>
            <p:nvPr/>
          </p:nvGrpSpPr>
          <p:grpSpPr bwMode="auto">
            <a:xfrm>
              <a:off x="1414265" y="2000250"/>
              <a:ext cx="681382" cy="428857"/>
              <a:chOff x="1096" y="678"/>
              <a:chExt cx="531" cy="351"/>
            </a:xfrm>
          </p:grpSpPr>
          <p:sp>
            <p:nvSpPr>
              <p:cNvPr id="19" name="Freeform 138">
                <a:extLst>
                  <a:ext uri="{FF2B5EF4-FFF2-40B4-BE49-F238E27FC236}">
                    <a16:creationId xmlns:a16="http://schemas.microsoft.com/office/drawing/2014/main" id="{00EB24DA-04A6-4B6B-801F-39B4781847AD}"/>
                  </a:ext>
                </a:extLst>
              </p:cNvPr>
              <p:cNvSpPr>
                <a:spLocks/>
              </p:cNvSpPr>
              <p:nvPr/>
            </p:nvSpPr>
            <p:spPr bwMode="auto">
              <a:xfrm>
                <a:off x="1096" y="678"/>
                <a:ext cx="531" cy="351"/>
              </a:xfrm>
              <a:custGeom>
                <a:avLst/>
                <a:gdLst>
                  <a:gd name="T0" fmla="*/ 0 w 531"/>
                  <a:gd name="T1" fmla="*/ 0 h 351"/>
                  <a:gd name="T2" fmla="*/ 530 w 531"/>
                  <a:gd name="T3" fmla="*/ 0 h 351"/>
                  <a:gd name="T4" fmla="*/ 530 w 531"/>
                  <a:gd name="T5" fmla="*/ 350 h 351"/>
                  <a:gd name="T6" fmla="*/ 0 w 531"/>
                  <a:gd name="T7" fmla="*/ 35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530" y="0"/>
                    </a:lnTo>
                    <a:lnTo>
                      <a:pt x="530" y="350"/>
                    </a:lnTo>
                    <a:lnTo>
                      <a:pt x="0" y="350"/>
                    </a:lnTo>
                    <a:lnTo>
                      <a:pt x="0" y="0"/>
                    </a:lnTo>
                  </a:path>
                </a:pathLst>
              </a:custGeom>
              <a:solidFill>
                <a:srgbClr val="369226"/>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20" name="Rectangle 139">
                <a:extLst>
                  <a:ext uri="{FF2B5EF4-FFF2-40B4-BE49-F238E27FC236}">
                    <a16:creationId xmlns:a16="http://schemas.microsoft.com/office/drawing/2014/main" id="{CF1344B9-71DC-42F7-96AE-8EF23248B9F9}"/>
                  </a:ext>
                </a:extLst>
              </p:cNvPr>
              <p:cNvSpPr>
                <a:spLocks noChangeArrowheads="1"/>
              </p:cNvSpPr>
              <p:nvPr/>
            </p:nvSpPr>
            <p:spPr bwMode="auto">
              <a:xfrm>
                <a:off x="1200" y="739"/>
                <a:ext cx="302" cy="212"/>
              </a:xfrm>
              <a:prstGeom prst="rect">
                <a:avLst/>
              </a:prstGeom>
              <a:gradFill rotWithShape="1">
                <a:gsLst>
                  <a:gs pos="79000">
                    <a:srgbClr val="369226"/>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FFFFFF"/>
                    </a:solidFill>
                    <a:latin typeface="Arial"/>
                    <a:cs typeface="Arial"/>
                  </a:rPr>
                  <a:t>B</a:t>
                </a:r>
                <a:r>
                  <a:rPr lang="de-DE" sz="1100" b="1" kern="0" dirty="0">
                    <a:solidFill>
                      <a:srgbClr val="FFFFFF"/>
                    </a:solidFill>
                    <a:latin typeface="Arial"/>
                    <a:ea typeface="+mn-ea"/>
                    <a:cs typeface="Arial"/>
                  </a:rPr>
                  <a:t>C</a:t>
                </a:r>
              </a:p>
            </p:txBody>
          </p:sp>
        </p:grpSp>
        <p:sp>
          <p:nvSpPr>
            <p:cNvPr id="15" name="Rectangle 170">
              <a:extLst>
                <a:ext uri="{FF2B5EF4-FFF2-40B4-BE49-F238E27FC236}">
                  <a16:creationId xmlns:a16="http://schemas.microsoft.com/office/drawing/2014/main" id="{B9E0AE11-36BA-4CBB-B227-1C28EFC3B6A2}"/>
                </a:ext>
              </a:extLst>
            </p:cNvPr>
            <p:cNvSpPr>
              <a:spLocks noChangeArrowheads="1"/>
            </p:cNvSpPr>
            <p:nvPr/>
          </p:nvSpPr>
          <p:spPr bwMode="auto">
            <a:xfrm>
              <a:off x="2132217" y="2074863"/>
              <a:ext cx="511157" cy="258762"/>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a:pPr>
              <a:r>
                <a:rPr lang="de-DE" sz="1100" b="1" kern="0">
                  <a:solidFill>
                    <a:sysClr val="windowText" lastClr="000000"/>
                  </a:solidFill>
                </a:rPr>
                <a:t>X.0.0</a:t>
              </a:r>
            </a:p>
          </p:txBody>
        </p:sp>
        <p:sp>
          <p:nvSpPr>
            <p:cNvPr id="16" name="Oval 171">
              <a:extLst>
                <a:ext uri="{FF2B5EF4-FFF2-40B4-BE49-F238E27FC236}">
                  <a16:creationId xmlns:a16="http://schemas.microsoft.com/office/drawing/2014/main" id="{B9A96458-FC18-4AC5-B59D-40F181593491}"/>
                </a:ext>
              </a:extLst>
            </p:cNvPr>
            <p:cNvSpPr>
              <a:spLocks noChangeArrowheads="1"/>
            </p:cNvSpPr>
            <p:nvPr/>
          </p:nvSpPr>
          <p:spPr bwMode="auto">
            <a:xfrm>
              <a:off x="1730594" y="2613025"/>
              <a:ext cx="20636" cy="19050"/>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17" name="Oval 173">
              <a:extLst>
                <a:ext uri="{FF2B5EF4-FFF2-40B4-BE49-F238E27FC236}">
                  <a16:creationId xmlns:a16="http://schemas.microsoft.com/office/drawing/2014/main" id="{6D00A78D-A764-4B47-8D72-F53B861E0034}"/>
                </a:ext>
              </a:extLst>
            </p:cNvPr>
            <p:cNvSpPr>
              <a:spLocks noChangeArrowheads="1"/>
            </p:cNvSpPr>
            <p:nvPr/>
          </p:nvSpPr>
          <p:spPr bwMode="auto">
            <a:xfrm>
              <a:off x="1727984" y="1768475"/>
              <a:ext cx="20636" cy="19050"/>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18" name="Rectangle 174">
              <a:extLst>
                <a:ext uri="{FF2B5EF4-FFF2-40B4-BE49-F238E27FC236}">
                  <a16:creationId xmlns:a16="http://schemas.microsoft.com/office/drawing/2014/main" id="{E5080547-C5E5-413B-B256-7C0FDC1BA800}"/>
                </a:ext>
              </a:extLst>
            </p:cNvPr>
            <p:cNvSpPr>
              <a:spLocks noChangeArrowheads="1"/>
            </p:cNvSpPr>
            <p:nvPr/>
          </p:nvSpPr>
          <p:spPr bwMode="auto">
            <a:xfrm>
              <a:off x="6059553" y="2097088"/>
              <a:ext cx="573068" cy="258762"/>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a:pPr>
              <a:r>
                <a:rPr lang="de-DE" sz="1100" b="1" kern="0">
                  <a:solidFill>
                    <a:sysClr val="windowText" lastClr="000000"/>
                  </a:solidFill>
                </a:rPr>
                <a:t>15.0.0</a:t>
              </a:r>
            </a:p>
          </p:txBody>
        </p:sp>
      </p:grpSp>
      <p:grpSp>
        <p:nvGrpSpPr>
          <p:cNvPr id="26" name="Group 25">
            <a:extLst>
              <a:ext uri="{FF2B5EF4-FFF2-40B4-BE49-F238E27FC236}">
                <a16:creationId xmlns:a16="http://schemas.microsoft.com/office/drawing/2014/main" id="{070B742A-6851-4D55-A94B-053F8FCB91CC}"/>
              </a:ext>
            </a:extLst>
          </p:cNvPr>
          <p:cNvGrpSpPr>
            <a:grpSpLocks/>
          </p:cNvGrpSpPr>
          <p:nvPr/>
        </p:nvGrpSpPr>
        <p:grpSpPr bwMode="auto">
          <a:xfrm>
            <a:off x="459662" y="2628900"/>
            <a:ext cx="1836737" cy="3116263"/>
            <a:chOff x="597931" y="2628484"/>
            <a:chExt cx="1837570" cy="3115923"/>
          </a:xfrm>
        </p:grpSpPr>
        <p:sp>
          <p:nvSpPr>
            <p:cNvPr id="27" name="Rectangle 102">
              <a:extLst>
                <a:ext uri="{FF2B5EF4-FFF2-40B4-BE49-F238E27FC236}">
                  <a16:creationId xmlns:a16="http://schemas.microsoft.com/office/drawing/2014/main" id="{33540625-54BF-4CA0-9EA8-B69E13A26757}"/>
                </a:ext>
              </a:extLst>
            </p:cNvPr>
            <p:cNvSpPr>
              <a:spLocks noChangeArrowheads="1"/>
            </p:cNvSpPr>
            <p:nvPr/>
          </p:nvSpPr>
          <p:spPr bwMode="auto">
            <a:xfrm>
              <a:off x="1357100" y="2661818"/>
              <a:ext cx="832337" cy="259017"/>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a:pPr>
              <a:r>
                <a:rPr lang="de-DE" sz="1100" b="1" kern="0" dirty="0">
                  <a:solidFill>
                    <a:sysClr val="windowText" lastClr="000000"/>
                  </a:solidFill>
                </a:rPr>
                <a:t>Main Line</a:t>
              </a:r>
            </a:p>
          </p:txBody>
        </p:sp>
        <p:grpSp>
          <p:nvGrpSpPr>
            <p:cNvPr id="28" name="Group 683">
              <a:extLst>
                <a:ext uri="{FF2B5EF4-FFF2-40B4-BE49-F238E27FC236}">
                  <a16:creationId xmlns:a16="http://schemas.microsoft.com/office/drawing/2014/main" id="{5CD9686C-842E-475A-87E0-D23A8E30E523}"/>
                </a:ext>
              </a:extLst>
            </p:cNvPr>
            <p:cNvGrpSpPr>
              <a:grpSpLocks/>
            </p:cNvGrpSpPr>
            <p:nvPr/>
          </p:nvGrpSpPr>
          <p:grpSpPr bwMode="auto">
            <a:xfrm>
              <a:off x="597931" y="2628484"/>
              <a:ext cx="1837570" cy="3115923"/>
              <a:chOff x="597931" y="2613025"/>
              <a:chExt cx="1837570" cy="3115923"/>
            </a:xfrm>
          </p:grpSpPr>
          <p:sp>
            <p:nvSpPr>
              <p:cNvPr id="29" name="Line 122">
                <a:extLst>
                  <a:ext uri="{FF2B5EF4-FFF2-40B4-BE49-F238E27FC236}">
                    <a16:creationId xmlns:a16="http://schemas.microsoft.com/office/drawing/2014/main" id="{C38CA282-FEA7-47D8-B59C-D25ECBF37D49}"/>
                  </a:ext>
                </a:extLst>
              </p:cNvPr>
              <p:cNvSpPr>
                <a:spLocks noChangeShapeType="1"/>
              </p:cNvSpPr>
              <p:nvPr/>
            </p:nvSpPr>
            <p:spPr bwMode="auto">
              <a:xfrm flipV="1">
                <a:off x="977515" y="4009873"/>
                <a:ext cx="171528" cy="3175"/>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30" name="Line 131">
                <a:extLst>
                  <a:ext uri="{FF2B5EF4-FFF2-40B4-BE49-F238E27FC236}">
                    <a16:creationId xmlns:a16="http://schemas.microsoft.com/office/drawing/2014/main" id="{6DC5EF22-4580-4F03-AF78-3FAD4478CA13}"/>
                  </a:ext>
                </a:extLst>
              </p:cNvPr>
              <p:cNvSpPr>
                <a:spLocks noChangeShapeType="1"/>
              </p:cNvSpPr>
              <p:nvPr/>
            </p:nvSpPr>
            <p:spPr bwMode="auto">
              <a:xfrm>
                <a:off x="977515" y="3527325"/>
                <a:ext cx="193763"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31" name="Oval 166">
                <a:extLst>
                  <a:ext uri="{FF2B5EF4-FFF2-40B4-BE49-F238E27FC236}">
                    <a16:creationId xmlns:a16="http://schemas.microsoft.com/office/drawing/2014/main" id="{EFB5A7EF-E827-4E1E-A9E3-5920E4B59E5F}"/>
                  </a:ext>
                </a:extLst>
              </p:cNvPr>
              <p:cNvSpPr>
                <a:spLocks noChangeArrowheads="1"/>
              </p:cNvSpPr>
              <p:nvPr/>
            </p:nvSpPr>
            <p:spPr bwMode="auto">
              <a:xfrm>
                <a:off x="934634" y="3517801"/>
                <a:ext cx="20646" cy="19048"/>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32" name="Oval 167">
                <a:extLst>
                  <a:ext uri="{FF2B5EF4-FFF2-40B4-BE49-F238E27FC236}">
                    <a16:creationId xmlns:a16="http://schemas.microsoft.com/office/drawing/2014/main" id="{7D5B39D1-E625-4145-A738-CE09AA6787F7}"/>
                  </a:ext>
                </a:extLst>
              </p:cNvPr>
              <p:cNvSpPr>
                <a:spLocks noChangeArrowheads="1"/>
              </p:cNvSpPr>
              <p:nvPr/>
            </p:nvSpPr>
            <p:spPr bwMode="auto">
              <a:xfrm>
                <a:off x="934634" y="4001936"/>
                <a:ext cx="20646" cy="19048"/>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grpSp>
            <p:nvGrpSpPr>
              <p:cNvPr id="33" name="Group 521">
                <a:extLst>
                  <a:ext uri="{FF2B5EF4-FFF2-40B4-BE49-F238E27FC236}">
                    <a16:creationId xmlns:a16="http://schemas.microsoft.com/office/drawing/2014/main" id="{84BA8192-EBBF-4537-AEC1-EE13D6E26D84}"/>
                  </a:ext>
                </a:extLst>
              </p:cNvPr>
              <p:cNvGrpSpPr>
                <a:grpSpLocks/>
              </p:cNvGrpSpPr>
              <p:nvPr/>
            </p:nvGrpSpPr>
            <p:grpSpPr bwMode="auto">
              <a:xfrm>
                <a:off x="597931" y="2613025"/>
                <a:ext cx="1837570" cy="3115923"/>
                <a:chOff x="597137" y="2613025"/>
                <a:chExt cx="1837570" cy="3115923"/>
              </a:xfrm>
            </p:grpSpPr>
            <p:sp>
              <p:nvSpPr>
                <p:cNvPr id="34" name="Oval 172">
                  <a:extLst>
                    <a:ext uri="{FF2B5EF4-FFF2-40B4-BE49-F238E27FC236}">
                      <a16:creationId xmlns:a16="http://schemas.microsoft.com/office/drawing/2014/main" id="{B685D7E3-6CAA-4D3A-86EB-DEF422FD9C20}"/>
                    </a:ext>
                  </a:extLst>
                </p:cNvPr>
                <p:cNvSpPr>
                  <a:spLocks noChangeArrowheads="1"/>
                </p:cNvSpPr>
                <p:nvPr/>
              </p:nvSpPr>
              <p:spPr bwMode="auto">
                <a:xfrm>
                  <a:off x="935427" y="2613025"/>
                  <a:ext cx="20647" cy="19048"/>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35" name="Line 124">
                  <a:extLst>
                    <a:ext uri="{FF2B5EF4-FFF2-40B4-BE49-F238E27FC236}">
                      <a16:creationId xmlns:a16="http://schemas.microsoft.com/office/drawing/2014/main" id="{7EDB5119-5712-481F-83FF-E6EBBFA9F2B0}"/>
                    </a:ext>
                  </a:extLst>
                </p:cNvPr>
                <p:cNvSpPr>
                  <a:spLocks noChangeShapeType="1"/>
                </p:cNvSpPr>
                <p:nvPr/>
              </p:nvSpPr>
              <p:spPr bwMode="auto">
                <a:xfrm>
                  <a:off x="944957" y="2616200"/>
                  <a:ext cx="0" cy="1417483"/>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36" name="Rectangle 125">
                  <a:extLst>
                    <a:ext uri="{FF2B5EF4-FFF2-40B4-BE49-F238E27FC236}">
                      <a16:creationId xmlns:a16="http://schemas.microsoft.com/office/drawing/2014/main" id="{22E99DA9-9D6C-45F6-93EC-87F93CEC351F}"/>
                    </a:ext>
                  </a:extLst>
                </p:cNvPr>
                <p:cNvSpPr>
                  <a:spLocks noChangeArrowheads="1"/>
                </p:cNvSpPr>
                <p:nvPr/>
              </p:nvSpPr>
              <p:spPr bwMode="auto">
                <a:xfrm>
                  <a:off x="1291189" y="2906681"/>
                  <a:ext cx="525701" cy="257147"/>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a:pPr>
                  <a:r>
                    <a:rPr lang="de-DE" sz="1100" b="1" kern="0">
                      <a:solidFill>
                        <a:sysClr val="windowText" lastClr="000000"/>
                      </a:solidFill>
                    </a:rPr>
                    <a:t>X.X.0</a:t>
                  </a:r>
                </a:p>
              </p:txBody>
            </p:sp>
            <p:sp>
              <p:nvSpPr>
                <p:cNvPr id="37" name="Rectangle 126">
                  <a:extLst>
                    <a:ext uri="{FF2B5EF4-FFF2-40B4-BE49-F238E27FC236}">
                      <a16:creationId xmlns:a16="http://schemas.microsoft.com/office/drawing/2014/main" id="{2CE74DA0-B0A9-4298-B74E-0C989C7E78FD}"/>
                    </a:ext>
                  </a:extLst>
                </p:cNvPr>
                <p:cNvSpPr>
                  <a:spLocks noChangeArrowheads="1"/>
                </p:cNvSpPr>
                <p:nvPr/>
              </p:nvSpPr>
              <p:spPr bwMode="auto">
                <a:xfrm>
                  <a:off x="1823243" y="3387640"/>
                  <a:ext cx="527289" cy="258735"/>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a:pPr>
                  <a:r>
                    <a:rPr lang="de-DE" sz="1100" b="1" kern="0">
                      <a:solidFill>
                        <a:sysClr val="windowText" lastClr="000000"/>
                      </a:solidFill>
                    </a:rPr>
                    <a:t>X.X.1</a:t>
                  </a:r>
                </a:p>
              </p:txBody>
            </p:sp>
            <p:sp>
              <p:nvSpPr>
                <p:cNvPr id="38" name="Rectangle 127">
                  <a:extLst>
                    <a:ext uri="{FF2B5EF4-FFF2-40B4-BE49-F238E27FC236}">
                      <a16:creationId xmlns:a16="http://schemas.microsoft.com/office/drawing/2014/main" id="{9D1BF02C-458E-4774-B2E5-F90F9F6AC071}"/>
                    </a:ext>
                  </a:extLst>
                </p:cNvPr>
                <p:cNvSpPr>
                  <a:spLocks noChangeArrowheads="1"/>
                </p:cNvSpPr>
                <p:nvPr/>
              </p:nvSpPr>
              <p:spPr bwMode="auto">
                <a:xfrm>
                  <a:off x="1828007" y="3871776"/>
                  <a:ext cx="606700" cy="258734"/>
                </a:xfrm>
                <a:prstGeom prst="rect">
                  <a:avLst/>
                </a:prstGeom>
                <a:noFill/>
                <a:ln w="12700">
                  <a:noFill/>
                  <a:miter lim="800000"/>
                  <a:headEnd/>
                  <a:tailEnd/>
                </a:ln>
              </p:spPr>
              <p:txBody>
                <a:bodyPr wrap="none" lIns="90488" tIns="44450" rIns="90488" bIns="44450">
                  <a:spAutoFit/>
                </a:bodyPr>
                <a:lstStyle/>
                <a:p>
                  <a:pPr defTabSz="762000" fontAlgn="auto">
                    <a:spcBef>
                      <a:spcPts val="0"/>
                    </a:spcBef>
                    <a:spcAft>
                      <a:spcPts val="0"/>
                    </a:spcAft>
                    <a:defRPr/>
                  </a:pPr>
                  <a:r>
                    <a:rPr lang="de-DE" sz="1100" b="1" kern="0">
                      <a:solidFill>
                        <a:sysClr val="windowText" lastClr="000000"/>
                      </a:solidFill>
                    </a:rPr>
                    <a:t>X.X.63</a:t>
                  </a:r>
                </a:p>
              </p:txBody>
            </p:sp>
            <p:sp>
              <p:nvSpPr>
                <p:cNvPr id="39" name="Freeform 141">
                  <a:extLst>
                    <a:ext uri="{FF2B5EF4-FFF2-40B4-BE49-F238E27FC236}">
                      <a16:creationId xmlns:a16="http://schemas.microsoft.com/office/drawing/2014/main" id="{35DEF038-AA50-4DA1-A58C-7E54C735F53B}"/>
                    </a:ext>
                  </a:extLst>
                </p:cNvPr>
                <p:cNvSpPr>
                  <a:spLocks/>
                </p:cNvSpPr>
                <p:nvPr/>
              </p:nvSpPr>
              <p:spPr bwMode="auto">
                <a:xfrm>
                  <a:off x="622549" y="2840013"/>
                  <a:ext cx="684522" cy="436514"/>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40" name="Freeform 142">
                  <a:extLst>
                    <a:ext uri="{FF2B5EF4-FFF2-40B4-BE49-F238E27FC236}">
                      <a16:creationId xmlns:a16="http://schemas.microsoft.com/office/drawing/2014/main" id="{B61D3898-8A4C-4C6E-8251-35E314FC78FC}"/>
                    </a:ext>
                  </a:extLst>
                </p:cNvPr>
                <p:cNvSpPr>
                  <a:spLocks/>
                </p:cNvSpPr>
                <p:nvPr/>
              </p:nvSpPr>
              <p:spPr bwMode="auto">
                <a:xfrm>
                  <a:off x="597137" y="2820965"/>
                  <a:ext cx="678169" cy="433340"/>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0C4B9D"/>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41" name="Rectangle 143">
                  <a:extLst>
                    <a:ext uri="{FF2B5EF4-FFF2-40B4-BE49-F238E27FC236}">
                      <a16:creationId xmlns:a16="http://schemas.microsoft.com/office/drawing/2014/main" id="{08118D0B-C7F9-4AB2-8466-710D463DA770}"/>
                    </a:ext>
                  </a:extLst>
                </p:cNvPr>
                <p:cNvSpPr>
                  <a:spLocks noChangeArrowheads="1"/>
                </p:cNvSpPr>
                <p:nvPr/>
              </p:nvSpPr>
              <p:spPr bwMode="auto">
                <a:xfrm>
                  <a:off x="740592" y="2896923"/>
                  <a:ext cx="372067" cy="259017"/>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LC</a:t>
                  </a:r>
                </a:p>
              </p:txBody>
            </p:sp>
            <p:sp>
              <p:nvSpPr>
                <p:cNvPr id="42" name="Freeform 149">
                  <a:extLst>
                    <a:ext uri="{FF2B5EF4-FFF2-40B4-BE49-F238E27FC236}">
                      <a16:creationId xmlns:a16="http://schemas.microsoft.com/office/drawing/2014/main" id="{5CBBBF1D-02E1-4AE4-9E57-819687A04443}"/>
                    </a:ext>
                  </a:extLst>
                </p:cNvPr>
                <p:cNvSpPr>
                  <a:spLocks/>
                </p:cNvSpPr>
                <p:nvPr/>
              </p:nvSpPr>
              <p:spPr bwMode="auto">
                <a:xfrm>
                  <a:off x="1157778" y="3317798"/>
                  <a:ext cx="682935" cy="434928"/>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43" name="Freeform 150">
                  <a:extLst>
                    <a:ext uri="{FF2B5EF4-FFF2-40B4-BE49-F238E27FC236}">
                      <a16:creationId xmlns:a16="http://schemas.microsoft.com/office/drawing/2014/main" id="{EA52055E-2766-41D1-83B1-D244DB9B71BF}"/>
                    </a:ext>
                  </a:extLst>
                </p:cNvPr>
                <p:cNvSpPr>
                  <a:spLocks/>
                </p:cNvSpPr>
                <p:nvPr/>
              </p:nvSpPr>
              <p:spPr bwMode="auto">
                <a:xfrm>
                  <a:off x="1130779" y="3303513"/>
                  <a:ext cx="681346" cy="430165"/>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44" name="Rectangle 151">
                  <a:extLst>
                    <a:ext uri="{FF2B5EF4-FFF2-40B4-BE49-F238E27FC236}">
                      <a16:creationId xmlns:a16="http://schemas.microsoft.com/office/drawing/2014/main" id="{2107E702-DA19-453E-B237-7D7A0247930F}"/>
                    </a:ext>
                  </a:extLst>
                </p:cNvPr>
                <p:cNvSpPr>
                  <a:spLocks noChangeArrowheads="1"/>
                </p:cNvSpPr>
                <p:nvPr/>
              </p:nvSpPr>
              <p:spPr bwMode="auto">
                <a:xfrm>
                  <a:off x="1193420" y="3378465"/>
                  <a:ext cx="561306" cy="259017"/>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DVC1</a:t>
                  </a:r>
                </a:p>
              </p:txBody>
            </p:sp>
            <p:sp>
              <p:nvSpPr>
                <p:cNvPr id="45" name="Freeform 153">
                  <a:extLst>
                    <a:ext uri="{FF2B5EF4-FFF2-40B4-BE49-F238E27FC236}">
                      <a16:creationId xmlns:a16="http://schemas.microsoft.com/office/drawing/2014/main" id="{53C00FDE-E9C8-4192-96C7-4C6242203383}"/>
                    </a:ext>
                  </a:extLst>
                </p:cNvPr>
                <p:cNvSpPr>
                  <a:spLocks/>
                </p:cNvSpPr>
                <p:nvPr/>
              </p:nvSpPr>
              <p:spPr bwMode="auto">
                <a:xfrm>
                  <a:off x="1160955" y="3803520"/>
                  <a:ext cx="681347" cy="433341"/>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46" name="Group 154">
                  <a:extLst>
                    <a:ext uri="{FF2B5EF4-FFF2-40B4-BE49-F238E27FC236}">
                      <a16:creationId xmlns:a16="http://schemas.microsoft.com/office/drawing/2014/main" id="{62BC212D-1C3E-4B3C-9A64-FC15715BC2BF}"/>
                    </a:ext>
                  </a:extLst>
                </p:cNvPr>
                <p:cNvGrpSpPr>
                  <a:grpSpLocks/>
                </p:cNvGrpSpPr>
                <p:nvPr/>
              </p:nvGrpSpPr>
              <p:grpSpPr bwMode="auto">
                <a:xfrm>
                  <a:off x="1130518" y="3789363"/>
                  <a:ext cx="698662" cy="425658"/>
                  <a:chOff x="906" y="2139"/>
                  <a:chExt cx="545" cy="348"/>
                </a:xfrm>
              </p:grpSpPr>
              <p:sp>
                <p:nvSpPr>
                  <p:cNvPr id="48" name="Freeform 155">
                    <a:extLst>
                      <a:ext uri="{FF2B5EF4-FFF2-40B4-BE49-F238E27FC236}">
                        <a16:creationId xmlns:a16="http://schemas.microsoft.com/office/drawing/2014/main" id="{B460B53E-EAB7-4332-B4FF-08E8A4EDB7B7}"/>
                      </a:ext>
                    </a:extLst>
                  </p:cNvPr>
                  <p:cNvSpPr>
                    <a:spLocks/>
                  </p:cNvSpPr>
                  <p:nvPr/>
                </p:nvSpPr>
                <p:spPr bwMode="auto">
                  <a:xfrm>
                    <a:off x="906" y="2139"/>
                    <a:ext cx="527" cy="348"/>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49" name="Rectangle 156">
                    <a:extLst>
                      <a:ext uri="{FF2B5EF4-FFF2-40B4-BE49-F238E27FC236}">
                        <a16:creationId xmlns:a16="http://schemas.microsoft.com/office/drawing/2014/main" id="{05DCEBE0-ED79-4C2E-A1AB-2C299D1E04A8}"/>
                      </a:ext>
                    </a:extLst>
                  </p:cNvPr>
                  <p:cNvSpPr>
                    <a:spLocks noChangeArrowheads="1"/>
                  </p:cNvSpPr>
                  <p:nvPr/>
                </p:nvSpPr>
                <p:spPr bwMode="auto">
                  <a:xfrm>
                    <a:off x="952" y="2207"/>
                    <a:ext cx="499" cy="212"/>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DVC63</a:t>
                    </a:r>
                  </a:p>
                </p:txBody>
              </p:sp>
            </p:grpSp>
            <p:sp>
              <p:nvSpPr>
                <p:cNvPr id="47" name="Line 251">
                  <a:extLst>
                    <a:ext uri="{FF2B5EF4-FFF2-40B4-BE49-F238E27FC236}">
                      <a16:creationId xmlns:a16="http://schemas.microsoft.com/office/drawing/2014/main" id="{BE869B48-DEB1-4E4F-9793-D1A4F0A7D524}"/>
                    </a:ext>
                  </a:extLst>
                </p:cNvPr>
                <p:cNvSpPr>
                  <a:spLocks noChangeShapeType="1"/>
                </p:cNvSpPr>
                <p:nvPr/>
              </p:nvSpPr>
              <p:spPr bwMode="auto">
                <a:xfrm>
                  <a:off x="946545" y="4017810"/>
                  <a:ext cx="0" cy="1711138"/>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grpSp>
        </p:grpSp>
      </p:grpSp>
      <p:grpSp>
        <p:nvGrpSpPr>
          <p:cNvPr id="50" name="Group 49">
            <a:extLst>
              <a:ext uri="{FF2B5EF4-FFF2-40B4-BE49-F238E27FC236}">
                <a16:creationId xmlns:a16="http://schemas.microsoft.com/office/drawing/2014/main" id="{EAE1F692-4055-45B8-8436-028192461529}"/>
              </a:ext>
            </a:extLst>
          </p:cNvPr>
          <p:cNvGrpSpPr>
            <a:grpSpLocks/>
          </p:cNvGrpSpPr>
          <p:nvPr/>
        </p:nvGrpSpPr>
        <p:grpSpPr bwMode="auto">
          <a:xfrm>
            <a:off x="4449049" y="2620963"/>
            <a:ext cx="1231900" cy="1722437"/>
            <a:chOff x="4944882" y="2606807"/>
            <a:chExt cx="1231857" cy="1722150"/>
          </a:xfrm>
        </p:grpSpPr>
        <p:sp>
          <p:nvSpPr>
            <p:cNvPr id="51" name="Oval 108">
              <a:extLst>
                <a:ext uri="{FF2B5EF4-FFF2-40B4-BE49-F238E27FC236}">
                  <a16:creationId xmlns:a16="http://schemas.microsoft.com/office/drawing/2014/main" id="{9EBBD433-A1A9-4DB6-9400-AC6D0A8F3FA0}"/>
                </a:ext>
              </a:extLst>
            </p:cNvPr>
            <p:cNvSpPr>
              <a:spLocks noChangeArrowheads="1"/>
            </p:cNvSpPr>
            <p:nvPr/>
          </p:nvSpPr>
          <p:spPr bwMode="auto">
            <a:xfrm>
              <a:off x="5971959" y="2614743"/>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52" name="Line 93">
              <a:extLst>
                <a:ext uri="{FF2B5EF4-FFF2-40B4-BE49-F238E27FC236}">
                  <a16:creationId xmlns:a16="http://schemas.microsoft.com/office/drawing/2014/main" id="{DA824790-1C8B-4E75-8D6F-D58CBDF73A03}"/>
                </a:ext>
              </a:extLst>
            </p:cNvPr>
            <p:cNvSpPr>
              <a:spLocks noChangeShapeType="1"/>
            </p:cNvSpPr>
            <p:nvPr/>
          </p:nvSpPr>
          <p:spPr bwMode="auto">
            <a:xfrm>
              <a:off x="5262371" y="3527404"/>
              <a:ext cx="184144"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53" name="Line 94">
              <a:extLst>
                <a:ext uri="{FF2B5EF4-FFF2-40B4-BE49-F238E27FC236}">
                  <a16:creationId xmlns:a16="http://schemas.microsoft.com/office/drawing/2014/main" id="{B21107D8-A988-492B-930D-BEA6A3077A95}"/>
                </a:ext>
              </a:extLst>
            </p:cNvPr>
            <p:cNvSpPr>
              <a:spLocks noChangeShapeType="1"/>
            </p:cNvSpPr>
            <p:nvPr/>
          </p:nvSpPr>
          <p:spPr bwMode="auto">
            <a:xfrm>
              <a:off x="5248084" y="4089285"/>
              <a:ext cx="188905"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54" name="Oval 110">
              <a:extLst>
                <a:ext uri="{FF2B5EF4-FFF2-40B4-BE49-F238E27FC236}">
                  <a16:creationId xmlns:a16="http://schemas.microsoft.com/office/drawing/2014/main" id="{6D45259F-A3E1-4467-B51D-AC09A6568A41}"/>
                </a:ext>
              </a:extLst>
            </p:cNvPr>
            <p:cNvSpPr>
              <a:spLocks noChangeArrowheads="1"/>
            </p:cNvSpPr>
            <p:nvPr/>
          </p:nvSpPr>
          <p:spPr bwMode="auto">
            <a:xfrm>
              <a:off x="5262371" y="2606807"/>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55" name="Line 92">
              <a:extLst>
                <a:ext uri="{FF2B5EF4-FFF2-40B4-BE49-F238E27FC236}">
                  <a16:creationId xmlns:a16="http://schemas.microsoft.com/office/drawing/2014/main" id="{39EF166C-64D1-49DD-931E-C0160CB4925A}"/>
                </a:ext>
              </a:extLst>
            </p:cNvPr>
            <p:cNvSpPr>
              <a:spLocks noChangeShapeType="1"/>
            </p:cNvSpPr>
            <p:nvPr/>
          </p:nvSpPr>
          <p:spPr bwMode="auto">
            <a:xfrm>
              <a:off x="5273484" y="2614743"/>
              <a:ext cx="3175" cy="1504699"/>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56" name="Freeform 97">
              <a:extLst>
                <a:ext uri="{FF2B5EF4-FFF2-40B4-BE49-F238E27FC236}">
                  <a16:creationId xmlns:a16="http://schemas.microsoft.com/office/drawing/2014/main" id="{425C6426-59C3-47DF-A941-433093A7112B}"/>
                </a:ext>
              </a:extLst>
            </p:cNvPr>
            <p:cNvSpPr>
              <a:spLocks/>
            </p:cNvSpPr>
            <p:nvPr/>
          </p:nvSpPr>
          <p:spPr bwMode="auto">
            <a:xfrm>
              <a:off x="4970281" y="2832194"/>
              <a:ext cx="684189" cy="436489"/>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57" name="Freeform 98">
              <a:extLst>
                <a:ext uri="{FF2B5EF4-FFF2-40B4-BE49-F238E27FC236}">
                  <a16:creationId xmlns:a16="http://schemas.microsoft.com/office/drawing/2014/main" id="{FA457019-A7FA-4E39-9E34-C6D2AC36D0CC}"/>
                </a:ext>
              </a:extLst>
            </p:cNvPr>
            <p:cNvSpPr>
              <a:spLocks/>
            </p:cNvSpPr>
            <p:nvPr/>
          </p:nvSpPr>
          <p:spPr bwMode="auto">
            <a:xfrm>
              <a:off x="4944882" y="2813148"/>
              <a:ext cx="679426" cy="433315"/>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0C4B9D"/>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58" name="Rectangle 99">
              <a:extLst>
                <a:ext uri="{FF2B5EF4-FFF2-40B4-BE49-F238E27FC236}">
                  <a16:creationId xmlns:a16="http://schemas.microsoft.com/office/drawing/2014/main" id="{F4F6D6C2-DF63-43B4-9A61-B296223CF462}"/>
                </a:ext>
              </a:extLst>
            </p:cNvPr>
            <p:cNvSpPr>
              <a:spLocks noChangeArrowheads="1"/>
            </p:cNvSpPr>
            <p:nvPr/>
          </p:nvSpPr>
          <p:spPr bwMode="auto">
            <a:xfrm>
              <a:off x="5088336" y="2889117"/>
              <a:ext cx="371885" cy="259002"/>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LC</a:t>
              </a:r>
            </a:p>
          </p:txBody>
        </p:sp>
        <p:grpSp>
          <p:nvGrpSpPr>
            <p:cNvPr id="59" name="Group 111">
              <a:extLst>
                <a:ext uri="{FF2B5EF4-FFF2-40B4-BE49-F238E27FC236}">
                  <a16:creationId xmlns:a16="http://schemas.microsoft.com/office/drawing/2014/main" id="{9EFD5806-3650-4B4B-96AD-2DB689CF569B}"/>
                </a:ext>
              </a:extLst>
            </p:cNvPr>
            <p:cNvGrpSpPr>
              <a:grpSpLocks/>
            </p:cNvGrpSpPr>
            <p:nvPr/>
          </p:nvGrpSpPr>
          <p:grpSpPr bwMode="auto">
            <a:xfrm>
              <a:off x="5465564" y="3295782"/>
              <a:ext cx="711175" cy="449262"/>
              <a:chOff x="3655" y="1743"/>
              <a:chExt cx="554" cy="366"/>
            </a:xfrm>
          </p:grpSpPr>
          <p:sp>
            <p:nvSpPr>
              <p:cNvPr id="67" name="Freeform 112">
                <a:extLst>
                  <a:ext uri="{FF2B5EF4-FFF2-40B4-BE49-F238E27FC236}">
                    <a16:creationId xmlns:a16="http://schemas.microsoft.com/office/drawing/2014/main" id="{3C20F827-ED85-4D4E-8561-89CA15F8999D}"/>
                  </a:ext>
                </a:extLst>
              </p:cNvPr>
              <p:cNvSpPr>
                <a:spLocks/>
              </p:cNvSpPr>
              <p:nvPr/>
            </p:nvSpPr>
            <p:spPr bwMode="auto">
              <a:xfrm>
                <a:off x="3676" y="1755"/>
                <a:ext cx="533"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68" name="Freeform 113">
                <a:extLst>
                  <a:ext uri="{FF2B5EF4-FFF2-40B4-BE49-F238E27FC236}">
                    <a16:creationId xmlns:a16="http://schemas.microsoft.com/office/drawing/2014/main" id="{8083BA96-1EE9-42AD-9EDB-C6161B79F301}"/>
                  </a:ext>
                </a:extLst>
              </p:cNvPr>
              <p:cNvSpPr>
                <a:spLocks/>
              </p:cNvSpPr>
              <p:nvPr/>
            </p:nvSpPr>
            <p:spPr bwMode="auto">
              <a:xfrm>
                <a:off x="3655" y="1743"/>
                <a:ext cx="531" cy="350"/>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69" name="Rectangle 114">
                <a:extLst>
                  <a:ext uri="{FF2B5EF4-FFF2-40B4-BE49-F238E27FC236}">
                    <a16:creationId xmlns:a16="http://schemas.microsoft.com/office/drawing/2014/main" id="{2E84E71F-E4F4-43D8-B209-3C98A1B8941C}"/>
                  </a:ext>
                </a:extLst>
              </p:cNvPr>
              <p:cNvSpPr>
                <a:spLocks noChangeArrowheads="1"/>
              </p:cNvSpPr>
              <p:nvPr/>
            </p:nvSpPr>
            <p:spPr bwMode="auto">
              <a:xfrm>
                <a:off x="3702" y="1804"/>
                <a:ext cx="437"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DVC1</a:t>
                </a:r>
              </a:p>
            </p:txBody>
          </p:sp>
        </p:grpSp>
        <p:grpSp>
          <p:nvGrpSpPr>
            <p:cNvPr id="60" name="Group 115">
              <a:extLst>
                <a:ext uri="{FF2B5EF4-FFF2-40B4-BE49-F238E27FC236}">
                  <a16:creationId xmlns:a16="http://schemas.microsoft.com/office/drawing/2014/main" id="{A1269E46-4687-40F6-8E5B-6FB96080CBC1}"/>
                </a:ext>
              </a:extLst>
            </p:cNvPr>
            <p:cNvGrpSpPr>
              <a:grpSpLocks/>
            </p:cNvGrpSpPr>
            <p:nvPr/>
          </p:nvGrpSpPr>
          <p:grpSpPr bwMode="auto">
            <a:xfrm>
              <a:off x="5459780" y="3881282"/>
              <a:ext cx="712762" cy="447675"/>
              <a:chOff x="3660" y="3417"/>
              <a:chExt cx="556" cy="366"/>
            </a:xfrm>
          </p:grpSpPr>
          <p:sp>
            <p:nvSpPr>
              <p:cNvPr id="63" name="Freeform 116">
                <a:extLst>
                  <a:ext uri="{FF2B5EF4-FFF2-40B4-BE49-F238E27FC236}">
                    <a16:creationId xmlns:a16="http://schemas.microsoft.com/office/drawing/2014/main" id="{F3644342-381C-4B8C-9432-6B2DDE0A9A91}"/>
                  </a:ext>
                </a:extLst>
              </p:cNvPr>
              <p:cNvSpPr>
                <a:spLocks/>
              </p:cNvSpPr>
              <p:nvPr/>
            </p:nvSpPr>
            <p:spPr bwMode="auto">
              <a:xfrm>
                <a:off x="3683" y="3429"/>
                <a:ext cx="530"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64" name="Group 117">
                <a:extLst>
                  <a:ext uri="{FF2B5EF4-FFF2-40B4-BE49-F238E27FC236}">
                    <a16:creationId xmlns:a16="http://schemas.microsoft.com/office/drawing/2014/main" id="{3CA8B6E3-75D6-48C3-9959-9582FFC13DB7}"/>
                  </a:ext>
                </a:extLst>
              </p:cNvPr>
              <p:cNvGrpSpPr>
                <a:grpSpLocks/>
              </p:cNvGrpSpPr>
              <p:nvPr/>
            </p:nvGrpSpPr>
            <p:grpSpPr bwMode="auto">
              <a:xfrm>
                <a:off x="3660" y="3417"/>
                <a:ext cx="531" cy="348"/>
                <a:chOff x="3660" y="3417"/>
                <a:chExt cx="531" cy="348"/>
              </a:xfrm>
            </p:grpSpPr>
            <p:sp>
              <p:nvSpPr>
                <p:cNvPr id="65" name="Freeform 118">
                  <a:extLst>
                    <a:ext uri="{FF2B5EF4-FFF2-40B4-BE49-F238E27FC236}">
                      <a16:creationId xmlns:a16="http://schemas.microsoft.com/office/drawing/2014/main" id="{717EC0A7-C741-4572-9C4F-5E9EEB24D4A8}"/>
                    </a:ext>
                  </a:extLst>
                </p:cNvPr>
                <p:cNvSpPr>
                  <a:spLocks/>
                </p:cNvSpPr>
                <p:nvPr/>
              </p:nvSpPr>
              <p:spPr bwMode="auto">
                <a:xfrm>
                  <a:off x="3660" y="3417"/>
                  <a:ext cx="531" cy="348"/>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66" name="Rectangle 119">
                  <a:extLst>
                    <a:ext uri="{FF2B5EF4-FFF2-40B4-BE49-F238E27FC236}">
                      <a16:creationId xmlns:a16="http://schemas.microsoft.com/office/drawing/2014/main" id="{38EC5682-4A49-4FB4-9198-EE6862D831C8}"/>
                    </a:ext>
                  </a:extLst>
                </p:cNvPr>
                <p:cNvSpPr>
                  <a:spLocks noChangeArrowheads="1"/>
                </p:cNvSpPr>
                <p:nvPr/>
              </p:nvSpPr>
              <p:spPr bwMode="auto">
                <a:xfrm>
                  <a:off x="3669" y="3485"/>
                  <a:ext cx="499" cy="212"/>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DVC63</a:t>
                  </a:r>
                </a:p>
              </p:txBody>
            </p:sp>
          </p:grpSp>
        </p:grpSp>
        <p:sp>
          <p:nvSpPr>
            <p:cNvPr id="61" name="Oval 121">
              <a:extLst>
                <a:ext uri="{FF2B5EF4-FFF2-40B4-BE49-F238E27FC236}">
                  <a16:creationId xmlns:a16="http://schemas.microsoft.com/office/drawing/2014/main" id="{536CC8F8-3C93-48E6-B03D-7797DD36B2F7}"/>
                </a:ext>
              </a:extLst>
            </p:cNvPr>
            <p:cNvSpPr>
              <a:spLocks noChangeArrowheads="1"/>
            </p:cNvSpPr>
            <p:nvPr/>
          </p:nvSpPr>
          <p:spPr bwMode="auto">
            <a:xfrm>
              <a:off x="5263959" y="3517880"/>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62" name="Oval 121">
              <a:extLst>
                <a:ext uri="{FF2B5EF4-FFF2-40B4-BE49-F238E27FC236}">
                  <a16:creationId xmlns:a16="http://schemas.microsoft.com/office/drawing/2014/main" id="{CF9EEC75-B688-403E-8A5D-0F0B1AAC783D}"/>
                </a:ext>
              </a:extLst>
            </p:cNvPr>
            <p:cNvSpPr>
              <a:spLocks noChangeArrowheads="1"/>
            </p:cNvSpPr>
            <p:nvPr/>
          </p:nvSpPr>
          <p:spPr bwMode="auto">
            <a:xfrm>
              <a:off x="5256021" y="4089285"/>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grpSp>
      <p:grpSp>
        <p:nvGrpSpPr>
          <p:cNvPr id="70" name="Group 69">
            <a:extLst>
              <a:ext uri="{FF2B5EF4-FFF2-40B4-BE49-F238E27FC236}">
                <a16:creationId xmlns:a16="http://schemas.microsoft.com/office/drawing/2014/main" id="{8B854EB7-4E31-4781-9964-0022ED8C2DFB}"/>
              </a:ext>
            </a:extLst>
          </p:cNvPr>
          <p:cNvGrpSpPr>
            <a:grpSpLocks/>
          </p:cNvGrpSpPr>
          <p:nvPr/>
        </p:nvGrpSpPr>
        <p:grpSpPr bwMode="auto">
          <a:xfrm>
            <a:off x="2221787" y="2636838"/>
            <a:ext cx="1231900" cy="1722437"/>
            <a:chOff x="4944882" y="2606807"/>
            <a:chExt cx="1231857" cy="1722150"/>
          </a:xfrm>
        </p:grpSpPr>
        <p:sp>
          <p:nvSpPr>
            <p:cNvPr id="71" name="Line 93">
              <a:extLst>
                <a:ext uri="{FF2B5EF4-FFF2-40B4-BE49-F238E27FC236}">
                  <a16:creationId xmlns:a16="http://schemas.microsoft.com/office/drawing/2014/main" id="{90BC2BBA-FBBB-464C-9B98-99A994C09B25}"/>
                </a:ext>
              </a:extLst>
            </p:cNvPr>
            <p:cNvSpPr>
              <a:spLocks noChangeShapeType="1"/>
            </p:cNvSpPr>
            <p:nvPr/>
          </p:nvSpPr>
          <p:spPr bwMode="auto">
            <a:xfrm>
              <a:off x="5262371" y="3527404"/>
              <a:ext cx="184144"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72" name="Line 94">
              <a:extLst>
                <a:ext uri="{FF2B5EF4-FFF2-40B4-BE49-F238E27FC236}">
                  <a16:creationId xmlns:a16="http://schemas.microsoft.com/office/drawing/2014/main" id="{0C23F7F2-48DD-469A-B32C-D8868BBA4245}"/>
                </a:ext>
              </a:extLst>
            </p:cNvPr>
            <p:cNvSpPr>
              <a:spLocks noChangeShapeType="1"/>
            </p:cNvSpPr>
            <p:nvPr/>
          </p:nvSpPr>
          <p:spPr bwMode="auto">
            <a:xfrm>
              <a:off x="5248083" y="4089285"/>
              <a:ext cx="188906"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73" name="Oval 110">
              <a:extLst>
                <a:ext uri="{FF2B5EF4-FFF2-40B4-BE49-F238E27FC236}">
                  <a16:creationId xmlns:a16="http://schemas.microsoft.com/office/drawing/2014/main" id="{B049C198-106A-4B53-A604-373EA05BF580}"/>
                </a:ext>
              </a:extLst>
            </p:cNvPr>
            <p:cNvSpPr>
              <a:spLocks noChangeArrowheads="1"/>
            </p:cNvSpPr>
            <p:nvPr/>
          </p:nvSpPr>
          <p:spPr bwMode="auto">
            <a:xfrm>
              <a:off x="5262371" y="2606807"/>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74" name="Line 92">
              <a:extLst>
                <a:ext uri="{FF2B5EF4-FFF2-40B4-BE49-F238E27FC236}">
                  <a16:creationId xmlns:a16="http://schemas.microsoft.com/office/drawing/2014/main" id="{9972FD77-DD08-4CAF-97F6-22DBDEDD5096}"/>
                </a:ext>
              </a:extLst>
            </p:cNvPr>
            <p:cNvSpPr>
              <a:spLocks noChangeShapeType="1"/>
            </p:cNvSpPr>
            <p:nvPr/>
          </p:nvSpPr>
          <p:spPr bwMode="auto">
            <a:xfrm>
              <a:off x="5273483" y="2614743"/>
              <a:ext cx="3175" cy="1504699"/>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75" name="Freeform 97">
              <a:extLst>
                <a:ext uri="{FF2B5EF4-FFF2-40B4-BE49-F238E27FC236}">
                  <a16:creationId xmlns:a16="http://schemas.microsoft.com/office/drawing/2014/main" id="{76DE69F3-205E-41B5-B124-C62FA8D1028B}"/>
                </a:ext>
              </a:extLst>
            </p:cNvPr>
            <p:cNvSpPr>
              <a:spLocks/>
            </p:cNvSpPr>
            <p:nvPr/>
          </p:nvSpPr>
          <p:spPr bwMode="auto">
            <a:xfrm>
              <a:off x="4970281" y="2832194"/>
              <a:ext cx="684188" cy="436489"/>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76" name="Freeform 98">
              <a:extLst>
                <a:ext uri="{FF2B5EF4-FFF2-40B4-BE49-F238E27FC236}">
                  <a16:creationId xmlns:a16="http://schemas.microsoft.com/office/drawing/2014/main" id="{7123F7B1-CAD3-44EF-8A00-E7912DA9B891}"/>
                </a:ext>
              </a:extLst>
            </p:cNvPr>
            <p:cNvSpPr>
              <a:spLocks/>
            </p:cNvSpPr>
            <p:nvPr/>
          </p:nvSpPr>
          <p:spPr bwMode="auto">
            <a:xfrm>
              <a:off x="4944882" y="2813148"/>
              <a:ext cx="679426" cy="433315"/>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0C4B9D"/>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77" name="Rectangle 99">
              <a:extLst>
                <a:ext uri="{FF2B5EF4-FFF2-40B4-BE49-F238E27FC236}">
                  <a16:creationId xmlns:a16="http://schemas.microsoft.com/office/drawing/2014/main" id="{6D7D6989-78B9-449A-BA0F-917DDD6D0BE8}"/>
                </a:ext>
              </a:extLst>
            </p:cNvPr>
            <p:cNvSpPr>
              <a:spLocks noChangeArrowheads="1"/>
            </p:cNvSpPr>
            <p:nvPr/>
          </p:nvSpPr>
          <p:spPr bwMode="auto">
            <a:xfrm>
              <a:off x="5088336" y="2889117"/>
              <a:ext cx="371885" cy="259002"/>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LC</a:t>
              </a:r>
            </a:p>
          </p:txBody>
        </p:sp>
        <p:grpSp>
          <p:nvGrpSpPr>
            <p:cNvPr id="78" name="Group 111">
              <a:extLst>
                <a:ext uri="{FF2B5EF4-FFF2-40B4-BE49-F238E27FC236}">
                  <a16:creationId xmlns:a16="http://schemas.microsoft.com/office/drawing/2014/main" id="{02D2FA9F-BB43-4C61-9525-2A53B5DCD801}"/>
                </a:ext>
              </a:extLst>
            </p:cNvPr>
            <p:cNvGrpSpPr>
              <a:grpSpLocks/>
            </p:cNvGrpSpPr>
            <p:nvPr/>
          </p:nvGrpSpPr>
          <p:grpSpPr bwMode="auto">
            <a:xfrm>
              <a:off x="5465564" y="3295782"/>
              <a:ext cx="711175" cy="449262"/>
              <a:chOff x="3655" y="1743"/>
              <a:chExt cx="554" cy="366"/>
            </a:xfrm>
          </p:grpSpPr>
          <p:sp>
            <p:nvSpPr>
              <p:cNvPr id="86" name="Freeform 112">
                <a:extLst>
                  <a:ext uri="{FF2B5EF4-FFF2-40B4-BE49-F238E27FC236}">
                    <a16:creationId xmlns:a16="http://schemas.microsoft.com/office/drawing/2014/main" id="{B106352F-8757-48B8-B681-1CFC2A4B6457}"/>
                  </a:ext>
                </a:extLst>
              </p:cNvPr>
              <p:cNvSpPr>
                <a:spLocks/>
              </p:cNvSpPr>
              <p:nvPr/>
            </p:nvSpPr>
            <p:spPr bwMode="auto">
              <a:xfrm>
                <a:off x="3676" y="1755"/>
                <a:ext cx="533"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87" name="Freeform 113">
                <a:extLst>
                  <a:ext uri="{FF2B5EF4-FFF2-40B4-BE49-F238E27FC236}">
                    <a16:creationId xmlns:a16="http://schemas.microsoft.com/office/drawing/2014/main" id="{5BC887EC-CB2C-4A7A-8E9B-E9E9C2C90046}"/>
                  </a:ext>
                </a:extLst>
              </p:cNvPr>
              <p:cNvSpPr>
                <a:spLocks/>
              </p:cNvSpPr>
              <p:nvPr/>
            </p:nvSpPr>
            <p:spPr bwMode="auto">
              <a:xfrm>
                <a:off x="3655" y="1743"/>
                <a:ext cx="531" cy="350"/>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88" name="Rectangle 114">
                <a:extLst>
                  <a:ext uri="{FF2B5EF4-FFF2-40B4-BE49-F238E27FC236}">
                    <a16:creationId xmlns:a16="http://schemas.microsoft.com/office/drawing/2014/main" id="{D1B2054B-72BB-4264-8853-F1DBBC604600}"/>
                  </a:ext>
                </a:extLst>
              </p:cNvPr>
              <p:cNvSpPr>
                <a:spLocks noChangeArrowheads="1"/>
              </p:cNvSpPr>
              <p:nvPr/>
            </p:nvSpPr>
            <p:spPr bwMode="auto">
              <a:xfrm>
                <a:off x="3702" y="1804"/>
                <a:ext cx="437"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DVC1</a:t>
                </a:r>
              </a:p>
            </p:txBody>
          </p:sp>
        </p:grpSp>
        <p:grpSp>
          <p:nvGrpSpPr>
            <p:cNvPr id="79" name="Group 115">
              <a:extLst>
                <a:ext uri="{FF2B5EF4-FFF2-40B4-BE49-F238E27FC236}">
                  <a16:creationId xmlns:a16="http://schemas.microsoft.com/office/drawing/2014/main" id="{6912EF91-D4DA-4FB8-8B14-C33C8126B8E4}"/>
                </a:ext>
              </a:extLst>
            </p:cNvPr>
            <p:cNvGrpSpPr>
              <a:grpSpLocks/>
            </p:cNvGrpSpPr>
            <p:nvPr/>
          </p:nvGrpSpPr>
          <p:grpSpPr bwMode="auto">
            <a:xfrm>
              <a:off x="5459780" y="3881282"/>
              <a:ext cx="712762" cy="447675"/>
              <a:chOff x="3660" y="3417"/>
              <a:chExt cx="556" cy="366"/>
            </a:xfrm>
          </p:grpSpPr>
          <p:sp>
            <p:nvSpPr>
              <p:cNvPr id="82" name="Freeform 116">
                <a:extLst>
                  <a:ext uri="{FF2B5EF4-FFF2-40B4-BE49-F238E27FC236}">
                    <a16:creationId xmlns:a16="http://schemas.microsoft.com/office/drawing/2014/main" id="{6DD110FA-DB79-4661-B9B4-1CFD78AD8D7C}"/>
                  </a:ext>
                </a:extLst>
              </p:cNvPr>
              <p:cNvSpPr>
                <a:spLocks/>
              </p:cNvSpPr>
              <p:nvPr/>
            </p:nvSpPr>
            <p:spPr bwMode="auto">
              <a:xfrm>
                <a:off x="3683" y="3429"/>
                <a:ext cx="530" cy="354"/>
              </a:xfrm>
              <a:custGeom>
                <a:avLst/>
                <a:gdLst>
                  <a:gd name="T0" fmla="*/ 0 w 533"/>
                  <a:gd name="T1" fmla="*/ 0 h 354"/>
                  <a:gd name="T2" fmla="*/ 532 w 533"/>
                  <a:gd name="T3" fmla="*/ 0 h 354"/>
                  <a:gd name="T4" fmla="*/ 532 w 533"/>
                  <a:gd name="T5" fmla="*/ 353 h 354"/>
                  <a:gd name="T6" fmla="*/ 0 w 533"/>
                  <a:gd name="T7" fmla="*/ 353 h 354"/>
                  <a:gd name="T8" fmla="*/ 0 w 533"/>
                  <a:gd name="T9" fmla="*/ 0 h 354"/>
                  <a:gd name="T10" fmla="*/ 0 60000 65536"/>
                  <a:gd name="T11" fmla="*/ 0 60000 65536"/>
                  <a:gd name="T12" fmla="*/ 0 60000 65536"/>
                  <a:gd name="T13" fmla="*/ 0 60000 65536"/>
                  <a:gd name="T14" fmla="*/ 0 60000 65536"/>
                  <a:gd name="T15" fmla="*/ 0 w 533"/>
                  <a:gd name="T16" fmla="*/ 0 h 354"/>
                  <a:gd name="T17" fmla="*/ 533 w 533"/>
                  <a:gd name="T18" fmla="*/ 354 h 354"/>
                </a:gdLst>
                <a:ahLst/>
                <a:cxnLst>
                  <a:cxn ang="T10">
                    <a:pos x="T0" y="T1"/>
                  </a:cxn>
                  <a:cxn ang="T11">
                    <a:pos x="T2" y="T3"/>
                  </a:cxn>
                  <a:cxn ang="T12">
                    <a:pos x="T4" y="T5"/>
                  </a:cxn>
                  <a:cxn ang="T13">
                    <a:pos x="T6" y="T7"/>
                  </a:cxn>
                  <a:cxn ang="T14">
                    <a:pos x="T8" y="T9"/>
                  </a:cxn>
                </a:cxnLst>
                <a:rect l="T15" t="T16" r="T17" b="T18"/>
                <a:pathLst>
                  <a:path w="533" h="354">
                    <a:moveTo>
                      <a:pt x="0" y="0"/>
                    </a:moveTo>
                    <a:lnTo>
                      <a:pt x="532" y="0"/>
                    </a:lnTo>
                    <a:lnTo>
                      <a:pt x="532"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83" name="Group 117">
                <a:extLst>
                  <a:ext uri="{FF2B5EF4-FFF2-40B4-BE49-F238E27FC236}">
                    <a16:creationId xmlns:a16="http://schemas.microsoft.com/office/drawing/2014/main" id="{93512A47-5427-4045-A679-116929B5F83F}"/>
                  </a:ext>
                </a:extLst>
              </p:cNvPr>
              <p:cNvGrpSpPr>
                <a:grpSpLocks/>
              </p:cNvGrpSpPr>
              <p:nvPr/>
            </p:nvGrpSpPr>
            <p:grpSpPr bwMode="auto">
              <a:xfrm>
                <a:off x="3660" y="3417"/>
                <a:ext cx="531" cy="348"/>
                <a:chOff x="3660" y="3417"/>
                <a:chExt cx="531" cy="348"/>
              </a:xfrm>
            </p:grpSpPr>
            <p:sp>
              <p:nvSpPr>
                <p:cNvPr id="84" name="Freeform 118">
                  <a:extLst>
                    <a:ext uri="{FF2B5EF4-FFF2-40B4-BE49-F238E27FC236}">
                      <a16:creationId xmlns:a16="http://schemas.microsoft.com/office/drawing/2014/main" id="{FA51E57D-B266-4E89-970D-2EF1A9B43C39}"/>
                    </a:ext>
                  </a:extLst>
                </p:cNvPr>
                <p:cNvSpPr>
                  <a:spLocks/>
                </p:cNvSpPr>
                <p:nvPr/>
              </p:nvSpPr>
              <p:spPr bwMode="auto">
                <a:xfrm>
                  <a:off x="3660" y="3417"/>
                  <a:ext cx="531" cy="348"/>
                </a:xfrm>
                <a:custGeom>
                  <a:avLst/>
                  <a:gdLst>
                    <a:gd name="T0" fmla="*/ 0 w 531"/>
                    <a:gd name="T1" fmla="*/ 0 h 351"/>
                    <a:gd name="T2" fmla="*/ 0 w 531"/>
                    <a:gd name="T3" fmla="*/ 350 h 351"/>
                    <a:gd name="T4" fmla="*/ 530 w 531"/>
                    <a:gd name="T5" fmla="*/ 350 h 351"/>
                    <a:gd name="T6" fmla="*/ 530 w 531"/>
                    <a:gd name="T7" fmla="*/ 0 h 351"/>
                    <a:gd name="T8" fmla="*/ 0 w 531"/>
                    <a:gd name="T9" fmla="*/ 0 h 351"/>
                    <a:gd name="T10" fmla="*/ 0 60000 65536"/>
                    <a:gd name="T11" fmla="*/ 0 60000 65536"/>
                    <a:gd name="T12" fmla="*/ 0 60000 65536"/>
                    <a:gd name="T13" fmla="*/ 0 60000 65536"/>
                    <a:gd name="T14" fmla="*/ 0 60000 65536"/>
                    <a:gd name="T15" fmla="*/ 0 w 531"/>
                    <a:gd name="T16" fmla="*/ 0 h 351"/>
                    <a:gd name="T17" fmla="*/ 531 w 531"/>
                    <a:gd name="T18" fmla="*/ 351 h 351"/>
                  </a:gdLst>
                  <a:ahLst/>
                  <a:cxnLst>
                    <a:cxn ang="T10">
                      <a:pos x="T0" y="T1"/>
                    </a:cxn>
                    <a:cxn ang="T11">
                      <a:pos x="T2" y="T3"/>
                    </a:cxn>
                    <a:cxn ang="T12">
                      <a:pos x="T4" y="T5"/>
                    </a:cxn>
                    <a:cxn ang="T13">
                      <a:pos x="T6" y="T7"/>
                    </a:cxn>
                    <a:cxn ang="T14">
                      <a:pos x="T8" y="T9"/>
                    </a:cxn>
                  </a:cxnLst>
                  <a:rect l="T15" t="T16" r="T17" b="T18"/>
                  <a:pathLst>
                    <a:path w="531" h="351">
                      <a:moveTo>
                        <a:pt x="0" y="0"/>
                      </a:moveTo>
                      <a:lnTo>
                        <a:pt x="0" y="350"/>
                      </a:lnTo>
                      <a:lnTo>
                        <a:pt x="530" y="350"/>
                      </a:lnTo>
                      <a:lnTo>
                        <a:pt x="530"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85" name="Rectangle 119">
                  <a:extLst>
                    <a:ext uri="{FF2B5EF4-FFF2-40B4-BE49-F238E27FC236}">
                      <a16:creationId xmlns:a16="http://schemas.microsoft.com/office/drawing/2014/main" id="{5F6BDF51-F0B6-4A1C-9109-6B73E8EE0E3A}"/>
                    </a:ext>
                  </a:extLst>
                </p:cNvPr>
                <p:cNvSpPr>
                  <a:spLocks noChangeArrowheads="1"/>
                </p:cNvSpPr>
                <p:nvPr/>
              </p:nvSpPr>
              <p:spPr bwMode="auto">
                <a:xfrm>
                  <a:off x="3669" y="3485"/>
                  <a:ext cx="499" cy="212"/>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DVC63</a:t>
                  </a:r>
                </a:p>
              </p:txBody>
            </p:sp>
          </p:grpSp>
        </p:grpSp>
        <p:sp>
          <p:nvSpPr>
            <p:cNvPr id="80" name="Oval 121">
              <a:extLst>
                <a:ext uri="{FF2B5EF4-FFF2-40B4-BE49-F238E27FC236}">
                  <a16:creationId xmlns:a16="http://schemas.microsoft.com/office/drawing/2014/main" id="{B968A37B-A36F-4D5B-BE23-98452B81BB3E}"/>
                </a:ext>
              </a:extLst>
            </p:cNvPr>
            <p:cNvSpPr>
              <a:spLocks noChangeArrowheads="1"/>
            </p:cNvSpPr>
            <p:nvPr/>
          </p:nvSpPr>
          <p:spPr bwMode="auto">
            <a:xfrm>
              <a:off x="5263958" y="3517880"/>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81" name="Oval 121">
              <a:extLst>
                <a:ext uri="{FF2B5EF4-FFF2-40B4-BE49-F238E27FC236}">
                  <a16:creationId xmlns:a16="http://schemas.microsoft.com/office/drawing/2014/main" id="{6672FD3D-4199-448E-B0AE-5EA46105A129}"/>
                </a:ext>
              </a:extLst>
            </p:cNvPr>
            <p:cNvSpPr>
              <a:spLocks noChangeArrowheads="1"/>
            </p:cNvSpPr>
            <p:nvPr/>
          </p:nvSpPr>
          <p:spPr bwMode="auto">
            <a:xfrm>
              <a:off x="5256021" y="4089285"/>
              <a:ext cx="20636"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grpSp>
      <p:grpSp>
        <p:nvGrpSpPr>
          <p:cNvPr id="89" name="Group 88">
            <a:extLst>
              <a:ext uri="{FF2B5EF4-FFF2-40B4-BE49-F238E27FC236}">
                <a16:creationId xmlns:a16="http://schemas.microsoft.com/office/drawing/2014/main" id="{5F80F40B-3B5C-4E83-AE4C-A4C3C679B153}"/>
              </a:ext>
            </a:extLst>
          </p:cNvPr>
          <p:cNvGrpSpPr>
            <a:grpSpLocks/>
          </p:cNvGrpSpPr>
          <p:nvPr/>
        </p:nvGrpSpPr>
        <p:grpSpPr bwMode="auto">
          <a:xfrm>
            <a:off x="440612" y="4381500"/>
            <a:ext cx="4956175" cy="1612900"/>
            <a:chOff x="579917" y="4380868"/>
            <a:chExt cx="4955196" cy="1614174"/>
          </a:xfrm>
        </p:grpSpPr>
        <p:grpSp>
          <p:nvGrpSpPr>
            <p:cNvPr id="90" name="Group 2">
              <a:extLst>
                <a:ext uri="{FF2B5EF4-FFF2-40B4-BE49-F238E27FC236}">
                  <a16:creationId xmlns:a16="http://schemas.microsoft.com/office/drawing/2014/main" id="{65D25A31-17CD-4864-B3E8-A418912AD18C}"/>
                </a:ext>
              </a:extLst>
            </p:cNvPr>
            <p:cNvGrpSpPr>
              <a:grpSpLocks/>
            </p:cNvGrpSpPr>
            <p:nvPr/>
          </p:nvGrpSpPr>
          <p:grpSpPr bwMode="auto">
            <a:xfrm>
              <a:off x="579917" y="4380868"/>
              <a:ext cx="4955196" cy="1614174"/>
              <a:chOff x="597148" y="4364038"/>
              <a:chExt cx="4955196" cy="1614174"/>
            </a:xfrm>
          </p:grpSpPr>
          <p:sp>
            <p:nvSpPr>
              <p:cNvPr id="97" name="Oval 236">
                <a:extLst>
                  <a:ext uri="{FF2B5EF4-FFF2-40B4-BE49-F238E27FC236}">
                    <a16:creationId xmlns:a16="http://schemas.microsoft.com/office/drawing/2014/main" id="{7A984859-FF09-4E12-BA84-A50C62A6A00B}"/>
                  </a:ext>
                </a:extLst>
              </p:cNvPr>
              <p:cNvSpPr>
                <a:spLocks noChangeArrowheads="1"/>
              </p:cNvSpPr>
              <p:nvPr/>
            </p:nvSpPr>
            <p:spPr bwMode="auto">
              <a:xfrm>
                <a:off x="935286" y="4373837"/>
                <a:ext cx="20510" cy="19598"/>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grpSp>
            <p:nvGrpSpPr>
              <p:cNvPr id="98" name="Group 260">
                <a:extLst>
                  <a:ext uri="{FF2B5EF4-FFF2-40B4-BE49-F238E27FC236}">
                    <a16:creationId xmlns:a16="http://schemas.microsoft.com/office/drawing/2014/main" id="{EAC600BB-1CBB-4500-80AC-052FF6FC6869}"/>
                  </a:ext>
                </a:extLst>
              </p:cNvPr>
              <p:cNvGrpSpPr>
                <a:grpSpLocks/>
              </p:cNvGrpSpPr>
              <p:nvPr/>
            </p:nvGrpSpPr>
            <p:grpSpPr bwMode="auto">
              <a:xfrm>
                <a:off x="960202" y="4364038"/>
                <a:ext cx="3067535" cy="1603375"/>
                <a:chOff x="689" y="2609"/>
                <a:chExt cx="2393" cy="1309"/>
              </a:xfrm>
            </p:grpSpPr>
            <p:sp>
              <p:nvSpPr>
                <p:cNvPr id="146" name="Line 235">
                  <a:extLst>
                    <a:ext uri="{FF2B5EF4-FFF2-40B4-BE49-F238E27FC236}">
                      <a16:creationId xmlns:a16="http://schemas.microsoft.com/office/drawing/2014/main" id="{EDC135A0-9819-442D-8D27-0EB5A7A818AD}"/>
                    </a:ext>
                  </a:extLst>
                </p:cNvPr>
                <p:cNvSpPr>
                  <a:spLocks noChangeShapeType="1"/>
                </p:cNvSpPr>
                <p:nvPr/>
              </p:nvSpPr>
              <p:spPr bwMode="auto">
                <a:xfrm rot="5400000" flipH="1">
                  <a:off x="1305" y="2005"/>
                  <a:ext cx="4" cy="1236"/>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grpSp>
              <p:nvGrpSpPr>
                <p:cNvPr id="147" name="Group 239">
                  <a:extLst>
                    <a:ext uri="{FF2B5EF4-FFF2-40B4-BE49-F238E27FC236}">
                      <a16:creationId xmlns:a16="http://schemas.microsoft.com/office/drawing/2014/main" id="{82EC667E-2543-49F5-9D7A-3A71B9705C54}"/>
                    </a:ext>
                  </a:extLst>
                </p:cNvPr>
                <p:cNvGrpSpPr>
                  <a:grpSpLocks/>
                </p:cNvGrpSpPr>
                <p:nvPr/>
              </p:nvGrpSpPr>
              <p:grpSpPr bwMode="auto">
                <a:xfrm>
                  <a:off x="1653" y="2609"/>
                  <a:ext cx="1429" cy="1309"/>
                  <a:chOff x="1653" y="2609"/>
                  <a:chExt cx="1429" cy="1309"/>
                </a:xfrm>
              </p:grpSpPr>
              <p:grpSp>
                <p:nvGrpSpPr>
                  <p:cNvPr id="148" name="Group 212">
                    <a:extLst>
                      <a:ext uri="{FF2B5EF4-FFF2-40B4-BE49-F238E27FC236}">
                        <a16:creationId xmlns:a16="http://schemas.microsoft.com/office/drawing/2014/main" id="{34A9106C-CF73-4F21-86D5-108A4DF2D355}"/>
                      </a:ext>
                    </a:extLst>
                  </p:cNvPr>
                  <p:cNvGrpSpPr>
                    <a:grpSpLocks/>
                  </p:cNvGrpSpPr>
                  <p:nvPr/>
                </p:nvGrpSpPr>
                <p:grpSpPr bwMode="auto">
                  <a:xfrm>
                    <a:off x="1653" y="2619"/>
                    <a:ext cx="1429" cy="1299"/>
                    <a:chOff x="1560" y="2637"/>
                    <a:chExt cx="1429" cy="1299"/>
                  </a:xfrm>
                </p:grpSpPr>
                <p:sp>
                  <p:nvSpPr>
                    <p:cNvPr id="150" name="Line 210">
                      <a:extLst>
                        <a:ext uri="{FF2B5EF4-FFF2-40B4-BE49-F238E27FC236}">
                          <a16:creationId xmlns:a16="http://schemas.microsoft.com/office/drawing/2014/main" id="{F3B1451B-FC0E-4BAD-95AB-E84BA17029C5}"/>
                        </a:ext>
                      </a:extLst>
                    </p:cNvPr>
                    <p:cNvSpPr>
                      <a:spLocks noChangeShapeType="1"/>
                    </p:cNvSpPr>
                    <p:nvPr/>
                  </p:nvSpPr>
                  <p:spPr bwMode="auto">
                    <a:xfrm>
                      <a:off x="1827" y="2637"/>
                      <a:ext cx="0" cy="1134"/>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51" name="Rectangle 189">
                      <a:extLst>
                        <a:ext uri="{FF2B5EF4-FFF2-40B4-BE49-F238E27FC236}">
                          <a16:creationId xmlns:a16="http://schemas.microsoft.com/office/drawing/2014/main" id="{BB886A7C-19E8-4648-9C43-76BBB9A868A6}"/>
                        </a:ext>
                      </a:extLst>
                    </p:cNvPr>
                    <p:cNvSpPr>
                      <a:spLocks noChangeArrowheads="1"/>
                    </p:cNvSpPr>
                    <p:nvPr/>
                  </p:nvSpPr>
                  <p:spPr bwMode="auto">
                    <a:xfrm>
                      <a:off x="2455" y="324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X.X.129</a:t>
                      </a:r>
                    </a:p>
                  </p:txBody>
                </p:sp>
                <p:sp>
                  <p:nvSpPr>
                    <p:cNvPr id="152" name="Rectangle 190">
                      <a:extLst>
                        <a:ext uri="{FF2B5EF4-FFF2-40B4-BE49-F238E27FC236}">
                          <a16:creationId xmlns:a16="http://schemas.microsoft.com/office/drawing/2014/main" id="{C028539E-C9D9-49BF-9E39-DA120EFDEE20}"/>
                        </a:ext>
                      </a:extLst>
                    </p:cNvPr>
                    <p:cNvSpPr>
                      <a:spLocks noChangeArrowheads="1"/>
                    </p:cNvSpPr>
                    <p:nvPr/>
                  </p:nvSpPr>
                  <p:spPr bwMode="auto">
                    <a:xfrm>
                      <a:off x="2455" y="363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X.X.191</a:t>
                      </a:r>
                    </a:p>
                  </p:txBody>
                </p:sp>
                <p:sp>
                  <p:nvSpPr>
                    <p:cNvPr id="153" name="Rectangle 191">
                      <a:extLst>
                        <a:ext uri="{FF2B5EF4-FFF2-40B4-BE49-F238E27FC236}">
                          <a16:creationId xmlns:a16="http://schemas.microsoft.com/office/drawing/2014/main" id="{CD13AC0C-1526-4747-A719-76A19CCE67EF}"/>
                        </a:ext>
                      </a:extLst>
                    </p:cNvPr>
                    <p:cNvSpPr>
                      <a:spLocks noChangeArrowheads="1"/>
                    </p:cNvSpPr>
                    <p:nvPr/>
                  </p:nvSpPr>
                  <p:spPr bwMode="auto">
                    <a:xfrm>
                      <a:off x="2112" y="2795"/>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X.X.128</a:t>
                      </a:r>
                    </a:p>
                  </p:txBody>
                </p:sp>
                <p:sp>
                  <p:nvSpPr>
                    <p:cNvPr id="154" name="Line 192">
                      <a:extLst>
                        <a:ext uri="{FF2B5EF4-FFF2-40B4-BE49-F238E27FC236}">
                          <a16:creationId xmlns:a16="http://schemas.microsoft.com/office/drawing/2014/main" id="{6EB7CC93-468A-4045-9E43-2422966D430A}"/>
                        </a:ext>
                      </a:extLst>
                    </p:cNvPr>
                    <p:cNvSpPr>
                      <a:spLocks noChangeShapeType="1"/>
                    </p:cNvSpPr>
                    <p:nvPr/>
                  </p:nvSpPr>
                  <p:spPr bwMode="auto">
                    <a:xfrm>
                      <a:off x="1858" y="3362"/>
                      <a:ext cx="114"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55" name="Line 193">
                      <a:extLst>
                        <a:ext uri="{FF2B5EF4-FFF2-40B4-BE49-F238E27FC236}">
                          <a16:creationId xmlns:a16="http://schemas.microsoft.com/office/drawing/2014/main" id="{E74EDCD9-6375-4D08-9267-14B97122DD35}"/>
                        </a:ext>
                      </a:extLst>
                    </p:cNvPr>
                    <p:cNvSpPr>
                      <a:spLocks noChangeShapeType="1"/>
                    </p:cNvSpPr>
                    <p:nvPr/>
                  </p:nvSpPr>
                  <p:spPr bwMode="auto">
                    <a:xfrm>
                      <a:off x="1848" y="3752"/>
                      <a:ext cx="119"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grpSp>
                  <p:nvGrpSpPr>
                    <p:cNvPr id="156" name="Group 194">
                      <a:extLst>
                        <a:ext uri="{FF2B5EF4-FFF2-40B4-BE49-F238E27FC236}">
                          <a16:creationId xmlns:a16="http://schemas.microsoft.com/office/drawing/2014/main" id="{657F6BC6-6FEE-427D-8F3C-77BC3CFE3AB3}"/>
                        </a:ext>
                      </a:extLst>
                    </p:cNvPr>
                    <p:cNvGrpSpPr>
                      <a:grpSpLocks/>
                    </p:cNvGrpSpPr>
                    <p:nvPr/>
                  </p:nvGrpSpPr>
                  <p:grpSpPr bwMode="auto">
                    <a:xfrm>
                      <a:off x="1560" y="2729"/>
                      <a:ext cx="554" cy="369"/>
                      <a:chOff x="480" y="2576"/>
                      <a:chExt cx="554" cy="369"/>
                    </a:xfrm>
                  </p:grpSpPr>
                  <p:sp>
                    <p:nvSpPr>
                      <p:cNvPr id="168" name="Freeform 195">
                        <a:extLst>
                          <a:ext uri="{FF2B5EF4-FFF2-40B4-BE49-F238E27FC236}">
                            <a16:creationId xmlns:a16="http://schemas.microsoft.com/office/drawing/2014/main" id="{47902A52-B561-4F16-B0A2-B6C580D0D04C}"/>
                          </a:ext>
                        </a:extLst>
                      </p:cNvPr>
                      <p:cNvSpPr>
                        <a:spLocks/>
                      </p:cNvSpPr>
                      <p:nvPr/>
                    </p:nvSpPr>
                    <p:spPr bwMode="auto">
                      <a:xfrm>
                        <a:off x="498" y="2589"/>
                        <a:ext cx="523" cy="353"/>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69" name="Freeform 196">
                        <a:extLst>
                          <a:ext uri="{FF2B5EF4-FFF2-40B4-BE49-F238E27FC236}">
                            <a16:creationId xmlns:a16="http://schemas.microsoft.com/office/drawing/2014/main" id="{15CD2BBC-4040-4282-ABAA-01F61A5EED26}"/>
                          </a:ext>
                        </a:extLst>
                      </p:cNvPr>
                      <p:cNvSpPr>
                        <a:spLocks/>
                      </p:cNvSpPr>
                      <p:nvPr/>
                    </p:nvSpPr>
                    <p:spPr bwMode="auto">
                      <a:xfrm>
                        <a:off x="480" y="2576"/>
                        <a:ext cx="530" cy="353"/>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808485"/>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grpSp>
                  <p:nvGrpSpPr>
                    <p:cNvPr id="157" name="Group 198">
                      <a:extLst>
                        <a:ext uri="{FF2B5EF4-FFF2-40B4-BE49-F238E27FC236}">
                          <a16:creationId xmlns:a16="http://schemas.microsoft.com/office/drawing/2014/main" id="{CB8C4DB0-A6FD-4537-B55E-D63C942F39BC}"/>
                        </a:ext>
                      </a:extLst>
                    </p:cNvPr>
                    <p:cNvGrpSpPr>
                      <a:grpSpLocks/>
                    </p:cNvGrpSpPr>
                    <p:nvPr/>
                  </p:nvGrpSpPr>
                  <p:grpSpPr bwMode="auto">
                    <a:xfrm>
                      <a:off x="1914" y="3180"/>
                      <a:ext cx="578" cy="366"/>
                      <a:chOff x="897" y="3027"/>
                      <a:chExt cx="578" cy="366"/>
                    </a:xfrm>
                  </p:grpSpPr>
                  <p:sp>
                    <p:nvSpPr>
                      <p:cNvPr id="164" name="Freeform 199">
                        <a:extLst>
                          <a:ext uri="{FF2B5EF4-FFF2-40B4-BE49-F238E27FC236}">
                            <a16:creationId xmlns:a16="http://schemas.microsoft.com/office/drawing/2014/main" id="{E60F7B46-F873-4F54-ACE2-CB9200B0B12C}"/>
                          </a:ext>
                        </a:extLst>
                      </p:cNvPr>
                      <p:cNvSpPr>
                        <a:spLocks/>
                      </p:cNvSpPr>
                      <p:nvPr/>
                    </p:nvSpPr>
                    <p:spPr bwMode="auto">
                      <a:xfrm>
                        <a:off x="930" y="3037"/>
                        <a:ext cx="545" cy="353"/>
                      </a:xfrm>
                      <a:custGeom>
                        <a:avLst/>
                        <a:gdLst>
                          <a:gd name="T0" fmla="*/ 0 w 551"/>
                          <a:gd name="T1" fmla="*/ 0 h 354"/>
                          <a:gd name="T2" fmla="*/ 550 w 551"/>
                          <a:gd name="T3" fmla="*/ 0 h 354"/>
                          <a:gd name="T4" fmla="*/ 550 w 551"/>
                          <a:gd name="T5" fmla="*/ 353 h 354"/>
                          <a:gd name="T6" fmla="*/ 0 w 551"/>
                          <a:gd name="T7" fmla="*/ 353 h 354"/>
                          <a:gd name="T8" fmla="*/ 0 w 551"/>
                          <a:gd name="T9" fmla="*/ 0 h 354"/>
                          <a:gd name="T10" fmla="*/ 0 60000 65536"/>
                          <a:gd name="T11" fmla="*/ 0 60000 65536"/>
                          <a:gd name="T12" fmla="*/ 0 60000 65536"/>
                          <a:gd name="T13" fmla="*/ 0 60000 65536"/>
                          <a:gd name="T14" fmla="*/ 0 60000 65536"/>
                          <a:gd name="T15" fmla="*/ 0 w 551"/>
                          <a:gd name="T16" fmla="*/ 0 h 354"/>
                          <a:gd name="T17" fmla="*/ 551 w 551"/>
                          <a:gd name="T18" fmla="*/ 354 h 354"/>
                        </a:gdLst>
                        <a:ahLst/>
                        <a:cxnLst>
                          <a:cxn ang="T10">
                            <a:pos x="T0" y="T1"/>
                          </a:cxn>
                          <a:cxn ang="T11">
                            <a:pos x="T2" y="T3"/>
                          </a:cxn>
                          <a:cxn ang="T12">
                            <a:pos x="T4" y="T5"/>
                          </a:cxn>
                          <a:cxn ang="T13">
                            <a:pos x="T6" y="T7"/>
                          </a:cxn>
                          <a:cxn ang="T14">
                            <a:pos x="T8" y="T9"/>
                          </a:cxn>
                        </a:cxnLst>
                        <a:rect l="T15" t="T16" r="T17" b="T18"/>
                        <a:pathLst>
                          <a:path w="551" h="354">
                            <a:moveTo>
                              <a:pt x="0" y="0"/>
                            </a:moveTo>
                            <a:lnTo>
                              <a:pt x="550" y="0"/>
                            </a:lnTo>
                            <a:lnTo>
                              <a:pt x="550"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165" name="Group 200">
                        <a:extLst>
                          <a:ext uri="{FF2B5EF4-FFF2-40B4-BE49-F238E27FC236}">
                            <a16:creationId xmlns:a16="http://schemas.microsoft.com/office/drawing/2014/main" id="{807361B7-5182-41CA-83D6-C816D182C463}"/>
                          </a:ext>
                        </a:extLst>
                      </p:cNvPr>
                      <p:cNvGrpSpPr>
                        <a:grpSpLocks/>
                      </p:cNvGrpSpPr>
                      <p:nvPr/>
                    </p:nvGrpSpPr>
                    <p:grpSpPr bwMode="auto">
                      <a:xfrm>
                        <a:off x="897" y="3027"/>
                        <a:ext cx="560" cy="345"/>
                        <a:chOff x="897" y="3027"/>
                        <a:chExt cx="560" cy="345"/>
                      </a:xfrm>
                    </p:grpSpPr>
                    <p:sp>
                      <p:nvSpPr>
                        <p:cNvPr id="166" name="Freeform 201">
                          <a:extLst>
                            <a:ext uri="{FF2B5EF4-FFF2-40B4-BE49-F238E27FC236}">
                              <a16:creationId xmlns:a16="http://schemas.microsoft.com/office/drawing/2014/main" id="{24E9337A-0DAA-44CC-92CC-AB8C3AA01D8E}"/>
                            </a:ext>
                          </a:extLst>
                        </p:cNvPr>
                        <p:cNvSpPr>
                          <a:spLocks/>
                        </p:cNvSpPr>
                        <p:nvPr/>
                      </p:nvSpPr>
                      <p:spPr bwMode="auto">
                        <a:xfrm>
                          <a:off x="907" y="3027"/>
                          <a:ext cx="550" cy="345"/>
                        </a:xfrm>
                        <a:custGeom>
                          <a:avLst/>
                          <a:gdLst>
                            <a:gd name="T0" fmla="*/ 0 w 550"/>
                            <a:gd name="T1" fmla="*/ 0 h 351"/>
                            <a:gd name="T2" fmla="*/ 0 w 550"/>
                            <a:gd name="T3" fmla="*/ 350 h 351"/>
                            <a:gd name="T4" fmla="*/ 549 w 550"/>
                            <a:gd name="T5" fmla="*/ 350 h 351"/>
                            <a:gd name="T6" fmla="*/ 549 w 550"/>
                            <a:gd name="T7" fmla="*/ 0 h 351"/>
                            <a:gd name="T8" fmla="*/ 0 w 550"/>
                            <a:gd name="T9" fmla="*/ 0 h 351"/>
                            <a:gd name="T10" fmla="*/ 0 60000 65536"/>
                            <a:gd name="T11" fmla="*/ 0 60000 65536"/>
                            <a:gd name="T12" fmla="*/ 0 60000 65536"/>
                            <a:gd name="T13" fmla="*/ 0 60000 65536"/>
                            <a:gd name="T14" fmla="*/ 0 60000 65536"/>
                            <a:gd name="T15" fmla="*/ 0 w 550"/>
                            <a:gd name="T16" fmla="*/ 0 h 351"/>
                            <a:gd name="T17" fmla="*/ 550 w 550"/>
                            <a:gd name="T18" fmla="*/ 351 h 351"/>
                          </a:gdLst>
                          <a:ahLst/>
                          <a:cxnLst>
                            <a:cxn ang="T10">
                              <a:pos x="T0" y="T1"/>
                            </a:cxn>
                            <a:cxn ang="T11">
                              <a:pos x="T2" y="T3"/>
                            </a:cxn>
                            <a:cxn ang="T12">
                              <a:pos x="T4" y="T5"/>
                            </a:cxn>
                            <a:cxn ang="T13">
                              <a:pos x="T6" y="T7"/>
                            </a:cxn>
                            <a:cxn ang="T14">
                              <a:pos x="T8" y="T9"/>
                            </a:cxn>
                          </a:cxnLst>
                          <a:rect l="T15" t="T16" r="T17" b="T18"/>
                          <a:pathLst>
                            <a:path w="550" h="351">
                              <a:moveTo>
                                <a:pt x="0" y="0"/>
                              </a:moveTo>
                              <a:lnTo>
                                <a:pt x="0" y="350"/>
                              </a:lnTo>
                              <a:lnTo>
                                <a:pt x="549" y="350"/>
                              </a:lnTo>
                              <a:lnTo>
                                <a:pt x="549"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67" name="Rectangle 202">
                          <a:extLst>
                            <a:ext uri="{FF2B5EF4-FFF2-40B4-BE49-F238E27FC236}">
                              <a16:creationId xmlns:a16="http://schemas.microsoft.com/office/drawing/2014/main" id="{120A5DDC-778C-4A86-AB3C-88BF47DF8B79}"/>
                            </a:ext>
                          </a:extLst>
                        </p:cNvPr>
                        <p:cNvSpPr>
                          <a:spLocks noChangeArrowheads="1"/>
                        </p:cNvSpPr>
                        <p:nvPr/>
                      </p:nvSpPr>
                      <p:spPr bwMode="auto">
                        <a:xfrm>
                          <a:off x="897" y="3095"/>
                          <a:ext cx="541"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050" b="1" kern="0" dirty="0">
                              <a:solidFill>
                                <a:srgbClr val="000000"/>
                              </a:solidFill>
                              <a:latin typeface="Arial"/>
                              <a:ea typeface="+mn-ea"/>
                              <a:cs typeface="Arial"/>
                            </a:rPr>
                            <a:t>DVC</a:t>
                          </a:r>
                          <a:r>
                            <a:rPr lang="de-DE" sz="1050" b="1" kern="0" dirty="0">
                              <a:solidFill>
                                <a:srgbClr val="000000"/>
                              </a:solidFill>
                              <a:latin typeface="Arial" charset="0"/>
                              <a:ea typeface="+mn-ea"/>
                              <a:cs typeface="Arial" charset="0"/>
                            </a:rPr>
                            <a:t>129</a:t>
                          </a:r>
                        </a:p>
                      </p:txBody>
                    </p:sp>
                  </p:grpSp>
                </p:grpSp>
                <p:grpSp>
                  <p:nvGrpSpPr>
                    <p:cNvPr id="158" name="Group 203">
                      <a:extLst>
                        <a:ext uri="{FF2B5EF4-FFF2-40B4-BE49-F238E27FC236}">
                          <a16:creationId xmlns:a16="http://schemas.microsoft.com/office/drawing/2014/main" id="{16974DF8-B983-4884-AD38-963B19935F63}"/>
                        </a:ext>
                      </a:extLst>
                    </p:cNvPr>
                    <p:cNvGrpSpPr>
                      <a:grpSpLocks/>
                    </p:cNvGrpSpPr>
                    <p:nvPr/>
                  </p:nvGrpSpPr>
                  <p:grpSpPr bwMode="auto">
                    <a:xfrm>
                      <a:off x="1924" y="3573"/>
                      <a:ext cx="568" cy="363"/>
                      <a:chOff x="907" y="3420"/>
                      <a:chExt cx="568" cy="363"/>
                    </a:xfrm>
                  </p:grpSpPr>
                  <p:sp>
                    <p:nvSpPr>
                      <p:cNvPr id="161" name="Freeform 204">
                        <a:extLst>
                          <a:ext uri="{FF2B5EF4-FFF2-40B4-BE49-F238E27FC236}">
                            <a16:creationId xmlns:a16="http://schemas.microsoft.com/office/drawing/2014/main" id="{9C790B71-5D8B-481A-945D-90F24903F8E1}"/>
                          </a:ext>
                        </a:extLst>
                      </p:cNvPr>
                      <p:cNvSpPr>
                        <a:spLocks/>
                      </p:cNvSpPr>
                      <p:nvPr/>
                    </p:nvSpPr>
                    <p:spPr bwMode="auto">
                      <a:xfrm>
                        <a:off x="930" y="3429"/>
                        <a:ext cx="545" cy="354"/>
                      </a:xfrm>
                      <a:custGeom>
                        <a:avLst/>
                        <a:gdLst>
                          <a:gd name="T0" fmla="*/ 0 w 548"/>
                          <a:gd name="T1" fmla="*/ 0 h 354"/>
                          <a:gd name="T2" fmla="*/ 547 w 548"/>
                          <a:gd name="T3" fmla="*/ 0 h 354"/>
                          <a:gd name="T4" fmla="*/ 547 w 548"/>
                          <a:gd name="T5" fmla="*/ 353 h 354"/>
                          <a:gd name="T6" fmla="*/ 0 w 548"/>
                          <a:gd name="T7" fmla="*/ 353 h 354"/>
                          <a:gd name="T8" fmla="*/ 0 w 548"/>
                          <a:gd name="T9" fmla="*/ 0 h 354"/>
                          <a:gd name="T10" fmla="*/ 0 60000 65536"/>
                          <a:gd name="T11" fmla="*/ 0 60000 65536"/>
                          <a:gd name="T12" fmla="*/ 0 60000 65536"/>
                          <a:gd name="T13" fmla="*/ 0 60000 65536"/>
                          <a:gd name="T14" fmla="*/ 0 60000 65536"/>
                          <a:gd name="T15" fmla="*/ 0 w 548"/>
                          <a:gd name="T16" fmla="*/ 0 h 354"/>
                          <a:gd name="T17" fmla="*/ 548 w 548"/>
                          <a:gd name="T18" fmla="*/ 354 h 354"/>
                        </a:gdLst>
                        <a:ahLst/>
                        <a:cxnLst>
                          <a:cxn ang="T10">
                            <a:pos x="T0" y="T1"/>
                          </a:cxn>
                          <a:cxn ang="T11">
                            <a:pos x="T2" y="T3"/>
                          </a:cxn>
                          <a:cxn ang="T12">
                            <a:pos x="T4" y="T5"/>
                          </a:cxn>
                          <a:cxn ang="T13">
                            <a:pos x="T6" y="T7"/>
                          </a:cxn>
                          <a:cxn ang="T14">
                            <a:pos x="T8" y="T9"/>
                          </a:cxn>
                        </a:cxnLst>
                        <a:rect l="T15" t="T16" r="T17" b="T18"/>
                        <a:pathLst>
                          <a:path w="548" h="354">
                            <a:moveTo>
                              <a:pt x="0" y="0"/>
                            </a:moveTo>
                            <a:lnTo>
                              <a:pt x="547" y="0"/>
                            </a:lnTo>
                            <a:lnTo>
                              <a:pt x="547"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62" name="Freeform 205">
                        <a:extLst>
                          <a:ext uri="{FF2B5EF4-FFF2-40B4-BE49-F238E27FC236}">
                            <a16:creationId xmlns:a16="http://schemas.microsoft.com/office/drawing/2014/main" id="{365AD942-09F5-4E1A-AF86-A2EA7B6D74C8}"/>
                          </a:ext>
                        </a:extLst>
                      </p:cNvPr>
                      <p:cNvSpPr>
                        <a:spLocks/>
                      </p:cNvSpPr>
                      <p:nvPr/>
                    </p:nvSpPr>
                    <p:spPr bwMode="auto">
                      <a:xfrm>
                        <a:off x="907" y="3420"/>
                        <a:ext cx="546" cy="348"/>
                      </a:xfrm>
                      <a:custGeom>
                        <a:avLst/>
                        <a:gdLst>
                          <a:gd name="T0" fmla="*/ 0 w 546"/>
                          <a:gd name="T1" fmla="*/ 0 h 351"/>
                          <a:gd name="T2" fmla="*/ 0 w 546"/>
                          <a:gd name="T3" fmla="*/ 350 h 351"/>
                          <a:gd name="T4" fmla="*/ 545 w 546"/>
                          <a:gd name="T5" fmla="*/ 350 h 351"/>
                          <a:gd name="T6" fmla="*/ 545 w 546"/>
                          <a:gd name="T7" fmla="*/ 0 h 351"/>
                          <a:gd name="T8" fmla="*/ 0 w 546"/>
                          <a:gd name="T9" fmla="*/ 0 h 351"/>
                          <a:gd name="T10" fmla="*/ 0 60000 65536"/>
                          <a:gd name="T11" fmla="*/ 0 60000 65536"/>
                          <a:gd name="T12" fmla="*/ 0 60000 65536"/>
                          <a:gd name="T13" fmla="*/ 0 60000 65536"/>
                          <a:gd name="T14" fmla="*/ 0 60000 65536"/>
                          <a:gd name="T15" fmla="*/ 0 w 546"/>
                          <a:gd name="T16" fmla="*/ 0 h 351"/>
                          <a:gd name="T17" fmla="*/ 546 w 546"/>
                          <a:gd name="T18" fmla="*/ 351 h 351"/>
                        </a:gdLst>
                        <a:ahLst/>
                        <a:cxnLst>
                          <a:cxn ang="T10">
                            <a:pos x="T0" y="T1"/>
                          </a:cxn>
                          <a:cxn ang="T11">
                            <a:pos x="T2" y="T3"/>
                          </a:cxn>
                          <a:cxn ang="T12">
                            <a:pos x="T4" y="T5"/>
                          </a:cxn>
                          <a:cxn ang="T13">
                            <a:pos x="T6" y="T7"/>
                          </a:cxn>
                          <a:cxn ang="T14">
                            <a:pos x="T8" y="T9"/>
                          </a:cxn>
                        </a:cxnLst>
                        <a:rect l="T15" t="T16" r="T17" b="T18"/>
                        <a:pathLst>
                          <a:path w="546" h="351">
                            <a:moveTo>
                              <a:pt x="0" y="0"/>
                            </a:moveTo>
                            <a:lnTo>
                              <a:pt x="0" y="350"/>
                            </a:lnTo>
                            <a:lnTo>
                              <a:pt x="545" y="350"/>
                            </a:lnTo>
                            <a:lnTo>
                              <a:pt x="545"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63" name="Rectangle 206">
                        <a:extLst>
                          <a:ext uri="{FF2B5EF4-FFF2-40B4-BE49-F238E27FC236}">
                            <a16:creationId xmlns:a16="http://schemas.microsoft.com/office/drawing/2014/main" id="{4C5BD1C5-C950-4637-9EE9-FC8648744711}"/>
                          </a:ext>
                        </a:extLst>
                      </p:cNvPr>
                      <p:cNvSpPr>
                        <a:spLocks noChangeArrowheads="1"/>
                      </p:cNvSpPr>
                      <p:nvPr/>
                    </p:nvSpPr>
                    <p:spPr bwMode="auto">
                      <a:xfrm>
                        <a:off x="919" y="3485"/>
                        <a:ext cx="539"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90488" tIns="44450" rIns="90488" bIns="44450">
                        <a:spAutoFit/>
                      </a:bodyPr>
                      <a:lstStyle/>
                      <a:p>
                        <a:pPr defTabSz="762000" fontAlgn="auto">
                          <a:spcBef>
                            <a:spcPts val="0"/>
                          </a:spcBef>
                          <a:spcAft>
                            <a:spcPts val="0"/>
                          </a:spcAft>
                          <a:defRPr/>
                        </a:pPr>
                        <a:r>
                          <a:rPr lang="de-DE" sz="1050" b="1" kern="0" dirty="0">
                            <a:solidFill>
                              <a:srgbClr val="000000"/>
                            </a:solidFill>
                            <a:latin typeface="Arial"/>
                            <a:ea typeface="+mn-ea"/>
                            <a:cs typeface="Arial"/>
                          </a:rPr>
                          <a:t>DVC</a:t>
                        </a:r>
                        <a:r>
                          <a:rPr lang="de-DE" sz="1050" b="1" kern="0" dirty="0">
                            <a:solidFill>
                              <a:srgbClr val="000000"/>
                            </a:solidFill>
                            <a:latin typeface="Arial" charset="0"/>
                            <a:ea typeface="+mn-ea"/>
                            <a:cs typeface="Arial" charset="0"/>
                          </a:rPr>
                          <a:t>191</a:t>
                        </a:r>
                      </a:p>
                    </p:txBody>
                  </p:sp>
                </p:grpSp>
                <p:sp>
                  <p:nvSpPr>
                    <p:cNvPr id="159" name="Oval 208">
                      <a:extLst>
                        <a:ext uri="{FF2B5EF4-FFF2-40B4-BE49-F238E27FC236}">
                          <a16:creationId xmlns:a16="http://schemas.microsoft.com/office/drawing/2014/main" id="{3207F492-DAD3-4FD4-A454-7188999E9FA4}"/>
                        </a:ext>
                      </a:extLst>
                    </p:cNvPr>
                    <p:cNvSpPr>
                      <a:spLocks noChangeArrowheads="1"/>
                    </p:cNvSpPr>
                    <p:nvPr/>
                  </p:nvSpPr>
                  <p:spPr bwMode="auto">
                    <a:xfrm>
                      <a:off x="1830" y="3735"/>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sp>
                  <p:nvSpPr>
                    <p:cNvPr id="160" name="Oval 209">
                      <a:extLst>
                        <a:ext uri="{FF2B5EF4-FFF2-40B4-BE49-F238E27FC236}">
                          <a16:creationId xmlns:a16="http://schemas.microsoft.com/office/drawing/2014/main" id="{3DBAB469-E81C-47CF-99B9-5A4F945CE130}"/>
                        </a:ext>
                      </a:extLst>
                    </p:cNvPr>
                    <p:cNvSpPr>
                      <a:spLocks noChangeArrowheads="1"/>
                    </p:cNvSpPr>
                    <p:nvPr/>
                  </p:nvSpPr>
                  <p:spPr bwMode="auto">
                    <a:xfrm>
                      <a:off x="1830" y="3348"/>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grpSp>
              <p:sp>
                <p:nvSpPr>
                  <p:cNvPr id="149" name="Oval 237">
                    <a:extLst>
                      <a:ext uri="{FF2B5EF4-FFF2-40B4-BE49-F238E27FC236}">
                        <a16:creationId xmlns:a16="http://schemas.microsoft.com/office/drawing/2014/main" id="{8429FCA7-571A-4313-B213-D330743C884F}"/>
                      </a:ext>
                    </a:extLst>
                  </p:cNvPr>
                  <p:cNvSpPr>
                    <a:spLocks noChangeArrowheads="1"/>
                  </p:cNvSpPr>
                  <p:nvPr/>
                </p:nvSpPr>
                <p:spPr bwMode="auto">
                  <a:xfrm>
                    <a:off x="1917" y="2609"/>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grpSp>
          </p:grpSp>
          <p:grpSp>
            <p:nvGrpSpPr>
              <p:cNvPr id="99" name="Group 211">
                <a:extLst>
                  <a:ext uri="{FF2B5EF4-FFF2-40B4-BE49-F238E27FC236}">
                    <a16:creationId xmlns:a16="http://schemas.microsoft.com/office/drawing/2014/main" id="{7E5AB325-8211-4196-92FF-2726675188D8}"/>
                  </a:ext>
                </a:extLst>
              </p:cNvPr>
              <p:cNvGrpSpPr>
                <a:grpSpLocks/>
              </p:cNvGrpSpPr>
              <p:nvPr/>
            </p:nvGrpSpPr>
            <p:grpSpPr bwMode="auto">
              <a:xfrm>
                <a:off x="597148" y="4483370"/>
                <a:ext cx="1819275" cy="1485630"/>
                <a:chOff x="81" y="2723"/>
                <a:chExt cx="1420" cy="1213"/>
              </a:xfrm>
            </p:grpSpPr>
            <p:sp>
              <p:nvSpPr>
                <p:cNvPr id="126" name="Rectangle 128">
                  <a:extLst>
                    <a:ext uri="{FF2B5EF4-FFF2-40B4-BE49-F238E27FC236}">
                      <a16:creationId xmlns:a16="http://schemas.microsoft.com/office/drawing/2014/main" id="{470E2C85-D376-4EB5-91AA-0B990D531AB5}"/>
                    </a:ext>
                  </a:extLst>
                </p:cNvPr>
                <p:cNvSpPr>
                  <a:spLocks noChangeArrowheads="1"/>
                </p:cNvSpPr>
                <p:nvPr/>
              </p:nvSpPr>
              <p:spPr bwMode="auto">
                <a:xfrm>
                  <a:off x="967" y="3248"/>
                  <a:ext cx="473"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X.X.65</a:t>
                  </a:r>
                </a:p>
              </p:txBody>
            </p:sp>
            <p:sp>
              <p:nvSpPr>
                <p:cNvPr id="127" name="Rectangle 129">
                  <a:extLst>
                    <a:ext uri="{FF2B5EF4-FFF2-40B4-BE49-F238E27FC236}">
                      <a16:creationId xmlns:a16="http://schemas.microsoft.com/office/drawing/2014/main" id="{D8E9BA1B-996A-490A-96E2-03465860EC8F}"/>
                    </a:ext>
                  </a:extLst>
                </p:cNvPr>
                <p:cNvSpPr>
                  <a:spLocks noChangeArrowheads="1"/>
                </p:cNvSpPr>
                <p:nvPr/>
              </p:nvSpPr>
              <p:spPr bwMode="auto">
                <a:xfrm>
                  <a:off x="967" y="363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X.X.127</a:t>
                  </a:r>
                </a:p>
              </p:txBody>
            </p:sp>
            <p:sp>
              <p:nvSpPr>
                <p:cNvPr id="128" name="Rectangle 130">
                  <a:extLst>
                    <a:ext uri="{FF2B5EF4-FFF2-40B4-BE49-F238E27FC236}">
                      <a16:creationId xmlns:a16="http://schemas.microsoft.com/office/drawing/2014/main" id="{49BB66B2-97B6-4793-AA62-98F34A92193D}"/>
                    </a:ext>
                  </a:extLst>
                </p:cNvPr>
                <p:cNvSpPr>
                  <a:spLocks noChangeArrowheads="1"/>
                </p:cNvSpPr>
                <p:nvPr/>
              </p:nvSpPr>
              <p:spPr bwMode="auto">
                <a:xfrm>
                  <a:off x="719" y="2795"/>
                  <a:ext cx="473"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X.X.64</a:t>
                  </a:r>
                </a:p>
              </p:txBody>
            </p:sp>
            <p:sp>
              <p:nvSpPr>
                <p:cNvPr id="129" name="Line 132">
                  <a:extLst>
                    <a:ext uri="{FF2B5EF4-FFF2-40B4-BE49-F238E27FC236}">
                      <a16:creationId xmlns:a16="http://schemas.microsoft.com/office/drawing/2014/main" id="{7DB53B66-4BCD-4778-94C4-BB81C8DC6D28}"/>
                    </a:ext>
                  </a:extLst>
                </p:cNvPr>
                <p:cNvSpPr>
                  <a:spLocks noChangeShapeType="1"/>
                </p:cNvSpPr>
                <p:nvPr/>
              </p:nvSpPr>
              <p:spPr bwMode="auto">
                <a:xfrm>
                  <a:off x="378" y="3362"/>
                  <a:ext cx="115"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30" name="Line 133">
                  <a:extLst>
                    <a:ext uri="{FF2B5EF4-FFF2-40B4-BE49-F238E27FC236}">
                      <a16:creationId xmlns:a16="http://schemas.microsoft.com/office/drawing/2014/main" id="{0ECBB86D-9656-4823-B0EC-328B31AF063E}"/>
                    </a:ext>
                  </a:extLst>
                </p:cNvPr>
                <p:cNvSpPr>
                  <a:spLocks noChangeShapeType="1"/>
                </p:cNvSpPr>
                <p:nvPr/>
              </p:nvSpPr>
              <p:spPr bwMode="auto">
                <a:xfrm>
                  <a:off x="371" y="3752"/>
                  <a:ext cx="120"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grpSp>
              <p:nvGrpSpPr>
                <p:cNvPr id="131" name="Group 144">
                  <a:extLst>
                    <a:ext uri="{FF2B5EF4-FFF2-40B4-BE49-F238E27FC236}">
                      <a16:creationId xmlns:a16="http://schemas.microsoft.com/office/drawing/2014/main" id="{CB115A53-BA55-416D-A006-31EBFA7BBCC3}"/>
                    </a:ext>
                  </a:extLst>
                </p:cNvPr>
                <p:cNvGrpSpPr>
                  <a:grpSpLocks/>
                </p:cNvGrpSpPr>
                <p:nvPr/>
              </p:nvGrpSpPr>
              <p:grpSpPr bwMode="auto">
                <a:xfrm>
                  <a:off x="81" y="2723"/>
                  <a:ext cx="554" cy="372"/>
                  <a:chOff x="480" y="2570"/>
                  <a:chExt cx="554" cy="372"/>
                </a:xfrm>
              </p:grpSpPr>
              <p:sp>
                <p:nvSpPr>
                  <p:cNvPr id="143" name="Freeform 145">
                    <a:extLst>
                      <a:ext uri="{FF2B5EF4-FFF2-40B4-BE49-F238E27FC236}">
                        <a16:creationId xmlns:a16="http://schemas.microsoft.com/office/drawing/2014/main" id="{0B0D64AB-6691-4245-9C30-AC8E7B83AD92}"/>
                      </a:ext>
                    </a:extLst>
                  </p:cNvPr>
                  <p:cNvSpPr>
                    <a:spLocks/>
                  </p:cNvSpPr>
                  <p:nvPr/>
                </p:nvSpPr>
                <p:spPr bwMode="auto">
                  <a:xfrm>
                    <a:off x="500" y="2588"/>
                    <a:ext cx="534" cy="354"/>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44" name="Freeform 146">
                    <a:extLst>
                      <a:ext uri="{FF2B5EF4-FFF2-40B4-BE49-F238E27FC236}">
                        <a16:creationId xmlns:a16="http://schemas.microsoft.com/office/drawing/2014/main" id="{05F7322C-2EBE-48C8-928F-BC82B00939F4}"/>
                      </a:ext>
                    </a:extLst>
                  </p:cNvPr>
                  <p:cNvSpPr>
                    <a:spLocks/>
                  </p:cNvSpPr>
                  <p:nvPr/>
                </p:nvSpPr>
                <p:spPr bwMode="auto">
                  <a:xfrm>
                    <a:off x="480" y="2570"/>
                    <a:ext cx="530" cy="355"/>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808485"/>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45" name="Rectangle 147">
                    <a:extLst>
                      <a:ext uri="{FF2B5EF4-FFF2-40B4-BE49-F238E27FC236}">
                        <a16:creationId xmlns:a16="http://schemas.microsoft.com/office/drawing/2014/main" id="{B86BA92B-28FD-4E4A-B8BC-53936098BDE8}"/>
                      </a:ext>
                    </a:extLst>
                  </p:cNvPr>
                  <p:cNvSpPr>
                    <a:spLocks noChangeArrowheads="1"/>
                  </p:cNvSpPr>
                  <p:nvPr/>
                </p:nvSpPr>
                <p:spPr bwMode="auto">
                  <a:xfrm>
                    <a:off x="560" y="2650"/>
                    <a:ext cx="389" cy="212"/>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algn="ctr" defTabSz="762000" fontAlgn="auto">
                      <a:spcBef>
                        <a:spcPts val="0"/>
                      </a:spcBef>
                      <a:spcAft>
                        <a:spcPts val="0"/>
                      </a:spcAft>
                      <a:defRPr/>
                    </a:pPr>
                    <a:r>
                      <a:rPr lang="de-DE" sz="1100" b="1" kern="0" dirty="0">
                        <a:solidFill>
                          <a:srgbClr val="000000"/>
                        </a:solidFill>
                        <a:latin typeface="Arial"/>
                        <a:ea typeface="+mn-ea"/>
                        <a:cs typeface="Arial"/>
                      </a:rPr>
                      <a:t>LR</a:t>
                    </a:r>
                  </a:p>
                </p:txBody>
              </p:sp>
            </p:grpSp>
            <p:grpSp>
              <p:nvGrpSpPr>
                <p:cNvPr id="132" name="Group 157">
                  <a:extLst>
                    <a:ext uri="{FF2B5EF4-FFF2-40B4-BE49-F238E27FC236}">
                      <a16:creationId xmlns:a16="http://schemas.microsoft.com/office/drawing/2014/main" id="{7ED1F919-AFDC-42A3-ABEA-CFBE621474A2}"/>
                    </a:ext>
                  </a:extLst>
                </p:cNvPr>
                <p:cNvGrpSpPr>
                  <a:grpSpLocks/>
                </p:cNvGrpSpPr>
                <p:nvPr/>
              </p:nvGrpSpPr>
              <p:grpSpPr bwMode="auto">
                <a:xfrm>
                  <a:off x="423" y="3174"/>
                  <a:ext cx="587" cy="369"/>
                  <a:chOff x="894" y="3021"/>
                  <a:chExt cx="587" cy="369"/>
                </a:xfrm>
              </p:grpSpPr>
              <p:sp>
                <p:nvSpPr>
                  <p:cNvPr id="139" name="Freeform 158">
                    <a:extLst>
                      <a:ext uri="{FF2B5EF4-FFF2-40B4-BE49-F238E27FC236}">
                        <a16:creationId xmlns:a16="http://schemas.microsoft.com/office/drawing/2014/main" id="{27A72CDE-6FFC-40A6-A928-88F1CDD3D0D3}"/>
                      </a:ext>
                    </a:extLst>
                  </p:cNvPr>
                  <p:cNvSpPr>
                    <a:spLocks/>
                  </p:cNvSpPr>
                  <p:nvPr/>
                </p:nvSpPr>
                <p:spPr bwMode="auto">
                  <a:xfrm>
                    <a:off x="930" y="3038"/>
                    <a:ext cx="551" cy="352"/>
                  </a:xfrm>
                  <a:custGeom>
                    <a:avLst/>
                    <a:gdLst>
                      <a:gd name="T0" fmla="*/ 0 w 551"/>
                      <a:gd name="T1" fmla="*/ 0 h 354"/>
                      <a:gd name="T2" fmla="*/ 550 w 551"/>
                      <a:gd name="T3" fmla="*/ 0 h 354"/>
                      <a:gd name="T4" fmla="*/ 550 w 551"/>
                      <a:gd name="T5" fmla="*/ 353 h 354"/>
                      <a:gd name="T6" fmla="*/ 0 w 551"/>
                      <a:gd name="T7" fmla="*/ 353 h 354"/>
                      <a:gd name="T8" fmla="*/ 0 w 551"/>
                      <a:gd name="T9" fmla="*/ 0 h 354"/>
                      <a:gd name="T10" fmla="*/ 0 60000 65536"/>
                      <a:gd name="T11" fmla="*/ 0 60000 65536"/>
                      <a:gd name="T12" fmla="*/ 0 60000 65536"/>
                      <a:gd name="T13" fmla="*/ 0 60000 65536"/>
                      <a:gd name="T14" fmla="*/ 0 60000 65536"/>
                      <a:gd name="T15" fmla="*/ 0 w 551"/>
                      <a:gd name="T16" fmla="*/ 0 h 354"/>
                      <a:gd name="T17" fmla="*/ 551 w 551"/>
                      <a:gd name="T18" fmla="*/ 354 h 354"/>
                    </a:gdLst>
                    <a:ahLst/>
                    <a:cxnLst>
                      <a:cxn ang="T10">
                        <a:pos x="T0" y="T1"/>
                      </a:cxn>
                      <a:cxn ang="T11">
                        <a:pos x="T2" y="T3"/>
                      </a:cxn>
                      <a:cxn ang="T12">
                        <a:pos x="T4" y="T5"/>
                      </a:cxn>
                      <a:cxn ang="T13">
                        <a:pos x="T6" y="T7"/>
                      </a:cxn>
                      <a:cxn ang="T14">
                        <a:pos x="T8" y="T9"/>
                      </a:cxn>
                    </a:cxnLst>
                    <a:rect l="T15" t="T16" r="T17" b="T18"/>
                    <a:pathLst>
                      <a:path w="551" h="354">
                        <a:moveTo>
                          <a:pt x="0" y="0"/>
                        </a:moveTo>
                        <a:lnTo>
                          <a:pt x="550" y="0"/>
                        </a:lnTo>
                        <a:lnTo>
                          <a:pt x="550"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140" name="Group 159">
                    <a:extLst>
                      <a:ext uri="{FF2B5EF4-FFF2-40B4-BE49-F238E27FC236}">
                        <a16:creationId xmlns:a16="http://schemas.microsoft.com/office/drawing/2014/main" id="{B36DC380-4585-4EC3-85BA-83C99D536301}"/>
                      </a:ext>
                    </a:extLst>
                  </p:cNvPr>
                  <p:cNvGrpSpPr>
                    <a:grpSpLocks/>
                  </p:cNvGrpSpPr>
                  <p:nvPr/>
                </p:nvGrpSpPr>
                <p:grpSpPr bwMode="auto">
                  <a:xfrm>
                    <a:off x="894" y="3021"/>
                    <a:ext cx="569" cy="348"/>
                    <a:chOff x="894" y="3021"/>
                    <a:chExt cx="569" cy="348"/>
                  </a:xfrm>
                </p:grpSpPr>
                <p:sp>
                  <p:nvSpPr>
                    <p:cNvPr id="141" name="Freeform 160">
                      <a:extLst>
                        <a:ext uri="{FF2B5EF4-FFF2-40B4-BE49-F238E27FC236}">
                          <a16:creationId xmlns:a16="http://schemas.microsoft.com/office/drawing/2014/main" id="{F73FB14B-B2BD-4B35-95B4-8BD9872C1A4B}"/>
                        </a:ext>
                      </a:extLst>
                    </p:cNvPr>
                    <p:cNvSpPr>
                      <a:spLocks/>
                    </p:cNvSpPr>
                    <p:nvPr/>
                  </p:nvSpPr>
                  <p:spPr bwMode="auto">
                    <a:xfrm>
                      <a:off x="908" y="3021"/>
                      <a:ext cx="555" cy="348"/>
                    </a:xfrm>
                    <a:custGeom>
                      <a:avLst/>
                      <a:gdLst>
                        <a:gd name="T0" fmla="*/ 0 w 550"/>
                        <a:gd name="T1" fmla="*/ 0 h 351"/>
                        <a:gd name="T2" fmla="*/ 0 w 550"/>
                        <a:gd name="T3" fmla="*/ 350 h 351"/>
                        <a:gd name="T4" fmla="*/ 549 w 550"/>
                        <a:gd name="T5" fmla="*/ 350 h 351"/>
                        <a:gd name="T6" fmla="*/ 549 w 550"/>
                        <a:gd name="T7" fmla="*/ 0 h 351"/>
                        <a:gd name="T8" fmla="*/ 0 w 550"/>
                        <a:gd name="T9" fmla="*/ 0 h 351"/>
                        <a:gd name="T10" fmla="*/ 0 60000 65536"/>
                        <a:gd name="T11" fmla="*/ 0 60000 65536"/>
                        <a:gd name="T12" fmla="*/ 0 60000 65536"/>
                        <a:gd name="T13" fmla="*/ 0 60000 65536"/>
                        <a:gd name="T14" fmla="*/ 0 60000 65536"/>
                        <a:gd name="T15" fmla="*/ 0 w 550"/>
                        <a:gd name="T16" fmla="*/ 0 h 351"/>
                        <a:gd name="T17" fmla="*/ 550 w 550"/>
                        <a:gd name="T18" fmla="*/ 351 h 351"/>
                      </a:gdLst>
                      <a:ahLst/>
                      <a:cxnLst>
                        <a:cxn ang="T10">
                          <a:pos x="T0" y="T1"/>
                        </a:cxn>
                        <a:cxn ang="T11">
                          <a:pos x="T2" y="T3"/>
                        </a:cxn>
                        <a:cxn ang="T12">
                          <a:pos x="T4" y="T5"/>
                        </a:cxn>
                        <a:cxn ang="T13">
                          <a:pos x="T6" y="T7"/>
                        </a:cxn>
                        <a:cxn ang="T14">
                          <a:pos x="T8" y="T9"/>
                        </a:cxn>
                      </a:cxnLst>
                      <a:rect l="T15" t="T16" r="T17" b="T18"/>
                      <a:pathLst>
                        <a:path w="550" h="351">
                          <a:moveTo>
                            <a:pt x="0" y="0"/>
                          </a:moveTo>
                          <a:lnTo>
                            <a:pt x="0" y="350"/>
                          </a:lnTo>
                          <a:lnTo>
                            <a:pt x="549" y="350"/>
                          </a:lnTo>
                          <a:lnTo>
                            <a:pt x="549"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42" name="Rectangle 161">
                      <a:extLst>
                        <a:ext uri="{FF2B5EF4-FFF2-40B4-BE49-F238E27FC236}">
                          <a16:creationId xmlns:a16="http://schemas.microsoft.com/office/drawing/2014/main" id="{4113E0C2-D279-4869-8E4E-F2CA4820C59F}"/>
                        </a:ext>
                      </a:extLst>
                    </p:cNvPr>
                    <p:cNvSpPr>
                      <a:spLocks noChangeArrowheads="1"/>
                    </p:cNvSpPr>
                    <p:nvPr/>
                  </p:nvSpPr>
                  <p:spPr bwMode="auto">
                    <a:xfrm>
                      <a:off x="894" y="3095"/>
                      <a:ext cx="483"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050" b="1" kern="0" dirty="0">
                          <a:solidFill>
                            <a:srgbClr val="000000"/>
                          </a:solidFill>
                          <a:latin typeface="Arial"/>
                          <a:ea typeface="+mn-ea"/>
                          <a:cs typeface="Arial"/>
                        </a:rPr>
                        <a:t>DVC</a:t>
                      </a:r>
                      <a:r>
                        <a:rPr lang="de-DE" sz="1050" b="1" kern="0" dirty="0">
                          <a:solidFill>
                            <a:srgbClr val="000000"/>
                          </a:solidFill>
                          <a:latin typeface="Arial" charset="0"/>
                          <a:ea typeface="+mn-ea"/>
                          <a:cs typeface="Arial" charset="0"/>
                        </a:rPr>
                        <a:t>65</a:t>
                      </a:r>
                    </a:p>
                  </p:txBody>
                </p:sp>
              </p:grpSp>
            </p:grpSp>
            <p:grpSp>
              <p:nvGrpSpPr>
                <p:cNvPr id="133" name="Group 162">
                  <a:extLst>
                    <a:ext uri="{FF2B5EF4-FFF2-40B4-BE49-F238E27FC236}">
                      <a16:creationId xmlns:a16="http://schemas.microsoft.com/office/drawing/2014/main" id="{F86AD7CE-0F7E-457D-9F48-0F71FFE733B4}"/>
                    </a:ext>
                  </a:extLst>
                </p:cNvPr>
                <p:cNvGrpSpPr>
                  <a:grpSpLocks/>
                </p:cNvGrpSpPr>
                <p:nvPr/>
              </p:nvGrpSpPr>
              <p:grpSpPr bwMode="auto">
                <a:xfrm>
                  <a:off x="434" y="3567"/>
                  <a:ext cx="573" cy="369"/>
                  <a:chOff x="905" y="3414"/>
                  <a:chExt cx="573" cy="369"/>
                </a:xfrm>
              </p:grpSpPr>
              <p:sp>
                <p:nvSpPr>
                  <p:cNvPr id="136" name="Freeform 163">
                    <a:extLst>
                      <a:ext uri="{FF2B5EF4-FFF2-40B4-BE49-F238E27FC236}">
                        <a16:creationId xmlns:a16="http://schemas.microsoft.com/office/drawing/2014/main" id="{6DCDD435-737D-4E63-9412-D75A094AEF2D}"/>
                      </a:ext>
                    </a:extLst>
                  </p:cNvPr>
                  <p:cNvSpPr>
                    <a:spLocks/>
                  </p:cNvSpPr>
                  <p:nvPr/>
                </p:nvSpPr>
                <p:spPr bwMode="auto">
                  <a:xfrm>
                    <a:off x="930" y="3430"/>
                    <a:ext cx="548" cy="353"/>
                  </a:xfrm>
                  <a:custGeom>
                    <a:avLst/>
                    <a:gdLst>
                      <a:gd name="T0" fmla="*/ 0 w 548"/>
                      <a:gd name="T1" fmla="*/ 0 h 354"/>
                      <a:gd name="T2" fmla="*/ 547 w 548"/>
                      <a:gd name="T3" fmla="*/ 0 h 354"/>
                      <a:gd name="T4" fmla="*/ 547 w 548"/>
                      <a:gd name="T5" fmla="*/ 353 h 354"/>
                      <a:gd name="T6" fmla="*/ 0 w 548"/>
                      <a:gd name="T7" fmla="*/ 353 h 354"/>
                      <a:gd name="T8" fmla="*/ 0 w 548"/>
                      <a:gd name="T9" fmla="*/ 0 h 354"/>
                      <a:gd name="T10" fmla="*/ 0 60000 65536"/>
                      <a:gd name="T11" fmla="*/ 0 60000 65536"/>
                      <a:gd name="T12" fmla="*/ 0 60000 65536"/>
                      <a:gd name="T13" fmla="*/ 0 60000 65536"/>
                      <a:gd name="T14" fmla="*/ 0 60000 65536"/>
                      <a:gd name="T15" fmla="*/ 0 w 548"/>
                      <a:gd name="T16" fmla="*/ 0 h 354"/>
                      <a:gd name="T17" fmla="*/ 548 w 548"/>
                      <a:gd name="T18" fmla="*/ 354 h 354"/>
                    </a:gdLst>
                    <a:ahLst/>
                    <a:cxnLst>
                      <a:cxn ang="T10">
                        <a:pos x="T0" y="T1"/>
                      </a:cxn>
                      <a:cxn ang="T11">
                        <a:pos x="T2" y="T3"/>
                      </a:cxn>
                      <a:cxn ang="T12">
                        <a:pos x="T4" y="T5"/>
                      </a:cxn>
                      <a:cxn ang="T13">
                        <a:pos x="T6" y="T7"/>
                      </a:cxn>
                      <a:cxn ang="T14">
                        <a:pos x="T8" y="T9"/>
                      </a:cxn>
                    </a:cxnLst>
                    <a:rect l="T15" t="T16" r="T17" b="T18"/>
                    <a:pathLst>
                      <a:path w="548" h="354">
                        <a:moveTo>
                          <a:pt x="0" y="0"/>
                        </a:moveTo>
                        <a:lnTo>
                          <a:pt x="547" y="0"/>
                        </a:lnTo>
                        <a:lnTo>
                          <a:pt x="547"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37" name="Freeform 164">
                    <a:extLst>
                      <a:ext uri="{FF2B5EF4-FFF2-40B4-BE49-F238E27FC236}">
                        <a16:creationId xmlns:a16="http://schemas.microsoft.com/office/drawing/2014/main" id="{D698473E-2B02-44DB-9990-F19515A809F9}"/>
                      </a:ext>
                    </a:extLst>
                  </p:cNvPr>
                  <p:cNvSpPr>
                    <a:spLocks/>
                  </p:cNvSpPr>
                  <p:nvPr/>
                </p:nvSpPr>
                <p:spPr bwMode="auto">
                  <a:xfrm>
                    <a:off x="905" y="3414"/>
                    <a:ext cx="544" cy="353"/>
                  </a:xfrm>
                  <a:custGeom>
                    <a:avLst/>
                    <a:gdLst>
                      <a:gd name="T0" fmla="*/ 0 w 546"/>
                      <a:gd name="T1" fmla="*/ 0 h 351"/>
                      <a:gd name="T2" fmla="*/ 0 w 546"/>
                      <a:gd name="T3" fmla="*/ 350 h 351"/>
                      <a:gd name="T4" fmla="*/ 545 w 546"/>
                      <a:gd name="T5" fmla="*/ 350 h 351"/>
                      <a:gd name="T6" fmla="*/ 545 w 546"/>
                      <a:gd name="T7" fmla="*/ 0 h 351"/>
                      <a:gd name="T8" fmla="*/ 0 w 546"/>
                      <a:gd name="T9" fmla="*/ 0 h 351"/>
                      <a:gd name="T10" fmla="*/ 0 60000 65536"/>
                      <a:gd name="T11" fmla="*/ 0 60000 65536"/>
                      <a:gd name="T12" fmla="*/ 0 60000 65536"/>
                      <a:gd name="T13" fmla="*/ 0 60000 65536"/>
                      <a:gd name="T14" fmla="*/ 0 60000 65536"/>
                      <a:gd name="T15" fmla="*/ 0 w 546"/>
                      <a:gd name="T16" fmla="*/ 0 h 351"/>
                      <a:gd name="T17" fmla="*/ 546 w 546"/>
                      <a:gd name="T18" fmla="*/ 351 h 351"/>
                    </a:gdLst>
                    <a:ahLst/>
                    <a:cxnLst>
                      <a:cxn ang="T10">
                        <a:pos x="T0" y="T1"/>
                      </a:cxn>
                      <a:cxn ang="T11">
                        <a:pos x="T2" y="T3"/>
                      </a:cxn>
                      <a:cxn ang="T12">
                        <a:pos x="T4" y="T5"/>
                      </a:cxn>
                      <a:cxn ang="T13">
                        <a:pos x="T6" y="T7"/>
                      </a:cxn>
                      <a:cxn ang="T14">
                        <a:pos x="T8" y="T9"/>
                      </a:cxn>
                    </a:cxnLst>
                    <a:rect l="T15" t="T16" r="T17" b="T18"/>
                    <a:pathLst>
                      <a:path w="546" h="351">
                        <a:moveTo>
                          <a:pt x="0" y="0"/>
                        </a:moveTo>
                        <a:lnTo>
                          <a:pt x="0" y="350"/>
                        </a:lnTo>
                        <a:lnTo>
                          <a:pt x="545" y="350"/>
                        </a:lnTo>
                        <a:lnTo>
                          <a:pt x="545"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38" name="Rectangle 165">
                    <a:extLst>
                      <a:ext uri="{FF2B5EF4-FFF2-40B4-BE49-F238E27FC236}">
                        <a16:creationId xmlns:a16="http://schemas.microsoft.com/office/drawing/2014/main" id="{AE8AAA1A-44CA-424D-83AC-11869DF81338}"/>
                      </a:ext>
                    </a:extLst>
                  </p:cNvPr>
                  <p:cNvSpPr>
                    <a:spLocks noChangeArrowheads="1"/>
                  </p:cNvSpPr>
                  <p:nvPr/>
                </p:nvSpPr>
                <p:spPr bwMode="auto">
                  <a:xfrm>
                    <a:off x="905" y="3485"/>
                    <a:ext cx="573"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90488" tIns="44450" rIns="90488" bIns="44450">
                    <a:spAutoFit/>
                  </a:bodyPr>
                  <a:lstStyle/>
                  <a:p>
                    <a:pPr defTabSz="762000" fontAlgn="auto">
                      <a:spcBef>
                        <a:spcPts val="0"/>
                      </a:spcBef>
                      <a:spcAft>
                        <a:spcPts val="0"/>
                      </a:spcAft>
                      <a:defRPr/>
                    </a:pPr>
                    <a:r>
                      <a:rPr lang="de-DE" sz="1050" b="1" kern="0" dirty="0">
                        <a:solidFill>
                          <a:srgbClr val="000000"/>
                        </a:solidFill>
                        <a:latin typeface="Arial"/>
                        <a:ea typeface="+mn-ea"/>
                        <a:cs typeface="Arial"/>
                      </a:rPr>
                      <a:t>DVC</a:t>
                    </a:r>
                    <a:r>
                      <a:rPr lang="de-DE" sz="1050" b="1" kern="0" dirty="0">
                        <a:solidFill>
                          <a:srgbClr val="000000"/>
                        </a:solidFill>
                        <a:latin typeface="Arial" charset="0"/>
                        <a:ea typeface="+mn-ea"/>
                        <a:cs typeface="Arial" charset="0"/>
                      </a:rPr>
                      <a:t>127</a:t>
                    </a:r>
                  </a:p>
                </p:txBody>
              </p:sp>
            </p:grpSp>
            <p:sp>
              <p:nvSpPr>
                <p:cNvPr id="134" name="Oval 168">
                  <a:extLst>
                    <a:ext uri="{FF2B5EF4-FFF2-40B4-BE49-F238E27FC236}">
                      <a16:creationId xmlns:a16="http://schemas.microsoft.com/office/drawing/2014/main" id="{2578154F-910D-4656-AA7C-9B536347D4E2}"/>
                    </a:ext>
                  </a:extLst>
                </p:cNvPr>
                <p:cNvSpPr>
                  <a:spLocks noChangeArrowheads="1"/>
                </p:cNvSpPr>
                <p:nvPr/>
              </p:nvSpPr>
              <p:spPr bwMode="auto">
                <a:xfrm>
                  <a:off x="345" y="3354"/>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sp>
              <p:nvSpPr>
                <p:cNvPr id="135" name="Oval 169">
                  <a:extLst>
                    <a:ext uri="{FF2B5EF4-FFF2-40B4-BE49-F238E27FC236}">
                      <a16:creationId xmlns:a16="http://schemas.microsoft.com/office/drawing/2014/main" id="{2E89784B-A3DA-4819-A2E2-FE793F5622AD}"/>
                    </a:ext>
                  </a:extLst>
                </p:cNvPr>
                <p:cNvSpPr>
                  <a:spLocks noChangeArrowheads="1"/>
                </p:cNvSpPr>
                <p:nvPr/>
              </p:nvSpPr>
              <p:spPr bwMode="auto">
                <a:xfrm>
                  <a:off x="345" y="3744"/>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grpSp>
          <p:grpSp>
            <p:nvGrpSpPr>
              <p:cNvPr id="100" name="Group 240">
                <a:extLst>
                  <a:ext uri="{FF2B5EF4-FFF2-40B4-BE49-F238E27FC236}">
                    <a16:creationId xmlns:a16="http://schemas.microsoft.com/office/drawing/2014/main" id="{7FC70319-E960-4AAF-B26E-3EDDF7C48219}"/>
                  </a:ext>
                </a:extLst>
              </p:cNvPr>
              <p:cNvGrpSpPr>
                <a:grpSpLocks/>
              </p:cNvGrpSpPr>
              <p:nvPr/>
            </p:nvGrpSpPr>
            <p:grpSpPr bwMode="auto">
              <a:xfrm>
                <a:off x="3719996" y="4374837"/>
                <a:ext cx="1832348" cy="1603375"/>
                <a:chOff x="3063" y="2609"/>
                <a:chExt cx="1429" cy="1309"/>
              </a:xfrm>
            </p:grpSpPr>
            <p:grpSp>
              <p:nvGrpSpPr>
                <p:cNvPr id="104" name="Group 213">
                  <a:extLst>
                    <a:ext uri="{FF2B5EF4-FFF2-40B4-BE49-F238E27FC236}">
                      <a16:creationId xmlns:a16="http://schemas.microsoft.com/office/drawing/2014/main" id="{AA152057-17D9-45E7-A7F1-BF23D4B40EB6}"/>
                    </a:ext>
                  </a:extLst>
                </p:cNvPr>
                <p:cNvGrpSpPr>
                  <a:grpSpLocks/>
                </p:cNvGrpSpPr>
                <p:nvPr/>
              </p:nvGrpSpPr>
              <p:grpSpPr bwMode="auto">
                <a:xfrm>
                  <a:off x="3063" y="2622"/>
                  <a:ext cx="1429" cy="1296"/>
                  <a:chOff x="1560" y="2640"/>
                  <a:chExt cx="1429" cy="1296"/>
                </a:xfrm>
              </p:grpSpPr>
              <p:sp>
                <p:nvSpPr>
                  <p:cNvPr id="106" name="Line 214">
                    <a:extLst>
                      <a:ext uri="{FF2B5EF4-FFF2-40B4-BE49-F238E27FC236}">
                        <a16:creationId xmlns:a16="http://schemas.microsoft.com/office/drawing/2014/main" id="{620B247F-3375-4A4E-8028-80C2B0428D06}"/>
                      </a:ext>
                    </a:extLst>
                  </p:cNvPr>
                  <p:cNvSpPr>
                    <a:spLocks noChangeShapeType="1"/>
                  </p:cNvSpPr>
                  <p:nvPr/>
                </p:nvSpPr>
                <p:spPr bwMode="auto">
                  <a:xfrm>
                    <a:off x="1829" y="2640"/>
                    <a:ext cx="0" cy="1132"/>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07" name="Rectangle 215">
                    <a:extLst>
                      <a:ext uri="{FF2B5EF4-FFF2-40B4-BE49-F238E27FC236}">
                        <a16:creationId xmlns:a16="http://schemas.microsoft.com/office/drawing/2014/main" id="{F4A5A48E-E552-4455-9E79-5A4103EDB724}"/>
                      </a:ext>
                    </a:extLst>
                  </p:cNvPr>
                  <p:cNvSpPr>
                    <a:spLocks noChangeArrowheads="1"/>
                  </p:cNvSpPr>
                  <p:nvPr/>
                </p:nvSpPr>
                <p:spPr bwMode="auto">
                  <a:xfrm>
                    <a:off x="2455" y="324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a:solidFill>
                          <a:srgbClr val="000000"/>
                        </a:solidFill>
                        <a:latin typeface="Arial"/>
                        <a:ea typeface="+mn-ea"/>
                        <a:cs typeface="Arial"/>
                      </a:rPr>
                      <a:t>X.X.193</a:t>
                    </a:r>
                  </a:p>
                </p:txBody>
              </p:sp>
              <p:sp>
                <p:nvSpPr>
                  <p:cNvPr id="108" name="Rectangle 216">
                    <a:extLst>
                      <a:ext uri="{FF2B5EF4-FFF2-40B4-BE49-F238E27FC236}">
                        <a16:creationId xmlns:a16="http://schemas.microsoft.com/office/drawing/2014/main" id="{49F8F15D-C7E0-4FBD-A020-CEA5F34CF53F}"/>
                      </a:ext>
                    </a:extLst>
                  </p:cNvPr>
                  <p:cNvSpPr>
                    <a:spLocks noChangeArrowheads="1"/>
                  </p:cNvSpPr>
                  <p:nvPr/>
                </p:nvSpPr>
                <p:spPr bwMode="auto">
                  <a:xfrm>
                    <a:off x="2455" y="3638"/>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X.X.255</a:t>
                    </a:r>
                  </a:p>
                </p:txBody>
              </p:sp>
              <p:sp>
                <p:nvSpPr>
                  <p:cNvPr id="109" name="Rectangle 217">
                    <a:extLst>
                      <a:ext uri="{FF2B5EF4-FFF2-40B4-BE49-F238E27FC236}">
                        <a16:creationId xmlns:a16="http://schemas.microsoft.com/office/drawing/2014/main" id="{4D83CD40-213C-46C5-9DF0-E794DF831BCF}"/>
                      </a:ext>
                    </a:extLst>
                  </p:cNvPr>
                  <p:cNvSpPr>
                    <a:spLocks noChangeArrowheads="1"/>
                  </p:cNvSpPr>
                  <p:nvPr/>
                </p:nvSpPr>
                <p:spPr bwMode="auto">
                  <a:xfrm>
                    <a:off x="2112" y="2795"/>
                    <a:ext cx="534" cy="211"/>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100" b="1" kern="0" dirty="0">
                        <a:solidFill>
                          <a:srgbClr val="000000"/>
                        </a:solidFill>
                        <a:latin typeface="Arial"/>
                        <a:ea typeface="+mn-ea"/>
                        <a:cs typeface="Arial"/>
                      </a:rPr>
                      <a:t>X.X.192</a:t>
                    </a:r>
                  </a:p>
                </p:txBody>
              </p:sp>
              <p:sp>
                <p:nvSpPr>
                  <p:cNvPr id="110" name="Line 218">
                    <a:extLst>
                      <a:ext uri="{FF2B5EF4-FFF2-40B4-BE49-F238E27FC236}">
                        <a16:creationId xmlns:a16="http://schemas.microsoft.com/office/drawing/2014/main" id="{4DC04417-081A-4795-B82F-54C0188C3D0B}"/>
                      </a:ext>
                    </a:extLst>
                  </p:cNvPr>
                  <p:cNvSpPr>
                    <a:spLocks noChangeShapeType="1"/>
                  </p:cNvSpPr>
                  <p:nvPr/>
                </p:nvSpPr>
                <p:spPr bwMode="auto">
                  <a:xfrm>
                    <a:off x="1859" y="3363"/>
                    <a:ext cx="115"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11" name="Line 219">
                    <a:extLst>
                      <a:ext uri="{FF2B5EF4-FFF2-40B4-BE49-F238E27FC236}">
                        <a16:creationId xmlns:a16="http://schemas.microsoft.com/office/drawing/2014/main" id="{71EA13C0-032A-4DCF-8429-2058BB41594B}"/>
                      </a:ext>
                    </a:extLst>
                  </p:cNvPr>
                  <p:cNvSpPr>
                    <a:spLocks noChangeShapeType="1"/>
                  </p:cNvSpPr>
                  <p:nvPr/>
                </p:nvSpPr>
                <p:spPr bwMode="auto">
                  <a:xfrm>
                    <a:off x="1850" y="3752"/>
                    <a:ext cx="120" cy="0"/>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grpSp>
                <p:nvGrpSpPr>
                  <p:cNvPr id="112" name="Group 220">
                    <a:extLst>
                      <a:ext uri="{FF2B5EF4-FFF2-40B4-BE49-F238E27FC236}">
                        <a16:creationId xmlns:a16="http://schemas.microsoft.com/office/drawing/2014/main" id="{7C69DA16-1A0D-46FB-AF43-AD3BA9E1F2AF}"/>
                      </a:ext>
                    </a:extLst>
                  </p:cNvPr>
                  <p:cNvGrpSpPr>
                    <a:grpSpLocks/>
                  </p:cNvGrpSpPr>
                  <p:nvPr/>
                </p:nvGrpSpPr>
                <p:grpSpPr bwMode="auto">
                  <a:xfrm>
                    <a:off x="1560" y="2729"/>
                    <a:ext cx="554" cy="369"/>
                    <a:chOff x="480" y="2576"/>
                    <a:chExt cx="554" cy="369"/>
                  </a:xfrm>
                </p:grpSpPr>
                <p:sp>
                  <p:nvSpPr>
                    <p:cNvPr id="124" name="Freeform 221">
                      <a:extLst>
                        <a:ext uri="{FF2B5EF4-FFF2-40B4-BE49-F238E27FC236}">
                          <a16:creationId xmlns:a16="http://schemas.microsoft.com/office/drawing/2014/main" id="{AAF15425-E39F-4F52-A835-1E888B33B4AC}"/>
                        </a:ext>
                      </a:extLst>
                    </p:cNvPr>
                    <p:cNvSpPr>
                      <a:spLocks/>
                    </p:cNvSpPr>
                    <p:nvPr/>
                  </p:nvSpPr>
                  <p:spPr bwMode="auto">
                    <a:xfrm>
                      <a:off x="500" y="2592"/>
                      <a:ext cx="531" cy="353"/>
                    </a:xfrm>
                    <a:custGeom>
                      <a:avLst/>
                      <a:gdLst>
                        <a:gd name="T0" fmla="*/ 0 w 534"/>
                        <a:gd name="T1" fmla="*/ 0 h 356"/>
                        <a:gd name="T2" fmla="*/ 533 w 534"/>
                        <a:gd name="T3" fmla="*/ 0 h 356"/>
                        <a:gd name="T4" fmla="*/ 533 w 534"/>
                        <a:gd name="T5" fmla="*/ 355 h 356"/>
                        <a:gd name="T6" fmla="*/ 0 w 534"/>
                        <a:gd name="T7" fmla="*/ 355 h 356"/>
                        <a:gd name="T8" fmla="*/ 0 w 534"/>
                        <a:gd name="T9" fmla="*/ 0 h 356"/>
                        <a:gd name="T10" fmla="*/ 0 60000 65536"/>
                        <a:gd name="T11" fmla="*/ 0 60000 65536"/>
                        <a:gd name="T12" fmla="*/ 0 60000 65536"/>
                        <a:gd name="T13" fmla="*/ 0 60000 65536"/>
                        <a:gd name="T14" fmla="*/ 0 60000 65536"/>
                        <a:gd name="T15" fmla="*/ 0 w 534"/>
                        <a:gd name="T16" fmla="*/ 0 h 356"/>
                        <a:gd name="T17" fmla="*/ 534 w 534"/>
                        <a:gd name="T18" fmla="*/ 356 h 356"/>
                      </a:gdLst>
                      <a:ahLst/>
                      <a:cxnLst>
                        <a:cxn ang="T10">
                          <a:pos x="T0" y="T1"/>
                        </a:cxn>
                        <a:cxn ang="T11">
                          <a:pos x="T2" y="T3"/>
                        </a:cxn>
                        <a:cxn ang="T12">
                          <a:pos x="T4" y="T5"/>
                        </a:cxn>
                        <a:cxn ang="T13">
                          <a:pos x="T6" y="T7"/>
                        </a:cxn>
                        <a:cxn ang="T14">
                          <a:pos x="T8" y="T9"/>
                        </a:cxn>
                      </a:cxnLst>
                      <a:rect l="T15" t="T16" r="T17" b="T18"/>
                      <a:pathLst>
                        <a:path w="534" h="356">
                          <a:moveTo>
                            <a:pt x="0" y="0"/>
                          </a:moveTo>
                          <a:lnTo>
                            <a:pt x="533" y="0"/>
                          </a:lnTo>
                          <a:lnTo>
                            <a:pt x="533" y="355"/>
                          </a:lnTo>
                          <a:lnTo>
                            <a:pt x="0" y="355"/>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25" name="Freeform 222">
                      <a:extLst>
                        <a:ext uri="{FF2B5EF4-FFF2-40B4-BE49-F238E27FC236}">
                          <a16:creationId xmlns:a16="http://schemas.microsoft.com/office/drawing/2014/main" id="{D5747700-7127-4D11-8973-6DDA1427FB01}"/>
                        </a:ext>
                      </a:extLst>
                    </p:cNvPr>
                    <p:cNvSpPr>
                      <a:spLocks/>
                    </p:cNvSpPr>
                    <p:nvPr/>
                  </p:nvSpPr>
                  <p:spPr bwMode="auto">
                    <a:xfrm>
                      <a:off x="483" y="2579"/>
                      <a:ext cx="527" cy="350"/>
                    </a:xfrm>
                    <a:custGeom>
                      <a:avLst/>
                      <a:gdLst>
                        <a:gd name="T0" fmla="*/ 0 w 531"/>
                        <a:gd name="T1" fmla="*/ 0 h 354"/>
                        <a:gd name="T2" fmla="*/ 0 w 531"/>
                        <a:gd name="T3" fmla="*/ 353 h 354"/>
                        <a:gd name="T4" fmla="*/ 530 w 531"/>
                        <a:gd name="T5" fmla="*/ 353 h 354"/>
                        <a:gd name="T6" fmla="*/ 530 w 531"/>
                        <a:gd name="T7" fmla="*/ 0 h 354"/>
                        <a:gd name="T8" fmla="*/ 0 w 531"/>
                        <a:gd name="T9" fmla="*/ 0 h 354"/>
                        <a:gd name="T10" fmla="*/ 0 60000 65536"/>
                        <a:gd name="T11" fmla="*/ 0 60000 65536"/>
                        <a:gd name="T12" fmla="*/ 0 60000 65536"/>
                        <a:gd name="T13" fmla="*/ 0 60000 65536"/>
                        <a:gd name="T14" fmla="*/ 0 60000 65536"/>
                        <a:gd name="T15" fmla="*/ 0 w 531"/>
                        <a:gd name="T16" fmla="*/ 0 h 354"/>
                        <a:gd name="T17" fmla="*/ 531 w 531"/>
                        <a:gd name="T18" fmla="*/ 354 h 354"/>
                      </a:gdLst>
                      <a:ahLst/>
                      <a:cxnLst>
                        <a:cxn ang="T10">
                          <a:pos x="T0" y="T1"/>
                        </a:cxn>
                        <a:cxn ang="T11">
                          <a:pos x="T2" y="T3"/>
                        </a:cxn>
                        <a:cxn ang="T12">
                          <a:pos x="T4" y="T5"/>
                        </a:cxn>
                        <a:cxn ang="T13">
                          <a:pos x="T6" y="T7"/>
                        </a:cxn>
                        <a:cxn ang="T14">
                          <a:pos x="T8" y="T9"/>
                        </a:cxn>
                      </a:cxnLst>
                      <a:rect l="T15" t="T16" r="T17" b="T18"/>
                      <a:pathLst>
                        <a:path w="531" h="354">
                          <a:moveTo>
                            <a:pt x="0" y="0"/>
                          </a:moveTo>
                          <a:lnTo>
                            <a:pt x="0" y="353"/>
                          </a:lnTo>
                          <a:lnTo>
                            <a:pt x="530" y="353"/>
                          </a:lnTo>
                          <a:lnTo>
                            <a:pt x="530" y="0"/>
                          </a:lnTo>
                          <a:lnTo>
                            <a:pt x="0" y="0"/>
                          </a:lnTo>
                        </a:path>
                      </a:pathLst>
                    </a:custGeom>
                    <a:solidFill>
                      <a:srgbClr val="808485"/>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grpSp>
                <p:nvGrpSpPr>
                  <p:cNvPr id="113" name="Group 224">
                    <a:extLst>
                      <a:ext uri="{FF2B5EF4-FFF2-40B4-BE49-F238E27FC236}">
                        <a16:creationId xmlns:a16="http://schemas.microsoft.com/office/drawing/2014/main" id="{DD815D6E-FFA8-4A2A-9CF4-DEB4026ACB2B}"/>
                      </a:ext>
                    </a:extLst>
                  </p:cNvPr>
                  <p:cNvGrpSpPr>
                    <a:grpSpLocks/>
                  </p:cNvGrpSpPr>
                  <p:nvPr/>
                </p:nvGrpSpPr>
                <p:grpSpPr bwMode="auto">
                  <a:xfrm>
                    <a:off x="1906" y="3180"/>
                    <a:ext cx="592" cy="366"/>
                    <a:chOff x="889" y="3027"/>
                    <a:chExt cx="592" cy="366"/>
                  </a:xfrm>
                </p:grpSpPr>
                <p:sp>
                  <p:nvSpPr>
                    <p:cNvPr id="120" name="Freeform 225">
                      <a:extLst>
                        <a:ext uri="{FF2B5EF4-FFF2-40B4-BE49-F238E27FC236}">
                          <a16:creationId xmlns:a16="http://schemas.microsoft.com/office/drawing/2014/main" id="{CB9ED69F-B484-4D40-B23A-82480DFA96AA}"/>
                        </a:ext>
                      </a:extLst>
                    </p:cNvPr>
                    <p:cNvSpPr>
                      <a:spLocks/>
                    </p:cNvSpPr>
                    <p:nvPr/>
                  </p:nvSpPr>
                  <p:spPr bwMode="auto">
                    <a:xfrm>
                      <a:off x="931" y="3037"/>
                      <a:ext cx="550" cy="353"/>
                    </a:xfrm>
                    <a:custGeom>
                      <a:avLst/>
                      <a:gdLst>
                        <a:gd name="T0" fmla="*/ 0 w 551"/>
                        <a:gd name="T1" fmla="*/ 0 h 354"/>
                        <a:gd name="T2" fmla="*/ 550 w 551"/>
                        <a:gd name="T3" fmla="*/ 0 h 354"/>
                        <a:gd name="T4" fmla="*/ 550 w 551"/>
                        <a:gd name="T5" fmla="*/ 353 h 354"/>
                        <a:gd name="T6" fmla="*/ 0 w 551"/>
                        <a:gd name="T7" fmla="*/ 353 h 354"/>
                        <a:gd name="T8" fmla="*/ 0 w 551"/>
                        <a:gd name="T9" fmla="*/ 0 h 354"/>
                        <a:gd name="T10" fmla="*/ 0 60000 65536"/>
                        <a:gd name="T11" fmla="*/ 0 60000 65536"/>
                        <a:gd name="T12" fmla="*/ 0 60000 65536"/>
                        <a:gd name="T13" fmla="*/ 0 60000 65536"/>
                        <a:gd name="T14" fmla="*/ 0 60000 65536"/>
                        <a:gd name="T15" fmla="*/ 0 w 551"/>
                        <a:gd name="T16" fmla="*/ 0 h 354"/>
                        <a:gd name="T17" fmla="*/ 551 w 551"/>
                        <a:gd name="T18" fmla="*/ 354 h 354"/>
                      </a:gdLst>
                      <a:ahLst/>
                      <a:cxnLst>
                        <a:cxn ang="T10">
                          <a:pos x="T0" y="T1"/>
                        </a:cxn>
                        <a:cxn ang="T11">
                          <a:pos x="T2" y="T3"/>
                        </a:cxn>
                        <a:cxn ang="T12">
                          <a:pos x="T4" y="T5"/>
                        </a:cxn>
                        <a:cxn ang="T13">
                          <a:pos x="T6" y="T7"/>
                        </a:cxn>
                        <a:cxn ang="T14">
                          <a:pos x="T8" y="T9"/>
                        </a:cxn>
                      </a:cxnLst>
                      <a:rect l="T15" t="T16" r="T17" b="T18"/>
                      <a:pathLst>
                        <a:path w="551" h="354">
                          <a:moveTo>
                            <a:pt x="0" y="0"/>
                          </a:moveTo>
                          <a:lnTo>
                            <a:pt x="550" y="0"/>
                          </a:lnTo>
                          <a:lnTo>
                            <a:pt x="550"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grpSp>
                  <p:nvGrpSpPr>
                    <p:cNvPr id="121" name="Group 226">
                      <a:extLst>
                        <a:ext uri="{FF2B5EF4-FFF2-40B4-BE49-F238E27FC236}">
                          <a16:creationId xmlns:a16="http://schemas.microsoft.com/office/drawing/2014/main" id="{E09228F5-F60D-4E01-B927-067B28BF1152}"/>
                        </a:ext>
                      </a:extLst>
                    </p:cNvPr>
                    <p:cNvGrpSpPr>
                      <a:grpSpLocks/>
                    </p:cNvGrpSpPr>
                    <p:nvPr/>
                  </p:nvGrpSpPr>
                  <p:grpSpPr bwMode="auto">
                    <a:xfrm>
                      <a:off x="889" y="3027"/>
                      <a:ext cx="568" cy="345"/>
                      <a:chOff x="889" y="3027"/>
                      <a:chExt cx="568" cy="345"/>
                    </a:xfrm>
                  </p:grpSpPr>
                  <p:sp>
                    <p:nvSpPr>
                      <p:cNvPr id="122" name="Freeform 227">
                        <a:extLst>
                          <a:ext uri="{FF2B5EF4-FFF2-40B4-BE49-F238E27FC236}">
                            <a16:creationId xmlns:a16="http://schemas.microsoft.com/office/drawing/2014/main" id="{17288949-5A8B-4F98-8D67-1772DED467FD}"/>
                          </a:ext>
                        </a:extLst>
                      </p:cNvPr>
                      <p:cNvSpPr>
                        <a:spLocks/>
                      </p:cNvSpPr>
                      <p:nvPr/>
                    </p:nvSpPr>
                    <p:spPr bwMode="auto">
                      <a:xfrm>
                        <a:off x="907" y="3027"/>
                        <a:ext cx="550" cy="345"/>
                      </a:xfrm>
                      <a:custGeom>
                        <a:avLst/>
                        <a:gdLst>
                          <a:gd name="T0" fmla="*/ 0 w 550"/>
                          <a:gd name="T1" fmla="*/ 0 h 351"/>
                          <a:gd name="T2" fmla="*/ 0 w 550"/>
                          <a:gd name="T3" fmla="*/ 350 h 351"/>
                          <a:gd name="T4" fmla="*/ 549 w 550"/>
                          <a:gd name="T5" fmla="*/ 350 h 351"/>
                          <a:gd name="T6" fmla="*/ 549 w 550"/>
                          <a:gd name="T7" fmla="*/ 0 h 351"/>
                          <a:gd name="T8" fmla="*/ 0 w 550"/>
                          <a:gd name="T9" fmla="*/ 0 h 351"/>
                          <a:gd name="T10" fmla="*/ 0 60000 65536"/>
                          <a:gd name="T11" fmla="*/ 0 60000 65536"/>
                          <a:gd name="T12" fmla="*/ 0 60000 65536"/>
                          <a:gd name="T13" fmla="*/ 0 60000 65536"/>
                          <a:gd name="T14" fmla="*/ 0 60000 65536"/>
                          <a:gd name="T15" fmla="*/ 0 w 550"/>
                          <a:gd name="T16" fmla="*/ 0 h 351"/>
                          <a:gd name="T17" fmla="*/ 550 w 550"/>
                          <a:gd name="T18" fmla="*/ 351 h 351"/>
                        </a:gdLst>
                        <a:ahLst/>
                        <a:cxnLst>
                          <a:cxn ang="T10">
                            <a:pos x="T0" y="T1"/>
                          </a:cxn>
                          <a:cxn ang="T11">
                            <a:pos x="T2" y="T3"/>
                          </a:cxn>
                          <a:cxn ang="T12">
                            <a:pos x="T4" y="T5"/>
                          </a:cxn>
                          <a:cxn ang="T13">
                            <a:pos x="T6" y="T7"/>
                          </a:cxn>
                          <a:cxn ang="T14">
                            <a:pos x="T8" y="T9"/>
                          </a:cxn>
                        </a:cxnLst>
                        <a:rect l="T15" t="T16" r="T17" b="T18"/>
                        <a:pathLst>
                          <a:path w="550" h="351">
                            <a:moveTo>
                              <a:pt x="0" y="0"/>
                            </a:moveTo>
                            <a:lnTo>
                              <a:pt x="0" y="350"/>
                            </a:lnTo>
                            <a:lnTo>
                              <a:pt x="549" y="350"/>
                            </a:lnTo>
                            <a:lnTo>
                              <a:pt x="549"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23" name="Rectangle 228">
                        <a:extLst>
                          <a:ext uri="{FF2B5EF4-FFF2-40B4-BE49-F238E27FC236}">
                            <a16:creationId xmlns:a16="http://schemas.microsoft.com/office/drawing/2014/main" id="{1E098754-5329-4A6B-B6C3-2B40849B3CD0}"/>
                          </a:ext>
                        </a:extLst>
                      </p:cNvPr>
                      <p:cNvSpPr>
                        <a:spLocks noChangeArrowheads="1"/>
                      </p:cNvSpPr>
                      <p:nvPr/>
                    </p:nvSpPr>
                    <p:spPr bwMode="auto">
                      <a:xfrm>
                        <a:off x="889" y="3095"/>
                        <a:ext cx="541"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762000" fontAlgn="auto">
                          <a:spcBef>
                            <a:spcPts val="0"/>
                          </a:spcBef>
                          <a:spcAft>
                            <a:spcPts val="0"/>
                          </a:spcAft>
                          <a:defRPr/>
                        </a:pPr>
                        <a:r>
                          <a:rPr lang="de-DE" sz="1050" b="1" kern="0" dirty="0">
                            <a:solidFill>
                              <a:srgbClr val="000000"/>
                            </a:solidFill>
                            <a:latin typeface="Arial"/>
                            <a:ea typeface="+mn-ea"/>
                            <a:cs typeface="Arial"/>
                          </a:rPr>
                          <a:t>DVC</a:t>
                        </a:r>
                        <a:r>
                          <a:rPr lang="de-DE" sz="1050" b="1" kern="0" dirty="0">
                            <a:solidFill>
                              <a:srgbClr val="000000"/>
                            </a:solidFill>
                            <a:latin typeface="Arial" charset="0"/>
                            <a:ea typeface="+mn-ea"/>
                            <a:cs typeface="Arial" charset="0"/>
                          </a:rPr>
                          <a:t>193</a:t>
                        </a:r>
                      </a:p>
                    </p:txBody>
                  </p:sp>
                </p:grpSp>
              </p:grpSp>
              <p:grpSp>
                <p:nvGrpSpPr>
                  <p:cNvPr id="114" name="Group 229">
                    <a:extLst>
                      <a:ext uri="{FF2B5EF4-FFF2-40B4-BE49-F238E27FC236}">
                        <a16:creationId xmlns:a16="http://schemas.microsoft.com/office/drawing/2014/main" id="{27D9E168-15DD-408B-B736-A39030736E43}"/>
                      </a:ext>
                    </a:extLst>
                  </p:cNvPr>
                  <p:cNvGrpSpPr>
                    <a:grpSpLocks/>
                  </p:cNvGrpSpPr>
                  <p:nvPr/>
                </p:nvGrpSpPr>
                <p:grpSpPr bwMode="auto">
                  <a:xfrm>
                    <a:off x="1920" y="3573"/>
                    <a:ext cx="575" cy="363"/>
                    <a:chOff x="903" y="3420"/>
                    <a:chExt cx="575" cy="363"/>
                  </a:xfrm>
                </p:grpSpPr>
                <p:sp>
                  <p:nvSpPr>
                    <p:cNvPr id="117" name="Freeform 672">
                      <a:extLst>
                        <a:ext uri="{FF2B5EF4-FFF2-40B4-BE49-F238E27FC236}">
                          <a16:creationId xmlns:a16="http://schemas.microsoft.com/office/drawing/2014/main" id="{956DA447-27D7-4B50-8037-03997E41ECC6}"/>
                        </a:ext>
                      </a:extLst>
                    </p:cNvPr>
                    <p:cNvSpPr>
                      <a:spLocks/>
                    </p:cNvSpPr>
                    <p:nvPr/>
                  </p:nvSpPr>
                  <p:spPr bwMode="auto">
                    <a:xfrm>
                      <a:off x="931" y="3429"/>
                      <a:ext cx="547" cy="354"/>
                    </a:xfrm>
                    <a:custGeom>
                      <a:avLst/>
                      <a:gdLst>
                        <a:gd name="T0" fmla="*/ 0 w 548"/>
                        <a:gd name="T1" fmla="*/ 0 h 354"/>
                        <a:gd name="T2" fmla="*/ 547 w 548"/>
                        <a:gd name="T3" fmla="*/ 0 h 354"/>
                        <a:gd name="T4" fmla="*/ 547 w 548"/>
                        <a:gd name="T5" fmla="*/ 353 h 354"/>
                        <a:gd name="T6" fmla="*/ 0 w 548"/>
                        <a:gd name="T7" fmla="*/ 353 h 354"/>
                        <a:gd name="T8" fmla="*/ 0 w 548"/>
                        <a:gd name="T9" fmla="*/ 0 h 354"/>
                        <a:gd name="T10" fmla="*/ 0 60000 65536"/>
                        <a:gd name="T11" fmla="*/ 0 60000 65536"/>
                        <a:gd name="T12" fmla="*/ 0 60000 65536"/>
                        <a:gd name="T13" fmla="*/ 0 60000 65536"/>
                        <a:gd name="T14" fmla="*/ 0 60000 65536"/>
                        <a:gd name="T15" fmla="*/ 0 w 548"/>
                        <a:gd name="T16" fmla="*/ 0 h 354"/>
                        <a:gd name="T17" fmla="*/ 548 w 548"/>
                        <a:gd name="T18" fmla="*/ 354 h 354"/>
                      </a:gdLst>
                      <a:ahLst/>
                      <a:cxnLst>
                        <a:cxn ang="T10">
                          <a:pos x="T0" y="T1"/>
                        </a:cxn>
                        <a:cxn ang="T11">
                          <a:pos x="T2" y="T3"/>
                        </a:cxn>
                        <a:cxn ang="T12">
                          <a:pos x="T4" y="T5"/>
                        </a:cxn>
                        <a:cxn ang="T13">
                          <a:pos x="T6" y="T7"/>
                        </a:cxn>
                        <a:cxn ang="T14">
                          <a:pos x="T8" y="T9"/>
                        </a:cxn>
                      </a:cxnLst>
                      <a:rect l="T15" t="T16" r="T17" b="T18"/>
                      <a:pathLst>
                        <a:path w="548" h="354">
                          <a:moveTo>
                            <a:pt x="0" y="0"/>
                          </a:moveTo>
                          <a:lnTo>
                            <a:pt x="547" y="0"/>
                          </a:lnTo>
                          <a:lnTo>
                            <a:pt x="547" y="353"/>
                          </a:lnTo>
                          <a:lnTo>
                            <a:pt x="0" y="353"/>
                          </a:lnTo>
                          <a:lnTo>
                            <a:pt x="0" y="0"/>
                          </a:lnTo>
                        </a:path>
                      </a:pathLst>
                    </a:custGeom>
                    <a:solidFill>
                      <a:srgbClr val="000000"/>
                    </a:solidFill>
                    <a:ln w="12700" cap="rnd">
                      <a:no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18" name="Freeform 673">
                      <a:extLst>
                        <a:ext uri="{FF2B5EF4-FFF2-40B4-BE49-F238E27FC236}">
                          <a16:creationId xmlns:a16="http://schemas.microsoft.com/office/drawing/2014/main" id="{3E6E3D96-64F7-4CDF-BBAC-F2323CD8AB3B}"/>
                        </a:ext>
                      </a:extLst>
                    </p:cNvPr>
                    <p:cNvSpPr>
                      <a:spLocks/>
                    </p:cNvSpPr>
                    <p:nvPr/>
                  </p:nvSpPr>
                  <p:spPr bwMode="auto">
                    <a:xfrm>
                      <a:off x="907" y="3420"/>
                      <a:ext cx="546" cy="348"/>
                    </a:xfrm>
                    <a:custGeom>
                      <a:avLst/>
                      <a:gdLst>
                        <a:gd name="T0" fmla="*/ 0 w 546"/>
                        <a:gd name="T1" fmla="*/ 0 h 351"/>
                        <a:gd name="T2" fmla="*/ 0 w 546"/>
                        <a:gd name="T3" fmla="*/ 350 h 351"/>
                        <a:gd name="T4" fmla="*/ 545 w 546"/>
                        <a:gd name="T5" fmla="*/ 350 h 351"/>
                        <a:gd name="T6" fmla="*/ 545 w 546"/>
                        <a:gd name="T7" fmla="*/ 0 h 351"/>
                        <a:gd name="T8" fmla="*/ 0 w 546"/>
                        <a:gd name="T9" fmla="*/ 0 h 351"/>
                        <a:gd name="T10" fmla="*/ 0 60000 65536"/>
                        <a:gd name="T11" fmla="*/ 0 60000 65536"/>
                        <a:gd name="T12" fmla="*/ 0 60000 65536"/>
                        <a:gd name="T13" fmla="*/ 0 60000 65536"/>
                        <a:gd name="T14" fmla="*/ 0 60000 65536"/>
                        <a:gd name="T15" fmla="*/ 0 w 546"/>
                        <a:gd name="T16" fmla="*/ 0 h 351"/>
                        <a:gd name="T17" fmla="*/ 546 w 546"/>
                        <a:gd name="T18" fmla="*/ 351 h 351"/>
                      </a:gdLst>
                      <a:ahLst/>
                      <a:cxnLst>
                        <a:cxn ang="T10">
                          <a:pos x="T0" y="T1"/>
                        </a:cxn>
                        <a:cxn ang="T11">
                          <a:pos x="T2" y="T3"/>
                        </a:cxn>
                        <a:cxn ang="T12">
                          <a:pos x="T4" y="T5"/>
                        </a:cxn>
                        <a:cxn ang="T13">
                          <a:pos x="T6" y="T7"/>
                        </a:cxn>
                        <a:cxn ang="T14">
                          <a:pos x="T8" y="T9"/>
                        </a:cxn>
                      </a:cxnLst>
                      <a:rect l="T15" t="T16" r="T17" b="T18"/>
                      <a:pathLst>
                        <a:path w="546" h="351">
                          <a:moveTo>
                            <a:pt x="0" y="0"/>
                          </a:moveTo>
                          <a:lnTo>
                            <a:pt x="0" y="350"/>
                          </a:lnTo>
                          <a:lnTo>
                            <a:pt x="545" y="350"/>
                          </a:lnTo>
                          <a:lnTo>
                            <a:pt x="545" y="0"/>
                          </a:lnTo>
                          <a:lnTo>
                            <a:pt x="0" y="0"/>
                          </a:lnTo>
                        </a:path>
                      </a:pathLst>
                    </a:custGeom>
                    <a:solidFill>
                      <a:srgbClr val="F0F0F0"/>
                    </a:solidFill>
                    <a:ln w="12700" cap="rnd">
                      <a:solidFill>
                        <a:srgbClr val="000000"/>
                      </a:solidFill>
                      <a:round/>
                      <a:headEnd/>
                      <a:tailEnd/>
                    </a:ln>
                  </p:spPr>
                  <p:txBody>
                    <a:bodyPr/>
                    <a:lstStyle/>
                    <a:p>
                      <a:pPr defTabSz="914400" fontAlgn="auto">
                        <a:spcBef>
                          <a:spcPts val="0"/>
                        </a:spcBef>
                        <a:spcAft>
                          <a:spcPts val="0"/>
                        </a:spcAft>
                        <a:defRPr/>
                      </a:pPr>
                      <a:endParaRPr lang="en-US" sz="1100" kern="0">
                        <a:solidFill>
                          <a:sysClr val="windowText" lastClr="000000"/>
                        </a:solidFill>
                      </a:endParaRPr>
                    </a:p>
                  </p:txBody>
                </p:sp>
                <p:sp>
                  <p:nvSpPr>
                    <p:cNvPr id="119" name="Rectangle 118">
                      <a:extLst>
                        <a:ext uri="{FF2B5EF4-FFF2-40B4-BE49-F238E27FC236}">
                          <a16:creationId xmlns:a16="http://schemas.microsoft.com/office/drawing/2014/main" id="{C85BB439-1890-4AB3-9521-D81CDF0BDB70}"/>
                        </a:ext>
                      </a:extLst>
                    </p:cNvPr>
                    <p:cNvSpPr>
                      <a:spLocks noChangeArrowheads="1"/>
                    </p:cNvSpPr>
                    <p:nvPr/>
                  </p:nvSpPr>
                  <p:spPr bwMode="auto">
                    <a:xfrm>
                      <a:off x="903" y="3485"/>
                      <a:ext cx="570" cy="205"/>
                    </a:xfrm>
                    <a:prstGeom prst="rect">
                      <a:avLst/>
                    </a:prstGeom>
                    <a:no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lIns="90488" tIns="44450" rIns="90488" bIns="44450">
                      <a:spAutoFit/>
                    </a:bodyPr>
                    <a:lstStyle/>
                    <a:p>
                      <a:pPr defTabSz="762000" fontAlgn="auto">
                        <a:spcBef>
                          <a:spcPts val="0"/>
                        </a:spcBef>
                        <a:spcAft>
                          <a:spcPts val="0"/>
                        </a:spcAft>
                        <a:defRPr/>
                      </a:pPr>
                      <a:r>
                        <a:rPr lang="de-DE" sz="1050" b="1" kern="0" dirty="0">
                          <a:solidFill>
                            <a:srgbClr val="000000"/>
                          </a:solidFill>
                          <a:latin typeface="Arial"/>
                          <a:ea typeface="+mn-ea"/>
                          <a:cs typeface="Arial"/>
                        </a:rPr>
                        <a:t>DVC</a:t>
                      </a:r>
                      <a:r>
                        <a:rPr lang="de-DE" sz="1050" b="1" kern="0" dirty="0">
                          <a:solidFill>
                            <a:srgbClr val="000000"/>
                          </a:solidFill>
                          <a:latin typeface="Arial" charset="0"/>
                          <a:ea typeface="+mn-ea"/>
                          <a:cs typeface="Arial" charset="0"/>
                        </a:rPr>
                        <a:t>255</a:t>
                      </a:r>
                    </a:p>
                  </p:txBody>
                </p:sp>
              </p:grpSp>
              <p:sp>
                <p:nvSpPr>
                  <p:cNvPr id="115" name="Oval 233">
                    <a:extLst>
                      <a:ext uri="{FF2B5EF4-FFF2-40B4-BE49-F238E27FC236}">
                        <a16:creationId xmlns:a16="http://schemas.microsoft.com/office/drawing/2014/main" id="{7163A5C7-AF36-44B2-A52C-07591F3FBE72}"/>
                      </a:ext>
                    </a:extLst>
                  </p:cNvPr>
                  <p:cNvSpPr>
                    <a:spLocks noChangeArrowheads="1"/>
                  </p:cNvSpPr>
                  <p:nvPr/>
                </p:nvSpPr>
                <p:spPr bwMode="auto">
                  <a:xfrm>
                    <a:off x="1830" y="3735"/>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sp>
                <p:nvSpPr>
                  <p:cNvPr id="116" name="Oval 234">
                    <a:extLst>
                      <a:ext uri="{FF2B5EF4-FFF2-40B4-BE49-F238E27FC236}">
                        <a16:creationId xmlns:a16="http://schemas.microsoft.com/office/drawing/2014/main" id="{019598F1-6B03-4018-8F4B-78785718F169}"/>
                      </a:ext>
                    </a:extLst>
                  </p:cNvPr>
                  <p:cNvSpPr>
                    <a:spLocks noChangeArrowheads="1"/>
                  </p:cNvSpPr>
                  <p:nvPr/>
                </p:nvSpPr>
                <p:spPr bwMode="auto">
                  <a:xfrm>
                    <a:off x="1830" y="3348"/>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grpSp>
            <p:sp>
              <p:nvSpPr>
                <p:cNvPr id="105" name="Oval 238">
                  <a:extLst>
                    <a:ext uri="{FF2B5EF4-FFF2-40B4-BE49-F238E27FC236}">
                      <a16:creationId xmlns:a16="http://schemas.microsoft.com/office/drawing/2014/main" id="{7F943167-5024-425C-98DE-0A97A0C3E61E}"/>
                    </a:ext>
                  </a:extLst>
                </p:cNvPr>
                <p:cNvSpPr>
                  <a:spLocks noChangeArrowheads="1"/>
                </p:cNvSpPr>
                <p:nvPr/>
              </p:nvSpPr>
              <p:spPr bwMode="auto">
                <a:xfrm>
                  <a:off x="3327" y="2609"/>
                  <a:ext cx="16" cy="16"/>
                </a:xfrm>
                <a:prstGeom prst="ellipse">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anchor="ctr"/>
                <a:lstStyle/>
                <a:p>
                  <a:pPr defTabSz="914400" fontAlgn="auto">
                    <a:spcBef>
                      <a:spcPts val="0"/>
                    </a:spcBef>
                    <a:spcAft>
                      <a:spcPts val="0"/>
                    </a:spcAft>
                    <a:defRPr/>
                  </a:pPr>
                  <a:endParaRPr lang="en-US" sz="1100" kern="0">
                    <a:solidFill>
                      <a:srgbClr val="000000"/>
                    </a:solidFill>
                    <a:latin typeface="Arial"/>
                    <a:ea typeface="+mn-ea"/>
                    <a:cs typeface="Arial"/>
                  </a:endParaRPr>
                </a:p>
              </p:txBody>
            </p:sp>
          </p:grpSp>
          <p:sp>
            <p:nvSpPr>
              <p:cNvPr id="101" name="Line 253">
                <a:extLst>
                  <a:ext uri="{FF2B5EF4-FFF2-40B4-BE49-F238E27FC236}">
                    <a16:creationId xmlns:a16="http://schemas.microsoft.com/office/drawing/2014/main" id="{B33AC049-BEAC-4ADC-80CD-699A7124721E}"/>
                  </a:ext>
                </a:extLst>
              </p:cNvPr>
              <p:cNvSpPr>
                <a:spLocks noChangeShapeType="1"/>
              </p:cNvSpPr>
              <p:nvPr/>
            </p:nvSpPr>
            <p:spPr bwMode="auto">
              <a:xfrm rot="5400000">
                <a:off x="3184262" y="3476815"/>
                <a:ext cx="0" cy="1803044"/>
              </a:xfrm>
              <a:prstGeom prst="line">
                <a:avLst/>
              </a:prstGeom>
              <a:noFill/>
              <a:ln w="25400">
                <a:solidFill>
                  <a:srgbClr val="000000"/>
                </a:solidFill>
                <a:round/>
                <a:headEnd/>
                <a:tailEnd/>
              </a:ln>
            </p:spPr>
            <p:txBody>
              <a:bodyPr wrap="none" anchor="ctr"/>
              <a:lstStyle/>
              <a:p>
                <a:pPr defTabSz="914400" fontAlgn="auto">
                  <a:spcBef>
                    <a:spcPts val="0"/>
                  </a:spcBef>
                  <a:spcAft>
                    <a:spcPts val="0"/>
                  </a:spcAft>
                  <a:defRPr/>
                </a:pPr>
                <a:endParaRPr lang="en-US" kern="0">
                  <a:solidFill>
                    <a:sysClr val="windowText" lastClr="000000"/>
                  </a:solidFill>
                </a:endParaRPr>
              </a:p>
            </p:txBody>
          </p:sp>
          <p:sp>
            <p:nvSpPr>
              <p:cNvPr id="102" name="Rectangle 147">
                <a:extLst>
                  <a:ext uri="{FF2B5EF4-FFF2-40B4-BE49-F238E27FC236}">
                    <a16:creationId xmlns:a16="http://schemas.microsoft.com/office/drawing/2014/main" id="{660CA501-08EC-42AC-B2D7-49C44E0188FF}"/>
                  </a:ext>
                </a:extLst>
              </p:cNvPr>
              <p:cNvSpPr>
                <a:spLocks noChangeArrowheads="1"/>
              </p:cNvSpPr>
              <p:nvPr/>
            </p:nvSpPr>
            <p:spPr bwMode="auto">
              <a:xfrm>
                <a:off x="2284802" y="4586755"/>
                <a:ext cx="498379" cy="259649"/>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algn="ctr" defTabSz="762000" fontAlgn="auto">
                  <a:spcBef>
                    <a:spcPts val="0"/>
                  </a:spcBef>
                  <a:spcAft>
                    <a:spcPts val="0"/>
                  </a:spcAft>
                  <a:defRPr/>
                </a:pPr>
                <a:r>
                  <a:rPr lang="de-DE" sz="1100" b="1" kern="0" dirty="0">
                    <a:solidFill>
                      <a:srgbClr val="000000"/>
                    </a:solidFill>
                    <a:latin typeface="Arial"/>
                    <a:ea typeface="+mn-ea"/>
                    <a:cs typeface="Arial"/>
                  </a:rPr>
                  <a:t>LR</a:t>
                </a:r>
              </a:p>
            </p:txBody>
          </p:sp>
          <p:sp>
            <p:nvSpPr>
              <p:cNvPr id="103" name="Rectangle 147">
                <a:extLst>
                  <a:ext uri="{FF2B5EF4-FFF2-40B4-BE49-F238E27FC236}">
                    <a16:creationId xmlns:a16="http://schemas.microsoft.com/office/drawing/2014/main" id="{2094960F-0ED7-4203-B027-E689E8E807EA}"/>
                  </a:ext>
                </a:extLst>
              </p:cNvPr>
              <p:cNvSpPr>
                <a:spLocks noChangeArrowheads="1"/>
              </p:cNvSpPr>
              <p:nvPr/>
            </p:nvSpPr>
            <p:spPr bwMode="auto">
              <a:xfrm>
                <a:off x="3831008" y="4592233"/>
                <a:ext cx="498379" cy="259649"/>
              </a:xfrm>
              <a:prstGeom prst="rect">
                <a:avLst/>
              </a:prstGeom>
              <a:gradFill rotWithShape="1">
                <a:gsLst>
                  <a:gs pos="0">
                    <a:srgbClr val="FFFFFF">
                      <a:shade val="51000"/>
                      <a:satMod val="130000"/>
                    </a:srgbClr>
                  </a:gs>
                  <a:gs pos="80000">
                    <a:srgbClr val="FFFFFF">
                      <a:shade val="93000"/>
                      <a:satMod val="130000"/>
                    </a:srgbClr>
                  </a:gs>
                  <a:gs pos="100000">
                    <a:srgbClr val="FFFFFF">
                      <a:shade val="94000"/>
                      <a:satMod val="135000"/>
                    </a:srgbClr>
                  </a:gs>
                </a:gsLst>
                <a:lin ang="16200000" scaled="0"/>
              </a:gra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90488" tIns="44450" rIns="90488" bIns="44450">
                <a:spAutoFit/>
              </a:bodyPr>
              <a:lstStyle/>
              <a:p>
                <a:pPr algn="ctr" defTabSz="762000" fontAlgn="auto">
                  <a:spcBef>
                    <a:spcPts val="0"/>
                  </a:spcBef>
                  <a:spcAft>
                    <a:spcPts val="0"/>
                  </a:spcAft>
                  <a:defRPr/>
                </a:pPr>
                <a:r>
                  <a:rPr lang="de-DE" sz="1100" b="1" kern="0" dirty="0">
                    <a:solidFill>
                      <a:srgbClr val="000000"/>
                    </a:solidFill>
                    <a:latin typeface="Arial"/>
                    <a:ea typeface="+mn-ea"/>
                    <a:cs typeface="Arial"/>
                  </a:rPr>
                  <a:t>LR</a:t>
                </a:r>
              </a:p>
            </p:txBody>
          </p:sp>
        </p:grpSp>
        <p:sp>
          <p:nvSpPr>
            <p:cNvPr id="91" name="Oval 120">
              <a:extLst>
                <a:ext uri="{FF2B5EF4-FFF2-40B4-BE49-F238E27FC236}">
                  <a16:creationId xmlns:a16="http://schemas.microsoft.com/office/drawing/2014/main" id="{BA355C47-0554-43BD-9592-BA062E57B976}"/>
                </a:ext>
              </a:extLst>
            </p:cNvPr>
            <p:cNvSpPr>
              <a:spLocks noChangeArrowheads="1"/>
            </p:cNvSpPr>
            <p:nvPr/>
          </p:nvSpPr>
          <p:spPr bwMode="auto">
            <a:xfrm>
              <a:off x="4039983" y="5284869"/>
              <a:ext cx="20633"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92" name="Oval 120">
              <a:extLst>
                <a:ext uri="{FF2B5EF4-FFF2-40B4-BE49-F238E27FC236}">
                  <a16:creationId xmlns:a16="http://schemas.microsoft.com/office/drawing/2014/main" id="{56BC9765-2BE3-46E5-BB04-B502C0F5FFCA}"/>
                </a:ext>
              </a:extLst>
            </p:cNvPr>
            <p:cNvSpPr>
              <a:spLocks noChangeArrowheads="1"/>
            </p:cNvSpPr>
            <p:nvPr/>
          </p:nvSpPr>
          <p:spPr bwMode="auto">
            <a:xfrm>
              <a:off x="4039983" y="5764673"/>
              <a:ext cx="20633"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93" name="Oval 120">
              <a:extLst>
                <a:ext uri="{FF2B5EF4-FFF2-40B4-BE49-F238E27FC236}">
                  <a16:creationId xmlns:a16="http://schemas.microsoft.com/office/drawing/2014/main" id="{D239E687-830B-4C9D-A8E2-31D5F7CD2CD7}"/>
                </a:ext>
              </a:extLst>
            </p:cNvPr>
            <p:cNvSpPr>
              <a:spLocks noChangeArrowheads="1"/>
            </p:cNvSpPr>
            <p:nvPr/>
          </p:nvSpPr>
          <p:spPr bwMode="auto">
            <a:xfrm>
              <a:off x="2508348" y="5750374"/>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94" name="Oval 120">
              <a:extLst>
                <a:ext uri="{FF2B5EF4-FFF2-40B4-BE49-F238E27FC236}">
                  <a16:creationId xmlns:a16="http://schemas.microsoft.com/office/drawing/2014/main" id="{336CAB5A-9D51-4E09-8B8B-7338CE7EA4CC}"/>
                </a:ext>
              </a:extLst>
            </p:cNvPr>
            <p:cNvSpPr>
              <a:spLocks noChangeArrowheads="1"/>
            </p:cNvSpPr>
            <p:nvPr/>
          </p:nvSpPr>
          <p:spPr bwMode="auto">
            <a:xfrm>
              <a:off x="2508348" y="5268982"/>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95" name="Oval 120">
              <a:extLst>
                <a:ext uri="{FF2B5EF4-FFF2-40B4-BE49-F238E27FC236}">
                  <a16:creationId xmlns:a16="http://schemas.microsoft.com/office/drawing/2014/main" id="{50AD92B3-B733-4808-AAB9-C1A2D5CB9E36}"/>
                </a:ext>
              </a:extLst>
            </p:cNvPr>
            <p:cNvSpPr>
              <a:spLocks noChangeArrowheads="1"/>
            </p:cNvSpPr>
            <p:nvPr/>
          </p:nvSpPr>
          <p:spPr bwMode="auto">
            <a:xfrm>
              <a:off x="930685" y="5276925"/>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sp>
          <p:nvSpPr>
            <p:cNvPr id="96" name="Oval 120">
              <a:extLst>
                <a:ext uri="{FF2B5EF4-FFF2-40B4-BE49-F238E27FC236}">
                  <a16:creationId xmlns:a16="http://schemas.microsoft.com/office/drawing/2014/main" id="{E738EDAB-B056-44D4-951A-70FCC78E3B8E}"/>
                </a:ext>
              </a:extLst>
            </p:cNvPr>
            <p:cNvSpPr>
              <a:spLocks noChangeArrowheads="1"/>
            </p:cNvSpPr>
            <p:nvPr/>
          </p:nvSpPr>
          <p:spPr bwMode="auto">
            <a:xfrm>
              <a:off x="930685" y="5750374"/>
              <a:ext cx="20634" cy="19065"/>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grpSp>
      <p:grpSp>
        <p:nvGrpSpPr>
          <p:cNvPr id="170" name="Group 169">
            <a:extLst>
              <a:ext uri="{FF2B5EF4-FFF2-40B4-BE49-F238E27FC236}">
                <a16:creationId xmlns:a16="http://schemas.microsoft.com/office/drawing/2014/main" id="{30B7072C-DFAB-4EAA-9A1B-50EFFCFBC662}"/>
              </a:ext>
            </a:extLst>
          </p:cNvPr>
          <p:cNvGrpSpPr>
            <a:grpSpLocks/>
          </p:cNvGrpSpPr>
          <p:nvPr/>
        </p:nvGrpSpPr>
        <p:grpSpPr bwMode="auto">
          <a:xfrm>
            <a:off x="7130019" y="1772816"/>
            <a:ext cx="1373188" cy="1710058"/>
            <a:chOff x="7239105" y="1765606"/>
            <a:chExt cx="1373187" cy="1709806"/>
          </a:xfrm>
        </p:grpSpPr>
        <p:grpSp>
          <p:nvGrpSpPr>
            <p:cNvPr id="171" name="Group 722">
              <a:extLst>
                <a:ext uri="{FF2B5EF4-FFF2-40B4-BE49-F238E27FC236}">
                  <a16:creationId xmlns:a16="http://schemas.microsoft.com/office/drawing/2014/main" id="{59487BFB-CD70-478E-9AA6-28328C092229}"/>
                </a:ext>
              </a:extLst>
            </p:cNvPr>
            <p:cNvGrpSpPr>
              <a:grpSpLocks/>
            </p:cNvGrpSpPr>
            <p:nvPr/>
          </p:nvGrpSpPr>
          <p:grpSpPr bwMode="auto">
            <a:xfrm>
              <a:off x="7239105" y="1768781"/>
              <a:ext cx="1373187" cy="1706631"/>
              <a:chOff x="10412236" y="2064869"/>
              <a:chExt cx="1372911" cy="1707016"/>
            </a:xfrm>
          </p:grpSpPr>
          <p:sp>
            <p:nvSpPr>
              <p:cNvPr id="173" name="Freeform 257">
                <a:extLst>
                  <a:ext uri="{FF2B5EF4-FFF2-40B4-BE49-F238E27FC236}">
                    <a16:creationId xmlns:a16="http://schemas.microsoft.com/office/drawing/2014/main" id="{672D2B52-9BF4-4163-9DB5-B1BDBEEB8B9D}"/>
                  </a:ext>
                </a:extLst>
              </p:cNvPr>
              <p:cNvSpPr>
                <a:spLocks/>
              </p:cNvSpPr>
              <p:nvPr/>
            </p:nvSpPr>
            <p:spPr bwMode="auto">
              <a:xfrm>
                <a:off x="10412236" y="2288724"/>
                <a:ext cx="1318947" cy="350864"/>
              </a:xfrm>
              <a:custGeom>
                <a:avLst/>
                <a:gdLst/>
                <a:ahLst/>
                <a:cxnLst>
                  <a:cxn ang="0">
                    <a:pos x="0" y="0"/>
                  </a:cxn>
                  <a:cxn ang="0">
                    <a:pos x="473" y="0"/>
                  </a:cxn>
                  <a:cxn ang="0">
                    <a:pos x="473" y="256"/>
                  </a:cxn>
                  <a:cxn ang="0">
                    <a:pos x="0" y="256"/>
                  </a:cxn>
                  <a:cxn ang="0">
                    <a:pos x="0" y="0"/>
                  </a:cxn>
                </a:cxnLst>
                <a:rect l="0" t="0" r="r" b="b"/>
                <a:pathLst>
                  <a:path w="474" h="257">
                    <a:moveTo>
                      <a:pt x="0" y="0"/>
                    </a:moveTo>
                    <a:lnTo>
                      <a:pt x="473" y="0"/>
                    </a:lnTo>
                    <a:lnTo>
                      <a:pt x="473" y="256"/>
                    </a:lnTo>
                    <a:lnTo>
                      <a:pt x="0" y="256"/>
                    </a:lnTo>
                    <a:lnTo>
                      <a:pt x="0" y="0"/>
                    </a:lnTo>
                  </a:path>
                </a:pathLst>
              </a:custGeom>
              <a:solidFill>
                <a:schemeClr val="bg2"/>
              </a:solidFill>
              <a:ln w="12700" cap="rnd" cmpd="sng">
                <a:solidFill>
                  <a:schemeClr val="bg2">
                    <a:lumMod val="10000"/>
                  </a:schemeClr>
                </a:solidFill>
                <a:prstDash val="solid"/>
                <a:round/>
                <a:headEnd type="none" w="med" len="med"/>
                <a:tailEnd type="none" w="med" len="med"/>
              </a:ln>
              <a:effectLst>
                <a:outerShdw dist="107763" dir="2700000" algn="ctr" rotWithShape="0">
                  <a:schemeClr val="bg2"/>
                </a:outerShdw>
              </a:effectLst>
            </p:spPr>
            <p:txBody>
              <a:bodyPr/>
              <a:lstStyle/>
              <a:p>
                <a:pPr algn="ctr">
                  <a:defRPr/>
                </a:pPr>
                <a:r>
                  <a:rPr lang="en-US" sz="1400" b="1" dirty="0">
                    <a:solidFill>
                      <a:schemeClr val="bg2">
                        <a:lumMod val="10000"/>
                      </a:schemeClr>
                    </a:solidFill>
                  </a:rPr>
                  <a:t>GAT</a:t>
                </a:r>
              </a:p>
            </p:txBody>
          </p:sp>
          <p:sp>
            <p:nvSpPr>
              <p:cNvPr id="174" name="Line 259">
                <a:extLst>
                  <a:ext uri="{FF2B5EF4-FFF2-40B4-BE49-F238E27FC236}">
                    <a16:creationId xmlns:a16="http://schemas.microsoft.com/office/drawing/2014/main" id="{2869B0FA-76DB-4B9B-B485-3AAD44E22A5D}"/>
                  </a:ext>
                </a:extLst>
              </p:cNvPr>
              <p:cNvSpPr>
                <a:spLocks noChangeShapeType="1"/>
              </p:cNvSpPr>
              <p:nvPr/>
            </p:nvSpPr>
            <p:spPr bwMode="auto">
              <a:xfrm flipV="1">
                <a:off x="10982034" y="2064869"/>
                <a:ext cx="0" cy="247669"/>
              </a:xfrm>
              <a:prstGeom prst="line">
                <a:avLst/>
              </a:prstGeom>
              <a:noFill/>
              <a:ln w="25400">
                <a:solidFill>
                  <a:schemeClr val="bg2">
                    <a:lumMod val="10000"/>
                  </a:schemeClr>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es-ES" sz="1400">
                  <a:solidFill>
                    <a:schemeClr val="bg2">
                      <a:lumMod val="10000"/>
                    </a:schemeClr>
                  </a:solidFill>
                </a:endParaRPr>
              </a:p>
            </p:txBody>
          </p:sp>
          <p:sp>
            <p:nvSpPr>
              <p:cNvPr id="175" name="Freeform 257">
                <a:extLst>
                  <a:ext uri="{FF2B5EF4-FFF2-40B4-BE49-F238E27FC236}">
                    <a16:creationId xmlns:a16="http://schemas.microsoft.com/office/drawing/2014/main" id="{539915C2-B96E-4201-AF4C-D93C605823A2}"/>
                  </a:ext>
                </a:extLst>
              </p:cNvPr>
              <p:cNvSpPr>
                <a:spLocks/>
              </p:cNvSpPr>
              <p:nvPr/>
            </p:nvSpPr>
            <p:spPr bwMode="auto">
              <a:xfrm>
                <a:off x="10466200" y="3268288"/>
                <a:ext cx="1318947" cy="503597"/>
              </a:xfrm>
              <a:custGeom>
                <a:avLst/>
                <a:gdLst/>
                <a:ahLst/>
                <a:cxnLst>
                  <a:cxn ang="0">
                    <a:pos x="0" y="0"/>
                  </a:cxn>
                  <a:cxn ang="0">
                    <a:pos x="473" y="0"/>
                  </a:cxn>
                  <a:cxn ang="0">
                    <a:pos x="473" y="256"/>
                  </a:cxn>
                  <a:cxn ang="0">
                    <a:pos x="0" y="256"/>
                  </a:cxn>
                  <a:cxn ang="0">
                    <a:pos x="0" y="0"/>
                  </a:cxn>
                </a:cxnLst>
                <a:rect l="0" t="0" r="r" b="b"/>
                <a:pathLst>
                  <a:path w="474" h="257">
                    <a:moveTo>
                      <a:pt x="0" y="0"/>
                    </a:moveTo>
                    <a:lnTo>
                      <a:pt x="473" y="0"/>
                    </a:lnTo>
                    <a:lnTo>
                      <a:pt x="473" y="256"/>
                    </a:lnTo>
                    <a:lnTo>
                      <a:pt x="0" y="256"/>
                    </a:lnTo>
                    <a:lnTo>
                      <a:pt x="0" y="0"/>
                    </a:lnTo>
                  </a:path>
                </a:pathLst>
              </a:custGeom>
              <a:solidFill>
                <a:schemeClr val="bg2"/>
              </a:solidFill>
              <a:ln w="12700" cap="rnd" cmpd="sng">
                <a:solidFill>
                  <a:schemeClr val="bg2">
                    <a:lumMod val="10000"/>
                  </a:schemeClr>
                </a:solidFill>
                <a:prstDash val="solid"/>
                <a:round/>
                <a:headEnd type="none" w="med" len="med"/>
                <a:tailEnd type="none" w="med" len="med"/>
              </a:ln>
              <a:effectLst>
                <a:outerShdw dist="107763" dir="2700000" algn="ctr" rotWithShape="0">
                  <a:schemeClr val="bg2"/>
                </a:outerShdw>
              </a:effectLst>
            </p:spPr>
            <p:txBody>
              <a:bodyPr anchor="ctr"/>
              <a:lstStyle/>
              <a:p>
                <a:pPr algn="ctr">
                  <a:defRPr/>
                </a:pPr>
                <a:r>
                  <a:rPr lang="en-US" sz="1400" b="1" dirty="0">
                    <a:solidFill>
                      <a:schemeClr val="bg2">
                        <a:lumMod val="10000"/>
                      </a:schemeClr>
                    </a:solidFill>
                  </a:rPr>
                  <a:t>Other systems</a:t>
                </a:r>
              </a:p>
            </p:txBody>
          </p:sp>
          <p:sp>
            <p:nvSpPr>
              <p:cNvPr id="176" name="Line 259">
                <a:extLst>
                  <a:ext uri="{FF2B5EF4-FFF2-40B4-BE49-F238E27FC236}">
                    <a16:creationId xmlns:a16="http://schemas.microsoft.com/office/drawing/2014/main" id="{83C2B707-E56D-434A-B508-6F5F10B54A74}"/>
                  </a:ext>
                </a:extLst>
              </p:cNvPr>
              <p:cNvSpPr>
                <a:spLocks noChangeShapeType="1"/>
              </p:cNvSpPr>
              <p:nvPr/>
            </p:nvSpPr>
            <p:spPr bwMode="auto">
              <a:xfrm flipH="1" flipV="1">
                <a:off x="10999493" y="2661815"/>
                <a:ext cx="0" cy="609647"/>
              </a:xfrm>
              <a:prstGeom prst="line">
                <a:avLst/>
              </a:prstGeom>
              <a:noFill/>
              <a:ln w="25400">
                <a:solidFill>
                  <a:schemeClr val="bg2">
                    <a:lumMod val="10000"/>
                  </a:schemeClr>
                </a:solidFill>
                <a:round/>
                <a:headEnd/>
                <a:tailEnd/>
              </a:ln>
              <a:extLst>
                <a:ext uri="{909E8E84-426E-40DD-AFC4-6F175D3DCCD1}">
                  <a14:hiddenFill xmlns:a14="http://schemas.microsoft.com/office/drawing/2010/main">
                    <a:noFill/>
                  </a14:hiddenFill>
                </a:ext>
              </a:extLst>
            </p:spPr>
            <p:txBody>
              <a:bodyPr wrap="none" anchor="ctr"/>
              <a:lstStyle/>
              <a:p>
                <a:pPr>
                  <a:defRPr/>
                </a:pPr>
                <a:endParaRPr lang="es-ES" sz="1400">
                  <a:solidFill>
                    <a:schemeClr val="bg2">
                      <a:lumMod val="10000"/>
                    </a:schemeClr>
                  </a:solidFill>
                </a:endParaRPr>
              </a:p>
            </p:txBody>
          </p:sp>
        </p:grpSp>
        <p:sp>
          <p:nvSpPr>
            <p:cNvPr id="172" name="Oval 108">
              <a:extLst>
                <a:ext uri="{FF2B5EF4-FFF2-40B4-BE49-F238E27FC236}">
                  <a16:creationId xmlns:a16="http://schemas.microsoft.com/office/drawing/2014/main" id="{403C33A6-B53F-447C-BBE8-40A0624519E4}"/>
                </a:ext>
              </a:extLst>
            </p:cNvPr>
            <p:cNvSpPr>
              <a:spLocks noChangeArrowheads="1"/>
            </p:cNvSpPr>
            <p:nvPr/>
          </p:nvSpPr>
          <p:spPr bwMode="auto">
            <a:xfrm>
              <a:off x="7799493" y="1765606"/>
              <a:ext cx="20637" cy="19047"/>
            </a:xfrm>
            <a:prstGeom prst="ellipse">
              <a:avLst/>
            </a:prstGeom>
            <a:solidFill>
              <a:srgbClr val="FFFFFF"/>
            </a:solidFill>
            <a:ln w="50800">
              <a:solidFill>
                <a:srgbClr val="000000"/>
              </a:solidFill>
              <a:round/>
              <a:headEnd/>
              <a:tailEnd/>
            </a:ln>
          </p:spPr>
          <p:txBody>
            <a:bodyPr wrap="none" anchor="ctr"/>
            <a:lstStyle/>
            <a:p>
              <a:pPr defTabSz="914400" fontAlgn="auto">
                <a:spcBef>
                  <a:spcPts val="0"/>
                </a:spcBef>
                <a:spcAft>
                  <a:spcPts val="0"/>
                </a:spcAft>
                <a:defRPr/>
              </a:pPr>
              <a:endParaRPr lang="en-US" sz="1100" kern="0">
                <a:solidFill>
                  <a:sysClr val="windowText" lastClr="000000"/>
                </a:solidFill>
              </a:endParaRPr>
            </a:p>
          </p:txBody>
        </p:sp>
      </p:grpSp>
      <p:sp>
        <p:nvSpPr>
          <p:cNvPr id="178" name="Rectangle 90">
            <a:extLst>
              <a:ext uri="{FF2B5EF4-FFF2-40B4-BE49-F238E27FC236}">
                <a16:creationId xmlns:a16="http://schemas.microsoft.com/office/drawing/2014/main" id="{5C224834-ED06-44C4-9555-D768D0F84F11}"/>
              </a:ext>
            </a:extLst>
          </p:cNvPr>
          <p:cNvSpPr>
            <a:spLocks noChangeArrowheads="1"/>
          </p:cNvSpPr>
          <p:nvPr/>
        </p:nvSpPr>
        <p:spPr bwMode="auto">
          <a:xfrm>
            <a:off x="6117955" y="3887788"/>
            <a:ext cx="2784418" cy="2190343"/>
          </a:xfrm>
          <a:prstGeom prst="rect">
            <a:avLst/>
          </a:prstGeom>
          <a:solidFill>
            <a:srgbClr val="0C4BAF"/>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none" lIns="90488" tIns="44450" rIns="90488" bIns="44450">
            <a:spAutoFit/>
          </a:bodyPr>
          <a:lstStyle/>
          <a:p>
            <a:pPr defTabSz="190500" fontAlgn="auto">
              <a:spcBef>
                <a:spcPts val="0"/>
              </a:spcBef>
              <a:spcAft>
                <a:spcPts val="0"/>
              </a:spcAft>
              <a:defRPr/>
            </a:pPr>
            <a:r>
              <a:rPr lang="en-GB" sz="1050" b="1" kern="0" dirty="0">
                <a:solidFill>
                  <a:schemeClr val="bg1"/>
                </a:solidFill>
              </a:rPr>
              <a:t>B</a:t>
            </a:r>
            <a:r>
              <a:rPr lang="en-GB" sz="1050" b="1" kern="0" dirty="0">
                <a:solidFill>
                  <a:schemeClr val="bg1"/>
                </a:solidFill>
                <a:latin typeface="Arial" charset="0"/>
                <a:cs typeface="Arial" charset="0"/>
              </a:rPr>
              <a:t>C	=	Backbone couplers</a:t>
            </a:r>
          </a:p>
          <a:p>
            <a:pPr defTabSz="190500" fontAlgn="auto">
              <a:spcBef>
                <a:spcPts val="0"/>
              </a:spcBef>
              <a:spcAft>
                <a:spcPts val="0"/>
              </a:spcAft>
              <a:defRPr/>
            </a:pPr>
            <a:r>
              <a:rPr lang="en-GB" sz="1050" b="1" kern="0" dirty="0">
                <a:solidFill>
                  <a:schemeClr val="bg1"/>
                </a:solidFill>
                <a:latin typeface="Arial" charset="0"/>
                <a:cs typeface="Arial" charset="0"/>
              </a:rPr>
              <a:t>Area (1..15) . Line (0). Device(0)</a:t>
            </a:r>
          </a:p>
          <a:p>
            <a:pPr defTabSz="190500" fontAlgn="auto">
              <a:spcBef>
                <a:spcPts val="0"/>
              </a:spcBef>
              <a:spcAft>
                <a:spcPts val="0"/>
              </a:spcAft>
              <a:defRPr/>
            </a:pPr>
            <a:br>
              <a:rPr lang="en-GB" sz="1050" b="1" kern="0" dirty="0">
                <a:solidFill>
                  <a:schemeClr val="bg1"/>
                </a:solidFill>
                <a:latin typeface="Arial" charset="0"/>
                <a:cs typeface="Arial" charset="0"/>
              </a:rPr>
            </a:br>
            <a:r>
              <a:rPr lang="en-GB" sz="1050" b="1" kern="0" dirty="0">
                <a:solidFill>
                  <a:schemeClr val="bg1"/>
                </a:solidFill>
                <a:latin typeface="Arial" charset="0"/>
                <a:cs typeface="Arial" charset="0"/>
              </a:rPr>
              <a:t>LC		=	Line Couplers</a:t>
            </a:r>
          </a:p>
          <a:p>
            <a:pPr defTabSz="190500" fontAlgn="auto">
              <a:spcBef>
                <a:spcPts val="0"/>
              </a:spcBef>
              <a:spcAft>
                <a:spcPts val="0"/>
              </a:spcAft>
              <a:defRPr/>
            </a:pPr>
            <a:r>
              <a:rPr lang="de-DE" sz="1050" b="1" kern="0" dirty="0">
                <a:solidFill>
                  <a:schemeClr val="bg1"/>
                </a:solidFill>
              </a:rPr>
              <a:t>Area (1..15) . Line (1..15). Device(0)</a:t>
            </a:r>
          </a:p>
          <a:p>
            <a:pPr defTabSz="190500" fontAlgn="auto">
              <a:spcBef>
                <a:spcPts val="0"/>
              </a:spcBef>
              <a:spcAft>
                <a:spcPts val="0"/>
              </a:spcAft>
              <a:defRPr/>
            </a:pPr>
            <a:endParaRPr lang="de-DE" sz="1050" b="1" kern="0" dirty="0">
              <a:solidFill>
                <a:schemeClr val="bg1"/>
              </a:solidFill>
              <a:latin typeface="Arial" charset="0"/>
              <a:cs typeface="Arial" charset="0"/>
            </a:endParaRPr>
          </a:p>
          <a:p>
            <a:pPr defTabSz="190500" fontAlgn="auto">
              <a:spcBef>
                <a:spcPts val="0"/>
              </a:spcBef>
              <a:spcAft>
                <a:spcPts val="0"/>
              </a:spcAft>
              <a:defRPr/>
            </a:pPr>
            <a:br>
              <a:rPr lang="de-DE" sz="1050" b="1" kern="0" dirty="0">
                <a:solidFill>
                  <a:schemeClr val="bg1"/>
                </a:solidFill>
                <a:latin typeface="Arial" charset="0"/>
                <a:cs typeface="Arial" charset="0"/>
              </a:rPr>
            </a:br>
            <a:r>
              <a:rPr lang="de-DE" sz="1050" b="1" kern="0" dirty="0">
                <a:solidFill>
                  <a:schemeClr val="bg1"/>
                </a:solidFill>
                <a:latin typeface="Arial" charset="0"/>
                <a:cs typeface="Arial" charset="0"/>
              </a:rPr>
              <a:t>LR	=	Line Repeater (</a:t>
            </a:r>
            <a:r>
              <a:rPr lang="en-GB" sz="1050" b="1" kern="0" dirty="0">
                <a:solidFill>
                  <a:schemeClr val="bg1"/>
                </a:solidFill>
                <a:latin typeface="Arial" charset="0"/>
                <a:cs typeface="Arial" charset="0"/>
              </a:rPr>
              <a:t>Amplifier</a:t>
            </a:r>
            <a:r>
              <a:rPr lang="de-DE" sz="1050" b="1" kern="0" dirty="0">
                <a:solidFill>
                  <a:schemeClr val="bg1"/>
                </a:solidFill>
                <a:latin typeface="Arial" charset="0"/>
                <a:cs typeface="Arial" charset="0"/>
              </a:rPr>
              <a:t>)</a:t>
            </a:r>
          </a:p>
          <a:p>
            <a:pPr defTabSz="190500" fontAlgn="auto">
              <a:spcBef>
                <a:spcPts val="0"/>
              </a:spcBef>
              <a:spcAft>
                <a:spcPts val="0"/>
              </a:spcAft>
              <a:defRPr/>
            </a:pPr>
            <a:r>
              <a:rPr lang="de-DE" sz="1050" b="1" kern="0" dirty="0">
                <a:solidFill>
                  <a:schemeClr val="bg1"/>
                </a:solidFill>
              </a:rPr>
              <a:t>Area (1..15) . Line (1..15). Device(1..255)</a:t>
            </a:r>
          </a:p>
          <a:p>
            <a:pPr defTabSz="190500" fontAlgn="auto">
              <a:spcBef>
                <a:spcPts val="0"/>
              </a:spcBef>
              <a:spcAft>
                <a:spcPts val="0"/>
              </a:spcAft>
              <a:defRPr/>
            </a:pPr>
            <a:endParaRPr lang="de-DE" sz="1050" b="1" kern="0" dirty="0">
              <a:solidFill>
                <a:schemeClr val="bg1"/>
              </a:solidFill>
              <a:latin typeface="Arial" charset="0"/>
              <a:cs typeface="Arial" charset="0"/>
            </a:endParaRPr>
          </a:p>
          <a:p>
            <a:pPr defTabSz="190500" fontAlgn="auto">
              <a:spcBef>
                <a:spcPts val="0"/>
              </a:spcBef>
              <a:spcAft>
                <a:spcPts val="0"/>
              </a:spcAft>
              <a:defRPr/>
            </a:pPr>
            <a:endParaRPr lang="de-DE" sz="1050" b="1" kern="0" dirty="0">
              <a:solidFill>
                <a:schemeClr val="bg1"/>
              </a:solidFill>
              <a:latin typeface="Arial" charset="0"/>
              <a:cs typeface="Arial" charset="0"/>
            </a:endParaRPr>
          </a:p>
          <a:p>
            <a:pPr defTabSz="190500" fontAlgn="auto">
              <a:spcBef>
                <a:spcPts val="0"/>
              </a:spcBef>
              <a:spcAft>
                <a:spcPts val="0"/>
              </a:spcAft>
              <a:defRPr/>
            </a:pPr>
            <a:r>
              <a:rPr lang="de-DE" sz="1050" b="1" kern="0" dirty="0">
                <a:solidFill>
                  <a:schemeClr val="bg1"/>
                </a:solidFill>
                <a:latin typeface="Arial" charset="0"/>
                <a:cs typeface="Arial" charset="0"/>
              </a:rPr>
              <a:t>GAT   =   Gateway</a:t>
            </a:r>
          </a:p>
          <a:p>
            <a:pPr defTabSz="190500" fontAlgn="auto">
              <a:spcBef>
                <a:spcPts val="0"/>
              </a:spcBef>
              <a:spcAft>
                <a:spcPts val="0"/>
              </a:spcAft>
              <a:defRPr/>
            </a:pPr>
            <a:r>
              <a:rPr lang="de-DE" sz="1050" b="1" kern="0" dirty="0">
                <a:solidFill>
                  <a:schemeClr val="bg1"/>
                </a:solidFill>
              </a:rPr>
              <a:t>Area (1..15) . Line (1..15). Device(1..255)</a:t>
            </a:r>
          </a:p>
        </p:txBody>
      </p:sp>
    </p:spTree>
    <p:extLst>
      <p:ext uri="{BB962C8B-B14F-4D97-AF65-F5344CB8AC3E}">
        <p14:creationId xmlns:p14="http://schemas.microsoft.com/office/powerpoint/2010/main" val="1484489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Couplers vs gateways</a:t>
            </a:r>
          </a:p>
        </p:txBody>
      </p:sp>
      <p:sp>
        <p:nvSpPr>
          <p:cNvPr id="182" name="Freeform 10">
            <a:extLst>
              <a:ext uri="{FF2B5EF4-FFF2-40B4-BE49-F238E27FC236}">
                <a16:creationId xmlns:a16="http://schemas.microsoft.com/office/drawing/2014/main" id="{E03E7743-26CC-41F2-B0D9-FFB36ACC7ACE}"/>
              </a:ext>
            </a:extLst>
          </p:cNvPr>
          <p:cNvSpPr/>
          <p:nvPr/>
        </p:nvSpPr>
        <p:spPr>
          <a:xfrm>
            <a:off x="827584" y="4941169"/>
            <a:ext cx="1494724" cy="1346348"/>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chemeClr val="accent4">
                <a:lumMod val="75000"/>
              </a:schemeClr>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a:pPr>
            <a:r>
              <a:rPr lang="en-GB" sz="1400" b="1" dirty="0" err="1">
                <a:solidFill>
                  <a:schemeClr val="bg2">
                    <a:lumMod val="10000"/>
                  </a:schemeClr>
                </a:solidFill>
              </a:rPr>
              <a:t>Telecontrol</a:t>
            </a:r>
            <a:r>
              <a:rPr lang="en-GB" sz="1400" b="1" dirty="0">
                <a:solidFill>
                  <a:schemeClr val="bg2">
                    <a:lumMod val="10000"/>
                  </a:schemeClr>
                </a:solidFill>
              </a:rPr>
              <a:t>/</a:t>
            </a:r>
            <a:r>
              <a:rPr lang="en-GB" sz="1400" b="1" dirty="0" err="1">
                <a:solidFill>
                  <a:schemeClr val="bg2">
                    <a:lumMod val="10000"/>
                  </a:schemeClr>
                </a:solidFill>
              </a:rPr>
              <a:t>Teleswitch</a:t>
            </a:r>
            <a:endParaRPr lang="en-GB" sz="1400" b="1" dirty="0">
              <a:solidFill>
                <a:schemeClr val="bg2">
                  <a:lumMod val="10000"/>
                </a:schemeClr>
              </a:solidFill>
            </a:endParaRPr>
          </a:p>
        </p:txBody>
      </p:sp>
      <p:sp>
        <p:nvSpPr>
          <p:cNvPr id="183" name="Freeform 11">
            <a:extLst>
              <a:ext uri="{FF2B5EF4-FFF2-40B4-BE49-F238E27FC236}">
                <a16:creationId xmlns:a16="http://schemas.microsoft.com/office/drawing/2014/main" id="{5C719909-E9E0-48FD-A36C-2CE99535D462}"/>
              </a:ext>
            </a:extLst>
          </p:cNvPr>
          <p:cNvSpPr/>
          <p:nvPr/>
        </p:nvSpPr>
        <p:spPr>
          <a:xfrm>
            <a:off x="2346984" y="4942370"/>
            <a:ext cx="1579098"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rgbClr val="00B050"/>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a:pPr>
            <a:r>
              <a:rPr lang="en-GB" sz="1400" b="1" dirty="0">
                <a:solidFill>
                  <a:schemeClr val="bg2">
                    <a:lumMod val="10000"/>
                  </a:schemeClr>
                </a:solidFill>
              </a:rPr>
              <a:t>DP/KNX, interlinking a PROFIBUS-DP</a:t>
            </a:r>
          </a:p>
        </p:txBody>
      </p:sp>
      <p:sp>
        <p:nvSpPr>
          <p:cNvPr id="184" name="Freeform 12">
            <a:extLst>
              <a:ext uri="{FF2B5EF4-FFF2-40B4-BE49-F238E27FC236}">
                <a16:creationId xmlns:a16="http://schemas.microsoft.com/office/drawing/2014/main" id="{D0CFAA83-4843-440F-848A-70C670997921}"/>
              </a:ext>
            </a:extLst>
          </p:cNvPr>
          <p:cNvSpPr/>
          <p:nvPr/>
        </p:nvSpPr>
        <p:spPr>
          <a:xfrm>
            <a:off x="3926082" y="4941169"/>
            <a:ext cx="1609360"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chemeClr val="accent4">
                <a:lumMod val="75000"/>
              </a:schemeClr>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a:pPr>
            <a:r>
              <a:rPr lang="en-GB" sz="1400" b="1" dirty="0">
                <a:solidFill>
                  <a:schemeClr val="bg2">
                    <a:lumMod val="10000"/>
                  </a:schemeClr>
                </a:solidFill>
              </a:rPr>
              <a:t>Radio Frequency</a:t>
            </a:r>
          </a:p>
        </p:txBody>
      </p:sp>
      <p:sp>
        <p:nvSpPr>
          <p:cNvPr id="185" name="Freeform 13">
            <a:extLst>
              <a:ext uri="{FF2B5EF4-FFF2-40B4-BE49-F238E27FC236}">
                <a16:creationId xmlns:a16="http://schemas.microsoft.com/office/drawing/2014/main" id="{018DA8F1-F351-42CF-A8A6-06B698C3518B}"/>
              </a:ext>
            </a:extLst>
          </p:cNvPr>
          <p:cNvSpPr/>
          <p:nvPr/>
        </p:nvSpPr>
        <p:spPr>
          <a:xfrm>
            <a:off x="5579740" y="4941169"/>
            <a:ext cx="1539909"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rgbClr val="00B050"/>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a:pPr>
            <a:r>
              <a:rPr lang="en-GB" sz="1400" b="1" dirty="0">
                <a:solidFill>
                  <a:schemeClr val="bg2">
                    <a:lumMod val="10000"/>
                  </a:schemeClr>
                </a:solidFill>
              </a:rPr>
              <a:t>LAN/ISDN</a:t>
            </a:r>
          </a:p>
        </p:txBody>
      </p:sp>
      <p:sp>
        <p:nvSpPr>
          <p:cNvPr id="186" name="Freeform 14">
            <a:extLst>
              <a:ext uri="{FF2B5EF4-FFF2-40B4-BE49-F238E27FC236}">
                <a16:creationId xmlns:a16="http://schemas.microsoft.com/office/drawing/2014/main" id="{C5EC5F08-7DBA-4186-9DE8-D9F90B064DFB}"/>
              </a:ext>
            </a:extLst>
          </p:cNvPr>
          <p:cNvSpPr/>
          <p:nvPr/>
        </p:nvSpPr>
        <p:spPr>
          <a:xfrm>
            <a:off x="7139216" y="4941168"/>
            <a:ext cx="1593395" cy="1345147"/>
          </a:xfrm>
          <a:custGeom>
            <a:avLst/>
            <a:gdLst>
              <a:gd name="connsiteX0" fmla="*/ 0 w 1376065"/>
              <a:gd name="connsiteY0" fmla="*/ 598588 h 1197176"/>
              <a:gd name="connsiteX1" fmla="*/ 299294 w 1376065"/>
              <a:gd name="connsiteY1" fmla="*/ 0 h 1197176"/>
              <a:gd name="connsiteX2" fmla="*/ 1076771 w 1376065"/>
              <a:gd name="connsiteY2" fmla="*/ 0 h 1197176"/>
              <a:gd name="connsiteX3" fmla="*/ 1376065 w 1376065"/>
              <a:gd name="connsiteY3" fmla="*/ 598588 h 1197176"/>
              <a:gd name="connsiteX4" fmla="*/ 1076771 w 1376065"/>
              <a:gd name="connsiteY4" fmla="*/ 1197176 h 1197176"/>
              <a:gd name="connsiteX5" fmla="*/ 299294 w 1376065"/>
              <a:gd name="connsiteY5" fmla="*/ 1197176 h 1197176"/>
              <a:gd name="connsiteX6" fmla="*/ 0 w 1376065"/>
              <a:gd name="connsiteY6" fmla="*/ 598588 h 1197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065" h="1197176">
                <a:moveTo>
                  <a:pt x="688033" y="0"/>
                </a:moveTo>
                <a:lnTo>
                  <a:pt x="1376064" y="260386"/>
                </a:lnTo>
                <a:lnTo>
                  <a:pt x="1376064" y="936790"/>
                </a:lnTo>
                <a:lnTo>
                  <a:pt x="688033" y="1197176"/>
                </a:lnTo>
                <a:lnTo>
                  <a:pt x="1" y="936790"/>
                </a:lnTo>
                <a:lnTo>
                  <a:pt x="1" y="260386"/>
                </a:lnTo>
                <a:lnTo>
                  <a:pt x="688033" y="0"/>
                </a:lnTo>
                <a:close/>
              </a:path>
            </a:pathLst>
          </a:custGeom>
          <a:ln>
            <a:solidFill>
              <a:schemeClr val="accent4">
                <a:lumMod val="75000"/>
              </a:schemeClr>
            </a:solidFill>
          </a:ln>
          <a:effectLst>
            <a:outerShdw blurRad="50800" dist="38100" dir="5400000" algn="t" rotWithShape="0">
              <a:prstClr val="black">
                <a:alpha val="40000"/>
              </a:prstClr>
            </a:outerShdw>
          </a:effectLst>
          <a:scene3d>
            <a:camera prst="orthographicFront"/>
            <a:lightRig rig="threePt" dir="t"/>
          </a:scene3d>
          <a:sp3d>
            <a:bevelT prst="convex"/>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09420" tIns="237298" rIns="209421" bIns="237297" spcCol="1270" anchor="ctr"/>
          <a:lstStyle/>
          <a:p>
            <a:pPr algn="ctr" defTabSz="266700">
              <a:lnSpc>
                <a:spcPct val="90000"/>
              </a:lnSpc>
              <a:spcAft>
                <a:spcPct val="35000"/>
              </a:spcAft>
              <a:defRPr/>
            </a:pPr>
            <a:r>
              <a:rPr lang="en-GB" sz="1400" b="1" dirty="0">
                <a:solidFill>
                  <a:schemeClr val="bg2">
                    <a:lumMod val="10000"/>
                  </a:schemeClr>
                </a:solidFill>
              </a:rPr>
              <a:t>Visualization</a:t>
            </a:r>
            <a:r>
              <a:rPr lang="es-ES" sz="1400" b="1" dirty="0">
                <a:solidFill>
                  <a:schemeClr val="bg2">
                    <a:lumMod val="10000"/>
                  </a:schemeClr>
                </a:solidFill>
              </a:rPr>
              <a:t> </a:t>
            </a:r>
            <a:r>
              <a:rPr lang="en-GB" sz="1400" b="1" dirty="0">
                <a:solidFill>
                  <a:schemeClr val="bg2">
                    <a:lumMod val="10000"/>
                  </a:schemeClr>
                </a:solidFill>
              </a:rPr>
              <a:t>Systems</a:t>
            </a:r>
          </a:p>
        </p:txBody>
      </p:sp>
      <p:sp>
        <p:nvSpPr>
          <p:cNvPr id="187" name="Content Placeholder 1">
            <a:extLst>
              <a:ext uri="{FF2B5EF4-FFF2-40B4-BE49-F238E27FC236}">
                <a16:creationId xmlns:a16="http://schemas.microsoft.com/office/drawing/2014/main" id="{C6B101B8-3C2D-4933-BBEB-59061F2ACFC1}"/>
              </a:ext>
            </a:extLst>
          </p:cNvPr>
          <p:cNvSpPr txBox="1">
            <a:spLocks/>
          </p:cNvSpPr>
          <p:nvPr/>
        </p:nvSpPr>
        <p:spPr>
          <a:xfrm>
            <a:off x="841714" y="1340768"/>
            <a:ext cx="784887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None/>
            </a:pPr>
            <a:r>
              <a:rPr lang="en-US" sz="2400" kern="0" dirty="0"/>
              <a:t>Gateway:</a:t>
            </a:r>
          </a:p>
          <a:p>
            <a:endParaRPr lang="en-US" sz="900" kern="0" dirty="0"/>
          </a:p>
          <a:p>
            <a:pPr algn="just">
              <a:spcAft>
                <a:spcPts val="1200"/>
              </a:spcAft>
              <a:defRPr/>
            </a:pPr>
            <a:r>
              <a:rPr lang="en-US" sz="2000" dirty="0">
                <a:solidFill>
                  <a:schemeClr val="bg2">
                    <a:lumMod val="10000"/>
                  </a:schemeClr>
                </a:solidFill>
              </a:rPr>
              <a:t>Links a KNX installation with other technical non-KNX equipment. </a:t>
            </a:r>
          </a:p>
          <a:p>
            <a:pPr algn="just">
              <a:spcAft>
                <a:spcPts val="1200"/>
              </a:spcAft>
              <a:defRPr/>
            </a:pPr>
            <a:r>
              <a:rPr lang="es-ES" sz="2000" dirty="0">
                <a:solidFill>
                  <a:schemeClr val="bg2">
                    <a:lumMod val="10000"/>
                  </a:schemeClr>
                </a:solidFill>
              </a:rPr>
              <a:t>No </a:t>
            </a:r>
            <a:r>
              <a:rPr lang="en-US" sz="2000" dirty="0">
                <a:solidFill>
                  <a:schemeClr val="bg2">
                    <a:lumMod val="10000"/>
                  </a:schemeClr>
                </a:solidFill>
              </a:rPr>
              <a:t>fully integrated into the KNX installation</a:t>
            </a:r>
            <a:endParaRPr lang="es-ES" sz="2000" dirty="0">
              <a:solidFill>
                <a:schemeClr val="bg2">
                  <a:lumMod val="10000"/>
                </a:schemeClr>
              </a:solidFill>
            </a:endParaRPr>
          </a:p>
          <a:p>
            <a:pPr algn="just">
              <a:spcAft>
                <a:spcPts val="1200"/>
              </a:spcAft>
              <a:defRPr/>
            </a:pPr>
            <a:r>
              <a:rPr lang="es-ES" sz="2000" dirty="0">
                <a:solidFill>
                  <a:schemeClr val="bg2">
                    <a:lumMod val="10000"/>
                  </a:schemeClr>
                </a:solidFill>
              </a:rPr>
              <a:t>No </a:t>
            </a:r>
            <a:r>
              <a:rPr lang="en-GB" sz="2000" dirty="0">
                <a:solidFill>
                  <a:schemeClr val="bg2">
                    <a:lumMod val="10000"/>
                  </a:schemeClr>
                </a:solidFill>
              </a:rPr>
              <a:t>Filter</a:t>
            </a:r>
            <a:r>
              <a:rPr lang="es-ES" sz="2000" dirty="0">
                <a:solidFill>
                  <a:schemeClr val="bg2">
                    <a:lumMod val="10000"/>
                  </a:schemeClr>
                </a:solidFill>
              </a:rPr>
              <a:t> Table</a:t>
            </a:r>
          </a:p>
          <a:p>
            <a:pPr algn="just">
              <a:spcAft>
                <a:spcPts val="1200"/>
              </a:spcAft>
              <a:defRPr/>
            </a:pPr>
            <a:r>
              <a:rPr lang="en-US" sz="2000" dirty="0">
                <a:solidFill>
                  <a:schemeClr val="bg2">
                    <a:lumMod val="10000"/>
                  </a:schemeClr>
                </a:solidFill>
              </a:rPr>
              <a:t>Has a table that assigns group telegrams to elements of the other system. </a:t>
            </a:r>
            <a:endParaRPr lang="en-US" sz="1800" dirty="0">
              <a:solidFill>
                <a:schemeClr val="bg2">
                  <a:lumMod val="10000"/>
                </a:schemeClr>
              </a:solidFill>
            </a:endParaRPr>
          </a:p>
          <a:p>
            <a:pPr marL="457200" indent="-457200">
              <a:buFont typeface="+mj-lt"/>
              <a:buAutoNum type="arabicPeriod"/>
            </a:pPr>
            <a:endParaRPr lang="en-US" sz="2400" kern="0" dirty="0"/>
          </a:p>
        </p:txBody>
      </p:sp>
    </p:spTree>
    <p:extLst>
      <p:ext uri="{BB962C8B-B14F-4D97-AF65-F5344CB8AC3E}">
        <p14:creationId xmlns:p14="http://schemas.microsoft.com/office/powerpoint/2010/main" val="80098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TP1 Coupler</a:t>
            </a:r>
          </a:p>
        </p:txBody>
      </p:sp>
      <p:pic>
        <p:nvPicPr>
          <p:cNvPr id="2" name="Picture 1">
            <a:extLst>
              <a:ext uri="{FF2B5EF4-FFF2-40B4-BE49-F238E27FC236}">
                <a16:creationId xmlns:a16="http://schemas.microsoft.com/office/drawing/2014/main" id="{F19A85E7-A04A-4DD8-A00F-CA2310EB1563}"/>
              </a:ext>
            </a:extLst>
          </p:cNvPr>
          <p:cNvPicPr>
            <a:picLocks noChangeAspect="1"/>
          </p:cNvPicPr>
          <p:nvPr/>
        </p:nvPicPr>
        <p:blipFill>
          <a:blip r:embed="rId3"/>
          <a:stretch>
            <a:fillRect/>
          </a:stretch>
        </p:blipFill>
        <p:spPr>
          <a:xfrm>
            <a:off x="6516216" y="1700808"/>
            <a:ext cx="2263336" cy="3970364"/>
          </a:xfrm>
          <a:prstGeom prst="rect">
            <a:avLst/>
          </a:prstGeom>
        </p:spPr>
      </p:pic>
      <p:sp>
        <p:nvSpPr>
          <p:cNvPr id="11" name="Content Placeholder 1">
            <a:extLst>
              <a:ext uri="{FF2B5EF4-FFF2-40B4-BE49-F238E27FC236}">
                <a16:creationId xmlns:a16="http://schemas.microsoft.com/office/drawing/2014/main" id="{77957DA6-ED97-4576-8C05-571807AE0069}"/>
              </a:ext>
            </a:extLst>
          </p:cNvPr>
          <p:cNvSpPr txBox="1">
            <a:spLocks/>
          </p:cNvSpPr>
          <p:nvPr/>
        </p:nvSpPr>
        <p:spPr>
          <a:xfrm>
            <a:off x="971600" y="1412875"/>
            <a:ext cx="525658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pPr>
            <a:r>
              <a:rPr lang="en-US" sz="2000" kern="0" dirty="0"/>
              <a:t>Line Coupler</a:t>
            </a:r>
          </a:p>
          <a:p>
            <a:pPr>
              <a:lnSpc>
                <a:spcPct val="150000"/>
              </a:lnSpc>
            </a:pPr>
            <a:r>
              <a:rPr lang="en-US" sz="2000" kern="0" dirty="0"/>
              <a:t>Backbone Coupler</a:t>
            </a:r>
          </a:p>
          <a:p>
            <a:pPr>
              <a:lnSpc>
                <a:spcPct val="150000"/>
              </a:lnSpc>
            </a:pPr>
            <a:r>
              <a:rPr lang="en-US" sz="2000" kern="0" dirty="0"/>
              <a:t>Line Repeater (Amplifier)</a:t>
            </a:r>
          </a:p>
          <a:p>
            <a:pPr marL="0" indent="0">
              <a:buFont typeface="Wingdings" pitchFamily="2" charset="2"/>
              <a:buNone/>
            </a:pPr>
            <a:endParaRPr lang="en-US" sz="2400" kern="0" dirty="0"/>
          </a:p>
          <a:p>
            <a:pPr marL="0" indent="0">
              <a:buFont typeface="Wingdings" pitchFamily="2" charset="2"/>
              <a:buNone/>
            </a:pPr>
            <a:endParaRPr lang="en-US" sz="800" kern="0" dirty="0"/>
          </a:p>
          <a:p>
            <a:pPr marL="0" indent="0">
              <a:buFont typeface="Wingdings" pitchFamily="2" charset="2"/>
              <a:buNone/>
            </a:pPr>
            <a:endParaRPr lang="en-US" sz="800" kern="0" dirty="0"/>
          </a:p>
          <a:p>
            <a:pPr>
              <a:lnSpc>
                <a:spcPct val="150000"/>
              </a:lnSpc>
              <a:defRPr/>
            </a:pPr>
            <a:r>
              <a:rPr lang="en-US" sz="2000" dirty="0">
                <a:solidFill>
                  <a:schemeClr val="bg2">
                    <a:lumMod val="10000"/>
                  </a:schemeClr>
                </a:solidFill>
                <a:latin typeface="Arial" panose="020B0604020202020204" pitchFamily="34" charset="0"/>
                <a:cs typeface="Arial" panose="020B0604020202020204" pitchFamily="34" charset="0"/>
              </a:rPr>
              <a:t>The selected application software determines the function of the coupler</a:t>
            </a:r>
            <a:endParaRPr lang="es-ES" sz="2000" dirty="0">
              <a:solidFill>
                <a:schemeClr val="bg2">
                  <a:lumMod val="10000"/>
                </a:schemeClr>
              </a:solidFill>
              <a:latin typeface="Arial" panose="020B0604020202020204" pitchFamily="34" charset="0"/>
              <a:cs typeface="Arial" panose="020B0604020202020204" pitchFamily="34" charset="0"/>
            </a:endParaRPr>
          </a:p>
          <a:p>
            <a:pPr>
              <a:lnSpc>
                <a:spcPct val="150000"/>
              </a:lnSpc>
              <a:defRPr/>
            </a:pPr>
            <a:r>
              <a:rPr lang="en-GB" sz="2000" dirty="0">
                <a:solidFill>
                  <a:schemeClr val="bg2">
                    <a:lumMod val="10000"/>
                  </a:schemeClr>
                </a:solidFill>
                <a:latin typeface="Arial" panose="020B0604020202020204" pitchFamily="34" charset="0"/>
                <a:cs typeface="Arial" panose="020B0604020202020204" pitchFamily="34" charset="0"/>
              </a:rPr>
              <a:t>Repeaters have a special software application (type related to the physical address)</a:t>
            </a:r>
          </a:p>
        </p:txBody>
      </p:sp>
    </p:spTree>
    <p:extLst>
      <p:ext uri="{BB962C8B-B14F-4D97-AF65-F5344CB8AC3E}">
        <p14:creationId xmlns:p14="http://schemas.microsoft.com/office/powerpoint/2010/main" val="347226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E8E4-5EC8-4FA6-8FCC-396B64C2B818}"/>
              </a:ext>
            </a:extLst>
          </p:cNvPr>
          <p:cNvSpPr>
            <a:spLocks noGrp="1"/>
          </p:cNvSpPr>
          <p:nvPr>
            <p:ph type="title"/>
          </p:nvPr>
        </p:nvSpPr>
        <p:spPr>
          <a:xfrm>
            <a:off x="900113" y="476250"/>
            <a:ext cx="6768231" cy="719138"/>
          </a:xfrm>
        </p:spPr>
        <p:txBody>
          <a:bodyPr/>
          <a:lstStyle/>
          <a:p>
            <a:r>
              <a:rPr lang="en-GB" dirty="0"/>
              <a:t>TP-TP Coupler – Old and New Design</a:t>
            </a:r>
            <a:endParaRPr lang="es-ES" dirty="0"/>
          </a:p>
        </p:txBody>
      </p:sp>
      <p:grpSp>
        <p:nvGrpSpPr>
          <p:cNvPr id="3" name="Group 2">
            <a:extLst>
              <a:ext uri="{FF2B5EF4-FFF2-40B4-BE49-F238E27FC236}">
                <a16:creationId xmlns:a16="http://schemas.microsoft.com/office/drawing/2014/main" id="{FF11D65F-0D35-49E1-B726-A48415CF0537}"/>
              </a:ext>
            </a:extLst>
          </p:cNvPr>
          <p:cNvGrpSpPr>
            <a:grpSpLocks/>
          </p:cNvGrpSpPr>
          <p:nvPr/>
        </p:nvGrpSpPr>
        <p:grpSpPr bwMode="auto">
          <a:xfrm>
            <a:off x="650974" y="1340768"/>
            <a:ext cx="4065042" cy="5040565"/>
            <a:chOff x="617678" y="1481140"/>
            <a:chExt cx="2548328" cy="4437090"/>
          </a:xfrm>
          <a:solidFill>
            <a:schemeClr val="accent3"/>
          </a:solidFill>
        </p:grpSpPr>
        <p:sp>
          <p:nvSpPr>
            <p:cNvPr id="4" name="Rectangle 3">
              <a:extLst>
                <a:ext uri="{FF2B5EF4-FFF2-40B4-BE49-F238E27FC236}">
                  <a16:creationId xmlns:a16="http://schemas.microsoft.com/office/drawing/2014/main" id="{67D8868F-3902-4907-A37A-8A1FDBBE0B69}"/>
                </a:ext>
              </a:extLst>
            </p:cNvPr>
            <p:cNvSpPr/>
            <p:nvPr/>
          </p:nvSpPr>
          <p:spPr>
            <a:xfrm>
              <a:off x="617678" y="1481140"/>
              <a:ext cx="2548328" cy="4437090"/>
            </a:xfrm>
            <a:prstGeom prst="rect">
              <a:avLst/>
            </a:prstGeom>
            <a:grpFill/>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a:spcAft>
                  <a:spcPts val="1200"/>
                </a:spcAft>
                <a:defRPr/>
              </a:pPr>
              <a:endParaRPr lang="es-ES" sz="1400" b="1" dirty="0">
                <a:solidFill>
                  <a:schemeClr val="bg2">
                    <a:lumMod val="10000"/>
                  </a:schemeClr>
                </a:solidFill>
              </a:endParaRPr>
            </a:p>
            <a:p>
              <a:pPr algn="ctr">
                <a:spcAft>
                  <a:spcPts val="1200"/>
                </a:spcAft>
                <a:defRPr/>
              </a:pPr>
              <a:endParaRPr lang="es-ES" sz="1400" b="1" dirty="0">
                <a:solidFill>
                  <a:schemeClr val="bg2">
                    <a:lumMod val="10000"/>
                  </a:schemeClr>
                </a:solidFill>
              </a:endParaRPr>
            </a:p>
            <a:p>
              <a:pPr marL="285750" indent="-285750">
                <a:spcAft>
                  <a:spcPts val="1200"/>
                </a:spcAft>
                <a:buFont typeface="Wingdings" panose="05000000000000000000" pitchFamily="2" charset="2"/>
                <a:buChar char="§"/>
                <a:defRPr/>
              </a:pPr>
              <a:endParaRPr lang="es-ES" sz="600" b="1" dirty="0">
                <a:solidFill>
                  <a:srgbClr val="0070C0"/>
                </a:solidFill>
              </a:endParaRPr>
            </a:p>
            <a:p>
              <a:pPr algn="ctr">
                <a:defRPr/>
              </a:pPr>
              <a:endParaRPr lang="es-ES" sz="1400" b="1" dirty="0">
                <a:solidFill>
                  <a:schemeClr val="bg2">
                    <a:lumMod val="10000"/>
                  </a:schemeClr>
                </a:solidFill>
              </a:endParaRPr>
            </a:p>
            <a:p>
              <a:pPr algn="ctr">
                <a:defRPr/>
              </a:pPr>
              <a:endParaRPr lang="en-US" sz="1400" b="1" dirty="0">
                <a:solidFill>
                  <a:schemeClr val="bg2">
                    <a:lumMod val="10000"/>
                  </a:schemeClr>
                </a:solidFill>
              </a:endParaRPr>
            </a:p>
          </p:txBody>
        </p:sp>
        <p:sp>
          <p:nvSpPr>
            <p:cNvPr id="7" name="TextBox 18">
              <a:extLst>
                <a:ext uri="{FF2B5EF4-FFF2-40B4-BE49-F238E27FC236}">
                  <a16:creationId xmlns:a16="http://schemas.microsoft.com/office/drawing/2014/main" id="{5AE2BE59-388F-45B9-88F5-0576F8C59F5A}"/>
                </a:ext>
              </a:extLst>
            </p:cNvPr>
            <p:cNvSpPr txBox="1">
              <a:spLocks noChangeArrowheads="1"/>
            </p:cNvSpPr>
            <p:nvPr/>
          </p:nvSpPr>
          <p:spPr bwMode="auto">
            <a:xfrm>
              <a:off x="777024" y="1545949"/>
              <a:ext cx="2245634" cy="361318"/>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defPPr>
                <a:defRPr lang="en-US"/>
              </a:defPPr>
              <a:lvl1pPr algn="ctr" defTabSz="914400" eaLnBrk="1" fontAlgn="auto" hangingPunct="1">
                <a:spcBef>
                  <a:spcPts val="0"/>
                </a:spcBef>
                <a:spcAft>
                  <a:spcPts val="0"/>
                </a:spcAft>
                <a:defRPr sz="1400" b="1" kern="0">
                  <a:solidFill>
                    <a:sysClr val="window" lastClr="FFFFFF"/>
                  </a:solidFill>
                  <a:ea typeface="ＭＳ Ｐゴシック" pitchFamily="-97" charset="-128"/>
                </a:defRPr>
              </a:lvl1pPr>
              <a:lvl2pPr marL="742950" indent="-285750">
                <a:defRPr>
                  <a:latin typeface="Arial" panose="020B0604020202020204" pitchFamily="34" charset="0"/>
                  <a:ea typeface="ＭＳ Ｐゴシック" panose="020B0600070205080204" pitchFamily="34" charset="-128"/>
                </a:defRPr>
              </a:lvl2pPr>
              <a:lvl3pPr marL="1143000" indent="-228600">
                <a:defRPr>
                  <a:latin typeface="Arial" panose="020B0604020202020204" pitchFamily="34" charset="0"/>
                  <a:ea typeface="ＭＳ Ｐゴシック" panose="020B0600070205080204" pitchFamily="34" charset="-128"/>
                </a:defRPr>
              </a:lvl3pPr>
              <a:lvl4pPr marL="1600200" indent="-228600">
                <a:defRPr>
                  <a:latin typeface="Arial" panose="020B0604020202020204" pitchFamily="34" charset="0"/>
                  <a:ea typeface="ＭＳ Ｐゴシック" panose="020B0600070205080204" pitchFamily="34" charset="-128"/>
                </a:defRPr>
              </a:lvl4pPr>
              <a:lvl5pPr marL="2057400" indent="-228600">
                <a:defRPr>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latin typeface="Arial" panose="020B0604020202020204" pitchFamily="34" charset="0"/>
                  <a:ea typeface="ＭＳ Ｐゴシック" panose="020B0600070205080204" pitchFamily="34" charset="-128"/>
                </a:defRPr>
              </a:lvl9pPr>
            </a:lstStyle>
            <a:p>
              <a:r>
                <a:rPr lang="es-ES" altLang="es-ES" dirty="0"/>
                <a:t>Old </a:t>
              </a:r>
              <a:r>
                <a:rPr lang="en-GB" altLang="es-ES" dirty="0"/>
                <a:t>Coupler (before 2003)</a:t>
              </a:r>
            </a:p>
          </p:txBody>
        </p:sp>
      </p:grpSp>
      <p:grpSp>
        <p:nvGrpSpPr>
          <p:cNvPr id="13" name="Group 12">
            <a:extLst>
              <a:ext uri="{FF2B5EF4-FFF2-40B4-BE49-F238E27FC236}">
                <a16:creationId xmlns:a16="http://schemas.microsoft.com/office/drawing/2014/main" id="{A4CF166F-5B4C-4CB7-88C4-FF011CA60E9E}"/>
              </a:ext>
            </a:extLst>
          </p:cNvPr>
          <p:cNvGrpSpPr>
            <a:grpSpLocks/>
          </p:cNvGrpSpPr>
          <p:nvPr/>
        </p:nvGrpSpPr>
        <p:grpSpPr bwMode="auto">
          <a:xfrm>
            <a:off x="4903326" y="1340769"/>
            <a:ext cx="4020843" cy="4032448"/>
            <a:chOff x="5954176" y="1481140"/>
            <a:chExt cx="2547786" cy="4437091"/>
          </a:xfrm>
          <a:solidFill>
            <a:schemeClr val="accent3"/>
          </a:solidFill>
        </p:grpSpPr>
        <p:sp>
          <p:nvSpPr>
            <p:cNvPr id="14" name="Rectangle 13">
              <a:extLst>
                <a:ext uri="{FF2B5EF4-FFF2-40B4-BE49-F238E27FC236}">
                  <a16:creationId xmlns:a16="http://schemas.microsoft.com/office/drawing/2014/main" id="{AFB5C285-46CC-4699-8817-669B9BF64A7A}"/>
                </a:ext>
              </a:extLst>
            </p:cNvPr>
            <p:cNvSpPr/>
            <p:nvPr/>
          </p:nvSpPr>
          <p:spPr>
            <a:xfrm>
              <a:off x="5954176" y="1481140"/>
              <a:ext cx="2547786" cy="4437091"/>
            </a:xfrm>
            <a:prstGeom prst="rect">
              <a:avLst/>
            </a:prstGeom>
            <a:grpFill/>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lstStyle/>
            <a:p>
              <a:pPr algn="ctr">
                <a:spcAft>
                  <a:spcPts val="1200"/>
                </a:spcAft>
                <a:defRPr/>
              </a:pPr>
              <a:endParaRPr lang="es-ES" sz="1400" b="1" dirty="0">
                <a:solidFill>
                  <a:schemeClr val="bg2">
                    <a:lumMod val="10000"/>
                  </a:schemeClr>
                </a:solidFill>
              </a:endParaRPr>
            </a:p>
            <a:p>
              <a:pPr algn="ctr">
                <a:spcAft>
                  <a:spcPts val="1200"/>
                </a:spcAft>
                <a:defRPr/>
              </a:pPr>
              <a:endParaRPr lang="es-ES" sz="1400" b="1" dirty="0">
                <a:solidFill>
                  <a:schemeClr val="bg2">
                    <a:lumMod val="10000"/>
                  </a:schemeClr>
                </a:solidFill>
              </a:endParaRPr>
            </a:p>
            <a:p>
              <a:pPr marL="285750" indent="-285750">
                <a:spcAft>
                  <a:spcPts val="1200"/>
                </a:spcAft>
                <a:buFont typeface="Wingdings" panose="05000000000000000000" pitchFamily="2" charset="2"/>
                <a:buChar char="§"/>
                <a:defRPr/>
              </a:pPr>
              <a:endParaRPr lang="es-ES" sz="600" b="1" dirty="0">
                <a:solidFill>
                  <a:schemeClr val="bg2">
                    <a:lumMod val="10000"/>
                  </a:schemeClr>
                </a:solidFill>
              </a:endParaRPr>
            </a:p>
            <a:p>
              <a:pPr algn="ctr">
                <a:defRPr/>
              </a:pPr>
              <a:endParaRPr lang="es-ES" sz="1400" b="1" dirty="0">
                <a:solidFill>
                  <a:schemeClr val="bg2">
                    <a:lumMod val="10000"/>
                  </a:schemeClr>
                </a:solidFill>
              </a:endParaRPr>
            </a:p>
            <a:p>
              <a:pPr algn="ctr">
                <a:defRPr/>
              </a:pPr>
              <a:endParaRPr lang="en-US" sz="1400" b="1" dirty="0">
                <a:solidFill>
                  <a:schemeClr val="bg2">
                    <a:lumMod val="10000"/>
                  </a:schemeClr>
                </a:solidFill>
              </a:endParaRPr>
            </a:p>
          </p:txBody>
        </p:sp>
        <p:sp>
          <p:nvSpPr>
            <p:cNvPr id="17" name="TextBox 20">
              <a:extLst>
                <a:ext uri="{FF2B5EF4-FFF2-40B4-BE49-F238E27FC236}">
                  <a16:creationId xmlns:a16="http://schemas.microsoft.com/office/drawing/2014/main" id="{B63B396D-655B-4ED0-8778-391C2C43382B}"/>
                </a:ext>
              </a:extLst>
            </p:cNvPr>
            <p:cNvSpPr txBox="1">
              <a:spLocks noChangeArrowheads="1"/>
            </p:cNvSpPr>
            <p:nvPr/>
          </p:nvSpPr>
          <p:spPr bwMode="auto">
            <a:xfrm>
              <a:off x="6109252" y="1560373"/>
              <a:ext cx="2210856" cy="475403"/>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defPPr>
                <a:defRPr lang="en-US"/>
              </a:defPPr>
              <a:lvl1pPr algn="ctr" defTabSz="914400" eaLnBrk="1" fontAlgn="auto" hangingPunct="1">
                <a:spcBef>
                  <a:spcPts val="0"/>
                </a:spcBef>
                <a:spcAft>
                  <a:spcPts val="0"/>
                </a:spcAft>
                <a:defRPr sz="1400" b="1" kern="0">
                  <a:solidFill>
                    <a:sysClr val="window" lastClr="FFFFFF"/>
                  </a:solidFill>
                  <a:ea typeface="ＭＳ Ｐゴシック" pitchFamily="-97"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s-ES" altLang="es-ES" dirty="0"/>
                <a:t>New </a:t>
              </a:r>
              <a:r>
                <a:rPr lang="en-GB" altLang="es-ES" dirty="0"/>
                <a:t>Coupler (after 2003)</a:t>
              </a:r>
            </a:p>
          </p:txBody>
        </p:sp>
      </p:grpSp>
      <p:sp>
        <p:nvSpPr>
          <p:cNvPr id="20" name="Rectangle 19">
            <a:extLst>
              <a:ext uri="{FF2B5EF4-FFF2-40B4-BE49-F238E27FC236}">
                <a16:creationId xmlns:a16="http://schemas.microsoft.com/office/drawing/2014/main" id="{EA888EA3-748B-47A7-829F-955D9DD6CA06}"/>
              </a:ext>
            </a:extLst>
          </p:cNvPr>
          <p:cNvSpPr>
            <a:spLocks noChangeArrowheads="1"/>
          </p:cNvSpPr>
          <p:nvPr/>
        </p:nvSpPr>
        <p:spPr bwMode="auto">
          <a:xfrm>
            <a:off x="5115357" y="1844824"/>
            <a:ext cx="3489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Aft>
                <a:spcPts val="1200"/>
              </a:spcAft>
              <a:buFont typeface="Wingdings" panose="05000000000000000000" pitchFamily="2" charset="2"/>
              <a:buChar char="§"/>
            </a:pPr>
            <a:r>
              <a:rPr lang="en-GB" altLang="es-ES" sz="1300" b="1" dirty="0">
                <a:solidFill>
                  <a:srgbClr val="369226"/>
                </a:solidFill>
              </a:rPr>
              <a:t>1 microcontroller</a:t>
            </a:r>
          </a:p>
          <a:p>
            <a:pPr>
              <a:spcAft>
                <a:spcPts val="1200"/>
              </a:spcAft>
              <a:buFont typeface="Wingdings" panose="05000000000000000000" pitchFamily="2" charset="2"/>
              <a:buChar char="§"/>
            </a:pPr>
            <a:r>
              <a:rPr lang="es-ES" altLang="es-ES" sz="1300" b="1" dirty="0">
                <a:solidFill>
                  <a:srgbClr val="369226"/>
                </a:solidFill>
              </a:rPr>
              <a:t>2 </a:t>
            </a:r>
            <a:r>
              <a:rPr lang="en-GB" altLang="es-ES" sz="1300" b="1" dirty="0">
                <a:solidFill>
                  <a:srgbClr val="369226"/>
                </a:solidFill>
              </a:rPr>
              <a:t>Transmission Modules</a:t>
            </a:r>
          </a:p>
        </p:txBody>
      </p:sp>
      <p:sp>
        <p:nvSpPr>
          <p:cNvPr id="21" name="Rectangle 20">
            <a:extLst>
              <a:ext uri="{FF2B5EF4-FFF2-40B4-BE49-F238E27FC236}">
                <a16:creationId xmlns:a16="http://schemas.microsoft.com/office/drawing/2014/main" id="{C5D0273F-C614-41DE-AE48-684C3067806F}"/>
              </a:ext>
            </a:extLst>
          </p:cNvPr>
          <p:cNvSpPr/>
          <p:nvPr/>
        </p:nvSpPr>
        <p:spPr>
          <a:xfrm>
            <a:off x="5132364" y="2564904"/>
            <a:ext cx="3616099" cy="3616375"/>
          </a:xfrm>
          <a:prstGeom prst="rect">
            <a:avLst/>
          </a:prstGeom>
        </p:spPr>
        <p:txBody>
          <a:bodyPr wrap="square">
            <a:spAutoFit/>
          </a:bodyPr>
          <a:lstStyle/>
          <a:p>
            <a:pPr marL="285750" indent="-285750">
              <a:spcAft>
                <a:spcPts val="1200"/>
              </a:spcAft>
              <a:buFont typeface="Wingdings" panose="05000000000000000000" pitchFamily="2" charset="2"/>
              <a:buChar char="§"/>
              <a:defRPr/>
            </a:pPr>
            <a:r>
              <a:rPr lang="en-GB" sz="1300" b="1" dirty="0">
                <a:solidFill>
                  <a:schemeClr val="bg2">
                    <a:lumMod val="10000"/>
                  </a:schemeClr>
                </a:solidFill>
              </a:rPr>
              <a:t>Non-volatile flash  memory for filter table (no battery required for buffering)</a:t>
            </a:r>
          </a:p>
          <a:p>
            <a:pPr marL="285750" indent="-285750">
              <a:spcAft>
                <a:spcPts val="1200"/>
              </a:spcAft>
              <a:buFont typeface="Wingdings" panose="05000000000000000000" pitchFamily="2" charset="2"/>
              <a:buChar char="§"/>
              <a:defRPr/>
            </a:pPr>
            <a:r>
              <a:rPr lang="es-ES" sz="1300" b="1" dirty="0">
                <a:solidFill>
                  <a:schemeClr val="bg2">
                    <a:lumMod val="10000"/>
                  </a:schemeClr>
                </a:solidFill>
              </a:rPr>
              <a:t>Energy </a:t>
            </a:r>
            <a:r>
              <a:rPr lang="en-GB" sz="1300" b="1" dirty="0">
                <a:solidFill>
                  <a:schemeClr val="bg2">
                    <a:lumMod val="10000"/>
                  </a:schemeClr>
                </a:solidFill>
              </a:rPr>
              <a:t>supply via primary line or secondary line</a:t>
            </a:r>
          </a:p>
          <a:p>
            <a:pPr marL="285750" indent="-285750">
              <a:spcAft>
                <a:spcPts val="1200"/>
              </a:spcAft>
              <a:buFont typeface="Wingdings" panose="05000000000000000000" pitchFamily="2" charset="2"/>
              <a:buChar char="§"/>
              <a:defRPr/>
            </a:pPr>
            <a:r>
              <a:rPr lang="en-GB" sz="1300" b="1" dirty="0">
                <a:solidFill>
                  <a:schemeClr val="bg2">
                    <a:lumMod val="10000"/>
                  </a:schemeClr>
                </a:solidFill>
              </a:rPr>
              <a:t>DIN rail mounted device, 2 mod. Wide</a:t>
            </a:r>
          </a:p>
          <a:p>
            <a:pPr marL="285750" indent="-285750">
              <a:spcAft>
                <a:spcPts val="1200"/>
              </a:spcAft>
              <a:buFont typeface="Wingdings" panose="05000000000000000000" pitchFamily="2" charset="2"/>
              <a:buChar char="§"/>
              <a:defRPr/>
            </a:pPr>
            <a:r>
              <a:rPr lang="en-US" sz="1300" b="1" dirty="0">
                <a:solidFill>
                  <a:schemeClr val="bg2">
                    <a:lumMod val="10000"/>
                  </a:schemeClr>
                </a:solidFill>
              </a:rPr>
              <a:t>Connection of both lines via bus terminals on the front of the device</a:t>
            </a:r>
            <a:endParaRPr lang="en-GB" sz="1300" b="1" dirty="0">
              <a:solidFill>
                <a:schemeClr val="bg2">
                  <a:lumMod val="10000"/>
                </a:schemeClr>
              </a:solidFill>
            </a:endParaRPr>
          </a:p>
          <a:p>
            <a:pPr marL="285750" indent="-285750">
              <a:spcAft>
                <a:spcPts val="1200"/>
              </a:spcAft>
              <a:buFont typeface="Wingdings" panose="05000000000000000000" pitchFamily="2" charset="2"/>
              <a:buChar char="§"/>
              <a:defRPr/>
            </a:pPr>
            <a:r>
              <a:rPr lang="en-GB" sz="1300" b="1" dirty="0">
                <a:solidFill>
                  <a:schemeClr val="bg2">
                    <a:lumMod val="10000"/>
                  </a:schemeClr>
                </a:solidFill>
              </a:rPr>
              <a:t>Main groups 0 to 31. Frequently 14/15 without individual filtering for compatibility (depending on manufacturer).</a:t>
            </a:r>
          </a:p>
          <a:p>
            <a:pPr marL="285750" indent="-285750">
              <a:spcAft>
                <a:spcPts val="1200"/>
              </a:spcAft>
              <a:buFont typeface="Wingdings" panose="05000000000000000000" pitchFamily="2" charset="2"/>
              <a:buChar char="§"/>
              <a:defRPr/>
            </a:pPr>
            <a:endParaRPr lang="en-GB" sz="1300" b="1" dirty="0">
              <a:solidFill>
                <a:schemeClr val="bg2">
                  <a:lumMod val="10000"/>
                </a:schemeClr>
              </a:solidFill>
            </a:endParaRPr>
          </a:p>
          <a:p>
            <a:pPr marL="285750" indent="-285750">
              <a:spcAft>
                <a:spcPts val="1200"/>
              </a:spcAft>
              <a:buFont typeface="Wingdings" panose="05000000000000000000" pitchFamily="2" charset="2"/>
              <a:buChar char="§"/>
              <a:defRPr/>
            </a:pPr>
            <a:endParaRPr lang="en-GB" sz="1300" b="1" dirty="0">
              <a:solidFill>
                <a:schemeClr val="bg2">
                  <a:lumMod val="10000"/>
                </a:schemeClr>
              </a:solidFill>
            </a:endParaRPr>
          </a:p>
        </p:txBody>
      </p:sp>
      <p:sp>
        <p:nvSpPr>
          <p:cNvPr id="22" name="Rectangle 21">
            <a:extLst>
              <a:ext uri="{FF2B5EF4-FFF2-40B4-BE49-F238E27FC236}">
                <a16:creationId xmlns:a16="http://schemas.microsoft.com/office/drawing/2014/main" id="{52D12C1A-C508-47E6-826D-98D5D9278AC7}"/>
              </a:ext>
            </a:extLst>
          </p:cNvPr>
          <p:cNvSpPr>
            <a:spLocks noChangeArrowheads="1"/>
          </p:cNvSpPr>
          <p:nvPr/>
        </p:nvSpPr>
        <p:spPr bwMode="auto">
          <a:xfrm>
            <a:off x="838284" y="1844824"/>
            <a:ext cx="35821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spcAft>
                <a:spcPts val="1200"/>
              </a:spcAft>
              <a:buFont typeface="Wingdings" panose="05000000000000000000" pitchFamily="2" charset="2"/>
              <a:buChar char="§"/>
            </a:pPr>
            <a:r>
              <a:rPr lang="es-ES" altLang="es-ES" sz="1300" b="1" dirty="0">
                <a:solidFill>
                  <a:srgbClr val="369226"/>
                </a:solidFill>
              </a:rPr>
              <a:t>2 </a:t>
            </a:r>
            <a:r>
              <a:rPr lang="en-GB" altLang="es-ES" sz="1300" b="1" dirty="0">
                <a:solidFill>
                  <a:srgbClr val="369226"/>
                </a:solidFill>
              </a:rPr>
              <a:t>microcontrollers</a:t>
            </a:r>
          </a:p>
          <a:p>
            <a:pPr>
              <a:spcAft>
                <a:spcPts val="1200"/>
              </a:spcAft>
              <a:buFont typeface="Wingdings" panose="05000000000000000000" pitchFamily="2" charset="2"/>
              <a:buChar char="§"/>
            </a:pPr>
            <a:r>
              <a:rPr lang="es-ES" altLang="es-ES" sz="1300" b="1" dirty="0">
                <a:solidFill>
                  <a:srgbClr val="369226"/>
                </a:solidFill>
              </a:rPr>
              <a:t>2 </a:t>
            </a:r>
            <a:r>
              <a:rPr lang="en-GB" altLang="es-ES" sz="1300" b="1" dirty="0">
                <a:solidFill>
                  <a:srgbClr val="369226"/>
                </a:solidFill>
              </a:rPr>
              <a:t>Transmission Modules (R/L/C)</a:t>
            </a:r>
          </a:p>
        </p:txBody>
      </p:sp>
      <p:sp>
        <p:nvSpPr>
          <p:cNvPr id="23" name="Rectangle 22">
            <a:extLst>
              <a:ext uri="{FF2B5EF4-FFF2-40B4-BE49-F238E27FC236}">
                <a16:creationId xmlns:a16="http://schemas.microsoft.com/office/drawing/2014/main" id="{5AD1D4C3-1092-4DF7-9CED-DE815A4D1456}"/>
              </a:ext>
            </a:extLst>
          </p:cNvPr>
          <p:cNvSpPr/>
          <p:nvPr/>
        </p:nvSpPr>
        <p:spPr>
          <a:xfrm>
            <a:off x="838284" y="2564904"/>
            <a:ext cx="3612924" cy="3816429"/>
          </a:xfrm>
          <a:prstGeom prst="rect">
            <a:avLst/>
          </a:prstGeom>
        </p:spPr>
        <p:txBody>
          <a:bodyPr wrap="square">
            <a:spAutoFit/>
          </a:bodyPr>
          <a:lstStyle/>
          <a:p>
            <a:pPr marL="285750" indent="-285750">
              <a:spcAft>
                <a:spcPts val="1200"/>
              </a:spcAft>
              <a:buFont typeface="Wingdings" panose="05000000000000000000" pitchFamily="2" charset="2"/>
              <a:buChar char="§"/>
              <a:defRPr/>
            </a:pPr>
            <a:r>
              <a:rPr lang="en-US" sz="1300" b="1" dirty="0">
                <a:solidFill>
                  <a:schemeClr val="bg2">
                    <a:lumMod val="10000"/>
                  </a:schemeClr>
                </a:solidFill>
              </a:rPr>
              <a:t>4 Kbyte static “dual-ported“ SRAM, buffered against voltage failure for more than 10 years via a lithium battery</a:t>
            </a:r>
          </a:p>
          <a:p>
            <a:pPr marL="285750" indent="-285750">
              <a:spcAft>
                <a:spcPts val="1200"/>
              </a:spcAft>
              <a:buFont typeface="Wingdings" panose="05000000000000000000" pitchFamily="2" charset="2"/>
              <a:buChar char="§"/>
              <a:defRPr/>
            </a:pPr>
            <a:r>
              <a:rPr lang="en-US" sz="1300" b="1" dirty="0">
                <a:solidFill>
                  <a:schemeClr val="bg2">
                    <a:lumMod val="10000"/>
                  </a:schemeClr>
                </a:solidFill>
              </a:rPr>
              <a:t>Upper memory area (3.5</a:t>
            </a:r>
            <a:r>
              <a:rPr lang="en-GB" sz="1300" b="1" dirty="0" err="1">
                <a:solidFill>
                  <a:schemeClr val="bg2">
                    <a:lumMod val="10000"/>
                  </a:schemeClr>
                </a:solidFill>
              </a:rPr>
              <a:t>Kb</a:t>
            </a:r>
            <a:r>
              <a:rPr lang="en-US" sz="1300" b="1" dirty="0">
                <a:solidFill>
                  <a:schemeClr val="bg2">
                    <a:lumMod val="10000"/>
                  </a:schemeClr>
                </a:solidFill>
              </a:rPr>
              <a:t>): Filter table for 28,672 group addresses (no 14/15)</a:t>
            </a:r>
          </a:p>
          <a:p>
            <a:pPr marL="285750" indent="-285750">
              <a:spcAft>
                <a:spcPts val="1200"/>
              </a:spcAft>
              <a:buFont typeface="Wingdings" panose="05000000000000000000" pitchFamily="2" charset="2"/>
              <a:buChar char="§"/>
              <a:defRPr/>
            </a:pPr>
            <a:r>
              <a:rPr lang="en-US" sz="1300" b="1" dirty="0">
                <a:solidFill>
                  <a:schemeClr val="bg2">
                    <a:lumMod val="10000"/>
                  </a:schemeClr>
                </a:solidFill>
              </a:rPr>
              <a:t>Lower memory (0.5Kb): Telegram buffer for 20 telegrams </a:t>
            </a:r>
            <a:r>
              <a:rPr lang="es-ES" sz="1300" b="1" dirty="0">
                <a:solidFill>
                  <a:schemeClr val="bg2">
                    <a:lumMod val="10000"/>
                  </a:schemeClr>
                </a:solidFill>
              </a:rPr>
              <a:t>(</a:t>
            </a:r>
            <a:r>
              <a:rPr lang="en-US" sz="1300" b="1" dirty="0">
                <a:solidFill>
                  <a:schemeClr val="bg2">
                    <a:lumMod val="10000"/>
                  </a:schemeClr>
                </a:solidFill>
              </a:rPr>
              <a:t>10 for each direction</a:t>
            </a:r>
            <a:r>
              <a:rPr lang="es-ES" sz="1300" b="1" dirty="0">
                <a:solidFill>
                  <a:schemeClr val="bg2">
                    <a:lumMod val="10000"/>
                  </a:schemeClr>
                </a:solidFill>
              </a:rPr>
              <a:t>)</a:t>
            </a:r>
          </a:p>
          <a:p>
            <a:pPr marL="285750" indent="-285750">
              <a:spcAft>
                <a:spcPts val="1200"/>
              </a:spcAft>
              <a:buFont typeface="Wingdings" panose="05000000000000000000" pitchFamily="2" charset="2"/>
              <a:buChar char="§"/>
              <a:defRPr/>
            </a:pPr>
            <a:r>
              <a:rPr lang="es-ES" sz="1300" b="1" dirty="0">
                <a:solidFill>
                  <a:schemeClr val="bg2">
                    <a:lumMod val="10000"/>
                  </a:schemeClr>
                </a:solidFill>
              </a:rPr>
              <a:t>Energy </a:t>
            </a:r>
            <a:r>
              <a:rPr lang="en-GB" sz="1300" b="1" dirty="0">
                <a:solidFill>
                  <a:schemeClr val="bg2">
                    <a:lumMod val="10000"/>
                  </a:schemeClr>
                </a:solidFill>
              </a:rPr>
              <a:t>supply via secondary line</a:t>
            </a:r>
          </a:p>
          <a:p>
            <a:pPr marL="285750" indent="-285750">
              <a:spcAft>
                <a:spcPts val="1200"/>
              </a:spcAft>
              <a:buFont typeface="Wingdings" panose="05000000000000000000" pitchFamily="2" charset="2"/>
              <a:buChar char="§"/>
              <a:defRPr/>
            </a:pPr>
            <a:r>
              <a:rPr lang="en-GB" sz="1300" b="1" dirty="0">
                <a:solidFill>
                  <a:schemeClr val="bg2">
                    <a:lumMod val="10000"/>
                  </a:schemeClr>
                </a:solidFill>
              </a:rPr>
              <a:t>DIN rail mounted device, 4 mod. wide</a:t>
            </a:r>
          </a:p>
          <a:p>
            <a:pPr marL="285750" indent="-285750">
              <a:spcAft>
                <a:spcPts val="1200"/>
              </a:spcAft>
              <a:buFont typeface="Wingdings" panose="05000000000000000000" pitchFamily="2" charset="2"/>
              <a:buChar char="§"/>
              <a:defRPr/>
            </a:pPr>
            <a:r>
              <a:rPr lang="en-US" sz="1300" b="1" dirty="0">
                <a:solidFill>
                  <a:schemeClr val="bg2">
                    <a:lumMod val="10000"/>
                  </a:schemeClr>
                </a:solidFill>
              </a:rPr>
              <a:t>Connection: spring-loaded contacts on the rear for secondary line and bus terminal on the front for primary line</a:t>
            </a:r>
          </a:p>
          <a:p>
            <a:pPr marL="285750" indent="-285750">
              <a:spcAft>
                <a:spcPts val="1200"/>
              </a:spcAft>
              <a:buFont typeface="Wingdings" panose="05000000000000000000" pitchFamily="2" charset="2"/>
              <a:buChar char="§"/>
              <a:defRPr/>
            </a:pPr>
            <a:r>
              <a:rPr lang="en-GB" sz="1300" b="1" dirty="0">
                <a:solidFill>
                  <a:schemeClr val="bg2">
                    <a:lumMod val="10000"/>
                  </a:schemeClr>
                </a:solidFill>
              </a:rPr>
              <a:t>Main groups 0 to 15. 14/15 without filtering</a:t>
            </a:r>
          </a:p>
        </p:txBody>
      </p:sp>
      <p:sp>
        <p:nvSpPr>
          <p:cNvPr id="24" name="TextBox 23">
            <a:extLst>
              <a:ext uri="{FF2B5EF4-FFF2-40B4-BE49-F238E27FC236}">
                <a16:creationId xmlns:a16="http://schemas.microsoft.com/office/drawing/2014/main" id="{A9902F05-6C01-48D9-962F-B7BDFB8272C1}"/>
              </a:ext>
            </a:extLst>
          </p:cNvPr>
          <p:cNvSpPr txBox="1">
            <a:spLocks noChangeArrowheads="1"/>
          </p:cNvSpPr>
          <p:nvPr/>
        </p:nvSpPr>
        <p:spPr bwMode="auto">
          <a:xfrm>
            <a:off x="4927581" y="5924020"/>
            <a:ext cx="3996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GB" altLang="es-ES" sz="1600" b="1" dirty="0">
                <a:solidFill>
                  <a:srgbClr val="369226"/>
                </a:solidFill>
              </a:rPr>
              <a:t>* Essential TP1 Coupler structure</a:t>
            </a:r>
          </a:p>
        </p:txBody>
      </p:sp>
    </p:spTree>
    <p:extLst>
      <p:ext uri="{BB962C8B-B14F-4D97-AF65-F5344CB8AC3E}">
        <p14:creationId xmlns:p14="http://schemas.microsoft.com/office/powerpoint/2010/main" val="4193280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7584-778E-4A51-B286-D04AE36D0730}"/>
              </a:ext>
            </a:extLst>
          </p:cNvPr>
          <p:cNvSpPr>
            <a:spLocks noGrp="1"/>
          </p:cNvSpPr>
          <p:nvPr>
            <p:ph type="title"/>
          </p:nvPr>
        </p:nvSpPr>
        <p:spPr>
          <a:xfrm>
            <a:off x="900113" y="476250"/>
            <a:ext cx="6840239" cy="719138"/>
          </a:xfrm>
        </p:spPr>
        <p:txBody>
          <a:bodyPr/>
          <a:lstStyle/>
          <a:p>
            <a:r>
              <a:rPr lang="en-US" dirty="0"/>
              <a:t>Parameters of Couplers</a:t>
            </a:r>
            <a:endParaRPr lang="es-ES" dirty="0"/>
          </a:p>
        </p:txBody>
      </p:sp>
      <p:pic>
        <p:nvPicPr>
          <p:cNvPr id="3" name="Picture 2">
            <a:extLst>
              <a:ext uri="{FF2B5EF4-FFF2-40B4-BE49-F238E27FC236}">
                <a16:creationId xmlns:a16="http://schemas.microsoft.com/office/drawing/2014/main" id="{80483C20-30AE-49B7-8C39-934CB12BDAC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213456"/>
            <a:ext cx="5296535" cy="3159760"/>
          </a:xfrm>
          <a:prstGeom prst="rect">
            <a:avLst/>
          </a:prstGeom>
          <a:noFill/>
          <a:ln w="19050" cmpd="sng">
            <a:solidFill>
              <a:srgbClr val="000000"/>
            </a:solidFill>
            <a:miter lim="800000"/>
            <a:headEnd/>
            <a:tailEnd/>
          </a:ln>
          <a:effectLst/>
        </p:spPr>
      </p:pic>
      <p:sp>
        <p:nvSpPr>
          <p:cNvPr id="5" name="Speech Bubble: Rectangle 4">
            <a:extLst>
              <a:ext uri="{FF2B5EF4-FFF2-40B4-BE49-F238E27FC236}">
                <a16:creationId xmlns:a16="http://schemas.microsoft.com/office/drawing/2014/main" id="{C032DEB1-27B0-47EF-8B15-D1404081EF99}"/>
              </a:ext>
            </a:extLst>
          </p:cNvPr>
          <p:cNvSpPr/>
          <p:nvPr/>
        </p:nvSpPr>
        <p:spPr>
          <a:xfrm>
            <a:off x="1875647" y="3474720"/>
            <a:ext cx="5504665" cy="292328"/>
          </a:xfrm>
          <a:prstGeom prst="wedgeRectCallout">
            <a:avLst>
              <a:gd name="adj1" fmla="val 53579"/>
              <a:gd name="adj2" fmla="val -38441"/>
            </a:avLst>
          </a:prstGeom>
          <a:solidFill>
            <a:srgbClr val="369226">
              <a:alpha val="30000"/>
            </a:srgbClr>
          </a:solidFill>
          <a:ln>
            <a:solidFill>
              <a:srgbClr val="3692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6" name="Speech Bubble: Rectangle 5">
            <a:extLst>
              <a:ext uri="{FF2B5EF4-FFF2-40B4-BE49-F238E27FC236}">
                <a16:creationId xmlns:a16="http://schemas.microsoft.com/office/drawing/2014/main" id="{B3FB5230-5449-4220-BA20-86CDF18900C4}"/>
              </a:ext>
            </a:extLst>
          </p:cNvPr>
          <p:cNvSpPr/>
          <p:nvPr/>
        </p:nvSpPr>
        <p:spPr>
          <a:xfrm>
            <a:off x="1875647" y="2867648"/>
            <a:ext cx="5504665" cy="263160"/>
          </a:xfrm>
          <a:prstGeom prst="wedgeRectCallout">
            <a:avLst>
              <a:gd name="adj1" fmla="val -55642"/>
              <a:gd name="adj2" fmla="val -42426"/>
            </a:avLst>
          </a:prstGeom>
          <a:solidFill>
            <a:srgbClr val="369226">
              <a:alpha val="30000"/>
            </a:srgbClr>
          </a:solidFill>
          <a:ln>
            <a:solidFill>
              <a:srgbClr val="3692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TextBox 13">
            <a:extLst>
              <a:ext uri="{FF2B5EF4-FFF2-40B4-BE49-F238E27FC236}">
                <a16:creationId xmlns:a16="http://schemas.microsoft.com/office/drawing/2014/main" id="{DF805498-11A1-4F6A-8AF3-9A0A66BC087C}"/>
              </a:ext>
            </a:extLst>
          </p:cNvPr>
          <p:cNvSpPr txBox="1"/>
          <p:nvPr/>
        </p:nvSpPr>
        <p:spPr bwMode="auto">
          <a:xfrm>
            <a:off x="2923911" y="1331138"/>
            <a:ext cx="3816424" cy="738664"/>
          </a:xfrm>
          <a:prstGeom prst="rect">
            <a:avLst/>
          </a:prstGeom>
          <a:noFill/>
        </p:spPr>
        <p:txBody>
          <a:bodyPr wrap="square">
            <a:spAutoFit/>
          </a:bodyPr>
          <a:lstStyle/>
          <a:p>
            <a:pPr marL="0" marR="0" lvl="0" indent="0" defTabSz="45720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rPr>
              <a:t>Parameter “Group Telegrams”</a:t>
            </a:r>
          </a:p>
          <a:p>
            <a:pPr marL="171450" marR="0" lvl="0" indent="-171450" defTabSz="45720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rPr>
              <a:t>normal (or filter) </a:t>
            </a:r>
            <a:r>
              <a:rPr kumimoji="0" lang="en-US" sz="1000" b="1" i="0" u="none" strike="noStrike" kern="0" cap="none" spc="0" normalizeH="0" baseline="0" noProof="0" dirty="0">
                <a:ln>
                  <a:noFill/>
                </a:ln>
                <a:effectLst/>
                <a:uLnTx/>
                <a:uFillTx/>
                <a:latin typeface="Arial" panose="020B0604020202020204" pitchFamily="34" charset="0"/>
                <a:ea typeface="ＭＳ Ｐゴシック" panose="020B0600070205080204" pitchFamily="34" charset="-128"/>
                <a:cs typeface="Arial" panose="020B0604020202020204" pitchFamily="34" charset="0"/>
              </a:rPr>
              <a:t>– Use filter table, routed selectively</a:t>
            </a:r>
          </a:p>
          <a:p>
            <a:pPr marL="171450" marR="0" lvl="0" indent="-171450" defTabSz="45720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rPr>
              <a:t>route</a:t>
            </a:r>
            <a:r>
              <a:rPr kumimoji="0" lang="en-US" sz="1000" b="1" i="0" u="none" strike="noStrike" kern="0" cap="none" spc="0" normalizeH="0" baseline="0" noProof="0" dirty="0">
                <a:ln>
                  <a:noFill/>
                </a:ln>
                <a:effectLst/>
                <a:uLnTx/>
                <a:uFillTx/>
                <a:latin typeface="Arial" panose="020B0604020202020204" pitchFamily="34" charset="0"/>
                <a:ea typeface="ＭＳ Ｐゴシック" panose="020B0600070205080204" pitchFamily="34" charset="-128"/>
                <a:cs typeface="Arial" panose="020B0604020202020204" pitchFamily="34" charset="0"/>
              </a:rPr>
              <a:t> – All telegrams are routed</a:t>
            </a:r>
          </a:p>
          <a:p>
            <a:pPr marL="171450" marR="0" lvl="0" indent="-171450" defTabSz="45720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rPr>
              <a:t>block</a:t>
            </a:r>
            <a:r>
              <a:rPr kumimoji="0" lang="en-US" sz="1000" b="1" i="0" u="none" strike="noStrike" kern="0" cap="none" spc="0" normalizeH="0" baseline="0" noProof="0" dirty="0">
                <a:ln>
                  <a:noFill/>
                </a:ln>
                <a:effectLst/>
                <a:uLnTx/>
                <a:uFillTx/>
                <a:latin typeface="Arial" panose="020B0604020202020204" pitchFamily="34" charset="0"/>
                <a:ea typeface="ＭＳ Ｐゴシック" panose="020B0600070205080204" pitchFamily="34" charset="-128"/>
                <a:cs typeface="Arial" panose="020B0604020202020204" pitchFamily="34" charset="0"/>
              </a:rPr>
              <a:t> – All telegrams are not routed</a:t>
            </a:r>
          </a:p>
        </p:txBody>
      </p:sp>
      <p:sp>
        <p:nvSpPr>
          <p:cNvPr id="16" name="Speech Bubble: Rectangle 15">
            <a:extLst>
              <a:ext uri="{FF2B5EF4-FFF2-40B4-BE49-F238E27FC236}">
                <a16:creationId xmlns:a16="http://schemas.microsoft.com/office/drawing/2014/main" id="{09D833CE-56CD-4EFF-B937-1D72F4C885CE}"/>
              </a:ext>
            </a:extLst>
          </p:cNvPr>
          <p:cNvSpPr/>
          <p:nvPr/>
        </p:nvSpPr>
        <p:spPr>
          <a:xfrm>
            <a:off x="1875647" y="2182600"/>
            <a:ext cx="5504665" cy="631636"/>
          </a:xfrm>
          <a:prstGeom prst="wedgeRectCallout">
            <a:avLst>
              <a:gd name="adj1" fmla="val 883"/>
              <a:gd name="adj2" fmla="val -70338"/>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TextBox 16">
            <a:extLst>
              <a:ext uri="{FF2B5EF4-FFF2-40B4-BE49-F238E27FC236}">
                <a16:creationId xmlns:a16="http://schemas.microsoft.com/office/drawing/2014/main" id="{6268A113-E820-4EA8-81C9-A293BDEFCBEE}"/>
              </a:ext>
            </a:extLst>
          </p:cNvPr>
          <p:cNvSpPr txBox="1"/>
          <p:nvPr/>
        </p:nvSpPr>
        <p:spPr bwMode="auto">
          <a:xfrm>
            <a:off x="7380312" y="3195908"/>
            <a:ext cx="1728192" cy="2185214"/>
          </a:xfrm>
          <a:prstGeom prst="rect">
            <a:avLst/>
          </a:prstGeom>
          <a:noFill/>
        </p:spPr>
        <p:txBody>
          <a:bodyPr wrap="square">
            <a:spAutoFit/>
          </a:bodyPr>
          <a:lstStyle>
            <a:defPPr>
              <a:defRPr lang="en-US"/>
            </a:defPPr>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pPr algn="r"/>
            <a:r>
              <a:rPr lang="en-GB" dirty="0"/>
              <a:t>Parameter: “On Error in Filter Table…”</a:t>
            </a:r>
          </a:p>
          <a:p>
            <a:r>
              <a:rPr lang="en-GB" sz="1000" dirty="0">
                <a:solidFill>
                  <a:srgbClr val="0C4BAF"/>
                </a:solidFill>
              </a:rPr>
              <a:t>Only old couplers</a:t>
            </a:r>
          </a:p>
          <a:p>
            <a:pPr marL="171450" indent="-171450">
              <a:buFont typeface="Arial" panose="020B0604020202020204" pitchFamily="34" charset="0"/>
              <a:buChar char="•"/>
            </a:pPr>
            <a:r>
              <a:rPr lang="en-US" sz="1000" dirty="0"/>
              <a:t>route – </a:t>
            </a:r>
            <a:r>
              <a:rPr lang="en-US" sz="1000" dirty="0">
                <a:solidFill>
                  <a:schemeClr val="tx1"/>
                </a:solidFill>
              </a:rPr>
              <a:t>The bus load increases, Error undetected</a:t>
            </a:r>
          </a:p>
          <a:p>
            <a:pPr marL="171450" indent="-171450">
              <a:buFont typeface="Arial" panose="020B0604020202020204" pitchFamily="34" charset="0"/>
              <a:buChar char="•"/>
            </a:pPr>
            <a:r>
              <a:rPr lang="en-US" sz="1000" dirty="0"/>
              <a:t>block – </a:t>
            </a:r>
            <a:r>
              <a:rPr lang="en-US" sz="1000" dirty="0">
                <a:solidFill>
                  <a:schemeClr val="tx1"/>
                </a:solidFill>
              </a:rPr>
              <a:t>Malfunction of the installation, Error detected</a:t>
            </a:r>
          </a:p>
          <a:p>
            <a:pPr marL="171450" indent="-171450">
              <a:buFont typeface="Arial" panose="020B0604020202020204" pitchFamily="34" charset="0"/>
              <a:buChar char="•"/>
            </a:pPr>
            <a:r>
              <a:rPr lang="en-US" sz="1000" dirty="0"/>
              <a:t>ignore – </a:t>
            </a:r>
            <a:r>
              <a:rPr lang="en-US" sz="1000" dirty="0">
                <a:solidFill>
                  <a:schemeClr val="tx1"/>
                </a:solidFill>
              </a:rPr>
              <a:t>The coupler behaves according to the first two parameters</a:t>
            </a:r>
          </a:p>
        </p:txBody>
      </p:sp>
      <p:sp>
        <p:nvSpPr>
          <p:cNvPr id="18" name="TextBox 17">
            <a:extLst>
              <a:ext uri="{FF2B5EF4-FFF2-40B4-BE49-F238E27FC236}">
                <a16:creationId xmlns:a16="http://schemas.microsoft.com/office/drawing/2014/main" id="{19F06743-5132-4203-BB76-F21B5B3BEFDB}"/>
              </a:ext>
            </a:extLst>
          </p:cNvPr>
          <p:cNvSpPr txBox="1"/>
          <p:nvPr/>
        </p:nvSpPr>
        <p:spPr bwMode="auto">
          <a:xfrm>
            <a:off x="3059832" y="5547286"/>
            <a:ext cx="3544582" cy="738664"/>
          </a:xfrm>
          <a:prstGeom prst="rect">
            <a:avLst/>
          </a:prstGeom>
          <a:noFill/>
        </p:spPr>
        <p:txBody>
          <a:bodyPr wrap="square">
            <a:spAutoFit/>
          </a:bodyPr>
          <a:lstStyle>
            <a:defPPr>
              <a:defRPr lang="en-US"/>
            </a:defPPr>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rPr lang="en-US" dirty="0"/>
              <a:t>Parameter “Telegram Confirmation</a:t>
            </a:r>
          </a:p>
          <a:p>
            <a:pPr marL="171450" indent="-171450">
              <a:buFont typeface="Arial" panose="020B0604020202020204" pitchFamily="34" charset="0"/>
              <a:buChar char="•"/>
            </a:pPr>
            <a:r>
              <a:rPr lang="en-US" sz="1000" dirty="0"/>
              <a:t>only if routing – </a:t>
            </a:r>
            <a:r>
              <a:rPr lang="en-US" sz="1000" dirty="0">
                <a:solidFill>
                  <a:schemeClr val="tx1"/>
                </a:solidFill>
              </a:rPr>
              <a:t>The telegram is only acknowledged if it is routed by the coupler</a:t>
            </a:r>
          </a:p>
          <a:p>
            <a:pPr marL="171450" indent="-171450">
              <a:buFont typeface="Arial" panose="020B0604020202020204" pitchFamily="34" charset="0"/>
              <a:buChar char="•"/>
            </a:pPr>
            <a:r>
              <a:rPr lang="en-US" sz="1000" dirty="0"/>
              <a:t>always – </a:t>
            </a:r>
            <a:r>
              <a:rPr lang="en-US" sz="1000" dirty="0">
                <a:solidFill>
                  <a:schemeClr val="tx1"/>
                </a:solidFill>
              </a:rPr>
              <a:t>All received telegrams are acknowledged</a:t>
            </a:r>
          </a:p>
        </p:txBody>
      </p:sp>
      <p:sp>
        <p:nvSpPr>
          <p:cNvPr id="20" name="TextBox 19">
            <a:extLst>
              <a:ext uri="{FF2B5EF4-FFF2-40B4-BE49-F238E27FC236}">
                <a16:creationId xmlns:a16="http://schemas.microsoft.com/office/drawing/2014/main" id="{76D67123-E407-4AA0-930A-BAD74C4C630F}"/>
              </a:ext>
            </a:extLst>
          </p:cNvPr>
          <p:cNvSpPr txBox="1"/>
          <p:nvPr/>
        </p:nvSpPr>
        <p:spPr bwMode="auto">
          <a:xfrm>
            <a:off x="284892" y="3054296"/>
            <a:ext cx="1642788" cy="1569660"/>
          </a:xfrm>
          <a:prstGeom prst="rect">
            <a:avLst/>
          </a:prstGeom>
          <a:noFill/>
        </p:spPr>
        <p:txBody>
          <a:bodyPr wrap="square">
            <a:spAutoFit/>
          </a:bodyPr>
          <a:lstStyle>
            <a:defPPr>
              <a:defRPr lang="en-US"/>
            </a:defPPr>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rPr lang="en-US" dirty="0"/>
              <a:t>Parameter “Main Group 14/15”</a:t>
            </a:r>
          </a:p>
          <a:p>
            <a:pPr marL="171450" indent="-171450">
              <a:buFont typeface="Arial" panose="020B0604020202020204" pitchFamily="34" charset="0"/>
              <a:buChar char="•"/>
            </a:pPr>
            <a:r>
              <a:rPr lang="en-US" sz="1000" dirty="0"/>
              <a:t>route – </a:t>
            </a:r>
            <a:r>
              <a:rPr lang="en-US" sz="1000" dirty="0">
                <a:solidFill>
                  <a:schemeClr val="tx1"/>
                </a:solidFill>
              </a:rPr>
              <a:t>groups 14 and 15 routed in both directions</a:t>
            </a:r>
          </a:p>
          <a:p>
            <a:pPr marL="171450" indent="-171450">
              <a:buFont typeface="Arial" panose="020B0604020202020204" pitchFamily="34" charset="0"/>
              <a:buChar char="•"/>
            </a:pPr>
            <a:r>
              <a:rPr lang="en-US" sz="1000" dirty="0"/>
              <a:t>block – </a:t>
            </a:r>
            <a:r>
              <a:rPr lang="en-US" sz="1000" dirty="0">
                <a:solidFill>
                  <a:schemeClr val="tx1"/>
                </a:solidFill>
              </a:rPr>
              <a:t>groups 14 and 15 blocked in both directions</a:t>
            </a:r>
          </a:p>
          <a:p>
            <a:endParaRPr lang="es-ES" dirty="0"/>
          </a:p>
        </p:txBody>
      </p:sp>
      <p:sp>
        <p:nvSpPr>
          <p:cNvPr id="21" name="Speech Bubble: Rectangle 20">
            <a:extLst>
              <a:ext uri="{FF2B5EF4-FFF2-40B4-BE49-F238E27FC236}">
                <a16:creationId xmlns:a16="http://schemas.microsoft.com/office/drawing/2014/main" id="{D658C34E-C691-4785-8896-7273B0C1E8C7}"/>
              </a:ext>
            </a:extLst>
          </p:cNvPr>
          <p:cNvSpPr/>
          <p:nvPr/>
        </p:nvSpPr>
        <p:spPr>
          <a:xfrm>
            <a:off x="1875647" y="3171448"/>
            <a:ext cx="5504665" cy="263160"/>
          </a:xfrm>
          <a:prstGeom prst="wedgeRectCallout">
            <a:avLst>
              <a:gd name="adj1" fmla="val -57580"/>
              <a:gd name="adj2" fmla="val 7843"/>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Speech Bubble: Rectangle 21">
            <a:extLst>
              <a:ext uri="{FF2B5EF4-FFF2-40B4-BE49-F238E27FC236}">
                <a16:creationId xmlns:a16="http://schemas.microsoft.com/office/drawing/2014/main" id="{FD9CCA3B-0019-41BD-84BD-BCB05642ADCB}"/>
              </a:ext>
            </a:extLst>
          </p:cNvPr>
          <p:cNvSpPr/>
          <p:nvPr/>
        </p:nvSpPr>
        <p:spPr>
          <a:xfrm>
            <a:off x="1875647" y="4581128"/>
            <a:ext cx="5504665" cy="680428"/>
          </a:xfrm>
          <a:prstGeom prst="wedgeRectCallout">
            <a:avLst>
              <a:gd name="adj1" fmla="val -4561"/>
              <a:gd name="adj2" fmla="val 85492"/>
            </a:avLst>
          </a:prstGeom>
          <a:solidFill>
            <a:srgbClr val="369226">
              <a:alpha val="30000"/>
            </a:srgbClr>
          </a:solidFill>
          <a:ln>
            <a:solidFill>
              <a:srgbClr val="3692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3" name="Speech Bubble: Rectangle 22">
            <a:extLst>
              <a:ext uri="{FF2B5EF4-FFF2-40B4-BE49-F238E27FC236}">
                <a16:creationId xmlns:a16="http://schemas.microsoft.com/office/drawing/2014/main" id="{95C12273-1CC5-491C-9079-8E220F29F2B6}"/>
              </a:ext>
            </a:extLst>
          </p:cNvPr>
          <p:cNvSpPr/>
          <p:nvPr/>
        </p:nvSpPr>
        <p:spPr>
          <a:xfrm>
            <a:off x="1875647" y="3839126"/>
            <a:ext cx="5504665" cy="680428"/>
          </a:xfrm>
          <a:prstGeom prst="wedgeRectCallout">
            <a:avLst>
              <a:gd name="adj1" fmla="val -59426"/>
              <a:gd name="adj2" fmla="val 58611"/>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TextBox 23">
            <a:extLst>
              <a:ext uri="{FF2B5EF4-FFF2-40B4-BE49-F238E27FC236}">
                <a16:creationId xmlns:a16="http://schemas.microsoft.com/office/drawing/2014/main" id="{5BDA0ACB-9F4B-414F-858D-445AD84846E2}"/>
              </a:ext>
            </a:extLst>
          </p:cNvPr>
          <p:cNvSpPr txBox="1"/>
          <p:nvPr/>
        </p:nvSpPr>
        <p:spPr bwMode="auto">
          <a:xfrm>
            <a:off x="284892" y="4623956"/>
            <a:ext cx="1642788" cy="923330"/>
          </a:xfrm>
          <a:prstGeom prst="rect">
            <a:avLst/>
          </a:prstGeom>
          <a:noFill/>
        </p:spPr>
        <p:txBody>
          <a:bodyPr wrap="square">
            <a:spAutoFit/>
          </a:bodyPr>
          <a:lstStyle>
            <a:defPPr>
              <a:defRPr lang="en-US"/>
            </a:defPPr>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rPr lang="en-US" dirty="0"/>
              <a:t>Parameter “Repetitions”</a:t>
            </a:r>
          </a:p>
          <a:p>
            <a:pPr marL="171450" indent="-171450">
              <a:buFont typeface="Arial" panose="020B0604020202020204" pitchFamily="34" charset="0"/>
              <a:buChar char="•"/>
            </a:pPr>
            <a:r>
              <a:rPr lang="en-US" sz="1000" dirty="0"/>
              <a:t>Repetitions – </a:t>
            </a:r>
            <a:r>
              <a:rPr lang="en-US" sz="1000" dirty="0">
                <a:solidFill>
                  <a:schemeClr val="tx1"/>
                </a:solidFill>
              </a:rPr>
              <a:t>none, 1, 2, 3 or yes/no for new couplers</a:t>
            </a:r>
          </a:p>
        </p:txBody>
      </p:sp>
      <p:sp>
        <p:nvSpPr>
          <p:cNvPr id="25" name="TextBox 24">
            <a:extLst>
              <a:ext uri="{FF2B5EF4-FFF2-40B4-BE49-F238E27FC236}">
                <a16:creationId xmlns:a16="http://schemas.microsoft.com/office/drawing/2014/main" id="{02B54442-9DE2-4905-BCD3-18F512CBC0AF}"/>
              </a:ext>
            </a:extLst>
          </p:cNvPr>
          <p:cNvSpPr txBox="1"/>
          <p:nvPr/>
        </p:nvSpPr>
        <p:spPr bwMode="auto">
          <a:xfrm>
            <a:off x="284892" y="2052296"/>
            <a:ext cx="1642788" cy="800219"/>
          </a:xfrm>
          <a:prstGeom prst="rect">
            <a:avLst/>
          </a:prstGeom>
          <a:noFill/>
        </p:spPr>
        <p:txBody>
          <a:bodyPr wrap="square">
            <a:spAutoFit/>
          </a:bodyPr>
          <a:lstStyle>
            <a:defPPr>
              <a:defRPr lang="en-US"/>
            </a:defPPr>
            <a:lvl1pPr marL="0" marR="0" lvl="0" indent="0" defTabSz="457200" eaLnBrk="0" fontAlgn="auto" latinLnBrk="0" hangingPunct="0">
              <a:lnSpc>
                <a:spcPct val="100000"/>
              </a:lnSpc>
              <a:spcBef>
                <a:spcPts val="0"/>
              </a:spcBef>
              <a:spcAft>
                <a:spcPts val="0"/>
              </a:spcAft>
              <a:buClrTx/>
              <a:buSzTx/>
              <a:buFontTx/>
              <a:buNone/>
              <a:tabLst/>
              <a:defRPr kumimoji="0" sz="1200" b="1" i="0" u="none" strike="noStrike" kern="0" cap="none" spc="0" normalizeH="0" baseline="0">
                <a:ln>
                  <a:noFill/>
                </a:ln>
                <a:solidFill>
                  <a:srgbClr val="369226"/>
                </a:solidFill>
                <a:effectLst/>
                <a:uLnTx/>
                <a:uFillTx/>
                <a:latin typeface="Arial" panose="020B0604020202020204" pitchFamily="34" charset="0"/>
                <a:ea typeface="ＭＳ Ｐゴシック" panose="020B0600070205080204" pitchFamily="34" charset="-128"/>
                <a:cs typeface="Arial" panose="020B0604020202020204" pitchFamily="34" charset="0"/>
              </a:defRPr>
            </a:lvl1pPr>
          </a:lstStyle>
          <a:p>
            <a:r>
              <a:rPr lang="en-US" dirty="0"/>
              <a:t>Parameter “Check Filter Table”</a:t>
            </a:r>
          </a:p>
          <a:p>
            <a:r>
              <a:rPr lang="en-GB" dirty="0">
                <a:solidFill>
                  <a:srgbClr val="0C4BAF"/>
                </a:solidFill>
              </a:rPr>
              <a:t>Only old couplers</a:t>
            </a:r>
          </a:p>
          <a:p>
            <a:pPr marL="171450" indent="-171450">
              <a:buFont typeface="Arial" panose="020B0604020202020204" pitchFamily="34" charset="0"/>
              <a:buChar char="•"/>
            </a:pPr>
            <a:r>
              <a:rPr lang="en-US" sz="1000" dirty="0">
                <a:solidFill>
                  <a:schemeClr val="tx1"/>
                </a:solidFill>
              </a:rPr>
              <a:t>Cyclically check</a:t>
            </a:r>
          </a:p>
        </p:txBody>
      </p:sp>
    </p:spTree>
    <p:extLst>
      <p:ext uri="{BB962C8B-B14F-4D97-AF65-F5344CB8AC3E}">
        <p14:creationId xmlns:p14="http://schemas.microsoft.com/office/powerpoint/2010/main" val="3833297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5D143-46BE-4BA5-BBE9-C11DCDC34BC5}"/>
              </a:ext>
            </a:extLst>
          </p:cNvPr>
          <p:cNvSpPr>
            <a:spLocks noGrp="1"/>
          </p:cNvSpPr>
          <p:nvPr>
            <p:ph type="title"/>
          </p:nvPr>
        </p:nvSpPr>
        <p:spPr/>
        <p:txBody>
          <a:bodyPr/>
          <a:lstStyle/>
          <a:p>
            <a:r>
              <a:rPr lang="en-GB" dirty="0"/>
              <a:t>Special Configuration</a:t>
            </a:r>
            <a:r>
              <a:rPr lang="es-ES" dirty="0"/>
              <a:t> Use cases</a:t>
            </a:r>
          </a:p>
        </p:txBody>
      </p:sp>
      <p:graphicFrame>
        <p:nvGraphicFramePr>
          <p:cNvPr id="3" name="Table 2">
            <a:extLst>
              <a:ext uri="{FF2B5EF4-FFF2-40B4-BE49-F238E27FC236}">
                <a16:creationId xmlns:a16="http://schemas.microsoft.com/office/drawing/2014/main" id="{B26A72D5-8F2B-4F5A-9A9B-F2AEADEB5D41}"/>
              </a:ext>
            </a:extLst>
          </p:cNvPr>
          <p:cNvGraphicFramePr>
            <a:graphicFrameLocks noGrp="1"/>
          </p:cNvGraphicFramePr>
          <p:nvPr/>
        </p:nvGraphicFramePr>
        <p:xfrm>
          <a:off x="149225" y="1436135"/>
          <a:ext cx="1171575" cy="4867344"/>
        </p:xfrm>
        <a:graphic>
          <a:graphicData uri="http://schemas.openxmlformats.org/drawingml/2006/table">
            <a:tbl>
              <a:tblPr>
                <a:effectLst/>
              </a:tblPr>
              <a:tblGrid>
                <a:gridCol w="1171575">
                  <a:extLst>
                    <a:ext uri="{9D8B030D-6E8A-4147-A177-3AD203B41FA5}">
                      <a16:colId xmlns:a16="http://schemas.microsoft.com/office/drawing/2014/main" val="20000"/>
                    </a:ext>
                  </a:extLst>
                </a:gridCol>
              </a:tblGrid>
              <a:tr h="345502">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endParaRPr lang="en-US" sz="1600" b="1" dirty="0">
                        <a:solidFill>
                          <a:srgbClr val="FFFFFF"/>
                        </a:solidFill>
                      </a:endParaRPr>
                    </a:p>
                  </a:txBody>
                  <a:tcPr marL="91491" marR="91491" marT="45701" marB="45701">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50000"/>
                      </a:sysClr>
                    </a:solidFill>
                  </a:tcPr>
                </a:tc>
                <a:extLst>
                  <a:ext uri="{0D108BD9-81ED-4DB2-BD59-A6C34878D82A}">
                    <a16:rowId xmlns:a16="http://schemas.microsoft.com/office/drawing/2014/main" val="10000"/>
                  </a:ext>
                </a:extLst>
              </a:tr>
              <a:tr h="174747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ES" sz="1600" b="1" dirty="0">
                          <a:solidFill>
                            <a:srgbClr val="FFFFFF"/>
                          </a:solidFill>
                        </a:rPr>
                        <a:t>PROBLEM</a:t>
                      </a:r>
                      <a:endParaRPr lang="en-US" sz="1600" b="1" dirty="0">
                        <a:solidFill>
                          <a:srgbClr val="FFFFFF"/>
                        </a:solidFill>
                      </a:endParaRPr>
                    </a:p>
                  </a:txBody>
                  <a:tcPr marL="91491" marR="91491" marT="45701" marB="45701">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50000"/>
                      </a:sysClr>
                    </a:solidFill>
                  </a:tcPr>
                </a:tc>
                <a:extLst>
                  <a:ext uri="{0D108BD9-81ED-4DB2-BD59-A6C34878D82A}">
                    <a16:rowId xmlns:a16="http://schemas.microsoft.com/office/drawing/2014/main" val="10001"/>
                  </a:ext>
                </a:extLst>
              </a:tr>
              <a:tr h="277436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s-ES" sz="1600" b="1" i="1" dirty="0">
                          <a:solidFill>
                            <a:srgbClr val="FFFFFF"/>
                          </a:solidFill>
                        </a:rPr>
                        <a:t>SOLUTION</a:t>
                      </a:r>
                      <a:endParaRPr lang="en-US" sz="1600" b="1" i="1" dirty="0">
                        <a:solidFill>
                          <a:srgbClr val="FFFFFF"/>
                        </a:solidFill>
                      </a:endParaRPr>
                    </a:p>
                  </a:txBody>
                  <a:tcPr marL="91491" marR="91491" marT="45701" marB="45701">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50000"/>
                      </a:sysClr>
                    </a:solidFill>
                  </a:tcPr>
                </a:tc>
                <a:extLst>
                  <a:ext uri="{0D108BD9-81ED-4DB2-BD59-A6C34878D82A}">
                    <a16:rowId xmlns:a16="http://schemas.microsoft.com/office/drawing/2014/main" val="10002"/>
                  </a:ext>
                </a:extLst>
              </a:tr>
            </a:tbl>
          </a:graphicData>
        </a:graphic>
      </p:graphicFrame>
      <p:graphicFrame>
        <p:nvGraphicFramePr>
          <p:cNvPr id="4" name="Table 3">
            <a:extLst>
              <a:ext uri="{FF2B5EF4-FFF2-40B4-BE49-F238E27FC236}">
                <a16:creationId xmlns:a16="http://schemas.microsoft.com/office/drawing/2014/main" id="{B24CCEF8-A377-4A0B-ADFF-558AC136510A}"/>
              </a:ext>
            </a:extLst>
          </p:cNvPr>
          <p:cNvGraphicFramePr>
            <a:graphicFrameLocks noGrp="1"/>
          </p:cNvGraphicFramePr>
          <p:nvPr/>
        </p:nvGraphicFramePr>
        <p:xfrm>
          <a:off x="1331640" y="1412776"/>
          <a:ext cx="3856037" cy="2094489"/>
        </p:xfrm>
        <a:graphic>
          <a:graphicData uri="http://schemas.openxmlformats.org/drawingml/2006/table">
            <a:tbl>
              <a:tblPr firstRow="1">
                <a:effectLst/>
              </a:tblPr>
              <a:tblGrid>
                <a:gridCol w="3856037">
                  <a:extLst>
                    <a:ext uri="{9D8B030D-6E8A-4147-A177-3AD203B41FA5}">
                      <a16:colId xmlns:a16="http://schemas.microsoft.com/office/drawing/2014/main" val="20000"/>
                    </a:ext>
                  </a:extLst>
                </a:gridCol>
              </a:tblGrid>
              <a:tr h="3421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ES" sz="1800" dirty="0">
                          <a:solidFill>
                            <a:srgbClr val="FFFFFF"/>
                          </a:solidFill>
                        </a:rPr>
                        <a:t>PC</a:t>
                      </a:r>
                      <a:r>
                        <a:rPr lang="es-ES" sz="1800" baseline="0" dirty="0">
                          <a:solidFill>
                            <a:srgbClr val="FFFFFF"/>
                          </a:solidFill>
                        </a:rPr>
                        <a:t> IN MAIN LINE</a:t>
                      </a:r>
                    </a:p>
                  </a:txBody>
                  <a:tcPr marL="91435" marR="91435"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81BE">
                        <a:lumMod val="75000"/>
                      </a:srgbClr>
                    </a:solidFill>
                  </a:tcPr>
                </a:tc>
                <a:extLst>
                  <a:ext uri="{0D108BD9-81ED-4DB2-BD59-A6C34878D82A}">
                    <a16:rowId xmlns:a16="http://schemas.microsoft.com/office/drawing/2014/main" val="10000"/>
                  </a:ext>
                </a:extLst>
              </a:tr>
              <a:tr h="172878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285750" marR="0" indent="-285750" algn="l" defTabSz="457200" rtl="0" eaLnBrk="1" fontAlgn="auto" latinLnBrk="0" hangingPunct="1">
                        <a:lnSpc>
                          <a:spcPct val="100000"/>
                        </a:lnSpc>
                        <a:spcBef>
                          <a:spcPts val="0"/>
                        </a:spcBef>
                        <a:spcAft>
                          <a:spcPts val="600"/>
                        </a:spcAft>
                        <a:buClrTx/>
                        <a:buSzTx/>
                        <a:buFontTx/>
                        <a:buChar char="-"/>
                        <a:tabLst/>
                        <a:defRPr/>
                      </a:pPr>
                      <a:r>
                        <a:rPr lang="en-US" sz="1200" kern="1200" dirty="0">
                          <a:solidFill>
                            <a:schemeClr val="bg1">
                              <a:lumMod val="10000"/>
                            </a:schemeClr>
                          </a:solidFill>
                          <a:effectLst/>
                          <a:latin typeface="+mn-lt"/>
                          <a:ea typeface="+mn-ea"/>
                          <a:cs typeface="+mn-cs"/>
                        </a:rPr>
                        <a:t>Filter tables are active and set in such a way that the telegrams for the visualization can reach the main line.</a:t>
                      </a:r>
                    </a:p>
                    <a:p>
                      <a:pPr marL="285750" marR="0" indent="-285750" algn="l" defTabSz="457200" rtl="0" eaLnBrk="1" fontAlgn="auto" latinLnBrk="0" hangingPunct="1">
                        <a:lnSpc>
                          <a:spcPct val="100000"/>
                        </a:lnSpc>
                        <a:spcBef>
                          <a:spcPts val="0"/>
                        </a:spcBef>
                        <a:spcAft>
                          <a:spcPts val="600"/>
                        </a:spcAft>
                        <a:buClrTx/>
                        <a:buSzTx/>
                        <a:buFontTx/>
                        <a:buChar char="-"/>
                        <a:tabLst/>
                        <a:defRPr/>
                      </a:pPr>
                      <a:r>
                        <a:rPr lang="en-US" sz="1200" kern="1200" dirty="0">
                          <a:solidFill>
                            <a:schemeClr val="bg1">
                              <a:lumMod val="10000"/>
                            </a:schemeClr>
                          </a:solidFill>
                          <a:effectLst/>
                          <a:latin typeface="+mn-lt"/>
                          <a:ea typeface="+mn-ea"/>
                          <a:cs typeface="+mn-cs"/>
                        </a:rPr>
                        <a:t>If telegrams are now routed to the main line, the IACK is missing for the line coupler and the telegrams are repeated e.g. three times.</a:t>
                      </a:r>
                    </a:p>
                    <a:p>
                      <a:pPr marL="285750" marR="0" indent="-285750" algn="l" defTabSz="457200" rtl="0" eaLnBrk="1" fontAlgn="auto" latinLnBrk="0" hangingPunct="1">
                        <a:lnSpc>
                          <a:spcPct val="100000"/>
                        </a:lnSpc>
                        <a:spcBef>
                          <a:spcPts val="0"/>
                        </a:spcBef>
                        <a:spcAft>
                          <a:spcPts val="600"/>
                        </a:spcAft>
                        <a:buClrTx/>
                        <a:buSzTx/>
                        <a:buFontTx/>
                        <a:buChar char="-"/>
                        <a:tabLst/>
                        <a:defRPr/>
                      </a:pPr>
                      <a:r>
                        <a:rPr lang="es-ES" sz="1200" b="1" u="sng" noProof="0" dirty="0">
                          <a:solidFill>
                            <a:srgbClr val="002060"/>
                          </a:solidFill>
                          <a:latin typeface="+mn-lt"/>
                        </a:rPr>
                        <a:t>RESULT</a:t>
                      </a:r>
                      <a:r>
                        <a:rPr lang="es-ES" sz="1200" b="1" u="none" noProof="0" dirty="0">
                          <a:solidFill>
                            <a:srgbClr val="002060"/>
                          </a:solidFill>
                          <a:latin typeface="+mn-lt"/>
                        </a:rPr>
                        <a:t>:</a:t>
                      </a:r>
                      <a:r>
                        <a:rPr lang="es-ES" sz="1200" b="1" u="none" baseline="0" noProof="0" dirty="0">
                          <a:solidFill>
                            <a:srgbClr val="002060"/>
                          </a:solidFill>
                          <a:latin typeface="+mn-lt"/>
                        </a:rPr>
                        <a:t> </a:t>
                      </a:r>
                      <a:r>
                        <a:rPr lang="es-ES" sz="1200" noProof="0" dirty="0">
                          <a:solidFill>
                            <a:schemeClr val="bg2">
                              <a:lumMod val="10000"/>
                            </a:schemeClr>
                          </a:solidFill>
                          <a:latin typeface="+mn-lt"/>
                        </a:rPr>
                        <a:t>High bus load in </a:t>
                      </a:r>
                      <a:r>
                        <a:rPr lang="es-ES" sz="1200" noProof="0" dirty="0" err="1">
                          <a:solidFill>
                            <a:schemeClr val="bg2">
                              <a:lumMod val="10000"/>
                            </a:schemeClr>
                          </a:solidFill>
                          <a:latin typeface="+mn-lt"/>
                        </a:rPr>
                        <a:t>main</a:t>
                      </a:r>
                      <a:r>
                        <a:rPr lang="es-ES" sz="1200" noProof="0" dirty="0">
                          <a:solidFill>
                            <a:schemeClr val="bg2">
                              <a:lumMod val="10000"/>
                            </a:schemeClr>
                          </a:solidFill>
                          <a:latin typeface="+mn-lt"/>
                        </a:rPr>
                        <a:t> line. </a:t>
                      </a:r>
                    </a:p>
                  </a:txBody>
                  <a:tcPr marL="91435" marR="91435"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0001"/>
                  </a:ext>
                </a:extLst>
              </a:tr>
            </a:tbl>
          </a:graphicData>
        </a:graphic>
      </p:graphicFrame>
      <p:graphicFrame>
        <p:nvGraphicFramePr>
          <p:cNvPr id="5" name="Table 4">
            <a:extLst>
              <a:ext uri="{FF2B5EF4-FFF2-40B4-BE49-F238E27FC236}">
                <a16:creationId xmlns:a16="http://schemas.microsoft.com/office/drawing/2014/main" id="{E27E2972-87C8-449F-BB95-D9B7DBEFC496}"/>
              </a:ext>
            </a:extLst>
          </p:cNvPr>
          <p:cNvGraphicFramePr>
            <a:graphicFrameLocks noGrp="1"/>
          </p:cNvGraphicFramePr>
          <p:nvPr/>
        </p:nvGraphicFramePr>
        <p:xfrm>
          <a:off x="1322388" y="3505765"/>
          <a:ext cx="3857625" cy="2797714"/>
        </p:xfrm>
        <a:graphic>
          <a:graphicData uri="http://schemas.openxmlformats.org/drawingml/2006/table">
            <a:tbl>
              <a:tblPr firstRow="1">
                <a:effectLst/>
              </a:tblPr>
              <a:tblGrid>
                <a:gridCol w="3857625">
                  <a:extLst>
                    <a:ext uri="{9D8B030D-6E8A-4147-A177-3AD203B41FA5}">
                      <a16:colId xmlns:a16="http://schemas.microsoft.com/office/drawing/2014/main" val="20000"/>
                    </a:ext>
                  </a:extLst>
                </a:gridCol>
              </a:tblGrid>
              <a:tr h="279771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72000" indent="-342900">
                        <a:spcBef>
                          <a:spcPts val="600"/>
                        </a:spcBef>
                        <a:spcAft>
                          <a:spcPts val="600"/>
                        </a:spcAft>
                        <a:buAutoNum type="arabicPeriod"/>
                      </a:pPr>
                      <a:r>
                        <a:rPr lang="en-US" sz="1200" b="0" kern="1200" dirty="0">
                          <a:solidFill>
                            <a:schemeClr val="accent1">
                              <a:lumMod val="10000"/>
                            </a:schemeClr>
                          </a:solidFill>
                          <a:effectLst/>
                          <a:latin typeface="+mn-lt"/>
                          <a:ea typeface="+mn-ea"/>
                          <a:cs typeface="+mn-cs"/>
                        </a:rPr>
                        <a:t>“Telegram confirmation on main line” is set to “always” for all line couplers </a:t>
                      </a:r>
                    </a:p>
                    <a:p>
                      <a:pPr marL="0" indent="0">
                        <a:spcBef>
                          <a:spcPts val="600"/>
                        </a:spcBef>
                        <a:spcAft>
                          <a:spcPts val="600"/>
                        </a:spcAft>
                        <a:buNone/>
                      </a:pPr>
                      <a:r>
                        <a:rPr lang="en-GB" sz="1200" b="0" i="0" u="sng" baseline="0" dirty="0">
                          <a:solidFill>
                            <a:srgbClr val="002060"/>
                          </a:solidFill>
                          <a:latin typeface="+mn-lt"/>
                        </a:rPr>
                        <a:t>RESULT</a:t>
                      </a:r>
                      <a:r>
                        <a:rPr lang="en-GB" sz="1200" b="0" i="0" u="none" baseline="0" dirty="0">
                          <a:solidFill>
                            <a:srgbClr val="002060"/>
                          </a:solidFill>
                          <a:latin typeface="+mn-lt"/>
                        </a:rPr>
                        <a:t>: </a:t>
                      </a:r>
                      <a:r>
                        <a:rPr lang="en-US" sz="1200" b="0" kern="1200" dirty="0">
                          <a:solidFill>
                            <a:schemeClr val="accent1">
                              <a:lumMod val="10000"/>
                            </a:schemeClr>
                          </a:solidFill>
                          <a:effectLst/>
                          <a:latin typeface="+mn-lt"/>
                          <a:ea typeface="+mn-ea"/>
                          <a:cs typeface="+mn-cs"/>
                        </a:rPr>
                        <a:t>all the couplers respond and the telegram is not repeated </a:t>
                      </a:r>
                    </a:p>
                    <a:p>
                      <a:pPr marL="0" indent="0">
                        <a:spcBef>
                          <a:spcPts val="600"/>
                        </a:spcBef>
                        <a:spcAft>
                          <a:spcPts val="600"/>
                        </a:spcAft>
                        <a:buNone/>
                      </a:pPr>
                      <a:r>
                        <a:rPr lang="en-GB" sz="1200" b="1" i="0" dirty="0">
                          <a:solidFill>
                            <a:schemeClr val="bg2">
                              <a:lumMod val="10000"/>
                            </a:schemeClr>
                          </a:solidFill>
                          <a:latin typeface="+mn-lt"/>
                        </a:rPr>
                        <a:t>OR </a:t>
                      </a:r>
                    </a:p>
                    <a:p>
                      <a:pPr marL="72000" indent="-342900">
                        <a:spcAft>
                          <a:spcPts val="600"/>
                        </a:spcAft>
                        <a:buFont typeface="+mj-lt"/>
                        <a:buAutoNum type="arabicPeriod" startAt="2"/>
                      </a:pPr>
                      <a:r>
                        <a:rPr lang="en-US" sz="1200" b="0" kern="1200" dirty="0">
                          <a:solidFill>
                            <a:schemeClr val="bg2">
                              <a:lumMod val="10000"/>
                            </a:schemeClr>
                          </a:solidFill>
                          <a:effectLst/>
                          <a:latin typeface="+mn-lt"/>
                          <a:ea typeface="+mn-ea"/>
                          <a:cs typeface="+mn-cs"/>
                        </a:rPr>
                        <a:t>“Repetitions if transmission errors on main line” is set to “none” for all couplers </a:t>
                      </a:r>
                    </a:p>
                    <a:p>
                      <a:pPr marL="0" indent="0">
                        <a:spcAft>
                          <a:spcPts val="600"/>
                        </a:spcAft>
                        <a:buFont typeface="+mj-lt"/>
                        <a:buNone/>
                      </a:pPr>
                      <a:r>
                        <a:rPr lang="en-GB" sz="1200" b="0" i="0" u="sng" dirty="0">
                          <a:solidFill>
                            <a:srgbClr val="002060"/>
                          </a:solidFill>
                          <a:latin typeface="+mn-lt"/>
                        </a:rPr>
                        <a:t>RESULT</a:t>
                      </a:r>
                      <a:r>
                        <a:rPr lang="en-GB" sz="1200" b="0" i="0" u="none" dirty="0">
                          <a:solidFill>
                            <a:srgbClr val="002060"/>
                          </a:solidFill>
                          <a:latin typeface="+mn-lt"/>
                        </a:rPr>
                        <a:t>: </a:t>
                      </a:r>
                      <a:r>
                        <a:rPr lang="en-US" sz="1200" b="0" kern="1200" noProof="0" dirty="0">
                          <a:solidFill>
                            <a:schemeClr val="accent1">
                              <a:lumMod val="10000"/>
                            </a:schemeClr>
                          </a:solidFill>
                          <a:effectLst/>
                          <a:latin typeface="+mn-lt"/>
                          <a:ea typeface="+mn-ea"/>
                          <a:cs typeface="+mn-cs"/>
                        </a:rPr>
                        <a:t>telegram is likewise not repeated</a:t>
                      </a:r>
                    </a:p>
                    <a:p>
                      <a:pPr marL="0" indent="0">
                        <a:spcAft>
                          <a:spcPts val="600"/>
                        </a:spcAft>
                        <a:buFont typeface="+mj-lt"/>
                        <a:buNone/>
                      </a:pPr>
                      <a:r>
                        <a:rPr lang="en-GB" sz="1000" b="0" i="1" dirty="0">
                          <a:solidFill>
                            <a:schemeClr val="bg2">
                              <a:lumMod val="10000"/>
                            </a:schemeClr>
                          </a:solidFill>
                          <a:latin typeface="+mn-lt"/>
                        </a:rPr>
                        <a:t>*disadvantage=</a:t>
                      </a:r>
                      <a:r>
                        <a:rPr lang="en-GB" sz="1000" b="0" i="1" baseline="0" dirty="0">
                          <a:solidFill>
                            <a:schemeClr val="bg2">
                              <a:lumMod val="10000"/>
                            </a:schemeClr>
                          </a:solidFill>
                          <a:latin typeface="+mn-lt"/>
                        </a:rPr>
                        <a:t> </a:t>
                      </a:r>
                      <a:r>
                        <a:rPr lang="en-US" sz="1000" b="0" i="1" kern="1200" dirty="0">
                          <a:solidFill>
                            <a:schemeClr val="bg2">
                              <a:lumMod val="10000"/>
                            </a:schemeClr>
                          </a:solidFill>
                          <a:effectLst/>
                          <a:latin typeface="+mn-lt"/>
                          <a:ea typeface="+mn-ea"/>
                          <a:cs typeface="+mn-cs"/>
                        </a:rPr>
                        <a:t>telegrams are lost in case of transmission errors or full input buffers of the couplers. </a:t>
                      </a:r>
                    </a:p>
                    <a:p>
                      <a:pPr marL="0" indent="0">
                        <a:spcAft>
                          <a:spcPts val="600"/>
                        </a:spcAft>
                        <a:buFont typeface="+mj-lt"/>
                        <a:buNone/>
                      </a:pPr>
                      <a:r>
                        <a:rPr lang="en-US" sz="1000" b="0" i="1" kern="1200" dirty="0">
                          <a:solidFill>
                            <a:schemeClr val="bg2">
                              <a:lumMod val="10000"/>
                            </a:schemeClr>
                          </a:solidFill>
                          <a:effectLst/>
                          <a:latin typeface="+mn-lt"/>
                          <a:ea typeface="+mn-ea"/>
                          <a:cs typeface="+mn-cs"/>
                        </a:rPr>
                        <a:t>This option is however the only one available if there is only one line coupler present.</a:t>
                      </a:r>
                      <a:endParaRPr lang="en-GB" sz="1000" b="0" i="1" dirty="0">
                        <a:solidFill>
                          <a:schemeClr val="bg2">
                            <a:lumMod val="10000"/>
                          </a:schemeClr>
                        </a:solidFill>
                        <a:latin typeface="+mn-lt"/>
                      </a:endParaRPr>
                    </a:p>
                  </a:txBody>
                  <a:tcPr marL="91473" marR="91473" marT="45689" marB="45689">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0000"/>
                  </a:ext>
                </a:extLst>
              </a:tr>
            </a:tbl>
          </a:graphicData>
        </a:graphic>
      </p:graphicFrame>
      <p:graphicFrame>
        <p:nvGraphicFramePr>
          <p:cNvPr id="6" name="Table 5">
            <a:extLst>
              <a:ext uri="{FF2B5EF4-FFF2-40B4-BE49-F238E27FC236}">
                <a16:creationId xmlns:a16="http://schemas.microsoft.com/office/drawing/2014/main" id="{4E13AAD1-422A-49CF-930B-EEB2FA6E64EC}"/>
              </a:ext>
            </a:extLst>
          </p:cNvPr>
          <p:cNvGraphicFramePr>
            <a:graphicFrameLocks noGrp="1"/>
          </p:cNvGraphicFramePr>
          <p:nvPr/>
        </p:nvGraphicFramePr>
        <p:xfrm>
          <a:off x="5168384" y="1413030"/>
          <a:ext cx="3840163" cy="2135921"/>
        </p:xfrm>
        <a:graphic>
          <a:graphicData uri="http://schemas.openxmlformats.org/drawingml/2006/table">
            <a:tbl>
              <a:tblPr firstRow="1">
                <a:effectLst/>
              </a:tblPr>
              <a:tblGrid>
                <a:gridCol w="3840163">
                  <a:extLst>
                    <a:ext uri="{9D8B030D-6E8A-4147-A177-3AD203B41FA5}">
                      <a16:colId xmlns:a16="http://schemas.microsoft.com/office/drawing/2014/main" val="20000"/>
                    </a:ext>
                  </a:extLst>
                </a:gridCol>
              </a:tblGrid>
              <a:tr h="324276">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s-ES" sz="1800" dirty="0">
                          <a:solidFill>
                            <a:srgbClr val="FFFFFF"/>
                          </a:solidFill>
                        </a:rPr>
                        <a:t>PC IN SECUNDARY LINE</a:t>
                      </a:r>
                      <a:endParaRPr lang="en-US" sz="1800" dirty="0">
                        <a:solidFill>
                          <a:srgbClr val="FFFFFF"/>
                        </a:solidFill>
                      </a:endParaRPr>
                    </a:p>
                  </a:txBody>
                  <a:tcPr marL="91429" marR="91429"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17702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285750" marR="0" indent="-285750" algn="l" defTabSz="457200" rtl="0" eaLnBrk="1" fontAlgn="auto" latinLnBrk="0" hangingPunct="1">
                        <a:lnSpc>
                          <a:spcPct val="100000"/>
                        </a:lnSpc>
                        <a:spcBef>
                          <a:spcPts val="0"/>
                        </a:spcBef>
                        <a:spcAft>
                          <a:spcPts val="600"/>
                        </a:spcAft>
                        <a:buClrTx/>
                        <a:buSzTx/>
                        <a:buFontTx/>
                        <a:buChar char="-"/>
                        <a:tabLst/>
                        <a:defRPr/>
                      </a:pPr>
                      <a:r>
                        <a:rPr lang="en-US" sz="1200" kern="1200" dirty="0">
                          <a:solidFill>
                            <a:schemeClr val="bg1">
                              <a:lumMod val="10000"/>
                            </a:schemeClr>
                          </a:solidFill>
                          <a:effectLst/>
                          <a:latin typeface="+mn-lt"/>
                          <a:ea typeface="+mn-ea"/>
                          <a:cs typeface="+mn-cs"/>
                        </a:rPr>
                        <a:t>Filter tables are active and set in such a way that the telegrams for the visualization reach the line. </a:t>
                      </a:r>
                    </a:p>
                    <a:p>
                      <a:pPr marL="285750" marR="0" indent="-285750" algn="l" defTabSz="457200" rtl="0" eaLnBrk="1" fontAlgn="auto" latinLnBrk="0" hangingPunct="1">
                        <a:lnSpc>
                          <a:spcPct val="100000"/>
                        </a:lnSpc>
                        <a:spcBef>
                          <a:spcPts val="0"/>
                        </a:spcBef>
                        <a:spcAft>
                          <a:spcPts val="600"/>
                        </a:spcAft>
                        <a:buClrTx/>
                        <a:buSzTx/>
                        <a:buFontTx/>
                        <a:buChar char="-"/>
                        <a:tabLst/>
                        <a:defRPr/>
                      </a:pPr>
                      <a:r>
                        <a:rPr lang="en-US" sz="1200" kern="1200" dirty="0">
                          <a:solidFill>
                            <a:schemeClr val="bg1">
                              <a:lumMod val="10000"/>
                            </a:schemeClr>
                          </a:solidFill>
                          <a:effectLst/>
                          <a:latin typeface="+mn-lt"/>
                          <a:ea typeface="+mn-ea"/>
                          <a:cs typeface="+mn-cs"/>
                        </a:rPr>
                        <a:t>If telegrams which only address the visualization are now routed to the line, the IACK is missing for the line coupler and the telegrams are repeated e.g. three times. </a:t>
                      </a:r>
                    </a:p>
                    <a:p>
                      <a:pPr marL="285750" marR="0" indent="-285750" algn="l" defTabSz="457200" rtl="0" eaLnBrk="1" fontAlgn="auto" latinLnBrk="0" hangingPunct="1">
                        <a:lnSpc>
                          <a:spcPct val="100000"/>
                        </a:lnSpc>
                        <a:spcBef>
                          <a:spcPts val="0"/>
                        </a:spcBef>
                        <a:spcAft>
                          <a:spcPts val="600"/>
                        </a:spcAft>
                        <a:buClrTx/>
                        <a:buSzTx/>
                        <a:buFontTx/>
                        <a:buChar char="-"/>
                        <a:tabLst/>
                        <a:defRPr/>
                      </a:pPr>
                      <a:r>
                        <a:rPr lang="es-ES" sz="1200" b="1" u="sng" noProof="0" dirty="0">
                          <a:solidFill>
                            <a:srgbClr val="002060"/>
                          </a:solidFill>
                          <a:latin typeface="+mn-lt"/>
                        </a:rPr>
                        <a:t>RESULT</a:t>
                      </a:r>
                      <a:r>
                        <a:rPr lang="es-ES" sz="1200" b="1" u="none" noProof="0" dirty="0">
                          <a:solidFill>
                            <a:srgbClr val="002060"/>
                          </a:solidFill>
                          <a:latin typeface="+mn-lt"/>
                        </a:rPr>
                        <a:t>:</a:t>
                      </a:r>
                      <a:r>
                        <a:rPr lang="es-ES" sz="1200" b="1" u="none" baseline="0" noProof="0" dirty="0">
                          <a:solidFill>
                            <a:srgbClr val="002060"/>
                          </a:solidFill>
                          <a:latin typeface="+mn-lt"/>
                        </a:rPr>
                        <a:t> </a:t>
                      </a:r>
                      <a:r>
                        <a:rPr lang="es-ES" sz="1200" noProof="0" dirty="0">
                          <a:solidFill>
                            <a:schemeClr val="bg2">
                              <a:lumMod val="10000"/>
                            </a:schemeClr>
                          </a:solidFill>
                          <a:latin typeface="+mn-lt"/>
                        </a:rPr>
                        <a:t>High bus load in line. </a:t>
                      </a:r>
                    </a:p>
                  </a:txBody>
                  <a:tcPr marL="91429" marR="91429" marT="45694" marB="45694">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6E6E6">
                        <a:tint val="20000"/>
                      </a:srgbClr>
                    </a:solidFill>
                  </a:tcPr>
                </a:tc>
                <a:extLst>
                  <a:ext uri="{0D108BD9-81ED-4DB2-BD59-A6C34878D82A}">
                    <a16:rowId xmlns:a16="http://schemas.microsoft.com/office/drawing/2014/main" val="10001"/>
                  </a:ext>
                </a:extLst>
              </a:tr>
            </a:tbl>
          </a:graphicData>
        </a:graphic>
      </p:graphicFrame>
      <p:graphicFrame>
        <p:nvGraphicFramePr>
          <p:cNvPr id="7" name="Table 6">
            <a:extLst>
              <a:ext uri="{FF2B5EF4-FFF2-40B4-BE49-F238E27FC236}">
                <a16:creationId xmlns:a16="http://schemas.microsoft.com/office/drawing/2014/main" id="{FCF59AB4-19D8-4AA7-BE0D-7191D1CB28E5}"/>
              </a:ext>
            </a:extLst>
          </p:cNvPr>
          <p:cNvGraphicFramePr>
            <a:graphicFrameLocks noGrp="1"/>
          </p:cNvGraphicFramePr>
          <p:nvPr/>
        </p:nvGraphicFramePr>
        <p:xfrm>
          <a:off x="5201766" y="3505765"/>
          <a:ext cx="3840163" cy="2797714"/>
        </p:xfrm>
        <a:graphic>
          <a:graphicData uri="http://schemas.openxmlformats.org/drawingml/2006/table">
            <a:tbl>
              <a:tblPr firstRow="1">
                <a:effectLst/>
              </a:tblPr>
              <a:tblGrid>
                <a:gridCol w="3840163">
                  <a:extLst>
                    <a:ext uri="{9D8B030D-6E8A-4147-A177-3AD203B41FA5}">
                      <a16:colId xmlns:a16="http://schemas.microsoft.com/office/drawing/2014/main" val="20000"/>
                    </a:ext>
                  </a:extLst>
                </a:gridCol>
              </a:tblGrid>
              <a:tr h="279771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342900" indent="-342900">
                        <a:spcAft>
                          <a:spcPts val="600"/>
                        </a:spcAft>
                        <a:buFont typeface="+mj-lt"/>
                        <a:buAutoNum type="arabicPeriod"/>
                      </a:pPr>
                      <a:r>
                        <a:rPr lang="en-US" sz="1200" b="0" kern="1200" dirty="0">
                          <a:solidFill>
                            <a:schemeClr val="bg2">
                              <a:lumMod val="10000"/>
                            </a:schemeClr>
                          </a:solidFill>
                          <a:effectLst/>
                          <a:latin typeface="+mn-lt"/>
                          <a:ea typeface="+mn-ea"/>
                          <a:cs typeface="+mn-cs"/>
                        </a:rPr>
                        <a:t>“Repetitions if transmission errors on line” is set to “none” </a:t>
                      </a:r>
                    </a:p>
                    <a:p>
                      <a:pPr marL="0" indent="0">
                        <a:spcAft>
                          <a:spcPts val="600"/>
                        </a:spcAft>
                        <a:buFont typeface="+mj-lt"/>
                        <a:buNone/>
                      </a:pPr>
                      <a:r>
                        <a:rPr lang="en-GB" sz="1200" b="0" i="0" u="sng" dirty="0">
                          <a:solidFill>
                            <a:srgbClr val="002060"/>
                          </a:solidFill>
                          <a:latin typeface="+mn-lt"/>
                        </a:rPr>
                        <a:t>RESULT</a:t>
                      </a:r>
                      <a:r>
                        <a:rPr lang="en-GB" sz="1200" b="0" i="0" u="none" dirty="0">
                          <a:solidFill>
                            <a:srgbClr val="002060"/>
                          </a:solidFill>
                          <a:latin typeface="+mn-lt"/>
                        </a:rPr>
                        <a:t>: </a:t>
                      </a:r>
                      <a:r>
                        <a:rPr lang="en-US" sz="1200" b="0" kern="1200" noProof="0" dirty="0">
                          <a:solidFill>
                            <a:schemeClr val="accent1">
                              <a:lumMod val="10000"/>
                            </a:schemeClr>
                          </a:solidFill>
                          <a:effectLst/>
                          <a:latin typeface="+mn-lt"/>
                          <a:ea typeface="+mn-ea"/>
                          <a:cs typeface="+mn-cs"/>
                        </a:rPr>
                        <a:t>the telegram is therefore not repeated</a:t>
                      </a:r>
                    </a:p>
                    <a:p>
                      <a:pPr marL="0" indent="0">
                        <a:spcAft>
                          <a:spcPts val="600"/>
                        </a:spcAft>
                        <a:buFont typeface="+mj-lt"/>
                        <a:buNone/>
                      </a:pPr>
                      <a:r>
                        <a:rPr lang="en-GB" sz="1000" b="0" i="1" dirty="0">
                          <a:solidFill>
                            <a:schemeClr val="bg2">
                              <a:lumMod val="10000"/>
                            </a:schemeClr>
                          </a:solidFill>
                          <a:latin typeface="+mn-lt"/>
                        </a:rPr>
                        <a:t>*disadvantage =</a:t>
                      </a:r>
                      <a:r>
                        <a:rPr lang="en-GB" sz="1000" b="0" i="1" baseline="0" dirty="0">
                          <a:solidFill>
                            <a:schemeClr val="bg2">
                              <a:lumMod val="10000"/>
                            </a:schemeClr>
                          </a:solidFill>
                          <a:latin typeface="+mn-lt"/>
                        </a:rPr>
                        <a:t> </a:t>
                      </a:r>
                      <a:r>
                        <a:rPr lang="en-US" sz="1000" b="0" i="1" kern="1200" dirty="0">
                          <a:solidFill>
                            <a:schemeClr val="bg2">
                              <a:lumMod val="10000"/>
                            </a:schemeClr>
                          </a:solidFill>
                          <a:effectLst/>
                          <a:latin typeface="+mn-lt"/>
                          <a:ea typeface="+mn-ea"/>
                          <a:cs typeface="+mn-cs"/>
                        </a:rPr>
                        <a:t>telegrams are lost in case of transmission errors.</a:t>
                      </a:r>
                      <a:endParaRPr lang="en-US" sz="1000" dirty="0">
                        <a:solidFill>
                          <a:schemeClr val="bg2">
                            <a:lumMod val="10000"/>
                          </a:schemeClr>
                        </a:solidFill>
                        <a:latin typeface="+mn-lt"/>
                      </a:endParaRPr>
                    </a:p>
                  </a:txBody>
                  <a:tcPr marL="91429" marR="91429" marT="45708" marB="45708">
                    <a:lnL w="28575" cap="flat" cmpd="sng" algn="ctr">
                      <a:solidFill>
                        <a:sysClr val="window" lastClr="FFFFFF"/>
                      </a:solidFill>
                      <a:prstDash val="solid"/>
                      <a:round/>
                      <a:headEnd type="none" w="med" len="med"/>
                      <a:tailEnd type="none" w="med" len="med"/>
                    </a:lnL>
                    <a:lnR w="28575" cap="flat" cmpd="sng" algn="ctr">
                      <a:solidFill>
                        <a:sysClr val="window" lastClr="FFFFFF"/>
                      </a:solidFill>
                      <a:prstDash val="solid"/>
                      <a:round/>
                      <a:headEnd type="none" w="med" len="med"/>
                      <a:tailEnd type="none" w="med" len="med"/>
                    </a:lnR>
                    <a:lnT w="28575" cap="flat" cmpd="sng" algn="ctr">
                      <a:solidFill>
                        <a:sysClr val="window" lastClr="FFFFFF"/>
                      </a:solidFill>
                      <a:prstDash val="solid"/>
                      <a:round/>
                      <a:headEnd type="none" w="med" len="med"/>
                      <a:tailEnd type="none" w="med" len="med"/>
                    </a:lnT>
                    <a:lnB w="28575"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08179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10911-B571-4846-A0B7-BF5EBC0C737B}"/>
              </a:ext>
            </a:extLst>
          </p:cNvPr>
          <p:cNvSpPr>
            <a:spLocks noGrp="1"/>
          </p:cNvSpPr>
          <p:nvPr>
            <p:ph type="title"/>
          </p:nvPr>
        </p:nvSpPr>
        <p:spPr/>
        <p:txBody>
          <a:bodyPr/>
          <a:lstStyle/>
          <a:p>
            <a:r>
              <a:rPr lang="en-GB" dirty="0"/>
              <a:t>Parameters of Line Repeaters</a:t>
            </a:r>
          </a:p>
        </p:txBody>
      </p:sp>
      <p:pic>
        <p:nvPicPr>
          <p:cNvPr id="3" name="Picture 2">
            <a:extLst>
              <a:ext uri="{FF2B5EF4-FFF2-40B4-BE49-F238E27FC236}">
                <a16:creationId xmlns:a16="http://schemas.microsoft.com/office/drawing/2014/main" id="{8936C53A-0896-48D9-B028-0C86A10449E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635896" y="3717032"/>
            <a:ext cx="4790167" cy="2440235"/>
          </a:xfrm>
          <a:prstGeom prst="rect">
            <a:avLst/>
          </a:prstGeom>
          <a:noFill/>
          <a:ln w="19050" cmpd="sng">
            <a:solidFill>
              <a:srgbClr val="000000"/>
            </a:solidFill>
            <a:miter lim="800000"/>
            <a:headEnd/>
            <a:tailEnd/>
          </a:ln>
          <a:effectLst/>
        </p:spPr>
      </p:pic>
      <p:sp>
        <p:nvSpPr>
          <p:cNvPr id="4" name="Rectangle 3">
            <a:extLst>
              <a:ext uri="{FF2B5EF4-FFF2-40B4-BE49-F238E27FC236}">
                <a16:creationId xmlns:a16="http://schemas.microsoft.com/office/drawing/2014/main" id="{6C576B1F-DE37-4BB4-908D-F4C5C75DC87A}"/>
              </a:ext>
            </a:extLst>
          </p:cNvPr>
          <p:cNvSpPr/>
          <p:nvPr/>
        </p:nvSpPr>
        <p:spPr>
          <a:xfrm>
            <a:off x="892544" y="1628800"/>
            <a:ext cx="7937500" cy="8623899"/>
          </a:xfrm>
          <a:prstGeom prst="rect">
            <a:avLst/>
          </a:prstGeom>
        </p:spPr>
        <p:txBody>
          <a:bodyPr/>
          <a:lstStyle/>
          <a:p>
            <a:pPr marL="342900" indent="-342900" eaLnBrk="0" hangingPunct="0">
              <a:spcBef>
                <a:spcPct val="20000"/>
              </a:spcBef>
              <a:buClr>
                <a:srgbClr val="369226"/>
              </a:buClr>
              <a:buFont typeface="Wingdings" pitchFamily="2" charset="2"/>
              <a:buChar char="§"/>
            </a:pPr>
            <a:r>
              <a:rPr lang="en-US" sz="2000" b="1" dirty="0">
                <a:latin typeface="+mn-lt"/>
                <a:cs typeface="+mn-cs"/>
              </a:rPr>
              <a:t>ETS program does not make a distinction between line segments </a:t>
            </a:r>
            <a:r>
              <a:rPr lang="en-US" sz="2000" dirty="0">
                <a:latin typeface="+mn-lt"/>
                <a:cs typeface="+mn-cs"/>
              </a:rPr>
              <a:t>→</a:t>
            </a:r>
            <a:r>
              <a:rPr lang="en-US" sz="2000" b="1" dirty="0">
                <a:latin typeface="+mn-lt"/>
                <a:cs typeface="+mn-cs"/>
              </a:rPr>
              <a:t>  does not create filter table for line repeaters</a:t>
            </a:r>
          </a:p>
          <a:p>
            <a:pPr marL="342900" indent="-342900" eaLnBrk="0" hangingPunct="0">
              <a:spcBef>
                <a:spcPct val="20000"/>
              </a:spcBef>
              <a:buClr>
                <a:srgbClr val="369226"/>
              </a:buClr>
              <a:buFont typeface="Wingdings" pitchFamily="2" charset="2"/>
              <a:buChar char="§"/>
            </a:pPr>
            <a:endParaRPr lang="en-US" sz="2000" b="1" dirty="0">
              <a:solidFill>
                <a:srgbClr val="369226"/>
              </a:solidFill>
              <a:latin typeface="+mn-lt"/>
              <a:cs typeface="+mn-cs"/>
            </a:endParaRPr>
          </a:p>
          <a:p>
            <a:pPr marL="342900" indent="-342900" eaLnBrk="0" hangingPunct="0">
              <a:spcBef>
                <a:spcPct val="20000"/>
              </a:spcBef>
              <a:buClr>
                <a:srgbClr val="369226"/>
              </a:buClr>
              <a:buFont typeface="Wingdings" pitchFamily="2" charset="2"/>
              <a:buChar char="§"/>
            </a:pPr>
            <a:r>
              <a:rPr lang="en-US" sz="2000" b="1" dirty="0">
                <a:latin typeface="+mn-lt"/>
                <a:cs typeface="+mn-cs"/>
              </a:rPr>
              <a:t>All telegrams with physical destination addresses are also generally routed</a:t>
            </a:r>
            <a:endParaRPr lang="es-ES" sz="2000" b="1" dirty="0">
              <a:latin typeface="+mn-lt"/>
              <a:cs typeface="+mn-cs"/>
            </a:endParaRPr>
          </a:p>
        </p:txBody>
      </p:sp>
    </p:spTree>
    <p:extLst>
      <p:ext uri="{BB962C8B-B14F-4D97-AF65-F5344CB8AC3E}">
        <p14:creationId xmlns:p14="http://schemas.microsoft.com/office/powerpoint/2010/main" val="597523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rPr lang="en-GB" dirty="0"/>
              <a:t>Routing</a:t>
            </a:r>
          </a:p>
        </p:txBody>
      </p:sp>
      <p:sp>
        <p:nvSpPr>
          <p:cNvPr id="6" name="TextBox 4">
            <a:extLst>
              <a:ext uri="{FF2B5EF4-FFF2-40B4-BE49-F238E27FC236}">
                <a16:creationId xmlns:a16="http://schemas.microsoft.com/office/drawing/2014/main" id="{9E217BE3-946B-43F4-AA40-E1441B51CFE7}"/>
              </a:ext>
            </a:extLst>
          </p:cNvPr>
          <p:cNvSpPr txBox="1">
            <a:spLocks noChangeArrowheads="1"/>
          </p:cNvSpPr>
          <p:nvPr/>
        </p:nvSpPr>
        <p:spPr bwMode="auto">
          <a:xfrm>
            <a:off x="971601" y="1444713"/>
            <a:ext cx="7026505"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s-ES" sz="2000" b="1" dirty="0">
                <a:solidFill>
                  <a:srgbClr val="369226"/>
                </a:solidFill>
              </a:rPr>
              <a:t>5 possible ways to respond on reception of a telegram</a:t>
            </a:r>
            <a:r>
              <a:rPr lang="es-ES" altLang="es-ES" sz="2000" b="1" dirty="0">
                <a:solidFill>
                  <a:srgbClr val="369226"/>
                </a:solidFill>
              </a:rPr>
              <a:t>:</a:t>
            </a:r>
            <a:endParaRPr lang="en-US" altLang="es-ES" sz="2000" b="1" dirty="0">
              <a:solidFill>
                <a:srgbClr val="369226"/>
              </a:solidFill>
            </a:endParaRPr>
          </a:p>
        </p:txBody>
      </p:sp>
      <p:sp>
        <p:nvSpPr>
          <p:cNvPr id="7" name="Rectangle 6">
            <a:extLst>
              <a:ext uri="{FF2B5EF4-FFF2-40B4-BE49-F238E27FC236}">
                <a16:creationId xmlns:a16="http://schemas.microsoft.com/office/drawing/2014/main" id="{57FCB946-5BA6-45DE-8E9F-EE1C19E70167}"/>
              </a:ext>
            </a:extLst>
          </p:cNvPr>
          <p:cNvSpPr/>
          <p:nvPr/>
        </p:nvSpPr>
        <p:spPr>
          <a:xfrm>
            <a:off x="971601" y="1924958"/>
            <a:ext cx="7696149" cy="2831544"/>
          </a:xfrm>
          <a:prstGeom prst="rect">
            <a:avLst/>
          </a:prstGeom>
          <a:noFill/>
          <a:ln>
            <a:noFill/>
          </a:ln>
          <a:effectLst/>
        </p:spPr>
        <p:txBody>
          <a:bodyPr wrap="square">
            <a:spAutoFit/>
          </a:bodyPr>
          <a:lstStyle/>
          <a:p>
            <a:pPr>
              <a:defRPr/>
            </a:pPr>
            <a:r>
              <a:rPr lang="en-US" sz="2000" b="1" dirty="0">
                <a:solidFill>
                  <a:schemeClr val="bg2">
                    <a:lumMod val="10000"/>
                  </a:schemeClr>
                </a:solidFill>
              </a:rPr>
              <a:t> In case the telegram is </a:t>
            </a:r>
            <a:r>
              <a:rPr lang="en-US" sz="2000" b="1" dirty="0">
                <a:solidFill>
                  <a:srgbClr val="369226"/>
                </a:solidFill>
              </a:rPr>
              <a:t>acknowledged</a:t>
            </a:r>
            <a:r>
              <a:rPr lang="es-ES" sz="2000" b="1" dirty="0">
                <a:solidFill>
                  <a:srgbClr val="369226"/>
                </a:solidFill>
              </a:rPr>
              <a:t>:</a:t>
            </a:r>
          </a:p>
          <a:p>
            <a:pPr>
              <a:defRPr/>
            </a:pPr>
            <a:endParaRPr lang="en-US" sz="800" b="1" dirty="0">
              <a:solidFill>
                <a:schemeClr val="bg2">
                  <a:lumMod val="10000"/>
                </a:schemeClr>
              </a:solidFill>
            </a:endParaRPr>
          </a:p>
          <a:p>
            <a:pPr lvl="1">
              <a:spcAft>
                <a:spcPts val="1200"/>
              </a:spcAft>
              <a:defRPr/>
            </a:pPr>
            <a:r>
              <a:rPr lang="en-GB" sz="2000" b="1" dirty="0">
                <a:solidFill>
                  <a:srgbClr val="369226"/>
                </a:solidFill>
              </a:rPr>
              <a:t>1 - TEL_ROUT_UN</a:t>
            </a:r>
            <a:r>
              <a:rPr lang="en-GB" sz="2000" b="1" dirty="0">
                <a:solidFill>
                  <a:schemeClr val="bg2">
                    <a:lumMod val="10000"/>
                  </a:schemeClr>
                </a:solidFill>
              </a:rPr>
              <a:t>: Telegram is routed unchanged </a:t>
            </a:r>
            <a:endParaRPr lang="es-ES" sz="2000" b="1" dirty="0">
              <a:solidFill>
                <a:schemeClr val="bg2">
                  <a:lumMod val="10000"/>
                </a:schemeClr>
              </a:solidFill>
            </a:endParaRPr>
          </a:p>
          <a:p>
            <a:pPr lvl="1">
              <a:spcAft>
                <a:spcPts val="1200"/>
              </a:spcAft>
              <a:defRPr/>
            </a:pPr>
            <a:r>
              <a:rPr lang="en-GB" sz="2000" b="1" dirty="0">
                <a:solidFill>
                  <a:srgbClr val="369226"/>
                </a:solidFill>
              </a:rPr>
              <a:t>2 - TEL_ROUT_DEC</a:t>
            </a:r>
            <a:r>
              <a:rPr lang="en-GB" sz="2000" b="1" dirty="0">
                <a:solidFill>
                  <a:schemeClr val="bg2">
                    <a:lumMod val="10000"/>
                  </a:schemeClr>
                </a:solidFill>
              </a:rPr>
              <a:t>: </a:t>
            </a:r>
            <a:r>
              <a:rPr lang="en-US" sz="2000" b="1" dirty="0">
                <a:solidFill>
                  <a:schemeClr val="bg2">
                    <a:lumMod val="10000"/>
                  </a:schemeClr>
                </a:solidFill>
              </a:rPr>
              <a:t>Telegram is routed and the routing counter is decremented</a:t>
            </a:r>
            <a:endParaRPr lang="es-ES" sz="2000" b="1" dirty="0">
              <a:solidFill>
                <a:schemeClr val="bg2">
                  <a:lumMod val="10000"/>
                </a:schemeClr>
              </a:solidFill>
            </a:endParaRPr>
          </a:p>
          <a:p>
            <a:pPr lvl="1">
              <a:spcAft>
                <a:spcPts val="1200"/>
              </a:spcAft>
              <a:defRPr/>
            </a:pPr>
            <a:r>
              <a:rPr lang="en-GB" sz="2000" b="1" dirty="0">
                <a:solidFill>
                  <a:srgbClr val="369226"/>
                </a:solidFill>
              </a:rPr>
              <a:t>3 - TEL_INT</a:t>
            </a:r>
            <a:r>
              <a:rPr lang="en-GB" sz="2000" b="1" dirty="0">
                <a:solidFill>
                  <a:schemeClr val="bg2">
                    <a:lumMod val="10000"/>
                  </a:schemeClr>
                </a:solidFill>
              </a:rPr>
              <a:t>: </a:t>
            </a:r>
            <a:r>
              <a:rPr lang="en-US" sz="2000" b="1" dirty="0">
                <a:solidFill>
                  <a:schemeClr val="bg2">
                    <a:lumMod val="10000"/>
                  </a:schemeClr>
                </a:solidFill>
              </a:rPr>
              <a:t>Telegram is intended for the coupler itself in order to change internal data</a:t>
            </a:r>
            <a:endParaRPr lang="es-ES" sz="2000" b="1" dirty="0">
              <a:solidFill>
                <a:schemeClr val="bg2">
                  <a:lumMod val="10000"/>
                </a:schemeClr>
              </a:solidFill>
            </a:endParaRPr>
          </a:p>
          <a:p>
            <a:pPr lvl="1">
              <a:spcAft>
                <a:spcPts val="1200"/>
              </a:spcAft>
              <a:defRPr/>
            </a:pPr>
            <a:r>
              <a:rPr lang="en-GB" sz="2000" b="1" dirty="0">
                <a:solidFill>
                  <a:srgbClr val="369226"/>
                </a:solidFill>
              </a:rPr>
              <a:t>4 - TEL_IGN_AK</a:t>
            </a:r>
            <a:r>
              <a:rPr lang="en-GB" sz="2000" b="1" dirty="0">
                <a:solidFill>
                  <a:schemeClr val="bg2">
                    <a:lumMod val="10000"/>
                  </a:schemeClr>
                </a:solidFill>
              </a:rPr>
              <a:t>: Telegram is ignored</a:t>
            </a:r>
            <a:endParaRPr lang="es-ES" sz="2000" b="1" dirty="0">
              <a:solidFill>
                <a:schemeClr val="bg2">
                  <a:lumMod val="10000"/>
                </a:schemeClr>
              </a:solidFill>
            </a:endParaRPr>
          </a:p>
        </p:txBody>
      </p:sp>
      <p:sp>
        <p:nvSpPr>
          <p:cNvPr id="8" name="Rectangle 7">
            <a:extLst>
              <a:ext uri="{FF2B5EF4-FFF2-40B4-BE49-F238E27FC236}">
                <a16:creationId xmlns:a16="http://schemas.microsoft.com/office/drawing/2014/main" id="{26755C5A-EAF5-47D9-96D1-93536C20AA3E}"/>
              </a:ext>
            </a:extLst>
          </p:cNvPr>
          <p:cNvSpPr/>
          <p:nvPr/>
        </p:nvSpPr>
        <p:spPr>
          <a:xfrm>
            <a:off x="958912" y="5058311"/>
            <a:ext cx="7937500" cy="984885"/>
          </a:xfrm>
          <a:prstGeom prst="rect">
            <a:avLst/>
          </a:prstGeom>
          <a:noFill/>
          <a:ln>
            <a:noFill/>
          </a:ln>
          <a:effectLst/>
        </p:spPr>
        <p:txBody>
          <a:bodyPr wrap="square">
            <a:spAutoFit/>
          </a:bodyPr>
          <a:lstStyle/>
          <a:p>
            <a:r>
              <a:rPr lang="es-ES" sz="2000" b="1" dirty="0">
                <a:solidFill>
                  <a:schemeClr val="bg2">
                    <a:lumMod val="10000"/>
                  </a:schemeClr>
                </a:solidFill>
              </a:rPr>
              <a:t>In </a:t>
            </a:r>
            <a:r>
              <a:rPr lang="en-GB" sz="2000" b="1" dirty="0">
                <a:solidFill>
                  <a:schemeClr val="bg2">
                    <a:lumMod val="10000"/>
                  </a:schemeClr>
                </a:solidFill>
              </a:rPr>
              <a:t>case the telegram is </a:t>
            </a:r>
            <a:r>
              <a:rPr lang="en-GB" sz="2000" b="1" dirty="0">
                <a:solidFill>
                  <a:srgbClr val="369226"/>
                </a:solidFill>
              </a:rPr>
              <a:t>not </a:t>
            </a:r>
            <a:r>
              <a:rPr lang="en-US" sz="2000" b="1" dirty="0">
                <a:solidFill>
                  <a:srgbClr val="369226"/>
                </a:solidFill>
              </a:rPr>
              <a:t>acknowledged</a:t>
            </a:r>
            <a:r>
              <a:rPr lang="en-GB" sz="2000" b="1" dirty="0">
                <a:solidFill>
                  <a:srgbClr val="369226"/>
                </a:solidFill>
              </a:rPr>
              <a:t>:</a:t>
            </a:r>
          </a:p>
          <a:p>
            <a:pPr lvl="1">
              <a:spcAft>
                <a:spcPts val="1200"/>
              </a:spcAft>
            </a:pPr>
            <a:endParaRPr lang="en-GB" sz="800" b="1" dirty="0">
              <a:solidFill>
                <a:srgbClr val="369226"/>
              </a:solidFill>
            </a:endParaRPr>
          </a:p>
          <a:p>
            <a:pPr lvl="1">
              <a:spcAft>
                <a:spcPts val="1200"/>
              </a:spcAft>
            </a:pPr>
            <a:r>
              <a:rPr lang="en-GB" sz="2000" b="1" dirty="0">
                <a:solidFill>
                  <a:srgbClr val="369226"/>
                </a:solidFill>
              </a:rPr>
              <a:t>5 -TEL_IGN_NOAK</a:t>
            </a:r>
            <a:r>
              <a:rPr lang="en-GB" sz="2000" b="1" dirty="0"/>
              <a:t>:</a:t>
            </a:r>
            <a:r>
              <a:rPr lang="en-GB" sz="2000" b="1" dirty="0">
                <a:solidFill>
                  <a:srgbClr val="369226"/>
                </a:solidFill>
              </a:rPr>
              <a:t> </a:t>
            </a:r>
            <a:r>
              <a:rPr lang="en-US" sz="2000" b="1" dirty="0"/>
              <a:t>Telegram is ignored without ack</a:t>
            </a:r>
          </a:p>
        </p:txBody>
      </p:sp>
    </p:spTree>
    <p:extLst>
      <p:ext uri="{BB962C8B-B14F-4D97-AF65-F5344CB8AC3E}">
        <p14:creationId xmlns:p14="http://schemas.microsoft.com/office/powerpoint/2010/main" val="2112717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DB460-6281-41E7-A120-B252F67243E5}"/>
              </a:ext>
            </a:extLst>
          </p:cNvPr>
          <p:cNvSpPr>
            <a:spLocks noGrp="1"/>
          </p:cNvSpPr>
          <p:nvPr>
            <p:ph type="title"/>
          </p:nvPr>
        </p:nvSpPr>
        <p:spPr>
          <a:xfrm>
            <a:off x="900113" y="332656"/>
            <a:ext cx="6480175" cy="719138"/>
          </a:xfrm>
        </p:spPr>
        <p:txBody>
          <a:bodyPr/>
          <a:lstStyle/>
          <a:p>
            <a:r>
              <a:rPr lang="en-US" dirty="0"/>
              <a:t>Routing for Physically Addressed Telegrams</a:t>
            </a:r>
            <a:endParaRPr lang="es-ES" dirty="0"/>
          </a:p>
        </p:txBody>
      </p:sp>
      <p:graphicFrame>
        <p:nvGraphicFramePr>
          <p:cNvPr id="4" name="Object 3">
            <a:extLst>
              <a:ext uri="{FF2B5EF4-FFF2-40B4-BE49-F238E27FC236}">
                <a16:creationId xmlns:a16="http://schemas.microsoft.com/office/drawing/2014/main" id="{31A50B3B-39A4-4F5F-A5CA-EDBDD66BA816}"/>
              </a:ext>
            </a:extLst>
          </p:cNvPr>
          <p:cNvGraphicFramePr>
            <a:graphicFrameLocks noChangeAspect="1"/>
          </p:cNvGraphicFramePr>
          <p:nvPr/>
        </p:nvGraphicFramePr>
        <p:xfrm>
          <a:off x="236537" y="1546834"/>
          <a:ext cx="4335463" cy="3505200"/>
        </p:xfrm>
        <a:graphic>
          <a:graphicData uri="http://schemas.openxmlformats.org/presentationml/2006/ole">
            <mc:AlternateContent xmlns:mc="http://schemas.openxmlformats.org/markup-compatibility/2006">
              <mc:Choice xmlns:v="urn:schemas-microsoft-com:vml" Requires="v">
                <p:oleObj r:id="rId3" imgW="6950207" imgH="5611021" progId="Visio.Drawing.15">
                  <p:embed/>
                </p:oleObj>
              </mc:Choice>
              <mc:Fallback>
                <p:oleObj r:id="rId3" imgW="6950207" imgH="5611021" progId="Visio.Drawing.15">
                  <p:embed/>
                  <p:pic>
                    <p:nvPicPr>
                      <p:cNvPr id="4" name="Object 3">
                        <a:extLst>
                          <a:ext uri="{FF2B5EF4-FFF2-40B4-BE49-F238E27FC236}">
                            <a16:creationId xmlns:a16="http://schemas.microsoft.com/office/drawing/2014/main" id="{31A50B3B-39A4-4F5F-A5CA-EDBDD66BA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37" y="1546834"/>
                        <a:ext cx="4335463" cy="350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5883F6C6-88BE-4BF6-9B1C-2955BBB28640}"/>
              </a:ext>
            </a:extLst>
          </p:cNvPr>
          <p:cNvSpPr>
            <a:spLocks noChangeArrowheads="1"/>
          </p:cNvSpPr>
          <p:nvPr/>
        </p:nvSpPr>
        <p:spPr bwMode="auto">
          <a:xfrm>
            <a:off x="2655888" y="2420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6" name="Object 5">
            <a:extLst>
              <a:ext uri="{FF2B5EF4-FFF2-40B4-BE49-F238E27FC236}">
                <a16:creationId xmlns:a16="http://schemas.microsoft.com/office/drawing/2014/main" id="{921841A4-DFE0-4BDA-B6E0-DB957325F149}"/>
              </a:ext>
            </a:extLst>
          </p:cNvPr>
          <p:cNvGraphicFramePr>
            <a:graphicFrameLocks noChangeAspect="1"/>
          </p:cNvGraphicFramePr>
          <p:nvPr/>
        </p:nvGraphicFramePr>
        <p:xfrm>
          <a:off x="4355976" y="1579984"/>
          <a:ext cx="4346448" cy="3505200"/>
        </p:xfrm>
        <a:graphic>
          <a:graphicData uri="http://schemas.openxmlformats.org/presentationml/2006/ole">
            <mc:AlternateContent xmlns:mc="http://schemas.openxmlformats.org/markup-compatibility/2006">
              <mc:Choice xmlns:v="urn:schemas-microsoft-com:vml" Requires="v">
                <p:oleObj r:id="rId5" imgW="6950207" imgH="5611021" progId="Visio.Drawing.15">
                  <p:embed/>
                </p:oleObj>
              </mc:Choice>
              <mc:Fallback>
                <p:oleObj r:id="rId5" imgW="6950207" imgH="5611021" progId="Visio.Drawing.15">
                  <p:embed/>
                  <p:pic>
                    <p:nvPicPr>
                      <p:cNvPr id="6" name="Object 5">
                        <a:extLst>
                          <a:ext uri="{FF2B5EF4-FFF2-40B4-BE49-F238E27FC236}">
                            <a16:creationId xmlns:a16="http://schemas.microsoft.com/office/drawing/2014/main" id="{921841A4-DFE0-4BDA-B6E0-DB957325F1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5976" y="1579984"/>
                        <a:ext cx="4346448" cy="3505200"/>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3C0012D9-0177-43C6-8BE8-EABF75BAEA05}"/>
              </a:ext>
            </a:extLst>
          </p:cNvPr>
          <p:cNvSpPr/>
          <p:nvPr/>
        </p:nvSpPr>
        <p:spPr>
          <a:xfrm>
            <a:off x="2300368" y="1412776"/>
            <a:ext cx="2258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GB" sz="2000" b="1" dirty="0">
                <a:solidFill>
                  <a:srgbClr val="369226"/>
                </a:solidFill>
                <a:latin typeface="Arial" panose="020B0604020202020204" pitchFamily="34" charset="0"/>
                <a:ea typeface="ＭＳ Ｐゴシック" panose="020B0600070205080204" pitchFamily="34" charset="-128"/>
              </a:rPr>
              <a:t>Main line to line: </a:t>
            </a:r>
            <a:endParaRPr lang="es-ES" sz="2000" b="1" dirty="0">
              <a:solidFill>
                <a:srgbClr val="369226"/>
              </a:solidFill>
              <a:latin typeface="Arial" panose="020B0604020202020204" pitchFamily="34" charset="0"/>
              <a:ea typeface="ＭＳ Ｐゴシック" panose="020B0600070205080204" pitchFamily="34" charset="-128"/>
            </a:endParaRPr>
          </a:p>
        </p:txBody>
      </p:sp>
      <p:sp>
        <p:nvSpPr>
          <p:cNvPr id="7" name="Rectangle 6">
            <a:extLst>
              <a:ext uri="{FF2B5EF4-FFF2-40B4-BE49-F238E27FC236}">
                <a16:creationId xmlns:a16="http://schemas.microsoft.com/office/drawing/2014/main" id="{F887077E-A766-4693-A589-56919993D4D3}"/>
              </a:ext>
            </a:extLst>
          </p:cNvPr>
          <p:cNvSpPr/>
          <p:nvPr/>
        </p:nvSpPr>
        <p:spPr>
          <a:xfrm>
            <a:off x="6294369" y="1412776"/>
            <a:ext cx="23640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GB" sz="2000" b="1" dirty="0">
                <a:solidFill>
                  <a:srgbClr val="369226"/>
                </a:solidFill>
                <a:latin typeface="Arial" panose="020B0604020202020204" pitchFamily="34" charset="0"/>
                <a:ea typeface="ＭＳ Ｐゴシック" panose="020B0600070205080204" pitchFamily="34" charset="-128"/>
              </a:rPr>
              <a:t>Line to main line: </a:t>
            </a:r>
            <a:endParaRPr lang="es-ES" sz="2000" b="1" dirty="0">
              <a:solidFill>
                <a:srgbClr val="369226"/>
              </a:solidFill>
              <a:latin typeface="Arial" panose="020B0604020202020204" pitchFamily="34" charset="0"/>
              <a:ea typeface="ＭＳ Ｐゴシック" panose="020B0600070205080204" pitchFamily="34" charset="-128"/>
            </a:endParaRPr>
          </a:p>
        </p:txBody>
      </p:sp>
      <p:sp>
        <p:nvSpPr>
          <p:cNvPr id="9" name="Rectangle 8">
            <a:extLst>
              <a:ext uri="{FF2B5EF4-FFF2-40B4-BE49-F238E27FC236}">
                <a16:creationId xmlns:a16="http://schemas.microsoft.com/office/drawing/2014/main" id="{33597409-B806-48E5-A727-28215F898A72}"/>
              </a:ext>
            </a:extLst>
          </p:cNvPr>
          <p:cNvSpPr/>
          <p:nvPr/>
        </p:nvSpPr>
        <p:spPr>
          <a:xfrm>
            <a:off x="539551" y="4949350"/>
            <a:ext cx="3904631" cy="1384995"/>
          </a:xfrm>
          <a:prstGeom prst="rect">
            <a:avLst/>
          </a:prstGeom>
        </p:spPr>
        <p:txBody>
          <a:bodyPr wrap="square">
            <a:spAutoFit/>
          </a:bodyPr>
          <a:lstStyle/>
          <a:p>
            <a:pPr>
              <a:defRPr/>
            </a:pPr>
            <a:r>
              <a:rPr lang="en-US" altLang="es-ES" sz="1400" b="1" dirty="0"/>
              <a:t>Physical destination address of destination dev: A.B.C</a:t>
            </a:r>
          </a:p>
          <a:p>
            <a:pPr>
              <a:defRPr/>
            </a:pPr>
            <a:r>
              <a:rPr lang="en-US" altLang="es-ES" sz="1400" b="1" dirty="0"/>
              <a:t>A = Area in which target device is located</a:t>
            </a:r>
          </a:p>
          <a:p>
            <a:pPr>
              <a:defRPr/>
            </a:pPr>
            <a:r>
              <a:rPr lang="en-US" altLang="es-ES" sz="1400" b="1" dirty="0"/>
              <a:t>B = Line in which target device is located</a:t>
            </a:r>
          </a:p>
          <a:p>
            <a:pPr>
              <a:defRPr/>
            </a:pPr>
            <a:r>
              <a:rPr lang="en-US" altLang="es-ES" sz="1400" b="1" dirty="0"/>
              <a:t>C = Device number of target device in the line</a:t>
            </a:r>
          </a:p>
        </p:txBody>
      </p:sp>
      <p:sp>
        <p:nvSpPr>
          <p:cNvPr id="10" name="Rectangle 9">
            <a:extLst>
              <a:ext uri="{FF2B5EF4-FFF2-40B4-BE49-F238E27FC236}">
                <a16:creationId xmlns:a16="http://schemas.microsoft.com/office/drawing/2014/main" id="{B00FED2E-E573-4297-9783-ED5FFA298B30}"/>
              </a:ext>
            </a:extLst>
          </p:cNvPr>
          <p:cNvSpPr/>
          <p:nvPr/>
        </p:nvSpPr>
        <p:spPr>
          <a:xfrm>
            <a:off x="4699818" y="4941168"/>
            <a:ext cx="3904630" cy="1600438"/>
          </a:xfrm>
          <a:prstGeom prst="rect">
            <a:avLst/>
          </a:prstGeom>
        </p:spPr>
        <p:txBody>
          <a:bodyPr wrap="square">
            <a:spAutoFit/>
          </a:bodyPr>
          <a:lstStyle/>
          <a:p>
            <a:pPr>
              <a:defRPr/>
            </a:pPr>
            <a:r>
              <a:rPr lang="en-US" sz="1400" b="1" dirty="0"/>
              <a:t> Physical address of the line coupler: X.Y.0 (zero)</a:t>
            </a:r>
          </a:p>
          <a:p>
            <a:pPr>
              <a:defRPr/>
            </a:pPr>
            <a:endParaRPr lang="en-US" sz="1400" b="1" dirty="0"/>
          </a:p>
          <a:p>
            <a:pPr>
              <a:defRPr/>
            </a:pPr>
            <a:r>
              <a:rPr lang="en-US" sz="1400" b="1" dirty="0"/>
              <a:t>X = Area in which line coupler is located</a:t>
            </a:r>
          </a:p>
          <a:p>
            <a:pPr>
              <a:defRPr/>
            </a:pPr>
            <a:r>
              <a:rPr lang="en-US" sz="1400" b="1" dirty="0"/>
              <a:t>Y = Line in which line coupler is located</a:t>
            </a:r>
          </a:p>
          <a:p>
            <a:pPr>
              <a:defRPr/>
            </a:pPr>
            <a:r>
              <a:rPr lang="en-US" sz="1400" b="1" dirty="0"/>
              <a:t>0 = Device number of line coupler (always zero)</a:t>
            </a:r>
          </a:p>
        </p:txBody>
      </p:sp>
    </p:spTree>
    <p:extLst>
      <p:ext uri="{BB962C8B-B14F-4D97-AF65-F5344CB8AC3E}">
        <p14:creationId xmlns:p14="http://schemas.microsoft.com/office/powerpoint/2010/main" val="2949182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rPr lang="en-US" dirty="0"/>
              <a:t>Routing for Group Telegrams </a:t>
            </a:r>
            <a:endParaRPr lang="en-GB" dirty="0"/>
          </a:p>
        </p:txBody>
      </p:sp>
      <p:pic>
        <p:nvPicPr>
          <p:cNvPr id="3" name="Picture 2">
            <a:extLst>
              <a:ext uri="{FF2B5EF4-FFF2-40B4-BE49-F238E27FC236}">
                <a16:creationId xmlns:a16="http://schemas.microsoft.com/office/drawing/2014/main" id="{9E1F9EAB-67A1-434B-A126-C78A9165FA03}"/>
              </a:ext>
            </a:extLst>
          </p:cNvPr>
          <p:cNvPicPr>
            <a:picLocks noChangeAspect="1"/>
          </p:cNvPicPr>
          <p:nvPr/>
        </p:nvPicPr>
        <p:blipFill>
          <a:blip r:embed="rId3"/>
          <a:stretch>
            <a:fillRect/>
          </a:stretch>
        </p:blipFill>
        <p:spPr>
          <a:xfrm>
            <a:off x="323527" y="1741459"/>
            <a:ext cx="6894681" cy="4592538"/>
          </a:xfrm>
          <a:prstGeom prst="rect">
            <a:avLst/>
          </a:prstGeom>
        </p:spPr>
      </p:pic>
      <p:sp>
        <p:nvSpPr>
          <p:cNvPr id="4" name="Rectangle 3">
            <a:extLst>
              <a:ext uri="{FF2B5EF4-FFF2-40B4-BE49-F238E27FC236}">
                <a16:creationId xmlns:a16="http://schemas.microsoft.com/office/drawing/2014/main" id="{40DCDB27-7AB2-496E-9C50-B8868E189ABB}"/>
              </a:ext>
            </a:extLst>
          </p:cNvPr>
          <p:cNvSpPr/>
          <p:nvPr/>
        </p:nvSpPr>
        <p:spPr>
          <a:xfrm>
            <a:off x="7241400" y="4162434"/>
            <a:ext cx="1763712" cy="1538883"/>
          </a:xfrm>
          <a:prstGeom prst="rect">
            <a:avLst/>
          </a:prstGeom>
          <a:ln>
            <a:noFill/>
          </a:ln>
        </p:spPr>
        <p:txBody>
          <a:bodyPr wrap="square">
            <a:spAutoFit/>
          </a:bodyPr>
          <a:lstStyle/>
          <a:p>
            <a:pPr>
              <a:spcAft>
                <a:spcPts val="600"/>
              </a:spcAft>
              <a:defRPr/>
            </a:pPr>
            <a:r>
              <a:rPr lang="en-US" sz="1400" b="1" dirty="0">
                <a:solidFill>
                  <a:schemeClr val="bg2">
                    <a:lumMod val="10000"/>
                  </a:schemeClr>
                </a:solidFill>
              </a:rPr>
              <a:t> </a:t>
            </a:r>
            <a:r>
              <a:rPr lang="en-US" sz="1400" b="1" dirty="0">
                <a:solidFill>
                  <a:srgbClr val="369226"/>
                </a:solidFill>
              </a:rPr>
              <a:t>GT</a:t>
            </a:r>
            <a:r>
              <a:rPr lang="en-US" sz="1400" b="1" dirty="0">
                <a:solidFill>
                  <a:schemeClr val="bg2">
                    <a:lumMod val="10000"/>
                  </a:schemeClr>
                </a:solidFill>
              </a:rPr>
              <a:t> = Group address of the telegram</a:t>
            </a:r>
          </a:p>
          <a:p>
            <a:pPr>
              <a:spcAft>
                <a:spcPts val="600"/>
              </a:spcAft>
              <a:defRPr/>
            </a:pPr>
            <a:r>
              <a:rPr lang="en-US" sz="1400" b="1" dirty="0">
                <a:solidFill>
                  <a:schemeClr val="bg2">
                    <a:lumMod val="10000"/>
                  </a:schemeClr>
                </a:solidFill>
              </a:rPr>
              <a:t> </a:t>
            </a:r>
            <a:r>
              <a:rPr lang="en-US" sz="1400" b="1" dirty="0">
                <a:solidFill>
                  <a:srgbClr val="369226"/>
                </a:solidFill>
              </a:rPr>
              <a:t>FT</a:t>
            </a:r>
            <a:r>
              <a:rPr lang="en-US" sz="1400" b="1" dirty="0">
                <a:solidFill>
                  <a:schemeClr val="bg2">
                    <a:lumMod val="10000"/>
                  </a:schemeClr>
                </a:solidFill>
              </a:rPr>
              <a:t> = Filter table</a:t>
            </a:r>
          </a:p>
          <a:p>
            <a:pPr>
              <a:spcAft>
                <a:spcPts val="600"/>
              </a:spcAft>
              <a:defRPr/>
            </a:pPr>
            <a:r>
              <a:rPr lang="en-US" sz="1400" b="1" dirty="0">
                <a:solidFill>
                  <a:schemeClr val="bg2">
                    <a:lumMod val="10000"/>
                  </a:schemeClr>
                </a:solidFill>
              </a:rPr>
              <a:t> </a:t>
            </a:r>
            <a:r>
              <a:rPr lang="en-US" sz="1400" b="1" dirty="0">
                <a:solidFill>
                  <a:srgbClr val="369226"/>
                </a:solidFill>
              </a:rPr>
              <a:t>RC</a:t>
            </a:r>
            <a:r>
              <a:rPr lang="en-US" sz="1400" b="1" dirty="0">
                <a:solidFill>
                  <a:schemeClr val="bg2">
                    <a:lumMod val="10000"/>
                  </a:schemeClr>
                </a:solidFill>
              </a:rPr>
              <a:t> = Routing counter</a:t>
            </a:r>
          </a:p>
        </p:txBody>
      </p:sp>
      <p:sp>
        <p:nvSpPr>
          <p:cNvPr id="5" name="Rectangle 4">
            <a:extLst>
              <a:ext uri="{FF2B5EF4-FFF2-40B4-BE49-F238E27FC236}">
                <a16:creationId xmlns:a16="http://schemas.microsoft.com/office/drawing/2014/main" id="{D81C3119-ECA1-44E2-8B46-51BE7C9CD9CE}"/>
              </a:ext>
            </a:extLst>
          </p:cNvPr>
          <p:cNvSpPr/>
          <p:nvPr/>
        </p:nvSpPr>
        <p:spPr>
          <a:xfrm>
            <a:off x="3198172" y="1484784"/>
            <a:ext cx="5760641" cy="369332"/>
          </a:xfrm>
          <a:prstGeom prst="rect">
            <a:avLst/>
          </a:prstGeom>
        </p:spPr>
        <p:txBody>
          <a:bodyPr wrap="square">
            <a:spAutoFit/>
          </a:bodyPr>
          <a:lstStyle/>
          <a:p>
            <a:pPr>
              <a:defRPr/>
            </a:pPr>
            <a:r>
              <a:rPr lang="en-GB" b="1" dirty="0">
                <a:solidFill>
                  <a:srgbClr val="369226"/>
                </a:solidFill>
              </a:rPr>
              <a:t>Prerequisite</a:t>
            </a:r>
            <a:r>
              <a:rPr lang="en-GB" dirty="0">
                <a:solidFill>
                  <a:srgbClr val="C00000"/>
                </a:solidFill>
              </a:rPr>
              <a:t>: </a:t>
            </a:r>
            <a:r>
              <a:rPr lang="en-GB" b="1" dirty="0">
                <a:solidFill>
                  <a:schemeClr val="bg2">
                    <a:lumMod val="10000"/>
                  </a:schemeClr>
                </a:solidFill>
              </a:rPr>
              <a:t>Filter Table is set for both directions</a:t>
            </a:r>
            <a:endParaRPr lang="en-US" b="1" dirty="0">
              <a:solidFill>
                <a:schemeClr val="bg2">
                  <a:lumMod val="10000"/>
                </a:schemeClr>
              </a:solidFill>
            </a:endParaRPr>
          </a:p>
        </p:txBody>
      </p:sp>
    </p:spTree>
    <p:extLst>
      <p:ext uri="{BB962C8B-B14F-4D97-AF65-F5344CB8AC3E}">
        <p14:creationId xmlns:p14="http://schemas.microsoft.com/office/powerpoint/2010/main" val="1126185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a:xfrm>
            <a:off x="900113" y="476250"/>
            <a:ext cx="6840239" cy="719138"/>
          </a:xfrm>
        </p:spPr>
        <p:txBody>
          <a:bodyPr/>
          <a:lstStyle/>
          <a:p>
            <a:r>
              <a:rPr lang="en-US" dirty="0"/>
              <a:t>Telegram Transmission “Step by Step”</a:t>
            </a:r>
            <a:endParaRPr lang="en-GB" dirty="0"/>
          </a:p>
        </p:txBody>
      </p:sp>
      <p:sp>
        <p:nvSpPr>
          <p:cNvPr id="3" name="Rectangle 2">
            <a:extLst>
              <a:ext uri="{FF2B5EF4-FFF2-40B4-BE49-F238E27FC236}">
                <a16:creationId xmlns:a16="http://schemas.microsoft.com/office/drawing/2014/main" id="{07EA58ED-5244-4C9E-AF0F-72C0308248A6}"/>
              </a:ext>
            </a:extLst>
          </p:cNvPr>
          <p:cNvSpPr/>
          <p:nvPr/>
        </p:nvSpPr>
        <p:spPr>
          <a:xfrm>
            <a:off x="923777" y="1453407"/>
            <a:ext cx="2376264" cy="1600438"/>
          </a:xfrm>
          <a:prstGeom prst="rect">
            <a:avLst/>
          </a:prstGeom>
          <a:noFill/>
        </p:spPr>
        <p:txBody>
          <a:bodyPr wrap="square">
            <a:spAutoFit/>
          </a:bodyPr>
          <a:lstStyle/>
          <a:p>
            <a:pPr defTabSz="457200" eaLnBrk="0" fontAlgn="auto" hangingPunct="0">
              <a:spcBef>
                <a:spcPts val="0"/>
              </a:spcBef>
              <a:spcAft>
                <a:spcPts val="0"/>
              </a:spcAft>
            </a:pPr>
            <a:r>
              <a:rPr lang="en-US" sz="1400" b="1" kern="0" dirty="0">
                <a:latin typeface="Arial" panose="020B0604020202020204" pitchFamily="34" charset="0"/>
                <a:ea typeface="ＭＳ Ｐゴシック" panose="020B0600070205080204" pitchFamily="34" charset="-128"/>
                <a:cs typeface="Arial" panose="020B0604020202020204" pitchFamily="34" charset="0"/>
              </a:rPr>
              <a:t>BC</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a:t>
            </a:r>
            <a:r>
              <a:rPr lang="en-US" sz="1400" b="1" kern="0" dirty="0">
                <a:latin typeface="Arial" panose="020B0604020202020204" pitchFamily="34" charset="0"/>
                <a:ea typeface="ＭＳ Ｐゴシック" panose="020B0600070205080204" pitchFamily="34" charset="-128"/>
                <a:cs typeface="Arial" panose="020B0604020202020204" pitchFamily="34" charset="0"/>
              </a:rPr>
              <a:t>=</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Backbone Coupler</a:t>
            </a:r>
          </a:p>
          <a:p>
            <a:pPr defTabSz="457200" eaLnBrk="0" fontAlgn="auto" hangingPunct="0">
              <a:spcBef>
                <a:spcPts val="0"/>
              </a:spcBef>
              <a:spcAft>
                <a:spcPts val="0"/>
              </a:spcAft>
            </a:pPr>
            <a:r>
              <a:rPr lang="en-US" sz="1400" b="1" kern="0" dirty="0">
                <a:latin typeface="Arial" panose="020B0604020202020204" pitchFamily="34" charset="0"/>
                <a:ea typeface="ＭＳ Ｐゴシック" panose="020B0600070205080204" pitchFamily="34" charset="-128"/>
                <a:cs typeface="Arial" panose="020B0604020202020204" pitchFamily="34" charset="0"/>
              </a:rPr>
              <a:t>LC</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a:t>
            </a:r>
            <a:r>
              <a:rPr lang="en-US" sz="1400" b="1" kern="0" dirty="0">
                <a:latin typeface="Arial" panose="020B0604020202020204" pitchFamily="34" charset="0"/>
                <a:ea typeface="ＭＳ Ｐゴシック" panose="020B0600070205080204" pitchFamily="34" charset="-128"/>
                <a:cs typeface="Arial" panose="020B0604020202020204" pitchFamily="34" charset="0"/>
              </a:rPr>
              <a:t>=</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Line Coupler</a:t>
            </a:r>
          </a:p>
          <a:p>
            <a:pPr defTabSz="457200" eaLnBrk="0" fontAlgn="auto" hangingPunct="0">
              <a:spcBef>
                <a:spcPts val="0"/>
              </a:spcBef>
              <a:spcAft>
                <a:spcPts val="0"/>
              </a:spcAft>
            </a:pPr>
            <a:r>
              <a:rPr lang="en-US" sz="1400" b="1" kern="0" dirty="0">
                <a:latin typeface="Arial" panose="020B0604020202020204" pitchFamily="34" charset="0"/>
                <a:ea typeface="ＭＳ Ｐゴシック" panose="020B0600070205080204" pitchFamily="34" charset="-128"/>
                <a:cs typeface="Arial" panose="020B0604020202020204" pitchFamily="34" charset="0"/>
              </a:rPr>
              <a:t>LR</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a:t>
            </a:r>
            <a:r>
              <a:rPr lang="en-US" sz="1400" b="1" kern="0" dirty="0">
                <a:latin typeface="Arial" panose="020B0604020202020204" pitchFamily="34" charset="0"/>
                <a:ea typeface="ＭＳ Ｐゴシック" panose="020B0600070205080204" pitchFamily="34" charset="-128"/>
                <a:cs typeface="Arial" panose="020B0604020202020204" pitchFamily="34" charset="0"/>
              </a:rPr>
              <a:t>=</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Line Repeater</a:t>
            </a:r>
          </a:p>
          <a:p>
            <a:pPr defTabSz="457200" eaLnBrk="0" fontAlgn="auto" hangingPunct="0">
              <a:spcBef>
                <a:spcPts val="0"/>
              </a:spcBef>
              <a:spcAft>
                <a:spcPts val="0"/>
              </a:spcAft>
            </a:pPr>
            <a:r>
              <a:rPr lang="en-US" sz="1400" b="1" kern="0" dirty="0">
                <a:latin typeface="Arial" panose="020B0604020202020204" pitchFamily="34" charset="0"/>
                <a:ea typeface="ＭＳ Ｐゴシック" panose="020B0600070205080204" pitchFamily="34" charset="-128"/>
                <a:cs typeface="Arial" panose="020B0604020202020204" pitchFamily="34" charset="0"/>
              </a:rPr>
              <a:t>RC</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a:t>
            </a:r>
            <a:r>
              <a:rPr lang="en-US" sz="1400" b="1" kern="0" dirty="0">
                <a:latin typeface="Arial" panose="020B0604020202020204" pitchFamily="34" charset="0"/>
                <a:ea typeface="ＭＳ Ｐゴシック" panose="020B0600070205080204" pitchFamily="34" charset="-128"/>
                <a:cs typeface="Arial" panose="020B0604020202020204" pitchFamily="34" charset="0"/>
              </a:rPr>
              <a:t>=</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Routing counter</a:t>
            </a:r>
          </a:p>
          <a:p>
            <a:pPr defTabSz="457200" eaLnBrk="0" fontAlgn="auto" hangingPunct="0">
              <a:spcBef>
                <a:spcPts val="0"/>
              </a:spcBef>
              <a:spcAft>
                <a:spcPts val="0"/>
              </a:spcAft>
            </a:pPr>
            <a:r>
              <a:rPr lang="en-US" sz="1400" b="1" kern="0" dirty="0">
                <a:latin typeface="Arial" panose="020B0604020202020204" pitchFamily="34" charset="0"/>
                <a:ea typeface="ＭＳ Ｐゴシック" panose="020B0600070205080204" pitchFamily="34" charset="-128"/>
                <a:cs typeface="Arial" panose="020B0604020202020204" pitchFamily="34" charset="0"/>
              </a:rPr>
              <a:t>DVC</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a:t>
            </a:r>
            <a:r>
              <a:rPr lang="en-US" sz="1400" b="1" kern="0" dirty="0">
                <a:latin typeface="Arial" panose="020B0604020202020204" pitchFamily="34" charset="0"/>
                <a:ea typeface="ＭＳ Ｐゴシック" panose="020B0600070205080204" pitchFamily="34" charset="-128"/>
                <a:cs typeface="Arial" panose="020B0604020202020204" pitchFamily="34" charset="0"/>
              </a:rPr>
              <a:t>=</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Bus Device</a:t>
            </a:r>
          </a:p>
          <a:p>
            <a:pPr defTabSz="457200" eaLnBrk="0" fontAlgn="auto" hangingPunct="0">
              <a:spcBef>
                <a:spcPts val="0"/>
              </a:spcBef>
              <a:spcAft>
                <a:spcPts val="0"/>
              </a:spcAft>
            </a:pPr>
            <a:r>
              <a:rPr lang="en-US" sz="1400" b="1" kern="0" dirty="0">
                <a:latin typeface="Arial" panose="020B0604020202020204" pitchFamily="34" charset="0"/>
                <a:ea typeface="ＭＳ Ｐゴシック" panose="020B0600070205080204" pitchFamily="34" charset="-128"/>
                <a:cs typeface="Arial" panose="020B0604020202020204" pitchFamily="34" charset="0"/>
              </a:rPr>
              <a:t>PS/CH =</a:t>
            </a:r>
            <a:r>
              <a:rPr lang="en-US" sz="1400" b="1" kern="0" dirty="0">
                <a:solidFill>
                  <a:srgbClr val="369226"/>
                </a:solidFill>
                <a:latin typeface="Arial" panose="020B0604020202020204" pitchFamily="34" charset="0"/>
                <a:ea typeface="ＭＳ Ｐゴシック" panose="020B0600070205080204" pitchFamily="34" charset="-128"/>
                <a:cs typeface="Arial" panose="020B0604020202020204" pitchFamily="34" charset="0"/>
              </a:rPr>
              <a:t> Power supply / Choke</a:t>
            </a:r>
          </a:p>
        </p:txBody>
      </p:sp>
      <p:graphicFrame>
        <p:nvGraphicFramePr>
          <p:cNvPr id="5" name="Object 4">
            <a:extLst>
              <a:ext uri="{FF2B5EF4-FFF2-40B4-BE49-F238E27FC236}">
                <a16:creationId xmlns:a16="http://schemas.microsoft.com/office/drawing/2014/main" id="{F877AADE-E1F7-4AD3-BEE5-9F3AAC404575}"/>
              </a:ext>
            </a:extLst>
          </p:cNvPr>
          <p:cNvGraphicFramePr>
            <a:graphicFrameLocks noChangeAspect="1"/>
          </p:cNvGraphicFramePr>
          <p:nvPr/>
        </p:nvGraphicFramePr>
        <p:xfrm>
          <a:off x="3347864" y="1430775"/>
          <a:ext cx="5578475" cy="4960938"/>
        </p:xfrm>
        <a:graphic>
          <a:graphicData uri="http://schemas.openxmlformats.org/presentationml/2006/ole">
            <mc:AlternateContent xmlns:mc="http://schemas.openxmlformats.org/markup-compatibility/2006">
              <mc:Choice xmlns:v="urn:schemas-microsoft-com:vml" Requires="v">
                <p:oleObj r:id="rId3" imgW="10576752" imgH="9409918" progId="Visio.Drawing.15">
                  <p:embed/>
                </p:oleObj>
              </mc:Choice>
              <mc:Fallback>
                <p:oleObj r:id="rId3" imgW="10576752" imgH="9409918" progId="Visio.Drawing.15">
                  <p:embed/>
                  <p:pic>
                    <p:nvPicPr>
                      <p:cNvPr id="5" name="Object 4">
                        <a:extLst>
                          <a:ext uri="{FF2B5EF4-FFF2-40B4-BE49-F238E27FC236}">
                            <a16:creationId xmlns:a16="http://schemas.microsoft.com/office/drawing/2014/main" id="{F877AADE-E1F7-4AD3-BEE5-9F3AAC4045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1430775"/>
                        <a:ext cx="5578475" cy="496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81909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F8C36C-872A-44FD-88B8-5EB18654677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pic>
        <p:nvPicPr>
          <p:cNvPr id="5" name="Picture 4">
            <a:extLst>
              <a:ext uri="{FF2B5EF4-FFF2-40B4-BE49-F238E27FC236}">
                <a16:creationId xmlns:a16="http://schemas.microsoft.com/office/drawing/2014/main" id="{FB58EBB3-519D-407C-9D45-FD7C2A4C178D}"/>
              </a:ext>
            </a:extLst>
          </p:cNvPr>
          <p:cNvPicPr>
            <a:picLocks noChangeAspect="1"/>
          </p:cNvPicPr>
          <p:nvPr/>
        </p:nvPicPr>
        <p:blipFill>
          <a:blip r:embed="rId3"/>
          <a:stretch>
            <a:fillRect/>
          </a:stretch>
        </p:blipFill>
        <p:spPr>
          <a:xfrm>
            <a:off x="2339752" y="548680"/>
            <a:ext cx="4464496" cy="5879312"/>
          </a:xfrm>
          <a:prstGeom prst="rect">
            <a:avLst/>
          </a:prstGeom>
        </p:spPr>
      </p:pic>
      <p:sp>
        <p:nvSpPr>
          <p:cNvPr id="8" name="Rectangle 7">
            <a:extLst>
              <a:ext uri="{FF2B5EF4-FFF2-40B4-BE49-F238E27FC236}">
                <a16:creationId xmlns:a16="http://schemas.microsoft.com/office/drawing/2014/main" id="{D058C539-07E5-4500-94B5-8C7E111277BA}"/>
              </a:ext>
            </a:extLst>
          </p:cNvPr>
          <p:cNvSpPr/>
          <p:nvPr/>
        </p:nvSpPr>
        <p:spPr>
          <a:xfrm>
            <a:off x="451644" y="618130"/>
            <a:ext cx="1816100" cy="1384995"/>
          </a:xfrm>
          <a:prstGeom prst="rect">
            <a:avLst/>
          </a:prstGeom>
          <a:solidFill>
            <a:schemeClr val="accent3"/>
          </a:solidFill>
          <a:ln>
            <a:solidFill>
              <a:srgbClr val="D7D8D9">
                <a:lumMod val="10000"/>
              </a:srgbClr>
            </a:solidFill>
          </a:ln>
          <a:effectLst>
            <a:outerShdw blurRad="50800" dist="38100" dir="5400000" algn="t" rotWithShape="0">
              <a:prstClr val="black">
                <a:alpha val="40000"/>
              </a:prstClr>
            </a:outerShdw>
          </a:effectLst>
        </p:spPr>
        <p:txBody>
          <a:bodyP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69226"/>
                </a:solidFill>
                <a:effectLst/>
                <a:uLnTx/>
                <a:uFillTx/>
                <a:latin typeface="Arial" panose="020B0604020202020204" pitchFamily="34" charset="0"/>
                <a:ea typeface="ＭＳ Ｐゴシック" panose="020B0600070205080204" pitchFamily="34" charset="-128"/>
                <a:cs typeface="+mn-cs"/>
              </a:rPr>
              <a:t>Begin: </a:t>
            </a:r>
          </a:p>
          <a:p>
            <a:pPr marL="0" marR="0" lvl="0" indent="0"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Arial" panose="020B0604020202020204" pitchFamily="34" charset="0"/>
                <a:ea typeface="ＭＳ Ｐゴシック" panose="020B0600070205080204" pitchFamily="34" charset="-128"/>
                <a:cs typeface="+mn-cs"/>
              </a:rPr>
              <a:t>The 1-fold pushbutton sensor 1.1.65 sends a telegram with the group address 5/88</a:t>
            </a:r>
            <a:endParaRPr kumimoji="0" lang="en-US" sz="1400" b="0" i="0" u="none" strike="noStrike" kern="0" cap="none" spc="0" normalizeH="0" baseline="0" noProof="0" dirty="0">
              <a:ln>
                <a:noFill/>
              </a:ln>
              <a:effectLst/>
              <a:uLnTx/>
              <a:uFillTx/>
              <a:latin typeface="Arial" panose="020B0604020202020204" pitchFamily="34" charset="0"/>
              <a:ea typeface="ＭＳ Ｐゴシック" panose="020B0600070205080204" pitchFamily="34" charset="-128"/>
              <a:cs typeface="+mn-cs"/>
            </a:endParaRPr>
          </a:p>
        </p:txBody>
      </p:sp>
      <p:sp>
        <p:nvSpPr>
          <p:cNvPr id="9" name="Rectangle 8">
            <a:extLst>
              <a:ext uri="{FF2B5EF4-FFF2-40B4-BE49-F238E27FC236}">
                <a16:creationId xmlns:a16="http://schemas.microsoft.com/office/drawing/2014/main" id="{038C8046-003A-47D2-AFEC-C119A478878D}"/>
              </a:ext>
            </a:extLst>
          </p:cNvPr>
          <p:cNvSpPr/>
          <p:nvPr/>
        </p:nvSpPr>
        <p:spPr>
          <a:xfrm>
            <a:off x="6889839" y="3434454"/>
            <a:ext cx="2028825" cy="2893100"/>
          </a:xfrm>
          <a:prstGeom prst="rect">
            <a:avLst/>
          </a:prstGeom>
          <a:solidFill>
            <a:schemeClr val="accent3"/>
          </a:solidFill>
          <a:ln>
            <a:solidFill>
              <a:srgbClr val="D7D8D9">
                <a:lumMod val="10000"/>
              </a:srgbClr>
            </a:solidFill>
          </a:ln>
          <a:effectLst>
            <a:outerShdw blurRad="50800" dist="38100" dir="5400000" algn="t" rotWithShape="0">
              <a:prstClr val="black">
                <a:alpha val="40000"/>
              </a:prstClr>
            </a:outerShdw>
          </a:effectLst>
        </p:spPr>
        <p:txBody>
          <a:bodyPr>
            <a:spAutoFit/>
          </a:bodyPr>
          <a:lstStyle/>
          <a:p>
            <a:pPr defTabSz="457200" fontAlgn="auto">
              <a:spcBef>
                <a:spcPts val="0"/>
              </a:spcBef>
              <a:spcAft>
                <a:spcPts val="0"/>
              </a:spcAft>
            </a:pPr>
            <a:r>
              <a:rPr lang="en-US" sz="1400" b="1" kern="0" dirty="0">
                <a:solidFill>
                  <a:srgbClr val="369226"/>
                </a:solidFill>
                <a:latin typeface="Arial" panose="020B0604020202020204" pitchFamily="34" charset="0"/>
                <a:ea typeface="ＭＳ Ｐゴシック" panose="020B0600070205080204" pitchFamily="34" charset="-128"/>
                <a:cs typeface="+mn-cs"/>
              </a:rPr>
              <a:t>End:	</a:t>
            </a:r>
          </a:p>
          <a:p>
            <a:pPr defTabSz="457200" fontAlgn="auto">
              <a:spcBef>
                <a:spcPts val="0"/>
              </a:spcBef>
              <a:spcAft>
                <a:spcPts val="0"/>
              </a:spcAft>
            </a:pPr>
            <a:r>
              <a:rPr lang="en-US" sz="1400" b="1" kern="0" dirty="0">
                <a:latin typeface="Arial" panose="020B0604020202020204" pitchFamily="34" charset="0"/>
                <a:ea typeface="ＭＳ Ｐゴシック" panose="020B0600070205080204" pitchFamily="34" charset="-128"/>
                <a:cs typeface="+mn-cs"/>
              </a:rPr>
              <a:t>The telegram is received by 1-fold switch actuator 15.15.127 which then returns a reply telegram (ACK).</a:t>
            </a:r>
          </a:p>
          <a:p>
            <a:pPr defTabSz="457200" fontAlgn="auto">
              <a:spcBef>
                <a:spcPts val="0"/>
              </a:spcBef>
              <a:spcAft>
                <a:spcPts val="0"/>
              </a:spcAft>
            </a:pPr>
            <a:r>
              <a:rPr lang="en-US" sz="1400" b="1" kern="0" dirty="0">
                <a:latin typeface="Arial" panose="020B0604020202020204" pitchFamily="34" charset="0"/>
                <a:ea typeface="ＭＳ Ｐゴシック" panose="020B0600070205080204" pitchFamily="34" charset="-128"/>
                <a:cs typeface="+mn-cs"/>
              </a:rPr>
              <a:t>The actuator then switches its output according to the transmitted value of the communication object</a:t>
            </a:r>
          </a:p>
        </p:txBody>
      </p:sp>
    </p:spTree>
    <p:extLst>
      <p:ext uri="{BB962C8B-B14F-4D97-AF65-F5344CB8AC3E}">
        <p14:creationId xmlns:p14="http://schemas.microsoft.com/office/powerpoint/2010/main" val="94819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rPr lang="en-GB" dirty="0"/>
              <a:t>Remarks </a:t>
            </a:r>
          </a:p>
        </p:txBody>
      </p:sp>
      <p:sp>
        <p:nvSpPr>
          <p:cNvPr id="5" name="Rectangle 4">
            <a:extLst>
              <a:ext uri="{FF2B5EF4-FFF2-40B4-BE49-F238E27FC236}">
                <a16:creationId xmlns:a16="http://schemas.microsoft.com/office/drawing/2014/main" id="{068AD34E-CB07-4998-BFD9-3C23370329C1}"/>
              </a:ext>
            </a:extLst>
          </p:cNvPr>
          <p:cNvSpPr/>
          <p:nvPr/>
        </p:nvSpPr>
        <p:spPr>
          <a:xfrm>
            <a:off x="885083" y="1424568"/>
            <a:ext cx="7848872" cy="213561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lnSpc>
                <a:spcPct val="150000"/>
              </a:lnSpc>
              <a:spcBef>
                <a:spcPct val="20000"/>
              </a:spcBef>
              <a:buClr>
                <a:srgbClr val="369226"/>
              </a:buClr>
            </a:pPr>
            <a:r>
              <a:rPr lang="en-GB" sz="2000" b="1" kern="0" dirty="0">
                <a:solidFill>
                  <a:srgbClr val="369226"/>
                </a:solidFill>
                <a:latin typeface="+mn-lt"/>
                <a:cs typeface="+mn-cs"/>
              </a:rPr>
              <a:t>We should remember that:</a:t>
            </a:r>
          </a:p>
          <a:p>
            <a:pPr marL="342900" indent="-342900" eaLnBrk="0" hangingPunct="0">
              <a:lnSpc>
                <a:spcPct val="150000"/>
              </a:lnSpc>
              <a:spcBef>
                <a:spcPct val="20000"/>
              </a:spcBef>
              <a:buClr>
                <a:srgbClr val="369226"/>
              </a:buClr>
              <a:buFont typeface="Wingdings" pitchFamily="2" charset="2"/>
              <a:buChar char="§"/>
            </a:pPr>
            <a:r>
              <a:rPr lang="en-US" b="1" kern="0" dirty="0">
                <a:latin typeface="+mn-lt"/>
                <a:cs typeface="+mn-cs"/>
              </a:rPr>
              <a:t>Telegrams are only passed to lines that really require them</a:t>
            </a:r>
            <a:endParaRPr lang="es-ES" b="1" kern="0"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US" b="1" kern="0" dirty="0">
                <a:latin typeface="+mn-lt"/>
                <a:cs typeface="+mn-cs"/>
              </a:rPr>
              <a:t>Telegrams are not routed to places where they have no effect</a:t>
            </a:r>
            <a:endParaRPr lang="es-ES" b="1" kern="0" dirty="0">
              <a:latin typeface="+mn-lt"/>
              <a:cs typeface="+mn-cs"/>
            </a:endParaRPr>
          </a:p>
          <a:p>
            <a:pPr eaLnBrk="0" hangingPunct="0">
              <a:lnSpc>
                <a:spcPct val="150000"/>
              </a:lnSpc>
              <a:spcBef>
                <a:spcPct val="20000"/>
              </a:spcBef>
              <a:buClr>
                <a:srgbClr val="369226"/>
              </a:buClr>
            </a:pPr>
            <a:r>
              <a:rPr lang="es-ES" b="1" kern="0" dirty="0">
                <a:latin typeface="+mn-lt"/>
                <a:cs typeface="+mn-cs"/>
              </a:rPr>
              <a:t>ADVANTAGE: </a:t>
            </a:r>
            <a:r>
              <a:rPr lang="en-US" b="1" kern="0" dirty="0">
                <a:latin typeface="+mn-lt"/>
                <a:cs typeface="+mn-cs"/>
              </a:rPr>
              <a:t>bus load in the installation is reduced</a:t>
            </a:r>
          </a:p>
        </p:txBody>
      </p:sp>
      <p:sp>
        <p:nvSpPr>
          <p:cNvPr id="6" name="Rectangle 5">
            <a:extLst>
              <a:ext uri="{FF2B5EF4-FFF2-40B4-BE49-F238E27FC236}">
                <a16:creationId xmlns:a16="http://schemas.microsoft.com/office/drawing/2014/main" id="{F49009D0-D562-4556-B146-8CD82237699C}"/>
              </a:ext>
            </a:extLst>
          </p:cNvPr>
          <p:cNvSpPr/>
          <p:nvPr/>
        </p:nvSpPr>
        <p:spPr>
          <a:xfrm>
            <a:off x="885083" y="3394230"/>
            <a:ext cx="7920360" cy="2850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GB" b="1" dirty="0">
                <a:solidFill>
                  <a:srgbClr val="369226"/>
                </a:solidFill>
                <a:latin typeface="Arial" panose="020B0604020202020204" pitchFamily="34" charset="0"/>
                <a:ea typeface="ＭＳ Ｐゴシック" panose="020B0600070205080204" pitchFamily="34" charset="-128"/>
              </a:rPr>
              <a:t>And: </a:t>
            </a:r>
          </a:p>
          <a:p>
            <a:endParaRPr lang="en-GB" sz="700" b="1" dirty="0">
              <a:solidFill>
                <a:srgbClr val="369226"/>
              </a:solidFill>
              <a:latin typeface="Arial" panose="020B0604020202020204" pitchFamily="34" charset="0"/>
              <a:ea typeface="ＭＳ Ｐゴシック" panose="020B0600070205080204" pitchFamily="34" charset="-128"/>
            </a:endParaRPr>
          </a:p>
          <a:p>
            <a:pPr marL="342900" indent="-342900" eaLnBrk="0" hangingPunct="0">
              <a:lnSpc>
                <a:spcPct val="150000"/>
              </a:lnSpc>
              <a:spcBef>
                <a:spcPct val="20000"/>
              </a:spcBef>
              <a:buClr>
                <a:srgbClr val="369226"/>
              </a:buClr>
              <a:buFont typeface="Wingdings" pitchFamily="2" charset="2"/>
              <a:buChar char="§"/>
            </a:pPr>
            <a:r>
              <a:rPr lang="en-GB" sz="1600" b="1" kern="0" dirty="0">
                <a:latin typeface="+mn-lt"/>
                <a:cs typeface="+mn-cs"/>
              </a:rPr>
              <a:t>Line repeaters do not filter. They should only be used in the extension of an existing KNX installation</a:t>
            </a:r>
            <a:endParaRPr lang="es-ES" sz="1600" b="1" kern="0"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US" sz="1600" b="1" kern="0" dirty="0">
                <a:latin typeface="+mn-lt"/>
                <a:cs typeface="+mn-cs"/>
              </a:rPr>
              <a:t>Routing counter has the benefit that with a faulty wiring</a:t>
            </a:r>
            <a:r>
              <a:rPr lang="es-ES" sz="1600" b="1" kern="0" dirty="0">
                <a:latin typeface="+mn-lt"/>
                <a:cs typeface="+mn-cs"/>
              </a:rPr>
              <a:t>, </a:t>
            </a:r>
            <a:r>
              <a:rPr lang="en-US" sz="1600" b="1" kern="0" dirty="0">
                <a:latin typeface="+mn-lt"/>
                <a:cs typeface="+mn-cs"/>
              </a:rPr>
              <a:t>a telegram circulates in the loop a maximum of six times (pass through a maximum of six couplers)</a:t>
            </a:r>
            <a:r>
              <a:rPr lang="es-ES" sz="1600" b="1" kern="0" dirty="0">
                <a:latin typeface="+mn-lt"/>
                <a:cs typeface="+mn-cs"/>
              </a:rPr>
              <a:t>. </a:t>
            </a:r>
            <a:r>
              <a:rPr lang="en-US" sz="1600" b="1" kern="0" dirty="0">
                <a:latin typeface="+mn-lt"/>
                <a:cs typeface="+mn-cs"/>
              </a:rPr>
              <a:t>The installation is not blocked!</a:t>
            </a:r>
          </a:p>
          <a:p>
            <a:pPr marL="342900" indent="-342900" eaLnBrk="0" hangingPunct="0">
              <a:lnSpc>
                <a:spcPct val="150000"/>
              </a:lnSpc>
              <a:spcBef>
                <a:spcPct val="20000"/>
              </a:spcBef>
              <a:buClr>
                <a:srgbClr val="369226"/>
              </a:buClr>
              <a:buFont typeface="Wingdings" pitchFamily="2" charset="2"/>
              <a:buChar char="§"/>
            </a:pPr>
            <a:r>
              <a:rPr lang="en-US" sz="1600" b="1" kern="0" dirty="0">
                <a:latin typeface="+mn-lt"/>
                <a:cs typeface="+mn-cs"/>
              </a:rPr>
              <a:t>As a result, line repeaters may not be connected in series</a:t>
            </a:r>
          </a:p>
        </p:txBody>
      </p:sp>
    </p:spTree>
    <p:extLst>
      <p:ext uri="{BB962C8B-B14F-4D97-AF65-F5344CB8AC3E}">
        <p14:creationId xmlns:p14="http://schemas.microsoft.com/office/powerpoint/2010/main" val="927216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rPr lang="en-GB" dirty="0"/>
              <a:t>Editing the Filter Table</a:t>
            </a:r>
          </a:p>
        </p:txBody>
      </p:sp>
      <p:sp>
        <p:nvSpPr>
          <p:cNvPr id="3" name="Rectangle 2">
            <a:extLst>
              <a:ext uri="{FF2B5EF4-FFF2-40B4-BE49-F238E27FC236}">
                <a16:creationId xmlns:a16="http://schemas.microsoft.com/office/drawing/2014/main" id="{82320CDD-8188-453B-A81F-CED337736B3C}"/>
              </a:ext>
            </a:extLst>
          </p:cNvPr>
          <p:cNvSpPr/>
          <p:nvPr/>
        </p:nvSpPr>
        <p:spPr>
          <a:xfrm>
            <a:off x="900112" y="1412776"/>
            <a:ext cx="770433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000" b="1" dirty="0">
                <a:latin typeface="Arial" panose="020B0604020202020204" pitchFamily="34" charset="0"/>
                <a:ea typeface="ＭＳ Ｐゴシック" panose="020B0600070205080204" pitchFamily="34" charset="-128"/>
              </a:rPr>
              <a:t>For the download of filter tables, couplers are addressed with other APCI telegrams</a:t>
            </a:r>
          </a:p>
          <a:p>
            <a:endParaRPr lang="en-US" sz="2000" b="1" dirty="0">
              <a:latin typeface="Arial" panose="020B0604020202020204" pitchFamily="34" charset="0"/>
              <a:ea typeface="ＭＳ Ｐゴシック" panose="020B0600070205080204" pitchFamily="34" charset="-128"/>
            </a:endParaRPr>
          </a:p>
          <a:p>
            <a:r>
              <a:rPr lang="en-GB" sz="2000" b="1" dirty="0">
                <a:latin typeface="Arial" panose="020B0604020202020204" pitchFamily="34" charset="0"/>
                <a:ea typeface="ＭＳ Ｐゴシック" panose="020B0600070205080204" pitchFamily="34" charset="-128"/>
              </a:rPr>
              <a:t>The filter tables are generated by ETS automatically in the background.</a:t>
            </a:r>
            <a:endParaRPr lang="es-ES" sz="2000" b="1" dirty="0">
              <a:latin typeface="Arial" panose="020B0604020202020204" pitchFamily="34" charset="0"/>
              <a:ea typeface="ＭＳ Ｐゴシック" panose="020B0600070205080204" pitchFamily="34" charset="-128"/>
            </a:endParaRPr>
          </a:p>
        </p:txBody>
      </p:sp>
      <p:grpSp>
        <p:nvGrpSpPr>
          <p:cNvPr id="7" name="Group 6">
            <a:extLst>
              <a:ext uri="{FF2B5EF4-FFF2-40B4-BE49-F238E27FC236}">
                <a16:creationId xmlns:a16="http://schemas.microsoft.com/office/drawing/2014/main" id="{5DA9CAE8-48DC-4C1F-A337-782067FAFB5A}"/>
              </a:ext>
            </a:extLst>
          </p:cNvPr>
          <p:cNvGrpSpPr/>
          <p:nvPr/>
        </p:nvGrpSpPr>
        <p:grpSpPr>
          <a:xfrm>
            <a:off x="755576" y="3244431"/>
            <a:ext cx="2879800" cy="3044941"/>
            <a:chOff x="625475" y="2657475"/>
            <a:chExt cx="3033713" cy="3159125"/>
          </a:xfrm>
        </p:grpSpPr>
        <p:pic>
          <p:nvPicPr>
            <p:cNvPr id="5" name="Picture 2">
              <a:extLst>
                <a:ext uri="{FF2B5EF4-FFF2-40B4-BE49-F238E27FC236}">
                  <a16:creationId xmlns:a16="http://schemas.microsoft.com/office/drawing/2014/main" id="{06CF026C-A79A-488B-A13A-5062802ADA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5475" y="2657475"/>
              <a:ext cx="2872069"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ight Arrow 26">
              <a:extLst>
                <a:ext uri="{FF2B5EF4-FFF2-40B4-BE49-F238E27FC236}">
                  <a16:creationId xmlns:a16="http://schemas.microsoft.com/office/drawing/2014/main" id="{CBD32420-DFAE-4453-A730-380DBFD35554}"/>
                </a:ext>
              </a:extLst>
            </p:cNvPr>
            <p:cNvSpPr/>
            <p:nvPr/>
          </p:nvSpPr>
          <p:spPr bwMode="auto">
            <a:xfrm rot="10800000">
              <a:off x="3065463" y="4521200"/>
              <a:ext cx="593725" cy="458788"/>
            </a:xfrm>
            <a:prstGeom prst="rightArrow">
              <a:avLst/>
            </a:prstGeom>
            <a:solidFill>
              <a:srgbClr val="FF0000"/>
            </a:solidFill>
          </p:spPr>
          <p:style>
            <a:lnRef idx="1">
              <a:schemeClr val="accent4"/>
            </a:lnRef>
            <a:fillRef idx="3">
              <a:schemeClr val="accent4"/>
            </a:fillRef>
            <a:effectRef idx="2">
              <a:schemeClr val="accent4"/>
            </a:effectRef>
            <a:fontRef idx="minor">
              <a:schemeClr val="lt1"/>
            </a:fontRef>
          </p:style>
          <p:txBody>
            <a:bodyPr anchor="ctr"/>
            <a:lstStyle/>
            <a:p>
              <a:pPr algn="ctr">
                <a:defRPr/>
              </a:pPr>
              <a:endParaRPr lang="en-US"/>
            </a:p>
          </p:txBody>
        </p:sp>
      </p:grpSp>
    </p:spTree>
    <p:extLst>
      <p:ext uri="{BB962C8B-B14F-4D97-AF65-F5344CB8AC3E}">
        <p14:creationId xmlns:p14="http://schemas.microsoft.com/office/powerpoint/2010/main" val="3738459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rPr lang="en-GB" dirty="0"/>
              <a:t>Media Couplers</a:t>
            </a:r>
          </a:p>
        </p:txBody>
      </p:sp>
      <p:sp>
        <p:nvSpPr>
          <p:cNvPr id="3" name="Content Placeholder 1">
            <a:extLst>
              <a:ext uri="{FF2B5EF4-FFF2-40B4-BE49-F238E27FC236}">
                <a16:creationId xmlns:a16="http://schemas.microsoft.com/office/drawing/2014/main" id="{D6EBB9DD-DE8E-4713-A51D-C56AFD441EBD}"/>
              </a:ext>
            </a:extLst>
          </p:cNvPr>
          <p:cNvSpPr txBox="1">
            <a:spLocks/>
          </p:cNvSpPr>
          <p:nvPr/>
        </p:nvSpPr>
        <p:spPr>
          <a:xfrm>
            <a:off x="971600" y="1412875"/>
            <a:ext cx="756084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GB" sz="2000" kern="0" dirty="0"/>
              <a:t>Media Coupler</a:t>
            </a:r>
            <a:r>
              <a:rPr lang="en-GB" sz="2000" dirty="0">
                <a:solidFill>
                  <a:schemeClr val="tx1"/>
                </a:solidFill>
                <a:latin typeface="Arial" charset="0"/>
              </a:rPr>
              <a:t>: System device for coupling various media</a:t>
            </a:r>
          </a:p>
          <a:p>
            <a:endParaRPr lang="en-GB" sz="2000" kern="0" dirty="0"/>
          </a:p>
          <a:p>
            <a:endParaRPr lang="en-GB" sz="2000" kern="0" dirty="0"/>
          </a:p>
          <a:p>
            <a:r>
              <a:rPr lang="en-GB" sz="2000" kern="0" dirty="0">
                <a:solidFill>
                  <a:schemeClr val="tx1"/>
                </a:solidFill>
              </a:rPr>
              <a:t>Media couplers for linking TP subsystems with:</a:t>
            </a:r>
            <a:endParaRPr lang="es-ES" sz="2000" kern="0" dirty="0">
              <a:solidFill>
                <a:schemeClr val="tx1"/>
              </a:solidFill>
            </a:endParaRPr>
          </a:p>
          <a:p>
            <a:pPr lvl="1">
              <a:lnSpc>
                <a:spcPct val="150000"/>
              </a:lnSpc>
            </a:pPr>
            <a:r>
              <a:rPr lang="en-US" sz="2000" b="1" kern="0" dirty="0">
                <a:solidFill>
                  <a:srgbClr val="369226"/>
                </a:solidFill>
              </a:rPr>
              <a:t>IP Subsystems</a:t>
            </a:r>
          </a:p>
          <a:p>
            <a:pPr lvl="1">
              <a:lnSpc>
                <a:spcPct val="150000"/>
              </a:lnSpc>
            </a:pPr>
            <a:r>
              <a:rPr lang="en-US" sz="2000" b="1" kern="0" dirty="0">
                <a:solidFill>
                  <a:srgbClr val="369226"/>
                </a:solidFill>
              </a:rPr>
              <a:t>Powerline Subsystems</a:t>
            </a:r>
          </a:p>
          <a:p>
            <a:pPr lvl="1">
              <a:lnSpc>
                <a:spcPct val="150000"/>
              </a:lnSpc>
            </a:pPr>
            <a:r>
              <a:rPr lang="en-US" sz="2000" b="1" kern="0" dirty="0">
                <a:solidFill>
                  <a:srgbClr val="369226"/>
                </a:solidFill>
              </a:rPr>
              <a:t>RF Subsystems</a:t>
            </a:r>
          </a:p>
          <a:p>
            <a:pPr lvl="1"/>
            <a:endParaRPr lang="en-US" sz="2400" b="1" kern="0" dirty="0"/>
          </a:p>
        </p:txBody>
      </p:sp>
    </p:spTree>
    <p:extLst>
      <p:ext uri="{BB962C8B-B14F-4D97-AF65-F5344CB8AC3E}">
        <p14:creationId xmlns:p14="http://schemas.microsoft.com/office/powerpoint/2010/main" val="2484710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29EE2-743A-4B00-AC01-A10FDED9AB22}"/>
              </a:ext>
            </a:extLst>
          </p:cNvPr>
          <p:cNvSpPr>
            <a:spLocks noGrp="1"/>
          </p:cNvSpPr>
          <p:nvPr>
            <p:ph type="title"/>
          </p:nvPr>
        </p:nvSpPr>
        <p:spPr/>
        <p:txBody>
          <a:bodyPr/>
          <a:lstStyle/>
          <a:p>
            <a:r>
              <a:rPr lang="en-GB" dirty="0"/>
              <a:t>TP-IP Router</a:t>
            </a:r>
          </a:p>
        </p:txBody>
      </p:sp>
      <p:pic>
        <p:nvPicPr>
          <p:cNvPr id="3" name="Picture 2" descr="P_I201_XX_03943H">
            <a:extLst>
              <a:ext uri="{FF2B5EF4-FFF2-40B4-BE49-F238E27FC236}">
                <a16:creationId xmlns:a16="http://schemas.microsoft.com/office/drawing/2014/main" id="{AE4581BA-A03F-412E-BBD2-245D97608FF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891174" y="1844824"/>
            <a:ext cx="1935475" cy="3707988"/>
          </a:xfrm>
          <a:prstGeom prst="rect">
            <a:avLst/>
          </a:prstGeom>
          <a:noFill/>
          <a:ln>
            <a:noFill/>
          </a:ln>
        </p:spPr>
      </p:pic>
      <p:sp>
        <p:nvSpPr>
          <p:cNvPr id="5" name="Content Placeholder 1">
            <a:extLst>
              <a:ext uri="{FF2B5EF4-FFF2-40B4-BE49-F238E27FC236}">
                <a16:creationId xmlns:a16="http://schemas.microsoft.com/office/drawing/2014/main" id="{F6AA57F0-A1A3-45F1-A600-C0CECAB8F275}"/>
              </a:ext>
            </a:extLst>
          </p:cNvPr>
          <p:cNvSpPr txBox="1">
            <a:spLocks/>
          </p:cNvSpPr>
          <p:nvPr/>
        </p:nvSpPr>
        <p:spPr>
          <a:xfrm>
            <a:off x="971600" y="1412875"/>
            <a:ext cx="5904656"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pPr>
            <a:r>
              <a:rPr lang="en-US" sz="2000" kern="0" dirty="0">
                <a:solidFill>
                  <a:schemeClr val="tx1"/>
                </a:solidFill>
              </a:rPr>
              <a:t>Link TP lines with Ethernet Data networks</a:t>
            </a:r>
          </a:p>
          <a:p>
            <a:pPr>
              <a:lnSpc>
                <a:spcPct val="150000"/>
              </a:lnSpc>
            </a:pPr>
            <a:r>
              <a:rPr lang="en-US" sz="2000" kern="0" dirty="0">
                <a:solidFill>
                  <a:schemeClr val="tx1"/>
                </a:solidFill>
              </a:rPr>
              <a:t>Link TP lines together over the data network</a:t>
            </a:r>
          </a:p>
          <a:p>
            <a:pPr>
              <a:lnSpc>
                <a:spcPct val="150000"/>
              </a:lnSpc>
            </a:pPr>
            <a:r>
              <a:rPr lang="en-US" sz="2000" kern="0" dirty="0">
                <a:solidFill>
                  <a:schemeClr val="tx1"/>
                </a:solidFill>
              </a:rPr>
              <a:t>Offer an IP interface for access to the bus</a:t>
            </a:r>
          </a:p>
          <a:p>
            <a:pPr marL="0" indent="0">
              <a:buFont typeface="Wingdings" pitchFamily="2" charset="2"/>
              <a:buNone/>
            </a:pPr>
            <a:endParaRPr lang="en-US" sz="2400" kern="0" dirty="0"/>
          </a:p>
          <a:p>
            <a:pPr marL="0" indent="0">
              <a:buFont typeface="Wingdings" pitchFamily="2" charset="2"/>
              <a:buNone/>
            </a:pPr>
            <a:endParaRPr lang="en-US" sz="2400" kern="0" dirty="0"/>
          </a:p>
          <a:p>
            <a:pPr marL="0" indent="0">
              <a:buFont typeface="Wingdings" pitchFamily="2" charset="2"/>
              <a:buNone/>
            </a:pPr>
            <a:endParaRPr lang="en-US" sz="800" kern="0" dirty="0"/>
          </a:p>
          <a:p>
            <a:pPr algn="just">
              <a:lnSpc>
                <a:spcPct val="150000"/>
              </a:lnSpc>
              <a:defRPr/>
            </a:pPr>
            <a:r>
              <a:rPr lang="en-GB" sz="2000" dirty="0">
                <a:solidFill>
                  <a:schemeClr val="bg2">
                    <a:lumMod val="10000"/>
                  </a:schemeClr>
                </a:solidFill>
                <a:latin typeface="Arial" panose="020B0604020202020204" pitchFamily="34" charset="0"/>
                <a:cs typeface="Arial" panose="020B0604020202020204" pitchFamily="34" charset="0"/>
              </a:rPr>
              <a:t>Can require additionally</a:t>
            </a:r>
            <a:r>
              <a:rPr lang="es-ES" sz="2000" dirty="0">
                <a:solidFill>
                  <a:schemeClr val="bg2">
                    <a:lumMod val="10000"/>
                  </a:schemeClr>
                </a:solidFill>
                <a:latin typeface="Arial" panose="020B0604020202020204" pitchFamily="34" charset="0"/>
                <a:cs typeface="Arial" panose="020B0604020202020204" pitchFamily="34" charset="0"/>
              </a:rPr>
              <a:t> AC/DC 24V (Manufacturer-</a:t>
            </a:r>
            <a:r>
              <a:rPr lang="es-ES" sz="2000" dirty="0" err="1">
                <a:solidFill>
                  <a:schemeClr val="bg2">
                    <a:lumMod val="10000"/>
                  </a:schemeClr>
                </a:solidFill>
                <a:latin typeface="Arial" panose="020B0604020202020204" pitchFamily="34" charset="0"/>
                <a:cs typeface="Arial" panose="020B0604020202020204" pitchFamily="34" charset="0"/>
              </a:rPr>
              <a:t>specific</a:t>
            </a:r>
            <a:r>
              <a:rPr lang="es-ES" sz="2000">
                <a:solidFill>
                  <a:schemeClr val="bg2">
                    <a:lumMod val="10000"/>
                  </a:schemeClr>
                </a:solidFill>
                <a:latin typeface="Arial" panose="020B0604020202020204" pitchFamily="34" charset="0"/>
                <a:cs typeface="Arial" panose="020B0604020202020204" pitchFamily="34" charset="0"/>
              </a:rPr>
              <a:t>)</a:t>
            </a:r>
            <a:endParaRPr lang="es-ES" sz="2000" dirty="0">
              <a:solidFill>
                <a:schemeClr val="bg2">
                  <a:lumMod val="10000"/>
                </a:schemeClr>
              </a:solidFill>
              <a:latin typeface="Arial" panose="020B0604020202020204" pitchFamily="34" charset="0"/>
              <a:cs typeface="Arial" panose="020B0604020202020204" pitchFamily="34" charset="0"/>
            </a:endParaRPr>
          </a:p>
          <a:p>
            <a:pPr algn="just">
              <a:lnSpc>
                <a:spcPct val="150000"/>
              </a:lnSpc>
              <a:defRPr/>
            </a:pPr>
            <a:r>
              <a:rPr lang="es-ES" sz="2000" dirty="0">
                <a:solidFill>
                  <a:schemeClr val="bg2">
                    <a:lumMod val="10000"/>
                  </a:schemeClr>
                </a:solidFill>
                <a:latin typeface="Arial" panose="020B0604020202020204" pitchFamily="34" charset="0"/>
                <a:cs typeface="Arial" panose="020B0604020202020204" pitchFamily="34" charset="0"/>
              </a:rPr>
              <a:t>Used as line and/</a:t>
            </a:r>
            <a:r>
              <a:rPr lang="en-GB" sz="2000" dirty="0">
                <a:solidFill>
                  <a:schemeClr val="bg2">
                    <a:lumMod val="10000"/>
                  </a:schemeClr>
                </a:solidFill>
                <a:latin typeface="Arial" panose="020B0604020202020204" pitchFamily="34" charset="0"/>
                <a:cs typeface="Arial" panose="020B0604020202020204" pitchFamily="34" charset="0"/>
              </a:rPr>
              <a:t>or</a:t>
            </a:r>
            <a:r>
              <a:rPr lang="es-ES" sz="2000" dirty="0">
                <a:solidFill>
                  <a:schemeClr val="bg2">
                    <a:lumMod val="10000"/>
                  </a:schemeClr>
                </a:solidFill>
                <a:latin typeface="Arial" panose="020B0604020202020204" pitchFamily="34" charset="0"/>
                <a:cs typeface="Arial" panose="020B0604020202020204" pitchFamily="34" charset="0"/>
              </a:rPr>
              <a:t> </a:t>
            </a:r>
            <a:r>
              <a:rPr lang="en-GB" sz="2000" dirty="0">
                <a:solidFill>
                  <a:schemeClr val="bg2">
                    <a:lumMod val="10000"/>
                  </a:schemeClr>
                </a:solidFill>
                <a:latin typeface="Arial" panose="020B0604020202020204" pitchFamily="34" charset="0"/>
                <a:cs typeface="Arial" panose="020B0604020202020204" pitchFamily="34" charset="0"/>
              </a:rPr>
              <a:t>backbone coupler</a:t>
            </a:r>
          </a:p>
          <a:p>
            <a:pPr algn="just">
              <a:lnSpc>
                <a:spcPct val="150000"/>
              </a:lnSpc>
              <a:defRPr/>
            </a:pPr>
            <a:r>
              <a:rPr lang="en-GB" sz="2000" dirty="0">
                <a:solidFill>
                  <a:schemeClr val="tx1"/>
                </a:solidFill>
                <a:latin typeface="Arial" charset="0"/>
              </a:rPr>
              <a:t>Filter table created automatically by the ETS </a:t>
            </a:r>
            <a:endParaRPr lang="en-GB" sz="2000" dirty="0">
              <a:solidFill>
                <a:schemeClr val="bg2">
                  <a:lumMod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605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C9702-E0A6-4B81-8C8F-47B75E0A3C37}"/>
              </a:ext>
            </a:extLst>
          </p:cNvPr>
          <p:cNvSpPr>
            <a:spLocks noGrp="1"/>
          </p:cNvSpPr>
          <p:nvPr>
            <p:ph type="title"/>
          </p:nvPr>
        </p:nvSpPr>
        <p:spPr/>
        <p:txBody>
          <a:bodyPr/>
          <a:lstStyle/>
          <a:p>
            <a:r>
              <a:rPr lang="es-ES" dirty="0"/>
              <a:t>TP-IP </a:t>
            </a:r>
            <a:r>
              <a:rPr lang="en-GB" dirty="0"/>
              <a:t>Router: main features</a:t>
            </a:r>
          </a:p>
        </p:txBody>
      </p:sp>
      <p:sp>
        <p:nvSpPr>
          <p:cNvPr id="4" name="Content Placeholder 1">
            <a:extLst>
              <a:ext uri="{FF2B5EF4-FFF2-40B4-BE49-F238E27FC236}">
                <a16:creationId xmlns:a16="http://schemas.microsoft.com/office/drawing/2014/main" id="{4C3DC811-9DCB-4133-8D90-FDAB97598089}"/>
              </a:ext>
            </a:extLst>
          </p:cNvPr>
          <p:cNvSpPr txBox="1">
            <a:spLocks/>
          </p:cNvSpPr>
          <p:nvPr/>
        </p:nvSpPr>
        <p:spPr>
          <a:xfrm>
            <a:off x="971600" y="1412875"/>
            <a:ext cx="7704856"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pPr>
            <a:r>
              <a:rPr lang="en-US" sz="2000" kern="0" dirty="0">
                <a:solidFill>
                  <a:schemeClr val="tx1"/>
                </a:solidFill>
              </a:rPr>
              <a:t>Simple </a:t>
            </a:r>
            <a:r>
              <a:rPr lang="en-US" sz="2000" kern="0" dirty="0"/>
              <a:t>interface connection to higher-order systems </a:t>
            </a:r>
            <a:r>
              <a:rPr lang="en-US" sz="2000" kern="0" dirty="0">
                <a:solidFill>
                  <a:schemeClr val="tx1"/>
                </a:solidFill>
              </a:rPr>
              <a:t>through the Internet protocol (IP)</a:t>
            </a:r>
          </a:p>
          <a:p>
            <a:pPr>
              <a:lnSpc>
                <a:spcPct val="150000"/>
              </a:lnSpc>
            </a:pPr>
            <a:r>
              <a:rPr lang="en-US" sz="2000" kern="0" dirty="0"/>
              <a:t>Direct access to the KNX installation </a:t>
            </a:r>
            <a:r>
              <a:rPr lang="en-US" sz="2000" kern="0" dirty="0">
                <a:solidFill>
                  <a:schemeClr val="tx1"/>
                </a:solidFill>
              </a:rPr>
              <a:t>(</a:t>
            </a:r>
            <a:r>
              <a:rPr lang="en-US" sz="2000" kern="0" dirty="0" err="1">
                <a:solidFill>
                  <a:schemeClr val="tx1"/>
                </a:solidFill>
              </a:rPr>
              <a:t>KNXnet</a:t>
            </a:r>
            <a:r>
              <a:rPr lang="en-US" sz="2000" kern="0" dirty="0">
                <a:solidFill>
                  <a:schemeClr val="tx1"/>
                </a:solidFill>
              </a:rPr>
              <a:t>/IP </a:t>
            </a:r>
            <a:r>
              <a:rPr lang="en-US" sz="2000" kern="0" dirty="0" err="1">
                <a:solidFill>
                  <a:schemeClr val="tx1"/>
                </a:solidFill>
              </a:rPr>
              <a:t>tunnelling</a:t>
            </a:r>
            <a:r>
              <a:rPr lang="en-US" sz="2000" kern="0" dirty="0">
                <a:solidFill>
                  <a:schemeClr val="tx1"/>
                </a:solidFill>
              </a:rPr>
              <a:t>) </a:t>
            </a:r>
            <a:r>
              <a:rPr lang="en-US" sz="2000" kern="0" dirty="0"/>
              <a:t>Rapid communication</a:t>
            </a:r>
            <a:r>
              <a:rPr lang="en-US" sz="2000" kern="0" dirty="0">
                <a:solidFill>
                  <a:schemeClr val="tx1"/>
                </a:solidFill>
              </a:rPr>
              <a:t> between KNX lines, KNX areas and systems (</a:t>
            </a:r>
            <a:r>
              <a:rPr lang="en-US" sz="2000" kern="0" dirty="0" err="1">
                <a:solidFill>
                  <a:schemeClr val="tx1"/>
                </a:solidFill>
              </a:rPr>
              <a:t>KNXnet</a:t>
            </a:r>
            <a:r>
              <a:rPr lang="en-US" sz="2000" kern="0" dirty="0">
                <a:solidFill>
                  <a:schemeClr val="tx1"/>
                </a:solidFill>
              </a:rPr>
              <a:t>/IP routing)</a:t>
            </a:r>
          </a:p>
          <a:p>
            <a:pPr>
              <a:lnSpc>
                <a:spcPct val="150000"/>
              </a:lnSpc>
            </a:pPr>
            <a:r>
              <a:rPr lang="en-US" sz="2000" kern="0" dirty="0">
                <a:solidFill>
                  <a:schemeClr val="tx1"/>
                </a:solidFill>
              </a:rPr>
              <a:t>Communication across buildings and properties </a:t>
            </a:r>
          </a:p>
          <a:p>
            <a:pPr>
              <a:lnSpc>
                <a:spcPct val="150000"/>
              </a:lnSpc>
            </a:pPr>
            <a:r>
              <a:rPr lang="en-US" sz="2000" kern="0" dirty="0">
                <a:solidFill>
                  <a:schemeClr val="tx1"/>
                </a:solidFill>
              </a:rPr>
              <a:t>Filtering and routing of telegrams according to address</a:t>
            </a:r>
          </a:p>
          <a:p>
            <a:pPr>
              <a:lnSpc>
                <a:spcPct val="150000"/>
              </a:lnSpc>
            </a:pPr>
            <a:r>
              <a:rPr lang="en-US" sz="2000" kern="0" dirty="0">
                <a:solidFill>
                  <a:schemeClr val="tx1"/>
                </a:solidFill>
              </a:rPr>
              <a:t>LED displays for operation and KNX and IP communication</a:t>
            </a:r>
          </a:p>
          <a:p>
            <a:pPr>
              <a:lnSpc>
                <a:spcPct val="150000"/>
              </a:lnSpc>
            </a:pPr>
            <a:r>
              <a:rPr lang="en-US" sz="2000" kern="0" dirty="0">
                <a:solidFill>
                  <a:schemeClr val="tx1"/>
                </a:solidFill>
              </a:rPr>
              <a:t>Simple configuration with ETS without any plug-ins</a:t>
            </a:r>
          </a:p>
          <a:p>
            <a:pPr>
              <a:lnSpc>
                <a:spcPct val="150000"/>
              </a:lnSpc>
            </a:pPr>
            <a:r>
              <a:rPr lang="en-US" sz="2000" kern="0" dirty="0">
                <a:solidFill>
                  <a:schemeClr val="tx1"/>
                </a:solidFill>
              </a:rPr>
              <a:t>Simple interface connection of visualization systems</a:t>
            </a:r>
          </a:p>
          <a:p>
            <a:pPr lvl="1"/>
            <a:endParaRPr lang="en-US" sz="2400" b="1" kern="0" dirty="0"/>
          </a:p>
        </p:txBody>
      </p:sp>
    </p:spTree>
    <p:extLst>
      <p:ext uri="{BB962C8B-B14F-4D97-AF65-F5344CB8AC3E}">
        <p14:creationId xmlns:p14="http://schemas.microsoft.com/office/powerpoint/2010/main" val="1760052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6D19-E622-42A1-B710-FF5F537EA1DC}"/>
              </a:ext>
            </a:extLst>
          </p:cNvPr>
          <p:cNvSpPr>
            <a:spLocks noGrp="1"/>
          </p:cNvSpPr>
          <p:nvPr>
            <p:ph type="title"/>
          </p:nvPr>
        </p:nvSpPr>
        <p:spPr/>
        <p:txBody>
          <a:bodyPr/>
          <a:lstStyle/>
          <a:p>
            <a:r>
              <a:rPr lang="en-US" dirty="0"/>
              <a:t>IP Router as Backbone Coupler</a:t>
            </a:r>
            <a:endParaRPr lang="es-ES" dirty="0"/>
          </a:p>
        </p:txBody>
      </p:sp>
      <p:graphicFrame>
        <p:nvGraphicFramePr>
          <p:cNvPr id="4" name="Object 3">
            <a:extLst>
              <a:ext uri="{FF2B5EF4-FFF2-40B4-BE49-F238E27FC236}">
                <a16:creationId xmlns:a16="http://schemas.microsoft.com/office/drawing/2014/main" id="{B21DF4F6-3345-47FE-981B-BB812F880A8A}"/>
              </a:ext>
            </a:extLst>
          </p:cNvPr>
          <p:cNvGraphicFramePr>
            <a:graphicFrameLocks noChangeAspect="1"/>
          </p:cNvGraphicFramePr>
          <p:nvPr/>
        </p:nvGraphicFramePr>
        <p:xfrm>
          <a:off x="1907704" y="1692328"/>
          <a:ext cx="6680482" cy="4680520"/>
        </p:xfrm>
        <a:graphic>
          <a:graphicData uri="http://schemas.openxmlformats.org/presentationml/2006/ole">
            <mc:AlternateContent xmlns:mc="http://schemas.openxmlformats.org/markup-compatibility/2006">
              <mc:Choice xmlns:v="urn:schemas-microsoft-com:vml" Requires="v">
                <p:oleObj r:id="rId3" imgW="10219426" imgH="7158677" progId="Visio.Drawing.15">
                  <p:embed/>
                </p:oleObj>
              </mc:Choice>
              <mc:Fallback>
                <p:oleObj r:id="rId3" imgW="10219426" imgH="7158677" progId="Visio.Drawing.15">
                  <p:embed/>
                  <p:pic>
                    <p:nvPicPr>
                      <p:cNvPr id="4" name="Object 3">
                        <a:extLst>
                          <a:ext uri="{FF2B5EF4-FFF2-40B4-BE49-F238E27FC236}">
                            <a16:creationId xmlns:a16="http://schemas.microsoft.com/office/drawing/2014/main" id="{B21DF4F6-3345-47FE-981B-BB812F880A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1692328"/>
                        <a:ext cx="6680482" cy="4680520"/>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ACB46DB7-19F7-4EBC-8E7B-436A844EEC60}"/>
              </a:ext>
            </a:extLst>
          </p:cNvPr>
          <p:cNvSpPr/>
          <p:nvPr/>
        </p:nvSpPr>
        <p:spPr>
          <a:xfrm>
            <a:off x="900113" y="1490008"/>
            <a:ext cx="2880320" cy="1938992"/>
          </a:xfrm>
          <a:prstGeom prst="rect">
            <a:avLst/>
          </a:prstGeom>
        </p:spPr>
        <p:txBody>
          <a:bodyPr wrap="square">
            <a:spAutoFit/>
          </a:bodyPr>
          <a:lstStyle/>
          <a:p>
            <a:r>
              <a:rPr lang="en-GB" sz="2000" b="1" dirty="0">
                <a:latin typeface="Arial" panose="020B0604020202020204" pitchFamily="34" charset="0"/>
                <a:ea typeface="ＭＳ Ｐゴシック" panose="020B0600070205080204" pitchFamily="34" charset="-128"/>
              </a:rPr>
              <a:t>If there is an IP router as </a:t>
            </a:r>
            <a:r>
              <a:rPr lang="en-GB" sz="2000" b="1" dirty="0">
                <a:solidFill>
                  <a:srgbClr val="369226"/>
                </a:solidFill>
                <a:latin typeface="Arial" panose="020B0604020202020204" pitchFamily="34" charset="0"/>
                <a:ea typeface="ＭＳ Ｐゴシック" panose="020B0600070205080204" pitchFamily="34" charset="-128"/>
              </a:rPr>
              <a:t>backbone coupler </a:t>
            </a:r>
            <a:r>
              <a:rPr lang="en-GB" sz="2000" b="1" dirty="0">
                <a:latin typeface="Arial" panose="020B0604020202020204" pitchFamily="34" charset="0"/>
                <a:ea typeface="ＭＳ Ｐゴシック" panose="020B0600070205080204" pitchFamily="34" charset="-128"/>
              </a:rPr>
              <a:t>for an area, no IP routers may be used as a </a:t>
            </a:r>
            <a:r>
              <a:rPr lang="en-GB" sz="2000" b="1" dirty="0">
                <a:solidFill>
                  <a:srgbClr val="369226"/>
                </a:solidFill>
                <a:latin typeface="Arial" panose="020B0604020202020204" pitchFamily="34" charset="0"/>
                <a:ea typeface="ＭＳ Ｐゴシック" panose="020B0600070205080204" pitchFamily="34" charset="-128"/>
              </a:rPr>
              <a:t>line coupler </a:t>
            </a:r>
            <a:r>
              <a:rPr lang="en-GB" sz="2000" b="1" dirty="0">
                <a:latin typeface="Arial" panose="020B0604020202020204" pitchFamily="34" charset="0"/>
                <a:ea typeface="ＭＳ Ｐゴシック" panose="020B0600070205080204" pitchFamily="34" charset="-128"/>
              </a:rPr>
              <a:t>in this area!</a:t>
            </a:r>
            <a:endParaRPr lang="es-ES" sz="2000" b="1"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3833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6D19-E622-42A1-B710-FF5F537EA1DC}"/>
              </a:ext>
            </a:extLst>
          </p:cNvPr>
          <p:cNvSpPr>
            <a:spLocks noGrp="1"/>
          </p:cNvSpPr>
          <p:nvPr>
            <p:ph type="title"/>
          </p:nvPr>
        </p:nvSpPr>
        <p:spPr/>
        <p:txBody>
          <a:bodyPr/>
          <a:lstStyle/>
          <a:p>
            <a:r>
              <a:rPr lang="en-US" dirty="0"/>
              <a:t>IP Router as Line Coupler</a:t>
            </a:r>
            <a:endParaRPr lang="es-ES" dirty="0"/>
          </a:p>
        </p:txBody>
      </p:sp>
      <p:sp>
        <p:nvSpPr>
          <p:cNvPr id="3" name="Rectangle 2">
            <a:extLst>
              <a:ext uri="{FF2B5EF4-FFF2-40B4-BE49-F238E27FC236}">
                <a16:creationId xmlns:a16="http://schemas.microsoft.com/office/drawing/2014/main" id="{CB2671FD-9B7E-4819-A209-6A45017FF74D}"/>
              </a:ext>
            </a:extLst>
          </p:cNvPr>
          <p:cNvSpPr>
            <a:spLocks noChangeArrowheads="1"/>
          </p:cNvSpPr>
          <p:nvPr/>
        </p:nvSpPr>
        <p:spPr bwMode="auto">
          <a:xfrm>
            <a:off x="452847" y="1484783"/>
            <a:ext cx="1121304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graphicFrame>
        <p:nvGraphicFramePr>
          <p:cNvPr id="6" name="Object 5">
            <a:extLst>
              <a:ext uri="{FF2B5EF4-FFF2-40B4-BE49-F238E27FC236}">
                <a16:creationId xmlns:a16="http://schemas.microsoft.com/office/drawing/2014/main" id="{9C623655-3688-4C35-8780-FFC734954724}"/>
              </a:ext>
            </a:extLst>
          </p:cNvPr>
          <p:cNvGraphicFramePr>
            <a:graphicFrameLocks noChangeAspect="1"/>
          </p:cNvGraphicFramePr>
          <p:nvPr/>
        </p:nvGraphicFramePr>
        <p:xfrm>
          <a:off x="1123576" y="1472098"/>
          <a:ext cx="7157554" cy="4134842"/>
        </p:xfrm>
        <a:graphic>
          <a:graphicData uri="http://schemas.openxmlformats.org/presentationml/2006/ole">
            <mc:AlternateContent xmlns:mc="http://schemas.openxmlformats.org/markup-compatibility/2006">
              <mc:Choice xmlns:v="urn:schemas-microsoft-com:vml" Requires="v">
                <p:oleObj r:id="rId3" imgW="10138146" imgH="5864742" progId="Visio.Drawing.15">
                  <p:embed/>
                </p:oleObj>
              </mc:Choice>
              <mc:Fallback>
                <p:oleObj r:id="rId3" imgW="10138146" imgH="5864742" progId="Visio.Drawing.15">
                  <p:embed/>
                  <p:pic>
                    <p:nvPicPr>
                      <p:cNvPr id="6" name="Object 5">
                        <a:extLst>
                          <a:ext uri="{FF2B5EF4-FFF2-40B4-BE49-F238E27FC236}">
                            <a16:creationId xmlns:a16="http://schemas.microsoft.com/office/drawing/2014/main" id="{9C623655-3688-4C35-8780-FFC7349547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3576" y="1472098"/>
                        <a:ext cx="7157554" cy="4134842"/>
                      </a:xfrm>
                      <a:prstGeom prst="rect">
                        <a:avLst/>
                      </a:prstGeom>
                      <a:noFill/>
                    </p:spPr>
                  </p:pic>
                </p:oleObj>
              </mc:Fallback>
            </mc:AlternateContent>
          </a:graphicData>
        </a:graphic>
      </p:graphicFrame>
    </p:spTree>
    <p:extLst>
      <p:ext uri="{BB962C8B-B14F-4D97-AF65-F5344CB8AC3E}">
        <p14:creationId xmlns:p14="http://schemas.microsoft.com/office/powerpoint/2010/main" val="1090091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2006F-239C-46BD-A528-ED72B358CCD5}"/>
              </a:ext>
            </a:extLst>
          </p:cNvPr>
          <p:cNvSpPr>
            <a:spLocks noGrp="1"/>
          </p:cNvSpPr>
          <p:nvPr>
            <p:ph type="title"/>
          </p:nvPr>
        </p:nvSpPr>
        <p:spPr>
          <a:xfrm>
            <a:off x="900113" y="260648"/>
            <a:ext cx="6984255" cy="719138"/>
          </a:xfrm>
        </p:spPr>
        <p:txBody>
          <a:bodyPr/>
          <a:lstStyle/>
          <a:p>
            <a:r>
              <a:rPr lang="en-US" dirty="0"/>
              <a:t>IP Router as Line and Backbone Coupler</a:t>
            </a:r>
            <a:endParaRPr lang="es-ES" dirty="0"/>
          </a:p>
        </p:txBody>
      </p:sp>
      <p:graphicFrame>
        <p:nvGraphicFramePr>
          <p:cNvPr id="4" name="Object 3">
            <a:extLst>
              <a:ext uri="{FF2B5EF4-FFF2-40B4-BE49-F238E27FC236}">
                <a16:creationId xmlns:a16="http://schemas.microsoft.com/office/drawing/2014/main" id="{0DEB622A-6302-4779-8621-FA0DE5336827}"/>
              </a:ext>
            </a:extLst>
          </p:cNvPr>
          <p:cNvGraphicFramePr>
            <a:graphicFrameLocks noChangeAspect="1"/>
          </p:cNvGraphicFramePr>
          <p:nvPr/>
        </p:nvGraphicFramePr>
        <p:xfrm>
          <a:off x="1128942" y="1484784"/>
          <a:ext cx="6886116" cy="4599236"/>
        </p:xfrm>
        <a:graphic>
          <a:graphicData uri="http://schemas.openxmlformats.org/presentationml/2006/ole">
            <mc:AlternateContent xmlns:mc="http://schemas.openxmlformats.org/markup-compatibility/2006">
              <mc:Choice xmlns:v="urn:schemas-microsoft-com:vml" Requires="v">
                <p:oleObj r:id="rId3" imgW="10138146" imgH="6770228" progId="Visio.Drawing.15">
                  <p:embed/>
                </p:oleObj>
              </mc:Choice>
              <mc:Fallback>
                <p:oleObj r:id="rId3" imgW="10138146" imgH="6770228" progId="Visio.Drawing.15">
                  <p:embed/>
                  <p:pic>
                    <p:nvPicPr>
                      <p:cNvPr id="4" name="Object 3">
                        <a:extLst>
                          <a:ext uri="{FF2B5EF4-FFF2-40B4-BE49-F238E27FC236}">
                            <a16:creationId xmlns:a16="http://schemas.microsoft.com/office/drawing/2014/main" id="{0DEB622A-6302-4779-8621-FA0DE5336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8942" y="1484784"/>
                        <a:ext cx="6886116" cy="4599236"/>
                      </a:xfrm>
                      <a:prstGeom prst="rect">
                        <a:avLst/>
                      </a:prstGeom>
                      <a:noFill/>
                    </p:spPr>
                  </p:pic>
                </p:oleObj>
              </mc:Fallback>
            </mc:AlternateContent>
          </a:graphicData>
        </a:graphic>
      </p:graphicFrame>
    </p:spTree>
    <p:extLst>
      <p:ext uri="{BB962C8B-B14F-4D97-AF65-F5344CB8AC3E}">
        <p14:creationId xmlns:p14="http://schemas.microsoft.com/office/powerpoint/2010/main" val="3108706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0652D-9F20-4D57-A62B-C69D1B3F577C}"/>
              </a:ext>
            </a:extLst>
          </p:cNvPr>
          <p:cNvSpPr>
            <a:spLocks noGrp="1"/>
          </p:cNvSpPr>
          <p:nvPr>
            <p:ph type="title"/>
          </p:nvPr>
        </p:nvSpPr>
        <p:spPr>
          <a:xfrm>
            <a:off x="899592" y="260648"/>
            <a:ext cx="6984255" cy="719138"/>
          </a:xfrm>
        </p:spPr>
        <p:txBody>
          <a:bodyPr/>
          <a:lstStyle/>
          <a:p>
            <a:r>
              <a:rPr lang="en-US" dirty="0"/>
              <a:t>IP Router as Backbone/Network Coupler</a:t>
            </a:r>
            <a:endParaRPr lang="es-ES" dirty="0"/>
          </a:p>
        </p:txBody>
      </p:sp>
      <p:graphicFrame>
        <p:nvGraphicFramePr>
          <p:cNvPr id="4" name="Object 3">
            <a:extLst>
              <a:ext uri="{FF2B5EF4-FFF2-40B4-BE49-F238E27FC236}">
                <a16:creationId xmlns:a16="http://schemas.microsoft.com/office/drawing/2014/main" id="{CB7E7B05-E551-4B82-9A3F-6BA0C2057049}"/>
              </a:ext>
            </a:extLst>
          </p:cNvPr>
          <p:cNvGraphicFramePr>
            <a:graphicFrameLocks noChangeAspect="1"/>
          </p:cNvGraphicFramePr>
          <p:nvPr/>
        </p:nvGraphicFramePr>
        <p:xfrm>
          <a:off x="827584" y="1556792"/>
          <a:ext cx="7445714" cy="4536504"/>
        </p:xfrm>
        <a:graphic>
          <a:graphicData uri="http://schemas.openxmlformats.org/presentationml/2006/ole">
            <mc:AlternateContent xmlns:mc="http://schemas.openxmlformats.org/markup-compatibility/2006">
              <mc:Choice xmlns:v="urn:schemas-microsoft-com:vml" Requires="v">
                <p:oleObj r:id="rId3" imgW="9975970" imgH="6065492" progId="Visio.Drawing.15">
                  <p:embed/>
                </p:oleObj>
              </mc:Choice>
              <mc:Fallback>
                <p:oleObj r:id="rId3" imgW="9975970" imgH="6065492" progId="Visio.Drawing.15">
                  <p:embed/>
                  <p:pic>
                    <p:nvPicPr>
                      <p:cNvPr id="4" name="Object 3">
                        <a:extLst>
                          <a:ext uri="{FF2B5EF4-FFF2-40B4-BE49-F238E27FC236}">
                            <a16:creationId xmlns:a16="http://schemas.microsoft.com/office/drawing/2014/main" id="{CB7E7B05-E551-4B82-9A3F-6BA0C20570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556792"/>
                        <a:ext cx="7445714" cy="4536504"/>
                      </a:xfrm>
                      <a:prstGeom prst="rect">
                        <a:avLst/>
                      </a:prstGeom>
                      <a:noFill/>
                    </p:spPr>
                  </p:pic>
                </p:oleObj>
              </mc:Fallback>
            </mc:AlternateContent>
          </a:graphicData>
        </a:graphic>
      </p:graphicFrame>
    </p:spTree>
    <p:extLst>
      <p:ext uri="{BB962C8B-B14F-4D97-AF65-F5344CB8AC3E}">
        <p14:creationId xmlns:p14="http://schemas.microsoft.com/office/powerpoint/2010/main" val="3070299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FCD53-CED7-447F-B54C-CD68C3C6CEB7}"/>
              </a:ext>
            </a:extLst>
          </p:cNvPr>
          <p:cNvSpPr>
            <a:spLocks noGrp="1"/>
          </p:cNvSpPr>
          <p:nvPr>
            <p:ph type="title"/>
          </p:nvPr>
        </p:nvSpPr>
        <p:spPr/>
        <p:txBody>
          <a:bodyPr/>
          <a:lstStyle/>
          <a:p>
            <a:r>
              <a:rPr lang="es-ES" dirty="0"/>
              <a:t>Network </a:t>
            </a:r>
            <a:r>
              <a:rPr lang="en-GB" dirty="0"/>
              <a:t>Settings</a:t>
            </a:r>
          </a:p>
        </p:txBody>
      </p:sp>
      <p:grpSp>
        <p:nvGrpSpPr>
          <p:cNvPr id="3" name="Group 2">
            <a:extLst>
              <a:ext uri="{FF2B5EF4-FFF2-40B4-BE49-F238E27FC236}">
                <a16:creationId xmlns:a16="http://schemas.microsoft.com/office/drawing/2014/main" id="{36CDC80B-53D6-4CCB-9A73-95FA4BEA5AC5}"/>
              </a:ext>
            </a:extLst>
          </p:cNvPr>
          <p:cNvGrpSpPr>
            <a:grpSpLocks/>
          </p:cNvGrpSpPr>
          <p:nvPr/>
        </p:nvGrpSpPr>
        <p:grpSpPr bwMode="auto">
          <a:xfrm>
            <a:off x="1089989" y="2922015"/>
            <a:ext cx="2360612" cy="1157287"/>
            <a:chOff x="868363" y="2395538"/>
            <a:chExt cx="2360612" cy="1157287"/>
          </a:xfrm>
          <a:solidFill>
            <a:srgbClr val="FFFFFF"/>
          </a:solidFill>
        </p:grpSpPr>
        <p:sp>
          <p:nvSpPr>
            <p:cNvPr id="4" name="Snip Single Corner Rectangle 6">
              <a:extLst>
                <a:ext uri="{FF2B5EF4-FFF2-40B4-BE49-F238E27FC236}">
                  <a16:creationId xmlns:a16="http://schemas.microsoft.com/office/drawing/2014/main" id="{12A84A6B-F1C2-40F1-9B64-60B44E7F4F96}"/>
                </a:ext>
              </a:extLst>
            </p:cNvPr>
            <p:cNvSpPr/>
            <p:nvPr/>
          </p:nvSpPr>
          <p:spPr>
            <a:xfrm>
              <a:off x="868363" y="2395538"/>
              <a:ext cx="2360612" cy="1157287"/>
            </a:xfrm>
            <a:prstGeom prst="snip1Rect">
              <a:avLst/>
            </a:prstGeom>
            <a:grpFill/>
            <a:ln w="38100">
              <a:solidFill>
                <a:schemeClr val="accent4">
                  <a:lumMod val="75000"/>
                  <a:alpha val="9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 name="TextBox 19">
              <a:extLst>
                <a:ext uri="{FF2B5EF4-FFF2-40B4-BE49-F238E27FC236}">
                  <a16:creationId xmlns:a16="http://schemas.microsoft.com/office/drawing/2014/main" id="{91BA469B-4BD9-409D-81C7-7122AEF6ACCE}"/>
                </a:ext>
              </a:extLst>
            </p:cNvPr>
            <p:cNvSpPr txBox="1">
              <a:spLocks noChangeArrowheads="1"/>
            </p:cNvSpPr>
            <p:nvPr/>
          </p:nvSpPr>
          <p:spPr bwMode="auto">
            <a:xfrm>
              <a:off x="931862" y="2660086"/>
              <a:ext cx="2233613" cy="6463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r>
                <a:rPr lang="es-ES" b="1" dirty="0">
                  <a:solidFill>
                    <a:schemeClr val="accent4">
                      <a:lumMod val="75000"/>
                    </a:schemeClr>
                  </a:solidFill>
                </a:rPr>
                <a:t>Dynamic </a:t>
              </a:r>
              <a:r>
                <a:rPr lang="en-GB" b="1" dirty="0">
                  <a:solidFill>
                    <a:schemeClr val="accent4">
                      <a:lumMod val="75000"/>
                    </a:schemeClr>
                  </a:solidFill>
                </a:rPr>
                <a:t>Assignment</a:t>
              </a:r>
            </a:p>
          </p:txBody>
        </p:sp>
      </p:grpSp>
      <p:grpSp>
        <p:nvGrpSpPr>
          <p:cNvPr id="6" name="Group 5">
            <a:extLst>
              <a:ext uri="{FF2B5EF4-FFF2-40B4-BE49-F238E27FC236}">
                <a16:creationId xmlns:a16="http://schemas.microsoft.com/office/drawing/2014/main" id="{3C052AE8-E67C-4857-A459-8F954BCE9AAE}"/>
              </a:ext>
            </a:extLst>
          </p:cNvPr>
          <p:cNvGrpSpPr>
            <a:grpSpLocks/>
          </p:cNvGrpSpPr>
          <p:nvPr/>
        </p:nvGrpSpPr>
        <p:grpSpPr bwMode="auto">
          <a:xfrm>
            <a:off x="1089989" y="4217415"/>
            <a:ext cx="2360612" cy="1065212"/>
            <a:chOff x="868363" y="3690938"/>
            <a:chExt cx="2360612" cy="1065212"/>
          </a:xfrm>
          <a:solidFill>
            <a:schemeClr val="accent4"/>
          </a:solidFill>
        </p:grpSpPr>
        <p:sp>
          <p:nvSpPr>
            <p:cNvPr id="7" name="Rectangle 6">
              <a:extLst>
                <a:ext uri="{FF2B5EF4-FFF2-40B4-BE49-F238E27FC236}">
                  <a16:creationId xmlns:a16="http://schemas.microsoft.com/office/drawing/2014/main" id="{56FBD03F-6EB1-4BC9-8713-D9DD4B1373D1}"/>
                </a:ext>
              </a:extLst>
            </p:cNvPr>
            <p:cNvSpPr/>
            <p:nvPr/>
          </p:nvSpPr>
          <p:spPr>
            <a:xfrm>
              <a:off x="868363" y="3690938"/>
              <a:ext cx="2360612" cy="1065212"/>
            </a:xfrm>
            <a:prstGeom prst="rect">
              <a:avLst/>
            </a:prstGeom>
            <a:solidFill>
              <a:srgbClr val="0070C0"/>
            </a:solidFill>
            <a:ln w="19050">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sp>
          <p:nvSpPr>
            <p:cNvPr id="8" name="TextBox 7">
              <a:extLst>
                <a:ext uri="{FF2B5EF4-FFF2-40B4-BE49-F238E27FC236}">
                  <a16:creationId xmlns:a16="http://schemas.microsoft.com/office/drawing/2014/main" id="{9B2C9244-7283-4CE1-B09D-36524403A70D}"/>
                </a:ext>
              </a:extLst>
            </p:cNvPr>
            <p:cNvSpPr txBox="1"/>
            <p:nvPr/>
          </p:nvSpPr>
          <p:spPr>
            <a:xfrm>
              <a:off x="868363" y="3889375"/>
              <a:ext cx="2360612" cy="831850"/>
            </a:xfrm>
            <a:prstGeom prst="rect">
              <a:avLst/>
            </a:prstGeom>
            <a:solidFill>
              <a:srgbClr val="0070C0"/>
            </a:solidFill>
          </p:spPr>
          <p:txBody>
            <a:bodyPr>
              <a:spAutoFit/>
            </a:bodyPr>
            <a:lstStyle/>
            <a:p>
              <a:pPr algn="ctr">
                <a:defRPr/>
              </a:pPr>
              <a:r>
                <a:rPr lang="en-GB" sz="1600" b="1" dirty="0">
                  <a:solidFill>
                    <a:srgbClr val="FFFFFF"/>
                  </a:solidFill>
                </a:rPr>
                <a:t>DHCP: D</a:t>
              </a:r>
              <a:r>
                <a:rPr lang="en-GB" sz="1600" dirty="0">
                  <a:solidFill>
                    <a:srgbClr val="FFFFFF"/>
                  </a:solidFill>
                </a:rPr>
                <a:t>ynamic </a:t>
              </a:r>
              <a:r>
                <a:rPr lang="en-GB" sz="1600" b="1" dirty="0">
                  <a:solidFill>
                    <a:srgbClr val="FFFFFF"/>
                  </a:solidFill>
                </a:rPr>
                <a:t>H</a:t>
              </a:r>
              <a:r>
                <a:rPr lang="en-GB" sz="1600" dirty="0">
                  <a:solidFill>
                    <a:srgbClr val="FFFFFF"/>
                  </a:solidFill>
                </a:rPr>
                <a:t>ost </a:t>
              </a:r>
              <a:r>
                <a:rPr lang="en-GB" sz="1600" b="1" dirty="0">
                  <a:solidFill>
                    <a:srgbClr val="FFFFFF"/>
                  </a:solidFill>
                </a:rPr>
                <a:t>C</a:t>
              </a:r>
              <a:r>
                <a:rPr lang="en-GB" sz="1600" dirty="0">
                  <a:solidFill>
                    <a:srgbClr val="FFFFFF"/>
                  </a:solidFill>
                </a:rPr>
                <a:t>onfiguration </a:t>
              </a:r>
              <a:r>
                <a:rPr lang="en-GB" sz="1600" b="1" dirty="0">
                  <a:solidFill>
                    <a:srgbClr val="FFFFFF"/>
                  </a:solidFill>
                </a:rPr>
                <a:t>P</a:t>
              </a:r>
              <a:r>
                <a:rPr lang="en-GB" sz="1600" dirty="0">
                  <a:solidFill>
                    <a:srgbClr val="FFFFFF"/>
                  </a:solidFill>
                </a:rPr>
                <a:t>rotocol </a:t>
              </a:r>
            </a:p>
            <a:p>
              <a:pPr algn="ctr">
                <a:defRPr/>
              </a:pPr>
              <a:endParaRPr lang="en-US" sz="1600" dirty="0">
                <a:solidFill>
                  <a:srgbClr val="FFFFFF"/>
                </a:solidFill>
              </a:endParaRPr>
            </a:p>
          </p:txBody>
        </p:sp>
      </p:grpSp>
      <p:grpSp>
        <p:nvGrpSpPr>
          <p:cNvPr id="9" name="Group 8">
            <a:extLst>
              <a:ext uri="{FF2B5EF4-FFF2-40B4-BE49-F238E27FC236}">
                <a16:creationId xmlns:a16="http://schemas.microsoft.com/office/drawing/2014/main" id="{99A57397-3AF5-4BB7-96C7-3DBDEA1EFB34}"/>
              </a:ext>
            </a:extLst>
          </p:cNvPr>
          <p:cNvGrpSpPr>
            <a:grpSpLocks/>
          </p:cNvGrpSpPr>
          <p:nvPr/>
        </p:nvGrpSpPr>
        <p:grpSpPr bwMode="auto">
          <a:xfrm>
            <a:off x="3313113" y="1725613"/>
            <a:ext cx="2522537" cy="1347787"/>
            <a:chOff x="3090863" y="1198563"/>
            <a:chExt cx="2522537" cy="1347787"/>
          </a:xfrm>
        </p:grpSpPr>
        <p:sp>
          <p:nvSpPr>
            <p:cNvPr id="10" name="Snip Same Side Corner Rectangle 18">
              <a:extLst>
                <a:ext uri="{FF2B5EF4-FFF2-40B4-BE49-F238E27FC236}">
                  <a16:creationId xmlns:a16="http://schemas.microsoft.com/office/drawing/2014/main" id="{7A371646-D4F1-478B-88F1-E920FB9334D1}"/>
                </a:ext>
              </a:extLst>
            </p:cNvPr>
            <p:cNvSpPr/>
            <p:nvPr/>
          </p:nvSpPr>
          <p:spPr>
            <a:xfrm rot="10800000">
              <a:off x="3090863" y="1198563"/>
              <a:ext cx="2522537" cy="1347787"/>
            </a:xfrm>
            <a:prstGeom prst="snip2SameRect">
              <a:avLst>
                <a:gd name="adj1" fmla="val 16667"/>
                <a:gd name="adj2" fmla="val 3378"/>
              </a:avLst>
            </a:prstGeom>
            <a:solidFill>
              <a:srgbClr val="00B050"/>
            </a:solidFill>
            <a:ln w="38100" cmpd="sng">
              <a:solidFill>
                <a:schemeClr val="accent4">
                  <a:lumMod val="7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TextBox 10">
              <a:extLst>
                <a:ext uri="{FF2B5EF4-FFF2-40B4-BE49-F238E27FC236}">
                  <a16:creationId xmlns:a16="http://schemas.microsoft.com/office/drawing/2014/main" id="{C908B9F4-B892-4D26-9C5B-D654310B5262}"/>
                </a:ext>
              </a:extLst>
            </p:cNvPr>
            <p:cNvSpPr txBox="1"/>
            <p:nvPr/>
          </p:nvSpPr>
          <p:spPr>
            <a:xfrm>
              <a:off x="3333750" y="1566863"/>
              <a:ext cx="2141538" cy="461962"/>
            </a:xfrm>
            <a:prstGeom prst="rect">
              <a:avLst/>
            </a:prstGeom>
            <a:noFill/>
            <a:effectLst>
              <a:outerShdw blurRad="50800" dist="38100" dir="5400000" algn="t" rotWithShape="0">
                <a:prstClr val="black">
                  <a:alpha val="40000"/>
                </a:prstClr>
              </a:outerShdw>
            </a:effectLst>
          </p:spPr>
          <p:txBody>
            <a:bodyPr>
              <a:spAutoFit/>
            </a:bodyPr>
            <a:lstStyle/>
            <a:p>
              <a:pPr>
                <a:defRPr/>
              </a:pPr>
              <a:r>
                <a:rPr lang="es-ES" sz="2400" b="1" dirty="0">
                  <a:solidFill>
                    <a:srgbClr val="FFFFFF"/>
                  </a:solidFill>
                </a:rPr>
                <a:t>IP </a:t>
              </a:r>
              <a:r>
                <a:rPr lang="en-GB" sz="2400" b="1" dirty="0">
                  <a:solidFill>
                    <a:srgbClr val="FFFFFF"/>
                  </a:solidFill>
                </a:rPr>
                <a:t>Address</a:t>
              </a:r>
            </a:p>
          </p:txBody>
        </p:sp>
      </p:grpSp>
      <p:grpSp>
        <p:nvGrpSpPr>
          <p:cNvPr id="12" name="Group 11">
            <a:extLst>
              <a:ext uri="{FF2B5EF4-FFF2-40B4-BE49-F238E27FC236}">
                <a16:creationId xmlns:a16="http://schemas.microsoft.com/office/drawing/2014/main" id="{7ACEC4DA-1538-42C7-A460-717531CA33EC}"/>
              </a:ext>
            </a:extLst>
          </p:cNvPr>
          <p:cNvGrpSpPr>
            <a:grpSpLocks/>
          </p:cNvGrpSpPr>
          <p:nvPr/>
        </p:nvGrpSpPr>
        <p:grpSpPr bwMode="auto">
          <a:xfrm flipH="1">
            <a:off x="5673725" y="2931084"/>
            <a:ext cx="2197725" cy="1157288"/>
            <a:chOff x="5711201" y="2952177"/>
            <a:chExt cx="2349500" cy="1157288"/>
          </a:xfrm>
        </p:grpSpPr>
        <p:sp>
          <p:nvSpPr>
            <p:cNvPr id="13" name="Snip Single Corner Rectangle 9">
              <a:extLst>
                <a:ext uri="{FF2B5EF4-FFF2-40B4-BE49-F238E27FC236}">
                  <a16:creationId xmlns:a16="http://schemas.microsoft.com/office/drawing/2014/main" id="{08675948-2F35-443F-A13C-45BDA6CB746F}"/>
                </a:ext>
              </a:extLst>
            </p:cNvPr>
            <p:cNvSpPr/>
            <p:nvPr/>
          </p:nvSpPr>
          <p:spPr bwMode="auto">
            <a:xfrm>
              <a:off x="5711201" y="2952177"/>
              <a:ext cx="2349500" cy="1157288"/>
            </a:xfrm>
            <a:prstGeom prst="snip1Rect">
              <a:avLst/>
            </a:prstGeom>
            <a:solidFill>
              <a:srgbClr val="FFFFFF"/>
            </a:solidFill>
            <a:ln w="38100">
              <a:solidFill>
                <a:schemeClr val="accent4">
                  <a:lumMod val="75000"/>
                  <a:alpha val="9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TextBox 19">
              <a:extLst>
                <a:ext uri="{FF2B5EF4-FFF2-40B4-BE49-F238E27FC236}">
                  <a16:creationId xmlns:a16="http://schemas.microsoft.com/office/drawing/2014/main" id="{838DE879-3D4D-4DF3-AEAC-8F0996E61EA6}"/>
                </a:ext>
              </a:extLst>
            </p:cNvPr>
            <p:cNvSpPr txBox="1">
              <a:spLocks noChangeArrowheads="1"/>
            </p:cNvSpPr>
            <p:nvPr/>
          </p:nvSpPr>
          <p:spPr bwMode="auto">
            <a:xfrm>
              <a:off x="5801689" y="3252215"/>
              <a:ext cx="2233612" cy="646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r>
                <a:rPr lang="en-GB" b="1" dirty="0">
                  <a:solidFill>
                    <a:schemeClr val="accent4">
                      <a:lumMod val="75000"/>
                    </a:schemeClr>
                  </a:solidFill>
                </a:rPr>
                <a:t>Manually Assignment</a:t>
              </a:r>
            </a:p>
          </p:txBody>
        </p:sp>
      </p:grpSp>
    </p:spTree>
    <p:extLst>
      <p:ext uri="{BB962C8B-B14F-4D97-AF65-F5344CB8AC3E}">
        <p14:creationId xmlns:p14="http://schemas.microsoft.com/office/powerpoint/2010/main" val="3836547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D4C99-536C-4F6C-81F6-DCA6199779E7}"/>
              </a:ext>
            </a:extLst>
          </p:cNvPr>
          <p:cNvSpPr>
            <a:spLocks noGrp="1"/>
          </p:cNvSpPr>
          <p:nvPr>
            <p:ph type="title"/>
          </p:nvPr>
        </p:nvSpPr>
        <p:spPr/>
        <p:txBody>
          <a:bodyPr/>
          <a:lstStyle/>
          <a:p>
            <a:r>
              <a:rPr lang="en-GB" dirty="0"/>
              <a:t>Parameters of the IP Router</a:t>
            </a:r>
            <a:endParaRPr lang="es-ES" dirty="0"/>
          </a:p>
        </p:txBody>
      </p:sp>
      <p:grpSp>
        <p:nvGrpSpPr>
          <p:cNvPr id="3" name="Group 2">
            <a:extLst>
              <a:ext uri="{FF2B5EF4-FFF2-40B4-BE49-F238E27FC236}">
                <a16:creationId xmlns:a16="http://schemas.microsoft.com/office/drawing/2014/main" id="{B53A9D4E-D8DC-4D62-BB6F-5685BB34421E}"/>
              </a:ext>
            </a:extLst>
          </p:cNvPr>
          <p:cNvGrpSpPr>
            <a:grpSpLocks/>
          </p:cNvGrpSpPr>
          <p:nvPr/>
        </p:nvGrpSpPr>
        <p:grpSpPr bwMode="auto">
          <a:xfrm>
            <a:off x="343310" y="1679393"/>
            <a:ext cx="3780606" cy="2438912"/>
            <a:chOff x="431724" y="1788440"/>
            <a:chExt cx="3693793" cy="2063750"/>
          </a:xfrm>
          <a:solidFill>
            <a:srgbClr val="00B050"/>
          </a:solidFill>
        </p:grpSpPr>
        <p:sp>
          <p:nvSpPr>
            <p:cNvPr id="4" name="Pentagon 10">
              <a:extLst>
                <a:ext uri="{FF2B5EF4-FFF2-40B4-BE49-F238E27FC236}">
                  <a16:creationId xmlns:a16="http://schemas.microsoft.com/office/drawing/2014/main" id="{6D269A86-680E-46D5-97D6-3264CCC5C432}"/>
                </a:ext>
              </a:extLst>
            </p:cNvPr>
            <p:cNvSpPr/>
            <p:nvPr/>
          </p:nvSpPr>
          <p:spPr>
            <a:xfrm>
              <a:off x="431724" y="1788440"/>
              <a:ext cx="3693793" cy="2063750"/>
            </a:xfrm>
            <a:prstGeom prst="homePlate">
              <a:avLst/>
            </a:prstGeom>
            <a:grpFill/>
            <a:ln>
              <a:solidFill>
                <a:schemeClr val="accent4">
                  <a:lumMod val="75000"/>
                </a:schemeClr>
              </a:solidFill>
            </a:ln>
            <a:effectLst>
              <a:glow rad="63500">
                <a:schemeClr val="accent4">
                  <a:satMod val="175000"/>
                  <a:alpha val="40000"/>
                </a:schemeClr>
              </a:glow>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 name="TextBox 4">
              <a:extLst>
                <a:ext uri="{FF2B5EF4-FFF2-40B4-BE49-F238E27FC236}">
                  <a16:creationId xmlns:a16="http://schemas.microsoft.com/office/drawing/2014/main" id="{79F303A6-5F34-41C2-8FB4-11B0F2BD1058}"/>
                </a:ext>
              </a:extLst>
            </p:cNvPr>
            <p:cNvSpPr txBox="1"/>
            <p:nvPr/>
          </p:nvSpPr>
          <p:spPr>
            <a:xfrm>
              <a:off x="465059" y="1972590"/>
              <a:ext cx="2622323" cy="338554"/>
            </a:xfrm>
            <a:prstGeom prst="rect">
              <a:avLst/>
            </a:prstGeom>
            <a:grpFill/>
          </p:spPr>
          <p:txBody>
            <a:bodyPr>
              <a:spAutoFit/>
            </a:bodyPr>
            <a:lstStyle/>
            <a:p>
              <a:pPr algn="ctr">
                <a:defRPr/>
              </a:pPr>
              <a:r>
                <a:rPr lang="es-ES" sz="1600" b="1" dirty="0">
                  <a:solidFill>
                    <a:schemeClr val="accent3"/>
                  </a:solidFill>
                </a:rPr>
                <a:t>“General”</a:t>
              </a:r>
              <a:endParaRPr lang="en-US" sz="1600" b="1" dirty="0">
                <a:solidFill>
                  <a:schemeClr val="accent3"/>
                </a:solidFill>
              </a:endParaRPr>
            </a:p>
          </p:txBody>
        </p:sp>
      </p:grpSp>
      <p:sp>
        <p:nvSpPr>
          <p:cNvPr id="6" name="Rectangle 5">
            <a:extLst>
              <a:ext uri="{FF2B5EF4-FFF2-40B4-BE49-F238E27FC236}">
                <a16:creationId xmlns:a16="http://schemas.microsoft.com/office/drawing/2014/main" id="{C429A1C3-A297-4FBA-9B6B-6953054AD142}"/>
              </a:ext>
            </a:extLst>
          </p:cNvPr>
          <p:cNvSpPr/>
          <p:nvPr/>
        </p:nvSpPr>
        <p:spPr>
          <a:xfrm>
            <a:off x="361950" y="2242649"/>
            <a:ext cx="3382963" cy="1570038"/>
          </a:xfrm>
          <a:prstGeom prst="rect">
            <a:avLst/>
          </a:prstGeom>
        </p:spPr>
        <p:txBody>
          <a:bodyPr>
            <a:spAutoFit/>
          </a:bodyPr>
          <a:lstStyle/>
          <a:p>
            <a:pPr>
              <a:defRPr/>
            </a:pPr>
            <a:r>
              <a:rPr lang="en-US" sz="1600" dirty="0">
                <a:solidFill>
                  <a:schemeClr val="accent3"/>
                </a:solidFill>
              </a:rPr>
              <a:t>Assign a device name to the IP router </a:t>
            </a:r>
            <a:r>
              <a:rPr lang="es-ES" sz="1600" dirty="0">
                <a:solidFill>
                  <a:schemeClr val="accent3"/>
                </a:solidFill>
              </a:rPr>
              <a:t>.</a:t>
            </a:r>
          </a:p>
          <a:p>
            <a:pPr>
              <a:defRPr/>
            </a:pPr>
            <a:endParaRPr lang="es-ES" sz="1600" dirty="0">
              <a:solidFill>
                <a:schemeClr val="accent3"/>
              </a:solidFill>
            </a:endParaRPr>
          </a:p>
          <a:p>
            <a:pPr>
              <a:defRPr/>
            </a:pPr>
            <a:r>
              <a:rPr lang="es-ES" sz="1600" dirty="0">
                <a:solidFill>
                  <a:schemeClr val="accent3"/>
                </a:solidFill>
              </a:rPr>
              <a:t>Used </a:t>
            </a:r>
            <a:r>
              <a:rPr lang="en-GB" sz="1600" dirty="0">
                <a:solidFill>
                  <a:schemeClr val="accent3"/>
                </a:solidFill>
              </a:rPr>
              <a:t>for: </a:t>
            </a:r>
          </a:p>
          <a:p>
            <a:pPr marL="342900" indent="-342900">
              <a:buFontTx/>
              <a:buAutoNum type="arabicPeriod"/>
              <a:defRPr/>
            </a:pPr>
            <a:r>
              <a:rPr lang="en-GB" sz="1600" dirty="0">
                <a:solidFill>
                  <a:schemeClr val="accent3"/>
                </a:solidFill>
              </a:rPr>
              <a:t>Find a device</a:t>
            </a:r>
          </a:p>
          <a:p>
            <a:pPr marL="342900" indent="-342900">
              <a:buFontTx/>
              <a:buAutoNum type="arabicPeriod"/>
              <a:defRPr/>
            </a:pPr>
            <a:r>
              <a:rPr lang="en-GB" sz="1600" dirty="0">
                <a:solidFill>
                  <a:schemeClr val="accent3"/>
                </a:solidFill>
              </a:rPr>
              <a:t>Connect installations</a:t>
            </a:r>
          </a:p>
        </p:txBody>
      </p:sp>
      <p:grpSp>
        <p:nvGrpSpPr>
          <p:cNvPr id="7" name="Group 6">
            <a:extLst>
              <a:ext uri="{FF2B5EF4-FFF2-40B4-BE49-F238E27FC236}">
                <a16:creationId xmlns:a16="http://schemas.microsoft.com/office/drawing/2014/main" id="{6B03ACEA-33CC-47F8-AE0D-F634A25ECDE1}"/>
              </a:ext>
            </a:extLst>
          </p:cNvPr>
          <p:cNvGrpSpPr>
            <a:grpSpLocks/>
          </p:cNvGrpSpPr>
          <p:nvPr/>
        </p:nvGrpSpPr>
        <p:grpSpPr bwMode="auto">
          <a:xfrm>
            <a:off x="4866640" y="1680981"/>
            <a:ext cx="3868195" cy="2437324"/>
            <a:chOff x="5108257" y="1791204"/>
            <a:chExt cx="3714432" cy="2063750"/>
          </a:xfrm>
          <a:solidFill>
            <a:srgbClr val="0070C0"/>
          </a:solidFill>
        </p:grpSpPr>
        <p:sp>
          <p:nvSpPr>
            <p:cNvPr id="8" name="Pentagon 11">
              <a:extLst>
                <a:ext uri="{FF2B5EF4-FFF2-40B4-BE49-F238E27FC236}">
                  <a16:creationId xmlns:a16="http://schemas.microsoft.com/office/drawing/2014/main" id="{6CECDC9F-7DF1-41CC-A1A0-B7DC769BB728}"/>
                </a:ext>
              </a:extLst>
            </p:cNvPr>
            <p:cNvSpPr/>
            <p:nvPr/>
          </p:nvSpPr>
          <p:spPr>
            <a:xfrm flipH="1">
              <a:off x="5108257" y="1791204"/>
              <a:ext cx="3714432" cy="2063750"/>
            </a:xfrm>
            <a:prstGeom prst="homePlate">
              <a:avLst/>
            </a:prstGeom>
            <a:grpFill/>
            <a:ln>
              <a:solidFill>
                <a:schemeClr val="accent4">
                  <a:lumMod val="75000"/>
                </a:schemeClr>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TextBox 8">
              <a:extLst>
                <a:ext uri="{FF2B5EF4-FFF2-40B4-BE49-F238E27FC236}">
                  <a16:creationId xmlns:a16="http://schemas.microsoft.com/office/drawing/2014/main" id="{F481A049-034B-42F3-AA2D-A2A8A76D6AED}"/>
                </a:ext>
              </a:extLst>
            </p:cNvPr>
            <p:cNvSpPr txBox="1"/>
            <p:nvPr/>
          </p:nvSpPr>
          <p:spPr>
            <a:xfrm>
              <a:off x="6105122" y="2084892"/>
              <a:ext cx="2717567" cy="338554"/>
            </a:xfrm>
            <a:prstGeom prst="rect">
              <a:avLst/>
            </a:prstGeom>
            <a:grpFill/>
          </p:spPr>
          <p:txBody>
            <a:bodyPr>
              <a:spAutoFit/>
            </a:bodyPr>
            <a:lstStyle/>
            <a:p>
              <a:pPr algn="ctr">
                <a:defRPr/>
              </a:pPr>
              <a:r>
                <a:rPr lang="es-ES" sz="1600" b="1" dirty="0">
                  <a:solidFill>
                    <a:schemeClr val="accent3"/>
                  </a:solidFill>
                </a:rPr>
                <a:t>“IP </a:t>
              </a:r>
              <a:r>
                <a:rPr lang="es-ES" sz="1600" b="1" dirty="0" err="1">
                  <a:solidFill>
                    <a:schemeClr val="accent3"/>
                  </a:solidFill>
                </a:rPr>
                <a:t>Settings</a:t>
              </a:r>
              <a:r>
                <a:rPr lang="es-ES" sz="1600" b="1" dirty="0">
                  <a:solidFill>
                    <a:schemeClr val="accent3"/>
                  </a:solidFill>
                </a:rPr>
                <a:t>”</a:t>
              </a:r>
              <a:endParaRPr lang="en-US" sz="1600" b="1" dirty="0">
                <a:solidFill>
                  <a:schemeClr val="accent3"/>
                </a:solidFill>
              </a:endParaRPr>
            </a:p>
          </p:txBody>
        </p:sp>
      </p:grpSp>
      <p:sp>
        <p:nvSpPr>
          <p:cNvPr id="10" name="Rectangle 9">
            <a:extLst>
              <a:ext uri="{FF2B5EF4-FFF2-40B4-BE49-F238E27FC236}">
                <a16:creationId xmlns:a16="http://schemas.microsoft.com/office/drawing/2014/main" id="{87C35A10-B754-42F0-B9AB-04F69A359684}"/>
              </a:ext>
            </a:extLst>
          </p:cNvPr>
          <p:cNvSpPr/>
          <p:nvPr/>
        </p:nvSpPr>
        <p:spPr>
          <a:xfrm>
            <a:off x="5935663" y="2487124"/>
            <a:ext cx="2798762" cy="830263"/>
          </a:xfrm>
          <a:prstGeom prst="rect">
            <a:avLst/>
          </a:prstGeom>
        </p:spPr>
        <p:txBody>
          <a:bodyPr>
            <a:spAutoFit/>
          </a:bodyPr>
          <a:lstStyle/>
          <a:p>
            <a:pPr algn="ctr">
              <a:defRPr/>
            </a:pPr>
            <a:r>
              <a:rPr lang="en-US" sz="1600" dirty="0">
                <a:solidFill>
                  <a:schemeClr val="accent3"/>
                </a:solidFill>
              </a:rPr>
              <a:t>Used for setting IP data such as IP addresses, subnet masks.</a:t>
            </a:r>
            <a:endParaRPr lang="es-ES" sz="1600" dirty="0">
              <a:solidFill>
                <a:schemeClr val="accent3"/>
              </a:solidFill>
            </a:endParaRPr>
          </a:p>
        </p:txBody>
      </p:sp>
      <p:grpSp>
        <p:nvGrpSpPr>
          <p:cNvPr id="11" name="Group 10">
            <a:extLst>
              <a:ext uri="{FF2B5EF4-FFF2-40B4-BE49-F238E27FC236}">
                <a16:creationId xmlns:a16="http://schemas.microsoft.com/office/drawing/2014/main" id="{DF5B2B12-DEA0-4533-93AF-B859C6FD710F}"/>
              </a:ext>
            </a:extLst>
          </p:cNvPr>
          <p:cNvGrpSpPr>
            <a:grpSpLocks/>
          </p:cNvGrpSpPr>
          <p:nvPr/>
        </p:nvGrpSpPr>
        <p:grpSpPr bwMode="auto">
          <a:xfrm>
            <a:off x="2915816" y="2860374"/>
            <a:ext cx="3155951" cy="3376938"/>
            <a:chOff x="3040868" y="2764316"/>
            <a:chExt cx="3156004" cy="3694248"/>
          </a:xfrm>
          <a:solidFill>
            <a:schemeClr val="bg2">
              <a:lumMod val="60000"/>
              <a:lumOff val="40000"/>
            </a:schemeClr>
          </a:solidFill>
        </p:grpSpPr>
        <p:sp>
          <p:nvSpPr>
            <p:cNvPr id="12" name="Pentagon 5">
              <a:extLst>
                <a:ext uri="{FF2B5EF4-FFF2-40B4-BE49-F238E27FC236}">
                  <a16:creationId xmlns:a16="http://schemas.microsoft.com/office/drawing/2014/main" id="{9B38A1E1-3593-46BE-BDE1-E6D378507B98}"/>
                </a:ext>
              </a:extLst>
            </p:cNvPr>
            <p:cNvSpPr/>
            <p:nvPr/>
          </p:nvSpPr>
          <p:spPr>
            <a:xfrm rot="16200000">
              <a:off x="2771746" y="3033438"/>
              <a:ext cx="3694248" cy="3156003"/>
            </a:xfrm>
            <a:prstGeom prst="homePlate">
              <a:avLst/>
            </a:prstGeom>
            <a:grpFill/>
            <a:ln>
              <a:solidFill>
                <a:srgbClr val="00B050"/>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TextBox 12">
              <a:extLst>
                <a:ext uri="{FF2B5EF4-FFF2-40B4-BE49-F238E27FC236}">
                  <a16:creationId xmlns:a16="http://schemas.microsoft.com/office/drawing/2014/main" id="{A11FE165-8551-4D08-A842-212EAD918A77}"/>
                </a:ext>
              </a:extLst>
            </p:cNvPr>
            <p:cNvSpPr txBox="1"/>
            <p:nvPr/>
          </p:nvSpPr>
          <p:spPr>
            <a:xfrm>
              <a:off x="3086908" y="4413789"/>
              <a:ext cx="3109964" cy="584797"/>
            </a:xfrm>
            <a:prstGeom prst="rect">
              <a:avLst/>
            </a:prstGeom>
            <a:grpFill/>
          </p:spPr>
          <p:txBody>
            <a:bodyPr>
              <a:spAutoFit/>
            </a:bodyPr>
            <a:lstStyle/>
            <a:p>
              <a:pPr algn="ctr">
                <a:defRPr/>
              </a:pPr>
              <a:r>
                <a:rPr lang="es-ES" sz="1600" b="1" dirty="0">
                  <a:solidFill>
                    <a:schemeClr val="bg2">
                      <a:lumMod val="10000"/>
                    </a:schemeClr>
                  </a:solidFill>
                </a:rPr>
                <a:t>“</a:t>
              </a:r>
              <a:r>
                <a:rPr lang="en-GB" sz="1600" b="1" dirty="0">
                  <a:solidFill>
                    <a:schemeClr val="bg2">
                      <a:lumMod val="10000"/>
                    </a:schemeClr>
                  </a:solidFill>
                </a:rPr>
                <a:t>Routing Bus → </a:t>
              </a:r>
              <a:r>
                <a:rPr lang="en-GB" sz="1600" b="1" dirty="0" err="1">
                  <a:solidFill>
                    <a:schemeClr val="bg2">
                      <a:lumMod val="10000"/>
                    </a:schemeClr>
                  </a:solidFill>
                </a:rPr>
                <a:t>KNXnet</a:t>
              </a:r>
              <a:r>
                <a:rPr lang="en-GB" sz="1600" b="1" dirty="0">
                  <a:solidFill>
                    <a:schemeClr val="bg2">
                      <a:lumMod val="10000"/>
                    </a:schemeClr>
                  </a:solidFill>
                </a:rPr>
                <a:t>/IP</a:t>
              </a:r>
              <a:r>
                <a:rPr lang="es-ES" sz="1600" b="1" dirty="0">
                  <a:solidFill>
                    <a:schemeClr val="bg2">
                      <a:lumMod val="10000"/>
                    </a:schemeClr>
                  </a:solidFill>
                </a:rPr>
                <a:t>”</a:t>
              </a:r>
            </a:p>
            <a:p>
              <a:pPr algn="ctr">
                <a:defRPr/>
              </a:pPr>
              <a:r>
                <a:rPr lang="es-ES" sz="1600" b="1" dirty="0">
                  <a:solidFill>
                    <a:schemeClr val="bg2">
                      <a:lumMod val="10000"/>
                    </a:schemeClr>
                  </a:solidFill>
                </a:rPr>
                <a:t>“</a:t>
              </a:r>
              <a:r>
                <a:rPr lang="en-GB" sz="1600" b="1" dirty="0">
                  <a:solidFill>
                    <a:schemeClr val="bg2">
                      <a:lumMod val="10000"/>
                    </a:schemeClr>
                  </a:solidFill>
                </a:rPr>
                <a:t>Routing </a:t>
              </a:r>
              <a:r>
                <a:rPr lang="en-GB" sz="1600" b="1" dirty="0" err="1">
                  <a:solidFill>
                    <a:schemeClr val="bg2">
                      <a:lumMod val="10000"/>
                    </a:schemeClr>
                  </a:solidFill>
                </a:rPr>
                <a:t>KNXnet</a:t>
              </a:r>
              <a:r>
                <a:rPr lang="en-GB" sz="1600" b="1" dirty="0">
                  <a:solidFill>
                    <a:schemeClr val="bg2">
                      <a:lumMod val="10000"/>
                    </a:schemeClr>
                  </a:solidFill>
                </a:rPr>
                <a:t>/IP → Bus”</a:t>
              </a:r>
              <a:endParaRPr lang="es-ES" sz="1600" b="1" dirty="0">
                <a:solidFill>
                  <a:schemeClr val="bg2">
                    <a:lumMod val="10000"/>
                  </a:schemeClr>
                </a:solidFill>
              </a:endParaRPr>
            </a:p>
          </p:txBody>
        </p:sp>
      </p:grpSp>
      <p:sp>
        <p:nvSpPr>
          <p:cNvPr id="14" name="Rectangle 13">
            <a:extLst>
              <a:ext uri="{FF2B5EF4-FFF2-40B4-BE49-F238E27FC236}">
                <a16:creationId xmlns:a16="http://schemas.microsoft.com/office/drawing/2014/main" id="{63FA729A-5E1C-4E5B-9449-9D14458A4FAC}"/>
              </a:ext>
            </a:extLst>
          </p:cNvPr>
          <p:cNvSpPr/>
          <p:nvPr/>
        </p:nvSpPr>
        <p:spPr>
          <a:xfrm>
            <a:off x="2951163" y="5201749"/>
            <a:ext cx="3157537" cy="831850"/>
          </a:xfrm>
          <a:prstGeom prst="rect">
            <a:avLst/>
          </a:prstGeom>
        </p:spPr>
        <p:txBody>
          <a:bodyPr>
            <a:spAutoFit/>
          </a:bodyPr>
          <a:lstStyle/>
          <a:p>
            <a:pPr>
              <a:defRPr/>
            </a:pPr>
            <a:r>
              <a:rPr lang="es-ES" sz="1600" dirty="0">
                <a:solidFill>
                  <a:schemeClr val="bg2">
                    <a:lumMod val="10000"/>
                  </a:schemeClr>
                </a:solidFill>
              </a:rPr>
              <a:t>Sets:</a:t>
            </a:r>
            <a:endParaRPr lang="en-GB" sz="1600" dirty="0">
              <a:solidFill>
                <a:schemeClr val="bg2">
                  <a:lumMod val="10000"/>
                </a:schemeClr>
              </a:solidFill>
            </a:endParaRPr>
          </a:p>
          <a:p>
            <a:pPr marL="342900" indent="-342900">
              <a:buFontTx/>
              <a:buAutoNum type="arabicPeriod"/>
              <a:defRPr/>
            </a:pPr>
            <a:r>
              <a:rPr lang="en-GB" sz="1600" dirty="0">
                <a:solidFill>
                  <a:schemeClr val="bg2">
                    <a:lumMod val="10000"/>
                  </a:schemeClr>
                </a:solidFill>
              </a:rPr>
              <a:t>Filter behaviour</a:t>
            </a:r>
          </a:p>
          <a:p>
            <a:pPr marL="342900" indent="-342900">
              <a:buFontTx/>
              <a:buAutoNum type="arabicPeriod"/>
              <a:defRPr/>
            </a:pPr>
            <a:r>
              <a:rPr lang="en-GB" sz="1600" dirty="0">
                <a:solidFill>
                  <a:schemeClr val="bg2">
                    <a:lumMod val="10000"/>
                  </a:schemeClr>
                </a:solidFill>
              </a:rPr>
              <a:t>Telegram confirmation</a:t>
            </a:r>
          </a:p>
        </p:txBody>
      </p:sp>
    </p:spTree>
    <p:extLst>
      <p:ext uri="{BB962C8B-B14F-4D97-AF65-F5344CB8AC3E}">
        <p14:creationId xmlns:p14="http://schemas.microsoft.com/office/powerpoint/2010/main" val="3605167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9817A7-B110-4D02-9B3F-1041862CA603}"/>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pPr>
            <a:r>
              <a:rPr lang="en-GB" sz="2800" b="1" dirty="0">
                <a:solidFill>
                  <a:srgbClr val="0C4B9D"/>
                </a:solidFill>
                <a:latin typeface="+mj-lt"/>
                <a:ea typeface="+mj-ea"/>
                <a:cs typeface="+mj-cs"/>
              </a:rPr>
              <a:t>Supplementary</a:t>
            </a:r>
            <a:r>
              <a:rPr lang="de-DE" sz="2800" b="1" dirty="0">
                <a:solidFill>
                  <a:srgbClr val="0C4B9D"/>
                </a:solidFill>
                <a:latin typeface="+mj-lt"/>
                <a:ea typeface="+mj-ea"/>
                <a:cs typeface="+mj-cs"/>
              </a:rPr>
              <a:t> Information / Informative Appendix</a:t>
            </a:r>
            <a:endParaRPr lang="es-ES" sz="2800" b="1" dirty="0">
              <a:solidFill>
                <a:srgbClr val="0C4B9D"/>
              </a:solidFill>
              <a:latin typeface="+mj-lt"/>
              <a:ea typeface="+mj-ea"/>
              <a:cs typeface="+mj-cs"/>
            </a:endParaRPr>
          </a:p>
        </p:txBody>
      </p:sp>
    </p:spTree>
    <p:extLst>
      <p:ext uri="{BB962C8B-B14F-4D97-AF65-F5344CB8AC3E}">
        <p14:creationId xmlns:p14="http://schemas.microsoft.com/office/powerpoint/2010/main" val="2235014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2986-009B-4FE3-B91D-0B0EB9974D1F}"/>
              </a:ext>
            </a:extLst>
          </p:cNvPr>
          <p:cNvSpPr>
            <a:spLocks noGrp="1"/>
          </p:cNvSpPr>
          <p:nvPr>
            <p:ph type="title"/>
          </p:nvPr>
        </p:nvSpPr>
        <p:spPr/>
        <p:txBody>
          <a:bodyPr/>
          <a:lstStyle/>
          <a:p>
            <a:r>
              <a:rPr lang="en-GB" dirty="0"/>
              <a:t>Couplers for Powerline Installations</a:t>
            </a:r>
            <a:endParaRPr lang="es-ES" dirty="0"/>
          </a:p>
        </p:txBody>
      </p:sp>
      <p:pic>
        <p:nvPicPr>
          <p:cNvPr id="4" name="Picture 4">
            <a:extLst>
              <a:ext uri="{FF2B5EF4-FFF2-40B4-BE49-F238E27FC236}">
                <a16:creationId xmlns:a16="http://schemas.microsoft.com/office/drawing/2014/main" id="{924D75E2-4793-43A4-BD03-53DA6B5E378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27029" y="1341190"/>
            <a:ext cx="6289941"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6312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2986-009B-4FE3-B91D-0B0EB9974D1F}"/>
              </a:ext>
            </a:extLst>
          </p:cNvPr>
          <p:cNvSpPr>
            <a:spLocks noGrp="1"/>
          </p:cNvSpPr>
          <p:nvPr>
            <p:ph type="title"/>
          </p:nvPr>
        </p:nvSpPr>
        <p:spPr>
          <a:xfrm>
            <a:off x="900113" y="476250"/>
            <a:ext cx="6696223" cy="719138"/>
          </a:xfrm>
        </p:spPr>
        <p:txBody>
          <a:bodyPr/>
          <a:lstStyle/>
          <a:p>
            <a:r>
              <a:rPr lang="en-US" dirty="0"/>
              <a:t>Structure of the TP-PL Media Coupler</a:t>
            </a:r>
            <a:endParaRPr lang="es-ES" dirty="0"/>
          </a:p>
        </p:txBody>
      </p:sp>
      <p:pic>
        <p:nvPicPr>
          <p:cNvPr id="3" name="Picture 2">
            <a:extLst>
              <a:ext uri="{FF2B5EF4-FFF2-40B4-BE49-F238E27FC236}">
                <a16:creationId xmlns:a16="http://schemas.microsoft.com/office/drawing/2014/main" id="{789484B1-FD93-48DC-8BF7-5C8397F4EA0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44208" y="1628800"/>
            <a:ext cx="2520280" cy="2559923"/>
          </a:xfrm>
          <a:prstGeom prst="rect">
            <a:avLst/>
          </a:prstGeom>
          <a:noFill/>
          <a:ln>
            <a:noFill/>
          </a:ln>
        </p:spPr>
      </p:pic>
      <p:sp>
        <p:nvSpPr>
          <p:cNvPr id="4" name="Content Placeholder 1">
            <a:extLst>
              <a:ext uri="{FF2B5EF4-FFF2-40B4-BE49-F238E27FC236}">
                <a16:creationId xmlns:a16="http://schemas.microsoft.com/office/drawing/2014/main" id="{6E32D2C4-8190-4E96-AEFE-4A245FAB4351}"/>
              </a:ext>
            </a:extLst>
          </p:cNvPr>
          <p:cNvSpPr txBox="1">
            <a:spLocks/>
          </p:cNvSpPr>
          <p:nvPr/>
        </p:nvSpPr>
        <p:spPr>
          <a:xfrm>
            <a:off x="971600" y="1412875"/>
            <a:ext cx="727280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None/>
            </a:pPr>
            <a:r>
              <a:rPr lang="en-US" sz="2000" kern="0" dirty="0">
                <a:solidFill>
                  <a:srgbClr val="00B050"/>
                </a:solidFill>
              </a:rPr>
              <a:t>Contains:</a:t>
            </a:r>
          </a:p>
          <a:p>
            <a:pPr>
              <a:lnSpc>
                <a:spcPct val="150000"/>
              </a:lnSpc>
            </a:pPr>
            <a:r>
              <a:rPr lang="en-US" sz="2000" b="1" kern="0" dirty="0">
                <a:solidFill>
                  <a:schemeClr val="tx1"/>
                </a:solidFill>
              </a:rPr>
              <a:t>Powerline Repeater</a:t>
            </a:r>
          </a:p>
          <a:p>
            <a:pPr>
              <a:lnSpc>
                <a:spcPct val="150000"/>
              </a:lnSpc>
            </a:pPr>
            <a:r>
              <a:rPr lang="en-US" sz="2000" b="1" kern="0" dirty="0">
                <a:solidFill>
                  <a:schemeClr val="tx1"/>
                </a:solidFill>
              </a:rPr>
              <a:t>TP Bus coupler with a special BCU</a:t>
            </a:r>
          </a:p>
          <a:p>
            <a:pPr>
              <a:lnSpc>
                <a:spcPct val="150000"/>
              </a:lnSpc>
            </a:pPr>
            <a:r>
              <a:rPr lang="en-US" sz="2000" b="1" kern="0" dirty="0">
                <a:solidFill>
                  <a:schemeClr val="tx1"/>
                </a:solidFill>
              </a:rPr>
              <a:t>Power supply for up to five TP devices</a:t>
            </a:r>
          </a:p>
          <a:p>
            <a:pPr lvl="1"/>
            <a:endParaRPr lang="en-US" sz="2000" kern="0" dirty="0">
              <a:solidFill>
                <a:schemeClr val="tx1"/>
              </a:solidFill>
            </a:endParaRPr>
          </a:p>
          <a:p>
            <a:pPr marL="0" indent="0">
              <a:buFont typeface="Wingdings" pitchFamily="2" charset="2"/>
              <a:buNone/>
            </a:pPr>
            <a:endParaRPr lang="en-US" sz="2400" kern="0" dirty="0"/>
          </a:p>
          <a:p>
            <a:pPr marL="0" indent="0">
              <a:buFont typeface="Wingdings" pitchFamily="2" charset="2"/>
              <a:buNone/>
            </a:pPr>
            <a:endParaRPr lang="en-US" sz="800" kern="0" dirty="0"/>
          </a:p>
          <a:p>
            <a:pPr algn="just">
              <a:lnSpc>
                <a:spcPct val="150000"/>
              </a:lnSpc>
              <a:defRPr/>
            </a:pPr>
            <a:r>
              <a:rPr lang="en-US" sz="2000" dirty="0">
                <a:solidFill>
                  <a:schemeClr val="bg2">
                    <a:lumMod val="10000"/>
                  </a:schemeClr>
                </a:solidFill>
                <a:latin typeface="Arial" panose="020B0604020202020204" pitchFamily="34" charset="0"/>
                <a:cs typeface="Arial" panose="020B0604020202020204" pitchFamily="34" charset="0"/>
              </a:rPr>
              <a:t>Media coupler functions simultaneously as a repeater</a:t>
            </a:r>
          </a:p>
          <a:p>
            <a:pPr algn="just">
              <a:lnSpc>
                <a:spcPct val="150000"/>
              </a:lnSpc>
              <a:defRPr/>
            </a:pPr>
            <a:r>
              <a:rPr lang="en-US" sz="2000" dirty="0">
                <a:solidFill>
                  <a:schemeClr val="bg2">
                    <a:lumMod val="10000"/>
                  </a:schemeClr>
                </a:solidFill>
                <a:latin typeface="Arial" panose="020B0604020202020204" pitchFamily="34" charset="0"/>
                <a:cs typeface="Arial" panose="020B0604020202020204" pitchFamily="34" charset="0"/>
              </a:rPr>
              <a:t>The data interface must always be inserted in the same medium as the device that is to be programmed</a:t>
            </a:r>
          </a:p>
        </p:txBody>
      </p:sp>
    </p:spTree>
    <p:extLst>
      <p:ext uri="{BB962C8B-B14F-4D97-AF65-F5344CB8AC3E}">
        <p14:creationId xmlns:p14="http://schemas.microsoft.com/office/powerpoint/2010/main" val="1373639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AD258-9F8D-4148-98DE-2AA6A36C3C59}"/>
              </a:ext>
            </a:extLst>
          </p:cNvPr>
          <p:cNvSpPr>
            <a:spLocks noGrp="1"/>
          </p:cNvSpPr>
          <p:nvPr>
            <p:ph type="title"/>
          </p:nvPr>
        </p:nvSpPr>
        <p:spPr/>
        <p:txBody>
          <a:bodyPr/>
          <a:lstStyle/>
          <a:p>
            <a:r>
              <a:rPr lang="en-GB" dirty="0"/>
              <a:t>Couplers for RF Installations</a:t>
            </a:r>
          </a:p>
        </p:txBody>
      </p:sp>
      <p:pic>
        <p:nvPicPr>
          <p:cNvPr id="3" name="Picture 2">
            <a:extLst>
              <a:ext uri="{FF2B5EF4-FFF2-40B4-BE49-F238E27FC236}">
                <a16:creationId xmlns:a16="http://schemas.microsoft.com/office/drawing/2014/main" id="{FD25AA8D-8885-7B83-1C16-4D70308EB3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91593" y="1230479"/>
            <a:ext cx="74676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27189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6465</TotalTime>
  <Words>7000</Words>
  <Application>Microsoft Office PowerPoint</Application>
  <PresentationFormat>On-screen Show (4:3)</PresentationFormat>
  <Paragraphs>631</Paragraphs>
  <Slides>29</Slides>
  <Notes>29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8" baseType="lpstr">
      <vt:lpstr>ＭＳ Ｐゴシック</vt:lpstr>
      <vt:lpstr>Arial</vt:lpstr>
      <vt:lpstr>Bahnschrift</vt:lpstr>
      <vt:lpstr>Calibri</vt:lpstr>
      <vt:lpstr>Gotham Light</vt:lpstr>
      <vt:lpstr>Gotham Medium</vt:lpstr>
      <vt:lpstr>Wingdings</vt:lpstr>
      <vt:lpstr>Training 2</vt:lpstr>
      <vt:lpstr>Microsoft Visio Drawing</vt:lpstr>
      <vt:lpstr>KNX Advanced Course</vt:lpstr>
      <vt:lpstr>Couplers</vt:lpstr>
      <vt:lpstr>Type of Couplers</vt:lpstr>
      <vt:lpstr>Couplers vs gateways</vt:lpstr>
      <vt:lpstr>TP1 Coupler</vt:lpstr>
      <vt:lpstr>TP-TP Coupler – Old and New Design</vt:lpstr>
      <vt:lpstr>Parameters of Couplers</vt:lpstr>
      <vt:lpstr>Special Configuration Use cases</vt:lpstr>
      <vt:lpstr>Parameters of Line Repeaters</vt:lpstr>
      <vt:lpstr>Routing</vt:lpstr>
      <vt:lpstr>Routing for Physically Addressed Telegrams</vt:lpstr>
      <vt:lpstr>Routing for Group Telegrams </vt:lpstr>
      <vt:lpstr>Telegram Transmission “Step by Step”</vt:lpstr>
      <vt:lpstr>PowerPoint Presentation</vt:lpstr>
      <vt:lpstr>Remarks </vt:lpstr>
      <vt:lpstr>Editing the Filter Table</vt:lpstr>
      <vt:lpstr>Media Couplers</vt:lpstr>
      <vt:lpstr>TP-IP Router</vt:lpstr>
      <vt:lpstr>TP-IP Router: main features</vt:lpstr>
      <vt:lpstr>IP Router as Backbone Coupler</vt:lpstr>
      <vt:lpstr>IP Router as Line Coupler</vt:lpstr>
      <vt:lpstr>IP Router as Line and Backbone Coupler</vt:lpstr>
      <vt:lpstr>IP Router as Backbone/Network Coupler</vt:lpstr>
      <vt:lpstr>Network Settings</vt:lpstr>
      <vt:lpstr>Parameters of the IP Router</vt:lpstr>
      <vt:lpstr>PowerPoint Presentation</vt:lpstr>
      <vt:lpstr>Couplers for Powerline Installations</vt:lpstr>
      <vt:lpstr>Structure of the TP-PL Media Coupler</vt:lpstr>
      <vt:lpstr>Couplers for RF Installations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 Communication</dc:title>
  <dc:creator>KNX Association;R. Hernandez</dc:creator>
  <cp:lastModifiedBy>Ufuk Unal</cp:lastModifiedBy>
  <cp:revision>273</cp:revision>
  <dcterms:created xsi:type="dcterms:W3CDTF">2012-09-10T07:59:43Z</dcterms:created>
  <dcterms:modified xsi:type="dcterms:W3CDTF">2024-12-23T09:07:24Z</dcterms:modified>
</cp:coreProperties>
</file>