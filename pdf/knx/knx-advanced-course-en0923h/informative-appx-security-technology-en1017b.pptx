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64"/>
  </p:notesMasterIdLst>
  <p:handoutMasterIdLst>
    <p:handoutMasterId r:id="rId65"/>
  </p:handoutMasterIdLst>
  <p:sldIdLst>
    <p:sldId id="256" r:id="rId2"/>
    <p:sldId id="325" r:id="rId3"/>
    <p:sldId id="358" r:id="rId4"/>
    <p:sldId id="341" r:id="rId5"/>
    <p:sldId id="342" r:id="rId6"/>
    <p:sldId id="359" r:id="rId7"/>
    <p:sldId id="343" r:id="rId8"/>
    <p:sldId id="344" r:id="rId9"/>
    <p:sldId id="345" r:id="rId10"/>
    <p:sldId id="346" r:id="rId11"/>
    <p:sldId id="347" r:id="rId12"/>
    <p:sldId id="348" r:id="rId13"/>
    <p:sldId id="349" r:id="rId14"/>
    <p:sldId id="350" r:id="rId15"/>
    <p:sldId id="351" r:id="rId16"/>
    <p:sldId id="352" r:id="rId17"/>
    <p:sldId id="353" r:id="rId18"/>
    <p:sldId id="360" r:id="rId19"/>
    <p:sldId id="361" r:id="rId20"/>
    <p:sldId id="354" r:id="rId21"/>
    <p:sldId id="362" r:id="rId22"/>
    <p:sldId id="355" r:id="rId23"/>
    <p:sldId id="356" r:id="rId24"/>
    <p:sldId id="357" r:id="rId25"/>
    <p:sldId id="363" r:id="rId26"/>
    <p:sldId id="326" r:id="rId27"/>
    <p:sldId id="327" r:id="rId28"/>
    <p:sldId id="328" r:id="rId29"/>
    <p:sldId id="364" r:id="rId30"/>
    <p:sldId id="365" r:id="rId31"/>
    <p:sldId id="329" r:id="rId32"/>
    <p:sldId id="330" r:id="rId33"/>
    <p:sldId id="331" r:id="rId34"/>
    <p:sldId id="332" r:id="rId35"/>
    <p:sldId id="366" r:id="rId36"/>
    <p:sldId id="367" r:id="rId37"/>
    <p:sldId id="368" r:id="rId38"/>
    <p:sldId id="333" r:id="rId39"/>
    <p:sldId id="334" r:id="rId40"/>
    <p:sldId id="369" r:id="rId41"/>
    <p:sldId id="335" r:id="rId42"/>
    <p:sldId id="336" r:id="rId43"/>
    <p:sldId id="337" r:id="rId44"/>
    <p:sldId id="338" r:id="rId45"/>
    <p:sldId id="339" r:id="rId46"/>
    <p:sldId id="340" r:id="rId47"/>
    <p:sldId id="370" r:id="rId48"/>
    <p:sldId id="257" r:id="rId49"/>
    <p:sldId id="306" r:id="rId50"/>
    <p:sldId id="274" r:id="rId51"/>
    <p:sldId id="275" r:id="rId52"/>
    <p:sldId id="307" r:id="rId53"/>
    <p:sldId id="276" r:id="rId54"/>
    <p:sldId id="277" r:id="rId55"/>
    <p:sldId id="278" r:id="rId56"/>
    <p:sldId id="279" r:id="rId57"/>
    <p:sldId id="280" r:id="rId58"/>
    <p:sldId id="282" r:id="rId59"/>
    <p:sldId id="281" r:id="rId60"/>
    <p:sldId id="283" r:id="rId61"/>
    <p:sldId id="284" r:id="rId62"/>
    <p:sldId id="285" r:id="rId63"/>
  </p:sldIdLst>
  <p:sldSz cx="9144000" cy="6858000" type="screen4x3"/>
  <p:notesSz cx="6858000" cy="9144000"/>
  <p:custDataLst>
    <p:tags r:id="rId66"/>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06.04.2023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Basic Principles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Intruder alarm systems are technical installations which are used to protect property and people. The main tasks of intruder alarm systems include: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preventing break-ins and theft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alerting people to provide assistance (police, security guard)</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Depending on the programming, the intruder alarm system reacts e.g. if a person breaches the outer shell of the building or breaks into protected premises.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most well-known type of alarm is the acoustic alarm which is combined in most cases with an optical alarm. The intruder alarm system also enables an alarm to be issued via the public telephone network e.g. to notify the police or security company. The issue of alarms using visual/acoustic signalling devices has the greatest deterrent effect as the attention of the neighbourhood is concentrated on the property that has triggered the alarm. Special care must be taken when planning and commissioning the intruder alarm system as well as the briefing of the operating personnel in order to avoid false alarms.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Experience has shown that people in the surrounding area no longer react to intruder alarm systems after a few false alarms and therefore do not pay attention to a real alarm. In this case, even the best alarm system becomes pointless. It is not possible to make a general statement about which is the best type of alarm as each intruder alarm system is tailor-made to the property and location in terms of its design and functional scope.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Panic alarm systems offer the user the possibility of triggering an alarm manually. As with the intruder alarm system, a triggered alarm can be optical, acoustic and/or silent. The triggering can be carried out e.g. via a visible push-button alarm or a hidden switch. For example, a bank trips the alarm using a hidden device which is then sent silently to the police via the public telephone network. The functions of the panic alarm system can nowadays be implemented in the majority of intruder alarm systems.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are also hazard warning systems available. Alarm system is the collective term for:</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Fire alarm system</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Intruder alarm system</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Panic alarm system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hazard warning system offers additional protection against: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Water leaks, burst pipes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Gas leaks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483641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Basic Principles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principle, a distinction is made between intruder alarm systems with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approval and without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approval.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guideline for the planning and installation of intruder alarm systems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2311 divides intruder alarm systems into the categories A, B and C, where class A corresponds to the lowest security risk and class C is the highest risk.</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Class A:</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Low protection against sabotage attempts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Detectors have a medium level of response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Only suitable for monitoring non-commercial risks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Class B:</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Medium protection against sabotage attempts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Detectors have a medium level of response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Monitoring of the system for sabotage and functional reliability</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Class C:</a:t>
            </a:r>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Increased protection against sabotage attempts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Detectors have an increased level of response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Monitoring of the system for sabotage and functional reliability</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intruder alarm systems without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approval, there is a subdivision into systems which are implemented using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-approved components and systems using components without approval.</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When implementing an intruder alarm system, it should be ensured that all the components used have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approval (denoted by a number code). The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approval should be judged in this context like an MOT certificate, CE mark or a comparable distinction.</a:t>
            </a:r>
            <a:endParaRPr lang="es-ES" sz="1200" kern="1200" dirty="0">
              <a:solidFill>
                <a:schemeClr val="tx1"/>
              </a:solidFill>
              <a:effectLst/>
              <a:latin typeface="Arial" charset="0"/>
              <a:ea typeface="+mn-ea"/>
              <a:cs typeface="+mn-cs"/>
            </a:endParaRPr>
          </a:p>
          <a:p>
            <a:r>
              <a:rPr lang="en-GB" sz="1200" kern="1200" dirty="0" err="1">
                <a:solidFill>
                  <a:schemeClr val="tx1"/>
                </a:solidFill>
                <a:effectLst/>
                <a:latin typeface="Arial" charset="0"/>
                <a:ea typeface="+mn-ea"/>
                <a:cs typeface="+mn-cs"/>
              </a:rPr>
              <a:t>Verband</a:t>
            </a:r>
            <a:r>
              <a:rPr lang="en-GB" sz="1200" kern="1200" dirty="0">
                <a:solidFill>
                  <a:schemeClr val="tx1"/>
                </a:solidFill>
                <a:effectLst/>
                <a:latin typeface="Arial" charset="0"/>
                <a:ea typeface="+mn-ea"/>
                <a:cs typeface="+mn-cs"/>
              </a:rPr>
              <a:t> der </a:t>
            </a:r>
            <a:r>
              <a:rPr lang="en-GB" sz="1200" kern="1200" dirty="0" err="1">
                <a:solidFill>
                  <a:schemeClr val="tx1"/>
                </a:solidFill>
                <a:effectLst/>
                <a:latin typeface="Arial" charset="0"/>
                <a:ea typeface="+mn-ea"/>
                <a:cs typeface="+mn-cs"/>
              </a:rPr>
              <a:t>Sachversicherer</a:t>
            </a:r>
            <a:r>
              <a:rPr lang="en-GB" sz="1200" kern="1200" dirty="0">
                <a:solidFill>
                  <a:schemeClr val="tx1"/>
                </a:solidFill>
                <a:effectLst/>
                <a:latin typeface="Arial" charset="0"/>
                <a:ea typeface="+mn-ea"/>
                <a:cs typeface="+mn-cs"/>
              </a:rPr>
              <a:t> (Association of Insurers): Alarm systems with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approval are recognised by German insurance companies.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3480368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KNX and Intruder Alarm Technology</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KNX enables simple security and monitoring applications to be implemented. The requirements that are placed on the property or the installation must be taken into account. It is not possible to set up intruder alarm systems in line with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You can determine whether a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system is required from the structural constraints or insurance standards.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should be pointed out only “simple” applications can be implemented. In addition, systems, which have been implemented with KNX, cannot be called intruder alarm systems. The term ‘information centre, information system etc.’ is used to avoid confusion.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386599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Structure of a </a:t>
            </a:r>
            <a:r>
              <a:rPr lang="en-GB" sz="1200" b="1" kern="1200" dirty="0" err="1">
                <a:solidFill>
                  <a:schemeClr val="tx1"/>
                </a:solidFill>
                <a:effectLst/>
                <a:latin typeface="Arial" charset="0"/>
                <a:ea typeface="+mn-ea"/>
                <a:cs typeface="+mn-cs"/>
              </a:rPr>
              <a:t>VdS</a:t>
            </a:r>
            <a:r>
              <a:rPr lang="en-GB" sz="1200" b="1" kern="1200" dirty="0">
                <a:solidFill>
                  <a:schemeClr val="tx1"/>
                </a:solidFill>
                <a:effectLst/>
                <a:latin typeface="Arial" charset="0"/>
                <a:ea typeface="+mn-ea"/>
                <a:cs typeface="+mn-cs"/>
              </a:rPr>
              <a:t> Alarm System</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shows an alarm system with an optional KNX gateway that has been set up in accordance with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a:t>
            </a:r>
            <a:r>
              <a:rPr lang="en-GB" sz="1200" b="0" kern="1200" dirty="0">
                <a:solidFill>
                  <a:schemeClr val="tx1"/>
                </a:solidFill>
                <a:effectLst/>
                <a:latin typeface="Arial" charset="0"/>
                <a:ea typeface="+mn-ea"/>
                <a:cs typeface="+mn-cs"/>
              </a:rPr>
              <a:t> </a:t>
            </a:r>
            <a:r>
              <a:rPr lang="en-GB" sz="1200" b="1" kern="1200" dirty="0" err="1">
                <a:solidFill>
                  <a:schemeClr val="tx1"/>
                </a:solidFill>
                <a:effectLst/>
                <a:latin typeface="Arial" charset="0"/>
                <a:ea typeface="+mn-ea"/>
                <a:cs typeface="+mn-cs"/>
              </a:rPr>
              <a:t>VdS</a:t>
            </a:r>
            <a:r>
              <a:rPr lang="en-GB" sz="1200" b="1" kern="1200" dirty="0">
                <a:solidFill>
                  <a:schemeClr val="tx1"/>
                </a:solidFill>
                <a:effectLst/>
                <a:latin typeface="Arial" charset="0"/>
                <a:ea typeface="+mn-ea"/>
                <a:cs typeface="+mn-cs"/>
              </a:rPr>
              <a:t> alarm control unit with KNX gateway</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alarm control unit has a KNX gateway, it is possible to display information and the states of the alarm control unit on a visualisation screen. In addition, the information can continue to be used within the KNX installation e.g. in order to switch on the lighting centrally (panic function) or the window contacts can influence the room temperature control and switch it to frost protection mode. It is only possible to take information from the alarm control unit. It is not possible to trigger functions such as “set” or “unset“. The communication is unidirectional i.e. it cannot influence the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side from the KNX side. </a:t>
            </a:r>
            <a:endParaRPr lang="es-ES" sz="14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1469013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KNX Alarm Control Unit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there are no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stipulations, safety functions can be implemented with KNX components.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possible to carry out a central evaluation of the alarm control unit which is not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-certified. It communicates directly with KNX. Either KNX sensors or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sensors can be used.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sensors can be coupled to the KNX network e.g. with push-button interfaces or binary inputs. An optional visualisation unit can be used as an information display or signalling unit.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KNX components can be used repeatedly for different functions. The movement detector can for example switch on the lighting, arm the system and also trigger alarms.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a:t>
            </a:r>
            <a:r>
              <a:rPr lang="en-GB" sz="1200" b="0" kern="1200" dirty="0">
                <a:solidFill>
                  <a:schemeClr val="tx1"/>
                </a:solidFill>
                <a:effectLst/>
                <a:latin typeface="Arial" charset="0"/>
                <a:ea typeface="+mn-ea"/>
                <a:cs typeface="+mn-cs"/>
              </a:rPr>
              <a:t> </a:t>
            </a:r>
            <a:r>
              <a:rPr lang="en-GB" sz="1200" b="1" kern="1200" dirty="0" err="1">
                <a:solidFill>
                  <a:schemeClr val="tx1"/>
                </a:solidFill>
                <a:effectLst/>
                <a:latin typeface="Arial" charset="0"/>
                <a:ea typeface="+mn-ea"/>
                <a:cs typeface="+mn-cs"/>
              </a:rPr>
              <a:t>VdS</a:t>
            </a:r>
            <a:r>
              <a:rPr lang="en-GB" sz="1200" b="1" kern="1200" dirty="0">
                <a:solidFill>
                  <a:schemeClr val="tx1"/>
                </a:solidFill>
                <a:effectLst/>
                <a:latin typeface="Arial" charset="0"/>
                <a:ea typeface="+mn-ea"/>
                <a:cs typeface="+mn-cs"/>
              </a:rPr>
              <a:t> components in combination with KNX components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204944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sz="1200" b="1" kern="1200" dirty="0" err="1">
                <a:solidFill>
                  <a:schemeClr val="tx1"/>
                </a:solidFill>
                <a:effectLst/>
                <a:latin typeface="Arial" charset="0"/>
                <a:ea typeface="+mn-ea"/>
                <a:cs typeface="+mn-cs"/>
              </a:rPr>
              <a:t>VdS</a:t>
            </a:r>
            <a:r>
              <a:rPr lang="en-US" sz="1200" b="1" kern="1200" dirty="0">
                <a:solidFill>
                  <a:schemeClr val="tx1"/>
                </a:solidFill>
                <a:effectLst/>
                <a:latin typeface="Arial" charset="0"/>
                <a:ea typeface="+mn-ea"/>
                <a:cs typeface="+mn-cs"/>
              </a:rPr>
              <a:t>-certified KNX Alarm Control Unit</a:t>
            </a:r>
          </a:p>
          <a:p>
            <a:pPr marL="0" lvl="0" indent="0">
              <a:buFont typeface="Arial" panose="020B0604020202020204" pitchFamily="34" charset="0"/>
              <a:buNone/>
            </a:pPr>
            <a:endParaRPr lang="en-US" sz="1200" kern="1200" dirty="0">
              <a:solidFill>
                <a:schemeClr val="tx1"/>
              </a:solidFill>
              <a:effectLst/>
              <a:latin typeface="Arial" charset="0"/>
              <a:ea typeface="+mn-ea"/>
              <a:cs typeface="+mn-cs"/>
            </a:endParaRPr>
          </a:p>
          <a:p>
            <a:pPr marL="0" lvl="0" indent="0">
              <a:buFont typeface="Arial" panose="020B0604020202020204" pitchFamily="34" charset="0"/>
              <a:buNone/>
            </a:pPr>
            <a:r>
              <a:rPr lang="en-US" sz="1200" kern="1200" dirty="0" err="1">
                <a:solidFill>
                  <a:schemeClr val="tx1"/>
                </a:solidFill>
                <a:effectLst/>
                <a:latin typeface="Arial" charset="0"/>
                <a:ea typeface="+mn-ea"/>
                <a:cs typeface="+mn-cs"/>
              </a:rPr>
              <a:t>VdS</a:t>
            </a:r>
            <a:r>
              <a:rPr lang="en-US" sz="1200" kern="1200" dirty="0">
                <a:solidFill>
                  <a:schemeClr val="tx1"/>
                </a:solidFill>
                <a:effectLst/>
                <a:latin typeface="Arial" charset="0"/>
                <a:ea typeface="+mn-ea"/>
                <a:cs typeface="+mn-cs"/>
              </a:rPr>
              <a:t>-certified KNX alarm control units are available on the market. These systems have </a:t>
            </a:r>
            <a:r>
              <a:rPr lang="en-US" sz="1200" kern="1200" dirty="0" err="1">
                <a:solidFill>
                  <a:schemeClr val="tx1"/>
                </a:solidFill>
                <a:effectLst/>
                <a:latin typeface="Arial" charset="0"/>
                <a:ea typeface="+mn-ea"/>
                <a:cs typeface="+mn-cs"/>
              </a:rPr>
              <a:t>VdS</a:t>
            </a:r>
            <a:r>
              <a:rPr lang="en-US" sz="1200" kern="1200" dirty="0">
                <a:solidFill>
                  <a:schemeClr val="tx1"/>
                </a:solidFill>
                <a:effectLst/>
                <a:latin typeface="Arial" charset="0"/>
                <a:ea typeface="+mn-ea"/>
                <a:cs typeface="+mn-cs"/>
              </a:rPr>
              <a:t>-compliant, secure communication channels such as safety bus systems or inputs and outputs for </a:t>
            </a:r>
            <a:r>
              <a:rPr lang="en-US" sz="1200" kern="1200" dirty="0" err="1">
                <a:solidFill>
                  <a:schemeClr val="tx1"/>
                </a:solidFill>
                <a:effectLst/>
                <a:latin typeface="Arial" charset="0"/>
                <a:ea typeface="+mn-ea"/>
                <a:cs typeface="+mn-cs"/>
              </a:rPr>
              <a:t>VdS</a:t>
            </a:r>
            <a:r>
              <a:rPr lang="en-US" sz="1200" kern="1200" dirty="0">
                <a:solidFill>
                  <a:schemeClr val="tx1"/>
                </a:solidFill>
                <a:effectLst/>
                <a:latin typeface="Arial" charset="0"/>
                <a:ea typeface="+mn-ea"/>
                <a:cs typeface="+mn-cs"/>
              </a:rPr>
              <a:t>-compliant systems.</a:t>
            </a:r>
          </a:p>
          <a:p>
            <a:pPr marL="0" lvl="0" indent="0">
              <a:buFont typeface="Arial" panose="020B0604020202020204" pitchFamily="34" charset="0"/>
              <a:buNone/>
            </a:pPr>
            <a:r>
              <a:rPr lang="en-US" sz="1200" kern="1200" dirty="0">
                <a:solidFill>
                  <a:schemeClr val="tx1"/>
                </a:solidFill>
                <a:effectLst/>
                <a:latin typeface="Arial" charset="0"/>
                <a:ea typeface="+mn-ea"/>
                <a:cs typeface="+mn-cs"/>
              </a:rPr>
              <a:t>The control panels of alarm or hazard detection systems also have a KNX interface. If this alarm control panel is integrated in a KNX network, alarm functions can be </a:t>
            </a:r>
            <a:r>
              <a:rPr lang="en-US" sz="1200" kern="1200" dirty="0" err="1">
                <a:solidFill>
                  <a:schemeClr val="tx1"/>
                </a:solidFill>
                <a:effectLst/>
                <a:latin typeface="Arial" charset="0"/>
                <a:ea typeface="+mn-ea"/>
                <a:cs typeface="+mn-cs"/>
              </a:rPr>
              <a:t>visualised</a:t>
            </a:r>
            <a:r>
              <a:rPr lang="en-US" sz="1200" kern="1200" dirty="0">
                <a:solidFill>
                  <a:schemeClr val="tx1"/>
                </a:solidFill>
                <a:effectLst/>
                <a:latin typeface="Arial" charset="0"/>
                <a:ea typeface="+mn-ea"/>
                <a:cs typeface="+mn-cs"/>
              </a:rPr>
              <a:t> or linked with non-safety related comfort functions. The KNX interface then operates as unidirectional. </a:t>
            </a:r>
          </a:p>
          <a:p>
            <a:pPr marL="0" lvl="0" indent="0">
              <a:buFont typeface="Arial" panose="020B0604020202020204" pitchFamily="34" charset="0"/>
              <a:buNone/>
            </a:pPr>
            <a:endParaRPr lang="en-US" sz="1200" kern="1200" dirty="0">
              <a:solidFill>
                <a:schemeClr val="tx1"/>
              </a:solidFill>
              <a:effectLst/>
              <a:latin typeface="Arial" charset="0"/>
              <a:ea typeface="+mn-ea"/>
              <a:cs typeface="+mn-cs"/>
            </a:endParaRPr>
          </a:p>
          <a:p>
            <a:pPr marL="0" lvl="0" indent="0">
              <a:buFont typeface="Arial" panose="020B0604020202020204" pitchFamily="34" charset="0"/>
              <a:buNone/>
            </a:pPr>
            <a:r>
              <a:rPr lang="en-US" sz="1200" kern="1200" dirty="0">
                <a:solidFill>
                  <a:schemeClr val="tx1"/>
                </a:solidFill>
                <a:effectLst/>
                <a:latin typeface="Arial" charset="0"/>
                <a:ea typeface="+mn-ea"/>
                <a:cs typeface="+mn-cs"/>
              </a:rPr>
              <a:t>The features of these devices are: </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Fail-safe, basic configuration</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Uninterruptible power supply (USP)</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Connections for </a:t>
            </a:r>
            <a:r>
              <a:rPr lang="en-US" sz="1200" kern="1200" dirty="0" err="1">
                <a:solidFill>
                  <a:schemeClr val="tx1"/>
                </a:solidFill>
                <a:effectLst/>
                <a:latin typeface="Arial" charset="0"/>
                <a:ea typeface="+mn-ea"/>
                <a:cs typeface="+mn-cs"/>
              </a:rPr>
              <a:t>VdS</a:t>
            </a:r>
            <a:r>
              <a:rPr lang="en-US" sz="1200" kern="1200" dirty="0">
                <a:solidFill>
                  <a:schemeClr val="tx1"/>
                </a:solidFill>
                <a:effectLst/>
                <a:latin typeface="Arial" charset="0"/>
                <a:ea typeface="+mn-ea"/>
                <a:cs typeface="+mn-cs"/>
              </a:rPr>
              <a:t> zones</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Connections for alarm </a:t>
            </a:r>
            <a:r>
              <a:rPr lang="en-US" sz="1200" kern="1200" dirty="0" err="1">
                <a:solidFill>
                  <a:schemeClr val="tx1"/>
                </a:solidFill>
                <a:effectLst/>
                <a:latin typeface="Arial" charset="0"/>
                <a:ea typeface="+mn-ea"/>
                <a:cs typeface="+mn-cs"/>
              </a:rPr>
              <a:t>signalling</a:t>
            </a:r>
            <a:r>
              <a:rPr lang="en-US" sz="1200" kern="1200" dirty="0">
                <a:solidFill>
                  <a:schemeClr val="tx1"/>
                </a:solidFill>
                <a:effectLst/>
                <a:latin typeface="Arial" charset="0"/>
                <a:ea typeface="+mn-ea"/>
                <a:cs typeface="+mn-cs"/>
              </a:rPr>
              <a:t> devices (siren / flashing light)</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Safety bus system for extending the installation</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KNX bus monitoring (voltage and communication)</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Safely encrypted IP communication</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System operating terminal (external or integrated)</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Tamper monitoring</a:t>
            </a:r>
          </a:p>
          <a:p>
            <a:pPr marL="171450" lvl="0" indent="-171450">
              <a:buFont typeface="Arial" panose="020B0604020202020204" pitchFamily="34" charset="0"/>
              <a:buChar char="•"/>
            </a:pPr>
            <a:r>
              <a:rPr lang="en-US" sz="1200" kern="1200" dirty="0">
                <a:solidFill>
                  <a:schemeClr val="tx1"/>
                </a:solidFill>
                <a:effectLst/>
                <a:latin typeface="Arial" charset="0"/>
                <a:ea typeface="+mn-ea"/>
                <a:cs typeface="+mn-cs"/>
              </a:rPr>
              <a:t> And many more …</a:t>
            </a:r>
          </a:p>
          <a:p>
            <a:pPr marL="0" lvl="0" indent="0">
              <a:buFont typeface="Arial" panose="020B0604020202020204" pitchFamily="34" charset="0"/>
              <a:buNone/>
            </a:pPr>
            <a:endParaRPr lang="en-US" sz="1200" kern="1200" dirty="0">
              <a:solidFill>
                <a:schemeClr val="tx1"/>
              </a:solidFill>
              <a:effectLst/>
              <a:latin typeface="Arial" charset="0"/>
              <a:ea typeface="+mn-ea"/>
              <a:cs typeface="+mn-cs"/>
            </a:endParaRPr>
          </a:p>
          <a:p>
            <a:pPr marL="0" lvl="0" indent="0">
              <a:buFont typeface="Arial" panose="020B0604020202020204" pitchFamily="34" charset="0"/>
              <a:buNone/>
            </a:pPr>
            <a:r>
              <a:rPr lang="en-US" sz="1200" kern="1200" dirty="0">
                <a:solidFill>
                  <a:schemeClr val="tx1"/>
                </a:solidFill>
                <a:effectLst/>
                <a:latin typeface="Arial" charset="0"/>
                <a:ea typeface="+mn-ea"/>
                <a:cs typeface="+mn-cs"/>
              </a:rPr>
              <a:t>If you look at the extent of the group objects available, you will quickly </a:t>
            </a:r>
            <a:r>
              <a:rPr lang="en-US" sz="1200" kern="1200" dirty="0" err="1">
                <a:solidFill>
                  <a:schemeClr val="tx1"/>
                </a:solidFill>
                <a:effectLst/>
                <a:latin typeface="Arial" charset="0"/>
                <a:ea typeface="+mn-ea"/>
                <a:cs typeface="+mn-cs"/>
              </a:rPr>
              <a:t>realise</a:t>
            </a:r>
            <a:r>
              <a:rPr lang="en-US" sz="1200" kern="1200" dirty="0">
                <a:solidFill>
                  <a:schemeClr val="tx1"/>
                </a:solidFill>
                <a:effectLst/>
                <a:latin typeface="Arial" charset="0"/>
                <a:ea typeface="+mn-ea"/>
                <a:cs typeface="+mn-cs"/>
              </a:rPr>
              <a:t> that further safety functions can also be configured.</a:t>
            </a: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Table 1: Example of group objects of a KNX hazard detection control panel</a:t>
            </a:r>
            <a:endParaRPr lang="es-ES" sz="1200"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this type of system is configured so that safety functions are communicated bidirectionally via KNX, the complete system is not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-compliant. Examples of non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-compliant applications are: Setting/deactivating with KNX sensors, opening and closing (deactivation/arming of areas) of monitored garage doors or interior surveillance with KNX zones.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3: Typical wiring of a KNX alarm control unit</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1103158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Monitoring Functions with KNX</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further option is setting up security and monitoring applications solely with KNX components. You can also use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components as sensors or signalling devices which are linked to the KNX installation via push-button interfaces, binary inputs or binary outputs. Alternatively, “standard” KNX components can be used for various tasks. For example, the movement detector can switch the lighting in the room on detection of movement in connection with a logic time switch in separate modules or in a visualisation e.g. during usual business hours. Outside business hours, all the outside lighting and corridor lighting is switched on when movement is detected. This deters any intruders and attracts the attention of the neighbours. These options can be extended as required, depending on the available KNX components. For example, the simultaneous activation of a siren.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4: Structure with KNX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4189063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Installation and Topology</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Installation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KNX is used for simple safety and monitoring applications, the basic principle applies: The medium must be protected! The low-voltage installation should be particularly robust. Surface-mounted installations can be carried out e.g. with steel conduits instead of plastic conduits.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Designs with open cable routing should be avoided for safety applications. </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Topology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setting up new installations or extending the functions of existing installations, it is advisable to set a topology in which the devices for security and/or monitoring applications are either put on the main line or in exclusive lines/areas depending on the number of devices. The benefit of this type of topology is keeping the bus load low. Commands such as switching on and dimming the lighting or regulating the installation by the user could send out security-related telegrams with a delay. The consequences would be either false alarms or fault signals.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5: Structure of the lines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sz="1200" b="1" kern="1200" dirty="0">
                <a:solidFill>
                  <a:schemeClr val="tx1"/>
                </a:solidFill>
                <a:effectLst/>
                <a:latin typeface="Arial" charset="0"/>
                <a:ea typeface="+mn-ea"/>
                <a:cs typeface="+mn-cs"/>
              </a:rPr>
              <a:t>Figure 6: Example of devices used</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2539881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Project design</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examples are only used for representation and should only be seen as a planning aid.</a:t>
            </a:r>
            <a:endParaRPr lang="es-ES" sz="1200" kern="1200" dirty="0">
              <a:solidFill>
                <a:schemeClr val="tx1"/>
              </a:solidFill>
              <a:effectLst/>
              <a:latin typeface="Arial" charset="0"/>
              <a:ea typeface="+mn-ea"/>
              <a:cs typeface="+mn-cs"/>
            </a:endParaRPr>
          </a:p>
          <a:p>
            <a:pPr lvl="0"/>
            <a:endParaRPr lang="en-US" sz="1200" b="1" kern="1200" dirty="0">
              <a:solidFill>
                <a:schemeClr val="tx1"/>
              </a:solidFill>
              <a:effectLst/>
              <a:latin typeface="Arial" charset="0"/>
              <a:ea typeface="+mn-ea"/>
              <a:cs typeface="+mn-cs"/>
            </a:endParaRPr>
          </a:p>
          <a:p>
            <a:pPr lvl="0"/>
            <a:r>
              <a:rPr lang="en-US" sz="1200" b="1" kern="1200" dirty="0">
                <a:solidFill>
                  <a:schemeClr val="tx1"/>
                </a:solidFill>
                <a:effectLst/>
                <a:latin typeface="Arial" charset="0"/>
                <a:ea typeface="+mn-ea"/>
                <a:cs typeface="+mn-cs"/>
              </a:rPr>
              <a:t>Group Addresses</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7: Group addresses on 3 levels</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simple and understandable philosophy should be applied when setting up the group address structure. The group address structure that is selected is not defined. In the example shown, main group 1 has been taken as this has been selected for the ground floor. The middle groups 0-5 can be used e.g. for the functions: General, Lighting, Blinds, Heating, and Ventilation etc. A clear and unique description of the function should be used with all formats of the group address structure.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Parameters</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8: Parameters of the line coupler</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parameterisation could be carried out for a safety and/or monitoring application as shown in Figure 7. The line coupler should always be used so that security-related telegrams can pass through however user-defined telegrams such as switching, dimming, blind control etc. are blocked in order to keep the bus load in the secure area as low as possible. The “Route” function should be avoided.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9: Parameters of the switch actuator</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6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siren in the outside area has been set to the maximum duration and the behaviour of the contact on bus voltage failure or recovery has been also been configured.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Flags</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10: Changing the priority</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further option for the security and/or monitoring application is the configuration of the flags. The “Alarm” priority guarantees that the telegram is forced through before other telegrams with a lower priority and the appropriate measures are initiated promptly. Care should be taken when selecting the priorities. If the “Alarm” priority is set for each object, each telegram would be treated equally. See also the chapter “Fail-safe Planning”.</a:t>
            </a:r>
            <a:endParaRPr lang="es-ES" sz="1200" kern="1200" dirty="0">
              <a:solidFill>
                <a:schemeClr val="tx1"/>
              </a:solidFill>
              <a:effectLst/>
              <a:latin typeface="Arial" charset="0"/>
              <a:ea typeface="+mn-ea"/>
              <a:cs typeface="+mn-cs"/>
            </a:endParaRPr>
          </a:p>
          <a:p>
            <a:br>
              <a:rPr lang="en-US" sz="1200" kern="1200" dirty="0">
                <a:solidFill>
                  <a:schemeClr val="tx1"/>
                </a:solidFill>
                <a:effectLst/>
                <a:latin typeface="Arial" charset="0"/>
                <a:ea typeface="+mn-ea"/>
                <a:cs typeface="+mn-cs"/>
              </a:rPr>
            </a:br>
            <a:r>
              <a:rPr lang="en-US" sz="16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3921700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2313964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KNX Devices</a:t>
            </a:r>
          </a:p>
          <a:p>
            <a:pPr lvl="0"/>
            <a:endParaRPr lang="en-U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Power Supply</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implementing the tasks of a security and/or monitoring system, KNX device manufacturers offer power supplies which can be coupled with a battery module. Should the mains voltage fail, the KNX bus is supplied with power for a limited period, depending on the number of devices.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11: KNX power supply with uninterruptible supply and changeover contact for remote signalling</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1390283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Binary Input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Various applications can be implemented for use as a security and/or monitoring system. The technical documentation of the manufacturer should be taken as a basis when selecting the area of application of the binary input. Depending on the version, window actuators have 1 or more channels for moving shutter motors as well as additional binary inputs for combination with window contacts. The combination of a shutter that queries whether the window is open/closed offers a variety of functions that can be implemented (heating control, security and/or monitoring applications etc.).</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 1</a:t>
            </a:r>
            <a:r>
              <a:rPr lang="en-GB" sz="1200" kern="1200" dirty="0">
                <a:solidFill>
                  <a:schemeClr val="tx1"/>
                </a:solidFill>
                <a:effectLst/>
                <a:latin typeface="Arial" charset="0"/>
                <a:ea typeface="+mn-ea"/>
                <a:cs typeface="+mn-cs"/>
              </a:rPr>
              <a:t>: The contacts of the binary input are connected to the KNX power supply. It can be parameterised that a signal is sent on the bus in the event of a falling pulse edge. Depending on the parameter settings, this signal can be a fault signal to inform the user or it can trigger an alarm. Alternatively, an existing auxiliary switch from the circuit breaker of the power supply or another security-related system can be used. It should be noted that the contact of an auxiliary switch is a “normally closed contact” (protection against wire breakage).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12:</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KNX binary input connected to the signal output of the KNX power supply</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10883783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Example 2</a:t>
            </a:r>
            <a:r>
              <a:rPr lang="en-GB" sz="1200" kern="1200" dirty="0">
                <a:solidFill>
                  <a:schemeClr val="tx1"/>
                </a:solidFill>
                <a:effectLst/>
                <a:latin typeface="Arial" charset="0"/>
                <a:ea typeface="+mn-ea"/>
                <a:cs typeface="+mn-cs"/>
              </a:rPr>
              <a:t>: The binary input is used (e.g. DIN rail mounted or flush-mounted) to link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components with the KNX installation. Glass breakage sensors, key-operated switches, smoke detectors, reed contacts etc. can be given “bus capability”. A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reed contact with a tamper contact is connected for example to channel A for opening surveillance and to channel B for tamper monitoring.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has been set in the parameters that an alarm is sent when the reed contact is opened and the system is armed. The falling edge at the tamper contact would trigger an immediate alarm if there are no logic conditions. Different components with potential-free contacts can be used in the same way. In addition, components which require an auxiliary supply can be connected to the existing unchoked output of the power supply, provided that the specifications match.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13: KNX binary input in connection with </a:t>
            </a:r>
            <a:r>
              <a:rPr lang="en-GB" sz="1200" b="1" kern="1200" dirty="0" err="1">
                <a:solidFill>
                  <a:schemeClr val="tx1"/>
                </a:solidFill>
                <a:effectLst/>
                <a:latin typeface="Arial" charset="0"/>
                <a:ea typeface="+mn-ea"/>
                <a:cs typeface="+mn-cs"/>
              </a:rPr>
              <a:t>VdS</a:t>
            </a:r>
            <a:r>
              <a:rPr lang="en-GB" sz="1200" b="1" kern="1200" dirty="0">
                <a:solidFill>
                  <a:schemeClr val="tx1"/>
                </a:solidFill>
                <a:effectLst/>
                <a:latin typeface="Arial" charset="0"/>
                <a:ea typeface="+mn-ea"/>
                <a:cs typeface="+mn-cs"/>
              </a:rPr>
              <a:t>-approved components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1152806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Binary Output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the continued further development of KNX devices by the manufacturers, functions such as current detection are now possible. When using the binary output for security and/or monitoring applications, the level of security is increased by the current detection function. With the configured object “Status, Feedback”, it can now also be checked whether the load is working.</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a:t>
            </a:r>
            <a:r>
              <a:rPr lang="en-GB" sz="1200" kern="1200" dirty="0">
                <a:solidFill>
                  <a:schemeClr val="tx1"/>
                </a:solidFill>
                <a:effectLst/>
                <a:latin typeface="Arial" charset="0"/>
                <a:ea typeface="+mn-ea"/>
                <a:cs typeface="+mn-cs"/>
              </a:rPr>
              <a:t>: The binary output is connected to channel A with a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-approved, security-related load. It has been set in the parameters that the load operates when the contact is closed. The theoretical switching state is recorded by the feedback object. A threshold can be set through the optional current detection function which is exceeded by the load during operation. The linking of the current detection with the switching of the output can trigger a fault signal or an alarm if it fails to comply.</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14: KNX binary output linked to </a:t>
            </a:r>
            <a:r>
              <a:rPr lang="en-GB" sz="1200" b="1" kern="1200" dirty="0" err="1">
                <a:solidFill>
                  <a:schemeClr val="tx1"/>
                </a:solidFill>
                <a:effectLst/>
                <a:latin typeface="Arial" charset="0"/>
                <a:ea typeface="+mn-ea"/>
                <a:cs typeface="+mn-cs"/>
              </a:rPr>
              <a:t>VdS</a:t>
            </a:r>
            <a:r>
              <a:rPr lang="en-GB" sz="1200" b="1" kern="1200" dirty="0">
                <a:solidFill>
                  <a:schemeClr val="tx1"/>
                </a:solidFill>
                <a:effectLst/>
                <a:latin typeface="Arial" charset="0"/>
                <a:ea typeface="+mn-ea"/>
                <a:cs typeface="+mn-cs"/>
              </a:rPr>
              <a:t>-approved components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2431193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Sensors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KNX sensors are an important part of the KNX system. Sensors form the interface between the user or the physical size and the KNX bus. Using switch sensors, the user calls up previously configured functions such as arming/deactivating the system, switching the lighting, moving the shutters, movement/presence detected, switching on the siren. They convert physical variables into electrical values which are then sent on the bus as a telegram.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Switch sensors are used as an operator interface. Examples are: simple push buttons, group push buttons, switch sensors, room temperature thermostats, and multifunction sensors.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15: Sensors </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 1</a:t>
            </a:r>
            <a:r>
              <a:rPr lang="en-GB" sz="1200" kern="1200" dirty="0">
                <a:solidFill>
                  <a:schemeClr val="tx1"/>
                </a:solidFill>
                <a:effectLst/>
                <a:latin typeface="Arial" charset="0"/>
                <a:ea typeface="+mn-ea"/>
                <a:cs typeface="+mn-cs"/>
              </a:rPr>
              <a:t>: A simple push-button in the bedroom is installed so that it can be operated from the bed in an emergency. It is set in the parameters that the rocker triggers an alarm once it has been pressed for 3 s to avoid incorrect operation. The reset is then carried out e.g. on a multifunction switch sensor, whose operation is protected by entering a PIN code.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 2</a:t>
            </a:r>
            <a:r>
              <a:rPr lang="en-GB" sz="1200" kern="1200" dirty="0">
                <a:solidFill>
                  <a:schemeClr val="tx1"/>
                </a:solidFill>
                <a:effectLst/>
                <a:latin typeface="Arial" charset="0"/>
                <a:ea typeface="+mn-ea"/>
                <a:cs typeface="+mn-cs"/>
              </a:rPr>
              <a:t>: A multifunctional sensor, visualisation (touch panel) or graphic display can represent the data of a KNX installation in a visually recognisable form such as states of the safety functions or the monitored areas such as set, unset, ready set, tamper, fault and alarm or opened window.</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Modern visualisation screens have considerably more functions than merely graphical representation for the user. Visualisation screens can be used as a central information system due to the wide range of functions and options available.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Below are some examples for the different functions: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Sending emails (routing of signals e.g.: alarm, fault etc.)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Communication with the internet (remote access, status monitoring etc.)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Logic functions with an almost unlimited scope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Network camera</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Door communication</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Security and/or monitoring applications are extended by the use of e.g. network cameras. Alarms or other signals can be sent via the internet. The user comfort can further be increased as the user can check the state of his installation externally e.g. with a smart phone.</a:t>
            </a:r>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16</a:t>
            </a:fld>
            <a:endParaRPr lang="en-US"/>
          </a:p>
        </p:txBody>
      </p:sp>
    </p:spTree>
    <p:extLst>
      <p:ext uri="{BB962C8B-B14F-4D97-AF65-F5344CB8AC3E}">
        <p14:creationId xmlns:p14="http://schemas.microsoft.com/office/powerpoint/2010/main" val="4289234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s-ES" sz="1200" b="1" kern="1200" dirty="0">
                <a:solidFill>
                  <a:schemeClr val="tx1"/>
                </a:solidFill>
                <a:effectLst/>
                <a:latin typeface="Arial" charset="0"/>
                <a:ea typeface="+mn-ea"/>
                <a:cs typeface="+mn-cs"/>
              </a:rPr>
              <a:t>El Terminal de zona KNX.</a:t>
            </a:r>
            <a:endParaRPr lang="es-ES" sz="1050" b="1" kern="1200" dirty="0">
              <a:solidFill>
                <a:schemeClr val="tx1"/>
              </a:solidFill>
              <a:effectLst/>
              <a:latin typeface="Arial" charset="0"/>
              <a:ea typeface="+mn-ea"/>
              <a:cs typeface="+mn-cs"/>
            </a:endParaRPr>
          </a:p>
          <a:p>
            <a:r>
              <a:rPr lang="es-ES" sz="1200" kern="1200" dirty="0">
                <a:solidFill>
                  <a:schemeClr val="tx1"/>
                </a:solidFill>
                <a:effectLst/>
                <a:latin typeface="Arial" charset="0"/>
                <a:ea typeface="+mn-ea"/>
                <a:cs typeface="+mn-cs"/>
              </a:rPr>
              <a:t>El Terminal de zona KNX se utiliza para una configuración de seguridad simple y supervisión de funciones usando sensores con tecnología de seguridad. No es posible sin embargo otros sistemas de alarma anti-intrusión en el marco de las normas </a:t>
            </a:r>
            <a:r>
              <a:rPr lang="es-ES" sz="1200" kern="1200" dirty="0" err="1">
                <a:solidFill>
                  <a:schemeClr val="tx1"/>
                </a:solidFill>
                <a:effectLst/>
                <a:latin typeface="Arial" charset="0"/>
                <a:ea typeface="+mn-ea"/>
                <a:cs typeface="+mn-cs"/>
              </a:rPr>
              <a:t>VdS</a:t>
            </a:r>
            <a:r>
              <a:rPr lang="es-ES" sz="1200" kern="1200" dirty="0">
                <a:solidFill>
                  <a:schemeClr val="tx1"/>
                </a:solidFill>
                <a:effectLst/>
                <a:latin typeface="Arial" charset="0"/>
                <a:ea typeface="+mn-ea"/>
                <a:cs typeface="+mn-cs"/>
              </a:rPr>
              <a:t> para la prevención de daños. La estructura es la siguiente:</a:t>
            </a:r>
            <a:endParaRPr lang="es-ES" sz="1000" kern="1200" dirty="0">
              <a:solidFill>
                <a:schemeClr val="tx1"/>
              </a:solidFill>
              <a:effectLst/>
              <a:latin typeface="Arial" charset="0"/>
              <a:ea typeface="+mn-ea"/>
              <a:cs typeface="+mn-cs"/>
            </a:endParaRPr>
          </a:p>
          <a:p>
            <a:endParaRPr lang="es-ES" sz="1200" b="1" kern="1200" dirty="0">
              <a:solidFill>
                <a:schemeClr val="tx1"/>
              </a:solidFill>
              <a:effectLst/>
              <a:latin typeface="Arial" charset="0"/>
              <a:ea typeface="+mn-ea"/>
              <a:cs typeface="+mn-cs"/>
            </a:endParaRPr>
          </a:p>
          <a:p>
            <a:r>
              <a:rPr lang="es-ES" sz="1200" b="1" kern="1200" dirty="0">
                <a:solidFill>
                  <a:schemeClr val="tx1"/>
                </a:solidFill>
                <a:effectLst/>
                <a:latin typeface="Arial" charset="0"/>
                <a:ea typeface="+mn-ea"/>
                <a:cs typeface="+mn-cs"/>
              </a:rPr>
              <a:t>Figura 16: Principio de funcionamiento: concepto de zona</a:t>
            </a:r>
            <a:endParaRPr lang="es-ES" sz="11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s-ES" sz="1200" kern="1200" dirty="0">
                <a:solidFill>
                  <a:schemeClr val="tx1"/>
                </a:solidFill>
                <a:effectLst/>
                <a:latin typeface="Arial" charset="0"/>
                <a:ea typeface="+mn-ea"/>
                <a:cs typeface="+mn-cs"/>
              </a:rPr>
              <a:t>El Terminal de zona actúa como unión entre la zona de seguridad y KNX. Los requerimientos de la zona deben definirse cuando se diseña el proyecto KNX. La información del Terminal de zona se vuelve efectiva si la información se puede usar con varios propósitos de evaluación (p. ej.: si el mismo detector se puede usar como: detector de zona de ventana para señales de alarma, detección de colisión para persianas y protección contra heladas para el modo calefacción). Es recomendable usar el mismo número de sensores por zona, como contactos magnéticos, sensores de rotura de cristales, detectores de movimiento o detectores de incendio... que en los sistemas de alarma anti-intrusión, es decir, un máximo de 20.</a:t>
            </a:r>
            <a:endParaRPr lang="es-ES" sz="1000" kern="1200" dirty="0">
              <a:solidFill>
                <a:schemeClr val="tx1"/>
              </a:solidFill>
              <a:effectLst/>
              <a:latin typeface="Arial" charset="0"/>
              <a:ea typeface="+mn-ea"/>
              <a:cs typeface="+mn-cs"/>
            </a:endParaRPr>
          </a:p>
          <a:p>
            <a:r>
              <a:rPr lang="es-ES" sz="1200" kern="1200" dirty="0">
                <a:solidFill>
                  <a:schemeClr val="tx1"/>
                </a:solidFill>
                <a:effectLst/>
                <a:latin typeface="Arial" charset="0"/>
                <a:ea typeface="+mn-ea"/>
                <a:cs typeface="+mn-cs"/>
              </a:rPr>
              <a:t>Cada zona se cierra con una resistencia de 2,7 </a:t>
            </a:r>
            <a:r>
              <a:rPr lang="es-ES" sz="1200" kern="1200" dirty="0" err="1">
                <a:solidFill>
                  <a:schemeClr val="tx1"/>
                </a:solidFill>
                <a:effectLst/>
                <a:latin typeface="Arial" charset="0"/>
                <a:ea typeface="+mn-ea"/>
                <a:cs typeface="+mn-cs"/>
              </a:rPr>
              <a:t>kΩ</a:t>
            </a:r>
            <a:r>
              <a:rPr lang="es-ES" sz="1200" kern="1200" dirty="0">
                <a:solidFill>
                  <a:schemeClr val="tx1"/>
                </a:solidFill>
                <a:effectLst/>
                <a:latin typeface="Arial" charset="0"/>
                <a:ea typeface="+mn-ea"/>
                <a:cs typeface="+mn-cs"/>
              </a:rPr>
              <a:t> en el </a:t>
            </a:r>
            <a:r>
              <a:rPr lang="es-ES" sz="1200" u="sng" kern="1200" dirty="0">
                <a:solidFill>
                  <a:schemeClr val="tx1"/>
                </a:solidFill>
                <a:effectLst/>
                <a:latin typeface="Arial" charset="0"/>
                <a:ea typeface="+mn-ea"/>
                <a:cs typeface="+mn-cs"/>
              </a:rPr>
              <a:t>último</a:t>
            </a:r>
            <a:r>
              <a:rPr lang="es-ES" sz="1200" kern="1200" dirty="0">
                <a:solidFill>
                  <a:schemeClr val="tx1"/>
                </a:solidFill>
                <a:effectLst/>
                <a:latin typeface="Arial" charset="0"/>
                <a:ea typeface="+mn-ea"/>
                <a:cs typeface="+mn-cs"/>
              </a:rPr>
              <a:t> detector.</a:t>
            </a: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17</a:t>
            </a:fld>
            <a:endParaRPr lang="en-US"/>
          </a:p>
        </p:txBody>
      </p:sp>
    </p:spTree>
    <p:extLst>
      <p:ext uri="{BB962C8B-B14F-4D97-AF65-F5344CB8AC3E}">
        <p14:creationId xmlns:p14="http://schemas.microsoft.com/office/powerpoint/2010/main" val="1270227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KNX Zone Terminal</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Two operating modes can be implemented with the zone terminal.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‘Report’ mode, the states of zones A-D are reported but not stored.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However, in ‘Monitor’ mode, the states of the zone are both reported and stored. It is only possible to change to this mode if no signals (‘Zones A-D’ and ‘Supply Voltage Fault’) are present. The states of the zones (alarm) must be acknowledged (‘Set/unset’ object is set to ‘0’). These states must also be reset (‘Reset zones“ object is set to ‘1’).</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18</a:t>
            </a:fld>
            <a:endParaRPr lang="en-US"/>
          </a:p>
        </p:txBody>
      </p:sp>
    </p:spTree>
    <p:extLst>
      <p:ext uri="{BB962C8B-B14F-4D97-AF65-F5344CB8AC3E}">
        <p14:creationId xmlns:p14="http://schemas.microsoft.com/office/powerpoint/2010/main" val="1897195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19</a:t>
            </a:fld>
            <a:endParaRPr lang="en-US"/>
          </a:p>
        </p:txBody>
      </p:sp>
    </p:spTree>
    <p:extLst>
      <p:ext uri="{BB962C8B-B14F-4D97-AF65-F5344CB8AC3E}">
        <p14:creationId xmlns:p14="http://schemas.microsoft.com/office/powerpoint/2010/main" val="2373088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Sensors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Detectors (sensors) are divided into automatic and non-automatic detectors. Automatic detectors record an attempted break-in or sabotage and trigger the alarm. Non-automatic detectors trigger a targeted alarm.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difference between active and passive detectors is likewise indicated.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active detector consists mainly of a transmitter and receiver, whereby the detector monitors itself and triggers an alarm on failure of the transmitter or receiver. The passive detector is only able to record certain values or their change in value and to send a signal to the intruder alarm control unit when the set threshold is exceeded. A fault signal is however not automatically issued in the event of a failure. </a:t>
            </a:r>
          </a:p>
          <a:p>
            <a:endParaRPr lang="en-GB"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20</a:t>
            </a:fld>
            <a:endParaRPr lang="en-US"/>
          </a:p>
        </p:txBody>
      </p:sp>
    </p:spTree>
    <p:extLst>
      <p:ext uri="{BB962C8B-B14F-4D97-AF65-F5344CB8AC3E}">
        <p14:creationId xmlns:p14="http://schemas.microsoft.com/office/powerpoint/2010/main" val="17672127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Sensors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Detectors (sensors) are divided into automatic and non-automatic detectors. Automatic detectors record an attempted break-in or sabotage and trigger the alarm. Non-automatic detectors trigger a targeted alarm.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difference between active and passive detectors is likewise indicated.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active detector consists mainly of a transmitter and receiver, whereby the detector monitors itself and triggers an alarm on failure of the transmitter or receiver. The passive detector is only able to record certain values or their change in value and to send a signal to the intruder alarm control unit when the set threshold is exceeded. A fault signal is however not automatically issued in the event of a failure. A further classification of the detectors is carried out according to the physical principle.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Electro-acoustic detectors use sound waves, whereby the frequency is dependent on the design and application.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Active glass-breakage sensor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Passive glass-breakage sensor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Seismic detector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Ultrasonic movement detector</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Electro-optical detectors use heat rays in the form of infrared.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Photoelectric barriers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Infrared movement detector</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Infrared barriers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Money clips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Electric detectors use electromagnetic waves or electric capacity changes.</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dirty="0">
                <a:solidFill>
                  <a:schemeClr val="tx1"/>
                </a:solidFill>
                <a:effectLst/>
                <a:latin typeface="Arial" charset="0"/>
                <a:ea typeface="+mn-ea"/>
                <a:cs typeface="+mn-cs"/>
              </a:rPr>
              <a:t>Microwave detectors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Microwave links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Capacitive field change sensor</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Electro-mechanical detectors are divided according to the different types of contacts: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Normally closed/normally open contacts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Trip wire contacts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Hook contacts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Vibration detectors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Strike plate contacts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possible to have a combination of different physical principles in one detector.</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21</a:t>
            </a:fld>
            <a:endParaRPr lang="en-US"/>
          </a:p>
        </p:txBody>
      </p:sp>
    </p:spTree>
    <p:extLst>
      <p:ext uri="{BB962C8B-B14F-4D97-AF65-F5344CB8AC3E}">
        <p14:creationId xmlns:p14="http://schemas.microsoft.com/office/powerpoint/2010/main" val="41818075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Intruder alarm control unit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intruder alarm control unit evaluates the signals from the detectors and initiates the appropriate measures (alarm signals). Depending on the design of the control unit, the different states of the system can be read by the user and (or) offer the user various operation modes. The main tasks of the intruder alarm system include the recording, processing and routing of signals and information such as intruder, sabotage and fault signals. Further tasks are:</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US" sz="12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Recording and evaluating the signals from the detectors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Triggering of alarm device(s)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Monitoring the supply device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Display of faults based on the zones / detectors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Display of set/unset state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22</a:t>
            </a:fld>
            <a:endParaRPr lang="en-US"/>
          </a:p>
        </p:txBody>
      </p:sp>
    </p:spTree>
    <p:extLst>
      <p:ext uri="{BB962C8B-B14F-4D97-AF65-F5344CB8AC3E}">
        <p14:creationId xmlns:p14="http://schemas.microsoft.com/office/powerpoint/2010/main" val="1064158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Alarm</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alarm types are possible:</a:t>
            </a:r>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Acoustic alarm</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Optical alarm</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Silent alarm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case of an acoustic alarm, a loud signal tone is produced by a signalling device. The loud signal tone focuses the attention of the surrounding neighbourhood on the property. The use of the acoustic alarm outside is limited to 180 seconds. There is no limit when it is used inside.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an optical alarm is triggered, a strobe light or flashing light is generated by a signalling device which attracts the attention of the neighbourhood. In practice, a combination of an acoustic and optical alarm is frequently used.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silent alarm is used if there is an unpredictable situation for the staff or environment. It is most widely used in banks where the employees can trigger an alarm unnoticed by the perpetrator. In the case of a silent alarm, no signalling devices are triggered in contrast to an acoustic or optical alarm. Security staff are alerted using telecommunication options.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Alarms are divided into:</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Internal alarm</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External alarm</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Remote alarm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internal alarm only triggers the alarm inside the property. No external signalling devices are activated and no messages are issued outside the building.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external alarm trips the signalling devices such as strobe lights and/or sirens.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emergency services are notified with the remote alarm using telecommunication options.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23</a:t>
            </a:fld>
            <a:endParaRPr lang="en-US"/>
          </a:p>
        </p:txBody>
      </p:sp>
    </p:spTree>
    <p:extLst>
      <p:ext uri="{BB962C8B-B14F-4D97-AF65-F5344CB8AC3E}">
        <p14:creationId xmlns:p14="http://schemas.microsoft.com/office/powerpoint/2010/main" val="23578331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Setting / Arming Device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an intruder alarm system is set, an alarm is triggered when an attempted break-in is detected. If the system is unset, there is no alarm.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system is set or unset using an arming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are electromechanical, intelligent and proximity arming devices.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24</a:t>
            </a:fld>
            <a:endParaRPr lang="en-US"/>
          </a:p>
        </p:txBody>
      </p:sp>
    </p:spTree>
    <p:extLst>
      <p:ext uri="{BB962C8B-B14F-4D97-AF65-F5344CB8AC3E}">
        <p14:creationId xmlns:p14="http://schemas.microsoft.com/office/powerpoint/2010/main" val="15790474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Setting / Arming Device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electromechanical arming device consists of a switching lock which is linked with the mechanical locking of the access door.</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the intelligent arming device, the system is set e.g. using a combination lock (by entering a number combination). This arming device must also be linked to a mechanical lock-out of the access door.</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proximity arming device consists of a sensor unit, an evaluation unit and a distribution board.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Key-operated transponders, which contain the actual identification, can be read in and deleted. Used together with the locking element in the door frame as well as a key bolt switching contact for lock monitoring, the mechanical lock-out of the access door is guaranteed.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connection of the arming device and lock-out can be carried out electrically or mechanically. It must however be ensured that it is not possible to enter the protection area accidentally when the intruder alarm system is set (positive drive).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25</a:t>
            </a:fld>
            <a:endParaRPr lang="en-US"/>
          </a:p>
        </p:txBody>
      </p:sp>
    </p:spTree>
    <p:extLst>
      <p:ext uri="{BB962C8B-B14F-4D97-AF65-F5344CB8AC3E}">
        <p14:creationId xmlns:p14="http://schemas.microsoft.com/office/powerpoint/2010/main" val="2952274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Panic Alarms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Panic alarms are push buttons which are operated should someone find themselves in danger. A remote alarm is activated immediately after operation of the push button. A panic alarm may then </a:t>
            </a:r>
            <a:r>
              <a:rPr lang="en-GB" sz="1200" b="1" u="sng" kern="1200" dirty="0">
                <a:solidFill>
                  <a:schemeClr val="tx1"/>
                </a:solidFill>
                <a:effectLst/>
                <a:latin typeface="Arial" charset="0"/>
                <a:ea typeface="+mn-ea"/>
                <a:cs typeface="+mn-cs"/>
              </a:rPr>
              <a:t>only</a:t>
            </a:r>
            <a:r>
              <a:rPr lang="en-GB" sz="1200" b="1"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trigger a local alarm if the transmission route of the remote alarm is disrupted.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further possibility is a silent alarm at an alarm receiving office (security staff).</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26</a:t>
            </a:fld>
            <a:endParaRPr lang="en-US"/>
          </a:p>
        </p:txBody>
      </p:sp>
    </p:spTree>
    <p:extLst>
      <p:ext uri="{BB962C8B-B14F-4D97-AF65-F5344CB8AC3E}">
        <p14:creationId xmlns:p14="http://schemas.microsoft.com/office/powerpoint/2010/main" val="1168645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Monitoring</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Opening Surveillance, Lock Monitoring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monitoring of windows, doors, skylights or similar to detect if they are opened or closed is called opening surveillance.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locked or bolted status of doors, windows or skylights is observed using lock monitoring. A disruption in a lock monitoring circuit or zone does not lead to an alarm but prevents the system from being set. To achieve the enforced contact separation when setting an intruder alarm system, the lock state of doors, gates and windows must be monitored. An unlocked component prevents the intruder alarm system from being armed. In “set” mode, a fault in the lock monitoring does not lead to an alarm being sent.</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Magnet reed contacts are used for the opening surveillance of doors, windows and skylights. They consist of a magnet and a reed contact. The magnet is mounted on the window sash or the door panel. The reed contact is mounted directly next to or above the magnet on the door or window frame.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17:</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Opening surveillance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reed contact is closed under the influence of the magnetic field.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window or door is opened, the magnet moves away from the reed contact and the influence of the magnetic field on the contact is disrupted. The reed contact is opened again and the zone is interrupted. This is classed as an attempted break-in by the intruder alarm control unit. A magnet reed contact may only be fitted within the monitored area (inside surface of the window or door). The reed contact is connected as four-core.</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18: Opening surveillance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27</a:t>
            </a:fld>
            <a:endParaRPr lang="en-US"/>
          </a:p>
        </p:txBody>
      </p:sp>
    </p:spTree>
    <p:extLst>
      <p:ext uri="{BB962C8B-B14F-4D97-AF65-F5344CB8AC3E}">
        <p14:creationId xmlns:p14="http://schemas.microsoft.com/office/powerpoint/2010/main" val="35233026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are different magnet reed contacts for a variety of areas of application.</a:t>
            </a:r>
            <a:endParaRPr lang="es-ES" sz="1200"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Universal magnet reed contact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design of the magnet reed contact allows it to be screwed or drilled in position. The maximum distance between the reed contact and the magnet is 15 mm.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installing on ferromagnetic materials (e.g. steel door), surface-mounted assembly must be used. The spacers provided should be used.</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Magnet reed contact with protection against external magnetic fields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magnet reed contact also has a tamper contact (normally open contact) which is triggered when exposed to an external magnetic field (e.g. the reed contact being influenced by another magnet) and the zone is shorted.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distance between the magnet and the reed contact can be up to 15 mm.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19: Magnet reed contact with protection against external magnetic fields</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28</a:t>
            </a:fld>
            <a:endParaRPr lang="en-US"/>
          </a:p>
        </p:txBody>
      </p:sp>
    </p:spTree>
    <p:extLst>
      <p:ext uri="{BB962C8B-B14F-4D97-AF65-F5344CB8AC3E}">
        <p14:creationId xmlns:p14="http://schemas.microsoft.com/office/powerpoint/2010/main" val="33433388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High-performance magnet reed contact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high-performance magnet reed contact is particularly suitable for use on garage doors and heavy metal doors. Due to its increased magnetic system, the SMKG can be used directly on metal doors and gates.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distance between the magnet and the reed contact can be up to 30 mm.</a:t>
            </a:r>
            <a:endParaRPr lang="es-ES" sz="1200"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Roll gate contact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roll gate contact is used on roll gates or other large gates. It is particularly resistant to dust, damp and chemicals such as oil and petrol. Due to its design, it can be installed on the edge of the gate on the floor. It withstands vehicles running over it with rubber tyres without any damage. It should be inserted into the floor for heavier loads. The distance between the magnet and reed contact can be up to 45 mm.</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Lock monitoring for doors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key bolt switching contact is used for the lock monitoring of doors. It has a two-way contact and can therefore be used as a normally closed or a normally open contact. The installation is carried out behind the strike plate so that the contact can be operated via the bolt lock.</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20: Lock monitoring for doors</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double locks, the key bolt switching contact should be mounted so that it only responds on the second turn of the key. The protection type of the key bolt switching contact complies with IP 67.</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29</a:t>
            </a:fld>
            <a:endParaRPr lang="en-US"/>
          </a:p>
        </p:txBody>
      </p:sp>
    </p:spTree>
    <p:extLst>
      <p:ext uri="{BB962C8B-B14F-4D97-AF65-F5344CB8AC3E}">
        <p14:creationId xmlns:p14="http://schemas.microsoft.com/office/powerpoint/2010/main" val="3631629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Windows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lock monitoring of windows can be carried out directly or indirectly. Direct monitoring is achieved with the module for windows. A special circular magnet is mounted on the push rod of the window sash. The reed contact is mounted in the appropriate position on the window frame.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Indirect monitoring is carried out with thrust bolts. The thrust bolt is mounted in the window frame. If the window is closed but not locked, the thrust bolts push the window open again a crack. The magnet reed contact is thus addressed and the corresponding zone is disrupted.</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Monitoring of panes of glass by passive glass-breakage sensors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Passive glass-breakage sensors use a piezoelectric microphone to register vibrations that are caused by forcible damage to the pane and evaluate them. The corresponding zone is short-circuited when the glass is damaged. They should be wired into the zone so that their cable connection to the control unit cannot be disrupted by other detectors. The maximum monitoring range is 2 m. It is possible to mount several sensors on one pane of glass.</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21: Monitoring of panes of glass by passive glass-breakage sensors</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sensor is fixed onto the inside of the double glazing (silica glass) that is to be monitored using adhesive. The connection is carried out as 4-core.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Single glazing, laminated or coated glass and safety glass may not be monitored with glass-breakage sensors.</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22: Window with a glass-breakage sensor</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30</a:t>
            </a:fld>
            <a:endParaRPr lang="en-US"/>
          </a:p>
        </p:txBody>
      </p:sp>
    </p:spTree>
    <p:extLst>
      <p:ext uri="{BB962C8B-B14F-4D97-AF65-F5344CB8AC3E}">
        <p14:creationId xmlns:p14="http://schemas.microsoft.com/office/powerpoint/2010/main" val="36028149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Peripheral Protection, Surface Surveillance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Peripheral protection involves the monitoring of all doors, windows and openings that lead outside as well as any other possible access points.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Surfaces (panes of glass, doors, and external walls) can be monitored using surface surveillance which is used to detect someone breaking in (damage to the surface), climbing through (damage to the surface and penetration of the protection area) or reaching through (damage to the surface and reaching into the protection area).</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Surface surveillance with vibration detectors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vibration detector of the intruder alarm system evaluates the vibrations caused when surfaces are destroyed (panes, glass blocks, door panels, walls). If vibrations of a specified level are registered, the alarm contact is closed and the zone is shorted.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23: Surface surveillance with vibration detectors</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Vibration detectors should always be wired into the zone so that their cable connection to the control unit cannot be disrupted by other detectors. The detector is glued or screwed onto the surface that will be monitored. The wiring is four-core. The effective range is 1.15 m for glass and 0.55 m for concrete, steel and wood.</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31</a:t>
            </a:fld>
            <a:endParaRPr lang="en-US"/>
          </a:p>
        </p:txBody>
      </p:sp>
    </p:spTree>
    <p:extLst>
      <p:ext uri="{BB962C8B-B14F-4D97-AF65-F5344CB8AC3E}">
        <p14:creationId xmlns:p14="http://schemas.microsoft.com/office/powerpoint/2010/main" val="21295358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Interior Surveillance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Movements within closed rooms or the opening of monitored access points are analysed directly via interior surveillance. The change in specific physical variables is classed as an attempted break-in and reported. Rooms are monitored by motion detectors with various methods of operation.</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32</a:t>
            </a:fld>
            <a:endParaRPr lang="en-US"/>
          </a:p>
        </p:txBody>
      </p:sp>
    </p:spTree>
    <p:extLst>
      <p:ext uri="{BB962C8B-B14F-4D97-AF65-F5344CB8AC3E}">
        <p14:creationId xmlns:p14="http://schemas.microsoft.com/office/powerpoint/2010/main" val="42286783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Passive infrared motion detectors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infrared motion detectors react to thermal movement via photodiodes that are sensitive to infrared. The monitoring area is divided into zones and planes by an optical lens. If the heat radiation in a zone changes within a short time period, the motion detector evaluates this as an attempted break-in. In this case, the alarm contact is addressed which interrupts the zone.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motion detector is most adept at picking up movement in a direction that is at a tangent to the detector.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As a result, sources of error can be produced by draughts, heating systems, air conditioning systems, direct sunlight and other heat sources.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For this reason, infrared detectors should not be directed at heating systems or windows.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Motion detectors can have different lens systems.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the volumetric lens (full room monitoring), entire rooms can be monitored. The long zone lens is suitable for long rooms (hallways) and the curtain lens is used for surface surveillance in order to detect someone climbing in.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size of the monitoring area can be adjusted on the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motion detector must be connected to the power supply for detectors on the intruder alarm control unit.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alarm contact (normally closed contact) is included in the intruder zone while the tamper contact (normally closed contact) is looped into the sabotage zone.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It is possible to carry out a walk test on the motion detector.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can be activated by a switch inside the motion detector or by applying +12 V at the test input. The motion detector also has a memory logic (alarm memory) i.e. it stores any attempted break-in that is detected when the system has been set. When the system has been deactivated, an LED indicates which detector registered the attempted break-in.</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Several detectors contain anti-masking circuitry. They are therefore in the position to detect whether they are covered by an object and are thereby restricted in their function.</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addition to cover surveillance which adapts itself automatically to the local conditions, passive infrared detectors of </a:t>
            </a:r>
            <a:r>
              <a:rPr lang="en-GB" sz="1200" kern="1200" dirty="0" err="1">
                <a:solidFill>
                  <a:schemeClr val="tx1"/>
                </a:solidFill>
                <a:effectLst/>
                <a:latin typeface="Arial" charset="0"/>
                <a:ea typeface="+mn-ea"/>
                <a:cs typeface="+mn-cs"/>
              </a:rPr>
              <a:t>VdS</a:t>
            </a:r>
            <a:r>
              <a:rPr lang="en-GB" sz="1200" kern="1200" dirty="0">
                <a:solidFill>
                  <a:schemeClr val="tx1"/>
                </a:solidFill>
                <a:effectLst/>
                <a:latin typeface="Arial" charset="0"/>
                <a:ea typeface="+mn-ea"/>
                <a:cs typeface="+mn-cs"/>
              </a:rPr>
              <a:t> class C for high security requirements have an alarm memory as well as processor monitoring, whereby a high level of detection and interference immunity is guaranteed.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monitoring area of this movement detector can be changed from volumetric to long-range or creep zone protection by replacing the lens.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signalling of the fault and cover surveillance is carried out by a potential-free contact. The connection of the movement detector is eight-core or ten-core if the walk test and alarm memory should be controlled remotely.</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33</a:t>
            </a:fld>
            <a:endParaRPr lang="en-US"/>
          </a:p>
        </p:txBody>
      </p:sp>
    </p:spTree>
    <p:extLst>
      <p:ext uri="{BB962C8B-B14F-4D97-AF65-F5344CB8AC3E}">
        <p14:creationId xmlns:p14="http://schemas.microsoft.com/office/powerpoint/2010/main" val="12915002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Infrared motion detector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detector is fitted with a long-range lens and has anti-masking technology. The sabotage zone is interrupted by a removal contact if the detector is disconnected from the wall. The function of this contact can be deactivated.</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Dual detector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motion detector carries out monitoring using both infrared and an electromagnetic field.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Its monitoring area is volumetric. Its monitoring techniques are electronically linked so that the motion detector only reports an alarm if both elements have detected an attempted break-in.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sizes of the two monitoring areas can be set separately.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dual detector has both anti-masking circuitry and an alarm memory and can also carry out a walk test.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34</a:t>
            </a:fld>
            <a:endParaRPr lang="en-US"/>
          </a:p>
        </p:txBody>
      </p:sp>
    </p:spTree>
    <p:extLst>
      <p:ext uri="{BB962C8B-B14F-4D97-AF65-F5344CB8AC3E}">
        <p14:creationId xmlns:p14="http://schemas.microsoft.com/office/powerpoint/2010/main" val="944090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Panic alarm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panic alarm contains an alarm contact (normally closed contact) which is triggered manually with a push-button action. When it is triggered, this alarm contact interrupts the panic zone. The built-in tamper contact (normally closed contact) interrupts the sabotage zone when an attempt is made to open the contact.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connection of the detector is carried out as six-core. It can be supplied as a surface- or flush-mounted version.</a:t>
            </a:r>
            <a:endParaRPr lang="es-ES" sz="1200"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Contact locks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contact lock serves as a remote switching device. When used as an arming device, a locking element should be inserted in the access door to the protection area so that it is not possible to enter the armed area accidentally.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contact lock is fitted with two changeover contacts - one is operated when the lock is turned anti-clockwise and the other when the lock is turned clockwise. Operation is carried out via a conventional profile half cylinder. It is possible to choose between a key or switching function for the contacts.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enables for example the combined use of the contact lock as a remote reset button and arming device from one or more locations. Built-in LEDs enable the display of the operating states of the control unit (e.g. set/unset and ready set). An acknowledgement buzzer is integrated into the contact lock. The required number of cores for the connection cable differs depending on the function of the contact lock. 12 cores are however sufficient in any case.</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35</a:t>
            </a:fld>
            <a:endParaRPr lang="en-US"/>
          </a:p>
        </p:txBody>
      </p:sp>
    </p:spTree>
    <p:extLst>
      <p:ext uri="{BB962C8B-B14F-4D97-AF65-F5344CB8AC3E}">
        <p14:creationId xmlns:p14="http://schemas.microsoft.com/office/powerpoint/2010/main" val="3119511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Switchgear unit (for installation only in monitored area)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switchgear unit is used primarily as an internal arming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unit contains two changeover contacts which can be used together as an intermediate switch. An impulse contact is provided which closes briefly when setting and deactivating the system.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contacts are operated by a built-in lock.</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Built-in LEDs enable the display of the operating states of the control unit (e.g. set/unset and ready set). The acknowledgement buzzer is likewise available.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integrated tamper contact interrupts the sabotage zone when an attempt is made to open the switchgear unit. The connection is 12-core.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Locking element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locking element is used to keep doors shut when the system is set, if a contact lock or the proximity arming device are used to arm the system and a positive opening operation is not guaranteed. It is also possible to keep adjacent doors electrically closed when the system is set. The locking element is controlled by the key bolt switching contact which is inserted in the strike plate of the door.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set acknowledgement signal of the intruder alarm control unit disables further control by the key bolt switching contact in ‘set’ mode which leads to the door being locked for this switching phase.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36</a:t>
            </a:fld>
            <a:endParaRPr lang="en-US"/>
          </a:p>
        </p:txBody>
      </p:sp>
    </p:spTree>
    <p:extLst>
      <p:ext uri="{BB962C8B-B14F-4D97-AF65-F5344CB8AC3E}">
        <p14:creationId xmlns:p14="http://schemas.microsoft.com/office/powerpoint/2010/main" val="4526312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Key bolt switch lock</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Key bolt switch locks are used to set intruder alarm control systems with low risks. They are integrated into the access door to the protection area in addition to the existing lock. The door is locked when the intruder alarm system is in set mode which prevents anyone from entering the protection area. The key bolt switch lock is operated with a conventional profile half cylinder.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is no resistance circuit present in the set zone. This must be carried out in the distribution box.</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external set/unset LED is connected to the two free cores which are then inserted in the door. The connection of the key bolt switch lock is six-core.</a:t>
            </a:r>
            <a:endParaRPr lang="es-ES" sz="1200" kern="1200" dirty="0">
              <a:solidFill>
                <a:schemeClr val="tx1"/>
              </a:solidFill>
              <a:effectLst/>
              <a:latin typeface="Arial" charset="0"/>
              <a:ea typeface="+mn-ea"/>
              <a:cs typeface="+mn-cs"/>
            </a:endParaRPr>
          </a:p>
          <a:p>
            <a:br>
              <a:rPr lang="en-GB" sz="1200" b="1" kern="1200" dirty="0">
                <a:solidFill>
                  <a:schemeClr val="tx1"/>
                </a:solidFill>
                <a:effectLst/>
                <a:latin typeface="Arial" charset="0"/>
                <a:ea typeface="+mn-ea"/>
                <a:cs typeface="+mn-cs"/>
              </a:rPr>
            </a:br>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Block locks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block lock is used to set intruder alarm control systems. It can only be locked if the system and all its functions are ready for arming.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installed in the door that is used to exit the protection area.</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When the intruder alarm system is set, the access door to the protection area is locked which prevents anyone from entering.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block lock can be used as an inhibit lock in connection with another switchgear unit. In this case, it cannot be unlocked while the intruder alarm system is armed. It prevents anyone entering the protection area by any other doors when the system is set.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block locks have a double-bit insert which does not require the use of a security card.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conventional profile half cylinder can be inserted in the block lock. The return lock-out device of this cylinder must however be adjustable to 45° on both sides.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Proximity Arming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proximity arming device in connection with locking elements and key bolt switching contacts guarantees a positive activation of the intruder alarm control unit.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r>
              <a:rPr lang="en-GB" sz="1200" kern="1200" dirty="0">
                <a:solidFill>
                  <a:schemeClr val="tx1"/>
                </a:solidFill>
                <a:effectLst/>
                <a:latin typeface="Arial" charset="0"/>
                <a:ea typeface="+mn-ea"/>
                <a:cs typeface="+mn-cs"/>
              </a:rPr>
              <a:t>: An additional intelligent lock is required for commercial properties of security class SG5 and SG6.</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37</a:t>
            </a:fld>
            <a:endParaRPr lang="en-US"/>
          </a:p>
        </p:txBody>
      </p:sp>
    </p:spTree>
    <p:extLst>
      <p:ext uri="{BB962C8B-B14F-4D97-AF65-F5344CB8AC3E}">
        <p14:creationId xmlns:p14="http://schemas.microsoft.com/office/powerpoint/2010/main" val="31344963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Tamper Monitoring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attempt to shut down the whole or part of an intruder alarm system or to interfere with its function must always lead to a sabotage alarm.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cables and parts of the installation are therefore monitored.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set mode of an intruder alarm system, a fault in the tamper monitoring circuit must lead to an intruder alarm.</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38</a:t>
            </a:fld>
            <a:endParaRPr lang="en-US"/>
          </a:p>
        </p:txBody>
      </p:sp>
    </p:spTree>
    <p:extLst>
      <p:ext uri="{BB962C8B-B14F-4D97-AF65-F5344CB8AC3E}">
        <p14:creationId xmlns:p14="http://schemas.microsoft.com/office/powerpoint/2010/main" val="40783927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Arial" charset="0"/>
                <a:ea typeface="+mn-ea"/>
                <a:cs typeface="+mn-cs"/>
              </a:rPr>
              <a:t>Groups</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Zones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principle of a zone is based on a circuit that is shorted or interrupted by the alarm contacts of the detectors (activated when an attempted break-in is detected). The intruder alarm control unit registers these short circuits or interruptions by voltage and current measurements and initiates the appropriate measures. The various zone circuits are outlined below. Please take the exact current and voltage values for the resistance diagrams from the technical data section of the installation instructions for the intruder alarm control unit.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security technology, there is a distinction between unmonitored cables (secondary circuits) and cables that are monitored for short-circuit and interruption (primary circuits).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39</a:t>
            </a:fld>
            <a:endParaRPr lang="en-US"/>
          </a:p>
        </p:txBody>
      </p:sp>
    </p:spTree>
    <p:extLst>
      <p:ext uri="{BB962C8B-B14F-4D97-AF65-F5344CB8AC3E}">
        <p14:creationId xmlns:p14="http://schemas.microsoft.com/office/powerpoint/2010/main" val="34459573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Arial" charset="0"/>
                <a:ea typeface="+mn-ea"/>
                <a:cs typeface="+mn-cs"/>
              </a:rPr>
              <a:t>Secondary circuits are subdivided into closed- and open-loop circuits.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Closed-loop circuits are closed in the normal state and there is a flow of current.</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Secondary circuits</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24: Closed-loop circuit – flow of current</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least one of the contacts is opened, the flow of current is interrupted, which leads to a signal being sent.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Open-loop circuits are open in their normal state and there is no flow of current.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25: Open-loop circuit – no flow of current</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at least one contact is closed, there is no flow of current which leads to a signal being sent. Both these circuits can be manipulated relatively easily. Primary circuits are used for this reason.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40</a:t>
            </a:fld>
            <a:endParaRPr lang="en-US"/>
          </a:p>
        </p:txBody>
      </p:sp>
    </p:spTree>
    <p:extLst>
      <p:ext uri="{BB962C8B-B14F-4D97-AF65-F5344CB8AC3E}">
        <p14:creationId xmlns:p14="http://schemas.microsoft.com/office/powerpoint/2010/main" val="12676005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kern="1200" dirty="0">
                <a:solidFill>
                  <a:schemeClr val="tx1"/>
                </a:solidFill>
                <a:effectLst/>
                <a:latin typeface="Arial" charset="0"/>
                <a:ea typeface="+mn-ea"/>
                <a:cs typeface="+mn-cs"/>
              </a:rPr>
              <a:t>Primary circuit</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26:</a:t>
            </a:r>
            <a:r>
              <a:rPr lang="en-GB" sz="120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Primary circuit - 1 contact closed</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 is a defined current during normal operation. In the event of disruption, there is no flow of current whereas the flow increases significantly in the event of a short-circuit. Both situations lead to a signal being sent.</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41</a:t>
            </a:fld>
            <a:endParaRPr lang="en-US"/>
          </a:p>
        </p:txBody>
      </p:sp>
    </p:spTree>
    <p:extLst>
      <p:ext uri="{BB962C8B-B14F-4D97-AF65-F5344CB8AC3E}">
        <p14:creationId xmlns:p14="http://schemas.microsoft.com/office/powerpoint/2010/main" val="26886014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Sabotage zones</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Sabotage zones have an EOL resistance of 2.7 </a:t>
            </a:r>
            <a:r>
              <a:rPr lang="en-GB" sz="1200" kern="1200" dirty="0" err="1">
                <a:solidFill>
                  <a:schemeClr val="tx1"/>
                </a:solidFill>
                <a:effectLst/>
                <a:latin typeface="Arial" charset="0"/>
                <a:ea typeface="+mn-ea"/>
                <a:cs typeface="+mn-cs"/>
              </a:rPr>
              <a:t>kΩ</a:t>
            </a:r>
            <a:r>
              <a:rPr lang="en-GB" sz="1200" kern="1200" dirty="0">
                <a:solidFill>
                  <a:schemeClr val="tx1"/>
                </a:solidFill>
                <a:effectLst/>
                <a:latin typeface="Arial" charset="0"/>
                <a:ea typeface="+mn-ea"/>
                <a:cs typeface="+mn-cs"/>
              </a:rPr>
              <a:t> in the same way as primary circuits. All the tamper contacts (housing contacts) of the detectors and the branching boxes are included in the sabotage zone. A zone can have a maximum of 20 devices.</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27: Sabotage zones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42</a:t>
            </a:fld>
            <a:endParaRPr lang="en-US"/>
          </a:p>
        </p:txBody>
      </p:sp>
    </p:spTree>
    <p:extLst>
      <p:ext uri="{BB962C8B-B14F-4D97-AF65-F5344CB8AC3E}">
        <p14:creationId xmlns:p14="http://schemas.microsoft.com/office/powerpoint/2010/main" val="5115529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Lock Zones</a:t>
            </a:r>
            <a:r>
              <a:rPr lang="en-GB" sz="1200" b="0"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Lock zones are secondary circuits without EOL resistors.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28: Lock zone</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normally open contacts of all strike plate contacts are included in the zone. When using locking elements, the state of the element (open/closed) should be monitored and included in the zone.</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43</a:t>
            </a:fld>
            <a:endParaRPr lang="en-US"/>
          </a:p>
        </p:txBody>
      </p:sp>
    </p:spTree>
    <p:extLst>
      <p:ext uri="{BB962C8B-B14F-4D97-AF65-F5344CB8AC3E}">
        <p14:creationId xmlns:p14="http://schemas.microsoft.com/office/powerpoint/2010/main" val="6597027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Set Zone</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set zone can be implemented with an EOL resistance of 2.7kΩ</a:t>
            </a:r>
            <a:r>
              <a:rPr lang="en-GB" sz="10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as with primary circuits in intruder alarm systems.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short-circuit or an interruption of the set zone leads to the strengthening of the intruder alarm system.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29: Set zone</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Alternatively, in addition to the EOL resistance of 2.7 </a:t>
            </a:r>
            <a:r>
              <a:rPr lang="en-GB" sz="1200" kern="1200" dirty="0" err="1">
                <a:solidFill>
                  <a:schemeClr val="tx1"/>
                </a:solidFill>
                <a:effectLst/>
                <a:latin typeface="Arial" charset="0"/>
                <a:ea typeface="+mn-ea"/>
                <a:cs typeface="+mn-cs"/>
              </a:rPr>
              <a:t>kΩ</a:t>
            </a:r>
            <a:r>
              <a:rPr lang="en-GB" sz="1200" kern="1200" dirty="0">
                <a:solidFill>
                  <a:schemeClr val="tx1"/>
                </a:solidFill>
                <a:effectLst/>
                <a:latin typeface="Arial" charset="0"/>
                <a:ea typeface="+mn-ea"/>
                <a:cs typeface="+mn-cs"/>
              </a:rPr>
              <a:t>, a resistance of 560 Ω</a:t>
            </a:r>
            <a:r>
              <a:rPr lang="en-GB" sz="1000" kern="1200" dirty="0">
                <a:solidFill>
                  <a:schemeClr val="tx1"/>
                </a:solidFill>
                <a:effectLst/>
                <a:latin typeface="Arial" charset="0"/>
                <a:ea typeface="+mn-ea"/>
                <a:cs typeface="+mn-cs"/>
              </a:rPr>
              <a:t> </a:t>
            </a:r>
            <a:r>
              <a:rPr lang="en-GB" sz="1200" kern="1200" dirty="0">
                <a:solidFill>
                  <a:schemeClr val="tx1"/>
                </a:solidFill>
                <a:effectLst/>
                <a:latin typeface="Arial" charset="0"/>
                <a:ea typeface="+mn-ea"/>
                <a:cs typeface="+mn-cs"/>
              </a:rPr>
              <a:t>can be connected in series. The bridging of this 560 Ω resistance leads to the deactivation of the intruder alarm system. A short-circuit or disruption of the external set zone leads to a sabotage alarm.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30: Set zone </a:t>
            </a:r>
            <a:endParaRPr lang="es-ES" sz="14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44</a:t>
            </a:fld>
            <a:endParaRPr lang="en-US"/>
          </a:p>
        </p:txBody>
      </p:sp>
    </p:spTree>
    <p:extLst>
      <p:ext uri="{BB962C8B-B14F-4D97-AF65-F5344CB8AC3E}">
        <p14:creationId xmlns:p14="http://schemas.microsoft.com/office/powerpoint/2010/main" val="18600928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Panic Zone</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Panic zones are implemented as primary circuits with an EOL resistance of 2.7 </a:t>
            </a:r>
            <a:r>
              <a:rPr lang="en-GB" sz="1200" kern="1200" dirty="0" err="1">
                <a:solidFill>
                  <a:schemeClr val="tx1"/>
                </a:solidFill>
                <a:effectLst/>
                <a:latin typeface="Arial" charset="0"/>
                <a:ea typeface="+mn-ea"/>
                <a:cs typeface="+mn-cs"/>
              </a:rPr>
              <a:t>kΩ</a:t>
            </a:r>
            <a:r>
              <a:rPr lang="en-GB" sz="1200" kern="1200" dirty="0">
                <a:solidFill>
                  <a:schemeClr val="tx1"/>
                </a:solidFill>
                <a:effectLst/>
                <a:latin typeface="Arial" charset="0"/>
                <a:ea typeface="+mn-ea"/>
                <a:cs typeface="+mn-cs"/>
              </a:rPr>
              <a:t>.</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31: Panic zone</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disruption of a panic zone always leads to the triggering of a remote alarm.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45</a:t>
            </a:fld>
            <a:endParaRPr lang="en-US"/>
          </a:p>
        </p:txBody>
      </p:sp>
    </p:spTree>
    <p:extLst>
      <p:ext uri="{BB962C8B-B14F-4D97-AF65-F5344CB8AC3E}">
        <p14:creationId xmlns:p14="http://schemas.microsoft.com/office/powerpoint/2010/main" val="23042871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External Local Alarm Signal</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supply cables to the signalling devices are not monitored for intruder alarm control units. A short-circuit or disruption of these cables is not detected.</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32: External local alarm signal</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further possibility is the supply cable to the external signalling devices as primary circuits, which are monitored for short-circuit or interruption.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alarm circuits for the external signalling devices must be implemented with an EOL resistance of 1 </a:t>
            </a:r>
            <a:r>
              <a:rPr lang="en-GB" sz="1200" kern="1200" dirty="0" err="1">
                <a:solidFill>
                  <a:schemeClr val="tx1"/>
                </a:solidFill>
                <a:effectLst/>
                <a:latin typeface="Arial" charset="0"/>
                <a:ea typeface="+mn-ea"/>
                <a:cs typeface="+mn-cs"/>
              </a:rPr>
              <a:t>kΩ</a:t>
            </a:r>
            <a:r>
              <a:rPr lang="en-GB" sz="1200" kern="1200" dirty="0">
                <a:solidFill>
                  <a:schemeClr val="tx1"/>
                </a:solidFill>
                <a:effectLst/>
                <a:latin typeface="Arial" charset="0"/>
                <a:ea typeface="+mn-ea"/>
                <a:cs typeface="+mn-cs"/>
              </a:rPr>
              <a:t> each. A short-circuit or disruption of the alarm circuit leads to a sabotage alarm.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33: Tamper signal – EOL resistance of 1 </a:t>
            </a:r>
            <a:r>
              <a:rPr lang="en-GB" sz="1200" b="1" kern="1200" dirty="0" err="1">
                <a:solidFill>
                  <a:schemeClr val="tx1"/>
                </a:solidFill>
                <a:effectLst/>
                <a:latin typeface="Arial" charset="0"/>
                <a:ea typeface="+mn-ea"/>
                <a:cs typeface="+mn-cs"/>
              </a:rPr>
              <a:t>kΩ</a:t>
            </a:r>
            <a:r>
              <a:rPr lang="en-GB" sz="1200" b="1" kern="1200" dirty="0">
                <a:solidFill>
                  <a:schemeClr val="tx1"/>
                </a:solidFill>
                <a:effectLst/>
                <a:latin typeface="Arial" charset="0"/>
                <a:ea typeface="+mn-ea"/>
                <a:cs typeface="+mn-cs"/>
              </a:rPr>
              <a:t> each</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46</a:t>
            </a:fld>
            <a:endParaRPr lang="en-US"/>
          </a:p>
        </p:txBody>
      </p:sp>
    </p:spTree>
    <p:extLst>
      <p:ext uri="{BB962C8B-B14F-4D97-AF65-F5344CB8AC3E}">
        <p14:creationId xmlns:p14="http://schemas.microsoft.com/office/powerpoint/2010/main" val="21195087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Internal Local Alarm Signal</a:t>
            </a:r>
            <a:endParaRPr lang="es-ES" sz="1200" b="1" kern="1200" dirty="0">
              <a:solidFill>
                <a:schemeClr val="tx1"/>
              </a:solidFill>
              <a:effectLst/>
              <a:latin typeface="Arial" charset="0"/>
              <a:ea typeface="+mn-ea"/>
              <a:cs typeface="+mn-cs"/>
            </a:endParaRPr>
          </a:p>
          <a:p>
            <a:r>
              <a:rPr lang="en-US"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supply cables to the signalling devices are not monitored for the intruder alarm control units. A short circuit or disruption of these cables is not detected.</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34: Internal Local Alarm Signal</a:t>
            </a:r>
            <a:endParaRPr lang="es-ES" sz="1200" b="1"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47</a:t>
            </a:fld>
            <a:endParaRPr lang="en-US"/>
          </a:p>
        </p:txBody>
      </p:sp>
    </p:spTree>
    <p:extLst>
      <p:ext uri="{BB962C8B-B14F-4D97-AF65-F5344CB8AC3E}">
        <p14:creationId xmlns:p14="http://schemas.microsoft.com/office/powerpoint/2010/main" val="18567842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Flags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Each group object has five to six communication flags. These flags control the communication possibilities of an object with the bus.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48</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Setting the Flags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most cases, flags are </a:t>
            </a:r>
            <a:r>
              <a:rPr lang="en-GB" sz="1200" kern="1200" dirty="0" err="1">
                <a:solidFill>
                  <a:schemeClr val="tx1"/>
                </a:solidFill>
                <a:effectLst/>
                <a:latin typeface="Arial" charset="0"/>
                <a:ea typeface="+mn-ea"/>
                <a:cs typeface="+mn-cs"/>
              </a:rPr>
              <a:t>preset</a:t>
            </a:r>
            <a:r>
              <a:rPr lang="en-GB" sz="1200" kern="1200" dirty="0">
                <a:solidFill>
                  <a:schemeClr val="tx1"/>
                </a:solidFill>
                <a:effectLst/>
                <a:latin typeface="Arial" charset="0"/>
                <a:ea typeface="+mn-ea"/>
                <a:cs typeface="+mn-cs"/>
              </a:rPr>
              <a:t> by the manufacturers. However, if the configuration extends beyond basic functions, adaptations must be carried out.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Flag settings can take place in Buildings/Functions view, in Group Addresses view and in the Topology view at the objects of the devices. Flags can be set at individual objects or simultaneously set and deleted at several objects.</a:t>
            </a: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1.1 Example: Setting a Flag in Buildings View</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49</a:t>
            </a:fld>
            <a:endParaRPr lang="en-US"/>
          </a:p>
        </p:txBody>
      </p:sp>
    </p:spTree>
    <p:extLst>
      <p:ext uri="{BB962C8B-B14F-4D97-AF65-F5344CB8AC3E}">
        <p14:creationId xmlns:p14="http://schemas.microsoft.com/office/powerpoint/2010/main" val="33677535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Setting the Flags</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1.2 Example: Simultaneous Setting of Flags at Several Objects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In order to set or delete flags at several objects simultaneously, the relevant objects must be marked (</a:t>
            </a:r>
            <a:r>
              <a:rPr lang="en-GB" sz="1200" kern="1200" dirty="0" err="1">
                <a:solidFill>
                  <a:schemeClr val="tx1"/>
                </a:solidFill>
                <a:effectLst/>
                <a:latin typeface="Arial" charset="0"/>
                <a:ea typeface="+mn-ea"/>
                <a:cs typeface="+mn-cs"/>
              </a:rPr>
              <a:t>Shift+click</a:t>
            </a:r>
            <a:r>
              <a:rPr lang="en-GB" sz="1200" kern="1200" dirty="0">
                <a:solidFill>
                  <a:schemeClr val="tx1"/>
                </a:solidFill>
                <a:effectLst/>
                <a:latin typeface="Arial" charset="0"/>
                <a:ea typeface="+mn-ea"/>
                <a:cs typeface="+mn-cs"/>
              </a:rPr>
              <a:t> or </a:t>
            </a:r>
            <a:r>
              <a:rPr lang="en-GB" sz="1200" kern="1200" dirty="0" err="1">
                <a:solidFill>
                  <a:schemeClr val="tx1"/>
                </a:solidFill>
                <a:effectLst/>
                <a:latin typeface="Arial" charset="0"/>
                <a:ea typeface="+mn-ea"/>
                <a:cs typeface="+mn-cs"/>
              </a:rPr>
              <a:t>Ctrl+click</a:t>
            </a:r>
            <a:r>
              <a:rPr lang="en-GB" sz="1200" kern="1200" dirty="0">
                <a:solidFill>
                  <a:schemeClr val="tx1"/>
                </a:solidFill>
                <a:effectLst/>
                <a:latin typeface="Arial" charset="0"/>
                <a:ea typeface="+mn-ea"/>
                <a:cs typeface="+mn-cs"/>
              </a:rPr>
              <a:t>) and the setting is carried out in the object properties in the sidebar.</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50</a:t>
            </a:fld>
            <a:endParaRPr lang="en-US"/>
          </a:p>
        </p:txBody>
      </p:sp>
    </p:spTree>
    <p:extLst>
      <p:ext uri="{BB962C8B-B14F-4D97-AF65-F5344CB8AC3E}">
        <p14:creationId xmlns:p14="http://schemas.microsoft.com/office/powerpoint/2010/main" val="2042359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Communication Flag ‘C’</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communication flag is the “</a:t>
            </a:r>
            <a:r>
              <a:rPr lang="en-GB" sz="1200" b="1" kern="1200" dirty="0">
                <a:solidFill>
                  <a:schemeClr val="tx1"/>
                </a:solidFill>
                <a:effectLst/>
                <a:latin typeface="Arial" charset="0"/>
                <a:ea typeface="+mn-ea"/>
                <a:cs typeface="+mn-cs"/>
              </a:rPr>
              <a:t>master switch</a:t>
            </a:r>
            <a:r>
              <a:rPr lang="en-GB" sz="1200" kern="1200" dirty="0">
                <a:solidFill>
                  <a:schemeClr val="tx1"/>
                </a:solidFill>
                <a:effectLst/>
                <a:latin typeface="Arial" charset="0"/>
                <a:ea typeface="+mn-ea"/>
                <a:cs typeface="+mn-cs"/>
              </a:rPr>
              <a:t>” for communication and is set by default at all the group objects. If this flag is not set, the object cannot send or receive telegrams.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rare configurations, it can be necessary to delete the communication flag. If this is the case, it is highlighted in the application description of the manufacturer (see the following example).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this object is linked to a group address, an acknowledgement is also sent when the communication flag has been deleted!</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51</a:t>
            </a:fld>
            <a:endParaRPr lang="en-US"/>
          </a:p>
        </p:txBody>
      </p:sp>
    </p:spTree>
    <p:extLst>
      <p:ext uri="{BB962C8B-B14F-4D97-AF65-F5344CB8AC3E}">
        <p14:creationId xmlns:p14="http://schemas.microsoft.com/office/powerpoint/2010/main" val="61211003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of a Communication Flag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case of the objects of the light mood push button depicted in the following diagram, the C flag must be removed for all objects without a group address: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5: Removal of communication flag for unused objects</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52</a:t>
            </a:fld>
            <a:endParaRPr lang="en-US"/>
          </a:p>
        </p:txBody>
      </p:sp>
    </p:spTree>
    <p:extLst>
      <p:ext uri="{BB962C8B-B14F-4D97-AF65-F5344CB8AC3E}">
        <p14:creationId xmlns:p14="http://schemas.microsoft.com/office/powerpoint/2010/main" val="8158075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Write Flag ‘W’</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write flag is set, the value of a group object can be described via the bus with group telegrams.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Typical applications: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 actuator can only be switched via group telegrams if the write flag is set at its switch object.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An LED on a push button can only react to group telegrams if the write flag is set at its LED object.</a:t>
            </a:r>
            <a:endParaRPr lang="es-ES" sz="1200" kern="1200" dirty="0">
              <a:solidFill>
                <a:schemeClr val="tx1"/>
              </a:solidFill>
              <a:effectLst/>
              <a:latin typeface="Arial" charset="0"/>
              <a:ea typeface="+mn-ea"/>
              <a:cs typeface="+mn-cs"/>
            </a:endParaRPr>
          </a:p>
          <a:p>
            <a:pPr marL="0" indent="0">
              <a:buFont typeface="Arial" panose="020B0604020202020204" pitchFamily="34" charset="0"/>
              <a:buNone/>
            </a:pPr>
            <a:endParaRPr lang="en-GB" sz="1200"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dirty="0">
                <a:solidFill>
                  <a:schemeClr val="tx1"/>
                </a:solidFill>
                <a:effectLst/>
                <a:latin typeface="Arial" charset="0"/>
                <a:ea typeface="+mn-ea"/>
                <a:cs typeface="+mn-cs"/>
              </a:rPr>
              <a:t>The write flag is set by default for all switch objects, value objects on dimming actuators as well as many push button objects (e.g. for the update of TOGGLE functions).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53</a:t>
            </a:fld>
            <a:endParaRPr lang="en-US"/>
          </a:p>
        </p:txBody>
      </p:sp>
    </p:spTree>
    <p:extLst>
      <p:ext uri="{BB962C8B-B14F-4D97-AF65-F5344CB8AC3E}">
        <p14:creationId xmlns:p14="http://schemas.microsoft.com/office/powerpoint/2010/main" val="26873253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Transmit Flag ‘T’</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transmit flag is set, a group object can </a:t>
            </a:r>
            <a:r>
              <a:rPr lang="en-GB" sz="1200" u="sng" kern="1200" dirty="0">
                <a:solidFill>
                  <a:schemeClr val="tx1"/>
                </a:solidFill>
                <a:effectLst/>
                <a:latin typeface="Arial" charset="0"/>
                <a:ea typeface="+mn-ea"/>
                <a:cs typeface="+mn-cs"/>
              </a:rPr>
              <a:t>transmit</a:t>
            </a:r>
            <a:r>
              <a:rPr lang="en-GB" sz="1200" kern="1200" dirty="0">
                <a:solidFill>
                  <a:schemeClr val="tx1"/>
                </a:solidFill>
                <a:effectLst/>
                <a:latin typeface="Arial" charset="0"/>
                <a:ea typeface="+mn-ea"/>
                <a:cs typeface="+mn-cs"/>
              </a:rPr>
              <a:t> changes in its value on the bus by triggering group telegrams to the sending group address.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object value can be changed e.g. by a push button action, a change in temperature or the receipt of a group telegram.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transmit flag is set for sensors by default and in most cases also for status objects of actuators.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54</a:t>
            </a:fld>
            <a:endParaRPr lang="en-US"/>
          </a:p>
        </p:txBody>
      </p:sp>
    </p:spTree>
    <p:extLst>
      <p:ext uri="{BB962C8B-B14F-4D97-AF65-F5344CB8AC3E}">
        <p14:creationId xmlns:p14="http://schemas.microsoft.com/office/powerpoint/2010/main" val="132801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of a Transmit Flag</a:t>
            </a:r>
            <a:endParaRPr lang="es-ES" sz="1200" b="1"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8: Example: Specific transmit flag configurations can trigger telegram chain reactions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example, two dimming actuators are switched in parallel. The transmit flag has been set for </a:t>
            </a:r>
            <a:r>
              <a:rPr lang="en-GB" sz="1200" u="sng" kern="1200" dirty="0">
                <a:solidFill>
                  <a:schemeClr val="tx1"/>
                </a:solidFill>
                <a:effectLst/>
                <a:latin typeface="Arial" charset="0"/>
                <a:ea typeface="+mn-ea"/>
                <a:cs typeface="+mn-cs"/>
              </a:rPr>
              <a:t>both</a:t>
            </a:r>
            <a:r>
              <a:rPr lang="en-GB" sz="1200" kern="1200" dirty="0">
                <a:solidFill>
                  <a:schemeClr val="tx1"/>
                </a:solidFill>
                <a:effectLst/>
                <a:latin typeface="Arial" charset="0"/>
                <a:ea typeface="+mn-ea"/>
                <a:cs typeface="+mn-cs"/>
              </a:rPr>
              <a:t> dimming actuators at the combined switch/status object.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this configuration, this results in both actuators sending a telegram to 1/0/1 after each update of the switching status. The other actuator receives the telegram and sends an update telegram. Result: A chain reaction of update telegrams. The bus is put under a heavy load and the actuators possibly no longer react.</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55</a:t>
            </a:fld>
            <a:endParaRPr lang="en-US"/>
          </a:p>
        </p:txBody>
      </p:sp>
    </p:spTree>
    <p:extLst>
      <p:ext uri="{BB962C8B-B14F-4D97-AF65-F5344CB8AC3E}">
        <p14:creationId xmlns:p14="http://schemas.microsoft.com/office/powerpoint/2010/main" val="25063264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Read Flag ‘R’</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read flag enables the object value to be read out via read telegram.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function is required for visualisation, light scenes etc. to query the current object status.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More precisely: If the read telegram is set at an object, the bus devices responds to a read request telegram with a response telegram to the sending group address of the object. If the read flag is deleted, there is no response.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read flag is not set by default in most cases. The flag is set by many manufacturers for status objects.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56</a:t>
            </a:fld>
            <a:endParaRPr lang="en-US"/>
          </a:p>
        </p:txBody>
      </p:sp>
    </p:spTree>
    <p:extLst>
      <p:ext uri="{BB962C8B-B14F-4D97-AF65-F5344CB8AC3E}">
        <p14:creationId xmlns:p14="http://schemas.microsoft.com/office/powerpoint/2010/main" val="35406685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of a Transmit Flag</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represents the sequence of a read request: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by a visualisation (1.1.255)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at the status object (read flag set here) of a switch actuator (1.1.1) </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via the group address 3/2/1 (status of lamp 1):</a:t>
            </a:r>
            <a:endParaRPr lang="es-ES" sz="1200" kern="1200" dirty="0">
              <a:solidFill>
                <a:schemeClr val="tx1"/>
              </a:solidFill>
              <a:effectLst/>
              <a:latin typeface="Arial" charset="0"/>
              <a:ea typeface="+mn-ea"/>
              <a:cs typeface="+mn-cs"/>
            </a:endParaRPr>
          </a:p>
          <a:p>
            <a:pPr marL="171450" indent="-171450">
              <a:buFont typeface="Arial" panose="020B0604020202020204" pitchFamily="34" charset="0"/>
              <a:buChar char="•"/>
            </a:pPr>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57</a:t>
            </a:fld>
            <a:endParaRPr lang="en-US"/>
          </a:p>
        </p:txBody>
      </p:sp>
    </p:spTree>
    <p:extLst>
      <p:ext uri="{BB962C8B-B14F-4D97-AF65-F5344CB8AC3E}">
        <p14:creationId xmlns:p14="http://schemas.microsoft.com/office/powerpoint/2010/main" val="5839119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Special Features of Read Flags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Some specific features should be noted when using read flags: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dirty="0">
                <a:solidFill>
                  <a:schemeClr val="tx1"/>
                </a:solidFill>
                <a:effectLst/>
                <a:latin typeface="Arial" charset="0"/>
                <a:ea typeface="+mn-ea"/>
                <a:cs typeface="+mn-cs"/>
              </a:rPr>
              <a:t>The read flag should only be set at the bus device which is to respond.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The read flag is </a:t>
            </a:r>
            <a:r>
              <a:rPr lang="en-GB" sz="1200" b="1" kern="1200" dirty="0">
                <a:solidFill>
                  <a:schemeClr val="tx1"/>
                </a:solidFill>
                <a:effectLst/>
                <a:latin typeface="Arial" charset="0"/>
                <a:ea typeface="+mn-ea"/>
                <a:cs typeface="+mn-cs"/>
              </a:rPr>
              <a:t>only set once</a:t>
            </a:r>
            <a:r>
              <a:rPr lang="en-GB" sz="1200" kern="1200" dirty="0">
                <a:solidFill>
                  <a:schemeClr val="tx1"/>
                </a:solidFill>
                <a:effectLst/>
                <a:latin typeface="Arial" charset="0"/>
                <a:ea typeface="+mn-ea"/>
                <a:cs typeface="+mn-cs"/>
              </a:rPr>
              <a:t> for each group address.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If the read flag has been set for a group address at several objects, a read request would trigger several response telegrams. Different status values could be answered shortly after each other. The effects on the reading devices would then be hard to predict.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dirty="0">
                <a:solidFill>
                  <a:schemeClr val="tx1"/>
                </a:solidFill>
                <a:effectLst/>
                <a:latin typeface="Arial" charset="0"/>
                <a:ea typeface="+mn-ea"/>
                <a:cs typeface="+mn-cs"/>
              </a:rPr>
              <a:t>The group address that is used to read out the object status </a:t>
            </a:r>
            <a:r>
              <a:rPr lang="en-GB" sz="1200" b="1" u="sng" kern="1200" dirty="0">
                <a:solidFill>
                  <a:schemeClr val="tx1"/>
                </a:solidFill>
                <a:effectLst/>
                <a:latin typeface="Arial" charset="0"/>
                <a:ea typeface="+mn-ea"/>
                <a:cs typeface="+mn-cs"/>
              </a:rPr>
              <a:t>must</a:t>
            </a:r>
            <a:r>
              <a:rPr lang="en-GB" sz="1200" b="1" kern="1200" dirty="0">
                <a:solidFill>
                  <a:schemeClr val="tx1"/>
                </a:solidFill>
                <a:effectLst/>
                <a:latin typeface="Arial" charset="0"/>
                <a:ea typeface="+mn-ea"/>
                <a:cs typeface="+mn-cs"/>
              </a:rPr>
              <a:t> be placed at the transmission point of the bus device that should be read out</a:t>
            </a:r>
            <a:r>
              <a:rPr lang="en-GB" sz="1200" kern="1200" dirty="0">
                <a:solidFill>
                  <a:schemeClr val="tx1"/>
                </a:solidFill>
                <a:effectLst/>
                <a:latin typeface="Arial" charset="0"/>
                <a:ea typeface="+mn-ea"/>
                <a:cs typeface="+mn-cs"/>
              </a:rPr>
              <a:t> as the sending group address is only used as a destination in the response telegram (see following example).</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 – The group address for the read request would be 3/1/6:</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58</a:t>
            </a:fld>
            <a:endParaRPr lang="en-US"/>
          </a:p>
        </p:txBody>
      </p:sp>
    </p:spTree>
    <p:extLst>
      <p:ext uri="{BB962C8B-B14F-4D97-AF65-F5344CB8AC3E}">
        <p14:creationId xmlns:p14="http://schemas.microsoft.com/office/powerpoint/2010/main" val="29549527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Special Features of Read Flags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Some specific features should be noted when using read flags: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dirty="0">
                <a:solidFill>
                  <a:schemeClr val="tx1"/>
                </a:solidFill>
                <a:effectLst/>
                <a:latin typeface="Arial" charset="0"/>
                <a:ea typeface="+mn-ea"/>
                <a:cs typeface="+mn-cs"/>
              </a:rPr>
              <a:t>The read flag should only be set at the bus device which is to respond.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The read flag is </a:t>
            </a:r>
            <a:r>
              <a:rPr lang="en-GB" sz="1200" b="1" kern="1200" dirty="0">
                <a:solidFill>
                  <a:schemeClr val="tx1"/>
                </a:solidFill>
                <a:effectLst/>
                <a:latin typeface="Arial" charset="0"/>
                <a:ea typeface="+mn-ea"/>
                <a:cs typeface="+mn-cs"/>
              </a:rPr>
              <a:t>only set once</a:t>
            </a:r>
            <a:r>
              <a:rPr lang="en-GB" sz="1200" kern="1200" dirty="0">
                <a:solidFill>
                  <a:schemeClr val="tx1"/>
                </a:solidFill>
                <a:effectLst/>
                <a:latin typeface="Arial" charset="0"/>
                <a:ea typeface="+mn-ea"/>
                <a:cs typeface="+mn-cs"/>
              </a:rPr>
              <a:t> for each group address.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If the read flag has been set for a group address at several objects, a read request would trigger several response telegrams. Different status values could be answered shortly after each other. The effects on the reading devices would then be hard to predict.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b="1" kern="1200" dirty="0">
                <a:solidFill>
                  <a:schemeClr val="tx1"/>
                </a:solidFill>
                <a:effectLst/>
                <a:latin typeface="Arial" charset="0"/>
                <a:ea typeface="+mn-ea"/>
                <a:cs typeface="+mn-cs"/>
              </a:rPr>
              <a:t>The group address that is used to read out the object status </a:t>
            </a:r>
            <a:r>
              <a:rPr lang="en-GB" sz="1200" b="1" u="sng" kern="1200" dirty="0">
                <a:solidFill>
                  <a:schemeClr val="tx1"/>
                </a:solidFill>
                <a:effectLst/>
                <a:latin typeface="Arial" charset="0"/>
                <a:ea typeface="+mn-ea"/>
                <a:cs typeface="+mn-cs"/>
              </a:rPr>
              <a:t>must</a:t>
            </a:r>
            <a:r>
              <a:rPr lang="en-GB" sz="1200" b="1" kern="1200" dirty="0">
                <a:solidFill>
                  <a:schemeClr val="tx1"/>
                </a:solidFill>
                <a:effectLst/>
                <a:latin typeface="Arial" charset="0"/>
                <a:ea typeface="+mn-ea"/>
                <a:cs typeface="+mn-cs"/>
              </a:rPr>
              <a:t> be placed at the transmission point of the bus device that should be read out</a:t>
            </a:r>
            <a:r>
              <a:rPr lang="en-GB" sz="1200" kern="1200" dirty="0">
                <a:solidFill>
                  <a:schemeClr val="tx1"/>
                </a:solidFill>
                <a:effectLst/>
                <a:latin typeface="Arial" charset="0"/>
                <a:ea typeface="+mn-ea"/>
                <a:cs typeface="+mn-cs"/>
              </a:rPr>
              <a:t> as the sending group address is only used as a destination in the response telegram (see following example).</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Example – The group address for the read request would be 3/1/6:</a:t>
            </a:r>
            <a:endParaRPr lang="es-ES" sz="1200" kern="1200" dirty="0">
              <a:solidFill>
                <a:schemeClr val="tx1"/>
              </a:solidFill>
              <a:effectLst/>
              <a:latin typeface="Arial" charset="0"/>
              <a:ea typeface="+mn-ea"/>
              <a:cs typeface="+mn-cs"/>
            </a:endParaRPr>
          </a:p>
          <a:p>
            <a:pPr marL="0" lvl="0" indent="0">
              <a:buFont typeface="Arial" panose="020B0604020202020204" pitchFamily="34" charset="0"/>
              <a:buNone/>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59</a:t>
            </a:fld>
            <a:endParaRPr lang="en-US"/>
          </a:p>
        </p:txBody>
      </p:sp>
    </p:spTree>
    <p:extLst>
      <p:ext uri="{BB962C8B-B14F-4D97-AF65-F5344CB8AC3E}">
        <p14:creationId xmlns:p14="http://schemas.microsoft.com/office/powerpoint/2010/main" val="18581854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Update Flag ‘U’</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The update flag adopts a special role: it controls whether the received response telegrams should be ignored or whether the received value should be transferred to the group object.</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If the update flag is set, a response telegram of a read procedure is interpreted as a ‘normal’ write telegram i.e. the value of the group object is changed by the response telegram. </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If it is deleted, response telegrams are ignored.</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Update flags can only be deleted from system 2 bus couplers onwards. </a:t>
            </a:r>
          </a:p>
          <a:p>
            <a:endParaRPr lang="en-U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In the case of system 1 bus couplers, the update flag is always set. Devices with BCU1 do not distinguish between response telegrams and “normal” write telegrams. They therefore change their object status as a result of read/response sequences!</a:t>
            </a: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60</a:t>
            </a:fld>
            <a:endParaRPr lang="en-US"/>
          </a:p>
        </p:txBody>
      </p:sp>
    </p:spTree>
    <p:extLst>
      <p:ext uri="{BB962C8B-B14F-4D97-AF65-F5344CB8AC3E}">
        <p14:creationId xmlns:p14="http://schemas.microsoft.com/office/powerpoint/2010/main" val="24243305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Example of the Interaction of Read and Update Flag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clarifies the interaction of read and update flags.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13: Group address structure</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14: Group content: 1/0/1 – First floor lighting in living room ON/OFF</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15: Group content: 1/1/2 – First floor lighting in staircase ON/OFF </a:t>
            </a:r>
            <a:endParaRPr lang="es-ES"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16: Group content: 0/0/1 – Central functions lighting all ON/OFF </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a:p>
            <a:endParaRPr lang="en-GB" sz="1200" b="1"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Sample sequence:</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The multifunction push button (1.3.3) with </a:t>
            </a:r>
            <a:r>
              <a:rPr lang="en-GB" sz="1200" kern="1200" dirty="0" err="1">
                <a:solidFill>
                  <a:schemeClr val="tx1"/>
                </a:solidFill>
                <a:effectLst/>
                <a:latin typeface="Arial" charset="0"/>
                <a:ea typeface="+mn-ea"/>
                <a:cs typeface="+mn-cs"/>
              </a:rPr>
              <a:t>lightscene</a:t>
            </a:r>
            <a:r>
              <a:rPr lang="en-GB" sz="1200" kern="1200" dirty="0">
                <a:solidFill>
                  <a:schemeClr val="tx1"/>
                </a:solidFill>
                <a:effectLst/>
                <a:latin typeface="Arial" charset="0"/>
                <a:ea typeface="+mn-ea"/>
                <a:cs typeface="+mn-cs"/>
              </a:rPr>
              <a:t> module sends a read request to group 1/1/2 to query a switching state.</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The read flag is set and the actuator 1.3.2 reacts with a response telegram. </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Instead of 1/1/2, the group address of the central function 0/0/1 “Lighting ON/OFF” is incorrectly set at the sending point. The actuator therefore sends its response to 0/0/1 instead of 1/1/2!</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Result: A read request at 1/1/2 now leads to the lighting being switched on or off throughout the building (using the living room and staircase as an example) (depending on the switching state of the queried actuator)!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Sequence in detail:</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Multifunction push button sends a read telegram to 1/1/2</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Actuator 1.3.2 sends a response telegram to sending group address 0/0/1 with useful data “ON” or “OFF”.</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All other bus devices “listen to” the response telegram.</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All objects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 in which the update flag is set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 and which carry the address 0/0/1, </a:t>
            </a:r>
            <a:br>
              <a:rPr lang="en-GB" sz="1200" kern="1200" dirty="0">
                <a:solidFill>
                  <a:schemeClr val="tx1"/>
                </a:solidFill>
                <a:effectLst/>
                <a:latin typeface="Arial" charset="0"/>
                <a:ea typeface="+mn-ea"/>
                <a:cs typeface="+mn-cs"/>
              </a:rPr>
            </a:br>
            <a:r>
              <a:rPr lang="en-GB" sz="1200" kern="1200" dirty="0">
                <a:solidFill>
                  <a:schemeClr val="tx1"/>
                </a:solidFill>
                <a:effectLst/>
                <a:latin typeface="Arial" charset="0"/>
                <a:ea typeface="+mn-ea"/>
                <a:cs typeface="+mn-cs"/>
              </a:rPr>
              <a:t>now interpret the response telegram precisely as a “normal” write telegram and adopt the useful data i.e. “ON” or “OFF”.</a:t>
            </a:r>
            <a:endParaRPr lang="es-ES" sz="1200" kern="1200" dirty="0">
              <a:solidFill>
                <a:schemeClr val="tx1"/>
              </a:solidFill>
              <a:effectLst/>
              <a:latin typeface="Arial" charset="0"/>
              <a:ea typeface="+mn-ea"/>
              <a:cs typeface="+mn-cs"/>
            </a:endParaRPr>
          </a:p>
          <a:p>
            <a:pPr lvl="0"/>
            <a:r>
              <a:rPr lang="en-GB" sz="1200" kern="1200" dirty="0">
                <a:solidFill>
                  <a:schemeClr val="tx1"/>
                </a:solidFill>
                <a:effectLst/>
                <a:latin typeface="Arial" charset="0"/>
                <a:ea typeface="+mn-ea"/>
                <a:cs typeface="+mn-cs"/>
              </a:rPr>
              <a:t>The relevant actuator channels are switched.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If the configuration is incorrect, read requests can trigger (unintentional) switching actions!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61</a:t>
            </a:fld>
            <a:endParaRPr lang="en-US"/>
          </a:p>
        </p:txBody>
      </p:sp>
    </p:spTree>
    <p:extLst>
      <p:ext uri="{BB962C8B-B14F-4D97-AF65-F5344CB8AC3E}">
        <p14:creationId xmlns:p14="http://schemas.microsoft.com/office/powerpoint/2010/main" val="91452263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The Read on Init </a:t>
            </a:r>
            <a:r>
              <a:rPr lang="en-GB" sz="1200" b="1" kern="1200">
                <a:solidFill>
                  <a:schemeClr val="tx1"/>
                </a:solidFill>
                <a:effectLst/>
                <a:latin typeface="Arial" charset="0"/>
                <a:ea typeface="+mn-ea"/>
                <a:cs typeface="+mn-cs"/>
              </a:rPr>
              <a:t>Flag ‘I’</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addition to the flags (CRWTU) described above, system B devices (with mask versions $07B0 and $17B0) also offer a Read on Init flag (called “I” flag).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If the Read on Init flag is set for one or more group objects, the device automatically triggers read telegrams to the sending group addresses after bus voltage failure and recovery.</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‘I’ flag is not set by default in most cases.</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Usually, a delay can be set in the parameters for triggering read telegrams. If many ‘I‘ flags are set in an installation, the delays for all the relevant device should be set carefully and of varying duration. Otherwise it could cause a high bus load if a large number of devices send their read requests “simultaneously” after bus voltage recovery.</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62</a:t>
            </a:fld>
            <a:endParaRPr lang="en-US"/>
          </a:p>
        </p:txBody>
      </p:sp>
    </p:spTree>
    <p:extLst>
      <p:ext uri="{BB962C8B-B14F-4D97-AF65-F5344CB8AC3E}">
        <p14:creationId xmlns:p14="http://schemas.microsoft.com/office/powerpoint/2010/main" val="26742241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7.emf"/><Relationship Id="rId4" Type="http://schemas.openxmlformats.org/officeDocument/2006/relationships/package" Target="../embeddings/Microsoft_Visio_Drawing1.vsdx"/></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9.emf"/><Relationship Id="rId4" Type="http://schemas.openxmlformats.org/officeDocument/2006/relationships/package" Target="../embeddings/Microsoft_Visio_Drawing2.vsdx"/></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8.emf"/></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20.emf"/></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Visio_Drawing6.vsdx"/><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22.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Visio_Drawing8.vsdx"/><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23.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Visio_Drawing9.vsdx"/><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image" Target="../media/image24.emf"/></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Visio_Drawing10.vsdx"/><Relationship Id="rId2" Type="http://schemas.openxmlformats.org/officeDocument/2006/relationships/notesSlide" Target="../notesSlides/notesSlide40.xml"/><Relationship Id="rId1" Type="http://schemas.openxmlformats.org/officeDocument/2006/relationships/slideLayout" Target="../slideLayouts/slideLayout10.xml"/><Relationship Id="rId6" Type="http://schemas.openxmlformats.org/officeDocument/2006/relationships/image" Target="../media/image27.emf"/><Relationship Id="rId5" Type="http://schemas.openxmlformats.org/officeDocument/2006/relationships/package" Target="../embeddings/Microsoft_Visio_Drawing11.vsdx"/><Relationship Id="rId4" Type="http://schemas.openxmlformats.org/officeDocument/2006/relationships/image" Target="../media/image26.emf"/></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Visio_Drawing12.vsdx"/><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image" Target="../media/image28.emf"/></Relationships>
</file>

<file path=ppt/slides/_rels/slide42.xml.rels><?xml version="1.0" encoding="UTF-8" standalone="yes"?>
<Relationships xmlns="http://schemas.openxmlformats.org/package/2006/relationships"><Relationship Id="rId3" Type="http://schemas.openxmlformats.org/officeDocument/2006/relationships/package" Target="../embeddings/Microsoft_Visio_Drawing13.vsdx"/><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image" Target="../media/image29.emf"/></Relationships>
</file>

<file path=ppt/slides/_rels/slide43.xml.rels><?xml version="1.0" encoding="UTF-8" standalone="yes"?>
<Relationships xmlns="http://schemas.openxmlformats.org/package/2006/relationships"><Relationship Id="rId3" Type="http://schemas.openxmlformats.org/officeDocument/2006/relationships/package" Target="../embeddings/Microsoft_Visio_Drawing14.vsdx"/><Relationship Id="rId2" Type="http://schemas.openxmlformats.org/officeDocument/2006/relationships/notesSlide" Target="../notesSlides/notesSlide43.xml"/><Relationship Id="rId1" Type="http://schemas.openxmlformats.org/officeDocument/2006/relationships/slideLayout" Target="../slideLayouts/slideLayout10.xml"/><Relationship Id="rId4" Type="http://schemas.openxmlformats.org/officeDocument/2006/relationships/image" Target="../media/image30.emf"/></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0.xml"/><Relationship Id="rId5" Type="http://schemas.openxmlformats.org/officeDocument/2006/relationships/image" Target="../media/image32.emf"/><Relationship Id="rId4" Type="http://schemas.openxmlformats.org/officeDocument/2006/relationships/package" Target="../embeddings/Microsoft_Visio_Drawing15.vsdx"/></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Visio_Drawing16.vsdx"/><Relationship Id="rId2" Type="http://schemas.openxmlformats.org/officeDocument/2006/relationships/notesSlide" Target="../notesSlides/notesSlide45.xml"/><Relationship Id="rId1" Type="http://schemas.openxmlformats.org/officeDocument/2006/relationships/slideLayout" Target="../slideLayouts/slideLayout10.xml"/><Relationship Id="rId4" Type="http://schemas.openxmlformats.org/officeDocument/2006/relationships/image" Target="../media/image33.emf"/></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Visio_Drawing17.vsdx"/><Relationship Id="rId2" Type="http://schemas.openxmlformats.org/officeDocument/2006/relationships/notesSlide" Target="../notesSlides/notesSlide46.xml"/><Relationship Id="rId1" Type="http://schemas.openxmlformats.org/officeDocument/2006/relationships/slideLayout" Target="../slideLayouts/slideLayout10.xml"/><Relationship Id="rId4" Type="http://schemas.openxmlformats.org/officeDocument/2006/relationships/image" Target="../media/image34.emf"/></Relationships>
</file>

<file path=ppt/slides/_rels/slide47.xml.rels><?xml version="1.0" encoding="UTF-8" standalone="yes"?>
<Relationships xmlns="http://schemas.openxmlformats.org/package/2006/relationships"><Relationship Id="rId3" Type="http://schemas.openxmlformats.org/officeDocument/2006/relationships/package" Target="../embeddings/Microsoft_Visio_Drawing18.vsdx"/><Relationship Id="rId2" Type="http://schemas.openxmlformats.org/officeDocument/2006/relationships/notesSlide" Target="../notesSlides/notesSlide47.xml"/><Relationship Id="rId1" Type="http://schemas.openxmlformats.org/officeDocument/2006/relationships/slideLayout" Target="../slideLayouts/slideLayout10.xml"/><Relationship Id="rId4" Type="http://schemas.openxmlformats.org/officeDocument/2006/relationships/image" Target="../media/image35.emf"/></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10.xml"/><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1.xml"/><Relationship Id="rId1" Type="http://schemas.openxmlformats.org/officeDocument/2006/relationships/slideLayout" Target="../slideLayouts/slideLayout10.xml"/><Relationship Id="rId5" Type="http://schemas.openxmlformats.org/officeDocument/2006/relationships/image" Target="../media/image51.png"/><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KNX Advanced Course</a:t>
            </a:r>
            <a:br>
              <a:rPr lang="en-GB" dirty="0"/>
            </a:br>
            <a:r>
              <a:rPr lang="en-GB" sz="2000" dirty="0"/>
              <a:t>Informative Appendix</a:t>
            </a:r>
            <a:endParaRPr lang="en-GB" sz="24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nl-BE" sz="2400" dirty="0"/>
              <a:t>Security </a:t>
            </a:r>
            <a:r>
              <a:rPr lang="nl-BE" sz="2400" dirty="0" err="1"/>
              <a:t>technology</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Basic Principles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Intruder alarm system:  </a:t>
            </a:r>
            <a:r>
              <a:rPr lang="en-US" sz="2000" kern="0" dirty="0">
                <a:solidFill>
                  <a:schemeClr val="tx1"/>
                </a:solidFill>
                <a:ea typeface="Open Sans" panose="020B0606030504020204" pitchFamily="34" charset="0"/>
                <a:cs typeface="Open Sans" panose="020B0606030504020204" pitchFamily="34" charset="0"/>
              </a:rPr>
              <a:t>Technical installation used to protect property and people:</a:t>
            </a:r>
          </a:p>
          <a:p>
            <a:pPr>
              <a:lnSpc>
                <a:spcPct val="150000"/>
              </a:lnSpc>
              <a:defRPr/>
            </a:pPr>
            <a:r>
              <a:rPr lang="en-US" sz="2000" b="1" kern="0" dirty="0">
                <a:solidFill>
                  <a:schemeClr val="tx1"/>
                </a:solidFill>
                <a:ea typeface="Open Sans" panose="020B0606030504020204" pitchFamily="34" charset="0"/>
                <a:cs typeface="Open Sans" panose="020B0606030504020204" pitchFamily="34" charset="0"/>
              </a:rPr>
              <a:t> preventing break-ins and theft</a:t>
            </a:r>
          </a:p>
          <a:p>
            <a:pPr>
              <a:lnSpc>
                <a:spcPct val="150000"/>
              </a:lnSpc>
              <a:defRPr/>
            </a:pPr>
            <a:r>
              <a:rPr lang="en-US" sz="2000" b="1" kern="0" dirty="0">
                <a:solidFill>
                  <a:schemeClr val="tx1"/>
                </a:solidFill>
                <a:ea typeface="Open Sans" panose="020B0606030504020204" pitchFamily="34" charset="0"/>
                <a:cs typeface="Open Sans" panose="020B0606030504020204" pitchFamily="34" charset="0"/>
              </a:rPr>
              <a:t> alerting people to provide assistance (police…)</a:t>
            </a:r>
          </a:p>
          <a:p>
            <a:pPr marL="0" lvl="0" indent="0" eaLnBrk="1" hangingPunct="1">
              <a:lnSpc>
                <a:spcPct val="150000"/>
              </a:lnSpc>
              <a:spcBef>
                <a:spcPct val="0"/>
              </a:spcBef>
              <a:buClrTx/>
              <a:buNone/>
              <a:defRPr/>
            </a:pPr>
            <a:endParaRPr lang="en-US" sz="1400" b="0" kern="0" dirty="0">
              <a:solidFill>
                <a:srgbClr val="000000"/>
              </a:solidFill>
              <a:latin typeface="Arial" charset="0"/>
              <a:ea typeface="Open Sans" panose="020B0606030504020204" pitchFamily="34" charset="0"/>
              <a:cs typeface="Open Sans" panose="020B0606030504020204" pitchFamily="34" charset="0"/>
            </a:endParaRPr>
          </a:p>
          <a:p>
            <a:pPr marL="0" lvl="0" indent="0" eaLnBrk="1" hangingPunct="1">
              <a:lnSpc>
                <a:spcPct val="150000"/>
              </a:lnSpc>
              <a:spcBef>
                <a:spcPct val="0"/>
              </a:spcBef>
              <a:buClrTx/>
              <a:buNone/>
              <a:defRPr/>
            </a:pPr>
            <a:r>
              <a:rPr lang="en-US" sz="2000" kern="0" dirty="0">
                <a:latin typeface="Arial" charset="0"/>
                <a:ea typeface="Open Sans" panose="020B0606030504020204" pitchFamily="34" charset="0"/>
                <a:cs typeface="Open Sans" panose="020B0606030504020204" pitchFamily="34" charset="0"/>
              </a:rPr>
              <a:t>Alarm system:  </a:t>
            </a:r>
            <a:r>
              <a:rPr lang="en-US" sz="2000" kern="0" dirty="0">
                <a:solidFill>
                  <a:srgbClr val="000000"/>
                </a:solidFill>
                <a:latin typeface="Arial" charset="0"/>
                <a:ea typeface="Open Sans" panose="020B0606030504020204" pitchFamily="34" charset="0"/>
                <a:cs typeface="Open Sans" panose="020B0606030504020204" pitchFamily="34" charset="0"/>
              </a:rPr>
              <a:t>Collective term for </a:t>
            </a:r>
            <a:r>
              <a:rPr lang="sv-SE" sz="2000" kern="0" dirty="0">
                <a:solidFill>
                  <a:srgbClr val="000000"/>
                </a:solidFill>
                <a:latin typeface="Arial" charset="0"/>
                <a:ea typeface="Open Sans" panose="020B0606030504020204" pitchFamily="34" charset="0"/>
                <a:cs typeface="Open Sans" panose="020B0606030504020204" pitchFamily="34" charset="0"/>
              </a:rPr>
              <a:t> Fire alarm, Intruder alarm and Panic alarm systems</a:t>
            </a:r>
          </a:p>
          <a:p>
            <a:pPr marL="0" lvl="0" indent="0" eaLnBrk="1" hangingPunct="1">
              <a:lnSpc>
                <a:spcPct val="150000"/>
              </a:lnSpc>
              <a:spcBef>
                <a:spcPct val="0"/>
              </a:spcBef>
              <a:buClrTx/>
              <a:buNone/>
              <a:defRPr/>
            </a:pPr>
            <a:endParaRPr lang="sv-SE" sz="1400" kern="0" dirty="0">
              <a:solidFill>
                <a:srgbClr val="000000"/>
              </a:solidFill>
              <a:latin typeface="Arial" charset="0"/>
              <a:ea typeface="Open Sans" panose="020B0606030504020204" pitchFamily="34" charset="0"/>
              <a:cs typeface="Open Sans" panose="020B0606030504020204" pitchFamily="34" charset="0"/>
            </a:endParaRPr>
          </a:p>
          <a:p>
            <a:pPr marL="0" lvl="0" indent="0" eaLnBrk="1" hangingPunct="1">
              <a:lnSpc>
                <a:spcPct val="150000"/>
              </a:lnSpc>
              <a:spcBef>
                <a:spcPct val="0"/>
              </a:spcBef>
              <a:buClrTx/>
              <a:buNone/>
              <a:defRPr/>
            </a:pPr>
            <a:r>
              <a:rPr lang="en-US" sz="2000" kern="0" dirty="0">
                <a:latin typeface="Arial" charset="0"/>
                <a:ea typeface="Open Sans" panose="020B0606030504020204" pitchFamily="34" charset="0"/>
                <a:cs typeface="Open Sans" panose="020B0606030504020204" pitchFamily="34" charset="0"/>
              </a:rPr>
              <a:t>Hazard warning system:  </a:t>
            </a:r>
            <a:r>
              <a:rPr lang="en-US" sz="2000" kern="0" dirty="0">
                <a:solidFill>
                  <a:srgbClr val="000000"/>
                </a:solidFill>
                <a:latin typeface="Arial" charset="0"/>
                <a:ea typeface="Open Sans" panose="020B0606030504020204" pitchFamily="34" charset="0"/>
                <a:cs typeface="Open Sans" panose="020B0606030504020204" pitchFamily="34" charset="0"/>
              </a:rPr>
              <a:t>offers additional protection against Water leaks, burst pipes and Gas leaks</a:t>
            </a:r>
          </a:p>
          <a:p>
            <a:pPr marL="0" lvl="0" indent="0" eaLnBrk="1" hangingPunct="1">
              <a:spcBef>
                <a:spcPct val="0"/>
              </a:spcBef>
              <a:buClrTx/>
              <a:buNone/>
            </a:pPr>
            <a:endParaRPr lang="sv-SE" sz="2400" b="0" kern="0" dirty="0">
              <a:solidFill>
                <a:srgbClr val="000000"/>
              </a:solidFill>
              <a:latin typeface="Arial" charset="0"/>
              <a:ea typeface="Open Sans" panose="020B0606030504020204" pitchFamily="34" charset="0"/>
              <a:cs typeface="Open Sans" panose="020B0606030504020204" pitchFamily="34" charset="0"/>
            </a:endParaRPr>
          </a:p>
          <a:p>
            <a:pPr marL="0" lvl="0" indent="0" eaLnBrk="1" hangingPunct="1">
              <a:spcBef>
                <a:spcPct val="0"/>
              </a:spcBef>
              <a:buClrTx/>
              <a:buNone/>
            </a:pPr>
            <a:endParaRPr lang="sv-SE" sz="2400" b="0" kern="0" dirty="0">
              <a:solidFill>
                <a:srgbClr val="000000"/>
              </a:solidFill>
              <a:latin typeface="Arial" charset="0"/>
              <a:ea typeface="Open Sans" panose="020B0606030504020204" pitchFamily="34" charset="0"/>
              <a:cs typeface="Open Sans" panose="020B0606030504020204" pitchFamily="34" charset="0"/>
            </a:endParaRPr>
          </a:p>
          <a:p>
            <a:pPr marL="0" indent="0">
              <a:buNone/>
            </a:pPr>
            <a:endParaRPr lang="sv-SE"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11703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Basic Principles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484784"/>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sv-SE" sz="2400" kern="0" dirty="0">
                <a:ea typeface="Open Sans" panose="020B0606030504020204" pitchFamily="34" charset="0"/>
                <a:cs typeface="Open Sans" panose="020B0606030504020204" pitchFamily="34" charset="0"/>
              </a:rPr>
              <a:t>Intruder alarm systems VdS 2311 :</a:t>
            </a:r>
          </a:p>
          <a:p>
            <a:pPr>
              <a:defRPr/>
            </a:pPr>
            <a:r>
              <a:rPr lang="es-ES" sz="2000" dirty="0">
                <a:ea typeface="ＭＳ Ｐゴシック" pitchFamily="-97" charset="-128"/>
                <a:cs typeface="Arial" pitchFamily="34" charset="0"/>
              </a:rPr>
              <a:t>Class A: </a:t>
            </a:r>
            <a:r>
              <a:rPr lang="es-ES" sz="2000" dirty="0">
                <a:solidFill>
                  <a:srgbClr val="0070C0"/>
                </a:solidFill>
                <a:ea typeface="ＭＳ Ｐゴシック" pitchFamily="-97" charset="-128"/>
                <a:cs typeface="Arial" pitchFamily="34" charset="0"/>
              </a:rPr>
              <a:t>	</a:t>
            </a:r>
          </a:p>
          <a:p>
            <a:pPr lvl="1">
              <a:buFont typeface="Wingdings" panose="05000000000000000000" pitchFamily="2" charset="2"/>
              <a:buChar char="§"/>
              <a:defRPr/>
            </a:pPr>
            <a:r>
              <a:rPr lang="en-US" sz="1800" b="1" dirty="0">
                <a:solidFill>
                  <a:schemeClr val="bg1">
                    <a:lumMod val="10000"/>
                  </a:schemeClr>
                </a:solidFill>
              </a:rPr>
              <a:t>Low protection against sabotage attempts</a:t>
            </a:r>
            <a:endParaRPr lang="es-ES" sz="1800" b="1" dirty="0">
              <a:solidFill>
                <a:schemeClr val="bg1">
                  <a:lumMod val="10000"/>
                </a:schemeClr>
              </a:solidFill>
            </a:endParaRPr>
          </a:p>
          <a:p>
            <a:pPr lvl="1">
              <a:buFont typeface="Wingdings" panose="05000000000000000000" pitchFamily="2" charset="2"/>
              <a:buChar char="§"/>
              <a:defRPr/>
            </a:pPr>
            <a:r>
              <a:rPr lang="en-US" sz="1800" b="1" dirty="0">
                <a:solidFill>
                  <a:schemeClr val="bg1">
                    <a:lumMod val="10000"/>
                  </a:schemeClr>
                </a:solidFill>
              </a:rPr>
              <a:t>Detectors have a medium level of response</a:t>
            </a:r>
            <a:r>
              <a:rPr lang="es-ES" sz="1800" b="1" dirty="0">
                <a:solidFill>
                  <a:schemeClr val="bg1">
                    <a:lumMod val="10000"/>
                  </a:schemeClr>
                </a:solidFill>
              </a:rPr>
              <a:t> </a:t>
            </a:r>
          </a:p>
          <a:p>
            <a:pPr lvl="1">
              <a:buFont typeface="Wingdings" panose="05000000000000000000" pitchFamily="2" charset="2"/>
              <a:buChar char="§"/>
              <a:defRPr/>
            </a:pPr>
            <a:r>
              <a:rPr lang="en-US" sz="1800" b="1" dirty="0">
                <a:solidFill>
                  <a:schemeClr val="bg1">
                    <a:lumMod val="10000"/>
                  </a:schemeClr>
                </a:solidFill>
              </a:rPr>
              <a:t>Only suitable for monitoring non-commercial risks</a:t>
            </a:r>
          </a:p>
          <a:p>
            <a:pPr>
              <a:defRPr/>
            </a:pPr>
            <a:endParaRPr lang="en-US" sz="800" dirty="0"/>
          </a:p>
          <a:p>
            <a:pPr>
              <a:defRPr/>
            </a:pPr>
            <a:r>
              <a:rPr lang="en-US" sz="2000" dirty="0"/>
              <a:t>Class B: 	</a:t>
            </a:r>
          </a:p>
          <a:p>
            <a:pPr lvl="1">
              <a:buFont typeface="Wingdings" panose="05000000000000000000" pitchFamily="2" charset="2"/>
              <a:buChar char="§"/>
              <a:defRPr/>
            </a:pPr>
            <a:r>
              <a:rPr lang="en-US" sz="1800" b="1" dirty="0">
                <a:solidFill>
                  <a:schemeClr val="bg1">
                    <a:lumMod val="10000"/>
                  </a:schemeClr>
                </a:solidFill>
              </a:rPr>
              <a:t>Medium protection against sabotage attempts </a:t>
            </a:r>
          </a:p>
          <a:p>
            <a:pPr lvl="1">
              <a:buFont typeface="Wingdings" panose="05000000000000000000" pitchFamily="2" charset="2"/>
              <a:buChar char="§"/>
              <a:defRPr/>
            </a:pPr>
            <a:r>
              <a:rPr lang="en-US" sz="1800" b="1" dirty="0">
                <a:solidFill>
                  <a:schemeClr val="bg1">
                    <a:lumMod val="10000"/>
                  </a:schemeClr>
                </a:solidFill>
              </a:rPr>
              <a:t>Detectors have a medium level of response</a:t>
            </a:r>
          </a:p>
          <a:p>
            <a:pPr lvl="1">
              <a:buFont typeface="Wingdings" panose="05000000000000000000" pitchFamily="2" charset="2"/>
              <a:buChar char="§"/>
              <a:defRPr/>
            </a:pPr>
            <a:r>
              <a:rPr lang="en-US" sz="1800" b="1" dirty="0">
                <a:solidFill>
                  <a:schemeClr val="bg1">
                    <a:lumMod val="10000"/>
                  </a:schemeClr>
                </a:solidFill>
              </a:rPr>
              <a:t>Monitoring of the system for sabotage and functional reliability</a:t>
            </a:r>
          </a:p>
          <a:p>
            <a:pPr>
              <a:defRPr/>
            </a:pPr>
            <a:endParaRPr lang="en-US" sz="800" dirty="0"/>
          </a:p>
          <a:p>
            <a:pPr>
              <a:defRPr/>
            </a:pPr>
            <a:r>
              <a:rPr lang="en-US" sz="2000" dirty="0"/>
              <a:t>Class C: 	</a:t>
            </a:r>
          </a:p>
          <a:p>
            <a:pPr lvl="1">
              <a:buFont typeface="Wingdings" panose="05000000000000000000" pitchFamily="2" charset="2"/>
              <a:buChar char="§"/>
              <a:defRPr/>
            </a:pPr>
            <a:r>
              <a:rPr lang="en-US" sz="1800" b="1" dirty="0">
                <a:solidFill>
                  <a:schemeClr val="bg1">
                    <a:lumMod val="10000"/>
                  </a:schemeClr>
                </a:solidFill>
              </a:rPr>
              <a:t>Increased protection against sabotage attempts</a:t>
            </a:r>
          </a:p>
          <a:p>
            <a:pPr lvl="1">
              <a:buFont typeface="Wingdings" panose="05000000000000000000" pitchFamily="2" charset="2"/>
              <a:buChar char="§"/>
              <a:defRPr/>
            </a:pPr>
            <a:r>
              <a:rPr lang="en-US" sz="1800" b="1" dirty="0">
                <a:solidFill>
                  <a:schemeClr val="bg1">
                    <a:lumMod val="10000"/>
                  </a:schemeClr>
                </a:solidFill>
              </a:rPr>
              <a:t>Detectors have an increased level of response </a:t>
            </a:r>
          </a:p>
          <a:p>
            <a:pPr lvl="1">
              <a:buFont typeface="Wingdings" panose="05000000000000000000" pitchFamily="2" charset="2"/>
              <a:buChar char="§"/>
              <a:defRPr/>
            </a:pPr>
            <a:r>
              <a:rPr lang="en-US" sz="1800" b="1" dirty="0">
                <a:solidFill>
                  <a:schemeClr val="bg1">
                    <a:lumMod val="10000"/>
                  </a:schemeClr>
                </a:solidFill>
              </a:rPr>
              <a:t>Monitoring of the system for sabotage and functional reliability</a:t>
            </a:r>
          </a:p>
          <a:p>
            <a:pPr>
              <a:defRPr/>
            </a:pPr>
            <a:endParaRPr lang="es-ES" sz="2000" dirty="0">
              <a:solidFill>
                <a:schemeClr val="bg1">
                  <a:lumMod val="10000"/>
                </a:schemeClr>
              </a:solidFill>
            </a:endParaRPr>
          </a:p>
          <a:p>
            <a:pPr marL="0" indent="0">
              <a:lnSpc>
                <a:spcPct val="150000"/>
              </a:lnSpc>
              <a:buNone/>
              <a:defRPr/>
            </a:pPr>
            <a:endParaRPr lang="sv-SE" sz="2400" kern="0" dirty="0">
              <a:ea typeface="Open Sans" panose="020B0606030504020204" pitchFamily="34" charset="0"/>
              <a:cs typeface="Open Sans" panose="020B0606030504020204" pitchFamily="34" charset="0"/>
            </a:endParaRPr>
          </a:p>
        </p:txBody>
      </p:sp>
      <p:pic>
        <p:nvPicPr>
          <p:cNvPr id="4" name="Picture 4">
            <a:extLst>
              <a:ext uri="{FF2B5EF4-FFF2-40B4-BE49-F238E27FC236}">
                <a16:creationId xmlns:a16="http://schemas.microsoft.com/office/drawing/2014/main" id="{5704F599-36A3-4DB4-A817-B9CB41F4A7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20290" y="1472342"/>
            <a:ext cx="1968812"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5033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KNX and Intruder Alarm Technology</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48831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KNX enables </a:t>
            </a:r>
            <a:r>
              <a:rPr lang="en-US" sz="2000" kern="0" dirty="0">
                <a:ea typeface="Open Sans" panose="020B0606030504020204" pitchFamily="34" charset="0"/>
                <a:cs typeface="Open Sans" panose="020B0606030504020204" pitchFamily="34" charset="0"/>
              </a:rPr>
              <a:t>simple security and monitoring </a:t>
            </a:r>
            <a:r>
              <a:rPr lang="en-US" sz="2000" kern="0" dirty="0">
                <a:solidFill>
                  <a:schemeClr val="tx1"/>
                </a:solidFill>
                <a:ea typeface="Open Sans" panose="020B0606030504020204" pitchFamily="34" charset="0"/>
                <a:cs typeface="Open Sans" panose="020B0606030504020204" pitchFamily="34" charset="0"/>
              </a:rPr>
              <a:t>applications to be implemented </a:t>
            </a:r>
          </a:p>
          <a:p>
            <a:pPr>
              <a:lnSpc>
                <a:spcPct val="150000"/>
              </a:lnSpc>
              <a:defRPr/>
            </a:pPr>
            <a:endParaRPr lang="en-US" sz="14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GB" sz="2000" dirty="0">
                <a:latin typeface="Arial" charset="0"/>
              </a:rPr>
              <a:t>Not possible </a:t>
            </a:r>
            <a:r>
              <a:rPr lang="en-GB" sz="2000" dirty="0">
                <a:solidFill>
                  <a:schemeClr val="tx1"/>
                </a:solidFill>
                <a:latin typeface="Arial" charset="0"/>
              </a:rPr>
              <a:t>to set up intruder alarm systems in line with </a:t>
            </a:r>
            <a:r>
              <a:rPr lang="en-GB" sz="2000" dirty="0" err="1">
                <a:solidFill>
                  <a:schemeClr val="tx1"/>
                </a:solidFill>
                <a:latin typeface="Arial" charset="0"/>
              </a:rPr>
              <a:t>VdS</a:t>
            </a:r>
            <a:r>
              <a:rPr lang="en-GB" sz="2000" dirty="0">
                <a:solidFill>
                  <a:schemeClr val="tx1"/>
                </a:solidFill>
                <a:latin typeface="Arial" charset="0"/>
              </a:rPr>
              <a:t> requirements</a:t>
            </a:r>
          </a:p>
          <a:p>
            <a:pPr>
              <a:lnSpc>
                <a:spcPct val="150000"/>
              </a:lnSpc>
              <a:defRPr/>
            </a:pPr>
            <a:endParaRPr lang="en-GB" sz="1400" dirty="0">
              <a:solidFill>
                <a:schemeClr val="tx1"/>
              </a:solidFill>
              <a:latin typeface="Arial" charset="0"/>
            </a:endParaRPr>
          </a:p>
          <a:p>
            <a:pPr>
              <a:lnSpc>
                <a:spcPct val="150000"/>
              </a:lnSpc>
              <a:defRPr/>
            </a:pPr>
            <a:r>
              <a:rPr lang="en-GB" sz="2000" kern="0" dirty="0">
                <a:solidFill>
                  <a:schemeClr val="tx1"/>
                </a:solidFill>
                <a:latin typeface="Arial" charset="0"/>
                <a:ea typeface="Open Sans" panose="020B0606030504020204" pitchFamily="34" charset="0"/>
                <a:cs typeface="Open Sans" panose="020B0606030504020204" pitchFamily="34" charset="0"/>
              </a:rPr>
              <a:t>Systems implemented with KNX are called </a:t>
            </a:r>
            <a:r>
              <a:rPr lang="en-GB" sz="2000" kern="0" dirty="0">
                <a:latin typeface="Arial" charset="0"/>
                <a:ea typeface="Open Sans" panose="020B0606030504020204" pitchFamily="34" charset="0"/>
                <a:cs typeface="Open Sans" panose="020B0606030504020204" pitchFamily="34" charset="0"/>
              </a:rPr>
              <a:t>Information Systems </a:t>
            </a:r>
            <a:r>
              <a:rPr lang="en-GB" sz="2000" kern="0" dirty="0">
                <a:solidFill>
                  <a:schemeClr val="tx1"/>
                </a:solidFill>
                <a:latin typeface="Arial" charset="0"/>
                <a:ea typeface="Open Sans" panose="020B0606030504020204" pitchFamily="34" charset="0"/>
                <a:cs typeface="Open Sans" panose="020B0606030504020204" pitchFamily="34" charset="0"/>
              </a:rPr>
              <a:t>instead of intruder alarm systems</a:t>
            </a: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74603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Structure of a </a:t>
            </a:r>
            <a:r>
              <a:rPr lang="en-US" dirty="0" err="1"/>
              <a:t>VdS</a:t>
            </a:r>
            <a:r>
              <a:rPr lang="en-US" dirty="0"/>
              <a:t> Alarm System</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9598" y="5662610"/>
            <a:ext cx="7838866" cy="86273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defRPr/>
            </a:pPr>
            <a:r>
              <a:rPr lang="en-US" sz="1800" kern="0" dirty="0">
                <a:ea typeface="Open Sans" panose="020B0606030504020204" pitchFamily="34" charset="0"/>
                <a:cs typeface="Open Sans" panose="020B0606030504020204" pitchFamily="34" charset="0"/>
              </a:rPr>
              <a:t>Display information and states </a:t>
            </a:r>
            <a:r>
              <a:rPr lang="en-US" sz="1800" kern="0" dirty="0">
                <a:solidFill>
                  <a:schemeClr val="tx1"/>
                </a:solidFill>
                <a:ea typeface="Open Sans" panose="020B0606030504020204" pitchFamily="34" charset="0"/>
                <a:cs typeface="Open Sans" panose="020B0606030504020204" pitchFamily="34" charset="0"/>
              </a:rPr>
              <a:t>of the alarm control</a:t>
            </a:r>
          </a:p>
          <a:p>
            <a:pPr>
              <a:defRPr/>
            </a:pPr>
            <a:r>
              <a:rPr lang="en-US" sz="1800" kern="0" dirty="0">
                <a:solidFill>
                  <a:schemeClr val="bg1">
                    <a:lumMod val="10000"/>
                  </a:schemeClr>
                </a:solidFill>
                <a:ea typeface="Open Sans" panose="020B0606030504020204" pitchFamily="34" charset="0"/>
                <a:cs typeface="Open Sans" panose="020B0606030504020204" pitchFamily="34" charset="0"/>
              </a:rPr>
              <a:t>Communication is </a:t>
            </a:r>
            <a:r>
              <a:rPr lang="en-US" sz="1800" kern="0" dirty="0">
                <a:ea typeface="Open Sans" panose="020B0606030504020204" pitchFamily="34" charset="0"/>
                <a:cs typeface="Open Sans" panose="020B0606030504020204" pitchFamily="34" charset="0"/>
              </a:rPr>
              <a:t>unidirectional</a:t>
            </a:r>
            <a:r>
              <a:rPr lang="en-US" sz="1800" kern="0" dirty="0">
                <a:solidFill>
                  <a:schemeClr val="bg1">
                    <a:lumMod val="10000"/>
                  </a:schemeClr>
                </a:solidFill>
                <a:ea typeface="Open Sans" panose="020B0606030504020204" pitchFamily="34" charset="0"/>
                <a:cs typeface="Open Sans" panose="020B0606030504020204" pitchFamily="34" charset="0"/>
              </a:rPr>
              <a:t>, KNX cannot influence </a:t>
            </a:r>
            <a:r>
              <a:rPr lang="en-US" sz="1800" kern="0" dirty="0" err="1">
                <a:solidFill>
                  <a:schemeClr val="bg1">
                    <a:lumMod val="10000"/>
                  </a:schemeClr>
                </a:solidFill>
                <a:ea typeface="Open Sans" panose="020B0606030504020204" pitchFamily="34" charset="0"/>
                <a:cs typeface="Open Sans" panose="020B0606030504020204" pitchFamily="34" charset="0"/>
              </a:rPr>
              <a:t>VdS</a:t>
            </a:r>
            <a:endParaRPr lang="en-US" sz="18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09FE9876-1BCF-4384-AE25-5AA54D5F3A72}"/>
              </a:ext>
            </a:extLst>
          </p:cNvPr>
          <p:cNvGraphicFramePr>
            <a:graphicFrameLocks noChangeAspect="1"/>
          </p:cNvGraphicFramePr>
          <p:nvPr/>
        </p:nvGraphicFramePr>
        <p:xfrm>
          <a:off x="1422079" y="1329881"/>
          <a:ext cx="6447095" cy="4198237"/>
        </p:xfrm>
        <a:graphic>
          <a:graphicData uri="http://schemas.openxmlformats.org/presentationml/2006/ole">
            <mc:AlternateContent xmlns:mc="http://schemas.openxmlformats.org/markup-compatibility/2006">
              <mc:Choice xmlns:v="urn:schemas-microsoft-com:vml" Requires="v">
                <p:oleObj r:id="rId3" imgW="8111905" imgH="5278157" progId="Visio.Drawing.15">
                  <p:embed/>
                </p:oleObj>
              </mc:Choice>
              <mc:Fallback>
                <p:oleObj r:id="rId3" imgW="8111905" imgH="5278157" progId="Visio.Drawing.15">
                  <p:embed/>
                  <p:pic>
                    <p:nvPicPr>
                      <p:cNvPr id="4" name="Object 3">
                        <a:extLst>
                          <a:ext uri="{FF2B5EF4-FFF2-40B4-BE49-F238E27FC236}">
                            <a16:creationId xmlns:a16="http://schemas.microsoft.com/office/drawing/2014/main" id="{09FE9876-1BCF-4384-AE25-5AA54D5F3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2079" y="1329881"/>
                        <a:ext cx="6447095" cy="4198237"/>
                      </a:xfrm>
                      <a:prstGeom prst="rect">
                        <a:avLst/>
                      </a:prstGeom>
                      <a:noFill/>
                    </p:spPr>
                  </p:pic>
                </p:oleObj>
              </mc:Fallback>
            </mc:AlternateContent>
          </a:graphicData>
        </a:graphic>
      </p:graphicFrame>
      <p:pic>
        <p:nvPicPr>
          <p:cNvPr id="6" name="Picture 1">
            <a:extLst>
              <a:ext uri="{FF2B5EF4-FFF2-40B4-BE49-F238E27FC236}">
                <a16:creationId xmlns:a16="http://schemas.microsoft.com/office/drawing/2014/main" id="{D34E8AF9-7266-4441-9EF2-87A678AEA6C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08304" y="4188868"/>
            <a:ext cx="1121741" cy="112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4260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KNX Alarm Control Unit</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9598" y="5445224"/>
            <a:ext cx="7694850" cy="112186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defRPr/>
            </a:pPr>
            <a:r>
              <a:rPr lang="en-US" sz="1800" kern="0" dirty="0">
                <a:ea typeface="Open Sans" panose="020B0606030504020204" pitchFamily="34" charset="0"/>
                <a:cs typeface="Open Sans" panose="020B0606030504020204" pitchFamily="34" charset="0"/>
              </a:rPr>
              <a:t>Alarm control unit, not </a:t>
            </a:r>
            <a:r>
              <a:rPr lang="en-US" sz="1800" kern="0" dirty="0" err="1">
                <a:ea typeface="Open Sans" panose="020B0606030504020204" pitchFamily="34" charset="0"/>
                <a:cs typeface="Open Sans" panose="020B0606030504020204" pitchFamily="34" charset="0"/>
              </a:rPr>
              <a:t>VdS</a:t>
            </a:r>
            <a:r>
              <a:rPr lang="en-US" sz="1800" kern="0" dirty="0">
                <a:ea typeface="Open Sans" panose="020B0606030504020204" pitchFamily="34" charset="0"/>
                <a:cs typeface="Open Sans" panose="020B0606030504020204" pitchFamily="34" charset="0"/>
              </a:rPr>
              <a:t>, communicating directly with KNX</a:t>
            </a:r>
          </a:p>
          <a:p>
            <a:pPr>
              <a:defRPr/>
            </a:pPr>
            <a:r>
              <a:rPr lang="en-US" sz="1800" kern="0" dirty="0">
                <a:solidFill>
                  <a:schemeClr val="bg1">
                    <a:lumMod val="10000"/>
                  </a:schemeClr>
                </a:solidFill>
                <a:ea typeface="Open Sans" panose="020B0606030504020204" pitchFamily="34" charset="0"/>
                <a:cs typeface="Open Sans" panose="020B0606030504020204" pitchFamily="34" charset="0"/>
              </a:rPr>
              <a:t>Push-button interfaces/binary inputs used to link </a:t>
            </a:r>
            <a:r>
              <a:rPr lang="en-US" sz="1800" kern="0" dirty="0" err="1">
                <a:solidFill>
                  <a:schemeClr val="bg1">
                    <a:lumMod val="10000"/>
                  </a:schemeClr>
                </a:solidFill>
                <a:ea typeface="Open Sans" panose="020B0606030504020204" pitchFamily="34" charset="0"/>
                <a:cs typeface="Open Sans" panose="020B0606030504020204" pitchFamily="34" charset="0"/>
              </a:rPr>
              <a:t>VdS</a:t>
            </a:r>
            <a:r>
              <a:rPr lang="en-US" sz="1800" kern="0" dirty="0">
                <a:solidFill>
                  <a:schemeClr val="bg1">
                    <a:lumMod val="10000"/>
                  </a:schemeClr>
                </a:solidFill>
                <a:ea typeface="Open Sans" panose="020B0606030504020204" pitchFamily="34" charset="0"/>
                <a:cs typeface="Open Sans" panose="020B0606030504020204" pitchFamily="34" charset="0"/>
              </a:rPr>
              <a:t> sensors</a:t>
            </a:r>
          </a:p>
          <a:p>
            <a:pPr>
              <a:defRPr/>
            </a:pPr>
            <a:r>
              <a:rPr lang="en-US" sz="1800" kern="0" dirty="0">
                <a:solidFill>
                  <a:schemeClr val="bg1">
                    <a:lumMod val="10000"/>
                  </a:schemeClr>
                </a:solidFill>
                <a:ea typeface="Open Sans" panose="020B0606030504020204" pitchFamily="34" charset="0"/>
                <a:cs typeface="Open Sans" panose="020B0606030504020204" pitchFamily="34" charset="0"/>
              </a:rPr>
              <a:t>KNX components can be used repeatedly for different functions</a:t>
            </a:r>
            <a:endParaRPr lang="en-US" sz="1800" kern="0" dirty="0">
              <a:ea typeface="Open Sans" panose="020B0606030504020204" pitchFamily="34" charset="0"/>
              <a:cs typeface="Open Sans" panose="020B0606030504020204" pitchFamily="34" charset="0"/>
            </a:endParaRPr>
          </a:p>
        </p:txBody>
      </p:sp>
      <p:pic>
        <p:nvPicPr>
          <p:cNvPr id="6" name="Picture 1">
            <a:extLst>
              <a:ext uri="{FF2B5EF4-FFF2-40B4-BE49-F238E27FC236}">
                <a16:creationId xmlns:a16="http://schemas.microsoft.com/office/drawing/2014/main" id="{D34E8AF9-7266-4441-9EF2-87A678AEA6C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8304" y="4188868"/>
            <a:ext cx="1121741" cy="112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Multiply 4">
            <a:extLst>
              <a:ext uri="{FF2B5EF4-FFF2-40B4-BE49-F238E27FC236}">
                <a16:creationId xmlns:a16="http://schemas.microsoft.com/office/drawing/2014/main" id="{0F5EF024-D828-4165-A8CB-139D0B22C2D6}"/>
              </a:ext>
            </a:extLst>
          </p:cNvPr>
          <p:cNvSpPr/>
          <p:nvPr/>
        </p:nvSpPr>
        <p:spPr bwMode="auto">
          <a:xfrm>
            <a:off x="7802314" y="4699232"/>
            <a:ext cx="946150" cy="874713"/>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aphicFrame>
        <p:nvGraphicFramePr>
          <p:cNvPr id="5" name="Object 4">
            <a:extLst>
              <a:ext uri="{FF2B5EF4-FFF2-40B4-BE49-F238E27FC236}">
                <a16:creationId xmlns:a16="http://schemas.microsoft.com/office/drawing/2014/main" id="{17F9CE7B-5424-49FC-86B7-6352381185FB}"/>
              </a:ext>
            </a:extLst>
          </p:cNvPr>
          <p:cNvGraphicFramePr>
            <a:graphicFrameLocks noChangeAspect="1"/>
          </p:cNvGraphicFramePr>
          <p:nvPr/>
        </p:nvGraphicFramePr>
        <p:xfrm>
          <a:off x="1259632" y="1218179"/>
          <a:ext cx="6491335" cy="4227045"/>
        </p:xfrm>
        <a:graphic>
          <a:graphicData uri="http://schemas.openxmlformats.org/presentationml/2006/ole">
            <mc:AlternateContent xmlns:mc="http://schemas.openxmlformats.org/markup-compatibility/2006">
              <mc:Choice xmlns:v="urn:schemas-microsoft-com:vml" Requires="v">
                <p:oleObj r:id="rId4" imgW="8111905" imgH="5278157" progId="Visio.Drawing.15">
                  <p:embed/>
                </p:oleObj>
              </mc:Choice>
              <mc:Fallback>
                <p:oleObj r:id="rId4" imgW="8111905" imgH="5278157" progId="Visio.Drawing.15">
                  <p:embed/>
                  <p:pic>
                    <p:nvPicPr>
                      <p:cNvPr id="5" name="Object 4">
                        <a:extLst>
                          <a:ext uri="{FF2B5EF4-FFF2-40B4-BE49-F238E27FC236}">
                            <a16:creationId xmlns:a16="http://schemas.microsoft.com/office/drawing/2014/main" id="{17F9CE7B-5424-49FC-86B7-6352381185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1218179"/>
                        <a:ext cx="6491335" cy="4227045"/>
                      </a:xfrm>
                      <a:prstGeom prst="rect">
                        <a:avLst/>
                      </a:prstGeom>
                      <a:noFill/>
                    </p:spPr>
                  </p:pic>
                </p:oleObj>
              </mc:Fallback>
            </mc:AlternateContent>
          </a:graphicData>
        </a:graphic>
      </p:graphicFrame>
    </p:spTree>
    <p:extLst>
      <p:ext uri="{BB962C8B-B14F-4D97-AF65-F5344CB8AC3E}">
        <p14:creationId xmlns:p14="http://schemas.microsoft.com/office/powerpoint/2010/main" val="3802930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err="1"/>
              <a:t>VdS</a:t>
            </a:r>
            <a:r>
              <a:rPr lang="en-US" dirty="0"/>
              <a:t>-certified KNX Alarm Control Unit</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err="1">
                <a:ea typeface="Open Sans" panose="020B0606030504020204" pitchFamily="34" charset="0"/>
                <a:cs typeface="Open Sans" panose="020B0606030504020204" pitchFamily="34" charset="0"/>
              </a:rPr>
              <a:t>VdS</a:t>
            </a:r>
            <a:r>
              <a:rPr lang="en-US" sz="2000" kern="0" dirty="0">
                <a:ea typeface="Open Sans" panose="020B0606030504020204" pitchFamily="34" charset="0"/>
                <a:cs typeface="Open Sans" panose="020B0606030504020204" pitchFamily="34" charset="0"/>
              </a:rPr>
              <a:t>-certified KNX alarm control </a:t>
            </a:r>
            <a:r>
              <a:rPr lang="en-US" sz="2000" kern="0" dirty="0">
                <a:solidFill>
                  <a:schemeClr val="tx1"/>
                </a:solidFill>
                <a:ea typeface="Open Sans" panose="020B0606030504020204" pitchFamily="34" charset="0"/>
                <a:cs typeface="Open Sans" panose="020B0606030504020204" pitchFamily="34" charset="0"/>
              </a:rPr>
              <a:t>operating unidirectional</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If safety functions are communicated bidirectionally via KNX, the complete system is </a:t>
            </a:r>
            <a:r>
              <a:rPr lang="en-US" sz="2000" kern="0" dirty="0">
                <a:ea typeface="Open Sans" panose="020B0606030504020204" pitchFamily="34" charset="0"/>
                <a:cs typeface="Open Sans" panose="020B0606030504020204" pitchFamily="34" charset="0"/>
              </a:rPr>
              <a:t>not </a:t>
            </a:r>
            <a:r>
              <a:rPr lang="en-US" sz="2000" kern="0" dirty="0" err="1">
                <a:ea typeface="Open Sans" panose="020B0606030504020204" pitchFamily="34" charset="0"/>
                <a:cs typeface="Open Sans" panose="020B0606030504020204" pitchFamily="34" charset="0"/>
              </a:rPr>
              <a:t>VdS</a:t>
            </a:r>
            <a:r>
              <a:rPr lang="en-US" sz="2000" kern="0" dirty="0">
                <a:ea typeface="Open Sans" panose="020B0606030504020204" pitchFamily="34" charset="0"/>
                <a:cs typeface="Open Sans" panose="020B0606030504020204" pitchFamily="34" charset="0"/>
              </a:rPr>
              <a:t>-compliant</a:t>
            </a:r>
          </a:p>
        </p:txBody>
      </p:sp>
      <p:pic>
        <p:nvPicPr>
          <p:cNvPr id="2" name="Picture 1">
            <a:extLst>
              <a:ext uri="{FF2B5EF4-FFF2-40B4-BE49-F238E27FC236}">
                <a16:creationId xmlns:a16="http://schemas.microsoft.com/office/drawing/2014/main" id="{3840F1C2-A25A-4580-9BFD-3DB8E69C8295}"/>
              </a:ext>
            </a:extLst>
          </p:cNvPr>
          <p:cNvPicPr>
            <a:picLocks noChangeAspect="1"/>
          </p:cNvPicPr>
          <p:nvPr/>
        </p:nvPicPr>
        <p:blipFill>
          <a:blip r:embed="rId3"/>
          <a:stretch>
            <a:fillRect/>
          </a:stretch>
        </p:blipFill>
        <p:spPr>
          <a:xfrm>
            <a:off x="846458" y="3159586"/>
            <a:ext cx="5984594" cy="3293056"/>
          </a:xfrm>
          <a:prstGeom prst="rect">
            <a:avLst/>
          </a:prstGeom>
        </p:spPr>
      </p:pic>
      <p:sp>
        <p:nvSpPr>
          <p:cNvPr id="4" name="Rectangle 3">
            <a:extLst>
              <a:ext uri="{FF2B5EF4-FFF2-40B4-BE49-F238E27FC236}">
                <a16:creationId xmlns:a16="http://schemas.microsoft.com/office/drawing/2014/main" id="{C0A47805-3521-4C67-902D-D1A92BD77049}"/>
              </a:ext>
            </a:extLst>
          </p:cNvPr>
          <p:cNvSpPr/>
          <p:nvPr/>
        </p:nvSpPr>
        <p:spPr>
          <a:xfrm>
            <a:off x="6817650" y="5499444"/>
            <a:ext cx="1872208" cy="923330"/>
          </a:xfrm>
          <a:prstGeom prst="rect">
            <a:avLst/>
          </a:prstGeom>
        </p:spPr>
        <p:txBody>
          <a:bodyPr wrap="square">
            <a:spAutoFit/>
          </a:bodyPr>
          <a:lstStyle/>
          <a:p>
            <a:r>
              <a:rPr lang="en-US" b="1" dirty="0"/>
              <a:t>Typical wiring of a KNX alarm control unit</a:t>
            </a:r>
            <a:endParaRPr lang="es-ES" b="1" dirty="0"/>
          </a:p>
        </p:txBody>
      </p:sp>
    </p:spTree>
    <p:extLst>
      <p:ext uri="{BB962C8B-B14F-4D97-AF65-F5344CB8AC3E}">
        <p14:creationId xmlns:p14="http://schemas.microsoft.com/office/powerpoint/2010/main" val="2416504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Monitoring Functions with KNX</a:t>
            </a:r>
            <a:endParaRPr lang="en-GB" dirty="0"/>
          </a:p>
        </p:txBody>
      </p:sp>
      <p:sp>
        <p:nvSpPr>
          <p:cNvPr id="6" name="Content Placeholder 1">
            <a:extLst>
              <a:ext uri="{FF2B5EF4-FFF2-40B4-BE49-F238E27FC236}">
                <a16:creationId xmlns:a16="http://schemas.microsoft.com/office/drawing/2014/main" id="{DA61AD65-AFB4-4F4E-B2C8-F3F55B22FDD0}"/>
              </a:ext>
            </a:extLst>
          </p:cNvPr>
          <p:cNvSpPr txBox="1">
            <a:spLocks/>
          </p:cNvSpPr>
          <p:nvPr/>
        </p:nvSpPr>
        <p:spPr>
          <a:xfrm>
            <a:off x="909598" y="5563307"/>
            <a:ext cx="7838866" cy="86273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defRPr/>
            </a:pPr>
            <a:r>
              <a:rPr lang="en-US" sz="1800" kern="0" dirty="0">
                <a:ea typeface="Open Sans" panose="020B0606030504020204" pitchFamily="34" charset="0"/>
                <a:cs typeface="Open Sans" panose="020B0606030504020204" pitchFamily="34" charset="0"/>
              </a:rPr>
              <a:t>Security and monitoring applications solely with KNX components</a:t>
            </a:r>
          </a:p>
          <a:p>
            <a:pPr>
              <a:defRPr/>
            </a:pPr>
            <a:r>
              <a:rPr lang="en-US" sz="1800" dirty="0" err="1">
                <a:solidFill>
                  <a:schemeClr val="bg1">
                    <a:lumMod val="10000"/>
                  </a:schemeClr>
                </a:solidFill>
              </a:rPr>
              <a:t>VdS</a:t>
            </a:r>
            <a:r>
              <a:rPr lang="en-US" sz="1800" dirty="0">
                <a:solidFill>
                  <a:schemeClr val="bg1">
                    <a:lumMod val="10000"/>
                  </a:schemeClr>
                </a:solidFill>
              </a:rPr>
              <a:t> components can be used as </a:t>
            </a:r>
            <a:r>
              <a:rPr lang="en-GB" sz="1800" dirty="0">
                <a:solidFill>
                  <a:schemeClr val="bg1">
                    <a:lumMod val="10000"/>
                  </a:schemeClr>
                </a:solidFill>
              </a:rPr>
              <a:t>signalling</a:t>
            </a:r>
            <a:r>
              <a:rPr lang="en-US" sz="1800" dirty="0">
                <a:solidFill>
                  <a:schemeClr val="bg1">
                    <a:lumMod val="10000"/>
                  </a:schemeClr>
                </a:solidFill>
              </a:rPr>
              <a:t> devices linked with KNX via push-button interfaces, binary inputs or outputs</a:t>
            </a:r>
            <a:endParaRPr lang="en-US" sz="1800" kern="0" dirty="0">
              <a:ea typeface="Open Sans" panose="020B0606030504020204" pitchFamily="34" charset="0"/>
              <a:cs typeface="Open Sans" panose="020B0606030504020204" pitchFamily="34" charset="0"/>
            </a:endParaRPr>
          </a:p>
        </p:txBody>
      </p:sp>
      <p:pic>
        <p:nvPicPr>
          <p:cNvPr id="8" name="Picture 1">
            <a:extLst>
              <a:ext uri="{FF2B5EF4-FFF2-40B4-BE49-F238E27FC236}">
                <a16:creationId xmlns:a16="http://schemas.microsoft.com/office/drawing/2014/main" id="{43969C39-79D0-42D9-9147-5F134FF476C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08304" y="4188868"/>
            <a:ext cx="1121741" cy="112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Object 9">
            <a:extLst>
              <a:ext uri="{FF2B5EF4-FFF2-40B4-BE49-F238E27FC236}">
                <a16:creationId xmlns:a16="http://schemas.microsoft.com/office/drawing/2014/main" id="{C6153F4B-3B48-47E7-B560-6CE1D383E0F5}"/>
              </a:ext>
            </a:extLst>
          </p:cNvPr>
          <p:cNvGraphicFramePr>
            <a:graphicFrameLocks noChangeAspect="1"/>
          </p:cNvGraphicFramePr>
          <p:nvPr/>
        </p:nvGraphicFramePr>
        <p:xfrm>
          <a:off x="1187624" y="1320224"/>
          <a:ext cx="6526331" cy="4249834"/>
        </p:xfrm>
        <a:graphic>
          <a:graphicData uri="http://schemas.openxmlformats.org/presentationml/2006/ole">
            <mc:AlternateContent xmlns:mc="http://schemas.openxmlformats.org/markup-compatibility/2006">
              <mc:Choice xmlns:v="urn:schemas-microsoft-com:vml" Requires="v">
                <p:oleObj r:id="rId4" imgW="8111905" imgH="5278157" progId="Visio.Drawing.15">
                  <p:embed/>
                </p:oleObj>
              </mc:Choice>
              <mc:Fallback>
                <p:oleObj r:id="rId4" imgW="8111905" imgH="5278157" progId="Visio.Drawing.15">
                  <p:embed/>
                  <p:pic>
                    <p:nvPicPr>
                      <p:cNvPr id="10" name="Object 9">
                        <a:extLst>
                          <a:ext uri="{FF2B5EF4-FFF2-40B4-BE49-F238E27FC236}">
                            <a16:creationId xmlns:a16="http://schemas.microsoft.com/office/drawing/2014/main" id="{C6153F4B-3B48-47E7-B560-6CE1D383E0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1320224"/>
                        <a:ext cx="6526331" cy="4249834"/>
                      </a:xfrm>
                      <a:prstGeom prst="rect">
                        <a:avLst/>
                      </a:prstGeom>
                      <a:noFill/>
                    </p:spPr>
                  </p:pic>
                </p:oleObj>
              </mc:Fallback>
            </mc:AlternateContent>
          </a:graphicData>
        </a:graphic>
      </p:graphicFrame>
      <p:sp>
        <p:nvSpPr>
          <p:cNvPr id="11" name="Multiply 4">
            <a:extLst>
              <a:ext uri="{FF2B5EF4-FFF2-40B4-BE49-F238E27FC236}">
                <a16:creationId xmlns:a16="http://schemas.microsoft.com/office/drawing/2014/main" id="{7257C329-C8C1-42B8-B21D-25536BD6EEE1}"/>
              </a:ext>
            </a:extLst>
          </p:cNvPr>
          <p:cNvSpPr/>
          <p:nvPr/>
        </p:nvSpPr>
        <p:spPr bwMode="auto">
          <a:xfrm>
            <a:off x="7802314" y="4699232"/>
            <a:ext cx="946150" cy="874713"/>
          </a:xfrm>
          <a:prstGeom prst="mathMultiply">
            <a:avLst/>
          </a:prstGeom>
          <a:solidFill>
            <a:srgbClr val="FF0000"/>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684641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Installation and Topology</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3923928" y="1310267"/>
            <a:ext cx="4896544" cy="223224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Medium must be protected</a:t>
            </a:r>
          </a:p>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Low-voltage should be robust</a:t>
            </a:r>
          </a:p>
          <a:p>
            <a:pPr>
              <a:lnSpc>
                <a:spcPct val="150000"/>
              </a:lnSpc>
              <a:defRPr/>
            </a:pPr>
            <a:r>
              <a:rPr lang="en-GB" sz="1800" dirty="0">
                <a:solidFill>
                  <a:schemeClr val="tx1"/>
                </a:solidFill>
                <a:latin typeface="Arial" charset="0"/>
              </a:rPr>
              <a:t>Open cable routing should be avoided </a:t>
            </a:r>
            <a:endParaRPr lang="en-US" sz="1800" kern="0" dirty="0">
              <a:ea typeface="Open Sans" panose="020B0606030504020204" pitchFamily="34" charset="0"/>
              <a:cs typeface="Open Sans" panose="020B0606030504020204" pitchFamily="34" charset="0"/>
            </a:endParaRPr>
          </a:p>
          <a:p>
            <a:pPr>
              <a:lnSpc>
                <a:spcPct val="150000"/>
              </a:lnSpc>
              <a:defRPr/>
            </a:pPr>
            <a:r>
              <a:rPr lang="en-US" sz="1800" kern="0" dirty="0">
                <a:solidFill>
                  <a:schemeClr val="bg1">
                    <a:lumMod val="10000"/>
                  </a:schemeClr>
                </a:solidFill>
                <a:ea typeface="Open Sans" panose="020B0606030504020204" pitchFamily="34" charset="0"/>
                <a:cs typeface="Open Sans" panose="020B0606030504020204" pitchFamily="34" charset="0"/>
              </a:rPr>
              <a:t>Put security devices on main line or in exclusive lines/areas</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4" name="Picture 3">
            <a:extLst>
              <a:ext uri="{FF2B5EF4-FFF2-40B4-BE49-F238E27FC236}">
                <a16:creationId xmlns:a16="http://schemas.microsoft.com/office/drawing/2014/main" id="{4BA72F85-A446-4849-8EA4-B64FB11365D7}"/>
              </a:ext>
            </a:extLst>
          </p:cNvPr>
          <p:cNvPicPr/>
          <p:nvPr/>
        </p:nvPicPr>
        <p:blipFill>
          <a:blip r:embed="rId3"/>
          <a:stretch>
            <a:fillRect/>
          </a:stretch>
        </p:blipFill>
        <p:spPr>
          <a:xfrm>
            <a:off x="971600" y="3788178"/>
            <a:ext cx="7560840" cy="1945078"/>
          </a:xfrm>
          <a:prstGeom prst="rect">
            <a:avLst/>
          </a:prstGeom>
        </p:spPr>
      </p:pic>
      <p:pic>
        <p:nvPicPr>
          <p:cNvPr id="5" name="Picture 4">
            <a:extLst>
              <a:ext uri="{FF2B5EF4-FFF2-40B4-BE49-F238E27FC236}">
                <a16:creationId xmlns:a16="http://schemas.microsoft.com/office/drawing/2014/main" id="{D68A9B16-041A-43C5-B408-53386FB5D19B}"/>
              </a:ext>
            </a:extLst>
          </p:cNvPr>
          <p:cNvPicPr/>
          <p:nvPr/>
        </p:nvPicPr>
        <p:blipFill>
          <a:blip r:embed="rId4"/>
          <a:stretch>
            <a:fillRect/>
          </a:stretch>
        </p:blipFill>
        <p:spPr>
          <a:xfrm>
            <a:off x="971600" y="1441051"/>
            <a:ext cx="2808312" cy="2101464"/>
          </a:xfrm>
          <a:prstGeom prst="rect">
            <a:avLst/>
          </a:prstGeom>
        </p:spPr>
      </p:pic>
      <p:sp>
        <p:nvSpPr>
          <p:cNvPr id="2" name="Rectangle 1">
            <a:extLst>
              <a:ext uri="{FF2B5EF4-FFF2-40B4-BE49-F238E27FC236}">
                <a16:creationId xmlns:a16="http://schemas.microsoft.com/office/drawing/2014/main" id="{1E806FF8-CF05-47DF-AE77-305E53FC1F68}"/>
              </a:ext>
            </a:extLst>
          </p:cNvPr>
          <p:cNvSpPr/>
          <p:nvPr/>
        </p:nvSpPr>
        <p:spPr>
          <a:xfrm>
            <a:off x="971600" y="5949280"/>
            <a:ext cx="7560840" cy="369332"/>
          </a:xfrm>
          <a:prstGeom prst="rect">
            <a:avLst/>
          </a:prstGeom>
        </p:spPr>
        <p:txBody>
          <a:bodyPr wrap="square">
            <a:spAutoFit/>
          </a:bodyPr>
          <a:lstStyle/>
          <a:p>
            <a:r>
              <a:rPr lang="en-US" b="1" dirty="0">
                <a:solidFill>
                  <a:srgbClr val="369226"/>
                </a:solidFill>
              </a:rPr>
              <a:t>Attention: </a:t>
            </a:r>
            <a:r>
              <a:rPr lang="en-US" b="1" dirty="0"/>
              <a:t>High bus load can cause false alarms or fault signals</a:t>
            </a:r>
          </a:p>
        </p:txBody>
      </p:sp>
    </p:spTree>
    <p:extLst>
      <p:ext uri="{BB962C8B-B14F-4D97-AF65-F5344CB8AC3E}">
        <p14:creationId xmlns:p14="http://schemas.microsoft.com/office/powerpoint/2010/main" val="1396881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Project design: Example</a:t>
            </a:r>
            <a:endParaRPr lang="en-GB" dirty="0"/>
          </a:p>
        </p:txBody>
      </p:sp>
      <p:pic>
        <p:nvPicPr>
          <p:cNvPr id="2" name="Picture 1">
            <a:extLst>
              <a:ext uri="{FF2B5EF4-FFF2-40B4-BE49-F238E27FC236}">
                <a16:creationId xmlns:a16="http://schemas.microsoft.com/office/drawing/2014/main" id="{D5CB9742-DB2B-41A2-85B5-93395AC99600}"/>
              </a:ext>
            </a:extLst>
          </p:cNvPr>
          <p:cNvPicPr>
            <a:picLocks noChangeAspect="1"/>
          </p:cNvPicPr>
          <p:nvPr/>
        </p:nvPicPr>
        <p:blipFill>
          <a:blip r:embed="rId3"/>
          <a:stretch>
            <a:fillRect/>
          </a:stretch>
        </p:blipFill>
        <p:spPr>
          <a:xfrm>
            <a:off x="971600" y="1484784"/>
            <a:ext cx="3060457" cy="4752528"/>
          </a:xfrm>
          <a:prstGeom prst="rect">
            <a:avLst/>
          </a:prstGeom>
          <a:ln>
            <a:solidFill>
              <a:schemeClr val="tx1"/>
            </a:solidFill>
          </a:ln>
        </p:spPr>
      </p:pic>
      <p:pic>
        <p:nvPicPr>
          <p:cNvPr id="6" name="Picture 5">
            <a:extLst>
              <a:ext uri="{FF2B5EF4-FFF2-40B4-BE49-F238E27FC236}">
                <a16:creationId xmlns:a16="http://schemas.microsoft.com/office/drawing/2014/main" id="{9721C505-E344-41CB-B366-B333F9CF35BA}"/>
              </a:ext>
            </a:extLst>
          </p:cNvPr>
          <p:cNvPicPr/>
          <p:nvPr/>
        </p:nvPicPr>
        <p:blipFill>
          <a:blip r:embed="rId4"/>
          <a:stretch>
            <a:fillRect/>
          </a:stretch>
        </p:blipFill>
        <p:spPr>
          <a:xfrm>
            <a:off x="4211960" y="1484784"/>
            <a:ext cx="4305111" cy="4752528"/>
          </a:xfrm>
          <a:prstGeom prst="rect">
            <a:avLst/>
          </a:prstGeom>
          <a:ln>
            <a:solidFill>
              <a:schemeClr val="tx1"/>
            </a:solidFill>
          </a:ln>
        </p:spPr>
      </p:pic>
    </p:spTree>
    <p:extLst>
      <p:ext uri="{BB962C8B-B14F-4D97-AF65-F5344CB8AC3E}">
        <p14:creationId xmlns:p14="http://schemas.microsoft.com/office/powerpoint/2010/main" val="4104435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Project design: Example</a:t>
            </a:r>
            <a:endParaRPr lang="en-GB" dirty="0"/>
          </a:p>
        </p:txBody>
      </p:sp>
      <p:pic>
        <p:nvPicPr>
          <p:cNvPr id="4" name="Picture 3">
            <a:extLst>
              <a:ext uri="{FF2B5EF4-FFF2-40B4-BE49-F238E27FC236}">
                <a16:creationId xmlns:a16="http://schemas.microsoft.com/office/drawing/2014/main" id="{5DA3BD62-CAA8-4362-B0BC-614B82A7C877}"/>
              </a:ext>
            </a:extLst>
          </p:cNvPr>
          <p:cNvPicPr>
            <a:picLocks noChangeAspect="1"/>
          </p:cNvPicPr>
          <p:nvPr/>
        </p:nvPicPr>
        <p:blipFill>
          <a:blip r:embed="rId3"/>
          <a:stretch>
            <a:fillRect/>
          </a:stretch>
        </p:blipFill>
        <p:spPr>
          <a:xfrm>
            <a:off x="1088805" y="5128048"/>
            <a:ext cx="6933350" cy="346328"/>
          </a:xfrm>
          <a:prstGeom prst="rect">
            <a:avLst/>
          </a:prstGeom>
          <a:ln>
            <a:solidFill>
              <a:schemeClr val="tx1"/>
            </a:solidFill>
          </a:ln>
        </p:spPr>
      </p:pic>
      <p:pic>
        <p:nvPicPr>
          <p:cNvPr id="5" name="Picture 4">
            <a:extLst>
              <a:ext uri="{FF2B5EF4-FFF2-40B4-BE49-F238E27FC236}">
                <a16:creationId xmlns:a16="http://schemas.microsoft.com/office/drawing/2014/main" id="{061707B1-34A2-480E-88D8-C55A05718803}"/>
              </a:ext>
            </a:extLst>
          </p:cNvPr>
          <p:cNvPicPr>
            <a:picLocks noChangeAspect="1"/>
          </p:cNvPicPr>
          <p:nvPr/>
        </p:nvPicPr>
        <p:blipFill>
          <a:blip r:embed="rId4"/>
          <a:stretch>
            <a:fillRect/>
          </a:stretch>
        </p:blipFill>
        <p:spPr>
          <a:xfrm>
            <a:off x="1059501" y="1556788"/>
            <a:ext cx="6962653" cy="2775585"/>
          </a:xfrm>
          <a:prstGeom prst="rect">
            <a:avLst/>
          </a:prstGeom>
          <a:ln>
            <a:solidFill>
              <a:schemeClr val="tx1"/>
            </a:solidFill>
          </a:ln>
        </p:spPr>
      </p:pic>
      <p:sp>
        <p:nvSpPr>
          <p:cNvPr id="2" name="Rectangle 1">
            <a:extLst>
              <a:ext uri="{FF2B5EF4-FFF2-40B4-BE49-F238E27FC236}">
                <a16:creationId xmlns:a16="http://schemas.microsoft.com/office/drawing/2014/main" id="{82BB168D-2DCF-42A5-9A32-4CEB3F28A796}"/>
              </a:ext>
            </a:extLst>
          </p:cNvPr>
          <p:cNvSpPr/>
          <p:nvPr/>
        </p:nvSpPr>
        <p:spPr>
          <a:xfrm>
            <a:off x="4248224" y="4360878"/>
            <a:ext cx="3890809" cy="369332"/>
          </a:xfrm>
          <a:prstGeom prst="rect">
            <a:avLst/>
          </a:prstGeom>
        </p:spPr>
        <p:txBody>
          <a:bodyPr wrap="none">
            <a:spAutoFit/>
          </a:bodyPr>
          <a:lstStyle/>
          <a:p>
            <a:r>
              <a:rPr lang="en-US" b="1" dirty="0"/>
              <a:t>Parameters of the switch actuator</a:t>
            </a:r>
            <a:endParaRPr lang="es-ES" b="1" dirty="0"/>
          </a:p>
        </p:txBody>
      </p:sp>
      <p:sp>
        <p:nvSpPr>
          <p:cNvPr id="7" name="Rectangle 6">
            <a:extLst>
              <a:ext uri="{FF2B5EF4-FFF2-40B4-BE49-F238E27FC236}">
                <a16:creationId xmlns:a16="http://schemas.microsoft.com/office/drawing/2014/main" id="{D6B5C311-0D2A-454D-ADA2-BA9B5A3B2E0A}"/>
              </a:ext>
            </a:extLst>
          </p:cNvPr>
          <p:cNvSpPr/>
          <p:nvPr/>
        </p:nvSpPr>
        <p:spPr>
          <a:xfrm>
            <a:off x="5652120" y="5530140"/>
            <a:ext cx="2518638" cy="369332"/>
          </a:xfrm>
          <a:prstGeom prst="rect">
            <a:avLst/>
          </a:prstGeom>
        </p:spPr>
        <p:txBody>
          <a:bodyPr wrap="none">
            <a:spAutoFit/>
          </a:bodyPr>
          <a:lstStyle/>
          <a:p>
            <a:r>
              <a:rPr lang="en-GB" b="1"/>
              <a:t>Changing the priority</a:t>
            </a:r>
          </a:p>
        </p:txBody>
      </p:sp>
    </p:spTree>
    <p:extLst>
      <p:ext uri="{BB962C8B-B14F-4D97-AF65-F5344CB8AC3E}">
        <p14:creationId xmlns:p14="http://schemas.microsoft.com/office/powerpoint/2010/main" val="2470924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Power Supply</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3671888"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bg1">
                    <a:lumMod val="10000"/>
                  </a:schemeClr>
                </a:solidFill>
                <a:ea typeface="Open Sans" panose="020B0606030504020204" pitchFamily="34" charset="0"/>
                <a:cs typeface="Open Sans" panose="020B0606030504020204" pitchFamily="34" charset="0"/>
              </a:rPr>
              <a:t>Some </a:t>
            </a:r>
            <a:r>
              <a:rPr lang="en-US" sz="2000" kern="0" dirty="0">
                <a:ea typeface="Open Sans" panose="020B0606030504020204" pitchFamily="34" charset="0"/>
                <a:cs typeface="Open Sans" panose="020B0606030504020204" pitchFamily="34" charset="0"/>
              </a:rPr>
              <a:t>KNX power supplies </a:t>
            </a:r>
            <a:r>
              <a:rPr lang="en-US" sz="2000" kern="0" dirty="0">
                <a:solidFill>
                  <a:schemeClr val="bg1">
                    <a:lumMod val="10000"/>
                  </a:schemeClr>
                </a:solidFill>
                <a:ea typeface="Open Sans" panose="020B0606030504020204" pitchFamily="34" charset="0"/>
                <a:cs typeface="Open Sans" panose="020B0606030504020204" pitchFamily="34" charset="0"/>
              </a:rPr>
              <a:t>can be coupled with a battery module with extra power for a limited period</a:t>
            </a:r>
          </a:p>
          <a:p>
            <a:pPr>
              <a:lnSpc>
                <a:spcPct val="150000"/>
              </a:lnSpc>
              <a:defRPr/>
            </a:pPr>
            <a:endParaRPr lang="en-US" sz="2000" dirty="0">
              <a:solidFill>
                <a:schemeClr val="tx1"/>
              </a:solidFill>
              <a:latin typeface="Arial"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97762100-4C9B-4AF4-872B-3C1722E86676}"/>
              </a:ext>
            </a:extLst>
          </p:cNvPr>
          <p:cNvGraphicFramePr>
            <a:graphicFrameLocks noChangeAspect="1"/>
          </p:cNvGraphicFramePr>
          <p:nvPr/>
        </p:nvGraphicFramePr>
        <p:xfrm>
          <a:off x="4799270" y="1700808"/>
          <a:ext cx="3731740" cy="3950717"/>
        </p:xfrm>
        <a:graphic>
          <a:graphicData uri="http://schemas.openxmlformats.org/presentationml/2006/ole">
            <mc:AlternateContent xmlns:mc="http://schemas.openxmlformats.org/markup-compatibility/2006">
              <mc:Choice xmlns:v="urn:schemas-microsoft-com:vml" Requires="v">
                <p:oleObj r:id="rId3" imgW="6047852" imgH="6419015" progId="Visio.Drawing.15">
                  <p:embed/>
                </p:oleObj>
              </mc:Choice>
              <mc:Fallback>
                <p:oleObj r:id="rId3" imgW="6047852" imgH="6419015" progId="Visio.Drawing.15">
                  <p:embed/>
                  <p:pic>
                    <p:nvPicPr>
                      <p:cNvPr id="4" name="Object 3">
                        <a:extLst>
                          <a:ext uri="{FF2B5EF4-FFF2-40B4-BE49-F238E27FC236}">
                            <a16:creationId xmlns:a16="http://schemas.microsoft.com/office/drawing/2014/main" id="{97762100-4C9B-4AF4-872B-3C1722E866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9270" y="1700808"/>
                        <a:ext cx="3731740" cy="3950717"/>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84A04284-1D66-4356-875B-8A15D37DD6C1}"/>
              </a:ext>
            </a:extLst>
          </p:cNvPr>
          <p:cNvSpPr/>
          <p:nvPr/>
        </p:nvSpPr>
        <p:spPr>
          <a:xfrm>
            <a:off x="3274674" y="5727632"/>
            <a:ext cx="5256336" cy="646331"/>
          </a:xfrm>
          <a:prstGeom prst="rect">
            <a:avLst/>
          </a:prstGeom>
        </p:spPr>
        <p:txBody>
          <a:bodyPr wrap="square">
            <a:spAutoFit/>
          </a:bodyPr>
          <a:lstStyle/>
          <a:p>
            <a:pPr algn="r"/>
            <a:r>
              <a:rPr lang="en-US" b="1" dirty="0"/>
              <a:t>KNX power supply with uninterruptible supply and changeover contact for remote signaling</a:t>
            </a:r>
          </a:p>
        </p:txBody>
      </p:sp>
    </p:spTree>
    <p:extLst>
      <p:ext uri="{BB962C8B-B14F-4D97-AF65-F5344CB8AC3E}">
        <p14:creationId xmlns:p14="http://schemas.microsoft.com/office/powerpoint/2010/main" val="1070751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GB" dirty="0"/>
              <a:t>Binary Input</a:t>
            </a:r>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4716016" y="4725144"/>
            <a:ext cx="4104456" cy="1397285"/>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solidFill>
                  <a:schemeClr val="tx1"/>
                </a:solidFill>
                <a:ea typeface="Open Sans" panose="020B0606030504020204" pitchFamily="34" charset="0"/>
                <a:cs typeface="Open Sans" panose="020B0606030504020204" pitchFamily="34" charset="0"/>
              </a:rPr>
              <a:t>A signal is sent on the bus in the event of a falling pulse edge</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14FB57F6-864A-4CC2-B32F-683C236AB72A}"/>
              </a:ext>
            </a:extLst>
          </p:cNvPr>
          <p:cNvPicPr>
            <a:picLocks noChangeAspect="1"/>
          </p:cNvPicPr>
          <p:nvPr/>
        </p:nvPicPr>
        <p:blipFill>
          <a:blip r:embed="rId3"/>
          <a:stretch>
            <a:fillRect/>
          </a:stretch>
        </p:blipFill>
        <p:spPr>
          <a:xfrm>
            <a:off x="900113" y="1628800"/>
            <a:ext cx="5400600" cy="4493629"/>
          </a:xfrm>
          <a:prstGeom prst="rect">
            <a:avLst/>
          </a:prstGeom>
        </p:spPr>
      </p:pic>
    </p:spTree>
    <p:extLst>
      <p:ext uri="{BB962C8B-B14F-4D97-AF65-F5344CB8AC3E}">
        <p14:creationId xmlns:p14="http://schemas.microsoft.com/office/powerpoint/2010/main" val="838802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Binary Input</a:t>
            </a:r>
            <a:endParaRPr lang="en-GB" dirty="0"/>
          </a:p>
        </p:txBody>
      </p:sp>
      <p:graphicFrame>
        <p:nvGraphicFramePr>
          <p:cNvPr id="7" name="Object 6">
            <a:extLst>
              <a:ext uri="{FF2B5EF4-FFF2-40B4-BE49-F238E27FC236}">
                <a16:creationId xmlns:a16="http://schemas.microsoft.com/office/drawing/2014/main" id="{41AE7423-4659-4BB0-AF36-682C6291A4FB}"/>
              </a:ext>
            </a:extLst>
          </p:cNvPr>
          <p:cNvGraphicFramePr>
            <a:graphicFrameLocks noChangeAspect="1"/>
          </p:cNvGraphicFramePr>
          <p:nvPr/>
        </p:nvGraphicFramePr>
        <p:xfrm>
          <a:off x="1297324" y="1308647"/>
          <a:ext cx="6264696" cy="3722449"/>
        </p:xfrm>
        <a:graphic>
          <a:graphicData uri="http://schemas.openxmlformats.org/presentationml/2006/ole">
            <mc:AlternateContent xmlns:mc="http://schemas.openxmlformats.org/markup-compatibility/2006">
              <mc:Choice xmlns:v="urn:schemas-microsoft-com:vml" Requires="v">
                <p:oleObj r:id="rId3" imgW="7767896" imgH="4608308" progId="Visio.Drawing.15">
                  <p:embed/>
                </p:oleObj>
              </mc:Choice>
              <mc:Fallback>
                <p:oleObj r:id="rId3" imgW="7767896" imgH="4608308" progId="Visio.Drawing.15">
                  <p:embed/>
                  <p:pic>
                    <p:nvPicPr>
                      <p:cNvPr id="7" name="Object 6">
                        <a:extLst>
                          <a:ext uri="{FF2B5EF4-FFF2-40B4-BE49-F238E27FC236}">
                            <a16:creationId xmlns:a16="http://schemas.microsoft.com/office/drawing/2014/main" id="{41AE7423-4659-4BB0-AF36-682C6291A4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7324" y="1308647"/>
                        <a:ext cx="6264696" cy="3722449"/>
                      </a:xfrm>
                      <a:prstGeom prst="rect">
                        <a:avLst/>
                      </a:prstGeom>
                      <a:noFill/>
                    </p:spPr>
                  </p:pic>
                </p:oleObj>
              </mc:Fallback>
            </mc:AlternateContent>
          </a:graphicData>
        </a:graphic>
      </p:graphicFrame>
      <p:sp>
        <p:nvSpPr>
          <p:cNvPr id="10" name="Content Placeholder 1">
            <a:extLst>
              <a:ext uri="{FF2B5EF4-FFF2-40B4-BE49-F238E27FC236}">
                <a16:creationId xmlns:a16="http://schemas.microsoft.com/office/drawing/2014/main" id="{B3131D6E-E349-43EC-B8CC-377BDE9D77EC}"/>
              </a:ext>
            </a:extLst>
          </p:cNvPr>
          <p:cNvSpPr txBox="1">
            <a:spLocks/>
          </p:cNvSpPr>
          <p:nvPr/>
        </p:nvSpPr>
        <p:spPr>
          <a:xfrm>
            <a:off x="903560" y="5265626"/>
            <a:ext cx="7844903" cy="223224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solidFill>
                  <a:schemeClr val="tx1"/>
                </a:solidFill>
                <a:ea typeface="Open Sans" panose="020B0606030504020204" pitchFamily="34" charset="0"/>
                <a:cs typeface="Open Sans" panose="020B0606030504020204" pitchFamily="34" charset="0"/>
              </a:rPr>
              <a:t>Used to link </a:t>
            </a:r>
            <a:r>
              <a:rPr lang="en-US" sz="1800" kern="0" dirty="0" err="1">
                <a:solidFill>
                  <a:schemeClr val="tx1"/>
                </a:solidFill>
                <a:ea typeface="Open Sans" panose="020B0606030504020204" pitchFamily="34" charset="0"/>
                <a:cs typeface="Open Sans" panose="020B0606030504020204" pitchFamily="34" charset="0"/>
              </a:rPr>
              <a:t>VdS</a:t>
            </a:r>
            <a:r>
              <a:rPr lang="en-US" sz="1800" kern="0" dirty="0">
                <a:solidFill>
                  <a:schemeClr val="tx1"/>
                </a:solidFill>
                <a:ea typeface="Open Sans" panose="020B0606030504020204" pitchFamily="34" charset="0"/>
                <a:cs typeface="Open Sans" panose="020B0606030504020204" pitchFamily="34" charset="0"/>
              </a:rPr>
              <a:t> components with the KNX installation</a:t>
            </a:r>
          </a:p>
          <a:p>
            <a:pPr>
              <a:defRPr/>
            </a:pPr>
            <a:r>
              <a:rPr lang="en-US" sz="1800" kern="0" dirty="0" err="1">
                <a:solidFill>
                  <a:schemeClr val="tx1"/>
                </a:solidFill>
                <a:ea typeface="Open Sans" panose="020B0606030504020204" pitchFamily="34" charset="0"/>
                <a:cs typeface="Open Sans" panose="020B0606030504020204" pitchFamily="34" charset="0"/>
              </a:rPr>
              <a:t>VdS</a:t>
            </a:r>
            <a:r>
              <a:rPr lang="en-US" sz="1800" kern="0" dirty="0">
                <a:solidFill>
                  <a:schemeClr val="tx1"/>
                </a:solidFill>
                <a:ea typeface="Open Sans" panose="020B0606030504020204" pitchFamily="34" charset="0"/>
                <a:cs typeface="Open Sans" panose="020B0606030504020204" pitchFamily="34" charset="0"/>
              </a:rPr>
              <a:t> reed contact with a tamper contact is connected to channel A for opening surveillance and to channel B for tamper monitoring</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108545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Binary Output</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3923928" y="4365798"/>
            <a:ext cx="4678717" cy="1871514"/>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Increase of the level of security by the current detection function</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“Status, Feedback” used to check whether the load is working.</a:t>
            </a:r>
          </a:p>
          <a:p>
            <a:endParaRPr lang="en-US" sz="2400" kern="0" dirty="0">
              <a:solidFill>
                <a:schemeClr val="tx1"/>
              </a:solidFill>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89951EE6-6C05-4733-8C0F-2A3B7D42B87B}"/>
              </a:ext>
            </a:extLst>
          </p:cNvPr>
          <p:cNvPicPr>
            <a:picLocks noChangeAspect="1"/>
          </p:cNvPicPr>
          <p:nvPr/>
        </p:nvPicPr>
        <p:blipFill>
          <a:blip r:embed="rId3"/>
          <a:stretch>
            <a:fillRect/>
          </a:stretch>
        </p:blipFill>
        <p:spPr>
          <a:xfrm>
            <a:off x="828079" y="1484784"/>
            <a:ext cx="6466487" cy="4097456"/>
          </a:xfrm>
          <a:prstGeom prst="rect">
            <a:avLst/>
          </a:prstGeom>
        </p:spPr>
      </p:pic>
    </p:spTree>
    <p:extLst>
      <p:ext uri="{BB962C8B-B14F-4D97-AF65-F5344CB8AC3E}">
        <p14:creationId xmlns:p14="http://schemas.microsoft.com/office/powerpoint/2010/main" val="1001165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Sensors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3" y="1557486"/>
            <a:ext cx="7776344" cy="1151434"/>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solidFill>
                  <a:schemeClr val="tx1"/>
                </a:solidFill>
                <a:ea typeface="Open Sans" panose="020B0606030504020204" pitchFamily="34" charset="0"/>
                <a:cs typeface="Open Sans" panose="020B0606030504020204" pitchFamily="34" charset="0"/>
              </a:rPr>
              <a:t>Convert </a:t>
            </a:r>
            <a:r>
              <a:rPr lang="en-US" sz="2000" kern="0" dirty="0">
                <a:ea typeface="Open Sans" panose="020B0606030504020204" pitchFamily="34" charset="0"/>
                <a:cs typeface="Open Sans" panose="020B0606030504020204" pitchFamily="34" charset="0"/>
              </a:rPr>
              <a:t>physical variables into electrical values </a:t>
            </a:r>
            <a:r>
              <a:rPr lang="en-US" sz="2000" kern="0" dirty="0">
                <a:solidFill>
                  <a:schemeClr val="tx1"/>
                </a:solidFill>
                <a:ea typeface="Open Sans" panose="020B0606030504020204" pitchFamily="34" charset="0"/>
                <a:cs typeface="Open Sans" panose="020B0606030504020204" pitchFamily="34" charset="0"/>
              </a:rPr>
              <a:t>which are sent on the bus as a telegram</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6F9B814B-1280-402D-A889-F07CFC541349}"/>
              </a:ext>
            </a:extLst>
          </p:cNvPr>
          <p:cNvGraphicFramePr>
            <a:graphicFrameLocks noChangeAspect="1"/>
          </p:cNvGraphicFramePr>
          <p:nvPr/>
        </p:nvGraphicFramePr>
        <p:xfrm>
          <a:off x="922169" y="2924944"/>
          <a:ext cx="7401875" cy="1617712"/>
        </p:xfrm>
        <a:graphic>
          <a:graphicData uri="http://schemas.openxmlformats.org/presentationml/2006/ole">
            <mc:AlternateContent xmlns:mc="http://schemas.openxmlformats.org/markup-compatibility/2006">
              <mc:Choice xmlns:v="urn:schemas-microsoft-com:vml" Requires="v">
                <p:oleObj r:id="rId3" imgW="8555399" imgH="1855947" progId="Visio.Drawing.15">
                  <p:embed/>
                </p:oleObj>
              </mc:Choice>
              <mc:Fallback>
                <p:oleObj r:id="rId3" imgW="8555399" imgH="1855947" progId="Visio.Drawing.15">
                  <p:embed/>
                  <p:pic>
                    <p:nvPicPr>
                      <p:cNvPr id="4" name="Object 3">
                        <a:extLst>
                          <a:ext uri="{FF2B5EF4-FFF2-40B4-BE49-F238E27FC236}">
                            <a16:creationId xmlns:a16="http://schemas.microsoft.com/office/drawing/2014/main" id="{6F9B814B-1280-402D-A889-F07CFC5413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169" y="2924944"/>
                        <a:ext cx="7401875" cy="1617712"/>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C9CFF781-379C-4C77-82A0-E6DC15829EAA}"/>
              </a:ext>
            </a:extLst>
          </p:cNvPr>
          <p:cNvSpPr/>
          <p:nvPr/>
        </p:nvSpPr>
        <p:spPr>
          <a:xfrm>
            <a:off x="900112" y="4940474"/>
            <a:ext cx="7423932" cy="1881990"/>
          </a:xfrm>
          <a:prstGeom prst="rect">
            <a:avLst/>
          </a:prstGeom>
        </p:spPr>
        <p:txBody>
          <a:bodyPr/>
          <a:lstStyle/>
          <a:p>
            <a:pPr eaLnBrk="0" hangingPunct="0">
              <a:lnSpc>
                <a:spcPct val="150000"/>
              </a:lnSpc>
              <a:spcBef>
                <a:spcPct val="20000"/>
              </a:spcBef>
              <a:buClr>
                <a:srgbClr val="369226"/>
              </a:buClr>
            </a:pPr>
            <a:r>
              <a:rPr lang="en-US" sz="2000" b="1" kern="0" dirty="0">
                <a:latin typeface="+mn-lt"/>
                <a:ea typeface="Open Sans" panose="020B0606030504020204" pitchFamily="34" charset="0"/>
                <a:cs typeface="Open Sans" panose="020B0606030504020204" pitchFamily="34" charset="0"/>
              </a:rPr>
              <a:t>User </a:t>
            </a:r>
            <a:r>
              <a:rPr lang="en-US" sz="2000" b="1" kern="0" dirty="0">
                <a:solidFill>
                  <a:srgbClr val="369226"/>
                </a:solidFill>
                <a:latin typeface="+mn-lt"/>
                <a:ea typeface="Open Sans" panose="020B0606030504020204" pitchFamily="34" charset="0"/>
                <a:cs typeface="Open Sans" panose="020B0606030504020204" pitchFamily="34" charset="0"/>
              </a:rPr>
              <a:t>calls up configured functions </a:t>
            </a:r>
            <a:r>
              <a:rPr lang="en-US" sz="2000" b="1" kern="0" dirty="0">
                <a:latin typeface="+mn-lt"/>
                <a:ea typeface="Open Sans" panose="020B0606030504020204" pitchFamily="34" charset="0"/>
                <a:cs typeface="Open Sans" panose="020B0606030504020204" pitchFamily="34" charset="0"/>
              </a:rPr>
              <a:t>such as arming or deactivating the system, sending emails for alarms, movement/presence detected, switching on the siren …</a:t>
            </a:r>
            <a:endParaRPr lang="es-ES" sz="2000" b="1" kern="0" dirty="0">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43177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KNX Zone Terminal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992368"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Used for </a:t>
            </a:r>
            <a:r>
              <a:rPr lang="en-US" sz="2000" kern="0" dirty="0">
                <a:ea typeface="Open Sans" panose="020B0606030504020204" pitchFamily="34" charset="0"/>
                <a:cs typeface="Open Sans" panose="020B0606030504020204" pitchFamily="34" charset="0"/>
              </a:rPr>
              <a:t>simple security and monitoring </a:t>
            </a:r>
            <a:r>
              <a:rPr lang="en-US" sz="2000" kern="0" dirty="0">
                <a:solidFill>
                  <a:schemeClr val="tx1"/>
                </a:solidFill>
                <a:ea typeface="Open Sans" panose="020B0606030504020204" pitchFamily="34" charset="0"/>
                <a:cs typeface="Open Sans" panose="020B0606030504020204" pitchFamily="34" charset="0"/>
              </a:rPr>
              <a:t>functions. NOT </a:t>
            </a:r>
            <a:r>
              <a:rPr lang="en-US" sz="2000" kern="0" dirty="0" err="1">
                <a:solidFill>
                  <a:schemeClr val="tx1"/>
                </a:solidFill>
                <a:ea typeface="Open Sans" panose="020B0606030504020204" pitchFamily="34" charset="0"/>
                <a:cs typeface="Open Sans" panose="020B0606030504020204" pitchFamily="34" charset="0"/>
              </a:rPr>
              <a:t>VdS</a:t>
            </a: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Acts as the </a:t>
            </a:r>
            <a:r>
              <a:rPr lang="en-US" sz="2000" kern="0" dirty="0">
                <a:ea typeface="Open Sans" panose="020B0606030504020204" pitchFamily="34" charset="0"/>
                <a:cs typeface="Open Sans" panose="020B0606030504020204" pitchFamily="34" charset="0"/>
              </a:rPr>
              <a:t>link between security zones and the KNX</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It is advisable to use the number of sensors per zone in the same way  as for intruder alarm systems: </a:t>
            </a:r>
            <a:r>
              <a:rPr lang="en-US" sz="2000" kern="0" dirty="0">
                <a:ea typeface="Open Sans" panose="020B0606030504020204" pitchFamily="34" charset="0"/>
                <a:cs typeface="Open Sans" panose="020B0606030504020204" pitchFamily="34" charset="0"/>
              </a:rPr>
              <a:t>max. 20.</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Each zone is terminated with a resistance of </a:t>
            </a:r>
            <a:r>
              <a:rPr lang="en-US" sz="2000" kern="0" dirty="0">
                <a:ea typeface="Open Sans" panose="020B0606030504020204" pitchFamily="34" charset="0"/>
                <a:cs typeface="Open Sans" panose="020B0606030504020204" pitchFamily="34" charset="0"/>
              </a:rPr>
              <a:t>2.7 </a:t>
            </a:r>
            <a:r>
              <a:rPr lang="en-US" sz="2000" kern="0" dirty="0" err="1">
                <a:ea typeface="Open Sans" panose="020B0606030504020204" pitchFamily="34" charset="0"/>
                <a:cs typeface="Open Sans" panose="020B0606030504020204" pitchFamily="34" charset="0"/>
              </a:rPr>
              <a:t>kΩ</a:t>
            </a:r>
            <a:endParaRPr lang="en-U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Main benefit: </a:t>
            </a:r>
            <a:r>
              <a:rPr lang="en-US" sz="2000" kern="0" dirty="0">
                <a:solidFill>
                  <a:schemeClr val="bg1">
                    <a:lumMod val="10000"/>
                  </a:schemeClr>
                </a:solidFill>
                <a:ea typeface="Open Sans" panose="020B0606030504020204" pitchFamily="34" charset="0"/>
                <a:cs typeface="Open Sans" panose="020B0606030504020204" pitchFamily="34" charset="0"/>
              </a:rPr>
              <a:t>monitoring the circuit for isolation/short circuits</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D20B9086-4117-47ED-A88E-1611B9A7F940}"/>
              </a:ext>
            </a:extLst>
          </p:cNvPr>
          <p:cNvGraphicFramePr>
            <a:graphicFrameLocks noChangeAspect="1"/>
          </p:cNvGraphicFramePr>
          <p:nvPr/>
        </p:nvGraphicFramePr>
        <p:xfrm>
          <a:off x="1331640" y="4675485"/>
          <a:ext cx="6748500" cy="1681857"/>
        </p:xfrm>
        <a:graphic>
          <a:graphicData uri="http://schemas.openxmlformats.org/presentationml/2006/ole">
            <mc:AlternateContent xmlns:mc="http://schemas.openxmlformats.org/markup-compatibility/2006">
              <mc:Choice xmlns:v="urn:schemas-microsoft-com:vml" Requires="v">
                <p:oleObj r:id="rId3" imgW="9460974" imgH="2371832" progId="Visio.Drawing.15">
                  <p:embed/>
                </p:oleObj>
              </mc:Choice>
              <mc:Fallback>
                <p:oleObj r:id="rId3" imgW="9460974" imgH="2371832" progId="Visio.Drawing.15">
                  <p:embed/>
                  <p:pic>
                    <p:nvPicPr>
                      <p:cNvPr id="4" name="Object 3">
                        <a:extLst>
                          <a:ext uri="{FF2B5EF4-FFF2-40B4-BE49-F238E27FC236}">
                            <a16:creationId xmlns:a16="http://schemas.microsoft.com/office/drawing/2014/main" id="{D20B9086-4117-47ED-A88E-1611B9A7F9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4675485"/>
                        <a:ext cx="6748500" cy="1681857"/>
                      </a:xfrm>
                      <a:prstGeom prst="rect">
                        <a:avLst/>
                      </a:prstGeom>
                      <a:noFill/>
                    </p:spPr>
                  </p:pic>
                </p:oleObj>
              </mc:Fallback>
            </mc:AlternateContent>
          </a:graphicData>
        </a:graphic>
      </p:graphicFrame>
    </p:spTree>
    <p:extLst>
      <p:ext uri="{BB962C8B-B14F-4D97-AF65-F5344CB8AC3E}">
        <p14:creationId xmlns:p14="http://schemas.microsoft.com/office/powerpoint/2010/main" val="2021682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KNX Zone Terminal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Two operating modes:</a:t>
            </a:r>
          </a:p>
          <a:p>
            <a:pPr>
              <a:lnSpc>
                <a:spcPct val="150000"/>
              </a:lnSpc>
              <a:defRPr/>
            </a:pPr>
            <a:r>
              <a:rPr lang="en-US" sz="2000" kern="0" dirty="0">
                <a:ea typeface="Open Sans" panose="020B0606030504020204" pitchFamily="34" charset="0"/>
                <a:cs typeface="Open Sans" panose="020B0606030504020204" pitchFamily="34" charset="0"/>
              </a:rPr>
              <a:t>Report mode</a:t>
            </a:r>
            <a:r>
              <a:rPr lang="en-US" sz="2000" kern="0" dirty="0">
                <a:solidFill>
                  <a:schemeClr val="bg1">
                    <a:lumMod val="10000"/>
                  </a:schemeClr>
                </a:solidFill>
                <a:ea typeface="Open Sans" panose="020B0606030504020204" pitchFamily="34" charset="0"/>
                <a:cs typeface="Open Sans" panose="020B0606030504020204" pitchFamily="34" charset="0"/>
              </a:rPr>
              <a:t>:  states of zones are reported but not stored </a:t>
            </a:r>
          </a:p>
          <a:p>
            <a:pPr>
              <a:lnSpc>
                <a:spcPct val="150000"/>
              </a:lnSpc>
              <a:defRPr/>
            </a:pPr>
            <a:r>
              <a:rPr lang="en-US" sz="2000" kern="0" dirty="0">
                <a:ea typeface="Open Sans" panose="020B0606030504020204" pitchFamily="34" charset="0"/>
                <a:cs typeface="Open Sans" panose="020B0606030504020204" pitchFamily="34" charset="0"/>
              </a:rPr>
              <a:t>Monitor mode</a:t>
            </a:r>
            <a:r>
              <a:rPr lang="en-US" sz="2000" kern="0" dirty="0">
                <a:solidFill>
                  <a:schemeClr val="bg1">
                    <a:lumMod val="10000"/>
                  </a:schemeClr>
                </a:solidFill>
                <a:ea typeface="Open Sans" panose="020B0606030504020204" pitchFamily="34" charset="0"/>
                <a:cs typeface="Open Sans" panose="020B0606030504020204" pitchFamily="34" charset="0"/>
              </a:rPr>
              <a:t>: the states of zones are reported and stored. It is only possible to change to this mode if no signals are present. </a:t>
            </a:r>
          </a:p>
          <a:p>
            <a:pPr marL="0" indent="0">
              <a:lnSpc>
                <a:spcPct val="150000"/>
              </a:lnSpc>
              <a:buNone/>
              <a:defRPr/>
            </a:pPr>
            <a:endParaRPr lang="en-US" sz="1200" kern="0" dirty="0">
              <a:solidFill>
                <a:schemeClr val="bg1">
                  <a:lumMod val="10000"/>
                </a:schemeClr>
              </a:solidFill>
              <a:ea typeface="Open Sans" panose="020B0606030504020204" pitchFamily="34" charset="0"/>
              <a:cs typeface="Open Sans" panose="020B0606030504020204" pitchFamily="34" charset="0"/>
            </a:endParaRPr>
          </a:p>
          <a:p>
            <a:pPr marL="0" indent="0">
              <a:lnSpc>
                <a:spcPct val="150000"/>
              </a:lnSpc>
              <a:buNone/>
              <a:defRPr/>
            </a:pPr>
            <a:r>
              <a:rPr lang="en-US" sz="2000" kern="0" dirty="0">
                <a:solidFill>
                  <a:schemeClr val="bg1">
                    <a:lumMod val="10000"/>
                  </a:schemeClr>
                </a:solidFill>
                <a:ea typeface="Open Sans" panose="020B0606030504020204" pitchFamily="34" charset="0"/>
                <a:cs typeface="Open Sans" panose="020B0606030504020204" pitchFamily="34" charset="0"/>
              </a:rPr>
              <a:t>The states of the zones (alarm) must be acknowledged (‘Set/unset’ is set to ‘0’)</a:t>
            </a:r>
          </a:p>
          <a:p>
            <a:pPr marL="0" indent="0">
              <a:lnSpc>
                <a:spcPct val="150000"/>
              </a:lnSpc>
              <a:buNone/>
              <a:defRPr/>
            </a:pPr>
            <a:endParaRPr lang="en-US" sz="1200" kern="0" dirty="0">
              <a:solidFill>
                <a:schemeClr val="bg1">
                  <a:lumMod val="10000"/>
                </a:schemeClr>
              </a:solidFill>
              <a:ea typeface="Open Sans" panose="020B0606030504020204" pitchFamily="34" charset="0"/>
              <a:cs typeface="Open Sans" panose="020B0606030504020204" pitchFamily="34" charset="0"/>
            </a:endParaRPr>
          </a:p>
          <a:p>
            <a:pPr marL="0" indent="0">
              <a:lnSpc>
                <a:spcPct val="150000"/>
              </a:lnSpc>
              <a:buNone/>
              <a:defRPr/>
            </a:pPr>
            <a:r>
              <a:rPr lang="en-US" sz="2000" kern="0" dirty="0">
                <a:solidFill>
                  <a:schemeClr val="bg1">
                    <a:lumMod val="10000"/>
                  </a:schemeClr>
                </a:solidFill>
                <a:ea typeface="Open Sans" panose="020B0606030504020204" pitchFamily="34" charset="0"/>
                <a:cs typeface="Open Sans" panose="020B0606030504020204" pitchFamily="34" charset="0"/>
              </a:rPr>
              <a:t>These states must also be reset (‘Reset </a:t>
            </a:r>
            <a:r>
              <a:rPr lang="en-US" sz="2000" kern="0" dirty="0" err="1">
                <a:solidFill>
                  <a:schemeClr val="bg1">
                    <a:lumMod val="10000"/>
                  </a:schemeClr>
                </a:solidFill>
                <a:ea typeface="Open Sans" panose="020B0606030504020204" pitchFamily="34" charset="0"/>
                <a:cs typeface="Open Sans" panose="020B0606030504020204" pitchFamily="34" charset="0"/>
              </a:rPr>
              <a:t>zones“is</a:t>
            </a:r>
            <a:r>
              <a:rPr lang="en-US" sz="2000" kern="0" dirty="0">
                <a:solidFill>
                  <a:schemeClr val="bg1">
                    <a:lumMod val="10000"/>
                  </a:schemeClr>
                </a:solidFill>
                <a:ea typeface="Open Sans" panose="020B0606030504020204" pitchFamily="34" charset="0"/>
                <a:cs typeface="Open Sans" panose="020B0606030504020204" pitchFamily="34" charset="0"/>
              </a:rPr>
              <a:t> set to ‘1’)</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17300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13C572-4CE7-475F-A363-1D1B01086777}"/>
              </a:ext>
            </a:extLst>
          </p:cNvPr>
          <p:cNvSpPr/>
          <p:nvPr/>
        </p:nvSpPr>
        <p:spPr>
          <a:xfrm>
            <a:off x="1115616" y="2924944"/>
            <a:ext cx="7632848" cy="1368152"/>
          </a:xfrm>
          <a:prstGeom prst="rect">
            <a:avLst/>
          </a:prstGeom>
        </p:spPr>
        <p:txBody>
          <a:bodyPr/>
          <a:lstStyle/>
          <a:p>
            <a:pPr eaLnBrk="0" hangingPunct="0">
              <a:spcBef>
                <a:spcPct val="20000"/>
              </a:spcBef>
              <a:buClr>
                <a:srgbClr val="369226"/>
              </a:buClr>
              <a:buFont typeface="Wingdings" pitchFamily="2" charset="2"/>
            </a:pPr>
            <a:r>
              <a:rPr lang="en-GB" sz="2800" b="1" dirty="0">
                <a:solidFill>
                  <a:srgbClr val="0C4B9D"/>
                </a:solidFill>
                <a:latin typeface="+mj-lt"/>
                <a:ea typeface="+mj-ea"/>
                <a:cs typeface="+mj-cs"/>
              </a:rPr>
              <a:t>Supplementary</a:t>
            </a:r>
            <a:r>
              <a:rPr lang="de-DE" sz="2800" b="1" dirty="0">
                <a:solidFill>
                  <a:srgbClr val="0C4B9D"/>
                </a:solidFill>
                <a:latin typeface="+mj-lt"/>
                <a:ea typeface="+mj-ea"/>
                <a:cs typeface="+mj-cs"/>
              </a:rPr>
              <a:t> Information / Informative Appendix</a:t>
            </a:r>
            <a:endParaRPr lang="es-ES" sz="2800" b="1" dirty="0">
              <a:solidFill>
                <a:srgbClr val="0C4B9D"/>
              </a:solidFill>
              <a:latin typeface="+mj-lt"/>
              <a:ea typeface="+mj-ea"/>
              <a:cs typeface="+mj-cs"/>
            </a:endParaRPr>
          </a:p>
        </p:txBody>
      </p:sp>
    </p:spTree>
    <p:extLst>
      <p:ext uri="{BB962C8B-B14F-4D97-AF65-F5344CB8AC3E}">
        <p14:creationId xmlns:p14="http://schemas.microsoft.com/office/powerpoint/2010/main" val="1382076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Sensors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Automatic detectors: </a:t>
            </a:r>
            <a:r>
              <a:rPr lang="en-US" sz="2000" kern="0" dirty="0">
                <a:solidFill>
                  <a:schemeClr val="tx1"/>
                </a:solidFill>
                <a:ea typeface="Open Sans" panose="020B0606030504020204" pitchFamily="34" charset="0"/>
                <a:cs typeface="Open Sans" panose="020B0606030504020204" pitchFamily="34" charset="0"/>
              </a:rPr>
              <a:t>record an attempted break-in or sabotage and trigger the alarm</a:t>
            </a:r>
          </a:p>
          <a:p>
            <a:pPr>
              <a:lnSpc>
                <a:spcPct val="150000"/>
              </a:lnSpc>
              <a:defRPr/>
            </a:pPr>
            <a:r>
              <a:rPr lang="en-US" sz="2000" kern="0" dirty="0">
                <a:ea typeface="Open Sans" panose="020B0606030504020204" pitchFamily="34" charset="0"/>
                <a:cs typeface="Open Sans" panose="020B0606030504020204" pitchFamily="34" charset="0"/>
              </a:rPr>
              <a:t>Non-automatic detectors: </a:t>
            </a:r>
            <a:r>
              <a:rPr lang="en-US" sz="2000" kern="0" dirty="0">
                <a:solidFill>
                  <a:schemeClr val="tx1"/>
                </a:solidFill>
                <a:ea typeface="Open Sans" panose="020B0606030504020204" pitchFamily="34" charset="0"/>
                <a:cs typeface="Open Sans" panose="020B0606030504020204" pitchFamily="34" charset="0"/>
              </a:rPr>
              <a:t>trigger a targeted alarm</a:t>
            </a:r>
          </a:p>
          <a:p>
            <a:pPr>
              <a:lnSpc>
                <a:spcPct val="150000"/>
              </a:lnSpc>
              <a:defRPr/>
            </a:pPr>
            <a:endParaRPr lang="en-US" sz="16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GB" sz="2000" dirty="0">
                <a:latin typeface="Arial" charset="0"/>
              </a:rPr>
              <a:t>Active detector: </a:t>
            </a:r>
            <a:r>
              <a:rPr lang="en-GB" sz="2000" dirty="0">
                <a:solidFill>
                  <a:schemeClr val="tx1"/>
                </a:solidFill>
                <a:latin typeface="Arial" charset="0"/>
              </a:rPr>
              <a:t>consists mainly of a transmitter and receiver. The detector monitors itself and triggers an alarm on failure of the transmitter or receiver</a:t>
            </a:r>
          </a:p>
          <a:p>
            <a:pPr>
              <a:lnSpc>
                <a:spcPct val="150000"/>
              </a:lnSpc>
              <a:defRPr/>
            </a:pPr>
            <a:r>
              <a:rPr lang="en-US" sz="2000" kern="0" dirty="0">
                <a:ea typeface="Open Sans" panose="020B0606030504020204" pitchFamily="34" charset="0"/>
                <a:cs typeface="Open Sans" panose="020B0606030504020204" pitchFamily="34" charset="0"/>
              </a:rPr>
              <a:t>Passive detector: </a:t>
            </a:r>
            <a:r>
              <a:rPr lang="en-US" sz="2000" kern="0" dirty="0">
                <a:solidFill>
                  <a:schemeClr val="tx1"/>
                </a:solidFill>
                <a:ea typeface="Open Sans" panose="020B0606030504020204" pitchFamily="34" charset="0"/>
                <a:cs typeface="Open Sans" panose="020B0606030504020204" pitchFamily="34" charset="0"/>
              </a:rPr>
              <a:t>record certain values or their change in value to send a signal to the alarm control unit when the threshold is exceeded. A fault signal is not issued on failure</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3197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Sensors by </a:t>
            </a:r>
            <a:r>
              <a:rPr lang="en-GB" dirty="0"/>
              <a:t>physical principles</a:t>
            </a:r>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92036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Electro-acoustic detectors</a:t>
            </a:r>
            <a:r>
              <a:rPr lang="en-US" sz="2000" kern="0" dirty="0">
                <a:solidFill>
                  <a:schemeClr val="tx1"/>
                </a:solidFill>
                <a:ea typeface="Open Sans" panose="020B0606030504020204" pitchFamily="34" charset="0"/>
                <a:cs typeface="Open Sans" panose="020B0606030504020204" pitchFamily="34" charset="0"/>
              </a:rPr>
              <a:t> use sound waves, whereby the frequency is dependent on the design and application</a:t>
            </a:r>
          </a:p>
          <a:p>
            <a:pPr>
              <a:lnSpc>
                <a:spcPct val="150000"/>
              </a:lnSpc>
              <a:defRPr/>
            </a:pPr>
            <a:r>
              <a:rPr lang="en-US" sz="2000" kern="0" dirty="0">
                <a:ea typeface="Open Sans" panose="020B0606030504020204" pitchFamily="34" charset="0"/>
                <a:cs typeface="Open Sans" panose="020B0606030504020204" pitchFamily="34" charset="0"/>
              </a:rPr>
              <a:t>Electro-optical detectors </a:t>
            </a:r>
            <a:r>
              <a:rPr lang="en-US" sz="2000" kern="0" dirty="0">
                <a:solidFill>
                  <a:schemeClr val="tx1"/>
                </a:solidFill>
                <a:ea typeface="Open Sans" panose="020B0606030504020204" pitchFamily="34" charset="0"/>
                <a:cs typeface="Open Sans" panose="020B0606030504020204" pitchFamily="34" charset="0"/>
              </a:rPr>
              <a:t>use heat rays in the form of infrared</a:t>
            </a:r>
          </a:p>
          <a:p>
            <a:pPr>
              <a:lnSpc>
                <a:spcPct val="150000"/>
              </a:lnSpc>
              <a:defRPr/>
            </a:pPr>
            <a:r>
              <a:rPr lang="en-US" sz="2000" kern="0" dirty="0">
                <a:ea typeface="Open Sans" panose="020B0606030504020204" pitchFamily="34" charset="0"/>
                <a:cs typeface="Open Sans" panose="020B0606030504020204" pitchFamily="34" charset="0"/>
              </a:rPr>
              <a:t>Electric detectors </a:t>
            </a:r>
            <a:r>
              <a:rPr lang="en-US" sz="2000" kern="0" dirty="0">
                <a:solidFill>
                  <a:schemeClr val="tx1"/>
                </a:solidFill>
                <a:ea typeface="Open Sans" panose="020B0606030504020204" pitchFamily="34" charset="0"/>
                <a:cs typeface="Open Sans" panose="020B0606030504020204" pitchFamily="34" charset="0"/>
              </a:rPr>
              <a:t>use electromagnetic waves or electric capacity changes</a:t>
            </a:r>
          </a:p>
          <a:p>
            <a:pPr>
              <a:lnSpc>
                <a:spcPct val="150000"/>
              </a:lnSpc>
              <a:defRPr/>
            </a:pPr>
            <a:r>
              <a:rPr lang="en-US" sz="2000" kern="0" dirty="0">
                <a:ea typeface="Open Sans" panose="020B0606030504020204" pitchFamily="34" charset="0"/>
                <a:cs typeface="Open Sans" panose="020B0606030504020204" pitchFamily="34" charset="0"/>
              </a:rPr>
              <a:t>Electro-mechanical detectors </a:t>
            </a:r>
            <a:r>
              <a:rPr lang="en-US" sz="2000" kern="0" dirty="0">
                <a:solidFill>
                  <a:schemeClr val="tx1"/>
                </a:solidFill>
                <a:ea typeface="Open Sans" panose="020B0606030504020204" pitchFamily="34" charset="0"/>
                <a:cs typeface="Open Sans" panose="020B0606030504020204" pitchFamily="34" charset="0"/>
              </a:rPr>
              <a:t>are divided according to the different types of contacts</a:t>
            </a:r>
          </a:p>
          <a:p>
            <a:pPr marL="0" indent="0">
              <a:lnSpc>
                <a:spcPct val="150000"/>
              </a:lnSpc>
              <a:buNone/>
              <a:defRPr/>
            </a:pPr>
            <a:endParaRPr lang="en-US" sz="16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r>
              <a:rPr lang="en-US" sz="2000" kern="0" dirty="0">
                <a:ea typeface="Open Sans" panose="020B0606030504020204" pitchFamily="34" charset="0"/>
                <a:cs typeface="Open Sans" panose="020B0606030504020204" pitchFamily="34" charset="0"/>
              </a:rPr>
              <a:t>It is possible to combine different physical principles in one detector</a:t>
            </a:r>
          </a:p>
        </p:txBody>
      </p:sp>
    </p:spTree>
    <p:extLst>
      <p:ext uri="{BB962C8B-B14F-4D97-AF65-F5344CB8AC3E}">
        <p14:creationId xmlns:p14="http://schemas.microsoft.com/office/powerpoint/2010/main" val="3969503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Intruder alarm control unit</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Evaluates the signals from the detectors and initiates the appropriate measures </a:t>
            </a:r>
          </a:p>
          <a:p>
            <a:pPr>
              <a:lnSpc>
                <a:spcPct val="150000"/>
              </a:lnSpc>
              <a:defRPr/>
            </a:pP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Tasks</a:t>
            </a:r>
            <a:r>
              <a:rPr lang="en-US" sz="2000" kern="0" dirty="0">
                <a:solidFill>
                  <a:schemeClr val="tx1"/>
                </a:solidFill>
                <a:ea typeface="Open Sans" panose="020B0606030504020204" pitchFamily="34" charset="0"/>
                <a:cs typeface="Open Sans" panose="020B0606030504020204" pitchFamily="34" charset="0"/>
              </a:rPr>
              <a:t>: </a:t>
            </a:r>
          </a:p>
          <a:p>
            <a:pPr lvl="1">
              <a:lnSpc>
                <a:spcPct val="150000"/>
              </a:lnSpc>
              <a:buFont typeface="Wingdings" panose="05000000000000000000" pitchFamily="2" charset="2"/>
              <a:buChar char="§"/>
              <a:defRPr/>
            </a:pPr>
            <a:r>
              <a:rPr lang="en-GB" sz="2000" b="1" dirty="0">
                <a:solidFill>
                  <a:schemeClr val="tx1"/>
                </a:solidFill>
                <a:latin typeface="Arial" charset="0"/>
              </a:rPr>
              <a:t>Recording and evaluating the signals from the detectors</a:t>
            </a:r>
            <a:endParaRPr lang="es-ES" sz="2000" b="1" dirty="0">
              <a:solidFill>
                <a:schemeClr val="tx1"/>
              </a:solidFill>
              <a:latin typeface="Arial" charset="0"/>
            </a:endParaRPr>
          </a:p>
          <a:p>
            <a:pPr lvl="1">
              <a:lnSpc>
                <a:spcPct val="150000"/>
              </a:lnSpc>
              <a:buFont typeface="Wingdings" panose="05000000000000000000" pitchFamily="2" charset="2"/>
              <a:buChar char="§"/>
              <a:defRPr/>
            </a:pPr>
            <a:r>
              <a:rPr lang="en-GB" sz="2000" b="1" dirty="0">
                <a:solidFill>
                  <a:schemeClr val="tx1"/>
                </a:solidFill>
                <a:latin typeface="Arial" charset="0"/>
              </a:rPr>
              <a:t>Triggering of alarm device(s)</a:t>
            </a:r>
            <a:endParaRPr lang="es-ES" sz="2000" b="1" dirty="0">
              <a:solidFill>
                <a:schemeClr val="tx1"/>
              </a:solidFill>
              <a:latin typeface="Arial" charset="0"/>
            </a:endParaRPr>
          </a:p>
          <a:p>
            <a:pPr lvl="1">
              <a:lnSpc>
                <a:spcPct val="150000"/>
              </a:lnSpc>
              <a:buFont typeface="Wingdings" panose="05000000000000000000" pitchFamily="2" charset="2"/>
              <a:buChar char="§"/>
              <a:defRPr/>
            </a:pPr>
            <a:r>
              <a:rPr lang="en-GB" sz="2000" b="1" dirty="0">
                <a:solidFill>
                  <a:schemeClr val="tx1"/>
                </a:solidFill>
                <a:latin typeface="Arial" charset="0"/>
              </a:rPr>
              <a:t>Monitoring the supply device</a:t>
            </a:r>
            <a:endParaRPr lang="es-ES" sz="2000" b="1" dirty="0">
              <a:solidFill>
                <a:schemeClr val="tx1"/>
              </a:solidFill>
              <a:latin typeface="Arial" charset="0"/>
            </a:endParaRPr>
          </a:p>
          <a:p>
            <a:pPr lvl="1">
              <a:lnSpc>
                <a:spcPct val="150000"/>
              </a:lnSpc>
              <a:buFont typeface="Wingdings" panose="05000000000000000000" pitchFamily="2" charset="2"/>
              <a:buChar char="§"/>
              <a:defRPr/>
            </a:pPr>
            <a:r>
              <a:rPr lang="en-GB" sz="2000" b="1" dirty="0">
                <a:solidFill>
                  <a:schemeClr val="tx1"/>
                </a:solidFill>
                <a:latin typeface="Arial" charset="0"/>
              </a:rPr>
              <a:t>Display of faults based on the zones / detectors </a:t>
            </a:r>
            <a:endParaRPr lang="es-ES" sz="2000" b="1" dirty="0">
              <a:solidFill>
                <a:schemeClr val="tx1"/>
              </a:solidFill>
              <a:latin typeface="Arial" charset="0"/>
            </a:endParaRPr>
          </a:p>
          <a:p>
            <a:pPr lvl="1">
              <a:lnSpc>
                <a:spcPct val="150000"/>
              </a:lnSpc>
              <a:buFont typeface="Wingdings" panose="05000000000000000000" pitchFamily="2" charset="2"/>
              <a:buChar char="§"/>
              <a:defRPr/>
            </a:pPr>
            <a:r>
              <a:rPr lang="en-GB" sz="2000" b="1" dirty="0">
                <a:solidFill>
                  <a:schemeClr val="tx1"/>
                </a:solidFill>
                <a:latin typeface="Arial" charset="0"/>
              </a:rPr>
              <a:t>Display of set/unset state</a:t>
            </a:r>
            <a:endParaRPr lang="es-ES" sz="2000" b="1" dirty="0">
              <a:solidFill>
                <a:schemeClr val="tx1"/>
              </a:solidFill>
              <a:latin typeface="Arial" charset="0"/>
            </a:endParaRPr>
          </a:p>
          <a:p>
            <a:pPr>
              <a:lnSpc>
                <a:spcPct val="150000"/>
              </a:lnSpc>
              <a:defRPr/>
            </a:pPr>
            <a:endParaRPr lang="en-US" sz="20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33599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Alarm</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3167832" cy="244827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Alarm types :</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Acoustic alarm</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Optical alarm</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Silent alarm</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4" name="Content Placeholder 1">
            <a:extLst>
              <a:ext uri="{FF2B5EF4-FFF2-40B4-BE49-F238E27FC236}">
                <a16:creationId xmlns:a16="http://schemas.microsoft.com/office/drawing/2014/main" id="{66D4E347-EC7C-4CF9-96CE-843D52FBE095}"/>
              </a:ext>
            </a:extLst>
          </p:cNvPr>
          <p:cNvSpPr txBox="1">
            <a:spLocks/>
          </p:cNvSpPr>
          <p:nvPr/>
        </p:nvSpPr>
        <p:spPr>
          <a:xfrm>
            <a:off x="4788544" y="1556792"/>
            <a:ext cx="3167832" cy="244827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ea typeface="Open Sans" panose="020B0606030504020204" pitchFamily="34" charset="0"/>
                <a:cs typeface="Open Sans" panose="020B0606030504020204" pitchFamily="34" charset="0"/>
              </a:rPr>
              <a:t>Alarms are divided into :</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Internal alarm</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External alarm</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Remote alarm</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8819CD94-DDC4-4101-88A6-1FFE1F79085C}"/>
              </a:ext>
            </a:extLst>
          </p:cNvPr>
          <p:cNvSpPr/>
          <p:nvPr/>
        </p:nvSpPr>
        <p:spPr>
          <a:xfrm>
            <a:off x="900112" y="4005065"/>
            <a:ext cx="7632328" cy="2448272"/>
          </a:xfrm>
          <a:prstGeom prst="rect">
            <a:avLst/>
          </a:prstGeom>
        </p:spPr>
        <p:txBody>
          <a:bodyPr/>
          <a:lstStyle/>
          <a:p>
            <a:pPr marL="342900" indent="-342900" eaLnBrk="0" hangingPunct="0">
              <a:lnSpc>
                <a:spcPct val="150000"/>
              </a:lnSpc>
              <a:spcBef>
                <a:spcPct val="20000"/>
              </a:spcBef>
              <a:buClr>
                <a:srgbClr val="369226"/>
              </a:buClr>
              <a:buFont typeface="Wingdings" panose="05000000000000000000" pitchFamily="2" charset="2"/>
              <a:buChar char="§"/>
            </a:pPr>
            <a:r>
              <a:rPr lang="en-US" sz="2000" b="1" kern="0" dirty="0">
                <a:solidFill>
                  <a:srgbClr val="369226"/>
                </a:solidFill>
                <a:latin typeface="+mn-lt"/>
                <a:ea typeface="Open Sans" panose="020B0606030504020204" pitchFamily="34" charset="0"/>
                <a:cs typeface="Open Sans" panose="020B0606030504020204" pitchFamily="34" charset="0"/>
              </a:rPr>
              <a:t>Internal alarm </a:t>
            </a:r>
            <a:r>
              <a:rPr lang="en-US" sz="2000" b="1" kern="0" dirty="0">
                <a:latin typeface="+mn-lt"/>
                <a:ea typeface="Open Sans" panose="020B0606030504020204" pitchFamily="34" charset="0"/>
                <a:cs typeface="Open Sans" panose="020B0606030504020204" pitchFamily="34" charset="0"/>
              </a:rPr>
              <a:t>only triggers the alarm inside the property</a:t>
            </a:r>
          </a:p>
          <a:p>
            <a:pPr marL="342900" indent="-342900" eaLnBrk="0" hangingPunct="0">
              <a:lnSpc>
                <a:spcPct val="150000"/>
              </a:lnSpc>
              <a:spcBef>
                <a:spcPct val="20000"/>
              </a:spcBef>
              <a:buClr>
                <a:srgbClr val="369226"/>
              </a:buClr>
              <a:buFont typeface="Wingdings" panose="05000000000000000000" pitchFamily="2" charset="2"/>
              <a:buChar char="§"/>
            </a:pPr>
            <a:r>
              <a:rPr lang="en-US" sz="2000" b="1" kern="0" dirty="0">
                <a:solidFill>
                  <a:srgbClr val="369226"/>
                </a:solidFill>
                <a:latin typeface="+mn-lt"/>
                <a:ea typeface="Open Sans" panose="020B0606030504020204" pitchFamily="34" charset="0"/>
                <a:cs typeface="Open Sans" panose="020B0606030504020204" pitchFamily="34" charset="0"/>
              </a:rPr>
              <a:t>External alarm </a:t>
            </a:r>
            <a:r>
              <a:rPr lang="en-US" sz="2000" b="1" kern="0" dirty="0">
                <a:latin typeface="+mn-lt"/>
                <a:ea typeface="Open Sans" panose="020B0606030504020204" pitchFamily="34" charset="0"/>
                <a:cs typeface="Open Sans" panose="020B0606030504020204" pitchFamily="34" charset="0"/>
              </a:rPr>
              <a:t>trips the </a:t>
            </a:r>
            <a:r>
              <a:rPr lang="en-US" sz="2000" b="1" kern="0" dirty="0" err="1">
                <a:latin typeface="+mn-lt"/>
                <a:ea typeface="Open Sans" panose="020B0606030504020204" pitchFamily="34" charset="0"/>
                <a:cs typeface="Open Sans" panose="020B0606030504020204" pitchFamily="34" charset="0"/>
              </a:rPr>
              <a:t>signalling</a:t>
            </a:r>
            <a:r>
              <a:rPr lang="en-US" sz="2000" b="1" kern="0" dirty="0">
                <a:latin typeface="+mn-lt"/>
                <a:ea typeface="Open Sans" panose="020B0606030504020204" pitchFamily="34" charset="0"/>
                <a:cs typeface="Open Sans" panose="020B0606030504020204" pitchFamily="34" charset="0"/>
              </a:rPr>
              <a:t> devices such as strobe lights and/or sirens</a:t>
            </a:r>
          </a:p>
          <a:p>
            <a:pPr marL="342900" indent="-342900" eaLnBrk="0" hangingPunct="0">
              <a:lnSpc>
                <a:spcPct val="150000"/>
              </a:lnSpc>
              <a:spcBef>
                <a:spcPct val="20000"/>
              </a:spcBef>
              <a:buClr>
                <a:srgbClr val="369226"/>
              </a:buClr>
              <a:buFont typeface="Wingdings" panose="05000000000000000000" pitchFamily="2" charset="2"/>
              <a:buChar char="§"/>
            </a:pPr>
            <a:r>
              <a:rPr lang="en-US" sz="2000" b="1" kern="0" dirty="0">
                <a:solidFill>
                  <a:srgbClr val="369226"/>
                </a:solidFill>
                <a:latin typeface="+mn-lt"/>
                <a:ea typeface="Open Sans" panose="020B0606030504020204" pitchFamily="34" charset="0"/>
                <a:cs typeface="Open Sans" panose="020B0606030504020204" pitchFamily="34" charset="0"/>
              </a:rPr>
              <a:t>Remote alarm </a:t>
            </a:r>
            <a:r>
              <a:rPr lang="en-US" sz="2000" b="1" kern="0" dirty="0">
                <a:latin typeface="+mn-lt"/>
                <a:ea typeface="Open Sans" panose="020B0606030504020204" pitchFamily="34" charset="0"/>
                <a:cs typeface="Open Sans" panose="020B0606030504020204" pitchFamily="34" charset="0"/>
              </a:rPr>
              <a:t>notifies emergency services using telecommunication options</a:t>
            </a:r>
          </a:p>
        </p:txBody>
      </p:sp>
    </p:spTree>
    <p:extLst>
      <p:ext uri="{BB962C8B-B14F-4D97-AF65-F5344CB8AC3E}">
        <p14:creationId xmlns:p14="http://schemas.microsoft.com/office/powerpoint/2010/main" val="2591735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Setting / Arming Device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If system is set, an alarm is triggered when an attempted break-in is detected</a:t>
            </a:r>
          </a:p>
          <a:p>
            <a:pPr>
              <a:lnSpc>
                <a:spcPct val="150000"/>
              </a:lnSpc>
              <a:defRPr/>
            </a:pP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System is set or unset using an </a:t>
            </a:r>
            <a:r>
              <a:rPr lang="en-US" sz="2000" kern="0" dirty="0">
                <a:ea typeface="Open Sans" panose="020B0606030504020204" pitchFamily="34" charset="0"/>
                <a:cs typeface="Open Sans" panose="020B0606030504020204" pitchFamily="34" charset="0"/>
              </a:rPr>
              <a:t>arming device</a:t>
            </a:r>
          </a:p>
          <a:p>
            <a:pPr>
              <a:lnSpc>
                <a:spcPct val="150000"/>
              </a:lnSpc>
              <a:defRPr/>
            </a:pP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Arming device types:</a:t>
            </a:r>
          </a:p>
          <a:p>
            <a:pPr lvl="1">
              <a:lnSpc>
                <a:spcPct val="150000"/>
              </a:lnSpc>
              <a:buFont typeface="Wingdings" panose="05000000000000000000" pitchFamily="2" charset="2"/>
              <a:buChar char="§"/>
              <a:defRPr/>
            </a:pPr>
            <a:r>
              <a:rPr lang="en-US" sz="2000" b="1" kern="0" dirty="0">
                <a:solidFill>
                  <a:srgbClr val="369226"/>
                </a:solidFill>
                <a:ea typeface="Open Sans" panose="020B0606030504020204" pitchFamily="34" charset="0"/>
                <a:cs typeface="Open Sans" panose="020B0606030504020204" pitchFamily="34" charset="0"/>
              </a:rPr>
              <a:t>Electromechanical</a:t>
            </a:r>
            <a:r>
              <a:rPr lang="en-US" sz="2000" b="1" kern="0" dirty="0">
                <a:solidFill>
                  <a:schemeClr val="tx1"/>
                </a:solidFill>
                <a:ea typeface="Open Sans" panose="020B0606030504020204" pitchFamily="34" charset="0"/>
                <a:cs typeface="Open Sans" panose="020B0606030504020204" pitchFamily="34" charset="0"/>
              </a:rPr>
              <a:t> arming device</a:t>
            </a:r>
          </a:p>
          <a:p>
            <a:pPr lvl="1">
              <a:lnSpc>
                <a:spcPct val="150000"/>
              </a:lnSpc>
              <a:buFont typeface="Wingdings" panose="05000000000000000000" pitchFamily="2" charset="2"/>
              <a:buChar char="§"/>
              <a:defRPr/>
            </a:pPr>
            <a:r>
              <a:rPr lang="en-US" sz="2000" b="1" kern="0" dirty="0">
                <a:solidFill>
                  <a:srgbClr val="369226"/>
                </a:solidFill>
                <a:ea typeface="Open Sans" panose="020B0606030504020204" pitchFamily="34" charset="0"/>
                <a:cs typeface="Open Sans" panose="020B0606030504020204" pitchFamily="34" charset="0"/>
              </a:rPr>
              <a:t>Intelligent</a:t>
            </a:r>
            <a:r>
              <a:rPr lang="en-US" sz="2000" b="1" kern="0" dirty="0">
                <a:solidFill>
                  <a:schemeClr val="tx1"/>
                </a:solidFill>
                <a:ea typeface="Open Sans" panose="020B0606030504020204" pitchFamily="34" charset="0"/>
                <a:cs typeface="Open Sans" panose="020B0606030504020204" pitchFamily="34" charset="0"/>
              </a:rPr>
              <a:t> arming device </a:t>
            </a:r>
          </a:p>
          <a:p>
            <a:pPr lvl="1">
              <a:lnSpc>
                <a:spcPct val="150000"/>
              </a:lnSpc>
              <a:buFont typeface="Wingdings" panose="05000000000000000000" pitchFamily="2" charset="2"/>
              <a:buChar char="§"/>
              <a:defRPr/>
            </a:pPr>
            <a:r>
              <a:rPr lang="en-US" sz="2000" b="1" kern="0" dirty="0">
                <a:solidFill>
                  <a:srgbClr val="369226"/>
                </a:solidFill>
                <a:ea typeface="Open Sans" panose="020B0606030504020204" pitchFamily="34" charset="0"/>
                <a:cs typeface="Open Sans" panose="020B0606030504020204" pitchFamily="34" charset="0"/>
              </a:rPr>
              <a:t>Proximity</a:t>
            </a:r>
            <a:r>
              <a:rPr lang="en-US" sz="2000" b="1" kern="0" dirty="0">
                <a:solidFill>
                  <a:schemeClr val="tx1"/>
                </a:solidFill>
                <a:ea typeface="Open Sans" panose="020B0606030504020204" pitchFamily="34" charset="0"/>
                <a:cs typeface="Open Sans" panose="020B0606030504020204" pitchFamily="34" charset="0"/>
              </a:rPr>
              <a:t> arming device</a:t>
            </a:r>
          </a:p>
          <a:p>
            <a:pPr marL="0" indent="0">
              <a:lnSpc>
                <a:spcPct val="150000"/>
              </a:lnSpc>
              <a:buNone/>
              <a:defRPr/>
            </a:pP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98046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Setting / Arming Device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Electromechanical: </a:t>
            </a:r>
            <a:r>
              <a:rPr lang="en-US" sz="2000" kern="0" dirty="0">
                <a:solidFill>
                  <a:schemeClr val="tx1"/>
                </a:solidFill>
                <a:ea typeface="Open Sans" panose="020B0606030504020204" pitchFamily="34" charset="0"/>
                <a:cs typeface="Open Sans" panose="020B0606030504020204" pitchFamily="34" charset="0"/>
              </a:rPr>
              <a:t>consists of a switching lock linked with the mechanical locking of the access door</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Intelligent: </a:t>
            </a:r>
            <a:r>
              <a:rPr lang="en-US" sz="2000" kern="0" dirty="0">
                <a:solidFill>
                  <a:schemeClr val="tx1"/>
                </a:solidFill>
                <a:ea typeface="Open Sans" panose="020B0606030504020204" pitchFamily="34" charset="0"/>
                <a:cs typeface="Open Sans" panose="020B0606030504020204" pitchFamily="34" charset="0"/>
              </a:rPr>
              <a:t>system is set using a combination lock linked to a mechanical lock-out of the access door</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Proximity: </a:t>
            </a:r>
            <a:r>
              <a:rPr lang="en-US" sz="2000" kern="0" dirty="0">
                <a:solidFill>
                  <a:schemeClr val="tx1"/>
                </a:solidFill>
                <a:ea typeface="Open Sans" panose="020B0606030504020204" pitchFamily="34" charset="0"/>
                <a:cs typeface="Open Sans" panose="020B0606030504020204" pitchFamily="34" charset="0"/>
              </a:rPr>
              <a:t>consists of a sensor unit, an evaluation unit and a distribution board.  Connection and lock-out can be carried out electrically or mechanically</a:t>
            </a:r>
          </a:p>
        </p:txBody>
      </p:sp>
    </p:spTree>
    <p:extLst>
      <p:ext uri="{BB962C8B-B14F-4D97-AF65-F5344CB8AC3E}">
        <p14:creationId xmlns:p14="http://schemas.microsoft.com/office/powerpoint/2010/main" val="2041507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Panic Alarms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Are push buttons which are operated should someone find themselves </a:t>
            </a:r>
            <a:r>
              <a:rPr lang="en-US" sz="2000" kern="0" dirty="0">
                <a:ea typeface="Open Sans" panose="020B0606030504020204" pitchFamily="34" charset="0"/>
                <a:cs typeface="Open Sans" panose="020B0606030504020204" pitchFamily="34" charset="0"/>
              </a:rPr>
              <a:t>in danger </a:t>
            </a:r>
          </a:p>
          <a:p>
            <a:pPr>
              <a:lnSpc>
                <a:spcPct val="150000"/>
              </a:lnSpc>
              <a:defRPr/>
            </a:pPr>
            <a:endParaRPr lang="en-US" sz="14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 </a:t>
            </a:r>
            <a:r>
              <a:rPr lang="en-US" sz="2000" kern="0" dirty="0">
                <a:ea typeface="Open Sans" panose="020B0606030504020204" pitchFamily="34" charset="0"/>
                <a:cs typeface="Open Sans" panose="020B0606030504020204" pitchFamily="34" charset="0"/>
              </a:rPr>
              <a:t>remote alarm is activated immediately </a:t>
            </a:r>
            <a:r>
              <a:rPr lang="en-US" sz="2000" kern="0" dirty="0">
                <a:solidFill>
                  <a:schemeClr val="tx1"/>
                </a:solidFill>
                <a:ea typeface="Open Sans" panose="020B0606030504020204" pitchFamily="34" charset="0"/>
                <a:cs typeface="Open Sans" panose="020B0606030504020204" pitchFamily="34" charset="0"/>
              </a:rPr>
              <a:t>after operation of the push button. A panic alarm may only trigger a local alarm if the transmission route of the remote alarm is disrupted</a:t>
            </a:r>
          </a:p>
          <a:p>
            <a:pPr>
              <a:lnSpc>
                <a:spcPct val="150000"/>
              </a:lnSpc>
              <a:defRPr/>
            </a:pPr>
            <a:endParaRPr lang="en-US" sz="14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 further possibility is a </a:t>
            </a:r>
            <a:r>
              <a:rPr lang="en-US" sz="2000" kern="0" dirty="0">
                <a:ea typeface="Open Sans" panose="020B0606030504020204" pitchFamily="34" charset="0"/>
                <a:cs typeface="Open Sans" panose="020B0606030504020204" pitchFamily="34" charset="0"/>
              </a:rPr>
              <a:t>silent alarm </a:t>
            </a:r>
            <a:r>
              <a:rPr lang="en-US" sz="2000" kern="0" dirty="0">
                <a:solidFill>
                  <a:schemeClr val="tx1"/>
                </a:solidFill>
                <a:ea typeface="Open Sans" panose="020B0606030504020204" pitchFamily="34" charset="0"/>
                <a:cs typeface="Open Sans" panose="020B0606030504020204" pitchFamily="34" charset="0"/>
              </a:rPr>
              <a:t>at an alarm receiving office (security staff)</a:t>
            </a:r>
          </a:p>
        </p:txBody>
      </p:sp>
    </p:spTree>
    <p:extLst>
      <p:ext uri="{BB962C8B-B14F-4D97-AF65-F5344CB8AC3E}">
        <p14:creationId xmlns:p14="http://schemas.microsoft.com/office/powerpoint/2010/main" val="3673250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912247" cy="719138"/>
          </a:xfrm>
        </p:spPr>
        <p:txBody>
          <a:bodyPr/>
          <a:lstStyle/>
          <a:p>
            <a:r>
              <a:rPr lang="en-US" dirty="0"/>
              <a:t>Opening Surveillance, Lock Monitoring</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Status of doors, windows or skylights is observed using </a:t>
            </a:r>
            <a:r>
              <a:rPr lang="en-US" sz="2000" kern="0" dirty="0">
                <a:ea typeface="Open Sans" panose="020B0606030504020204" pitchFamily="34" charset="0"/>
                <a:cs typeface="Open Sans" panose="020B0606030504020204" pitchFamily="34" charset="0"/>
              </a:rPr>
              <a:t>lock monitoring</a:t>
            </a:r>
            <a:r>
              <a:rPr lang="en-US" sz="2000" kern="0" dirty="0">
                <a:solidFill>
                  <a:schemeClr val="tx1"/>
                </a:solidFill>
                <a:ea typeface="Open Sans" panose="020B0606030504020204" pitchFamily="34" charset="0"/>
                <a:cs typeface="Open Sans" panose="020B0606030504020204" pitchFamily="34" charset="0"/>
              </a:rPr>
              <a:t>.  A </a:t>
            </a:r>
            <a:r>
              <a:rPr lang="en-US" sz="2000" kern="0" dirty="0">
                <a:ea typeface="Open Sans" panose="020B0606030504020204" pitchFamily="34" charset="0"/>
                <a:cs typeface="Open Sans" panose="020B0606030504020204" pitchFamily="34" charset="0"/>
              </a:rPr>
              <a:t>disruption in circuit or zone </a:t>
            </a:r>
            <a:r>
              <a:rPr lang="en-US" sz="2000" kern="0" dirty="0">
                <a:solidFill>
                  <a:schemeClr val="tx1"/>
                </a:solidFill>
                <a:ea typeface="Open Sans" panose="020B0606030504020204" pitchFamily="34" charset="0"/>
                <a:cs typeface="Open Sans" panose="020B0606030504020204" pitchFamily="34" charset="0"/>
              </a:rPr>
              <a:t>does not lead to an alarm but prevents the system from being set</a:t>
            </a:r>
          </a:p>
          <a:p>
            <a:pPr>
              <a:lnSpc>
                <a:spcPct val="150000"/>
              </a:lnSpc>
              <a:defRPr/>
            </a:pPr>
            <a:endParaRPr lang="en-GB"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GB" sz="2000" kern="0" dirty="0">
                <a:ea typeface="Open Sans" panose="020B0606030504020204" pitchFamily="34" charset="0"/>
                <a:cs typeface="Open Sans" panose="020B0606030504020204" pitchFamily="34" charset="0"/>
              </a:rPr>
              <a:t>Magnet reed contacts </a:t>
            </a:r>
            <a:r>
              <a:rPr lang="en-GB" sz="2000" kern="0" dirty="0">
                <a:solidFill>
                  <a:schemeClr val="tx1"/>
                </a:solidFill>
                <a:ea typeface="Open Sans" panose="020B0606030504020204" pitchFamily="34" charset="0"/>
                <a:cs typeface="Open Sans" panose="020B0606030504020204" pitchFamily="34" charset="0"/>
              </a:rPr>
              <a:t>are used for the </a:t>
            </a:r>
            <a:r>
              <a:rPr lang="en-GB" sz="2000" kern="0" dirty="0">
                <a:ea typeface="Open Sans" panose="020B0606030504020204" pitchFamily="34" charset="0"/>
                <a:cs typeface="Open Sans" panose="020B0606030504020204" pitchFamily="34" charset="0"/>
              </a:rPr>
              <a:t>opening surveillance </a:t>
            </a:r>
            <a:r>
              <a:rPr lang="en-GB" sz="2000" kern="0" dirty="0">
                <a:solidFill>
                  <a:schemeClr val="tx1"/>
                </a:solidFill>
                <a:ea typeface="Open Sans" panose="020B0606030504020204" pitchFamily="34" charset="0"/>
                <a:cs typeface="Open Sans" panose="020B0606030504020204" pitchFamily="34" charset="0"/>
              </a:rPr>
              <a:t>of doors, windows and skylights</a:t>
            </a:r>
            <a:endParaRPr lang="en-US" sz="2000" kern="0" dirty="0">
              <a:solidFill>
                <a:schemeClr val="tx1"/>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E5C40ADB-705F-430D-BF38-CCA26D9E1205}"/>
              </a:ext>
            </a:extLst>
          </p:cNvPr>
          <p:cNvGraphicFramePr>
            <a:graphicFrameLocks noChangeAspect="1"/>
          </p:cNvGraphicFramePr>
          <p:nvPr/>
        </p:nvGraphicFramePr>
        <p:xfrm>
          <a:off x="935344" y="4869160"/>
          <a:ext cx="7770416" cy="1092370"/>
        </p:xfrm>
        <a:graphic>
          <a:graphicData uri="http://schemas.openxmlformats.org/presentationml/2006/ole">
            <mc:AlternateContent xmlns:mc="http://schemas.openxmlformats.org/markup-compatibility/2006">
              <mc:Choice xmlns:v="urn:schemas-microsoft-com:vml" Requires="v">
                <p:oleObj r:id="rId3" imgW="9922689" imgH="1403179" progId="Visio.Drawing.15">
                  <p:embed/>
                </p:oleObj>
              </mc:Choice>
              <mc:Fallback>
                <p:oleObj r:id="rId3" imgW="9922689" imgH="1403179" progId="Visio.Drawing.15">
                  <p:embed/>
                  <p:pic>
                    <p:nvPicPr>
                      <p:cNvPr id="4" name="Object 3">
                        <a:extLst>
                          <a:ext uri="{FF2B5EF4-FFF2-40B4-BE49-F238E27FC236}">
                            <a16:creationId xmlns:a16="http://schemas.microsoft.com/office/drawing/2014/main" id="{E5C40ADB-705F-430D-BF38-CCA26D9E12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344" y="4869160"/>
                        <a:ext cx="7770416" cy="1092370"/>
                      </a:xfrm>
                      <a:prstGeom prst="rect">
                        <a:avLst/>
                      </a:prstGeom>
                      <a:noFill/>
                    </p:spPr>
                  </p:pic>
                </p:oleObj>
              </mc:Fallback>
            </mc:AlternateContent>
          </a:graphicData>
        </a:graphic>
      </p:graphicFrame>
    </p:spTree>
    <p:extLst>
      <p:ext uri="{BB962C8B-B14F-4D97-AF65-F5344CB8AC3E}">
        <p14:creationId xmlns:p14="http://schemas.microsoft.com/office/powerpoint/2010/main" val="2503827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Magnet reed contact types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Universal magnet reed contact: </a:t>
            </a:r>
            <a:r>
              <a:rPr lang="en-US" sz="2000" kern="0" dirty="0">
                <a:solidFill>
                  <a:schemeClr val="tx1"/>
                </a:solidFill>
                <a:ea typeface="Open Sans" panose="020B0606030504020204" pitchFamily="34" charset="0"/>
                <a:cs typeface="Open Sans" panose="020B0606030504020204" pitchFamily="34" charset="0"/>
              </a:rPr>
              <a:t>allows it to be screwed or drilled in position. Maximum distance 15 mm</a:t>
            </a:r>
          </a:p>
          <a:p>
            <a:pPr>
              <a:lnSpc>
                <a:spcPct val="150000"/>
              </a:lnSpc>
              <a:defRPr/>
            </a:pPr>
            <a:endParaRPr lang="en-US" sz="14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Magnet reed contact with protection against external magnetic fields: </a:t>
            </a:r>
            <a:r>
              <a:rPr lang="en-US" sz="2000" kern="0" dirty="0">
                <a:solidFill>
                  <a:schemeClr val="tx1"/>
                </a:solidFill>
                <a:ea typeface="Open Sans" panose="020B0606030504020204" pitchFamily="34" charset="0"/>
                <a:cs typeface="Open Sans" panose="020B0606030504020204" pitchFamily="34" charset="0"/>
              </a:rPr>
              <a:t>includes a tamper contact (normally open) which is triggered when exposed to an external magnetic field and the zone is shorted.  Distance: up to 15 mm</a:t>
            </a:r>
          </a:p>
        </p:txBody>
      </p:sp>
      <p:sp>
        <p:nvSpPr>
          <p:cNvPr id="2" name="Rectangle 2">
            <a:extLst>
              <a:ext uri="{FF2B5EF4-FFF2-40B4-BE49-F238E27FC236}">
                <a16:creationId xmlns:a16="http://schemas.microsoft.com/office/drawing/2014/main" id="{25D6BDAB-622A-45B7-8743-0355E9EF1EE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 name="Object 3">
            <a:extLst>
              <a:ext uri="{FF2B5EF4-FFF2-40B4-BE49-F238E27FC236}">
                <a16:creationId xmlns:a16="http://schemas.microsoft.com/office/drawing/2014/main" id="{0A4396C4-1230-4BF1-B2D9-C9156BEFD1FB}"/>
              </a:ext>
            </a:extLst>
          </p:cNvPr>
          <p:cNvGraphicFramePr>
            <a:graphicFrameLocks noChangeAspect="1"/>
          </p:cNvGraphicFramePr>
          <p:nvPr/>
        </p:nvGraphicFramePr>
        <p:xfrm>
          <a:off x="1403648" y="5085184"/>
          <a:ext cx="6582008" cy="1296144"/>
        </p:xfrm>
        <a:graphic>
          <a:graphicData uri="http://schemas.openxmlformats.org/presentationml/2006/ole">
            <mc:AlternateContent xmlns:mc="http://schemas.openxmlformats.org/markup-compatibility/2006">
              <mc:Choice xmlns:v="urn:schemas-microsoft-com:vml" Requires="v">
                <p:oleObj r:id="rId3" imgW="9605647" imgH="1882945" progId="Visio.Drawing.15">
                  <p:embed/>
                </p:oleObj>
              </mc:Choice>
              <mc:Fallback>
                <p:oleObj r:id="rId3" imgW="9605647" imgH="1882945" progId="Visio.Drawing.15">
                  <p:embed/>
                  <p:pic>
                    <p:nvPicPr>
                      <p:cNvPr id="4" name="Object 3">
                        <a:extLst>
                          <a:ext uri="{FF2B5EF4-FFF2-40B4-BE49-F238E27FC236}">
                            <a16:creationId xmlns:a16="http://schemas.microsoft.com/office/drawing/2014/main" id="{0A4396C4-1230-4BF1-B2D9-C9156BEFD1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5085184"/>
                        <a:ext cx="6582008" cy="1296144"/>
                      </a:xfrm>
                      <a:prstGeom prst="rect">
                        <a:avLst/>
                      </a:prstGeom>
                      <a:noFill/>
                    </p:spPr>
                  </p:pic>
                </p:oleObj>
              </mc:Fallback>
            </mc:AlternateContent>
          </a:graphicData>
        </a:graphic>
      </p:graphicFrame>
    </p:spTree>
    <p:extLst>
      <p:ext uri="{BB962C8B-B14F-4D97-AF65-F5344CB8AC3E}">
        <p14:creationId xmlns:p14="http://schemas.microsoft.com/office/powerpoint/2010/main" val="4063430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Magnet reed contact types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High-performance magnet reed contact: </a:t>
            </a:r>
            <a:r>
              <a:rPr lang="en-US" sz="2000" kern="0" dirty="0">
                <a:solidFill>
                  <a:schemeClr val="tx1"/>
                </a:solidFill>
                <a:ea typeface="Open Sans" panose="020B0606030504020204" pitchFamily="34" charset="0"/>
                <a:cs typeface="Open Sans" panose="020B0606030504020204" pitchFamily="34" charset="0"/>
              </a:rPr>
              <a:t>used on garage doors and heavy metal doors. Distance: up to 30 mm</a:t>
            </a:r>
          </a:p>
          <a:p>
            <a:pPr>
              <a:lnSpc>
                <a:spcPct val="150000"/>
              </a:lnSpc>
              <a:defRPr/>
            </a:pPr>
            <a:endParaRPr lang="en-US" sz="14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Roll gate contact: </a:t>
            </a:r>
            <a:r>
              <a:rPr lang="en-US" sz="2000" kern="0" dirty="0">
                <a:solidFill>
                  <a:schemeClr val="tx1"/>
                </a:solidFill>
                <a:ea typeface="Open Sans" panose="020B0606030504020204" pitchFamily="34" charset="0"/>
                <a:cs typeface="Open Sans" panose="020B0606030504020204" pitchFamily="34" charset="0"/>
              </a:rPr>
              <a:t>used on roll gates or other large gates. Resist dust, damp and chemicals. Distance: up to 45mm</a:t>
            </a:r>
          </a:p>
          <a:p>
            <a:pPr marL="0" indent="0">
              <a:lnSpc>
                <a:spcPct val="150000"/>
              </a:lnSpc>
              <a:buNone/>
              <a:defRPr/>
            </a:pPr>
            <a:r>
              <a:rPr lang="en-US" sz="2000" kern="0" dirty="0">
                <a:ea typeface="Open Sans" panose="020B0606030504020204" pitchFamily="34" charset="0"/>
                <a:cs typeface="Open Sans" panose="020B0606030504020204" pitchFamily="34" charset="0"/>
              </a:rPr>
              <a:t>  </a:t>
            </a:r>
          </a:p>
          <a:p>
            <a:pPr>
              <a:lnSpc>
                <a:spcPct val="150000"/>
              </a:lnSpc>
              <a:defRPr/>
            </a:pPr>
            <a:r>
              <a:rPr lang="en-US" sz="2000" kern="0" dirty="0">
                <a:ea typeface="Open Sans" panose="020B0606030504020204" pitchFamily="34" charset="0"/>
                <a:cs typeface="Open Sans" panose="020B0606030504020204" pitchFamily="34" charset="0"/>
              </a:rPr>
              <a:t>Lock monitoring for doors: </a:t>
            </a:r>
            <a:r>
              <a:rPr lang="en-US" sz="2000" kern="0" dirty="0">
                <a:solidFill>
                  <a:schemeClr val="tx1"/>
                </a:solidFill>
                <a:ea typeface="Open Sans" panose="020B0606030504020204" pitchFamily="34" charset="0"/>
                <a:cs typeface="Open Sans" panose="020B0606030504020204" pitchFamily="34" charset="0"/>
              </a:rPr>
              <a:t>two-way contact  Installed behind the strike plate so it can be operated via the bolt lock. Protection type of the key bolt switching contact complies with IP 67</a:t>
            </a:r>
          </a:p>
          <a:p>
            <a:pPr>
              <a:lnSpc>
                <a:spcPct val="150000"/>
              </a:lnSpc>
              <a:defRPr/>
            </a:pPr>
            <a:endParaRPr lang="en-US" sz="2000" kern="0" dirty="0">
              <a:ea typeface="Open Sans" panose="020B0606030504020204" pitchFamily="34" charset="0"/>
              <a:cs typeface="Open Sans" panose="020B0606030504020204" pitchFamily="34" charset="0"/>
            </a:endParaRPr>
          </a:p>
        </p:txBody>
      </p:sp>
      <p:sp>
        <p:nvSpPr>
          <p:cNvPr id="2" name="Rectangle 2">
            <a:extLst>
              <a:ext uri="{FF2B5EF4-FFF2-40B4-BE49-F238E27FC236}">
                <a16:creationId xmlns:a16="http://schemas.microsoft.com/office/drawing/2014/main" id="{25D6BDAB-622A-45B7-8743-0355E9EF1EE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1460372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Magnet reed contact types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Windows: </a:t>
            </a:r>
            <a:r>
              <a:rPr lang="en-US" sz="2000" kern="0" dirty="0">
                <a:solidFill>
                  <a:schemeClr val="tx1"/>
                </a:solidFill>
                <a:ea typeface="Open Sans" panose="020B0606030504020204" pitchFamily="34" charset="0"/>
                <a:cs typeface="Open Sans" panose="020B0606030504020204" pitchFamily="34" charset="0"/>
              </a:rPr>
              <a:t>carried out directly (achieved with a special circular magnet mounted on the push rod of the window sash) or indirectly (achieved with a thrust bolt mounted in the window frame) </a:t>
            </a:r>
          </a:p>
          <a:p>
            <a:pPr>
              <a:lnSpc>
                <a:spcPct val="150000"/>
              </a:lnSpc>
              <a:defRPr/>
            </a:pPr>
            <a:endParaRPr lang="en-US" sz="14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Monitoring of panes of glass by passive glass-breakage sensors: </a:t>
            </a:r>
            <a:r>
              <a:rPr lang="en-US" sz="2000" kern="0" dirty="0">
                <a:solidFill>
                  <a:schemeClr val="tx1"/>
                </a:solidFill>
                <a:ea typeface="Open Sans" panose="020B0606030504020204" pitchFamily="34" charset="0"/>
                <a:cs typeface="Open Sans" panose="020B0606030504020204" pitchFamily="34" charset="0"/>
              </a:rPr>
              <a:t>Use a piezoelectric microphone to register vibrations caused by damage. Maximum range: 2 m </a:t>
            </a:r>
          </a:p>
        </p:txBody>
      </p:sp>
      <p:sp>
        <p:nvSpPr>
          <p:cNvPr id="2" name="Rectangle 2">
            <a:extLst>
              <a:ext uri="{FF2B5EF4-FFF2-40B4-BE49-F238E27FC236}">
                <a16:creationId xmlns:a16="http://schemas.microsoft.com/office/drawing/2014/main" id="{25D6BDAB-622A-45B7-8743-0355E9EF1EE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5" name="Object 4">
            <a:extLst>
              <a:ext uri="{FF2B5EF4-FFF2-40B4-BE49-F238E27FC236}">
                <a16:creationId xmlns:a16="http://schemas.microsoft.com/office/drawing/2014/main" id="{03E85244-E8AD-4216-BE3B-35B025CFFF30}"/>
              </a:ext>
            </a:extLst>
          </p:cNvPr>
          <p:cNvGraphicFramePr>
            <a:graphicFrameLocks noChangeAspect="1"/>
          </p:cNvGraphicFramePr>
          <p:nvPr/>
        </p:nvGraphicFramePr>
        <p:xfrm>
          <a:off x="1346880" y="5301208"/>
          <a:ext cx="6726034" cy="1112074"/>
        </p:xfrm>
        <a:graphic>
          <a:graphicData uri="http://schemas.openxmlformats.org/presentationml/2006/ole">
            <mc:AlternateContent xmlns:mc="http://schemas.openxmlformats.org/markup-compatibility/2006">
              <mc:Choice xmlns:v="urn:schemas-microsoft-com:vml" Requires="v">
                <p:oleObj r:id="rId3" imgW="9596537" imgH="1584505" progId="Visio.Drawing.15">
                  <p:embed/>
                </p:oleObj>
              </mc:Choice>
              <mc:Fallback>
                <p:oleObj r:id="rId3" imgW="9596537" imgH="1584505" progId="Visio.Drawing.15">
                  <p:embed/>
                  <p:pic>
                    <p:nvPicPr>
                      <p:cNvPr id="5" name="Object 4">
                        <a:extLst>
                          <a:ext uri="{FF2B5EF4-FFF2-40B4-BE49-F238E27FC236}">
                            <a16:creationId xmlns:a16="http://schemas.microsoft.com/office/drawing/2014/main" id="{03E85244-E8AD-4216-BE3B-35B025CFFF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880" y="5301208"/>
                        <a:ext cx="6726034" cy="1112074"/>
                      </a:xfrm>
                      <a:prstGeom prst="rect">
                        <a:avLst/>
                      </a:prstGeom>
                      <a:noFill/>
                    </p:spPr>
                  </p:pic>
                </p:oleObj>
              </mc:Fallback>
            </mc:AlternateContent>
          </a:graphicData>
        </a:graphic>
      </p:graphicFrame>
    </p:spTree>
    <p:extLst>
      <p:ext uri="{BB962C8B-B14F-4D97-AF65-F5344CB8AC3E}">
        <p14:creationId xmlns:p14="http://schemas.microsoft.com/office/powerpoint/2010/main" val="254138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200279" cy="719138"/>
          </a:xfrm>
        </p:spPr>
        <p:txBody>
          <a:bodyPr/>
          <a:lstStyle/>
          <a:p>
            <a:r>
              <a:rPr lang="en-US" dirty="0"/>
              <a:t>Peripheral Protection, Surface Surveillance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92036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Monitoring of all outside possible access points, using surface surveillance to detect: damage to surface, penetration of/reaching into the protection area</a:t>
            </a:r>
          </a:p>
          <a:p>
            <a:pPr>
              <a:lnSpc>
                <a:spcPct val="150000"/>
              </a:lnSpc>
              <a:defRPr/>
            </a:pPr>
            <a:r>
              <a:rPr lang="en-US" sz="2000" kern="0" dirty="0">
                <a:ea typeface="Open Sans" panose="020B0606030504020204" pitchFamily="34" charset="0"/>
                <a:cs typeface="Open Sans" panose="020B0606030504020204" pitchFamily="34" charset="0"/>
              </a:rPr>
              <a:t>Surface surveillance with vibration detectors:  </a:t>
            </a:r>
            <a:r>
              <a:rPr lang="en-US" sz="2000" kern="0" dirty="0">
                <a:solidFill>
                  <a:schemeClr val="tx1"/>
                </a:solidFill>
                <a:ea typeface="Open Sans" panose="020B0606030504020204" pitchFamily="34" charset="0"/>
                <a:cs typeface="Open Sans" panose="020B0606030504020204" pitchFamily="34" charset="0"/>
              </a:rPr>
              <a:t>evaluates the vibrations caused when surfaces are destroyed. Detectors are glued or screwed onto the monitored surface. Wiring is four-core. Effective range: 1.15m (glass) and 0.55m (steel and wood)</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17396312-4810-4648-8927-E7E54021A86F}"/>
              </a:ext>
            </a:extLst>
          </p:cNvPr>
          <p:cNvPicPr>
            <a:picLocks noChangeAspect="1"/>
          </p:cNvPicPr>
          <p:nvPr/>
        </p:nvPicPr>
        <p:blipFill>
          <a:blip r:embed="rId3"/>
          <a:stretch>
            <a:fillRect/>
          </a:stretch>
        </p:blipFill>
        <p:spPr>
          <a:xfrm>
            <a:off x="1084799" y="5085184"/>
            <a:ext cx="7550985" cy="1224136"/>
          </a:xfrm>
          <a:prstGeom prst="rect">
            <a:avLst/>
          </a:prstGeom>
        </p:spPr>
      </p:pic>
    </p:spTree>
    <p:extLst>
      <p:ext uri="{BB962C8B-B14F-4D97-AF65-F5344CB8AC3E}">
        <p14:creationId xmlns:p14="http://schemas.microsoft.com/office/powerpoint/2010/main" val="1976804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Interior Surveillance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nSpc>
                <a:spcPct val="150000"/>
              </a:lnSpc>
              <a:buNone/>
              <a:defRPr/>
            </a:pPr>
            <a:r>
              <a:rPr lang="en-US" sz="2000" kern="0" dirty="0">
                <a:solidFill>
                  <a:schemeClr val="tx1"/>
                </a:solidFill>
                <a:ea typeface="Open Sans" panose="020B0606030504020204" pitchFamily="34" charset="0"/>
                <a:cs typeface="Open Sans" panose="020B0606030504020204" pitchFamily="34" charset="0"/>
              </a:rPr>
              <a:t>Controls movements within closed rooms or the opening of monitored access points </a:t>
            </a:r>
          </a:p>
          <a:p>
            <a:pPr marL="0" indent="0">
              <a:lnSpc>
                <a:spcPct val="150000"/>
              </a:lnSpc>
              <a:buNone/>
              <a:defRPr/>
            </a:pPr>
            <a:endParaRPr lang="en-US" sz="12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r>
              <a:rPr lang="en-US" sz="2000" kern="0" dirty="0">
                <a:ea typeface="Open Sans" panose="020B0606030504020204" pitchFamily="34" charset="0"/>
                <a:cs typeface="Open Sans" panose="020B0606030504020204" pitchFamily="34" charset="0"/>
              </a:rPr>
              <a:t>Operation Methods:</a:t>
            </a: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5" name="Content Placeholder 1">
            <a:extLst>
              <a:ext uri="{FF2B5EF4-FFF2-40B4-BE49-F238E27FC236}">
                <a16:creationId xmlns:a16="http://schemas.microsoft.com/office/drawing/2014/main" id="{DDD3323E-9647-4EC1-9F00-AECEE27CF238}"/>
              </a:ext>
            </a:extLst>
          </p:cNvPr>
          <p:cNvSpPr txBox="1">
            <a:spLocks/>
          </p:cNvSpPr>
          <p:nvPr/>
        </p:nvSpPr>
        <p:spPr>
          <a:xfrm>
            <a:off x="919384" y="3285678"/>
            <a:ext cx="7776344" cy="302364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Dual detector</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Panic alarm</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Contact locks </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Infrared motion detector </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Passive infrared motion detectors</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Switchgear unit (for installation only in monitored area)</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6" name="Content Placeholder 1">
            <a:extLst>
              <a:ext uri="{FF2B5EF4-FFF2-40B4-BE49-F238E27FC236}">
                <a16:creationId xmlns:a16="http://schemas.microsoft.com/office/drawing/2014/main" id="{94A823A3-764A-455B-8332-57EE3A39A934}"/>
              </a:ext>
            </a:extLst>
          </p:cNvPr>
          <p:cNvSpPr txBox="1">
            <a:spLocks/>
          </p:cNvSpPr>
          <p:nvPr/>
        </p:nvSpPr>
        <p:spPr>
          <a:xfrm>
            <a:off x="4860032" y="3284984"/>
            <a:ext cx="3960440" cy="216024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Locking element </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Key bolt switch lock</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Block locks</a:t>
            </a: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Proximity Arming Device</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064737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Interior Surveillance Detectors</a:t>
            </a:r>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Passive infrared motion detectors: </a:t>
            </a:r>
            <a:r>
              <a:rPr lang="en-US" sz="2000" kern="0" dirty="0">
                <a:solidFill>
                  <a:schemeClr val="tx1"/>
                </a:solidFill>
                <a:ea typeface="Open Sans" panose="020B0606030504020204" pitchFamily="34" charset="0"/>
                <a:cs typeface="Open Sans" panose="020B0606030504020204" pitchFamily="34" charset="0"/>
              </a:rPr>
              <a:t>react to thermal movement via photodiodes</a:t>
            </a:r>
          </a:p>
          <a:p>
            <a:pPr marL="400050" lvl="1" indent="0">
              <a:lnSpc>
                <a:spcPct val="150000"/>
              </a:lnSpc>
              <a:buNone/>
              <a:defRPr/>
            </a:pPr>
            <a:r>
              <a:rPr lang="en-US" sz="2000" b="1" kern="0" dirty="0">
                <a:solidFill>
                  <a:schemeClr val="tx1"/>
                </a:solidFill>
                <a:ea typeface="Open Sans" panose="020B0606030504020204" pitchFamily="34" charset="0"/>
                <a:cs typeface="Open Sans" panose="020B0606030504020204" pitchFamily="34" charset="0"/>
              </a:rPr>
              <a:t>If the heat radiation in a zone changes within a short time period, the detector evaluates this as an attempted break-in Must be connected to the power supply for detectors on the intruder alarm control unit </a:t>
            </a:r>
          </a:p>
          <a:p>
            <a:pPr marL="400050" lvl="1" indent="0">
              <a:lnSpc>
                <a:spcPct val="150000"/>
              </a:lnSpc>
              <a:buNone/>
              <a:defRPr/>
            </a:pPr>
            <a:r>
              <a:rPr lang="en-US" sz="2000" b="1" kern="0" dirty="0">
                <a:solidFill>
                  <a:schemeClr val="tx1"/>
                </a:solidFill>
                <a:ea typeface="Open Sans" panose="020B0606030504020204" pitchFamily="34" charset="0"/>
                <a:cs typeface="Open Sans" panose="020B0606030504020204" pitchFamily="34" charset="0"/>
              </a:rPr>
              <a:t>Alarm contact is included in the intruder zone while the tamper contact is looped into the sabotage zone</a:t>
            </a:r>
          </a:p>
          <a:p>
            <a:pPr marL="400050" lvl="1" indent="0">
              <a:lnSpc>
                <a:spcPct val="150000"/>
              </a:lnSpc>
              <a:buNone/>
              <a:defRPr/>
            </a:pPr>
            <a:r>
              <a:rPr lang="en-GB" sz="2000" b="1" kern="0" dirty="0">
                <a:solidFill>
                  <a:schemeClr val="tx1"/>
                </a:solidFill>
                <a:ea typeface="Open Sans" panose="020B0606030504020204" pitchFamily="34" charset="0"/>
                <a:cs typeface="Open Sans" panose="020B0606030504020204" pitchFamily="34" charset="0"/>
              </a:rPr>
              <a:t>Signalling</a:t>
            </a:r>
            <a:r>
              <a:rPr lang="en-US" sz="2000" b="1" kern="0" dirty="0">
                <a:solidFill>
                  <a:schemeClr val="tx1"/>
                </a:solidFill>
                <a:ea typeface="Open Sans" panose="020B0606030504020204" pitchFamily="34" charset="0"/>
                <a:cs typeface="Open Sans" panose="020B0606030504020204" pitchFamily="34" charset="0"/>
              </a:rPr>
              <a:t> is carried out by a </a:t>
            </a:r>
            <a:r>
              <a:rPr lang="en-US" sz="2000" b="1" kern="0" dirty="0">
                <a:solidFill>
                  <a:srgbClr val="369226"/>
                </a:solidFill>
                <a:ea typeface="Open Sans" panose="020B0606030504020204" pitchFamily="34" charset="0"/>
                <a:cs typeface="Open Sans" panose="020B0606030504020204" pitchFamily="34" charset="0"/>
              </a:rPr>
              <a:t>potential-free contact </a:t>
            </a:r>
          </a:p>
          <a:p>
            <a:pPr marL="400050" lvl="1" indent="0">
              <a:lnSpc>
                <a:spcPct val="150000"/>
              </a:lnSpc>
              <a:buNone/>
              <a:defRPr/>
            </a:pPr>
            <a:r>
              <a:rPr lang="en-US" sz="2000" b="1" kern="0" dirty="0">
                <a:solidFill>
                  <a:schemeClr val="tx1"/>
                </a:solidFill>
                <a:ea typeface="Open Sans" panose="020B0606030504020204" pitchFamily="34" charset="0"/>
                <a:cs typeface="Open Sans" panose="020B0606030504020204" pitchFamily="34" charset="0"/>
              </a:rPr>
              <a:t>Connection is eight-core or ten-core for remote controlling</a:t>
            </a:r>
            <a:endParaRPr lang="en-US" sz="2000" b="1"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334054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Interior Surveillance Detectors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Infrared motion detector: </a:t>
            </a:r>
            <a:r>
              <a:rPr lang="en-US" sz="2000" kern="0" dirty="0">
                <a:solidFill>
                  <a:schemeClr val="tx1"/>
                </a:solidFill>
                <a:ea typeface="Open Sans" panose="020B0606030504020204" pitchFamily="34" charset="0"/>
                <a:cs typeface="Open Sans" panose="020B0606030504020204" pitchFamily="34" charset="0"/>
              </a:rPr>
              <a:t>fitted with a long-range lens and has anti-masking technology. Sabotage zone is interrupted by a removal contact if the detector is disconnected</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Dual detector: </a:t>
            </a:r>
            <a:r>
              <a:rPr lang="en-US" sz="2000" kern="0" dirty="0">
                <a:solidFill>
                  <a:schemeClr val="tx1"/>
                </a:solidFill>
                <a:ea typeface="Open Sans" panose="020B0606030504020204" pitchFamily="34" charset="0"/>
                <a:cs typeface="Open Sans" panose="020B0606030504020204" pitchFamily="34" charset="0"/>
              </a:rPr>
              <a:t>monitoring done using infrared and an electromagnetic field. Its monitoring area is volumetric. Only reports an alarm if both elements have detected an attempted break-in. </a:t>
            </a:r>
            <a:r>
              <a:rPr lang="en-GB" sz="2000" kern="0" dirty="0">
                <a:solidFill>
                  <a:schemeClr val="tx1"/>
                </a:solidFill>
                <a:ea typeface="Open Sans" panose="020B0606030504020204" pitchFamily="34" charset="0"/>
                <a:cs typeface="Open Sans" panose="020B0606030504020204" pitchFamily="34" charset="0"/>
              </a:rPr>
              <a:t>Monitoring areas can be set separately</a:t>
            </a:r>
            <a:endParaRPr lang="en-US" sz="20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884609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Interior Surveillance Detectors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Panic alarm: </a:t>
            </a:r>
            <a:r>
              <a:rPr lang="en-US" sz="2000" kern="0" dirty="0">
                <a:solidFill>
                  <a:schemeClr val="tx1"/>
                </a:solidFill>
                <a:ea typeface="Open Sans" panose="020B0606030504020204" pitchFamily="34" charset="0"/>
                <a:cs typeface="Open Sans" panose="020B0606030504020204" pitchFamily="34" charset="0"/>
              </a:rPr>
              <a:t>contains an alarm contact which is triggered manually, to interrupt the panic zone, with a push-button. The built-in tamper contact interrupts the sabotage zone on opening the contact. Connection is six-core</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Contact locks: </a:t>
            </a:r>
            <a:r>
              <a:rPr lang="en-US" sz="2000" kern="0" dirty="0">
                <a:solidFill>
                  <a:schemeClr val="tx1"/>
                </a:solidFill>
                <a:ea typeface="Open Sans" panose="020B0606030504020204" pitchFamily="34" charset="0"/>
                <a:cs typeface="Open Sans" panose="020B0606030504020204" pitchFamily="34" charset="0"/>
              </a:rPr>
              <a:t>serves as a remote switching device. When used as an arming device, a locking element should be inserted in the access door to avoid enter the armed area accidentally. Connection cable differs depending on the function. Maximum 12 cores</a:t>
            </a:r>
          </a:p>
        </p:txBody>
      </p:sp>
    </p:spTree>
    <p:extLst>
      <p:ext uri="{BB962C8B-B14F-4D97-AF65-F5344CB8AC3E}">
        <p14:creationId xmlns:p14="http://schemas.microsoft.com/office/powerpoint/2010/main" val="2654472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Interior Surveillance Detectors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Switchgear unit (for installation only in monitored area): </a:t>
            </a:r>
            <a:r>
              <a:rPr lang="en-US" sz="2000" kern="0" dirty="0">
                <a:solidFill>
                  <a:schemeClr val="tx1"/>
                </a:solidFill>
                <a:ea typeface="Open Sans" panose="020B0606030504020204" pitchFamily="34" charset="0"/>
                <a:cs typeface="Open Sans" panose="020B0606030504020204" pitchFamily="34" charset="0"/>
              </a:rPr>
              <a:t>used primarily as an internal arming device. An impulse contact is provided which closes briefly when setting and deactivating the system. Connection is 12-core</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Locking element: </a:t>
            </a:r>
            <a:r>
              <a:rPr lang="en-US" sz="2000" kern="0" dirty="0">
                <a:solidFill>
                  <a:schemeClr val="tx1"/>
                </a:solidFill>
                <a:ea typeface="Open Sans" panose="020B0606030504020204" pitchFamily="34" charset="0"/>
                <a:cs typeface="Open Sans" panose="020B0606030504020204" pitchFamily="34" charset="0"/>
              </a:rPr>
              <a:t>used to keep doors shut when the system is set. Locking element is controlled by the key bolt switching contact which is inserted in the strike plate of the door</a:t>
            </a:r>
          </a:p>
        </p:txBody>
      </p:sp>
    </p:spTree>
    <p:extLst>
      <p:ext uri="{BB962C8B-B14F-4D97-AF65-F5344CB8AC3E}">
        <p14:creationId xmlns:p14="http://schemas.microsoft.com/office/powerpoint/2010/main" val="7300129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Interior Surveillance Detectors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Key bolt switch lock: </a:t>
            </a:r>
            <a:r>
              <a:rPr lang="en-US" sz="2000" kern="0" dirty="0">
                <a:solidFill>
                  <a:schemeClr val="tx1"/>
                </a:solidFill>
                <a:ea typeface="Open Sans" panose="020B0606030504020204" pitchFamily="34" charset="0"/>
                <a:cs typeface="Open Sans" panose="020B0606030504020204" pitchFamily="34" charset="0"/>
              </a:rPr>
              <a:t>used to set intruder alarm control systems with low risks. Integrated into the access door in addition to the existing lock. Connection is six-core</a:t>
            </a:r>
          </a:p>
          <a:p>
            <a:pPr>
              <a:lnSpc>
                <a:spcPct val="150000"/>
              </a:lnSpc>
              <a:defRPr/>
            </a:pPr>
            <a:endParaRPr lang="en-US" sz="12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Block locks: </a:t>
            </a:r>
            <a:r>
              <a:rPr lang="en-US" sz="2000" kern="0" dirty="0">
                <a:solidFill>
                  <a:schemeClr val="tx1"/>
                </a:solidFill>
                <a:ea typeface="Open Sans" panose="020B0606030504020204" pitchFamily="34" charset="0"/>
                <a:cs typeface="Open Sans" panose="020B0606030504020204" pitchFamily="34" charset="0"/>
              </a:rPr>
              <a:t>used to set intruder alarm control systems. It can only be locked if the system is ready for arming. Installed in the door that is used to exit the protection area</a:t>
            </a:r>
          </a:p>
          <a:p>
            <a:pPr>
              <a:lnSpc>
                <a:spcPct val="150000"/>
              </a:lnSpc>
              <a:defRPr/>
            </a:pPr>
            <a:endParaRPr lang="en-US" sz="12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Proximity Arming Device: </a:t>
            </a:r>
            <a:r>
              <a:rPr lang="en-US" sz="2000" kern="0" dirty="0">
                <a:solidFill>
                  <a:schemeClr val="tx1"/>
                </a:solidFill>
                <a:ea typeface="Open Sans" panose="020B0606030504020204" pitchFamily="34" charset="0"/>
                <a:cs typeface="Open Sans" panose="020B0606030504020204" pitchFamily="34" charset="0"/>
              </a:rPr>
              <a:t>guarantees a positive activation of the intruder alarm control unit. Additional intelligent lock required for commercial security class SG5 and SG6</a:t>
            </a:r>
          </a:p>
        </p:txBody>
      </p:sp>
    </p:spTree>
    <p:extLst>
      <p:ext uri="{BB962C8B-B14F-4D97-AF65-F5344CB8AC3E}">
        <p14:creationId xmlns:p14="http://schemas.microsoft.com/office/powerpoint/2010/main" val="19323349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Tamper Monitoring</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Attempt to shut down an intruder alarm system or to interfere with its function must lead to a sabotage alarm</a:t>
            </a:r>
          </a:p>
          <a:p>
            <a:pPr>
              <a:lnSpc>
                <a:spcPct val="150000"/>
              </a:lnSpc>
              <a:defRPr/>
            </a:pP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Cables of the installation shall be monitored</a:t>
            </a:r>
          </a:p>
          <a:p>
            <a:pPr>
              <a:lnSpc>
                <a:spcPct val="150000"/>
              </a:lnSpc>
              <a:defRPr/>
            </a:pP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In the set mode of an intruder alarm system, a fault in the tamper monitoring circuit must lead to an intruder alarm</a:t>
            </a:r>
          </a:p>
        </p:txBody>
      </p:sp>
    </p:spTree>
    <p:extLst>
      <p:ext uri="{BB962C8B-B14F-4D97-AF65-F5344CB8AC3E}">
        <p14:creationId xmlns:p14="http://schemas.microsoft.com/office/powerpoint/2010/main" val="2460669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Groups : Zones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Principle: </a:t>
            </a:r>
            <a:r>
              <a:rPr lang="en-US" sz="2000" dirty="0">
                <a:solidFill>
                  <a:schemeClr val="bg1">
                    <a:lumMod val="10000"/>
                  </a:schemeClr>
                </a:solidFill>
              </a:rPr>
              <a:t>based on a circuit that is shorted or interrupted by the alarm contacts of the detectors</a:t>
            </a:r>
            <a:endParaRPr lang="es-ES" sz="2000" dirty="0">
              <a:solidFill>
                <a:schemeClr val="bg1">
                  <a:lumMod val="10000"/>
                </a:schemeClr>
              </a:solidFill>
            </a:endParaRPr>
          </a:p>
          <a:p>
            <a:pPr>
              <a:lnSpc>
                <a:spcPct val="150000"/>
              </a:lnSpc>
              <a:defRPr/>
            </a:pPr>
            <a:endParaRPr lang="en-US" sz="12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bg1">
                    <a:lumMod val="10000"/>
                  </a:schemeClr>
                </a:solidFill>
                <a:ea typeface="Open Sans" panose="020B0606030504020204" pitchFamily="34" charset="0"/>
                <a:cs typeface="Open Sans" panose="020B0606030504020204" pitchFamily="34" charset="0"/>
              </a:rPr>
              <a:t>The intruder alarm control unit registers these short circuits or interruptions by voltage and current measurements and initiates the appropriate measures</a:t>
            </a:r>
          </a:p>
          <a:p>
            <a:pPr>
              <a:lnSpc>
                <a:spcPct val="150000"/>
              </a:lnSpc>
              <a:defRPr/>
            </a:pPr>
            <a:endParaRPr lang="en-GB" sz="1200" dirty="0"/>
          </a:p>
          <a:p>
            <a:pPr>
              <a:lnSpc>
                <a:spcPct val="150000"/>
              </a:lnSpc>
              <a:defRPr/>
            </a:pPr>
            <a:r>
              <a:rPr lang="en-GB" sz="2000" dirty="0"/>
              <a:t>Primary circuits</a:t>
            </a:r>
            <a:r>
              <a:rPr lang="en-GB" sz="2000" dirty="0">
                <a:solidFill>
                  <a:schemeClr val="bg1">
                    <a:lumMod val="10000"/>
                  </a:schemeClr>
                </a:solidFill>
              </a:rPr>
              <a:t>: Cables that are monitored for short circuits and interruptions</a:t>
            </a:r>
          </a:p>
          <a:p>
            <a:pPr>
              <a:defRPr/>
            </a:pPr>
            <a:r>
              <a:rPr lang="en-GB" sz="2000" dirty="0"/>
              <a:t>Secondary circuits: </a:t>
            </a:r>
            <a:r>
              <a:rPr lang="en-GB" sz="2000" dirty="0">
                <a:solidFill>
                  <a:schemeClr val="bg1">
                    <a:lumMod val="10000"/>
                  </a:schemeClr>
                </a:solidFill>
              </a:rPr>
              <a:t>Unmonitored cables</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30941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Zones: Secondary circuits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848352"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ea typeface="Open Sans" panose="020B0606030504020204" pitchFamily="34" charset="0"/>
                <a:cs typeface="Open Sans" panose="020B0606030504020204" pitchFamily="34" charset="0"/>
              </a:rPr>
              <a:t>Close-loop circuits: </a:t>
            </a:r>
            <a:r>
              <a:rPr lang="en-US" sz="2000" kern="0" dirty="0">
                <a:solidFill>
                  <a:schemeClr val="tx1"/>
                </a:solidFill>
                <a:ea typeface="Open Sans" panose="020B0606030504020204" pitchFamily="34" charset="0"/>
                <a:cs typeface="Open Sans" panose="020B0606030504020204" pitchFamily="34" charset="0"/>
              </a:rPr>
              <a:t>If at least one of the contacts is opened, the flow of current is interrupted and leads to a signal sent. </a:t>
            </a: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US" sz="2000" kern="0" dirty="0">
                <a:ea typeface="Open Sans" panose="020B0606030504020204" pitchFamily="34" charset="0"/>
                <a:cs typeface="Open Sans" panose="020B0606030504020204" pitchFamily="34" charset="0"/>
              </a:rPr>
              <a:t>Open-loop circuits: </a:t>
            </a:r>
            <a:r>
              <a:rPr lang="en-US" sz="2000" kern="0" dirty="0">
                <a:solidFill>
                  <a:schemeClr val="tx1"/>
                </a:solidFill>
                <a:ea typeface="Open Sans" panose="020B0606030504020204" pitchFamily="34" charset="0"/>
                <a:cs typeface="Open Sans" panose="020B0606030504020204" pitchFamily="34" charset="0"/>
              </a:rPr>
              <a:t>If at least one contact is closed, there is no flow of current and leads to a signal sent. </a:t>
            </a: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2" name="Rectangle 2">
            <a:extLst>
              <a:ext uri="{FF2B5EF4-FFF2-40B4-BE49-F238E27FC236}">
                <a16:creationId xmlns:a16="http://schemas.microsoft.com/office/drawing/2014/main" id="{3FFF31D7-978B-4390-90B2-28978A3E677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4" name="Object 3">
            <a:extLst>
              <a:ext uri="{FF2B5EF4-FFF2-40B4-BE49-F238E27FC236}">
                <a16:creationId xmlns:a16="http://schemas.microsoft.com/office/drawing/2014/main" id="{851AEA4F-38D5-4047-906E-96124641A5E9}"/>
              </a:ext>
            </a:extLst>
          </p:cNvPr>
          <p:cNvGraphicFramePr>
            <a:graphicFrameLocks noChangeAspect="1"/>
          </p:cNvGraphicFramePr>
          <p:nvPr/>
        </p:nvGraphicFramePr>
        <p:xfrm>
          <a:off x="1994941" y="2731219"/>
          <a:ext cx="5783426" cy="1122452"/>
        </p:xfrm>
        <a:graphic>
          <a:graphicData uri="http://schemas.openxmlformats.org/presentationml/2006/ole">
            <mc:AlternateContent xmlns:mc="http://schemas.openxmlformats.org/markup-compatibility/2006">
              <mc:Choice xmlns:v="urn:schemas-microsoft-com:vml" Requires="v">
                <p:oleObj r:id="rId3" imgW="7813084" imgH="1521023" progId="Visio.Drawing.15">
                  <p:embed/>
                </p:oleObj>
              </mc:Choice>
              <mc:Fallback>
                <p:oleObj r:id="rId3" imgW="7813084" imgH="1521023" progId="Visio.Drawing.15">
                  <p:embed/>
                  <p:pic>
                    <p:nvPicPr>
                      <p:cNvPr id="4" name="Object 3">
                        <a:extLst>
                          <a:ext uri="{FF2B5EF4-FFF2-40B4-BE49-F238E27FC236}">
                            <a16:creationId xmlns:a16="http://schemas.microsoft.com/office/drawing/2014/main" id="{851AEA4F-38D5-4047-906E-96124641A5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4941" y="2731219"/>
                        <a:ext cx="5783426" cy="1122452"/>
                      </a:xfrm>
                      <a:prstGeom prst="rect">
                        <a:avLst/>
                      </a:prstGeom>
                      <a:noFill/>
                    </p:spPr>
                  </p:pic>
                </p:oleObj>
              </mc:Fallback>
            </mc:AlternateContent>
          </a:graphicData>
        </a:graphic>
      </p:graphicFrame>
      <p:sp>
        <p:nvSpPr>
          <p:cNvPr id="5" name="Rectangle 4">
            <a:extLst>
              <a:ext uri="{FF2B5EF4-FFF2-40B4-BE49-F238E27FC236}">
                <a16:creationId xmlns:a16="http://schemas.microsoft.com/office/drawing/2014/main" id="{5C6BEC51-CA06-43EC-B3B7-4B8FBFF0B42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6" name="Object 5">
            <a:extLst>
              <a:ext uri="{FF2B5EF4-FFF2-40B4-BE49-F238E27FC236}">
                <a16:creationId xmlns:a16="http://schemas.microsoft.com/office/drawing/2014/main" id="{7DC1F6C2-10BD-4A2C-8F2C-ECF7965EBCEB}"/>
              </a:ext>
            </a:extLst>
          </p:cNvPr>
          <p:cNvGraphicFramePr>
            <a:graphicFrameLocks noChangeAspect="1"/>
          </p:cNvGraphicFramePr>
          <p:nvPr/>
        </p:nvGraphicFramePr>
        <p:xfrm>
          <a:off x="2005637" y="5236249"/>
          <a:ext cx="6212436" cy="1122452"/>
        </p:xfrm>
        <a:graphic>
          <a:graphicData uri="http://schemas.openxmlformats.org/presentationml/2006/ole">
            <mc:AlternateContent xmlns:mc="http://schemas.openxmlformats.org/markup-compatibility/2006">
              <mc:Choice xmlns:v="urn:schemas-microsoft-com:vml" Requires="v">
                <p:oleObj r:id="rId5" imgW="8483245" imgH="1530144" progId="Visio.Drawing.15">
                  <p:embed/>
                </p:oleObj>
              </mc:Choice>
              <mc:Fallback>
                <p:oleObj r:id="rId5" imgW="8483245" imgH="1530144" progId="Visio.Drawing.15">
                  <p:embed/>
                  <p:pic>
                    <p:nvPicPr>
                      <p:cNvPr id="6" name="Object 5">
                        <a:extLst>
                          <a:ext uri="{FF2B5EF4-FFF2-40B4-BE49-F238E27FC236}">
                            <a16:creationId xmlns:a16="http://schemas.microsoft.com/office/drawing/2014/main" id="{7DC1F6C2-10BD-4A2C-8F2C-ECF7965EBC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5637" y="5236249"/>
                        <a:ext cx="6212436" cy="1122452"/>
                      </a:xfrm>
                      <a:prstGeom prst="rect">
                        <a:avLst/>
                      </a:prstGeom>
                      <a:noFill/>
                    </p:spPr>
                  </p:pic>
                </p:oleObj>
              </mc:Fallback>
            </mc:AlternateContent>
          </a:graphicData>
        </a:graphic>
      </p:graphicFrame>
    </p:spTree>
    <p:extLst>
      <p:ext uri="{BB962C8B-B14F-4D97-AF65-F5344CB8AC3E}">
        <p14:creationId xmlns:p14="http://schemas.microsoft.com/office/powerpoint/2010/main" val="2009282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Zones: Primary circuits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There is a defined current during normal operation</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In the event of disruption, there is no flow of current whereas the flow increases significantly for a short-circuit</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Both situations lead to a signal being sent</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742CAB2C-4180-46C8-87AA-C74559E63401}"/>
              </a:ext>
            </a:extLst>
          </p:cNvPr>
          <p:cNvGraphicFramePr>
            <a:graphicFrameLocks noChangeAspect="1"/>
          </p:cNvGraphicFramePr>
          <p:nvPr/>
        </p:nvGraphicFramePr>
        <p:xfrm>
          <a:off x="1043608" y="4293096"/>
          <a:ext cx="8303920" cy="1656531"/>
        </p:xfrm>
        <a:graphic>
          <a:graphicData uri="http://schemas.openxmlformats.org/presentationml/2006/ole">
            <mc:AlternateContent xmlns:mc="http://schemas.openxmlformats.org/markup-compatibility/2006">
              <mc:Choice xmlns:v="urn:schemas-microsoft-com:vml" Requires="v">
                <p:oleObj r:id="rId3" imgW="9487941" imgH="1892066" progId="Visio.Drawing.15">
                  <p:embed/>
                </p:oleObj>
              </mc:Choice>
              <mc:Fallback>
                <p:oleObj r:id="rId3" imgW="9487941" imgH="1892066" progId="Visio.Drawing.15">
                  <p:embed/>
                  <p:pic>
                    <p:nvPicPr>
                      <p:cNvPr id="4" name="Object 3">
                        <a:extLst>
                          <a:ext uri="{FF2B5EF4-FFF2-40B4-BE49-F238E27FC236}">
                            <a16:creationId xmlns:a16="http://schemas.microsoft.com/office/drawing/2014/main" id="{742CAB2C-4180-46C8-87AA-C74559E634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4293096"/>
                        <a:ext cx="8303920" cy="1656531"/>
                      </a:xfrm>
                      <a:prstGeom prst="rect">
                        <a:avLst/>
                      </a:prstGeom>
                      <a:noFill/>
                    </p:spPr>
                  </p:pic>
                </p:oleObj>
              </mc:Fallback>
            </mc:AlternateContent>
          </a:graphicData>
        </a:graphic>
      </p:graphicFrame>
    </p:spTree>
    <p:extLst>
      <p:ext uri="{BB962C8B-B14F-4D97-AF65-F5344CB8AC3E}">
        <p14:creationId xmlns:p14="http://schemas.microsoft.com/office/powerpoint/2010/main" val="19760623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Sabotage zones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Have an EOL resistance of 2.7 </a:t>
            </a:r>
            <a:r>
              <a:rPr lang="en-US" sz="2000" kern="0" dirty="0" err="1">
                <a:solidFill>
                  <a:schemeClr val="tx1"/>
                </a:solidFill>
                <a:ea typeface="Open Sans" panose="020B0606030504020204" pitchFamily="34" charset="0"/>
                <a:cs typeface="Open Sans" panose="020B0606030504020204" pitchFamily="34" charset="0"/>
              </a:rPr>
              <a:t>kΩ</a:t>
            </a:r>
            <a:r>
              <a:rPr lang="en-US" sz="2000" kern="0" dirty="0">
                <a:solidFill>
                  <a:schemeClr val="tx1"/>
                </a:solidFill>
                <a:ea typeface="Open Sans" panose="020B0606030504020204" pitchFamily="34" charset="0"/>
                <a:cs typeface="Open Sans" panose="020B0606030504020204" pitchFamily="34" charset="0"/>
              </a:rPr>
              <a:t> as primary circuits</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All the tamper contacts (housing contacts) of the detectors and the branching boxes are included in the sabotage zone</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 A zone can have a maximum of 20 devices</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B778D37D-67B7-46BE-8F0E-EE1360D7FB92}"/>
              </a:ext>
            </a:extLst>
          </p:cNvPr>
          <p:cNvGraphicFramePr>
            <a:graphicFrameLocks noChangeAspect="1"/>
          </p:cNvGraphicFramePr>
          <p:nvPr/>
        </p:nvGraphicFramePr>
        <p:xfrm>
          <a:off x="1187625" y="4004717"/>
          <a:ext cx="7344816" cy="1375324"/>
        </p:xfrm>
        <a:graphic>
          <a:graphicData uri="http://schemas.openxmlformats.org/presentationml/2006/ole">
            <mc:AlternateContent xmlns:mc="http://schemas.openxmlformats.org/markup-compatibility/2006">
              <mc:Choice xmlns:v="urn:schemas-microsoft-com:vml" Requires="v">
                <p:oleObj r:id="rId3" imgW="8410726" imgH="1566263" progId="Visio.Drawing.15">
                  <p:embed/>
                </p:oleObj>
              </mc:Choice>
              <mc:Fallback>
                <p:oleObj r:id="rId3" imgW="8410726" imgH="1566263" progId="Visio.Drawing.15">
                  <p:embed/>
                  <p:pic>
                    <p:nvPicPr>
                      <p:cNvPr id="4" name="Object 3">
                        <a:extLst>
                          <a:ext uri="{FF2B5EF4-FFF2-40B4-BE49-F238E27FC236}">
                            <a16:creationId xmlns:a16="http://schemas.microsoft.com/office/drawing/2014/main" id="{B778D37D-67B7-46BE-8F0E-EE1360D7FB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5" y="4004717"/>
                        <a:ext cx="7344816" cy="1375324"/>
                      </a:xfrm>
                      <a:prstGeom prst="rect">
                        <a:avLst/>
                      </a:prstGeom>
                      <a:noFill/>
                    </p:spPr>
                  </p:pic>
                </p:oleObj>
              </mc:Fallback>
            </mc:AlternateContent>
          </a:graphicData>
        </a:graphic>
      </p:graphicFrame>
    </p:spTree>
    <p:extLst>
      <p:ext uri="{BB962C8B-B14F-4D97-AF65-F5344CB8AC3E}">
        <p14:creationId xmlns:p14="http://schemas.microsoft.com/office/powerpoint/2010/main" val="12371483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Lock Zones </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Are secondary circuits without EOL resistors</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Normally open contacts of all strike plate contacts are included in the zone</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When using locking elements, the state of the element should be monitored and included in the zone</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0F240D53-2DB5-44C2-9FED-CD4B8984832B}"/>
              </a:ext>
            </a:extLst>
          </p:cNvPr>
          <p:cNvGraphicFramePr>
            <a:graphicFrameLocks noChangeAspect="1"/>
          </p:cNvGraphicFramePr>
          <p:nvPr/>
        </p:nvGraphicFramePr>
        <p:xfrm>
          <a:off x="1037663" y="4365104"/>
          <a:ext cx="7501242" cy="1404615"/>
        </p:xfrm>
        <a:graphic>
          <a:graphicData uri="http://schemas.openxmlformats.org/presentationml/2006/ole">
            <mc:AlternateContent xmlns:mc="http://schemas.openxmlformats.org/markup-compatibility/2006">
              <mc:Choice xmlns:v="urn:schemas-microsoft-com:vml" Requires="v">
                <p:oleObj r:id="rId3" imgW="8139236" imgH="1521023" progId="Visio.Drawing.15">
                  <p:embed/>
                </p:oleObj>
              </mc:Choice>
              <mc:Fallback>
                <p:oleObj r:id="rId3" imgW="8139236" imgH="1521023" progId="Visio.Drawing.15">
                  <p:embed/>
                  <p:pic>
                    <p:nvPicPr>
                      <p:cNvPr id="4" name="Object 3">
                        <a:extLst>
                          <a:ext uri="{FF2B5EF4-FFF2-40B4-BE49-F238E27FC236}">
                            <a16:creationId xmlns:a16="http://schemas.microsoft.com/office/drawing/2014/main" id="{0F240D53-2DB5-44C2-9FED-CD4B898483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663" y="4365104"/>
                        <a:ext cx="7501242" cy="1404615"/>
                      </a:xfrm>
                      <a:prstGeom prst="rect">
                        <a:avLst/>
                      </a:prstGeom>
                      <a:noFill/>
                    </p:spPr>
                  </p:pic>
                </p:oleObj>
              </mc:Fallback>
            </mc:AlternateContent>
          </a:graphicData>
        </a:graphic>
      </p:graphicFrame>
    </p:spTree>
    <p:extLst>
      <p:ext uri="{BB962C8B-B14F-4D97-AF65-F5344CB8AC3E}">
        <p14:creationId xmlns:p14="http://schemas.microsoft.com/office/powerpoint/2010/main" val="3259682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Set Zone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Implemented with an EOL resistance of 2.7kΩ </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 short-circuit or an interruption leads to the strengthening of the intruder alarm system</a:t>
            </a:r>
          </a:p>
          <a:p>
            <a:pPr>
              <a:lnSpc>
                <a:spcPct val="150000"/>
              </a:lnSpc>
              <a:defRPr/>
            </a:pPr>
            <a:endParaRPr lang="en-US" sz="800" kern="0" dirty="0">
              <a:solidFill>
                <a:schemeClr val="tx1"/>
              </a:solidFill>
              <a:ea typeface="Open Sans" panose="020B0606030504020204" pitchFamily="34" charset="0"/>
              <a:cs typeface="Open Sans" panose="020B0606030504020204" pitchFamily="34" charset="0"/>
            </a:endParaRPr>
          </a:p>
          <a:p>
            <a:pPr marL="0" indent="0">
              <a:lnSpc>
                <a:spcPct val="150000"/>
              </a:lnSpc>
              <a:buNone/>
              <a:defRPr/>
            </a:pPr>
            <a:endParaRPr lang="en-US" sz="2000" kern="0" dirty="0">
              <a:ea typeface="Open Sans" panose="020B0606030504020204" pitchFamily="34" charset="0"/>
              <a:cs typeface="Open Sans" panose="020B0606030504020204" pitchFamily="34" charset="0"/>
            </a:endParaRPr>
          </a:p>
          <a:p>
            <a:pPr marL="0" indent="0">
              <a:lnSpc>
                <a:spcPct val="150000"/>
              </a:lnSpc>
              <a:buNone/>
              <a:defRPr/>
            </a:pPr>
            <a:endParaRPr lang="en-US" sz="2000" kern="0" dirty="0">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Alternatively, a resistance of 560 Ω can be added in series A short-circuit or disruption leads to a sabotage alarm</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pic>
        <p:nvPicPr>
          <p:cNvPr id="2" name="Picture 1">
            <a:extLst>
              <a:ext uri="{FF2B5EF4-FFF2-40B4-BE49-F238E27FC236}">
                <a16:creationId xmlns:a16="http://schemas.microsoft.com/office/drawing/2014/main" id="{2F0A9E7A-7C4F-4181-8A0A-C4C7715DAC52}"/>
              </a:ext>
            </a:extLst>
          </p:cNvPr>
          <p:cNvPicPr>
            <a:picLocks noChangeAspect="1"/>
          </p:cNvPicPr>
          <p:nvPr/>
        </p:nvPicPr>
        <p:blipFill>
          <a:blip r:embed="rId3"/>
          <a:stretch>
            <a:fillRect/>
          </a:stretch>
        </p:blipFill>
        <p:spPr>
          <a:xfrm>
            <a:off x="1776762" y="3094961"/>
            <a:ext cx="6551128" cy="982111"/>
          </a:xfrm>
          <a:prstGeom prst="rect">
            <a:avLst/>
          </a:prstGeom>
        </p:spPr>
      </p:pic>
      <p:graphicFrame>
        <p:nvGraphicFramePr>
          <p:cNvPr id="5" name="Object 4">
            <a:extLst>
              <a:ext uri="{FF2B5EF4-FFF2-40B4-BE49-F238E27FC236}">
                <a16:creationId xmlns:a16="http://schemas.microsoft.com/office/drawing/2014/main" id="{9235F612-FC3F-485E-B9B3-7CE683E0B6F0}"/>
              </a:ext>
            </a:extLst>
          </p:cNvPr>
          <p:cNvGraphicFramePr>
            <a:graphicFrameLocks noChangeAspect="1"/>
          </p:cNvGraphicFramePr>
          <p:nvPr/>
        </p:nvGraphicFramePr>
        <p:xfrm>
          <a:off x="1776762" y="5443293"/>
          <a:ext cx="6449571" cy="794019"/>
        </p:xfrm>
        <a:graphic>
          <a:graphicData uri="http://schemas.openxmlformats.org/presentationml/2006/ole">
            <mc:AlternateContent xmlns:mc="http://schemas.openxmlformats.org/markup-compatibility/2006">
              <mc:Choice xmlns:v="urn:schemas-microsoft-com:vml" Requires="v">
                <p:oleObj r:id="rId4" imgW="9759795" imgH="1186099" progId="Visio.Drawing.15">
                  <p:embed/>
                </p:oleObj>
              </mc:Choice>
              <mc:Fallback>
                <p:oleObj r:id="rId4" imgW="9759795" imgH="1186099" progId="Visio.Drawing.15">
                  <p:embed/>
                  <p:pic>
                    <p:nvPicPr>
                      <p:cNvPr id="5" name="Object 4">
                        <a:extLst>
                          <a:ext uri="{FF2B5EF4-FFF2-40B4-BE49-F238E27FC236}">
                            <a16:creationId xmlns:a16="http://schemas.microsoft.com/office/drawing/2014/main" id="{9235F612-FC3F-485E-B9B3-7CE683E0B6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6762" y="5443293"/>
                        <a:ext cx="6449571" cy="794019"/>
                      </a:xfrm>
                      <a:prstGeom prst="rect">
                        <a:avLst/>
                      </a:prstGeom>
                      <a:noFill/>
                    </p:spPr>
                  </p:pic>
                </p:oleObj>
              </mc:Fallback>
            </mc:AlternateContent>
          </a:graphicData>
        </a:graphic>
      </p:graphicFrame>
    </p:spTree>
    <p:extLst>
      <p:ext uri="{BB962C8B-B14F-4D97-AF65-F5344CB8AC3E}">
        <p14:creationId xmlns:p14="http://schemas.microsoft.com/office/powerpoint/2010/main" val="28231611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Panic Zone</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Implemented with an EOL resistance of 2.7 </a:t>
            </a:r>
            <a:r>
              <a:rPr lang="en-US" sz="2000" kern="0" dirty="0" err="1">
                <a:solidFill>
                  <a:schemeClr val="tx1"/>
                </a:solidFill>
                <a:ea typeface="Open Sans" panose="020B0606030504020204" pitchFamily="34" charset="0"/>
                <a:cs typeface="Open Sans" panose="020B0606030504020204" pitchFamily="34" charset="0"/>
              </a:rPr>
              <a:t>kΩ</a:t>
            </a:r>
            <a:endParaRPr lang="en-US" sz="2000" kern="0" dirty="0">
              <a:solidFill>
                <a:schemeClr val="tx1"/>
              </a:solidFill>
              <a:ea typeface="Open Sans" panose="020B0606030504020204" pitchFamily="34" charset="0"/>
              <a:cs typeface="Open Sans" panose="020B0606030504020204" pitchFamily="34" charset="0"/>
            </a:endParaRP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The disruption of a panic zone always leads to the triggering of a remote alarm</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graphicFrame>
        <p:nvGraphicFramePr>
          <p:cNvPr id="4" name="Object 3">
            <a:extLst>
              <a:ext uri="{FF2B5EF4-FFF2-40B4-BE49-F238E27FC236}">
                <a16:creationId xmlns:a16="http://schemas.microsoft.com/office/drawing/2014/main" id="{85B0F89C-98E0-4711-A394-97D77674A2E3}"/>
              </a:ext>
            </a:extLst>
          </p:cNvPr>
          <p:cNvGraphicFramePr>
            <a:graphicFrameLocks noChangeAspect="1"/>
          </p:cNvGraphicFramePr>
          <p:nvPr/>
        </p:nvGraphicFramePr>
        <p:xfrm>
          <a:off x="1072751" y="3573016"/>
          <a:ext cx="6874200" cy="1512168"/>
        </p:xfrm>
        <a:graphic>
          <a:graphicData uri="http://schemas.openxmlformats.org/presentationml/2006/ole">
            <mc:AlternateContent xmlns:mc="http://schemas.openxmlformats.org/markup-compatibility/2006">
              <mc:Choice xmlns:v="urn:schemas-microsoft-com:vml" Requires="v">
                <p:oleObj r:id="rId3" imgW="8410726" imgH="1846826" progId="Visio.Drawing.15">
                  <p:embed/>
                </p:oleObj>
              </mc:Choice>
              <mc:Fallback>
                <p:oleObj r:id="rId3" imgW="8410726" imgH="1846826" progId="Visio.Drawing.15">
                  <p:embed/>
                  <p:pic>
                    <p:nvPicPr>
                      <p:cNvPr id="4" name="Object 3">
                        <a:extLst>
                          <a:ext uri="{FF2B5EF4-FFF2-40B4-BE49-F238E27FC236}">
                            <a16:creationId xmlns:a16="http://schemas.microsoft.com/office/drawing/2014/main" id="{85B0F89C-98E0-4711-A394-97D77674A2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2751" y="3573016"/>
                        <a:ext cx="6874200" cy="1512168"/>
                      </a:xfrm>
                      <a:prstGeom prst="rect">
                        <a:avLst/>
                      </a:prstGeom>
                      <a:noFill/>
                    </p:spPr>
                  </p:pic>
                </p:oleObj>
              </mc:Fallback>
            </mc:AlternateContent>
          </a:graphicData>
        </a:graphic>
      </p:graphicFrame>
    </p:spTree>
    <p:extLst>
      <p:ext uri="{BB962C8B-B14F-4D97-AF65-F5344CB8AC3E}">
        <p14:creationId xmlns:p14="http://schemas.microsoft.com/office/powerpoint/2010/main" val="39464494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External Local Alarm Signal</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 short-circuit or disruption of supply cables to the </a:t>
            </a:r>
            <a:r>
              <a:rPr lang="en-GB" sz="2000" kern="0" dirty="0">
                <a:solidFill>
                  <a:schemeClr val="tx1"/>
                </a:solidFill>
                <a:ea typeface="Open Sans" panose="020B0606030504020204" pitchFamily="34" charset="0"/>
                <a:cs typeface="Open Sans" panose="020B0606030504020204" pitchFamily="34" charset="0"/>
              </a:rPr>
              <a:t>signalling</a:t>
            </a:r>
            <a:r>
              <a:rPr lang="en-US" sz="2000" kern="0" dirty="0">
                <a:solidFill>
                  <a:schemeClr val="tx1"/>
                </a:solidFill>
                <a:ea typeface="Open Sans" panose="020B0606030504020204" pitchFamily="34" charset="0"/>
                <a:cs typeface="Open Sans" panose="020B0606030504020204" pitchFamily="34" charset="0"/>
              </a:rPr>
              <a:t> devices is not monitored</a:t>
            </a:r>
            <a:r>
              <a:rPr lang="en-US" sz="2000" kern="0" dirty="0">
                <a:ea typeface="Open Sans" panose="020B0606030504020204" pitchFamily="34" charset="0"/>
                <a:cs typeface="Open Sans" panose="020B0606030504020204" pitchFamily="34" charset="0"/>
              </a:rPr>
              <a:t>.</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Alarm circuits for the external </a:t>
            </a:r>
            <a:r>
              <a:rPr lang="en-GB" sz="2000" kern="0" dirty="0">
                <a:solidFill>
                  <a:schemeClr val="tx1"/>
                </a:solidFill>
                <a:ea typeface="Open Sans" panose="020B0606030504020204" pitchFamily="34" charset="0"/>
                <a:cs typeface="Open Sans" panose="020B0606030504020204" pitchFamily="34" charset="0"/>
              </a:rPr>
              <a:t>signalling</a:t>
            </a:r>
            <a:r>
              <a:rPr lang="en-US" sz="2000" kern="0" dirty="0">
                <a:solidFill>
                  <a:schemeClr val="tx1"/>
                </a:solidFill>
                <a:ea typeface="Open Sans" panose="020B0606030504020204" pitchFamily="34" charset="0"/>
                <a:cs typeface="Open Sans" panose="020B0606030504020204" pitchFamily="34" charset="0"/>
              </a:rPr>
              <a:t> devices must be implemented with an EOL resistance of 1 </a:t>
            </a:r>
            <a:r>
              <a:rPr lang="en-US" sz="2000" kern="0" dirty="0" err="1">
                <a:solidFill>
                  <a:schemeClr val="tx1"/>
                </a:solidFill>
                <a:ea typeface="Open Sans" panose="020B0606030504020204" pitchFamily="34" charset="0"/>
                <a:cs typeface="Open Sans" panose="020B0606030504020204" pitchFamily="34" charset="0"/>
              </a:rPr>
              <a:t>kΩ</a:t>
            </a:r>
            <a:r>
              <a:rPr lang="en-US" sz="2000" kern="0" dirty="0">
                <a:solidFill>
                  <a:schemeClr val="tx1"/>
                </a:solidFill>
                <a:ea typeface="Open Sans" panose="020B0606030504020204" pitchFamily="34" charset="0"/>
                <a:cs typeface="Open Sans" panose="020B0606030504020204" pitchFamily="34" charset="0"/>
              </a:rPr>
              <a:t> each</a:t>
            </a:r>
          </a:p>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 short-circuit or disruption of the alarm circuit leads to a sabotage alarm</a:t>
            </a:r>
          </a:p>
          <a:p>
            <a:pPr>
              <a:lnSpc>
                <a:spcPct val="150000"/>
              </a:lnSpc>
              <a:defRPr/>
            </a:pPr>
            <a:endParaRPr lang="en-U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2" name="Rectangle 2">
            <a:extLst>
              <a:ext uri="{FF2B5EF4-FFF2-40B4-BE49-F238E27FC236}">
                <a16:creationId xmlns:a16="http://schemas.microsoft.com/office/drawing/2014/main" id="{EC837228-871E-4CA3-8105-9C421CD40DB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6" name="Object 5">
            <a:extLst>
              <a:ext uri="{FF2B5EF4-FFF2-40B4-BE49-F238E27FC236}">
                <a16:creationId xmlns:a16="http://schemas.microsoft.com/office/drawing/2014/main" id="{EA2F855D-86AD-4082-ABCA-D8A9B5C5E2AC}"/>
              </a:ext>
            </a:extLst>
          </p:cNvPr>
          <p:cNvGraphicFramePr>
            <a:graphicFrameLocks noChangeAspect="1"/>
          </p:cNvGraphicFramePr>
          <p:nvPr/>
        </p:nvGraphicFramePr>
        <p:xfrm>
          <a:off x="1262371" y="4689140"/>
          <a:ext cx="7051826" cy="1224136"/>
        </p:xfrm>
        <a:graphic>
          <a:graphicData uri="http://schemas.openxmlformats.org/presentationml/2006/ole">
            <mc:AlternateContent xmlns:mc="http://schemas.openxmlformats.org/markup-compatibility/2006">
              <mc:Choice xmlns:v="urn:schemas-microsoft-com:vml" Requires="v">
                <p:oleObj r:id="rId3" imgW="8881552" imgH="1521023" progId="Visio.Drawing.15">
                  <p:embed/>
                </p:oleObj>
              </mc:Choice>
              <mc:Fallback>
                <p:oleObj r:id="rId3" imgW="8881552" imgH="1521023" progId="Visio.Drawing.15">
                  <p:embed/>
                  <p:pic>
                    <p:nvPicPr>
                      <p:cNvPr id="6" name="Object 5">
                        <a:extLst>
                          <a:ext uri="{FF2B5EF4-FFF2-40B4-BE49-F238E27FC236}">
                            <a16:creationId xmlns:a16="http://schemas.microsoft.com/office/drawing/2014/main" id="{EA2F855D-86AD-4082-ABCA-D8A9B5C5E2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2371" y="4689140"/>
                        <a:ext cx="7051826" cy="1224136"/>
                      </a:xfrm>
                      <a:prstGeom prst="rect">
                        <a:avLst/>
                      </a:prstGeom>
                      <a:noFill/>
                    </p:spPr>
                  </p:pic>
                </p:oleObj>
              </mc:Fallback>
            </mc:AlternateContent>
          </a:graphicData>
        </a:graphic>
      </p:graphicFrame>
    </p:spTree>
    <p:extLst>
      <p:ext uri="{BB962C8B-B14F-4D97-AF65-F5344CB8AC3E}">
        <p14:creationId xmlns:p14="http://schemas.microsoft.com/office/powerpoint/2010/main" val="20128103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Internal Local Alarm Signal</a:t>
            </a:r>
            <a:br>
              <a:rPr lang="en-GB" dirty="0"/>
            </a:b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2000" kern="0" dirty="0">
                <a:solidFill>
                  <a:schemeClr val="tx1"/>
                </a:solidFill>
                <a:ea typeface="Open Sans" panose="020B0606030504020204" pitchFamily="34" charset="0"/>
                <a:cs typeface="Open Sans" panose="020B0606030504020204" pitchFamily="34" charset="0"/>
              </a:rPr>
              <a:t>A short circuit or disruption of the supply cables to the </a:t>
            </a:r>
            <a:r>
              <a:rPr lang="en-GB" sz="2000" kern="0" dirty="0">
                <a:solidFill>
                  <a:schemeClr val="tx1"/>
                </a:solidFill>
                <a:ea typeface="Open Sans" panose="020B0606030504020204" pitchFamily="34" charset="0"/>
                <a:cs typeface="Open Sans" panose="020B0606030504020204" pitchFamily="34" charset="0"/>
              </a:rPr>
              <a:t>signalling</a:t>
            </a:r>
            <a:r>
              <a:rPr lang="en-US" sz="2000" kern="0" dirty="0">
                <a:solidFill>
                  <a:schemeClr val="tx1"/>
                </a:solidFill>
                <a:ea typeface="Open Sans" panose="020B0606030504020204" pitchFamily="34" charset="0"/>
                <a:cs typeface="Open Sans" panose="020B0606030504020204" pitchFamily="34" charset="0"/>
              </a:rPr>
              <a:t> devices are not monitored </a:t>
            </a:r>
          </a:p>
        </p:txBody>
      </p:sp>
      <p:graphicFrame>
        <p:nvGraphicFramePr>
          <p:cNvPr id="4" name="Object 3">
            <a:extLst>
              <a:ext uri="{FF2B5EF4-FFF2-40B4-BE49-F238E27FC236}">
                <a16:creationId xmlns:a16="http://schemas.microsoft.com/office/drawing/2014/main" id="{EA9D31DB-86A4-47C1-AA2D-42AD5E4FB741}"/>
              </a:ext>
            </a:extLst>
          </p:cNvPr>
          <p:cNvGraphicFramePr>
            <a:graphicFrameLocks noChangeAspect="1"/>
          </p:cNvGraphicFramePr>
          <p:nvPr/>
        </p:nvGraphicFramePr>
        <p:xfrm>
          <a:off x="1103313" y="3068960"/>
          <a:ext cx="6937373" cy="1204268"/>
        </p:xfrm>
        <a:graphic>
          <a:graphicData uri="http://schemas.openxmlformats.org/presentationml/2006/ole">
            <mc:AlternateContent xmlns:mc="http://schemas.openxmlformats.org/markup-compatibility/2006">
              <mc:Choice xmlns:v="urn:schemas-microsoft-com:vml" Requires="v">
                <p:oleObj r:id="rId3" imgW="8781702" imgH="1521023" progId="Visio.Drawing.15">
                  <p:embed/>
                </p:oleObj>
              </mc:Choice>
              <mc:Fallback>
                <p:oleObj r:id="rId3" imgW="8781702" imgH="1521023" progId="Visio.Drawing.15">
                  <p:embed/>
                  <p:pic>
                    <p:nvPicPr>
                      <p:cNvPr id="4" name="Object 3">
                        <a:extLst>
                          <a:ext uri="{FF2B5EF4-FFF2-40B4-BE49-F238E27FC236}">
                            <a16:creationId xmlns:a16="http://schemas.microsoft.com/office/drawing/2014/main" id="{EA9D31DB-86A4-47C1-AA2D-42AD5E4FB7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3313" y="3068960"/>
                        <a:ext cx="6937373" cy="1204268"/>
                      </a:xfrm>
                      <a:prstGeom prst="rect">
                        <a:avLst/>
                      </a:prstGeom>
                      <a:noFill/>
                    </p:spPr>
                  </p:pic>
                </p:oleObj>
              </mc:Fallback>
            </mc:AlternateContent>
          </a:graphicData>
        </a:graphic>
      </p:graphicFrame>
    </p:spTree>
    <p:extLst>
      <p:ext uri="{BB962C8B-B14F-4D97-AF65-F5344CB8AC3E}">
        <p14:creationId xmlns:p14="http://schemas.microsoft.com/office/powerpoint/2010/main" val="21172602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Flags</a:t>
            </a:r>
          </a:p>
        </p:txBody>
      </p:sp>
      <p:pic>
        <p:nvPicPr>
          <p:cNvPr id="4" name="Picture 3">
            <a:extLst>
              <a:ext uri="{FF2B5EF4-FFF2-40B4-BE49-F238E27FC236}">
                <a16:creationId xmlns:a16="http://schemas.microsoft.com/office/drawing/2014/main" id="{236CA334-E2F2-43FC-9ABE-A560480EDFD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404286" y="3459336"/>
            <a:ext cx="4272170" cy="2304157"/>
          </a:xfrm>
          <a:prstGeom prst="rect">
            <a:avLst/>
          </a:prstGeom>
          <a:noFill/>
          <a:ln>
            <a:noFill/>
          </a:ln>
        </p:spPr>
      </p:pic>
      <p:sp>
        <p:nvSpPr>
          <p:cNvPr id="5" name="Content Placeholder 1">
            <a:extLst>
              <a:ext uri="{FF2B5EF4-FFF2-40B4-BE49-F238E27FC236}">
                <a16:creationId xmlns:a16="http://schemas.microsoft.com/office/drawing/2014/main" id="{9C40CEA1-13D2-4509-8137-2408883E2CC4}"/>
              </a:ext>
            </a:extLst>
          </p:cNvPr>
          <p:cNvSpPr txBox="1">
            <a:spLocks/>
          </p:cNvSpPr>
          <p:nvPr/>
        </p:nvSpPr>
        <p:spPr>
          <a:xfrm>
            <a:off x="971600" y="2504976"/>
            <a:ext cx="3648710"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None/>
            </a:pPr>
            <a:r>
              <a:rPr lang="es-ES" sz="2400" kern="0" dirty="0">
                <a:ea typeface="Open Sans" panose="020B0606030504020204" pitchFamily="34" charset="0"/>
                <a:cs typeface="Open Sans" panose="020B0606030504020204" pitchFamily="34" charset="0"/>
              </a:rPr>
              <a:t>6 </a:t>
            </a:r>
            <a:r>
              <a:rPr lang="en-GB" sz="2400" kern="0" dirty="0">
                <a:ea typeface="Open Sans" panose="020B0606030504020204" pitchFamily="34" charset="0"/>
                <a:cs typeface="Open Sans" panose="020B0606030504020204" pitchFamily="34" charset="0"/>
              </a:rPr>
              <a:t>Flags</a:t>
            </a:r>
            <a:r>
              <a:rPr lang="es-ES" sz="2400" kern="0" dirty="0">
                <a:ea typeface="Open Sans" panose="020B0606030504020204" pitchFamily="34" charset="0"/>
                <a:cs typeface="Open Sans" panose="020B0606030504020204" pitchFamily="34" charset="0"/>
              </a:rPr>
              <a:t>:</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C  :  </a:t>
            </a:r>
            <a:r>
              <a:rPr lang="en-GB" sz="2000" kern="0" dirty="0">
                <a:solidFill>
                  <a:schemeClr val="bg1">
                    <a:lumMod val="10000"/>
                  </a:schemeClr>
                </a:solidFill>
                <a:ea typeface="Open Sans" panose="020B0606030504020204" pitchFamily="34" charset="0"/>
                <a:cs typeface="Open Sans" panose="020B0606030504020204" pitchFamily="34" charset="0"/>
              </a:rPr>
              <a:t>Communication</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R  :  </a:t>
            </a:r>
            <a:r>
              <a:rPr lang="en-GB" sz="2000" kern="0" dirty="0">
                <a:solidFill>
                  <a:schemeClr val="bg1">
                    <a:lumMod val="10000"/>
                  </a:schemeClr>
                </a:solidFill>
                <a:ea typeface="Open Sans" panose="020B0606030504020204" pitchFamily="34" charset="0"/>
                <a:cs typeface="Open Sans" panose="020B0606030504020204" pitchFamily="34" charset="0"/>
              </a:rPr>
              <a:t>Read</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W :  </a:t>
            </a:r>
            <a:r>
              <a:rPr lang="en-GB" sz="2000" kern="0" dirty="0">
                <a:solidFill>
                  <a:schemeClr val="bg1">
                    <a:lumMod val="10000"/>
                  </a:schemeClr>
                </a:solidFill>
                <a:ea typeface="Open Sans" panose="020B0606030504020204" pitchFamily="34" charset="0"/>
                <a:cs typeface="Open Sans" panose="020B0606030504020204" pitchFamily="34" charset="0"/>
              </a:rPr>
              <a:t>Write</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T  :  </a:t>
            </a:r>
            <a:r>
              <a:rPr lang="en-GB" sz="2000" kern="0" dirty="0">
                <a:solidFill>
                  <a:schemeClr val="bg1">
                    <a:lumMod val="10000"/>
                  </a:schemeClr>
                </a:solidFill>
                <a:ea typeface="Open Sans" panose="020B0606030504020204" pitchFamily="34" charset="0"/>
                <a:cs typeface="Open Sans" panose="020B0606030504020204" pitchFamily="34" charset="0"/>
              </a:rPr>
              <a:t>Transmit</a:t>
            </a:r>
          </a:p>
          <a:p>
            <a:pPr>
              <a:lnSpc>
                <a:spcPct val="150000"/>
              </a:lnSpc>
              <a:defRPr/>
            </a:pPr>
            <a:r>
              <a:rPr lang="es-ES" sz="2000" kern="0" dirty="0">
                <a:solidFill>
                  <a:schemeClr val="bg1">
                    <a:lumMod val="10000"/>
                  </a:schemeClr>
                </a:solidFill>
                <a:ea typeface="Open Sans" panose="020B0606030504020204" pitchFamily="34" charset="0"/>
                <a:cs typeface="Open Sans" panose="020B0606030504020204" pitchFamily="34" charset="0"/>
              </a:rPr>
              <a:t>U  :  </a:t>
            </a:r>
            <a:r>
              <a:rPr lang="en-GB" sz="2000" kern="0" dirty="0">
                <a:solidFill>
                  <a:schemeClr val="bg1">
                    <a:lumMod val="10000"/>
                  </a:schemeClr>
                </a:solidFill>
                <a:ea typeface="Open Sans" panose="020B0606030504020204" pitchFamily="34" charset="0"/>
                <a:cs typeface="Open Sans" panose="020B0606030504020204" pitchFamily="34" charset="0"/>
              </a:rPr>
              <a:t>Update</a:t>
            </a:r>
          </a:p>
          <a:p>
            <a:pPr>
              <a:lnSpc>
                <a:spcPct val="150000"/>
              </a:lnSpc>
              <a:defRPr/>
            </a:pPr>
            <a:r>
              <a:rPr lang="en-GB" sz="2000" kern="0" dirty="0">
                <a:solidFill>
                  <a:schemeClr val="bg1">
                    <a:lumMod val="10000"/>
                  </a:schemeClr>
                </a:solidFill>
                <a:ea typeface="Open Sans" panose="020B0606030504020204" pitchFamily="34" charset="0"/>
                <a:cs typeface="Open Sans" panose="020B0606030504020204" pitchFamily="34" charset="0"/>
              </a:rPr>
              <a:t>I    :  Read On Init</a:t>
            </a:r>
            <a:endParaRPr lang="es-ES" sz="2000" kern="0" dirty="0">
              <a:solidFill>
                <a:schemeClr val="bg1">
                  <a:lumMod val="10000"/>
                </a:schemeClr>
              </a:solidFill>
              <a:ea typeface="Open Sans" panose="020B0606030504020204" pitchFamily="34" charset="0"/>
              <a:cs typeface="Open Sans" panose="020B0606030504020204" pitchFamily="34" charset="0"/>
            </a:endParaRPr>
          </a:p>
          <a:p>
            <a:pPr marL="457200" indent="-457200">
              <a:buFont typeface="+mj-lt"/>
              <a:buAutoNum type="arabicPeriod"/>
            </a:pPr>
            <a:endParaRPr lang="en-US" sz="2400" kern="0" dirty="0">
              <a:ea typeface="Open Sans" panose="020B0606030504020204" pitchFamily="34" charset="0"/>
              <a:cs typeface="Open Sans" panose="020B0606030504020204" pitchFamily="34" charset="0"/>
            </a:endParaRPr>
          </a:p>
        </p:txBody>
      </p:sp>
      <p:sp>
        <p:nvSpPr>
          <p:cNvPr id="6" name="Content Placeholder 1">
            <a:extLst>
              <a:ext uri="{FF2B5EF4-FFF2-40B4-BE49-F238E27FC236}">
                <a16:creationId xmlns:a16="http://schemas.microsoft.com/office/drawing/2014/main" id="{3B27D006-0CBF-40E4-BDC1-91C638C656DF}"/>
              </a:ext>
            </a:extLst>
          </p:cNvPr>
          <p:cNvSpPr txBox="1">
            <a:spLocks/>
          </p:cNvSpPr>
          <p:nvPr/>
        </p:nvSpPr>
        <p:spPr>
          <a:xfrm>
            <a:off x="971600" y="1412875"/>
            <a:ext cx="7704856" cy="1080021"/>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GB" sz="2000" kern="0" dirty="0">
                <a:solidFill>
                  <a:schemeClr val="bg2">
                    <a:lumMod val="10000"/>
                  </a:schemeClr>
                </a:solidFill>
                <a:ea typeface="Open Sans" panose="020B0606030504020204" pitchFamily="34" charset="0"/>
                <a:cs typeface="Open Sans" panose="020B0606030504020204" pitchFamily="34" charset="0"/>
              </a:rPr>
              <a:t>The flags control the communication possibilities of an object on the bus</a:t>
            </a:r>
            <a:endParaRPr lang="en-US" sz="2000" kern="0" dirty="0">
              <a:solidFill>
                <a:schemeClr val="tx1"/>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988429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Setting the Flags</a:t>
            </a:r>
          </a:p>
        </p:txBody>
      </p:sp>
      <p:pic>
        <p:nvPicPr>
          <p:cNvPr id="4" name="Picture 3">
            <a:extLst>
              <a:ext uri="{FF2B5EF4-FFF2-40B4-BE49-F238E27FC236}">
                <a16:creationId xmlns:a16="http://schemas.microsoft.com/office/drawing/2014/main" id="{FA09BC2F-66BF-4C53-A772-81249F73A2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4350" y="2132856"/>
            <a:ext cx="7531608" cy="2080260"/>
          </a:xfrm>
          <a:prstGeom prst="rect">
            <a:avLst/>
          </a:prstGeom>
          <a:noFill/>
          <a:ln>
            <a:noFill/>
          </a:ln>
        </p:spPr>
      </p:pic>
      <p:sp>
        <p:nvSpPr>
          <p:cNvPr id="7" name="Right Arrow 3">
            <a:extLst>
              <a:ext uri="{FF2B5EF4-FFF2-40B4-BE49-F238E27FC236}">
                <a16:creationId xmlns:a16="http://schemas.microsoft.com/office/drawing/2014/main" id="{034088F7-23BD-455B-B261-63F1C5ED58FC}"/>
              </a:ext>
            </a:extLst>
          </p:cNvPr>
          <p:cNvSpPr/>
          <p:nvPr/>
        </p:nvSpPr>
        <p:spPr bwMode="auto">
          <a:xfrm rot="16200000">
            <a:off x="6529263" y="4052107"/>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6" name="Content Placeholder 1">
            <a:extLst>
              <a:ext uri="{FF2B5EF4-FFF2-40B4-BE49-F238E27FC236}">
                <a16:creationId xmlns:a16="http://schemas.microsoft.com/office/drawing/2014/main" id="{2220AF08-79F9-4E22-AF52-1CBEB04E76AF}"/>
              </a:ext>
            </a:extLst>
          </p:cNvPr>
          <p:cNvSpPr txBox="1">
            <a:spLocks/>
          </p:cNvSpPr>
          <p:nvPr/>
        </p:nvSpPr>
        <p:spPr>
          <a:xfrm>
            <a:off x="1307166" y="1590223"/>
            <a:ext cx="7128792" cy="71913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lgn="r">
              <a:spcBef>
                <a:spcPct val="30000"/>
              </a:spcBef>
              <a:buClrTx/>
              <a:buFont typeface="Wingdings" pitchFamily="2" charset="2"/>
              <a:buNone/>
              <a:defRPr/>
            </a:pPr>
            <a:r>
              <a:rPr lang="en-GB" sz="2000" kern="1200">
                <a:solidFill>
                  <a:schemeClr val="tx1"/>
                </a:solidFill>
                <a:latin typeface="Arial" charset="0"/>
              </a:rPr>
              <a:t>Setting a Flag in Buildings View</a:t>
            </a:r>
            <a:endParaRPr lang="es-ES" sz="2000" kern="1200" dirty="0">
              <a:solidFill>
                <a:schemeClr val="tx1"/>
              </a:solidFill>
              <a:latin typeface="Arial" charset="0"/>
            </a:endParaRPr>
          </a:p>
        </p:txBody>
      </p:sp>
    </p:spTree>
    <p:extLst>
      <p:ext uri="{BB962C8B-B14F-4D97-AF65-F5344CB8AC3E}">
        <p14:creationId xmlns:p14="http://schemas.microsoft.com/office/powerpoint/2010/main" val="8237530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Setting the Flags</a:t>
            </a:r>
          </a:p>
        </p:txBody>
      </p:sp>
      <p:pic>
        <p:nvPicPr>
          <p:cNvPr id="5" name="Picture 4">
            <a:extLst>
              <a:ext uri="{FF2B5EF4-FFF2-40B4-BE49-F238E27FC236}">
                <a16:creationId xmlns:a16="http://schemas.microsoft.com/office/drawing/2014/main" id="{9155BD92-F2AC-4F32-81E1-01E295C5C25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212689"/>
            <a:ext cx="7499985" cy="3118104"/>
          </a:xfrm>
          <a:prstGeom prst="rect">
            <a:avLst/>
          </a:prstGeom>
          <a:noFill/>
          <a:ln>
            <a:noFill/>
          </a:ln>
        </p:spPr>
      </p:pic>
      <p:sp>
        <p:nvSpPr>
          <p:cNvPr id="6" name="Content Placeholder 1">
            <a:extLst>
              <a:ext uri="{FF2B5EF4-FFF2-40B4-BE49-F238E27FC236}">
                <a16:creationId xmlns:a16="http://schemas.microsoft.com/office/drawing/2014/main" id="{D0625D2C-5A7E-4B42-9790-A0F6A7A0AACA}"/>
              </a:ext>
            </a:extLst>
          </p:cNvPr>
          <p:cNvSpPr txBox="1">
            <a:spLocks/>
          </p:cNvSpPr>
          <p:nvPr/>
        </p:nvSpPr>
        <p:spPr>
          <a:xfrm>
            <a:off x="755575" y="1526206"/>
            <a:ext cx="7788017" cy="580528"/>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lvl="0" indent="0" algn="r">
              <a:spcBef>
                <a:spcPct val="30000"/>
              </a:spcBef>
              <a:buClrTx/>
              <a:buNone/>
              <a:defRPr/>
            </a:pPr>
            <a:r>
              <a:rPr lang="en-GB" sz="2000" dirty="0">
                <a:solidFill>
                  <a:schemeClr val="tx1"/>
                </a:solidFill>
                <a:latin typeface="Arial" charset="0"/>
              </a:rPr>
              <a:t>Simultaneous Setting of Flags at Several Objects</a:t>
            </a:r>
          </a:p>
          <a:p>
            <a:pPr marL="0" lvl="0" indent="0" algn="r">
              <a:spcBef>
                <a:spcPct val="30000"/>
              </a:spcBef>
              <a:buClrTx/>
              <a:buNone/>
              <a:defRPr/>
            </a:pPr>
            <a:endParaRPr lang="en-GB" sz="2000" b="0" dirty="0">
              <a:solidFill>
                <a:schemeClr val="tx1"/>
              </a:solidFill>
              <a:latin typeface="Arial" charset="0"/>
            </a:endParaRPr>
          </a:p>
          <a:p>
            <a:pPr algn="r"/>
            <a:endParaRPr lang="en-US" sz="2000" b="0" kern="0" dirty="0"/>
          </a:p>
          <a:p>
            <a:pPr algn="r"/>
            <a:endParaRPr lang="en-US" sz="2000" b="0" kern="0" dirty="0">
              <a:solidFill>
                <a:schemeClr val="tx1"/>
              </a:solidFill>
            </a:endParaRPr>
          </a:p>
          <a:p>
            <a:pPr marL="457200" indent="-457200" algn="r">
              <a:buFont typeface="+mj-lt"/>
              <a:buAutoNum type="arabicPeriod"/>
            </a:pPr>
            <a:endParaRPr lang="en-US" sz="2000" b="0" kern="0" dirty="0"/>
          </a:p>
        </p:txBody>
      </p:sp>
      <p:sp>
        <p:nvSpPr>
          <p:cNvPr id="7" name="Content Placeholder 1">
            <a:extLst>
              <a:ext uri="{FF2B5EF4-FFF2-40B4-BE49-F238E27FC236}">
                <a16:creationId xmlns:a16="http://schemas.microsoft.com/office/drawing/2014/main" id="{82CD2937-EA21-4280-A67B-8EE0E7D97CAE}"/>
              </a:ext>
            </a:extLst>
          </p:cNvPr>
          <p:cNvSpPr txBox="1">
            <a:spLocks/>
          </p:cNvSpPr>
          <p:nvPr/>
        </p:nvSpPr>
        <p:spPr>
          <a:xfrm>
            <a:off x="4995698" y="3659005"/>
            <a:ext cx="1656184" cy="100811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spcBef>
                <a:spcPct val="30000"/>
              </a:spcBef>
              <a:buClrTx/>
              <a:buNone/>
              <a:defRPr/>
            </a:pPr>
            <a:r>
              <a:rPr lang="en-GB" sz="1600" b="0" dirty="0">
                <a:solidFill>
                  <a:schemeClr val="tx1"/>
                </a:solidFill>
                <a:latin typeface="Arial" charset="0"/>
              </a:rPr>
              <a:t>2. Set the flags for all objects</a:t>
            </a:r>
          </a:p>
          <a:p>
            <a:pPr marL="0" lvl="0" indent="0">
              <a:spcBef>
                <a:spcPct val="30000"/>
              </a:spcBef>
              <a:buClrTx/>
              <a:buNone/>
              <a:defRPr/>
            </a:pPr>
            <a:endParaRPr lang="en-GB" sz="1600" b="0" dirty="0">
              <a:solidFill>
                <a:schemeClr val="tx1"/>
              </a:solidFill>
              <a:latin typeface="Arial" charset="0"/>
            </a:endParaRPr>
          </a:p>
          <a:p>
            <a:endParaRPr lang="en-US" sz="1600" b="0" kern="0" dirty="0"/>
          </a:p>
          <a:p>
            <a:endParaRPr lang="en-US" sz="1600" b="0" kern="0" dirty="0">
              <a:solidFill>
                <a:schemeClr val="tx1"/>
              </a:solidFill>
            </a:endParaRPr>
          </a:p>
          <a:p>
            <a:pPr marL="457200" indent="-457200">
              <a:buFont typeface="+mj-lt"/>
              <a:buAutoNum type="arabicPeriod"/>
            </a:pPr>
            <a:endParaRPr lang="en-US" sz="1600" b="0" kern="0" dirty="0"/>
          </a:p>
        </p:txBody>
      </p:sp>
      <p:sp>
        <p:nvSpPr>
          <p:cNvPr id="8" name="Right Arrow 3">
            <a:extLst>
              <a:ext uri="{FF2B5EF4-FFF2-40B4-BE49-F238E27FC236}">
                <a16:creationId xmlns:a16="http://schemas.microsoft.com/office/drawing/2014/main" id="{405BCB83-B3E1-48D9-8B89-D4C2CC21328C}"/>
              </a:ext>
            </a:extLst>
          </p:cNvPr>
          <p:cNvSpPr/>
          <p:nvPr/>
        </p:nvSpPr>
        <p:spPr bwMode="auto">
          <a:xfrm rot="16200000">
            <a:off x="1128663" y="3450556"/>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9" name="Right Arrow 3">
            <a:extLst>
              <a:ext uri="{FF2B5EF4-FFF2-40B4-BE49-F238E27FC236}">
                <a16:creationId xmlns:a16="http://schemas.microsoft.com/office/drawing/2014/main" id="{C0FBA4A9-B8F2-4E61-A3D9-AC7100CD8E70}"/>
              </a:ext>
            </a:extLst>
          </p:cNvPr>
          <p:cNvSpPr/>
          <p:nvPr/>
        </p:nvSpPr>
        <p:spPr bwMode="auto">
          <a:xfrm>
            <a:off x="6444208" y="3842273"/>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
        <p:nvSpPr>
          <p:cNvPr id="10" name="Content Placeholder 1">
            <a:extLst>
              <a:ext uri="{FF2B5EF4-FFF2-40B4-BE49-F238E27FC236}">
                <a16:creationId xmlns:a16="http://schemas.microsoft.com/office/drawing/2014/main" id="{7FAF01B1-9162-443D-BEFE-306C455692AA}"/>
              </a:ext>
            </a:extLst>
          </p:cNvPr>
          <p:cNvSpPr txBox="1">
            <a:spLocks/>
          </p:cNvSpPr>
          <p:nvPr/>
        </p:nvSpPr>
        <p:spPr>
          <a:xfrm>
            <a:off x="600407" y="4061234"/>
            <a:ext cx="2675449" cy="1008112"/>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spcBef>
                <a:spcPct val="30000"/>
              </a:spcBef>
              <a:buClrTx/>
              <a:buNone/>
              <a:defRPr/>
            </a:pPr>
            <a:r>
              <a:rPr lang="en-GB" sz="1600" b="0" dirty="0">
                <a:solidFill>
                  <a:schemeClr val="tx1"/>
                </a:solidFill>
                <a:latin typeface="Arial" charset="0"/>
              </a:rPr>
              <a:t>1. Relevant objects must be marked with </a:t>
            </a:r>
            <a:r>
              <a:rPr lang="en-GB" sz="1600" b="0" dirty="0" err="1">
                <a:solidFill>
                  <a:schemeClr val="tx1"/>
                </a:solidFill>
                <a:latin typeface="Arial" charset="0"/>
              </a:rPr>
              <a:t>Shift+click</a:t>
            </a:r>
            <a:r>
              <a:rPr lang="en-GB" sz="1600" b="0" dirty="0">
                <a:solidFill>
                  <a:schemeClr val="tx1"/>
                </a:solidFill>
                <a:latin typeface="Arial" charset="0"/>
              </a:rPr>
              <a:t> or </a:t>
            </a:r>
            <a:r>
              <a:rPr lang="en-GB" sz="1600" b="0" dirty="0" err="1">
                <a:solidFill>
                  <a:schemeClr val="tx1"/>
                </a:solidFill>
                <a:latin typeface="Arial" charset="0"/>
              </a:rPr>
              <a:t>Ctrl+click</a:t>
            </a:r>
            <a:endParaRPr lang="en-GB" sz="1600" b="0" dirty="0">
              <a:solidFill>
                <a:schemeClr val="tx1"/>
              </a:solidFill>
              <a:latin typeface="Arial" charset="0"/>
            </a:endParaRPr>
          </a:p>
          <a:p>
            <a:pPr marL="0" lvl="0" indent="0">
              <a:spcBef>
                <a:spcPct val="30000"/>
              </a:spcBef>
              <a:buClrTx/>
              <a:buNone/>
              <a:defRPr/>
            </a:pPr>
            <a:endParaRPr lang="en-GB" sz="1600" b="0" dirty="0">
              <a:solidFill>
                <a:schemeClr val="tx1"/>
              </a:solidFill>
              <a:latin typeface="Arial" charset="0"/>
            </a:endParaRPr>
          </a:p>
          <a:p>
            <a:endParaRPr lang="en-US" sz="1600" b="0" kern="0" dirty="0"/>
          </a:p>
          <a:p>
            <a:endParaRPr lang="en-US" sz="1600" b="0" kern="0" dirty="0">
              <a:solidFill>
                <a:schemeClr val="tx1"/>
              </a:solidFill>
            </a:endParaRPr>
          </a:p>
          <a:p>
            <a:pPr marL="457200" indent="-457200">
              <a:buFont typeface="+mj-lt"/>
              <a:buAutoNum type="arabicPeriod"/>
            </a:pPr>
            <a:endParaRPr lang="en-US" sz="1600" b="0" kern="0" dirty="0"/>
          </a:p>
        </p:txBody>
      </p:sp>
    </p:spTree>
    <p:extLst>
      <p:ext uri="{BB962C8B-B14F-4D97-AF65-F5344CB8AC3E}">
        <p14:creationId xmlns:p14="http://schemas.microsoft.com/office/powerpoint/2010/main" val="272624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Communication Flag ‘C’</a:t>
            </a:r>
          </a:p>
        </p:txBody>
      </p:sp>
      <p:pic>
        <p:nvPicPr>
          <p:cNvPr id="11" name="Picture 10">
            <a:extLst>
              <a:ext uri="{FF2B5EF4-FFF2-40B4-BE49-F238E27FC236}">
                <a16:creationId xmlns:a16="http://schemas.microsoft.com/office/drawing/2014/main" id="{E42C4C2B-1537-4BB1-A0F6-23C7A6363BB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955940" y="1628800"/>
            <a:ext cx="2848695" cy="4363254"/>
          </a:xfrm>
          <a:prstGeom prst="rect">
            <a:avLst/>
          </a:prstGeom>
          <a:noFill/>
          <a:ln>
            <a:noFill/>
          </a:ln>
        </p:spPr>
      </p:pic>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GB" sz="1800" dirty="0">
                <a:solidFill>
                  <a:schemeClr val="tx1"/>
                </a:solidFill>
              </a:rPr>
              <a:t>It is the “</a:t>
            </a:r>
            <a:r>
              <a:rPr lang="en-GB" sz="1800" dirty="0"/>
              <a:t>master switch</a:t>
            </a:r>
            <a:r>
              <a:rPr lang="en-GB" sz="1800" dirty="0">
                <a:solidFill>
                  <a:schemeClr val="tx1"/>
                </a:solidFill>
              </a:rPr>
              <a:t>” for communication </a:t>
            </a:r>
          </a:p>
          <a:p>
            <a:endParaRPr lang="en-GB" sz="1800" kern="0" dirty="0">
              <a:solidFill>
                <a:schemeClr val="tx1"/>
              </a:solidFill>
            </a:endParaRPr>
          </a:p>
          <a:p>
            <a:r>
              <a:rPr lang="en-GB" sz="1800" dirty="0"/>
              <a:t>Set by default </a:t>
            </a:r>
            <a:r>
              <a:rPr lang="en-GB" sz="1800" dirty="0">
                <a:solidFill>
                  <a:schemeClr val="tx1"/>
                </a:solidFill>
              </a:rPr>
              <a:t>at all the group objects</a:t>
            </a:r>
            <a:endParaRPr lang="en-US" sz="1800" kern="0" dirty="0"/>
          </a:p>
          <a:p>
            <a:endParaRPr lang="en-US" sz="1800" kern="0" dirty="0"/>
          </a:p>
          <a:p>
            <a:r>
              <a:rPr lang="en-GB" sz="1800" dirty="0">
                <a:solidFill>
                  <a:schemeClr val="tx1"/>
                </a:solidFill>
              </a:rPr>
              <a:t>If this flag is not set, the object cannot </a:t>
            </a:r>
            <a:r>
              <a:rPr lang="en-GB" sz="1800" dirty="0"/>
              <a:t>send or receive telegrams</a:t>
            </a:r>
            <a:endParaRPr lang="en-GB" sz="1800" dirty="0">
              <a:solidFill>
                <a:schemeClr val="tx1"/>
              </a:solidFill>
            </a:endParaRPr>
          </a:p>
          <a:p>
            <a:endParaRPr lang="en-GB" sz="1800" dirty="0">
              <a:solidFill>
                <a:schemeClr val="tx1"/>
              </a:solidFill>
            </a:endParaRPr>
          </a:p>
          <a:p>
            <a:r>
              <a:rPr lang="en-GB" sz="1800" dirty="0">
                <a:solidFill>
                  <a:schemeClr val="tx1"/>
                </a:solidFill>
              </a:rPr>
              <a:t>In rare configurations, it can be necessary to be deleted</a:t>
            </a:r>
          </a:p>
          <a:p>
            <a:endParaRPr lang="en-GB" sz="1800" dirty="0">
              <a:solidFill>
                <a:schemeClr val="tx1"/>
              </a:solidFill>
            </a:endParaRPr>
          </a:p>
          <a:p>
            <a:r>
              <a:rPr lang="en-GB" sz="1800" dirty="0">
                <a:solidFill>
                  <a:schemeClr val="tx1"/>
                </a:solidFill>
              </a:rPr>
              <a:t>If this object is linked to a group address, an acknowledgement is also sent when the communication flag has been deleted!</a:t>
            </a:r>
            <a:endParaRPr lang="es-ES" sz="1800" dirty="0">
              <a:solidFill>
                <a:schemeClr val="tx1"/>
              </a:solidFill>
            </a:endParaRPr>
          </a:p>
          <a:p>
            <a:pPr marL="457200" indent="-457200">
              <a:buFont typeface="+mj-lt"/>
              <a:buAutoNum type="arabicPeriod"/>
            </a:pPr>
            <a:endParaRPr lang="en-US" sz="1800" kern="0" dirty="0"/>
          </a:p>
        </p:txBody>
      </p:sp>
    </p:spTree>
    <p:extLst>
      <p:ext uri="{BB962C8B-B14F-4D97-AF65-F5344CB8AC3E}">
        <p14:creationId xmlns:p14="http://schemas.microsoft.com/office/powerpoint/2010/main" val="21887801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Example of a Communication Flag</a:t>
            </a:r>
            <a:endParaRPr lang="en-GB" dirty="0"/>
          </a:p>
        </p:txBody>
      </p:sp>
      <p:pic>
        <p:nvPicPr>
          <p:cNvPr id="4" name="Picture 3">
            <a:extLst>
              <a:ext uri="{FF2B5EF4-FFF2-40B4-BE49-F238E27FC236}">
                <a16:creationId xmlns:a16="http://schemas.microsoft.com/office/drawing/2014/main" id="{57F0B0E0-EE7D-4CC5-9CB0-2D74317D8A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700808"/>
            <a:ext cx="7381780" cy="1910334"/>
          </a:xfrm>
          <a:prstGeom prst="rect">
            <a:avLst/>
          </a:prstGeom>
          <a:noFill/>
          <a:ln>
            <a:noFill/>
          </a:ln>
        </p:spPr>
      </p:pic>
      <p:sp>
        <p:nvSpPr>
          <p:cNvPr id="5" name="Rectangle 4">
            <a:extLst>
              <a:ext uri="{FF2B5EF4-FFF2-40B4-BE49-F238E27FC236}">
                <a16:creationId xmlns:a16="http://schemas.microsoft.com/office/drawing/2014/main" id="{A7FD2CED-9B3B-47D9-8813-B763E9D26495}"/>
              </a:ext>
            </a:extLst>
          </p:cNvPr>
          <p:cNvSpPr/>
          <p:nvPr/>
        </p:nvSpPr>
        <p:spPr>
          <a:xfrm>
            <a:off x="2555776" y="4365104"/>
            <a:ext cx="5832648" cy="369332"/>
          </a:xfrm>
          <a:prstGeom prst="rect">
            <a:avLst/>
          </a:prstGeom>
        </p:spPr>
        <p:txBody>
          <a:bodyPr wrap="square">
            <a:spAutoFit/>
          </a:bodyPr>
          <a:lstStyle/>
          <a:p>
            <a:r>
              <a:rPr lang="en-US" b="1" dirty="0"/>
              <a:t>Removal of communication flag for unused objects</a:t>
            </a:r>
          </a:p>
        </p:txBody>
      </p:sp>
      <p:sp>
        <p:nvSpPr>
          <p:cNvPr id="6" name="Right Arrow 3">
            <a:extLst>
              <a:ext uri="{FF2B5EF4-FFF2-40B4-BE49-F238E27FC236}">
                <a16:creationId xmlns:a16="http://schemas.microsoft.com/office/drawing/2014/main" id="{C0B0315A-2EA2-42E6-9E83-FD0C273E247A}"/>
              </a:ext>
            </a:extLst>
          </p:cNvPr>
          <p:cNvSpPr/>
          <p:nvPr/>
        </p:nvSpPr>
        <p:spPr bwMode="auto">
          <a:xfrm rot="16200000">
            <a:off x="5737175" y="3729425"/>
            <a:ext cx="650875" cy="388937"/>
          </a:xfrm>
          <a:prstGeom prst="rightArrow">
            <a:avLst/>
          </a:prstGeom>
          <a:solidFill>
            <a:srgbClr val="369226"/>
          </a:solidFill>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n-US"/>
          </a:p>
        </p:txBody>
      </p:sp>
    </p:spTree>
    <p:extLst>
      <p:ext uri="{BB962C8B-B14F-4D97-AF65-F5344CB8AC3E}">
        <p14:creationId xmlns:p14="http://schemas.microsoft.com/office/powerpoint/2010/main" val="15742791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Write Flag ‘W’</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dirty="0">
                <a:solidFill>
                  <a:schemeClr val="tx1"/>
                </a:solidFill>
              </a:rPr>
              <a:t>If it is set, </a:t>
            </a:r>
            <a:r>
              <a:rPr lang="en-US" sz="1800" dirty="0"/>
              <a:t>the value of a group object can be described</a:t>
            </a:r>
            <a:r>
              <a:rPr lang="en-US" sz="1800" dirty="0">
                <a:solidFill>
                  <a:schemeClr val="tx1"/>
                </a:solidFill>
              </a:rPr>
              <a:t> with group telegrams</a:t>
            </a:r>
          </a:p>
          <a:p>
            <a:endParaRPr lang="en-GB" sz="1800" kern="0" dirty="0">
              <a:solidFill>
                <a:schemeClr val="tx1"/>
              </a:solidFill>
            </a:endParaRPr>
          </a:p>
          <a:p>
            <a:r>
              <a:rPr lang="en-GB" sz="1800" dirty="0"/>
              <a:t>Set by default </a:t>
            </a:r>
            <a:r>
              <a:rPr lang="en-US" sz="1800" dirty="0">
                <a:solidFill>
                  <a:schemeClr val="tx1"/>
                </a:solidFill>
              </a:rPr>
              <a:t>for all switch objects, value objects on dimming actuators as well as many push button objects</a:t>
            </a:r>
            <a:endParaRPr lang="en-US" sz="1800" kern="0" dirty="0"/>
          </a:p>
          <a:p>
            <a:endParaRPr lang="en-US" sz="1800" kern="0" dirty="0"/>
          </a:p>
          <a:p>
            <a:r>
              <a:rPr lang="en-GB" sz="1800" dirty="0">
                <a:latin typeface="Arial" charset="0"/>
              </a:rPr>
              <a:t>Typical applications: </a:t>
            </a:r>
            <a:endParaRPr lang="es-ES" sz="1800" dirty="0">
              <a:latin typeface="Arial" charset="0"/>
            </a:endParaRPr>
          </a:p>
          <a:p>
            <a:pPr marL="685800" lvl="1">
              <a:buFont typeface="Wingdings" panose="05000000000000000000" pitchFamily="2" charset="2"/>
              <a:buChar char="§"/>
            </a:pPr>
            <a:r>
              <a:rPr lang="en-GB" sz="1800" b="1" dirty="0">
                <a:solidFill>
                  <a:schemeClr val="tx1"/>
                </a:solidFill>
                <a:latin typeface="Arial" charset="0"/>
              </a:rPr>
              <a:t>An actuator can only be switched if the write flag is set at its switch object</a:t>
            </a:r>
          </a:p>
          <a:p>
            <a:pPr marL="685800" lvl="1">
              <a:buFont typeface="Wingdings" panose="05000000000000000000" pitchFamily="2" charset="2"/>
              <a:buChar char="§"/>
            </a:pPr>
            <a:endParaRPr lang="es-ES" sz="1800" b="1" dirty="0">
              <a:solidFill>
                <a:schemeClr val="tx1"/>
              </a:solidFill>
              <a:latin typeface="Arial" charset="0"/>
            </a:endParaRPr>
          </a:p>
          <a:p>
            <a:pPr marL="685800" lvl="1">
              <a:buFont typeface="Wingdings" panose="05000000000000000000" pitchFamily="2" charset="2"/>
              <a:buChar char="§"/>
            </a:pPr>
            <a:r>
              <a:rPr lang="en-GB" sz="1800" b="1" dirty="0">
                <a:solidFill>
                  <a:schemeClr val="tx1"/>
                </a:solidFill>
                <a:latin typeface="Arial" charset="0"/>
              </a:rPr>
              <a:t>An LED on a push button can only react to group telegrams if the write flag is set at its LED object</a:t>
            </a:r>
            <a:endParaRPr lang="es-ES" sz="1800" b="1" dirty="0">
              <a:solidFill>
                <a:schemeClr val="tx1"/>
              </a:solidFill>
              <a:latin typeface="Arial" charset="0"/>
            </a:endParaRPr>
          </a:p>
          <a:p>
            <a:pPr marL="0" indent="0">
              <a:buNone/>
            </a:pPr>
            <a:endParaRPr lang="en-US" sz="1800" kern="0" dirty="0"/>
          </a:p>
        </p:txBody>
      </p:sp>
      <p:pic>
        <p:nvPicPr>
          <p:cNvPr id="5" name="Picture 4">
            <a:extLst>
              <a:ext uri="{FF2B5EF4-FFF2-40B4-BE49-F238E27FC236}">
                <a16:creationId xmlns:a16="http://schemas.microsoft.com/office/drawing/2014/main" id="{D6157E89-490A-4007-A1CF-9AF1A7C6BA6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09147" y="1578236"/>
            <a:ext cx="2542282" cy="4176464"/>
          </a:xfrm>
          <a:prstGeom prst="rect">
            <a:avLst/>
          </a:prstGeom>
          <a:noFill/>
          <a:ln>
            <a:noFill/>
          </a:ln>
        </p:spPr>
      </p:pic>
    </p:spTree>
    <p:extLst>
      <p:ext uri="{BB962C8B-B14F-4D97-AF65-F5344CB8AC3E}">
        <p14:creationId xmlns:p14="http://schemas.microsoft.com/office/powerpoint/2010/main" val="3011174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Transmit Flag ‘T’</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dirty="0">
                <a:solidFill>
                  <a:schemeClr val="tx1"/>
                </a:solidFill>
              </a:rPr>
              <a:t>If it is set, a group object </a:t>
            </a:r>
            <a:r>
              <a:rPr lang="en-US" sz="1800" dirty="0"/>
              <a:t>can transmit changes </a:t>
            </a:r>
            <a:r>
              <a:rPr lang="en-US" sz="1800" dirty="0">
                <a:solidFill>
                  <a:schemeClr val="tx1"/>
                </a:solidFill>
              </a:rPr>
              <a:t>in its value on the bus </a:t>
            </a:r>
            <a:r>
              <a:rPr lang="en-US" sz="1800" dirty="0"/>
              <a:t>by triggering group telegrams </a:t>
            </a:r>
            <a:r>
              <a:rPr lang="en-US" sz="1800" dirty="0">
                <a:solidFill>
                  <a:schemeClr val="tx1"/>
                </a:solidFill>
              </a:rPr>
              <a:t>to the sending group address</a:t>
            </a:r>
          </a:p>
          <a:p>
            <a:endParaRPr lang="en-GB" sz="1800" kern="0" dirty="0">
              <a:solidFill>
                <a:schemeClr val="tx1"/>
              </a:solidFill>
            </a:endParaRPr>
          </a:p>
          <a:p>
            <a:r>
              <a:rPr lang="en-GB" sz="1800" dirty="0"/>
              <a:t>Set by default </a:t>
            </a:r>
            <a:r>
              <a:rPr lang="en-US" sz="1800" dirty="0">
                <a:solidFill>
                  <a:schemeClr val="tx1"/>
                </a:solidFill>
              </a:rPr>
              <a:t>for sensors and in most cases also for status objects of actuators </a:t>
            </a:r>
            <a:endParaRPr lang="en-US" sz="1800" kern="0" dirty="0"/>
          </a:p>
          <a:p>
            <a:endParaRPr lang="en-US" sz="1800" kern="0" dirty="0"/>
          </a:p>
          <a:p>
            <a:pPr marL="0" indent="0">
              <a:buNone/>
            </a:pPr>
            <a:endParaRPr lang="en-US" sz="1800" kern="0" dirty="0"/>
          </a:p>
        </p:txBody>
      </p:sp>
      <p:pic>
        <p:nvPicPr>
          <p:cNvPr id="6" name="Picture 5">
            <a:extLst>
              <a:ext uri="{FF2B5EF4-FFF2-40B4-BE49-F238E27FC236}">
                <a16:creationId xmlns:a16="http://schemas.microsoft.com/office/drawing/2014/main" id="{B258ED1C-65F3-4275-9915-B8FDF96F31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6808" y="1557313"/>
            <a:ext cx="2346960" cy="4171188"/>
          </a:xfrm>
          <a:prstGeom prst="rect">
            <a:avLst/>
          </a:prstGeom>
          <a:noFill/>
          <a:ln>
            <a:noFill/>
          </a:ln>
        </p:spPr>
      </p:pic>
    </p:spTree>
    <p:extLst>
      <p:ext uri="{BB962C8B-B14F-4D97-AF65-F5344CB8AC3E}">
        <p14:creationId xmlns:p14="http://schemas.microsoft.com/office/powerpoint/2010/main" val="27312488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US" dirty="0"/>
              <a:t>Example of a Transmit Flag</a:t>
            </a:r>
            <a:endParaRPr lang="en-GB" dirty="0"/>
          </a:p>
        </p:txBody>
      </p:sp>
      <p:sp>
        <p:nvSpPr>
          <p:cNvPr id="5" name="Rectangle 4">
            <a:extLst>
              <a:ext uri="{FF2B5EF4-FFF2-40B4-BE49-F238E27FC236}">
                <a16:creationId xmlns:a16="http://schemas.microsoft.com/office/drawing/2014/main" id="{A7FD2CED-9B3B-47D9-8813-B763E9D26495}"/>
              </a:ext>
            </a:extLst>
          </p:cNvPr>
          <p:cNvSpPr/>
          <p:nvPr/>
        </p:nvSpPr>
        <p:spPr>
          <a:xfrm>
            <a:off x="895099" y="5458420"/>
            <a:ext cx="7517664" cy="646331"/>
          </a:xfrm>
          <a:prstGeom prst="rect">
            <a:avLst/>
          </a:prstGeom>
        </p:spPr>
        <p:txBody>
          <a:bodyPr wrap="square">
            <a:spAutoFit/>
          </a:bodyPr>
          <a:lstStyle/>
          <a:p>
            <a:r>
              <a:rPr lang="en-US" b="1" dirty="0">
                <a:solidFill>
                  <a:srgbClr val="369226"/>
                </a:solidFill>
              </a:rPr>
              <a:t>Result: </a:t>
            </a:r>
            <a:r>
              <a:rPr lang="en-US" b="1" dirty="0"/>
              <a:t>A chain reaction of update telegrams. The bus is put under a heavy load and the actuators possibly no longer react</a:t>
            </a:r>
          </a:p>
        </p:txBody>
      </p:sp>
      <p:pic>
        <p:nvPicPr>
          <p:cNvPr id="8" name="Picture 7">
            <a:extLst>
              <a:ext uri="{FF2B5EF4-FFF2-40B4-BE49-F238E27FC236}">
                <a16:creationId xmlns:a16="http://schemas.microsoft.com/office/drawing/2014/main" id="{6C4B1237-C6FA-4466-86EF-7DC580263F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558556"/>
            <a:ext cx="7369155" cy="3628085"/>
          </a:xfrm>
          <a:prstGeom prst="rect">
            <a:avLst/>
          </a:prstGeom>
          <a:noFill/>
          <a:ln>
            <a:noFill/>
          </a:ln>
        </p:spPr>
      </p:pic>
    </p:spTree>
    <p:extLst>
      <p:ext uri="{BB962C8B-B14F-4D97-AF65-F5344CB8AC3E}">
        <p14:creationId xmlns:p14="http://schemas.microsoft.com/office/powerpoint/2010/main" val="29931018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Read Flag ‘R’</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dirty="0"/>
              <a:t>Enables</a:t>
            </a:r>
            <a:r>
              <a:rPr lang="en-US" sz="1800" dirty="0">
                <a:solidFill>
                  <a:schemeClr val="tx1"/>
                </a:solidFill>
              </a:rPr>
              <a:t> the object value to be </a:t>
            </a:r>
            <a:r>
              <a:rPr lang="en-US" sz="1800" dirty="0"/>
              <a:t>read out </a:t>
            </a:r>
            <a:r>
              <a:rPr lang="en-US" sz="1800" dirty="0">
                <a:solidFill>
                  <a:schemeClr val="tx1"/>
                </a:solidFill>
              </a:rPr>
              <a:t>via read telegram</a:t>
            </a:r>
          </a:p>
          <a:p>
            <a:endParaRPr lang="en-US" sz="1800" dirty="0">
              <a:solidFill>
                <a:schemeClr val="tx1"/>
              </a:solidFill>
            </a:endParaRPr>
          </a:p>
          <a:p>
            <a:r>
              <a:rPr lang="en-US" sz="1800" dirty="0">
                <a:solidFill>
                  <a:schemeClr val="tx1"/>
                </a:solidFill>
              </a:rPr>
              <a:t>If it is set at an object, the bus device </a:t>
            </a:r>
            <a:r>
              <a:rPr lang="en-US" sz="1800" dirty="0"/>
              <a:t>responds to a read request </a:t>
            </a:r>
            <a:r>
              <a:rPr lang="en-US" sz="1800" dirty="0">
                <a:solidFill>
                  <a:schemeClr val="tx1"/>
                </a:solidFill>
              </a:rPr>
              <a:t>telegram with a response telegram to the sending group address. If it is deleted, there is no response</a:t>
            </a:r>
          </a:p>
          <a:p>
            <a:pPr marL="0" indent="0">
              <a:buNone/>
            </a:pPr>
            <a:r>
              <a:rPr lang="en-US" sz="1800" dirty="0"/>
              <a:t> </a:t>
            </a:r>
          </a:p>
          <a:p>
            <a:r>
              <a:rPr lang="en-GB" sz="1800" dirty="0"/>
              <a:t>Not set by default </a:t>
            </a:r>
            <a:r>
              <a:rPr lang="en-US" sz="1800" dirty="0">
                <a:solidFill>
                  <a:schemeClr val="tx1"/>
                </a:solidFill>
              </a:rPr>
              <a:t>in most cases</a:t>
            </a:r>
          </a:p>
          <a:p>
            <a:endParaRPr lang="en-US" sz="1800" dirty="0">
              <a:solidFill>
                <a:schemeClr val="tx1"/>
              </a:solidFill>
              <a:latin typeface="Arial" charset="0"/>
            </a:endParaRPr>
          </a:p>
          <a:p>
            <a:r>
              <a:rPr lang="en-US" sz="1800" dirty="0">
                <a:latin typeface="Arial" charset="0"/>
              </a:rPr>
              <a:t>S</a:t>
            </a:r>
            <a:r>
              <a:rPr lang="en-GB" sz="1800" dirty="0">
                <a:latin typeface="Arial" charset="0"/>
              </a:rPr>
              <a:t>et </a:t>
            </a:r>
            <a:r>
              <a:rPr lang="en-GB" sz="1800" dirty="0">
                <a:solidFill>
                  <a:schemeClr val="tx1"/>
                </a:solidFill>
                <a:latin typeface="Arial" charset="0"/>
              </a:rPr>
              <a:t>by many manufacturers </a:t>
            </a:r>
            <a:r>
              <a:rPr lang="en-GB" sz="1800" dirty="0">
                <a:latin typeface="Arial" charset="0"/>
              </a:rPr>
              <a:t>for status objects</a:t>
            </a:r>
            <a:endParaRPr lang="en-US" sz="1800" kern="0" dirty="0"/>
          </a:p>
        </p:txBody>
      </p:sp>
      <p:pic>
        <p:nvPicPr>
          <p:cNvPr id="6" name="Picture 5">
            <a:extLst>
              <a:ext uri="{FF2B5EF4-FFF2-40B4-BE49-F238E27FC236}">
                <a16:creationId xmlns:a16="http://schemas.microsoft.com/office/drawing/2014/main" id="{4B70B9D3-2B10-4EEB-9677-D5E39267374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012160" y="1557313"/>
            <a:ext cx="2517775" cy="4465955"/>
          </a:xfrm>
          <a:prstGeom prst="rect">
            <a:avLst/>
          </a:prstGeom>
          <a:noFill/>
          <a:ln>
            <a:noFill/>
          </a:ln>
        </p:spPr>
      </p:pic>
    </p:spTree>
    <p:extLst>
      <p:ext uri="{BB962C8B-B14F-4D97-AF65-F5344CB8AC3E}">
        <p14:creationId xmlns:p14="http://schemas.microsoft.com/office/powerpoint/2010/main" val="1994521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Principle Sequence of a Read Request </a:t>
            </a:r>
            <a:endParaRPr lang="en-GB" dirty="0"/>
          </a:p>
        </p:txBody>
      </p:sp>
      <p:pic>
        <p:nvPicPr>
          <p:cNvPr id="4" name="Picture 3">
            <a:extLst>
              <a:ext uri="{FF2B5EF4-FFF2-40B4-BE49-F238E27FC236}">
                <a16:creationId xmlns:a16="http://schemas.microsoft.com/office/drawing/2014/main" id="{EC24409D-D1DB-41A6-9595-12A6793B1813}"/>
              </a:ext>
            </a:extLst>
          </p:cNvPr>
          <p:cNvPicPr>
            <a:picLocks noChangeAspect="1"/>
          </p:cNvPicPr>
          <p:nvPr/>
        </p:nvPicPr>
        <p:blipFill>
          <a:blip r:embed="rId3"/>
          <a:stretch>
            <a:fillRect/>
          </a:stretch>
        </p:blipFill>
        <p:spPr>
          <a:xfrm>
            <a:off x="908889" y="3739152"/>
            <a:ext cx="7740352" cy="1143542"/>
          </a:xfrm>
          <a:prstGeom prst="rect">
            <a:avLst/>
          </a:prstGeom>
        </p:spPr>
      </p:pic>
      <p:sp>
        <p:nvSpPr>
          <p:cNvPr id="6" name="Rectangle 5">
            <a:extLst>
              <a:ext uri="{FF2B5EF4-FFF2-40B4-BE49-F238E27FC236}">
                <a16:creationId xmlns:a16="http://schemas.microsoft.com/office/drawing/2014/main" id="{AE51FC98-007C-4865-A3A4-3EBB47F4A8B1}"/>
              </a:ext>
            </a:extLst>
          </p:cNvPr>
          <p:cNvSpPr/>
          <p:nvPr/>
        </p:nvSpPr>
        <p:spPr>
          <a:xfrm>
            <a:off x="942047" y="1457763"/>
            <a:ext cx="7878425" cy="2019014"/>
          </a:xfrm>
          <a:prstGeom prst="rect">
            <a:avLst/>
          </a:prstGeom>
        </p:spPr>
        <p:txBody>
          <a:bodyPr/>
          <a:lstStyle/>
          <a:p>
            <a:pPr eaLnBrk="0" hangingPunct="0">
              <a:lnSpc>
                <a:spcPct val="150000"/>
              </a:lnSpc>
              <a:spcBef>
                <a:spcPct val="20000"/>
              </a:spcBef>
              <a:buClr>
                <a:srgbClr val="369226"/>
              </a:buClr>
            </a:pPr>
            <a:r>
              <a:rPr lang="en-GB" b="1" dirty="0">
                <a:solidFill>
                  <a:srgbClr val="369226"/>
                </a:solidFill>
                <a:latin typeface="+mn-lt"/>
                <a:cs typeface="+mn-cs"/>
              </a:rPr>
              <a:t>Sequence of a read request:</a:t>
            </a:r>
          </a:p>
          <a:p>
            <a:pPr marL="342900" indent="-342900" eaLnBrk="0" hangingPunct="0">
              <a:lnSpc>
                <a:spcPct val="150000"/>
              </a:lnSpc>
              <a:spcBef>
                <a:spcPct val="20000"/>
              </a:spcBef>
              <a:buClr>
                <a:srgbClr val="369226"/>
              </a:buClr>
              <a:buFont typeface="Wingdings" pitchFamily="2" charset="2"/>
              <a:buChar char="§"/>
            </a:pPr>
            <a:r>
              <a:rPr lang="en-GB" b="1" dirty="0">
                <a:latin typeface="+mn-lt"/>
                <a:cs typeface="+mn-cs"/>
              </a:rPr>
              <a:t>by a visualisation (1.1.255) </a:t>
            </a:r>
            <a:endParaRPr lang="es-ES" b="1" dirty="0">
              <a:latin typeface="+mn-lt"/>
              <a:cs typeface="+mn-cs"/>
            </a:endParaRPr>
          </a:p>
          <a:p>
            <a:pPr marL="342900" indent="-342900" eaLnBrk="0" hangingPunct="0">
              <a:lnSpc>
                <a:spcPct val="150000"/>
              </a:lnSpc>
              <a:spcBef>
                <a:spcPct val="20000"/>
              </a:spcBef>
              <a:buClr>
                <a:srgbClr val="369226"/>
              </a:buClr>
              <a:buFont typeface="Wingdings" pitchFamily="2" charset="2"/>
              <a:buChar char="§"/>
            </a:pPr>
            <a:r>
              <a:rPr lang="en-GB" b="1" dirty="0">
                <a:latin typeface="+mn-lt"/>
                <a:cs typeface="+mn-cs"/>
              </a:rPr>
              <a:t>at the status object (read flag set here) of a switch actuator (1.1.1) </a:t>
            </a:r>
            <a:endParaRPr lang="es-ES" b="1" dirty="0">
              <a:latin typeface="+mn-lt"/>
              <a:cs typeface="+mn-cs"/>
            </a:endParaRPr>
          </a:p>
          <a:p>
            <a:pPr marL="342900" indent="-342900" eaLnBrk="0" hangingPunct="0">
              <a:lnSpc>
                <a:spcPct val="150000"/>
              </a:lnSpc>
              <a:spcBef>
                <a:spcPct val="20000"/>
              </a:spcBef>
              <a:buClr>
                <a:srgbClr val="369226"/>
              </a:buClr>
              <a:buFont typeface="Wingdings" pitchFamily="2" charset="2"/>
              <a:buChar char="§"/>
            </a:pPr>
            <a:r>
              <a:rPr lang="en-GB" b="1" dirty="0">
                <a:latin typeface="+mn-lt"/>
                <a:cs typeface="+mn-cs"/>
              </a:rPr>
              <a:t>via the group address 3/2/1 (status of lamp 1):</a:t>
            </a:r>
            <a:endParaRPr lang="es-ES" b="1" dirty="0">
              <a:latin typeface="+mn-lt"/>
              <a:cs typeface="+mn-cs"/>
            </a:endParaRPr>
          </a:p>
        </p:txBody>
      </p:sp>
    </p:spTree>
    <p:extLst>
      <p:ext uri="{BB962C8B-B14F-4D97-AF65-F5344CB8AC3E}">
        <p14:creationId xmlns:p14="http://schemas.microsoft.com/office/powerpoint/2010/main" val="777049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Special Features of Read Flags</a:t>
            </a:r>
            <a:endParaRPr lang="en-GB" dirty="0"/>
          </a:p>
        </p:txBody>
      </p:sp>
      <p:sp>
        <p:nvSpPr>
          <p:cNvPr id="9" name="Content Placeholder 1">
            <a:extLst>
              <a:ext uri="{FF2B5EF4-FFF2-40B4-BE49-F238E27FC236}">
                <a16:creationId xmlns:a16="http://schemas.microsoft.com/office/drawing/2014/main" id="{0A5586CE-EB4A-496E-9B62-001E25693E4A}"/>
              </a:ext>
            </a:extLst>
          </p:cNvPr>
          <p:cNvSpPr txBox="1">
            <a:spLocks/>
          </p:cNvSpPr>
          <p:nvPr/>
        </p:nvSpPr>
        <p:spPr>
          <a:xfrm>
            <a:off x="900112" y="1556792"/>
            <a:ext cx="7776344" cy="4895850"/>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a:lnSpc>
                <a:spcPct val="150000"/>
              </a:lnSpc>
              <a:defRPr/>
            </a:pPr>
            <a:r>
              <a:rPr lang="en-US" sz="1800" kern="0" dirty="0">
                <a:ea typeface="Open Sans" panose="020B0606030504020204" pitchFamily="34" charset="0"/>
                <a:cs typeface="Open Sans" panose="020B0606030504020204" pitchFamily="34" charset="0"/>
              </a:rPr>
              <a:t>Read flag should only be set at device which is to respond</a:t>
            </a:r>
          </a:p>
          <a:p>
            <a:pPr>
              <a:lnSpc>
                <a:spcPct val="150000"/>
              </a:lnSpc>
              <a:defRPr/>
            </a:pPr>
            <a:endParaRPr lang="en-US" sz="1200" kern="0" dirty="0">
              <a:ea typeface="Open Sans" panose="020B0606030504020204" pitchFamily="34" charset="0"/>
              <a:cs typeface="Open Sans" panose="020B0606030504020204" pitchFamily="34" charset="0"/>
            </a:endParaRPr>
          </a:p>
          <a:p>
            <a:pPr>
              <a:lnSpc>
                <a:spcPct val="150000"/>
              </a:lnSpc>
              <a:defRPr/>
            </a:pPr>
            <a:r>
              <a:rPr lang="en-US" sz="1800" kern="0" dirty="0">
                <a:solidFill>
                  <a:schemeClr val="bg1">
                    <a:lumMod val="10000"/>
                  </a:schemeClr>
                </a:solidFill>
                <a:ea typeface="Open Sans" panose="020B0606030504020204" pitchFamily="34" charset="0"/>
                <a:cs typeface="Open Sans" panose="020B0606030504020204" pitchFamily="34" charset="0"/>
              </a:rPr>
              <a:t>The read flag is </a:t>
            </a:r>
            <a:r>
              <a:rPr lang="en-US" sz="1800" kern="0" dirty="0">
                <a:ea typeface="Open Sans" panose="020B0606030504020204" pitchFamily="34" charset="0"/>
                <a:cs typeface="Open Sans" panose="020B0606030504020204" pitchFamily="34" charset="0"/>
              </a:rPr>
              <a:t>only set once </a:t>
            </a:r>
            <a:r>
              <a:rPr lang="en-US" sz="1800" kern="0" dirty="0">
                <a:solidFill>
                  <a:schemeClr val="bg1">
                    <a:lumMod val="10000"/>
                  </a:schemeClr>
                </a:solidFill>
                <a:ea typeface="Open Sans" panose="020B0606030504020204" pitchFamily="34" charset="0"/>
                <a:cs typeface="Open Sans" panose="020B0606030504020204" pitchFamily="34" charset="0"/>
              </a:rPr>
              <a:t>for each group address</a:t>
            </a:r>
          </a:p>
          <a:p>
            <a:pPr>
              <a:lnSpc>
                <a:spcPct val="150000"/>
              </a:lnSpc>
              <a:defRPr/>
            </a:pPr>
            <a:endParaRPr lang="en-US" sz="1200" kern="0" dirty="0">
              <a:solidFill>
                <a:schemeClr val="bg1">
                  <a:lumMod val="10000"/>
                </a:schemeClr>
              </a:solidFill>
              <a:ea typeface="Open Sans" panose="020B0606030504020204" pitchFamily="34" charset="0"/>
              <a:cs typeface="Open Sans" panose="020B0606030504020204" pitchFamily="34" charset="0"/>
            </a:endParaRPr>
          </a:p>
          <a:p>
            <a:pPr>
              <a:lnSpc>
                <a:spcPct val="150000"/>
              </a:lnSpc>
              <a:defRPr/>
            </a:pPr>
            <a:r>
              <a:rPr lang="en-US" sz="1800" kern="0" dirty="0">
                <a:solidFill>
                  <a:schemeClr val="bg1">
                    <a:lumMod val="10000"/>
                  </a:schemeClr>
                </a:solidFill>
                <a:ea typeface="Open Sans" panose="020B0606030504020204" pitchFamily="34" charset="0"/>
                <a:cs typeface="Open Sans" panose="020B0606030504020204" pitchFamily="34" charset="0"/>
              </a:rPr>
              <a:t>If the read flag has been set for a group address at several objects, a read request would trigger several response telegrams</a:t>
            </a:r>
          </a:p>
          <a:p>
            <a:pPr>
              <a:lnSpc>
                <a:spcPct val="150000"/>
              </a:lnSpc>
              <a:defRPr/>
            </a:pPr>
            <a:endParaRPr lang="en-US" sz="1200" kern="0" dirty="0">
              <a:ea typeface="Open Sans" panose="020B0606030504020204" pitchFamily="34" charset="0"/>
              <a:cs typeface="Open Sans" panose="020B0606030504020204" pitchFamily="34" charset="0"/>
            </a:endParaRPr>
          </a:p>
          <a:p>
            <a:pPr>
              <a:lnSpc>
                <a:spcPct val="150000"/>
              </a:lnSpc>
              <a:defRPr/>
            </a:pPr>
            <a:r>
              <a:rPr lang="en-US" sz="1800" kern="0" dirty="0">
                <a:ea typeface="Open Sans" panose="020B0606030504020204" pitchFamily="34" charset="0"/>
                <a:cs typeface="Open Sans" panose="020B0606030504020204" pitchFamily="34" charset="0"/>
              </a:rPr>
              <a:t>The group address that is used to read out the object status must be placed at the transmission point of the device that should be read out </a:t>
            </a:r>
            <a:r>
              <a:rPr lang="en-US" sz="1800" kern="0" dirty="0">
                <a:solidFill>
                  <a:schemeClr val="bg1">
                    <a:lumMod val="10000"/>
                  </a:schemeClr>
                </a:solidFill>
                <a:ea typeface="Open Sans" panose="020B0606030504020204" pitchFamily="34" charset="0"/>
                <a:cs typeface="Open Sans" panose="020B0606030504020204" pitchFamily="34" charset="0"/>
              </a:rPr>
              <a:t>as the sending group address is only used as a destination in the response telegram</a:t>
            </a:r>
          </a:p>
        </p:txBody>
      </p:sp>
    </p:spTree>
    <p:extLst>
      <p:ext uri="{BB962C8B-B14F-4D97-AF65-F5344CB8AC3E}">
        <p14:creationId xmlns:p14="http://schemas.microsoft.com/office/powerpoint/2010/main" val="15337740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Special Features of Read Flags</a:t>
            </a:r>
            <a:endParaRPr lang="en-GB" dirty="0"/>
          </a:p>
        </p:txBody>
      </p:sp>
      <p:sp>
        <p:nvSpPr>
          <p:cNvPr id="6" name="Rectangle 5">
            <a:extLst>
              <a:ext uri="{FF2B5EF4-FFF2-40B4-BE49-F238E27FC236}">
                <a16:creationId xmlns:a16="http://schemas.microsoft.com/office/drawing/2014/main" id="{AE51FC98-007C-4865-A3A4-3EBB47F4A8B1}"/>
              </a:ext>
            </a:extLst>
          </p:cNvPr>
          <p:cNvSpPr/>
          <p:nvPr/>
        </p:nvSpPr>
        <p:spPr>
          <a:xfrm>
            <a:off x="911946" y="1554002"/>
            <a:ext cx="7527446" cy="428974"/>
          </a:xfrm>
          <a:prstGeom prst="rect">
            <a:avLst/>
          </a:prstGeom>
        </p:spPr>
        <p:txBody>
          <a:bodyPr/>
          <a:lstStyle/>
          <a:p>
            <a:pPr eaLnBrk="0" hangingPunct="0">
              <a:spcBef>
                <a:spcPct val="20000"/>
              </a:spcBef>
              <a:buClr>
                <a:srgbClr val="369226"/>
              </a:buClr>
            </a:pPr>
            <a:r>
              <a:rPr lang="en-GB" b="1" dirty="0">
                <a:solidFill>
                  <a:srgbClr val="369226"/>
                </a:solidFill>
                <a:latin typeface="+mn-lt"/>
                <a:cs typeface="+mn-cs"/>
              </a:rPr>
              <a:t>Incorrect: </a:t>
            </a:r>
            <a:r>
              <a:rPr lang="en-US" b="1" dirty="0">
                <a:latin typeface="+mn-lt"/>
                <a:cs typeface="+mn-cs"/>
              </a:rPr>
              <a:t>Group 3/1/6 for read request is not the sending address</a:t>
            </a:r>
            <a:endParaRPr lang="en-GB" b="1" dirty="0">
              <a:latin typeface="+mn-lt"/>
              <a:cs typeface="+mn-cs"/>
            </a:endParaRPr>
          </a:p>
        </p:txBody>
      </p:sp>
      <p:pic>
        <p:nvPicPr>
          <p:cNvPr id="5" name="Picture 4">
            <a:extLst>
              <a:ext uri="{FF2B5EF4-FFF2-40B4-BE49-F238E27FC236}">
                <a16:creationId xmlns:a16="http://schemas.microsoft.com/office/drawing/2014/main" id="{F7A3DDF9-9EA7-4117-A233-C8F4027AAE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2299" y="2078734"/>
            <a:ext cx="7457313" cy="1494282"/>
          </a:xfrm>
          <a:prstGeom prst="rect">
            <a:avLst/>
          </a:prstGeom>
          <a:noFill/>
          <a:ln>
            <a:noFill/>
          </a:ln>
        </p:spPr>
      </p:pic>
      <p:pic>
        <p:nvPicPr>
          <p:cNvPr id="7" name="Picture 6">
            <a:extLst>
              <a:ext uri="{FF2B5EF4-FFF2-40B4-BE49-F238E27FC236}">
                <a16:creationId xmlns:a16="http://schemas.microsoft.com/office/drawing/2014/main" id="{E9398811-3D19-488B-AACE-DD8D31D1965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1600" y="4575012"/>
            <a:ext cx="7467791" cy="1446276"/>
          </a:xfrm>
          <a:prstGeom prst="rect">
            <a:avLst/>
          </a:prstGeom>
          <a:noFill/>
          <a:ln>
            <a:noFill/>
          </a:ln>
        </p:spPr>
      </p:pic>
      <p:sp>
        <p:nvSpPr>
          <p:cNvPr id="8" name="Rectangle 7">
            <a:extLst>
              <a:ext uri="{FF2B5EF4-FFF2-40B4-BE49-F238E27FC236}">
                <a16:creationId xmlns:a16="http://schemas.microsoft.com/office/drawing/2014/main" id="{A4692046-0107-4E1E-9A93-A00F971AFD19}"/>
              </a:ext>
            </a:extLst>
          </p:cNvPr>
          <p:cNvSpPr/>
          <p:nvPr/>
        </p:nvSpPr>
        <p:spPr>
          <a:xfrm>
            <a:off x="941660" y="4077072"/>
            <a:ext cx="7878425" cy="428974"/>
          </a:xfrm>
          <a:prstGeom prst="rect">
            <a:avLst/>
          </a:prstGeom>
        </p:spPr>
        <p:txBody>
          <a:bodyPr/>
          <a:lstStyle/>
          <a:p>
            <a:pPr eaLnBrk="0" hangingPunct="0">
              <a:spcBef>
                <a:spcPct val="20000"/>
              </a:spcBef>
              <a:buClr>
                <a:srgbClr val="369226"/>
              </a:buClr>
            </a:pPr>
            <a:r>
              <a:rPr lang="en-GB" b="1" dirty="0">
                <a:solidFill>
                  <a:srgbClr val="369226"/>
                </a:solidFill>
                <a:latin typeface="+mn-lt"/>
                <a:cs typeface="+mn-cs"/>
              </a:rPr>
              <a:t>Correct: </a:t>
            </a:r>
            <a:r>
              <a:rPr lang="en-US" b="1" dirty="0">
                <a:latin typeface="+mn-lt"/>
                <a:cs typeface="+mn-cs"/>
              </a:rPr>
              <a:t>Group 3/1/6 for read request is the sending address</a:t>
            </a:r>
            <a:r>
              <a:rPr lang="en-GB" b="1" dirty="0">
                <a:solidFill>
                  <a:srgbClr val="369226"/>
                </a:solidFill>
                <a:latin typeface="+mn-lt"/>
                <a:cs typeface="+mn-cs"/>
              </a:rPr>
              <a:t> </a:t>
            </a:r>
          </a:p>
        </p:txBody>
      </p:sp>
    </p:spTree>
    <p:extLst>
      <p:ext uri="{BB962C8B-B14F-4D97-AF65-F5344CB8AC3E}">
        <p14:creationId xmlns:p14="http://schemas.microsoft.com/office/powerpoint/2010/main" val="40928611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Update Flag ‘U’</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4983299"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1800" dirty="0">
                <a:solidFill>
                  <a:schemeClr val="tx1"/>
                </a:solidFill>
              </a:rPr>
              <a:t>It </a:t>
            </a:r>
            <a:r>
              <a:rPr lang="en-US" sz="1800" dirty="0"/>
              <a:t>controls</a:t>
            </a:r>
            <a:r>
              <a:rPr lang="en-US" sz="1800" dirty="0">
                <a:solidFill>
                  <a:schemeClr val="tx1"/>
                </a:solidFill>
              </a:rPr>
              <a:t> whether the </a:t>
            </a:r>
            <a:r>
              <a:rPr lang="en-US" sz="1800" dirty="0"/>
              <a:t>received value</a:t>
            </a:r>
            <a:r>
              <a:rPr lang="en-US" sz="1800" dirty="0">
                <a:solidFill>
                  <a:schemeClr val="tx1"/>
                </a:solidFill>
              </a:rPr>
              <a:t> of a response telegrams</a:t>
            </a:r>
            <a:r>
              <a:rPr lang="en-US" sz="1800" dirty="0"/>
              <a:t> should be ignored or transferred</a:t>
            </a:r>
            <a:r>
              <a:rPr lang="en-US" sz="1800" dirty="0">
                <a:solidFill>
                  <a:schemeClr val="tx1"/>
                </a:solidFill>
              </a:rPr>
              <a:t> to the group object</a:t>
            </a:r>
          </a:p>
          <a:p>
            <a:endParaRPr lang="en-US" sz="1800" dirty="0">
              <a:solidFill>
                <a:schemeClr val="tx1"/>
              </a:solidFill>
            </a:endParaRPr>
          </a:p>
          <a:p>
            <a:r>
              <a:rPr lang="en-US" sz="1800" dirty="0">
                <a:solidFill>
                  <a:schemeClr val="tx1"/>
                </a:solidFill>
              </a:rPr>
              <a:t>If it is set, </a:t>
            </a:r>
            <a:r>
              <a:rPr lang="en-US" sz="1800" dirty="0"/>
              <a:t>a response telegram </a:t>
            </a:r>
            <a:r>
              <a:rPr lang="en-US" sz="1800" dirty="0">
                <a:solidFill>
                  <a:schemeClr val="tx1"/>
                </a:solidFill>
              </a:rPr>
              <a:t>of a read </a:t>
            </a:r>
            <a:r>
              <a:rPr lang="en-US" sz="1800" dirty="0"/>
              <a:t>is interpreted as a write </a:t>
            </a:r>
            <a:r>
              <a:rPr lang="en-US" sz="1800" dirty="0">
                <a:solidFill>
                  <a:schemeClr val="tx1"/>
                </a:solidFill>
              </a:rPr>
              <a:t>telegram.  If it is deleted, response telegrams are ignored</a:t>
            </a:r>
          </a:p>
          <a:p>
            <a:endParaRPr lang="en-US" sz="1800" dirty="0">
              <a:solidFill>
                <a:schemeClr val="tx1"/>
              </a:solidFill>
            </a:endParaRPr>
          </a:p>
          <a:p>
            <a:r>
              <a:rPr lang="en-US" sz="1800" dirty="0">
                <a:solidFill>
                  <a:schemeClr val="tx1"/>
                </a:solidFill>
              </a:rPr>
              <a:t>It can only be deleted from system 2 bus couplers. It is always set for system 1 bus couplers </a:t>
            </a:r>
          </a:p>
          <a:p>
            <a:endParaRPr lang="en-US" sz="1800" dirty="0">
              <a:solidFill>
                <a:schemeClr val="tx1"/>
              </a:solidFill>
            </a:endParaRPr>
          </a:p>
          <a:p>
            <a:r>
              <a:rPr lang="en-US" sz="1800" dirty="0">
                <a:solidFill>
                  <a:schemeClr val="tx1"/>
                </a:solidFill>
              </a:rPr>
              <a:t>Devices with BCU1 always change their object status as a result of read/response sequences!</a:t>
            </a:r>
          </a:p>
          <a:p>
            <a:endParaRPr lang="en-US" sz="1800" kern="0" dirty="0"/>
          </a:p>
          <a:p>
            <a:pPr marL="0" indent="0">
              <a:buNone/>
            </a:pPr>
            <a:endParaRPr lang="en-US" sz="1800" kern="0" dirty="0"/>
          </a:p>
        </p:txBody>
      </p:sp>
      <p:pic>
        <p:nvPicPr>
          <p:cNvPr id="5" name="Picture 4">
            <a:extLst>
              <a:ext uri="{FF2B5EF4-FFF2-40B4-BE49-F238E27FC236}">
                <a16:creationId xmlns:a16="http://schemas.microsoft.com/office/drawing/2014/main" id="{E69DF900-090D-49C7-B191-0F4FD03F900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014405" y="1628800"/>
            <a:ext cx="2731765" cy="3959585"/>
          </a:xfrm>
          <a:prstGeom prst="rect">
            <a:avLst/>
          </a:prstGeom>
          <a:noFill/>
          <a:ln>
            <a:noFill/>
          </a:ln>
        </p:spPr>
      </p:pic>
    </p:spTree>
    <p:extLst>
      <p:ext uri="{BB962C8B-B14F-4D97-AF65-F5344CB8AC3E}">
        <p14:creationId xmlns:p14="http://schemas.microsoft.com/office/powerpoint/2010/main" val="39354272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6768231" cy="719138"/>
          </a:xfrm>
        </p:spPr>
        <p:txBody>
          <a:bodyPr/>
          <a:lstStyle/>
          <a:p>
            <a:r>
              <a:rPr lang="en-US" dirty="0"/>
              <a:t>Example of the Interaction of Read and Update Flag </a:t>
            </a:r>
            <a:endParaRPr lang="en-GB" dirty="0"/>
          </a:p>
        </p:txBody>
      </p:sp>
      <p:pic>
        <p:nvPicPr>
          <p:cNvPr id="7" name="Picture 6">
            <a:extLst>
              <a:ext uri="{FF2B5EF4-FFF2-40B4-BE49-F238E27FC236}">
                <a16:creationId xmlns:a16="http://schemas.microsoft.com/office/drawing/2014/main" id="{31745515-E58A-4B1B-8BA1-7C35E1C96F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0288" y="1974918"/>
            <a:ext cx="7468362" cy="493776"/>
          </a:xfrm>
          <a:prstGeom prst="rect">
            <a:avLst/>
          </a:prstGeom>
          <a:noFill/>
          <a:ln>
            <a:noFill/>
          </a:ln>
        </p:spPr>
      </p:pic>
      <p:pic>
        <p:nvPicPr>
          <p:cNvPr id="8" name="Picture 7">
            <a:extLst>
              <a:ext uri="{FF2B5EF4-FFF2-40B4-BE49-F238E27FC236}">
                <a16:creationId xmlns:a16="http://schemas.microsoft.com/office/drawing/2014/main" id="{67280263-CBD3-46F0-91CA-179CD0DEFAB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70288" y="3285134"/>
            <a:ext cx="7515225" cy="500063"/>
          </a:xfrm>
          <a:prstGeom prst="rect">
            <a:avLst/>
          </a:prstGeom>
          <a:noFill/>
          <a:ln>
            <a:noFill/>
          </a:ln>
        </p:spPr>
      </p:pic>
      <p:pic>
        <p:nvPicPr>
          <p:cNvPr id="2" name="Picture 1">
            <a:extLst>
              <a:ext uri="{FF2B5EF4-FFF2-40B4-BE49-F238E27FC236}">
                <a16:creationId xmlns:a16="http://schemas.microsoft.com/office/drawing/2014/main" id="{EA6EFFBF-4400-4348-8822-53DAF79BB328}"/>
              </a:ext>
            </a:extLst>
          </p:cNvPr>
          <p:cNvPicPr>
            <a:picLocks noChangeAspect="1"/>
          </p:cNvPicPr>
          <p:nvPr/>
        </p:nvPicPr>
        <p:blipFill>
          <a:blip r:embed="rId5"/>
          <a:stretch>
            <a:fillRect/>
          </a:stretch>
        </p:blipFill>
        <p:spPr>
          <a:xfrm>
            <a:off x="870288" y="4404096"/>
            <a:ext cx="7483123" cy="825104"/>
          </a:xfrm>
          <a:prstGeom prst="rect">
            <a:avLst/>
          </a:prstGeom>
        </p:spPr>
      </p:pic>
      <p:sp>
        <p:nvSpPr>
          <p:cNvPr id="9" name="Rectangle 8">
            <a:extLst>
              <a:ext uri="{FF2B5EF4-FFF2-40B4-BE49-F238E27FC236}">
                <a16:creationId xmlns:a16="http://schemas.microsoft.com/office/drawing/2014/main" id="{8F19F263-45A5-4021-AB00-8EB608E50BC7}"/>
              </a:ext>
            </a:extLst>
          </p:cNvPr>
          <p:cNvSpPr/>
          <p:nvPr/>
        </p:nvSpPr>
        <p:spPr>
          <a:xfrm>
            <a:off x="903600" y="1609270"/>
            <a:ext cx="7515225" cy="338554"/>
          </a:xfrm>
          <a:prstGeom prst="rect">
            <a:avLst/>
          </a:prstGeom>
        </p:spPr>
        <p:txBody>
          <a:bodyPr wrap="square">
            <a:spAutoFit/>
          </a:bodyPr>
          <a:lstStyle/>
          <a:p>
            <a:r>
              <a:rPr lang="en-GB" sz="1600" b="1" dirty="0"/>
              <a:t>Group content: 1/0/1 – First floor lighting in living room ON/OFF</a:t>
            </a:r>
            <a:endParaRPr lang="es-ES" sz="1600" b="1" dirty="0"/>
          </a:p>
        </p:txBody>
      </p:sp>
      <p:sp>
        <p:nvSpPr>
          <p:cNvPr id="10" name="Rectangle 9">
            <a:extLst>
              <a:ext uri="{FF2B5EF4-FFF2-40B4-BE49-F238E27FC236}">
                <a16:creationId xmlns:a16="http://schemas.microsoft.com/office/drawing/2014/main" id="{3BB5B0AF-6AEB-49F5-B33A-908014D66CDF}"/>
              </a:ext>
            </a:extLst>
          </p:cNvPr>
          <p:cNvSpPr/>
          <p:nvPr/>
        </p:nvSpPr>
        <p:spPr>
          <a:xfrm>
            <a:off x="903600" y="2827368"/>
            <a:ext cx="7468362" cy="338554"/>
          </a:xfrm>
          <a:prstGeom prst="rect">
            <a:avLst/>
          </a:prstGeom>
        </p:spPr>
        <p:txBody>
          <a:bodyPr wrap="square">
            <a:spAutoFit/>
          </a:bodyPr>
          <a:lstStyle/>
          <a:p>
            <a:r>
              <a:rPr lang="en-GB" sz="1600" b="1" dirty="0"/>
              <a:t>Group content: 1/1/2 – First floor lighting in staircase ON/OFF </a:t>
            </a:r>
            <a:endParaRPr lang="es-ES" sz="1600" b="1" dirty="0"/>
          </a:p>
        </p:txBody>
      </p:sp>
      <p:sp>
        <p:nvSpPr>
          <p:cNvPr id="11" name="Rectangle 10">
            <a:extLst>
              <a:ext uri="{FF2B5EF4-FFF2-40B4-BE49-F238E27FC236}">
                <a16:creationId xmlns:a16="http://schemas.microsoft.com/office/drawing/2014/main" id="{8B8AAE23-0F24-4883-9B6E-00E203078DB7}"/>
              </a:ext>
            </a:extLst>
          </p:cNvPr>
          <p:cNvSpPr/>
          <p:nvPr/>
        </p:nvSpPr>
        <p:spPr>
          <a:xfrm>
            <a:off x="903600" y="4048361"/>
            <a:ext cx="7483122" cy="338554"/>
          </a:xfrm>
          <a:prstGeom prst="rect">
            <a:avLst/>
          </a:prstGeom>
        </p:spPr>
        <p:txBody>
          <a:bodyPr wrap="square">
            <a:spAutoFit/>
          </a:bodyPr>
          <a:lstStyle/>
          <a:p>
            <a:r>
              <a:rPr lang="en-GB" sz="1600" b="1" dirty="0"/>
              <a:t>Group content: 0/0/1 – Central functions lighting all ON/OFF </a:t>
            </a:r>
            <a:endParaRPr lang="es-ES" sz="1600" b="1" dirty="0"/>
          </a:p>
        </p:txBody>
      </p:sp>
      <p:sp>
        <p:nvSpPr>
          <p:cNvPr id="12" name="Rectangle 11">
            <a:extLst>
              <a:ext uri="{FF2B5EF4-FFF2-40B4-BE49-F238E27FC236}">
                <a16:creationId xmlns:a16="http://schemas.microsoft.com/office/drawing/2014/main" id="{A050179B-E3CB-4D88-B06B-5E3087CAE828}"/>
              </a:ext>
            </a:extLst>
          </p:cNvPr>
          <p:cNvSpPr/>
          <p:nvPr/>
        </p:nvSpPr>
        <p:spPr>
          <a:xfrm>
            <a:off x="903600" y="5589240"/>
            <a:ext cx="7614623" cy="646331"/>
          </a:xfrm>
          <a:prstGeom prst="rect">
            <a:avLst/>
          </a:prstGeom>
        </p:spPr>
        <p:txBody>
          <a:bodyPr wrap="square">
            <a:spAutoFit/>
          </a:bodyPr>
          <a:lstStyle/>
          <a:p>
            <a:r>
              <a:rPr lang="en-GB" b="1" dirty="0">
                <a:solidFill>
                  <a:srgbClr val="369226"/>
                </a:solidFill>
              </a:rPr>
              <a:t>If the configuration is incorrect, read requests can trigger (unintentional) switching actions!</a:t>
            </a:r>
            <a:endParaRPr lang="es-ES" dirty="0">
              <a:solidFill>
                <a:srgbClr val="369226"/>
              </a:solidFill>
            </a:endParaRPr>
          </a:p>
        </p:txBody>
      </p:sp>
    </p:spTree>
    <p:extLst>
      <p:ext uri="{BB962C8B-B14F-4D97-AF65-F5344CB8AC3E}">
        <p14:creationId xmlns:p14="http://schemas.microsoft.com/office/powerpoint/2010/main" val="41262213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The Read on Init Flag ‘I’</a:t>
            </a:r>
          </a:p>
        </p:txBody>
      </p:sp>
      <p:sp>
        <p:nvSpPr>
          <p:cNvPr id="12" name="Content Placeholder 1">
            <a:extLst>
              <a:ext uri="{FF2B5EF4-FFF2-40B4-BE49-F238E27FC236}">
                <a16:creationId xmlns:a16="http://schemas.microsoft.com/office/drawing/2014/main" id="{A18FBEB3-16D3-4B44-824A-478C8D80107F}"/>
              </a:ext>
            </a:extLst>
          </p:cNvPr>
          <p:cNvSpPr txBox="1">
            <a:spLocks/>
          </p:cNvSpPr>
          <p:nvPr/>
        </p:nvSpPr>
        <p:spPr>
          <a:xfrm>
            <a:off x="900112" y="1557313"/>
            <a:ext cx="5184056" cy="4824437"/>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GB" sz="1800" dirty="0">
                <a:solidFill>
                  <a:schemeClr val="tx1"/>
                </a:solidFill>
                <a:latin typeface="Arial" charset="0"/>
              </a:rPr>
              <a:t>Available for system B devices with mask versions $07B0 and $17B0</a:t>
            </a:r>
            <a:endParaRPr lang="es-ES" sz="1800" dirty="0">
              <a:solidFill>
                <a:schemeClr val="tx1"/>
              </a:solidFill>
              <a:latin typeface="Arial" charset="0"/>
            </a:endParaRPr>
          </a:p>
          <a:p>
            <a:endParaRPr lang="es-ES" sz="1800" dirty="0">
              <a:solidFill>
                <a:schemeClr val="tx1"/>
              </a:solidFill>
              <a:latin typeface="Arial" charset="0"/>
            </a:endParaRPr>
          </a:p>
          <a:p>
            <a:r>
              <a:rPr lang="en-GB" sz="1800" dirty="0">
                <a:solidFill>
                  <a:schemeClr val="tx1"/>
                </a:solidFill>
                <a:latin typeface="Arial" charset="0"/>
              </a:rPr>
              <a:t>If it is set for one or more group objects, the device </a:t>
            </a:r>
            <a:r>
              <a:rPr lang="en-GB" sz="1800" dirty="0">
                <a:latin typeface="Arial" charset="0"/>
              </a:rPr>
              <a:t>automatically triggers read </a:t>
            </a:r>
            <a:r>
              <a:rPr lang="en-GB" sz="1800" dirty="0">
                <a:solidFill>
                  <a:schemeClr val="tx1"/>
                </a:solidFill>
                <a:latin typeface="Arial" charset="0"/>
              </a:rPr>
              <a:t>telegrams to the sending group addresses</a:t>
            </a:r>
            <a:r>
              <a:rPr lang="en-GB" sz="1800" dirty="0">
                <a:latin typeface="Arial" charset="0"/>
              </a:rPr>
              <a:t> after bus voltage failure and recovery</a:t>
            </a:r>
            <a:endParaRPr lang="es-ES" sz="1800" dirty="0">
              <a:solidFill>
                <a:schemeClr val="tx1"/>
              </a:solidFill>
              <a:latin typeface="Arial" charset="0"/>
            </a:endParaRPr>
          </a:p>
          <a:p>
            <a:endParaRPr lang="es-ES" sz="1800" dirty="0">
              <a:solidFill>
                <a:schemeClr val="tx1"/>
              </a:solidFill>
              <a:latin typeface="Arial" charset="0"/>
            </a:endParaRPr>
          </a:p>
          <a:p>
            <a:r>
              <a:rPr lang="en-GB" sz="1800" dirty="0">
                <a:latin typeface="Arial" charset="0"/>
              </a:rPr>
              <a:t>Not set by default </a:t>
            </a:r>
            <a:r>
              <a:rPr lang="en-GB" sz="1800" dirty="0">
                <a:solidFill>
                  <a:schemeClr val="tx1"/>
                </a:solidFill>
                <a:latin typeface="Arial" charset="0"/>
              </a:rPr>
              <a:t>in most cases</a:t>
            </a:r>
            <a:endParaRPr lang="es-ES" sz="1800" dirty="0">
              <a:solidFill>
                <a:schemeClr val="tx1"/>
              </a:solidFill>
              <a:latin typeface="Arial" charset="0"/>
            </a:endParaRPr>
          </a:p>
          <a:p>
            <a:endParaRPr lang="es-ES" sz="1800" dirty="0">
              <a:solidFill>
                <a:schemeClr val="tx1"/>
              </a:solidFill>
              <a:latin typeface="Arial" charset="0"/>
            </a:endParaRPr>
          </a:p>
          <a:p>
            <a:r>
              <a:rPr lang="en-GB" sz="1800" dirty="0">
                <a:solidFill>
                  <a:schemeClr val="tx1"/>
                </a:solidFill>
                <a:latin typeface="Arial" charset="0"/>
              </a:rPr>
              <a:t>Usually, a delay can be set in the parameters for triggering read telegrams. The delays should be set carefully to avoid a high bus load after bus voltage recovery</a:t>
            </a:r>
            <a:endParaRPr lang="es-ES" sz="1800" dirty="0">
              <a:solidFill>
                <a:schemeClr val="tx1"/>
              </a:solidFill>
              <a:latin typeface="Arial" charset="0"/>
            </a:endParaRPr>
          </a:p>
          <a:p>
            <a:endParaRPr lang="en-US" sz="1800" kern="0" dirty="0"/>
          </a:p>
          <a:p>
            <a:pPr marL="0" indent="0">
              <a:buNone/>
            </a:pPr>
            <a:endParaRPr lang="en-US" sz="1800" kern="0" dirty="0"/>
          </a:p>
        </p:txBody>
      </p:sp>
      <p:pic>
        <p:nvPicPr>
          <p:cNvPr id="6" name="Picture 5">
            <a:extLst>
              <a:ext uri="{FF2B5EF4-FFF2-40B4-BE49-F238E27FC236}">
                <a16:creationId xmlns:a16="http://schemas.microsoft.com/office/drawing/2014/main" id="{49440179-0CFC-4142-A998-53303D09603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67120" y="1559560"/>
            <a:ext cx="2426335" cy="3738880"/>
          </a:xfrm>
          <a:prstGeom prst="rect">
            <a:avLst/>
          </a:prstGeom>
          <a:noFill/>
          <a:ln>
            <a:noFill/>
          </a:ln>
        </p:spPr>
      </p:pic>
    </p:spTree>
    <p:extLst>
      <p:ext uri="{BB962C8B-B14F-4D97-AF65-F5344CB8AC3E}">
        <p14:creationId xmlns:p14="http://schemas.microsoft.com/office/powerpoint/2010/main" val="37932861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7239</TotalTime>
  <Words>12830</Words>
  <Application>Microsoft Office PowerPoint</Application>
  <PresentationFormat>On-screen Show (4:3)</PresentationFormat>
  <Paragraphs>1013</Paragraphs>
  <Slides>62</Slides>
  <Notes>62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9" baseType="lpstr">
      <vt:lpstr>Arial</vt:lpstr>
      <vt:lpstr>Calibri</vt:lpstr>
      <vt:lpstr>Gotham Light</vt:lpstr>
      <vt:lpstr>Gotham Medium</vt:lpstr>
      <vt:lpstr>Wingdings</vt:lpstr>
      <vt:lpstr>Training 2</vt:lpstr>
      <vt:lpstr>Microsoft Visio Drawing</vt:lpstr>
      <vt:lpstr>KNX Advanced Course Informative Appendix</vt:lpstr>
      <vt:lpstr>Basic Principles</vt:lpstr>
      <vt:lpstr>Basic Principles</vt:lpstr>
      <vt:lpstr>KNX and Intruder Alarm Technology</vt:lpstr>
      <vt:lpstr>Structure of a VdS Alarm System</vt:lpstr>
      <vt:lpstr>KNX Alarm Control Unit</vt:lpstr>
      <vt:lpstr>VdS-certified KNX Alarm Control Unit</vt:lpstr>
      <vt:lpstr>Monitoring Functions with KNX</vt:lpstr>
      <vt:lpstr>Installation and Topology</vt:lpstr>
      <vt:lpstr>Project design: Example</vt:lpstr>
      <vt:lpstr>Project design: Example</vt:lpstr>
      <vt:lpstr>Power Supply</vt:lpstr>
      <vt:lpstr>Binary Input</vt:lpstr>
      <vt:lpstr>Binary Input</vt:lpstr>
      <vt:lpstr>Binary Output</vt:lpstr>
      <vt:lpstr>Sensors</vt:lpstr>
      <vt:lpstr>KNX Zone Terminal</vt:lpstr>
      <vt:lpstr>KNX Zone Terminal</vt:lpstr>
      <vt:lpstr>PowerPoint Presentation</vt:lpstr>
      <vt:lpstr>Sensors</vt:lpstr>
      <vt:lpstr>Sensors by physical principles</vt:lpstr>
      <vt:lpstr>Intruder alarm control unit</vt:lpstr>
      <vt:lpstr>Alarm</vt:lpstr>
      <vt:lpstr>Setting / Arming Device</vt:lpstr>
      <vt:lpstr>Setting / Arming Device</vt:lpstr>
      <vt:lpstr>Panic Alarms</vt:lpstr>
      <vt:lpstr>Opening Surveillance, Lock Monitoring</vt:lpstr>
      <vt:lpstr>Magnet reed contact types</vt:lpstr>
      <vt:lpstr>Magnet reed contact types</vt:lpstr>
      <vt:lpstr>Magnet reed contact types</vt:lpstr>
      <vt:lpstr>Peripheral Protection, Surface Surveillance</vt:lpstr>
      <vt:lpstr>Interior Surveillance</vt:lpstr>
      <vt:lpstr>Interior Surveillance Detectors</vt:lpstr>
      <vt:lpstr>Interior Surveillance Detectors</vt:lpstr>
      <vt:lpstr>Interior Surveillance Detectors</vt:lpstr>
      <vt:lpstr>Interior Surveillance Detectors</vt:lpstr>
      <vt:lpstr>Interior Surveillance Detectors</vt:lpstr>
      <vt:lpstr>Tamper Monitoring</vt:lpstr>
      <vt:lpstr>Groups : Zones</vt:lpstr>
      <vt:lpstr>Zones: Secondary circuits</vt:lpstr>
      <vt:lpstr>Zones: Primary circuits</vt:lpstr>
      <vt:lpstr>Sabotage zones</vt:lpstr>
      <vt:lpstr>Lock Zones </vt:lpstr>
      <vt:lpstr>Set Zone</vt:lpstr>
      <vt:lpstr>Panic Zone</vt:lpstr>
      <vt:lpstr>External Local Alarm Signal</vt:lpstr>
      <vt:lpstr>Internal Local Alarm Signal </vt:lpstr>
      <vt:lpstr>Flags</vt:lpstr>
      <vt:lpstr>Setting the Flags</vt:lpstr>
      <vt:lpstr>Setting the Flags</vt:lpstr>
      <vt:lpstr>The Communication Flag ‘C’</vt:lpstr>
      <vt:lpstr>Example of a Communication Flag</vt:lpstr>
      <vt:lpstr>The Write Flag ‘W’</vt:lpstr>
      <vt:lpstr>The Transmit Flag ‘T’</vt:lpstr>
      <vt:lpstr>Example of a Transmit Flag</vt:lpstr>
      <vt:lpstr>The Read Flag ‘R’</vt:lpstr>
      <vt:lpstr>Principle Sequence of a Read Request </vt:lpstr>
      <vt:lpstr>Special Features of Read Flags</vt:lpstr>
      <vt:lpstr>Special Features of Read Flags</vt:lpstr>
      <vt:lpstr>The Update Flag ‘U’</vt:lpstr>
      <vt:lpstr>Example of the Interaction of Read and Update Flag </vt:lpstr>
      <vt:lpstr>The Read on Init Flag ‘I’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346</cp:revision>
  <dcterms:created xsi:type="dcterms:W3CDTF">2012-09-10T07:59:43Z</dcterms:created>
  <dcterms:modified xsi:type="dcterms:W3CDTF">2023-04-06T14:08:02Z</dcterms:modified>
</cp:coreProperties>
</file>