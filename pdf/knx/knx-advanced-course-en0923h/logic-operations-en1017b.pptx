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82" r:id="rId1"/>
  </p:sldMasterIdLst>
  <p:notesMasterIdLst>
    <p:notesMasterId r:id="rId47"/>
  </p:notesMasterIdLst>
  <p:handoutMasterIdLst>
    <p:handoutMasterId r:id="rId48"/>
  </p:handoutMasterIdLst>
  <p:sldIdLst>
    <p:sldId id="256" r:id="rId2"/>
    <p:sldId id="308" r:id="rId3"/>
    <p:sldId id="309" r:id="rId4"/>
    <p:sldId id="310" r:id="rId5"/>
    <p:sldId id="286" r:id="rId6"/>
    <p:sldId id="287" r:id="rId7"/>
    <p:sldId id="290" r:id="rId8"/>
    <p:sldId id="291" r:id="rId9"/>
    <p:sldId id="293" r:id="rId10"/>
    <p:sldId id="292" r:id="rId11"/>
    <p:sldId id="294" r:id="rId12"/>
    <p:sldId id="289" r:id="rId13"/>
    <p:sldId id="295" r:id="rId14"/>
    <p:sldId id="296" r:id="rId15"/>
    <p:sldId id="297" r:id="rId16"/>
    <p:sldId id="298" r:id="rId17"/>
    <p:sldId id="314" r:id="rId18"/>
    <p:sldId id="299" r:id="rId19"/>
    <p:sldId id="318" r:id="rId20"/>
    <p:sldId id="321" r:id="rId21"/>
    <p:sldId id="327" r:id="rId22"/>
    <p:sldId id="328" r:id="rId23"/>
    <p:sldId id="326" r:id="rId24"/>
    <p:sldId id="319" r:id="rId25"/>
    <p:sldId id="320" r:id="rId26"/>
    <p:sldId id="329" r:id="rId27"/>
    <p:sldId id="300" r:id="rId28"/>
    <p:sldId id="330" r:id="rId29"/>
    <p:sldId id="331" r:id="rId30"/>
    <p:sldId id="301" r:id="rId31"/>
    <p:sldId id="302" r:id="rId32"/>
    <p:sldId id="303" r:id="rId33"/>
    <p:sldId id="304" r:id="rId34"/>
    <p:sldId id="315" r:id="rId35"/>
    <p:sldId id="305" r:id="rId36"/>
    <p:sldId id="316" r:id="rId37"/>
    <p:sldId id="317" r:id="rId38"/>
    <p:sldId id="332" r:id="rId39"/>
    <p:sldId id="333" r:id="rId40"/>
    <p:sldId id="334" r:id="rId41"/>
    <p:sldId id="335" r:id="rId42"/>
    <p:sldId id="336" r:id="rId43"/>
    <p:sldId id="311" r:id="rId44"/>
    <p:sldId id="312" r:id="rId45"/>
    <p:sldId id="313" r:id="rId46"/>
  </p:sldIdLst>
  <p:sldSz cx="9144000" cy="6858000" type="screen4x3"/>
  <p:notesSz cx="6858000" cy="9144000"/>
  <p:custDataLst>
    <p:tags r:id="rId49"/>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9226"/>
    <a:srgbClr val="0C4BAF"/>
    <a:srgbClr val="D6E3BC"/>
    <a:srgbClr val="B4CAFA"/>
    <a:srgbClr val="AFEAFF"/>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CB6BCE-CFF7-469F-AABE-282CE60C0D3F}" v="1" dt="2023-04-06T13:03:57.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55" autoAdjust="0"/>
    <p:restoredTop sz="72829" autoAdjust="0"/>
  </p:normalViewPr>
  <p:slideViewPr>
    <p:cSldViewPr>
      <p:cViewPr varScale="1">
        <p:scale>
          <a:sx n="66" d="100"/>
          <a:sy n="66" d="100"/>
        </p:scale>
        <p:origin x="1858" y="45"/>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B0DF57DB-BE44-48D9-A5E9-05DDE94F5005}"/>
    <pc:docChg chg="custSel modSld modMainMaster">
      <pc:chgData name="Ufuk Unal" userId="d77f72b3-53d7-4cb7-8425-5a8f29447216" providerId="ADAL" clId="{B0DF57DB-BE44-48D9-A5E9-05DDE94F5005}" dt="2023-03-14T10:09:21.256" v="54" actId="6549"/>
      <pc:docMkLst>
        <pc:docMk/>
      </pc:docMkLst>
      <pc:sldChg chg="delSp modSp mod">
        <pc:chgData name="Ufuk Unal" userId="d77f72b3-53d7-4cb7-8425-5a8f29447216" providerId="ADAL" clId="{B0DF57DB-BE44-48D9-A5E9-05DDE94F5005}" dt="2023-03-14T09:40:49.424" v="2" actId="20577"/>
        <pc:sldMkLst>
          <pc:docMk/>
          <pc:sldMk cId="2459807384" sldId="256"/>
        </pc:sldMkLst>
        <pc:spChg chg="del">
          <ac:chgData name="Ufuk Unal" userId="d77f72b3-53d7-4cb7-8425-5a8f29447216" providerId="ADAL" clId="{B0DF57DB-BE44-48D9-A5E9-05DDE94F5005}" dt="2023-03-14T09:40:47.278" v="0" actId="478"/>
          <ac:spMkLst>
            <pc:docMk/>
            <pc:sldMk cId="2459807384" sldId="256"/>
            <ac:spMk id="5" creationId="{1D73F070-14E5-431D-9BB5-D0DFC46463AA}"/>
          </ac:spMkLst>
        </pc:spChg>
        <pc:spChg chg="mod">
          <ac:chgData name="Ufuk Unal" userId="d77f72b3-53d7-4cb7-8425-5a8f29447216" providerId="ADAL" clId="{B0DF57DB-BE44-48D9-A5E9-05DDE94F5005}" dt="2023-03-14T09:40:49.424" v="2" actId="20577"/>
          <ac:spMkLst>
            <pc:docMk/>
            <pc:sldMk cId="2459807384" sldId="256"/>
            <ac:spMk id="6" creationId="{36891D17-0544-4779-B232-7495C4C552DF}"/>
          </ac:spMkLst>
        </pc:spChg>
      </pc:sldChg>
      <pc:sldChg chg="modNotesTx">
        <pc:chgData name="Ufuk Unal" userId="d77f72b3-53d7-4cb7-8425-5a8f29447216" providerId="ADAL" clId="{B0DF57DB-BE44-48D9-A5E9-05DDE94F5005}" dt="2023-03-14T09:41:48.685" v="4" actId="6549"/>
        <pc:sldMkLst>
          <pc:docMk/>
          <pc:sldMk cId="3311703480" sldId="325"/>
        </pc:sldMkLst>
      </pc:sldChg>
      <pc:sldChg chg="modNotesTx">
        <pc:chgData name="Ufuk Unal" userId="d77f72b3-53d7-4cb7-8425-5a8f29447216" providerId="ADAL" clId="{B0DF57DB-BE44-48D9-A5E9-05DDE94F5005}" dt="2023-03-14T10:07:00.303" v="45" actId="6549"/>
        <pc:sldMkLst>
          <pc:docMk/>
          <pc:sldMk cId="3673250314" sldId="326"/>
        </pc:sldMkLst>
      </pc:sldChg>
      <pc:sldChg chg="modNotesTx">
        <pc:chgData name="Ufuk Unal" userId="d77f72b3-53d7-4cb7-8425-5a8f29447216" providerId="ADAL" clId="{B0DF57DB-BE44-48D9-A5E9-05DDE94F5005}" dt="2023-03-14T10:08:53.084" v="50" actId="6549"/>
        <pc:sldMkLst>
          <pc:docMk/>
          <pc:sldMk cId="2503827922" sldId="327"/>
        </pc:sldMkLst>
      </pc:sldChg>
      <pc:sldChg chg="modNotesTx">
        <pc:chgData name="Ufuk Unal" userId="d77f72b3-53d7-4cb7-8425-5a8f29447216" providerId="ADAL" clId="{B0DF57DB-BE44-48D9-A5E9-05DDE94F5005}" dt="2023-03-14T10:08:58.409" v="51" actId="6549"/>
        <pc:sldMkLst>
          <pc:docMk/>
          <pc:sldMk cId="4063430119" sldId="328"/>
        </pc:sldMkLst>
      </pc:sldChg>
      <pc:sldChg chg="modNotesTx">
        <pc:chgData name="Ufuk Unal" userId="d77f72b3-53d7-4cb7-8425-5a8f29447216" providerId="ADAL" clId="{B0DF57DB-BE44-48D9-A5E9-05DDE94F5005}" dt="2023-03-14T10:09:07.868" v="53" actId="6549"/>
        <pc:sldMkLst>
          <pc:docMk/>
          <pc:sldMk cId="1976804067" sldId="329"/>
        </pc:sldMkLst>
      </pc:sldChg>
      <pc:sldChg chg="modSp mod modNotesTx">
        <pc:chgData name="Ufuk Unal" userId="d77f72b3-53d7-4cb7-8425-5a8f29447216" providerId="ADAL" clId="{B0DF57DB-BE44-48D9-A5E9-05DDE94F5005}" dt="2023-03-14T09:42:40.900" v="18" actId="20577"/>
        <pc:sldMkLst>
          <pc:docMk/>
          <pc:sldMk cId="1374603204" sldId="341"/>
        </pc:sldMkLst>
        <pc:spChg chg="mod">
          <ac:chgData name="Ufuk Unal" userId="d77f72b3-53d7-4cb7-8425-5a8f29447216" providerId="ADAL" clId="{B0DF57DB-BE44-48D9-A5E9-05DDE94F5005}" dt="2023-03-14T09:42:40.900" v="18" actId="20577"/>
          <ac:spMkLst>
            <pc:docMk/>
            <pc:sldMk cId="1374603204" sldId="341"/>
            <ac:spMk id="8" creationId="{9F2C7172-BF0D-4756-AB0D-E9B70C83CC4C}"/>
          </ac:spMkLst>
        </pc:spChg>
      </pc:sldChg>
      <pc:sldChg chg="modNotesTx">
        <pc:chgData name="Ufuk Unal" userId="d77f72b3-53d7-4cb7-8425-5a8f29447216" providerId="ADAL" clId="{B0DF57DB-BE44-48D9-A5E9-05DDE94F5005}" dt="2023-03-14T09:43:14.588" v="19" actId="6549"/>
        <pc:sldMkLst>
          <pc:docMk/>
          <pc:sldMk cId="1994260570" sldId="342"/>
        </pc:sldMkLst>
      </pc:sldChg>
      <pc:sldChg chg="modNotesTx">
        <pc:chgData name="Ufuk Unal" userId="d77f72b3-53d7-4cb7-8425-5a8f29447216" providerId="ADAL" clId="{B0DF57DB-BE44-48D9-A5E9-05DDE94F5005}" dt="2023-03-14T09:43:33.699" v="20" actId="6549"/>
        <pc:sldMkLst>
          <pc:docMk/>
          <pc:sldMk cId="2416504450" sldId="343"/>
        </pc:sldMkLst>
      </pc:sldChg>
      <pc:sldChg chg="modSp mod modNotesTx">
        <pc:chgData name="Ufuk Unal" userId="d77f72b3-53d7-4cb7-8425-5a8f29447216" providerId="ADAL" clId="{B0DF57DB-BE44-48D9-A5E9-05DDE94F5005}" dt="2023-03-14T09:44:48.693" v="25" actId="20577"/>
        <pc:sldMkLst>
          <pc:docMk/>
          <pc:sldMk cId="2684641891" sldId="344"/>
        </pc:sldMkLst>
        <pc:spChg chg="mod">
          <ac:chgData name="Ufuk Unal" userId="d77f72b3-53d7-4cb7-8425-5a8f29447216" providerId="ADAL" clId="{B0DF57DB-BE44-48D9-A5E9-05DDE94F5005}" dt="2023-03-14T09:44:48.693" v="25" actId="20577"/>
          <ac:spMkLst>
            <pc:docMk/>
            <pc:sldMk cId="2684641891" sldId="344"/>
            <ac:spMk id="9" creationId="{0A5586CE-EB4A-496E-9B62-001E25693E4A}"/>
          </ac:spMkLst>
        </pc:spChg>
      </pc:sldChg>
      <pc:sldChg chg="modNotesTx">
        <pc:chgData name="Ufuk Unal" userId="d77f72b3-53d7-4cb7-8425-5a8f29447216" providerId="ADAL" clId="{B0DF57DB-BE44-48D9-A5E9-05DDE94F5005}" dt="2023-03-14T09:46:02.188" v="30" actId="6549"/>
        <pc:sldMkLst>
          <pc:docMk/>
          <pc:sldMk cId="1396881717" sldId="345"/>
        </pc:sldMkLst>
      </pc:sldChg>
      <pc:sldChg chg="modNotesTx">
        <pc:chgData name="Ufuk Unal" userId="d77f72b3-53d7-4cb7-8425-5a8f29447216" providerId="ADAL" clId="{B0DF57DB-BE44-48D9-A5E9-05DDE94F5005}" dt="2023-03-14T09:46:08.139" v="31" actId="6549"/>
        <pc:sldMkLst>
          <pc:docMk/>
          <pc:sldMk cId="4104435945" sldId="346"/>
        </pc:sldMkLst>
      </pc:sldChg>
      <pc:sldChg chg="modNotesTx">
        <pc:chgData name="Ufuk Unal" userId="d77f72b3-53d7-4cb7-8425-5a8f29447216" providerId="ADAL" clId="{B0DF57DB-BE44-48D9-A5E9-05DDE94F5005}" dt="2023-03-14T09:46:29.030" v="33" actId="6549"/>
        <pc:sldMkLst>
          <pc:docMk/>
          <pc:sldMk cId="2470924352" sldId="347"/>
        </pc:sldMkLst>
      </pc:sldChg>
      <pc:sldChg chg="modNotesTx">
        <pc:chgData name="Ufuk Unal" userId="d77f72b3-53d7-4cb7-8425-5a8f29447216" providerId="ADAL" clId="{B0DF57DB-BE44-48D9-A5E9-05DDE94F5005}" dt="2023-03-14T09:46:37.348" v="35" actId="6549"/>
        <pc:sldMkLst>
          <pc:docMk/>
          <pc:sldMk cId="838802227" sldId="349"/>
        </pc:sldMkLst>
      </pc:sldChg>
      <pc:sldChg chg="modNotesTx">
        <pc:chgData name="Ufuk Unal" userId="d77f72b3-53d7-4cb7-8425-5a8f29447216" providerId="ADAL" clId="{B0DF57DB-BE44-48D9-A5E9-05DDE94F5005}" dt="2023-03-14T09:46:40.629" v="36" actId="6549"/>
        <pc:sldMkLst>
          <pc:docMk/>
          <pc:sldMk cId="1108545243" sldId="350"/>
        </pc:sldMkLst>
      </pc:sldChg>
      <pc:sldChg chg="modNotesTx">
        <pc:chgData name="Ufuk Unal" userId="d77f72b3-53d7-4cb7-8425-5a8f29447216" providerId="ADAL" clId="{B0DF57DB-BE44-48D9-A5E9-05DDE94F5005}" dt="2023-03-14T09:46:43.386" v="37" actId="6549"/>
        <pc:sldMkLst>
          <pc:docMk/>
          <pc:sldMk cId="1001165308" sldId="351"/>
        </pc:sldMkLst>
      </pc:sldChg>
      <pc:sldChg chg="modNotesTx">
        <pc:chgData name="Ufuk Unal" userId="d77f72b3-53d7-4cb7-8425-5a8f29447216" providerId="ADAL" clId="{B0DF57DB-BE44-48D9-A5E9-05DDE94F5005}" dt="2023-03-14T09:46:50.877" v="39" actId="6549"/>
        <pc:sldMkLst>
          <pc:docMk/>
          <pc:sldMk cId="3243177277" sldId="352"/>
        </pc:sldMkLst>
      </pc:sldChg>
      <pc:sldChg chg="modNotesTx">
        <pc:chgData name="Ufuk Unal" userId="d77f72b3-53d7-4cb7-8425-5a8f29447216" providerId="ADAL" clId="{B0DF57DB-BE44-48D9-A5E9-05DDE94F5005}" dt="2023-03-14T09:45:29.636" v="26" actId="6549"/>
        <pc:sldMkLst>
          <pc:docMk/>
          <pc:sldMk cId="2021682167" sldId="353"/>
        </pc:sldMkLst>
      </pc:sldChg>
      <pc:sldChg chg="modNotesTx">
        <pc:chgData name="Ufuk Unal" userId="d77f72b3-53d7-4cb7-8425-5a8f29447216" providerId="ADAL" clId="{B0DF57DB-BE44-48D9-A5E9-05DDE94F5005}" dt="2023-03-14T09:45:36.796" v="27" actId="6549"/>
        <pc:sldMkLst>
          <pc:docMk/>
          <pc:sldMk cId="423197906" sldId="354"/>
        </pc:sldMkLst>
      </pc:sldChg>
      <pc:sldChg chg="modNotesTx">
        <pc:chgData name="Ufuk Unal" userId="d77f72b3-53d7-4cb7-8425-5a8f29447216" providerId="ADAL" clId="{B0DF57DB-BE44-48D9-A5E9-05DDE94F5005}" dt="2023-03-14T09:45:58.106" v="29" actId="6549"/>
        <pc:sldMkLst>
          <pc:docMk/>
          <pc:sldMk cId="4233599654" sldId="355"/>
        </pc:sldMkLst>
      </pc:sldChg>
      <pc:sldChg chg="modSp mod modNotesTx">
        <pc:chgData name="Ufuk Unal" userId="d77f72b3-53d7-4cb7-8425-5a8f29447216" providerId="ADAL" clId="{B0DF57DB-BE44-48D9-A5E9-05DDE94F5005}" dt="2023-03-14T10:07:55.220" v="48" actId="6549"/>
        <pc:sldMkLst>
          <pc:docMk/>
          <pc:sldMk cId="3798046907" sldId="357"/>
        </pc:sldMkLst>
        <pc:spChg chg="mod">
          <ac:chgData name="Ufuk Unal" userId="d77f72b3-53d7-4cb7-8425-5a8f29447216" providerId="ADAL" clId="{B0DF57DB-BE44-48D9-A5E9-05DDE94F5005}" dt="2023-03-14T10:07:55.220" v="48" actId="6549"/>
          <ac:spMkLst>
            <pc:docMk/>
            <pc:sldMk cId="3798046907" sldId="357"/>
            <ac:spMk id="9" creationId="{0A5586CE-EB4A-496E-9B62-001E25693E4A}"/>
          </ac:spMkLst>
        </pc:spChg>
      </pc:sldChg>
      <pc:sldChg chg="modNotesTx">
        <pc:chgData name="Ufuk Unal" userId="d77f72b3-53d7-4cb7-8425-5a8f29447216" providerId="ADAL" clId="{B0DF57DB-BE44-48D9-A5E9-05DDE94F5005}" dt="2023-03-14T09:46:47.782" v="38" actId="6549"/>
        <pc:sldMkLst>
          <pc:docMk/>
          <pc:sldMk cId="2763019059" sldId="358"/>
        </pc:sldMkLst>
      </pc:sldChg>
      <pc:sldChg chg="modNotesTx">
        <pc:chgData name="Ufuk Unal" userId="d77f72b3-53d7-4cb7-8425-5a8f29447216" providerId="ADAL" clId="{B0DF57DB-BE44-48D9-A5E9-05DDE94F5005}" dt="2023-03-14T09:45:53.949" v="28" actId="6549"/>
        <pc:sldMkLst>
          <pc:docMk/>
          <pc:sldMk cId="1502931874" sldId="359"/>
        </pc:sldMkLst>
      </pc:sldChg>
      <pc:sldChg chg="modNotesTx">
        <pc:chgData name="Ufuk Unal" userId="d77f72b3-53d7-4cb7-8425-5a8f29447216" providerId="ADAL" clId="{B0DF57DB-BE44-48D9-A5E9-05DDE94F5005}" dt="2023-03-14T09:46:18.797" v="32" actId="6549"/>
        <pc:sldMkLst>
          <pc:docMk/>
          <pc:sldMk cId="2784854281" sldId="360"/>
        </pc:sldMkLst>
      </pc:sldChg>
      <pc:sldChg chg="modNotesTx">
        <pc:chgData name="Ufuk Unal" userId="d77f72b3-53d7-4cb7-8425-5a8f29447216" providerId="ADAL" clId="{B0DF57DB-BE44-48D9-A5E9-05DDE94F5005}" dt="2023-03-14T09:46:32.749" v="34" actId="6549"/>
        <pc:sldMkLst>
          <pc:docMk/>
          <pc:sldMk cId="81848509" sldId="361"/>
        </pc:sldMkLst>
      </pc:sldChg>
      <pc:sldChg chg="modNotesTx">
        <pc:chgData name="Ufuk Unal" userId="d77f72b3-53d7-4cb7-8425-5a8f29447216" providerId="ADAL" clId="{B0DF57DB-BE44-48D9-A5E9-05DDE94F5005}" dt="2023-03-14T09:46:54.846" v="40" actId="6549"/>
        <pc:sldMkLst>
          <pc:docMk/>
          <pc:sldMk cId="2726252616" sldId="362"/>
        </pc:sldMkLst>
      </pc:sldChg>
      <pc:sldChg chg="modNotesTx">
        <pc:chgData name="Ufuk Unal" userId="d77f72b3-53d7-4cb7-8425-5a8f29447216" providerId="ADAL" clId="{B0DF57DB-BE44-48D9-A5E9-05DDE94F5005}" dt="2023-03-14T09:46:57.442" v="41" actId="6549"/>
        <pc:sldMkLst>
          <pc:docMk/>
          <pc:sldMk cId="114654693" sldId="363"/>
        </pc:sldMkLst>
      </pc:sldChg>
      <pc:sldChg chg="modNotesTx">
        <pc:chgData name="Ufuk Unal" userId="d77f72b3-53d7-4cb7-8425-5a8f29447216" providerId="ADAL" clId="{B0DF57DB-BE44-48D9-A5E9-05DDE94F5005}" dt="2023-03-14T09:47:03.519" v="42" actId="6549"/>
        <pc:sldMkLst>
          <pc:docMk/>
          <pc:sldMk cId="68671429" sldId="364"/>
        </pc:sldMkLst>
      </pc:sldChg>
      <pc:sldChg chg="modNotesTx">
        <pc:chgData name="Ufuk Unal" userId="d77f72b3-53d7-4cb7-8425-5a8f29447216" providerId="ADAL" clId="{B0DF57DB-BE44-48D9-A5E9-05DDE94F5005}" dt="2023-03-14T10:06:47.184" v="43" actId="6549"/>
        <pc:sldMkLst>
          <pc:docMk/>
          <pc:sldMk cId="3814972833" sldId="365"/>
        </pc:sldMkLst>
      </pc:sldChg>
      <pc:sldChg chg="modNotesTx">
        <pc:chgData name="Ufuk Unal" userId="d77f72b3-53d7-4cb7-8425-5a8f29447216" providerId="ADAL" clId="{B0DF57DB-BE44-48D9-A5E9-05DDE94F5005}" dt="2023-03-14T10:08:48.939" v="49" actId="6549"/>
        <pc:sldMkLst>
          <pc:docMk/>
          <pc:sldMk cId="1766050880" sldId="366"/>
        </pc:sldMkLst>
      </pc:sldChg>
      <pc:sldChg chg="modNotesTx">
        <pc:chgData name="Ufuk Unal" userId="d77f72b3-53d7-4cb7-8425-5a8f29447216" providerId="ADAL" clId="{B0DF57DB-BE44-48D9-A5E9-05DDE94F5005}" dt="2023-03-14T10:09:21.256" v="54" actId="6549"/>
        <pc:sldMkLst>
          <pc:docMk/>
          <pc:sldMk cId="2830932289" sldId="367"/>
        </pc:sldMkLst>
      </pc:sldChg>
      <pc:sldChg chg="modNotesTx">
        <pc:chgData name="Ufuk Unal" userId="d77f72b3-53d7-4cb7-8425-5a8f29447216" providerId="ADAL" clId="{B0DF57DB-BE44-48D9-A5E9-05DDE94F5005}" dt="2023-03-14T10:09:03.930" v="52" actId="6549"/>
        <pc:sldMkLst>
          <pc:docMk/>
          <pc:sldMk cId="3461289532" sldId="368"/>
        </pc:sldMkLst>
      </pc:sldChg>
      <pc:sldMasterChg chg="modSldLayout">
        <pc:chgData name="Ufuk Unal" userId="d77f72b3-53d7-4cb7-8425-5a8f29447216" providerId="ADAL" clId="{B0DF57DB-BE44-48D9-A5E9-05DDE94F5005}" dt="2023-03-14T09:41:05.076" v="3" actId="478"/>
        <pc:sldMasterMkLst>
          <pc:docMk/>
          <pc:sldMasterMk cId="100049181" sldId="2147483782"/>
        </pc:sldMasterMkLst>
        <pc:sldLayoutChg chg="delSp">
          <pc:chgData name="Ufuk Unal" userId="d77f72b3-53d7-4cb7-8425-5a8f29447216" providerId="ADAL" clId="{B0DF57DB-BE44-48D9-A5E9-05DDE94F5005}" dt="2023-03-14T09:41:05.076" v="3" actId="478"/>
          <pc:sldLayoutMkLst>
            <pc:docMk/>
            <pc:sldMasterMk cId="100049181" sldId="2147483782"/>
            <pc:sldLayoutMk cId="2489093777" sldId="2147483783"/>
          </pc:sldLayoutMkLst>
          <pc:spChg chg="del">
            <ac:chgData name="Ufuk Unal" userId="d77f72b3-53d7-4cb7-8425-5a8f29447216" providerId="ADAL" clId="{B0DF57DB-BE44-48D9-A5E9-05DDE94F5005}" dt="2023-03-14T09:41:05.076" v="3" actId="478"/>
            <ac:spMkLst>
              <pc:docMk/>
              <pc:sldMasterMk cId="100049181" sldId="2147483782"/>
              <pc:sldLayoutMk cId="2489093777" sldId="2147483783"/>
              <ac:spMk id="5" creationId="{00000000-0000-0000-0000-000000000000}"/>
            </ac:spMkLst>
          </pc:spChg>
        </pc:sldLayoutChg>
      </pc:sldMasterChg>
    </pc:docChg>
  </pc:docChgLst>
  <pc:docChgLst>
    <pc:chgData name="Ufuk Unal" userId="d77f72b3-53d7-4cb7-8425-5a8f29447216" providerId="ADAL" clId="{A5CB6BCE-CFF7-469F-AABE-282CE60C0D3F}"/>
    <pc:docChg chg="addSld delSld modSld">
      <pc:chgData name="Ufuk Unal" userId="d77f72b3-53d7-4cb7-8425-5a8f29447216" providerId="ADAL" clId="{A5CB6BCE-CFF7-469F-AABE-282CE60C0D3F}" dt="2023-04-06T13:04:36.292" v="10" actId="47"/>
      <pc:docMkLst>
        <pc:docMk/>
      </pc:docMkLst>
      <pc:sldChg chg="modSp mod">
        <pc:chgData name="Ufuk Unal" userId="d77f72b3-53d7-4cb7-8425-5a8f29447216" providerId="ADAL" clId="{A5CB6BCE-CFF7-469F-AABE-282CE60C0D3F}" dt="2023-04-06T13:03:46.002" v="7" actId="20577"/>
        <pc:sldMkLst>
          <pc:docMk/>
          <pc:sldMk cId="2459807384" sldId="256"/>
        </pc:sldMkLst>
        <pc:spChg chg="mod">
          <ac:chgData name="Ufuk Unal" userId="d77f72b3-53d7-4cb7-8425-5a8f29447216" providerId="ADAL" clId="{A5CB6BCE-CFF7-469F-AABE-282CE60C0D3F}" dt="2023-04-06T13:03:46.002" v="7" actId="20577"/>
          <ac:spMkLst>
            <pc:docMk/>
            <pc:sldMk cId="2459807384" sldId="256"/>
            <ac:spMk id="6" creationId="{36891D17-0544-4779-B232-7495C4C552DF}"/>
          </ac:spMkLst>
        </pc:spChg>
      </pc:sldChg>
      <pc:sldChg chg="add">
        <pc:chgData name="Ufuk Unal" userId="d77f72b3-53d7-4cb7-8425-5a8f29447216" providerId="ADAL" clId="{A5CB6BCE-CFF7-469F-AABE-282CE60C0D3F}" dt="2023-04-06T13:03:57.615" v="8"/>
        <pc:sldMkLst>
          <pc:docMk/>
          <pc:sldMk cId="998842949" sldId="257"/>
        </pc:sldMkLst>
      </pc:sldChg>
      <pc:sldChg chg="add">
        <pc:chgData name="Ufuk Unal" userId="d77f72b3-53d7-4cb7-8425-5a8f29447216" providerId="ADAL" clId="{A5CB6BCE-CFF7-469F-AABE-282CE60C0D3F}" dt="2023-04-06T13:03:57.615" v="8"/>
        <pc:sldMkLst>
          <pc:docMk/>
          <pc:sldMk cId="3205511851" sldId="286"/>
        </pc:sldMkLst>
      </pc:sldChg>
      <pc:sldChg chg="add">
        <pc:chgData name="Ufuk Unal" userId="d77f72b3-53d7-4cb7-8425-5a8f29447216" providerId="ADAL" clId="{A5CB6BCE-CFF7-469F-AABE-282CE60C0D3F}" dt="2023-04-06T13:03:57.615" v="8"/>
        <pc:sldMkLst>
          <pc:docMk/>
          <pc:sldMk cId="8838512" sldId="287"/>
        </pc:sldMkLst>
      </pc:sldChg>
      <pc:sldChg chg="add">
        <pc:chgData name="Ufuk Unal" userId="d77f72b3-53d7-4cb7-8425-5a8f29447216" providerId="ADAL" clId="{A5CB6BCE-CFF7-469F-AABE-282CE60C0D3F}" dt="2023-04-06T13:03:57.615" v="8"/>
        <pc:sldMkLst>
          <pc:docMk/>
          <pc:sldMk cId="2281775076" sldId="288"/>
        </pc:sldMkLst>
      </pc:sldChg>
      <pc:sldChg chg="add">
        <pc:chgData name="Ufuk Unal" userId="d77f72b3-53d7-4cb7-8425-5a8f29447216" providerId="ADAL" clId="{A5CB6BCE-CFF7-469F-AABE-282CE60C0D3F}" dt="2023-04-06T13:03:57.615" v="8"/>
        <pc:sldMkLst>
          <pc:docMk/>
          <pc:sldMk cId="1073715606" sldId="289"/>
        </pc:sldMkLst>
      </pc:sldChg>
      <pc:sldChg chg="add">
        <pc:chgData name="Ufuk Unal" userId="d77f72b3-53d7-4cb7-8425-5a8f29447216" providerId="ADAL" clId="{A5CB6BCE-CFF7-469F-AABE-282CE60C0D3F}" dt="2023-04-06T13:03:57.615" v="8"/>
        <pc:sldMkLst>
          <pc:docMk/>
          <pc:sldMk cId="2608193054" sldId="290"/>
        </pc:sldMkLst>
      </pc:sldChg>
      <pc:sldChg chg="add">
        <pc:chgData name="Ufuk Unal" userId="d77f72b3-53d7-4cb7-8425-5a8f29447216" providerId="ADAL" clId="{A5CB6BCE-CFF7-469F-AABE-282CE60C0D3F}" dt="2023-04-06T13:03:57.615" v="8"/>
        <pc:sldMkLst>
          <pc:docMk/>
          <pc:sldMk cId="3236013279" sldId="291"/>
        </pc:sldMkLst>
      </pc:sldChg>
      <pc:sldChg chg="add">
        <pc:chgData name="Ufuk Unal" userId="d77f72b3-53d7-4cb7-8425-5a8f29447216" providerId="ADAL" clId="{A5CB6BCE-CFF7-469F-AABE-282CE60C0D3F}" dt="2023-04-06T13:03:57.615" v="8"/>
        <pc:sldMkLst>
          <pc:docMk/>
          <pc:sldMk cId="1944076353" sldId="292"/>
        </pc:sldMkLst>
      </pc:sldChg>
      <pc:sldChg chg="add">
        <pc:chgData name="Ufuk Unal" userId="d77f72b3-53d7-4cb7-8425-5a8f29447216" providerId="ADAL" clId="{A5CB6BCE-CFF7-469F-AABE-282CE60C0D3F}" dt="2023-04-06T13:03:57.615" v="8"/>
        <pc:sldMkLst>
          <pc:docMk/>
          <pc:sldMk cId="917736273" sldId="293"/>
        </pc:sldMkLst>
      </pc:sldChg>
      <pc:sldChg chg="add">
        <pc:chgData name="Ufuk Unal" userId="d77f72b3-53d7-4cb7-8425-5a8f29447216" providerId="ADAL" clId="{A5CB6BCE-CFF7-469F-AABE-282CE60C0D3F}" dt="2023-04-06T13:03:57.615" v="8"/>
        <pc:sldMkLst>
          <pc:docMk/>
          <pc:sldMk cId="1152956858" sldId="294"/>
        </pc:sldMkLst>
      </pc:sldChg>
      <pc:sldChg chg="add">
        <pc:chgData name="Ufuk Unal" userId="d77f72b3-53d7-4cb7-8425-5a8f29447216" providerId="ADAL" clId="{A5CB6BCE-CFF7-469F-AABE-282CE60C0D3F}" dt="2023-04-06T13:03:57.615" v="8"/>
        <pc:sldMkLst>
          <pc:docMk/>
          <pc:sldMk cId="3953398966" sldId="295"/>
        </pc:sldMkLst>
      </pc:sldChg>
      <pc:sldChg chg="add">
        <pc:chgData name="Ufuk Unal" userId="d77f72b3-53d7-4cb7-8425-5a8f29447216" providerId="ADAL" clId="{A5CB6BCE-CFF7-469F-AABE-282CE60C0D3F}" dt="2023-04-06T13:03:57.615" v="8"/>
        <pc:sldMkLst>
          <pc:docMk/>
          <pc:sldMk cId="2167178223" sldId="296"/>
        </pc:sldMkLst>
      </pc:sldChg>
      <pc:sldChg chg="add">
        <pc:chgData name="Ufuk Unal" userId="d77f72b3-53d7-4cb7-8425-5a8f29447216" providerId="ADAL" clId="{A5CB6BCE-CFF7-469F-AABE-282CE60C0D3F}" dt="2023-04-06T13:03:57.615" v="8"/>
        <pc:sldMkLst>
          <pc:docMk/>
          <pc:sldMk cId="3072424695" sldId="297"/>
        </pc:sldMkLst>
      </pc:sldChg>
      <pc:sldChg chg="add">
        <pc:chgData name="Ufuk Unal" userId="d77f72b3-53d7-4cb7-8425-5a8f29447216" providerId="ADAL" clId="{A5CB6BCE-CFF7-469F-AABE-282CE60C0D3F}" dt="2023-04-06T13:03:57.615" v="8"/>
        <pc:sldMkLst>
          <pc:docMk/>
          <pc:sldMk cId="2043198107" sldId="298"/>
        </pc:sldMkLst>
      </pc:sldChg>
      <pc:sldChg chg="add">
        <pc:chgData name="Ufuk Unal" userId="d77f72b3-53d7-4cb7-8425-5a8f29447216" providerId="ADAL" clId="{A5CB6BCE-CFF7-469F-AABE-282CE60C0D3F}" dt="2023-04-06T13:03:57.615" v="8"/>
        <pc:sldMkLst>
          <pc:docMk/>
          <pc:sldMk cId="2928479514" sldId="299"/>
        </pc:sldMkLst>
      </pc:sldChg>
      <pc:sldChg chg="add">
        <pc:chgData name="Ufuk Unal" userId="d77f72b3-53d7-4cb7-8425-5a8f29447216" providerId="ADAL" clId="{A5CB6BCE-CFF7-469F-AABE-282CE60C0D3F}" dt="2023-04-06T13:03:57.615" v="8"/>
        <pc:sldMkLst>
          <pc:docMk/>
          <pc:sldMk cId="446979928" sldId="300"/>
        </pc:sldMkLst>
      </pc:sldChg>
      <pc:sldChg chg="add">
        <pc:chgData name="Ufuk Unal" userId="d77f72b3-53d7-4cb7-8425-5a8f29447216" providerId="ADAL" clId="{A5CB6BCE-CFF7-469F-AABE-282CE60C0D3F}" dt="2023-04-06T13:03:57.615" v="8"/>
        <pc:sldMkLst>
          <pc:docMk/>
          <pc:sldMk cId="2359428810" sldId="301"/>
        </pc:sldMkLst>
      </pc:sldChg>
      <pc:sldChg chg="add">
        <pc:chgData name="Ufuk Unal" userId="d77f72b3-53d7-4cb7-8425-5a8f29447216" providerId="ADAL" clId="{A5CB6BCE-CFF7-469F-AABE-282CE60C0D3F}" dt="2023-04-06T13:03:57.615" v="8"/>
        <pc:sldMkLst>
          <pc:docMk/>
          <pc:sldMk cId="722043997" sldId="302"/>
        </pc:sldMkLst>
      </pc:sldChg>
      <pc:sldChg chg="add">
        <pc:chgData name="Ufuk Unal" userId="d77f72b3-53d7-4cb7-8425-5a8f29447216" providerId="ADAL" clId="{A5CB6BCE-CFF7-469F-AABE-282CE60C0D3F}" dt="2023-04-06T13:03:57.615" v="8"/>
        <pc:sldMkLst>
          <pc:docMk/>
          <pc:sldMk cId="1492922032" sldId="303"/>
        </pc:sldMkLst>
      </pc:sldChg>
      <pc:sldChg chg="add">
        <pc:chgData name="Ufuk Unal" userId="d77f72b3-53d7-4cb7-8425-5a8f29447216" providerId="ADAL" clId="{A5CB6BCE-CFF7-469F-AABE-282CE60C0D3F}" dt="2023-04-06T13:03:57.615" v="8"/>
        <pc:sldMkLst>
          <pc:docMk/>
          <pc:sldMk cId="3578986941" sldId="304"/>
        </pc:sldMkLst>
      </pc:sldChg>
      <pc:sldChg chg="del">
        <pc:chgData name="Ufuk Unal" userId="d77f72b3-53d7-4cb7-8425-5a8f29447216" providerId="ADAL" clId="{A5CB6BCE-CFF7-469F-AABE-282CE60C0D3F}" dt="2023-04-06T13:04:36.292" v="10" actId="47"/>
        <pc:sldMkLst>
          <pc:docMk/>
          <pc:sldMk cId="3311703480" sldId="325"/>
        </pc:sldMkLst>
      </pc:sldChg>
      <pc:sldChg chg="del">
        <pc:chgData name="Ufuk Unal" userId="d77f72b3-53d7-4cb7-8425-5a8f29447216" providerId="ADAL" clId="{A5CB6BCE-CFF7-469F-AABE-282CE60C0D3F}" dt="2023-04-06T13:04:36.292" v="10" actId="47"/>
        <pc:sldMkLst>
          <pc:docMk/>
          <pc:sldMk cId="3673250314" sldId="326"/>
        </pc:sldMkLst>
      </pc:sldChg>
      <pc:sldChg chg="del">
        <pc:chgData name="Ufuk Unal" userId="d77f72b3-53d7-4cb7-8425-5a8f29447216" providerId="ADAL" clId="{A5CB6BCE-CFF7-469F-AABE-282CE60C0D3F}" dt="2023-04-06T13:04:36.292" v="10" actId="47"/>
        <pc:sldMkLst>
          <pc:docMk/>
          <pc:sldMk cId="2503827922" sldId="327"/>
        </pc:sldMkLst>
      </pc:sldChg>
      <pc:sldChg chg="del">
        <pc:chgData name="Ufuk Unal" userId="d77f72b3-53d7-4cb7-8425-5a8f29447216" providerId="ADAL" clId="{A5CB6BCE-CFF7-469F-AABE-282CE60C0D3F}" dt="2023-04-06T13:04:36.292" v="10" actId="47"/>
        <pc:sldMkLst>
          <pc:docMk/>
          <pc:sldMk cId="4063430119" sldId="328"/>
        </pc:sldMkLst>
      </pc:sldChg>
      <pc:sldChg chg="del">
        <pc:chgData name="Ufuk Unal" userId="d77f72b3-53d7-4cb7-8425-5a8f29447216" providerId="ADAL" clId="{A5CB6BCE-CFF7-469F-AABE-282CE60C0D3F}" dt="2023-04-06T13:04:36.292" v="10" actId="47"/>
        <pc:sldMkLst>
          <pc:docMk/>
          <pc:sldMk cId="1976804067" sldId="329"/>
        </pc:sldMkLst>
      </pc:sldChg>
      <pc:sldChg chg="del">
        <pc:chgData name="Ufuk Unal" userId="d77f72b3-53d7-4cb7-8425-5a8f29447216" providerId="ADAL" clId="{A5CB6BCE-CFF7-469F-AABE-282CE60C0D3F}" dt="2023-04-06T13:04:36.292" v="10" actId="47"/>
        <pc:sldMkLst>
          <pc:docMk/>
          <pc:sldMk cId="1374603204" sldId="341"/>
        </pc:sldMkLst>
      </pc:sldChg>
      <pc:sldChg chg="del">
        <pc:chgData name="Ufuk Unal" userId="d77f72b3-53d7-4cb7-8425-5a8f29447216" providerId="ADAL" clId="{A5CB6BCE-CFF7-469F-AABE-282CE60C0D3F}" dt="2023-04-06T13:04:36.292" v="10" actId="47"/>
        <pc:sldMkLst>
          <pc:docMk/>
          <pc:sldMk cId="1994260570" sldId="342"/>
        </pc:sldMkLst>
      </pc:sldChg>
      <pc:sldChg chg="del">
        <pc:chgData name="Ufuk Unal" userId="d77f72b3-53d7-4cb7-8425-5a8f29447216" providerId="ADAL" clId="{A5CB6BCE-CFF7-469F-AABE-282CE60C0D3F}" dt="2023-04-06T13:04:36.292" v="10" actId="47"/>
        <pc:sldMkLst>
          <pc:docMk/>
          <pc:sldMk cId="2416504450" sldId="343"/>
        </pc:sldMkLst>
      </pc:sldChg>
      <pc:sldChg chg="del">
        <pc:chgData name="Ufuk Unal" userId="d77f72b3-53d7-4cb7-8425-5a8f29447216" providerId="ADAL" clId="{A5CB6BCE-CFF7-469F-AABE-282CE60C0D3F}" dt="2023-04-06T13:04:36.292" v="10" actId="47"/>
        <pc:sldMkLst>
          <pc:docMk/>
          <pc:sldMk cId="2684641891" sldId="344"/>
        </pc:sldMkLst>
      </pc:sldChg>
      <pc:sldChg chg="del">
        <pc:chgData name="Ufuk Unal" userId="d77f72b3-53d7-4cb7-8425-5a8f29447216" providerId="ADAL" clId="{A5CB6BCE-CFF7-469F-AABE-282CE60C0D3F}" dt="2023-04-06T13:04:36.292" v="10" actId="47"/>
        <pc:sldMkLst>
          <pc:docMk/>
          <pc:sldMk cId="1396881717" sldId="345"/>
        </pc:sldMkLst>
      </pc:sldChg>
      <pc:sldChg chg="del">
        <pc:chgData name="Ufuk Unal" userId="d77f72b3-53d7-4cb7-8425-5a8f29447216" providerId="ADAL" clId="{A5CB6BCE-CFF7-469F-AABE-282CE60C0D3F}" dt="2023-04-06T13:04:36.292" v="10" actId="47"/>
        <pc:sldMkLst>
          <pc:docMk/>
          <pc:sldMk cId="4104435945" sldId="346"/>
        </pc:sldMkLst>
      </pc:sldChg>
      <pc:sldChg chg="del">
        <pc:chgData name="Ufuk Unal" userId="d77f72b3-53d7-4cb7-8425-5a8f29447216" providerId="ADAL" clId="{A5CB6BCE-CFF7-469F-AABE-282CE60C0D3F}" dt="2023-04-06T13:04:36.292" v="10" actId="47"/>
        <pc:sldMkLst>
          <pc:docMk/>
          <pc:sldMk cId="2470924352" sldId="347"/>
        </pc:sldMkLst>
      </pc:sldChg>
      <pc:sldChg chg="del">
        <pc:chgData name="Ufuk Unal" userId="d77f72b3-53d7-4cb7-8425-5a8f29447216" providerId="ADAL" clId="{A5CB6BCE-CFF7-469F-AABE-282CE60C0D3F}" dt="2023-04-06T13:04:36.292" v="10" actId="47"/>
        <pc:sldMkLst>
          <pc:docMk/>
          <pc:sldMk cId="838802227" sldId="349"/>
        </pc:sldMkLst>
      </pc:sldChg>
      <pc:sldChg chg="del">
        <pc:chgData name="Ufuk Unal" userId="d77f72b3-53d7-4cb7-8425-5a8f29447216" providerId="ADAL" clId="{A5CB6BCE-CFF7-469F-AABE-282CE60C0D3F}" dt="2023-04-06T13:04:36.292" v="10" actId="47"/>
        <pc:sldMkLst>
          <pc:docMk/>
          <pc:sldMk cId="1108545243" sldId="350"/>
        </pc:sldMkLst>
      </pc:sldChg>
      <pc:sldChg chg="del">
        <pc:chgData name="Ufuk Unal" userId="d77f72b3-53d7-4cb7-8425-5a8f29447216" providerId="ADAL" clId="{A5CB6BCE-CFF7-469F-AABE-282CE60C0D3F}" dt="2023-04-06T13:04:36.292" v="10" actId="47"/>
        <pc:sldMkLst>
          <pc:docMk/>
          <pc:sldMk cId="1001165308" sldId="351"/>
        </pc:sldMkLst>
      </pc:sldChg>
      <pc:sldChg chg="del">
        <pc:chgData name="Ufuk Unal" userId="d77f72b3-53d7-4cb7-8425-5a8f29447216" providerId="ADAL" clId="{A5CB6BCE-CFF7-469F-AABE-282CE60C0D3F}" dt="2023-04-06T13:04:36.292" v="10" actId="47"/>
        <pc:sldMkLst>
          <pc:docMk/>
          <pc:sldMk cId="3243177277" sldId="352"/>
        </pc:sldMkLst>
      </pc:sldChg>
      <pc:sldChg chg="del">
        <pc:chgData name="Ufuk Unal" userId="d77f72b3-53d7-4cb7-8425-5a8f29447216" providerId="ADAL" clId="{A5CB6BCE-CFF7-469F-AABE-282CE60C0D3F}" dt="2023-04-06T13:04:36.292" v="10" actId="47"/>
        <pc:sldMkLst>
          <pc:docMk/>
          <pc:sldMk cId="2021682167" sldId="353"/>
        </pc:sldMkLst>
      </pc:sldChg>
      <pc:sldChg chg="del">
        <pc:chgData name="Ufuk Unal" userId="d77f72b3-53d7-4cb7-8425-5a8f29447216" providerId="ADAL" clId="{A5CB6BCE-CFF7-469F-AABE-282CE60C0D3F}" dt="2023-04-06T13:04:36.292" v="10" actId="47"/>
        <pc:sldMkLst>
          <pc:docMk/>
          <pc:sldMk cId="423197906" sldId="354"/>
        </pc:sldMkLst>
      </pc:sldChg>
      <pc:sldChg chg="del">
        <pc:chgData name="Ufuk Unal" userId="d77f72b3-53d7-4cb7-8425-5a8f29447216" providerId="ADAL" clId="{A5CB6BCE-CFF7-469F-AABE-282CE60C0D3F}" dt="2023-04-06T13:04:36.292" v="10" actId="47"/>
        <pc:sldMkLst>
          <pc:docMk/>
          <pc:sldMk cId="4233599654" sldId="355"/>
        </pc:sldMkLst>
      </pc:sldChg>
      <pc:sldChg chg="del">
        <pc:chgData name="Ufuk Unal" userId="d77f72b3-53d7-4cb7-8425-5a8f29447216" providerId="ADAL" clId="{A5CB6BCE-CFF7-469F-AABE-282CE60C0D3F}" dt="2023-04-06T13:04:36.292" v="10" actId="47"/>
        <pc:sldMkLst>
          <pc:docMk/>
          <pc:sldMk cId="3798046907" sldId="357"/>
        </pc:sldMkLst>
      </pc:sldChg>
      <pc:sldChg chg="del">
        <pc:chgData name="Ufuk Unal" userId="d77f72b3-53d7-4cb7-8425-5a8f29447216" providerId="ADAL" clId="{A5CB6BCE-CFF7-469F-AABE-282CE60C0D3F}" dt="2023-04-06T13:04:36.292" v="10" actId="47"/>
        <pc:sldMkLst>
          <pc:docMk/>
          <pc:sldMk cId="2763019059" sldId="358"/>
        </pc:sldMkLst>
      </pc:sldChg>
      <pc:sldChg chg="del">
        <pc:chgData name="Ufuk Unal" userId="d77f72b3-53d7-4cb7-8425-5a8f29447216" providerId="ADAL" clId="{A5CB6BCE-CFF7-469F-AABE-282CE60C0D3F}" dt="2023-04-06T13:04:36.292" v="10" actId="47"/>
        <pc:sldMkLst>
          <pc:docMk/>
          <pc:sldMk cId="1502931874" sldId="359"/>
        </pc:sldMkLst>
      </pc:sldChg>
      <pc:sldChg chg="del">
        <pc:chgData name="Ufuk Unal" userId="d77f72b3-53d7-4cb7-8425-5a8f29447216" providerId="ADAL" clId="{A5CB6BCE-CFF7-469F-AABE-282CE60C0D3F}" dt="2023-04-06T13:04:36.292" v="10" actId="47"/>
        <pc:sldMkLst>
          <pc:docMk/>
          <pc:sldMk cId="2784854281" sldId="360"/>
        </pc:sldMkLst>
      </pc:sldChg>
      <pc:sldChg chg="del">
        <pc:chgData name="Ufuk Unal" userId="d77f72b3-53d7-4cb7-8425-5a8f29447216" providerId="ADAL" clId="{A5CB6BCE-CFF7-469F-AABE-282CE60C0D3F}" dt="2023-04-06T13:04:36.292" v="10" actId="47"/>
        <pc:sldMkLst>
          <pc:docMk/>
          <pc:sldMk cId="81848509" sldId="361"/>
        </pc:sldMkLst>
      </pc:sldChg>
      <pc:sldChg chg="del">
        <pc:chgData name="Ufuk Unal" userId="d77f72b3-53d7-4cb7-8425-5a8f29447216" providerId="ADAL" clId="{A5CB6BCE-CFF7-469F-AABE-282CE60C0D3F}" dt="2023-04-06T13:04:36.292" v="10" actId="47"/>
        <pc:sldMkLst>
          <pc:docMk/>
          <pc:sldMk cId="2726252616" sldId="362"/>
        </pc:sldMkLst>
      </pc:sldChg>
      <pc:sldChg chg="del">
        <pc:chgData name="Ufuk Unal" userId="d77f72b3-53d7-4cb7-8425-5a8f29447216" providerId="ADAL" clId="{A5CB6BCE-CFF7-469F-AABE-282CE60C0D3F}" dt="2023-04-06T13:04:36.292" v="10" actId="47"/>
        <pc:sldMkLst>
          <pc:docMk/>
          <pc:sldMk cId="114654693" sldId="363"/>
        </pc:sldMkLst>
      </pc:sldChg>
      <pc:sldChg chg="del">
        <pc:chgData name="Ufuk Unal" userId="d77f72b3-53d7-4cb7-8425-5a8f29447216" providerId="ADAL" clId="{A5CB6BCE-CFF7-469F-AABE-282CE60C0D3F}" dt="2023-04-06T13:04:36.292" v="10" actId="47"/>
        <pc:sldMkLst>
          <pc:docMk/>
          <pc:sldMk cId="68671429" sldId="364"/>
        </pc:sldMkLst>
      </pc:sldChg>
      <pc:sldChg chg="del">
        <pc:chgData name="Ufuk Unal" userId="d77f72b3-53d7-4cb7-8425-5a8f29447216" providerId="ADAL" clId="{A5CB6BCE-CFF7-469F-AABE-282CE60C0D3F}" dt="2023-04-06T13:04:36.292" v="10" actId="47"/>
        <pc:sldMkLst>
          <pc:docMk/>
          <pc:sldMk cId="3814972833" sldId="365"/>
        </pc:sldMkLst>
      </pc:sldChg>
      <pc:sldChg chg="del">
        <pc:chgData name="Ufuk Unal" userId="d77f72b3-53d7-4cb7-8425-5a8f29447216" providerId="ADAL" clId="{A5CB6BCE-CFF7-469F-AABE-282CE60C0D3F}" dt="2023-04-06T13:04:36.292" v="10" actId="47"/>
        <pc:sldMkLst>
          <pc:docMk/>
          <pc:sldMk cId="1766050880" sldId="366"/>
        </pc:sldMkLst>
      </pc:sldChg>
      <pc:sldChg chg="del">
        <pc:chgData name="Ufuk Unal" userId="d77f72b3-53d7-4cb7-8425-5a8f29447216" providerId="ADAL" clId="{A5CB6BCE-CFF7-469F-AABE-282CE60C0D3F}" dt="2023-04-06T13:04:36.292" v="10" actId="47"/>
        <pc:sldMkLst>
          <pc:docMk/>
          <pc:sldMk cId="2830932289" sldId="367"/>
        </pc:sldMkLst>
      </pc:sldChg>
      <pc:sldChg chg="del">
        <pc:chgData name="Ufuk Unal" userId="d77f72b3-53d7-4cb7-8425-5a8f29447216" providerId="ADAL" clId="{A5CB6BCE-CFF7-469F-AABE-282CE60C0D3F}" dt="2023-04-06T13:04:36.292" v="10" actId="47"/>
        <pc:sldMkLst>
          <pc:docMk/>
          <pc:sldMk cId="3461289532" sldId="368"/>
        </pc:sldMkLst>
      </pc:sldChg>
      <pc:sldChg chg="del">
        <pc:chgData name="Ufuk Unal" userId="d77f72b3-53d7-4cb7-8425-5a8f29447216" providerId="ADAL" clId="{A5CB6BCE-CFF7-469F-AABE-282CE60C0D3F}" dt="2023-04-06T13:04:36.292" v="10" actId="47"/>
        <pc:sldMkLst>
          <pc:docMk/>
          <pc:sldMk cId="1006181768" sldId="369"/>
        </pc:sldMkLst>
      </pc:sldChg>
      <pc:sldChg chg="del">
        <pc:chgData name="Ufuk Unal" userId="d77f72b3-53d7-4cb7-8425-5a8f29447216" providerId="ADAL" clId="{A5CB6BCE-CFF7-469F-AABE-282CE60C0D3F}" dt="2023-04-06T13:04:36.292" v="10" actId="47"/>
        <pc:sldMkLst>
          <pc:docMk/>
          <pc:sldMk cId="1944942873" sldId="370"/>
        </pc:sldMkLst>
      </pc:sldChg>
      <pc:sldChg chg="del">
        <pc:chgData name="Ufuk Unal" userId="d77f72b3-53d7-4cb7-8425-5a8f29447216" providerId="ADAL" clId="{A5CB6BCE-CFF7-469F-AABE-282CE60C0D3F}" dt="2023-04-06T13:04:36.292" v="10" actId="47"/>
        <pc:sldMkLst>
          <pc:docMk/>
          <pc:sldMk cId="2853401936" sldId="371"/>
        </pc:sldMkLst>
      </pc:sldChg>
      <pc:sldChg chg="del">
        <pc:chgData name="Ufuk Unal" userId="d77f72b3-53d7-4cb7-8425-5a8f29447216" providerId="ADAL" clId="{A5CB6BCE-CFF7-469F-AABE-282CE60C0D3F}" dt="2023-04-06T13:04:36.292" v="10" actId="47"/>
        <pc:sldMkLst>
          <pc:docMk/>
          <pc:sldMk cId="2263266425" sldId="372"/>
        </pc:sldMkLst>
      </pc:sldChg>
      <pc:sldChg chg="add del">
        <pc:chgData name="Ufuk Unal" userId="d77f72b3-53d7-4cb7-8425-5a8f29447216" providerId="ADAL" clId="{A5CB6BCE-CFF7-469F-AABE-282CE60C0D3F}" dt="2023-04-06T13:04:06.500" v="9" actId="47"/>
        <pc:sldMkLst>
          <pc:docMk/>
          <pc:sldMk cId="1086794968" sldId="3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06.04.2023</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74181A-B52E-4AEA-801A-5F0AC153D341}" type="slidenum">
              <a:rPr lang="en-US"/>
              <a:pPr>
                <a:defRPr/>
              </a:pPr>
              <a:t>‹#›</a:t>
            </a:fld>
            <a:endParaRPr lang="en-US"/>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a:t>
            </a:fld>
            <a:endParaRPr lang="en-US"/>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Introduction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large number of functions in building control systems cannot be traced back to a single circumstance. Functions or states of devices or circuits are frequently made dependent on several conditions.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logic operation of the various trigger factors can be implemented in various ways in a KNX system. Different solutions can lead to the objective depending on the type and number of the required conditions.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KNX components that are available on the market from various manufacturers provide a range of variants which enable frequently requested logic operations to be implemented. The group objects and parameter settings of these devices use the basic principles of digital technology.</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basic functions of the logic operations and some compound elements are explained in an appendix at the end of the chapter.</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Logical Connection of Group objects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Switch Actuator (Binary Output) with Logic Function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majority of the manufacturers of KNX components already have logic objects available in the standard application of their switch actuators (binary outputs).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As different logic functions are available dependent on the manufacturer and product, no general statements can be made. The functional processes on two switch actuators of different manufacturers are taken as a basis in the following explanations.</a:t>
            </a:r>
            <a:endParaRPr lang="es-ES" sz="1200" b="0" kern="1200" dirty="0">
              <a:solidFill>
                <a:schemeClr val="tx1"/>
              </a:solidFill>
              <a:effectLst/>
              <a:latin typeface="Arial" charset="0"/>
              <a:ea typeface="+mn-ea"/>
              <a:cs typeface="+mn-cs"/>
            </a:endParaRPr>
          </a:p>
          <a:p>
            <a:endParaRPr lang="es-ES" sz="1200" b="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Group object - Switch</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“Switch” group object of a switch actuator behaves in a similar way to an OR function for all the assigned group addresses, whereby the last group address sent determines the status of the output.</a:t>
            </a:r>
            <a:endParaRPr lang="es-ES" sz="1200" b="0" kern="1200" dirty="0">
              <a:solidFill>
                <a:schemeClr val="tx1"/>
              </a:solidFill>
              <a:effectLst/>
              <a:latin typeface="Arial" charset="0"/>
              <a:ea typeface="+mn-ea"/>
              <a:cs typeface="+mn-cs"/>
            </a:endParaRPr>
          </a:p>
          <a:p>
            <a:endParaRPr lang="es-ES" sz="1200" b="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a:t>
            </a:fld>
            <a:endParaRPr lang="en-US"/>
          </a:p>
        </p:txBody>
      </p:sp>
    </p:spTree>
    <p:extLst>
      <p:ext uri="{BB962C8B-B14F-4D97-AF65-F5344CB8AC3E}">
        <p14:creationId xmlns:p14="http://schemas.microsoft.com/office/powerpoint/2010/main" val="3956641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400" b="1" kern="1200" dirty="0">
                <a:solidFill>
                  <a:schemeClr val="tx1"/>
                </a:solidFill>
                <a:effectLst/>
                <a:latin typeface="Arial" charset="0"/>
                <a:ea typeface="+mn-ea"/>
                <a:cs typeface="+mn-cs"/>
              </a:rPr>
              <a:t>Group object - Logic</a:t>
            </a:r>
            <a:endParaRPr lang="es-ES" sz="1400" b="1" kern="1200" dirty="0">
              <a:solidFill>
                <a:schemeClr val="tx1"/>
              </a:solidFill>
              <a:effectLst/>
              <a:latin typeface="Arial" charset="0"/>
              <a:ea typeface="+mn-ea"/>
              <a:cs typeface="+mn-cs"/>
            </a:endParaRPr>
          </a:p>
          <a:p>
            <a:r>
              <a:rPr lang="en-GB" sz="1400" kern="1200" dirty="0">
                <a:solidFill>
                  <a:schemeClr val="tx1"/>
                </a:solidFill>
                <a:effectLst/>
                <a:latin typeface="Arial" charset="0"/>
                <a:ea typeface="+mn-ea"/>
                <a:cs typeface="+mn-cs"/>
              </a:rPr>
              <a:t>A logic operation can be activated separately for each available output.</a:t>
            </a:r>
            <a:endParaRPr lang="es-ES" sz="1400" kern="1200" dirty="0">
              <a:solidFill>
                <a:schemeClr val="tx1"/>
              </a:solidFill>
              <a:effectLst/>
              <a:latin typeface="Arial" charset="0"/>
              <a:ea typeface="+mn-ea"/>
              <a:cs typeface="+mn-cs"/>
            </a:endParaRPr>
          </a:p>
          <a:p>
            <a:r>
              <a:rPr lang="en-GB" sz="1400" kern="1200" dirty="0">
                <a:solidFill>
                  <a:schemeClr val="tx1"/>
                </a:solidFill>
                <a:effectLst/>
                <a:latin typeface="Arial" charset="0"/>
                <a:ea typeface="+mn-ea"/>
                <a:cs typeface="+mn-cs"/>
              </a:rPr>
              <a:t>One or two logic operations of the group objects are activated dependent on the product and manufacturer.</a:t>
            </a:r>
            <a:endParaRPr lang="es-ES" sz="1400" kern="1200" dirty="0">
              <a:solidFill>
                <a:schemeClr val="tx1"/>
              </a:solidFill>
              <a:effectLst/>
              <a:latin typeface="Arial" charset="0"/>
              <a:ea typeface="+mn-ea"/>
              <a:cs typeface="+mn-cs"/>
            </a:endParaRPr>
          </a:p>
          <a:p>
            <a:r>
              <a:rPr lang="en-GB" sz="1400" kern="1200" dirty="0">
                <a:solidFill>
                  <a:schemeClr val="tx1"/>
                </a:solidFill>
                <a:effectLst/>
                <a:latin typeface="Arial" charset="0"/>
                <a:ea typeface="+mn-ea"/>
                <a:cs typeface="+mn-cs"/>
              </a:rPr>
              <a:t>Additional logic functions can be activated in the applications via “extended logic”.</a:t>
            </a:r>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1: Parameter window (extract) e.g. 4-fold switch actuator</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Via the function </a:t>
            </a:r>
            <a:r>
              <a:rPr lang="en-GB" sz="1200" i="1" kern="1200" dirty="0">
                <a:solidFill>
                  <a:schemeClr val="tx1"/>
                </a:solidFill>
                <a:effectLst/>
                <a:latin typeface="Arial" charset="0"/>
                <a:ea typeface="+mn-ea"/>
                <a:cs typeface="+mn-cs"/>
              </a:rPr>
              <a:t>Logic operation/Logic</a:t>
            </a:r>
            <a:r>
              <a:rPr lang="en-GB" sz="1200" kern="1200" dirty="0">
                <a:solidFill>
                  <a:schemeClr val="tx1"/>
                </a:solidFill>
                <a:effectLst/>
                <a:latin typeface="Arial" charset="0"/>
                <a:ea typeface="+mn-ea"/>
                <a:cs typeface="+mn-cs"/>
              </a:rPr>
              <a:t>, it is possible to link the switching of the output with specific conditions. The following can be selected:</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AND function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OR function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XOR function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Gate function</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a:t>
            </a:fld>
            <a:endParaRPr lang="en-US"/>
          </a:p>
        </p:txBody>
      </p:sp>
    </p:spTree>
    <p:extLst>
      <p:ext uri="{BB962C8B-B14F-4D97-AF65-F5344CB8AC3E}">
        <p14:creationId xmlns:p14="http://schemas.microsoft.com/office/powerpoint/2010/main" val="1049350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Arial" charset="0"/>
                <a:ea typeface="+mn-ea"/>
                <a:cs typeface="+mn-cs"/>
              </a:rPr>
              <a:t>Two logic objects are available: the </a:t>
            </a:r>
            <a:r>
              <a:rPr lang="en-GB" sz="1200" i="1" kern="1200" dirty="0">
                <a:solidFill>
                  <a:schemeClr val="tx1"/>
                </a:solidFill>
                <a:effectLst/>
                <a:latin typeface="Arial" charset="0"/>
                <a:ea typeface="+mn-ea"/>
                <a:cs typeface="+mn-cs"/>
              </a:rPr>
              <a:t>Switch</a:t>
            </a:r>
            <a:r>
              <a:rPr lang="en-GB" sz="1200" kern="1200" dirty="0">
                <a:solidFill>
                  <a:schemeClr val="tx1"/>
                </a:solidFill>
                <a:effectLst/>
                <a:latin typeface="Arial" charset="0"/>
                <a:ea typeface="+mn-ea"/>
                <a:cs typeface="+mn-cs"/>
              </a:rPr>
              <a:t> group object is first of all evaluated with the </a:t>
            </a:r>
            <a:r>
              <a:rPr lang="en-GB" sz="1200" i="1" kern="1200" dirty="0">
                <a:solidFill>
                  <a:schemeClr val="tx1"/>
                </a:solidFill>
                <a:effectLst/>
                <a:latin typeface="Arial" charset="0"/>
                <a:ea typeface="+mn-ea"/>
                <a:cs typeface="+mn-cs"/>
              </a:rPr>
              <a:t>Logic operation 1</a:t>
            </a:r>
            <a:r>
              <a:rPr lang="en-GB" sz="1200" kern="1200" dirty="0">
                <a:solidFill>
                  <a:schemeClr val="tx1"/>
                </a:solidFill>
                <a:effectLst/>
                <a:latin typeface="Arial" charset="0"/>
                <a:ea typeface="+mn-ea"/>
                <a:cs typeface="+mn-cs"/>
              </a:rPr>
              <a:t> group object. The result is linked with the </a:t>
            </a:r>
            <a:r>
              <a:rPr lang="en-GB" sz="1200" i="1" kern="1200" dirty="0">
                <a:solidFill>
                  <a:schemeClr val="tx1"/>
                </a:solidFill>
                <a:effectLst/>
                <a:latin typeface="Arial" charset="0"/>
                <a:ea typeface="+mn-ea"/>
                <a:cs typeface="+mn-cs"/>
              </a:rPr>
              <a:t>Logic operation 2</a:t>
            </a:r>
            <a:r>
              <a:rPr lang="en-GB" sz="1200" kern="1200" dirty="0">
                <a:solidFill>
                  <a:schemeClr val="tx1"/>
                </a:solidFill>
                <a:effectLst/>
                <a:latin typeface="Arial" charset="0"/>
                <a:ea typeface="+mn-ea"/>
                <a:cs typeface="+mn-cs"/>
              </a:rPr>
              <a:t> group object.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activation of the logic function means that the switch object of the respective channel (output) interacts with the logic objects of the associated channel (output).</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a:t>
            </a:fld>
            <a:endParaRPr lang="en-US"/>
          </a:p>
        </p:txBody>
      </p:sp>
    </p:spTree>
    <p:extLst>
      <p:ext uri="{BB962C8B-B14F-4D97-AF65-F5344CB8AC3E}">
        <p14:creationId xmlns:p14="http://schemas.microsoft.com/office/powerpoint/2010/main" val="1453651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OR Function with ON/OFF Delay</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logic object can be activated for the respective switch contact. The following logic operations are available: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AND function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OR function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XOR function</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3: Parameter window for logic operation (extract) e.g. 8-fold switch actuator</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addition to activating the logic operation, the ON/OFF delay can also be used.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Several alternatives can be selected here which the delays have an effect on. </a:t>
            </a:r>
          </a:p>
          <a:p>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4: Parameter window for ON/OFF delay (extract) e.g. 8-gang switch actuator</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should be noted that the ON/OFF delay does not affect the logic object.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is therefore possible to switch circuits for specific applications directly (via logic objects) and with a time delay (via switch objects).</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a:t>
            </a:fld>
            <a:endParaRPr lang="en-US"/>
          </a:p>
        </p:txBody>
      </p:sp>
    </p:spTree>
    <p:extLst>
      <p:ext uri="{BB962C8B-B14F-4D97-AF65-F5344CB8AC3E}">
        <p14:creationId xmlns:p14="http://schemas.microsoft.com/office/powerpoint/2010/main" val="3523845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Flow Diagram of OR Function</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5: Flow diagram of OR function</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Case 1:	The actuator follows the ON and OFF signals that are active in the switch object.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Case 2:	The actuator follows the ON and OFF signals that are active in the logic object.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Case 3:	If the signals of the switch object and the logic object intersect each other, the output is switched on by the first ON signal and switched off by the last OFF signal sent.</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a:t>
            </a:fld>
            <a:endParaRPr lang="en-US"/>
          </a:p>
        </p:txBody>
      </p:sp>
    </p:spTree>
    <p:extLst>
      <p:ext uri="{BB962C8B-B14F-4D97-AF65-F5344CB8AC3E}">
        <p14:creationId xmlns:p14="http://schemas.microsoft.com/office/powerpoint/2010/main" val="4058123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OR Function with ON and OFF Delay</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Note</a:t>
            </a:r>
            <a:r>
              <a:rPr lang="en-GB" sz="1200" kern="1200" dirty="0">
                <a:solidFill>
                  <a:schemeClr val="tx1"/>
                </a:solidFill>
                <a:effectLst/>
                <a:latin typeface="Arial" charset="0"/>
                <a:ea typeface="+mn-ea"/>
                <a:cs typeface="+mn-cs"/>
              </a:rPr>
              <a:t>: The OR function with an ON and OFF delay reacts differently depending on the manufacturer. A flow chart of a product e.g. 8-fold switch actuator is shown as an example.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ON and OFF delay is configured on the switch object.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logic object functions without a delay.</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6: Flow diagram of OR function with ON and OFF delay</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Case 1:	The output switches on once the ON delay has elapsed. The OFF period starts when the OFF command has been sent and the output switches off once it has elapsed.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Case 2:	As the logic object is operating without a delay, the output is switched directly by ON and OFF signals from the logic object.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Case 3:	If the logic object receives an ON command while the ON delay of the switch object is active, the output is switched on. If the switch object and the logic object receive an OFF signal, the output is switched off once the OFF delay has elapsed.</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If the logic object only receives an OFF signal once the OFF delay of the switch object has elapsed, the output is switched off by this OFF signal (not shown).</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7</a:t>
            </a:fld>
            <a:endParaRPr lang="en-US"/>
          </a:p>
        </p:txBody>
      </p:sp>
    </p:spTree>
    <p:extLst>
      <p:ext uri="{BB962C8B-B14F-4D97-AF65-F5344CB8AC3E}">
        <p14:creationId xmlns:p14="http://schemas.microsoft.com/office/powerpoint/2010/main" val="3625093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AND Function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activated AND function enables a circuit to be switched dependent on one or several conditions. (Manufacturer- and product-dependent) timing functions such as ON, OFF and ON/OFF delays can also be parameterised.</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Note</a:t>
            </a:r>
            <a:r>
              <a:rPr lang="en-GB" sz="1200" kern="1200" dirty="0">
                <a:solidFill>
                  <a:schemeClr val="tx1"/>
                </a:solidFill>
                <a:effectLst/>
                <a:latin typeface="Arial" charset="0"/>
                <a:ea typeface="+mn-ea"/>
                <a:cs typeface="+mn-cs"/>
              </a:rPr>
              <a:t>:	When using an AND function, it should be ensured that an AND condition which has been caused by a physical variable (e.g. temperature or brightness) is not reset by a manual operation (e.g. "Central OFF"). This problem can likewise be solved by the cyclical sending of a signal.</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8</a:t>
            </a:fld>
            <a:endParaRPr lang="en-US"/>
          </a:p>
        </p:txBody>
      </p:sp>
    </p:spTree>
    <p:extLst>
      <p:ext uri="{BB962C8B-B14F-4D97-AF65-F5344CB8AC3E}">
        <p14:creationId xmlns:p14="http://schemas.microsoft.com/office/powerpoint/2010/main" val="3569570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AND Function without Delay</a:t>
            </a:r>
          </a:p>
          <a:p>
            <a:pPr lvl="0"/>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7: Flow diagram of AND function without delay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Case 1:	The ON signal in the switch object sets a marker. The output is only switched on when the logic object receives a ‘1’. If a ‘0’ is sent to the logic object, the output switches off.</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Case 2:	The ON signal in the logic object sets a marker. The output is only switched on when the switch object receives a ‘1’. If a ‘0’ is sent to the logic object, the output switches off. If the switch object receives a ‘0’ as useful data before the logic object, the AND condition is no longer met and the output is switched off.</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9</a:t>
            </a:fld>
            <a:endParaRPr lang="en-US"/>
          </a:p>
        </p:txBody>
      </p:sp>
    </p:spTree>
    <p:extLst>
      <p:ext uri="{BB962C8B-B14F-4D97-AF65-F5344CB8AC3E}">
        <p14:creationId xmlns:p14="http://schemas.microsoft.com/office/powerpoint/2010/main" val="2893803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AND Function with ON and OFF Delay</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For the manufacturer- and product-dependent AND function, it should be noted that an activated timing function only influences the switch object and/or the staircase lighting object, dependent on the parameterisation.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The logic object functions without a delay.</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ON and OFF delay and their effect on the switch object are defined in the following parameter window of the 8-fold switch actuator which has been selected as an example.</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Simple logic gates can be implemented with the logic function. The following objects are available as input objects per channel: – Switch Object Channel X – Staircase Lighting Object Channel X – Logic Object A Channel X. The output of the logic function can only be processed internally in the switch actuator; that means that the logic result is routed to the relay of the respective channel and not sent on the bus.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input objects “Switch object” and “Staircase lighting object” are always interconnected with an OR gate for the basic logic function. The output of this OR gate leads to a freely configurable gate: AND, OR, XOR. The following diagram shows a logic operation with an AND function.</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9: Flow diagram of AND function of 8-fold switch actuator</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10</a:t>
            </a:fld>
            <a:endParaRPr lang="en-US"/>
          </a:p>
        </p:txBody>
      </p:sp>
    </p:spTree>
    <p:extLst>
      <p:ext uri="{BB962C8B-B14F-4D97-AF65-F5344CB8AC3E}">
        <p14:creationId xmlns:p14="http://schemas.microsoft.com/office/powerpoint/2010/main" val="2125256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Figure 10: Flow diagram of AND function of 8-fold switch actuator</a:t>
            </a:r>
            <a:endParaRPr lang="es-ES" sz="1200" b="1" kern="1200" dirty="0">
              <a:solidFill>
                <a:schemeClr val="tx1"/>
              </a:solidFill>
              <a:effectLst/>
              <a:latin typeface="Arial" charset="0"/>
              <a:ea typeface="+mn-ea"/>
              <a:cs typeface="+mn-cs"/>
            </a:endParaRPr>
          </a:p>
          <a:p>
            <a:endParaRPr lang="en-GB" sz="1200" b="0" kern="1200" dirty="0">
              <a:solidFill>
                <a:schemeClr val="tx1"/>
              </a:solidFill>
              <a:effectLst/>
              <a:latin typeface="Arial" charset="0"/>
              <a:ea typeface="+mn-ea"/>
              <a:cs typeface="+mn-cs"/>
            </a:endParaRPr>
          </a:p>
          <a:p>
            <a:r>
              <a:rPr lang="en-GB" sz="1200" b="0" kern="1200" dirty="0">
                <a:solidFill>
                  <a:schemeClr val="tx1"/>
                </a:solidFill>
                <a:effectLst/>
                <a:latin typeface="Arial" charset="0"/>
                <a:ea typeface="+mn-ea"/>
                <a:cs typeface="+mn-cs"/>
              </a:rPr>
              <a:t>Case 1:	An ON signal has been sent to the logic object. The switch object likewise receives a ‘1’ as useful data. The output is switched on once the set ON delay (</a:t>
            </a:r>
            <a:r>
              <a:rPr lang="en-GB" sz="1200" b="0" kern="1200" dirty="0" err="1">
                <a:solidFill>
                  <a:schemeClr val="tx1"/>
                </a:solidFill>
                <a:effectLst/>
                <a:latin typeface="Arial" charset="0"/>
                <a:ea typeface="+mn-ea"/>
                <a:cs typeface="+mn-cs"/>
              </a:rPr>
              <a:t>t</a:t>
            </a:r>
            <a:r>
              <a:rPr lang="en-GB" sz="1200" b="0" kern="1200" baseline="-25000" dirty="0" err="1">
                <a:solidFill>
                  <a:schemeClr val="tx1"/>
                </a:solidFill>
                <a:effectLst/>
                <a:latin typeface="Arial" charset="0"/>
                <a:ea typeface="+mn-ea"/>
                <a:cs typeface="+mn-cs"/>
              </a:rPr>
              <a:t>e</a:t>
            </a:r>
            <a:r>
              <a:rPr lang="en-GB" sz="1200" b="0" kern="1200" dirty="0">
                <a:solidFill>
                  <a:schemeClr val="tx1"/>
                </a:solidFill>
                <a:effectLst/>
                <a:latin typeface="Arial" charset="0"/>
                <a:ea typeface="+mn-ea"/>
                <a:cs typeface="+mn-cs"/>
              </a:rPr>
              <a:t>) has elapsed. A ‘0’ in the switch object starts the OFF delay (t</a:t>
            </a:r>
            <a:r>
              <a:rPr lang="en-GB" sz="1200" b="0" kern="1200" baseline="-25000" dirty="0">
                <a:solidFill>
                  <a:schemeClr val="tx1"/>
                </a:solidFill>
                <a:effectLst/>
                <a:latin typeface="Arial" charset="0"/>
                <a:ea typeface="+mn-ea"/>
                <a:cs typeface="+mn-cs"/>
              </a:rPr>
              <a:t>a</a:t>
            </a:r>
            <a:r>
              <a:rPr lang="en-GB" sz="1200" b="0" kern="1200" dirty="0">
                <a:solidFill>
                  <a:schemeClr val="tx1"/>
                </a:solidFill>
                <a:effectLst/>
                <a:latin typeface="Arial" charset="0"/>
                <a:ea typeface="+mn-ea"/>
                <a:cs typeface="+mn-cs"/>
              </a:rPr>
              <a:t>). The output switches off once the delay period has elapsed.</a:t>
            </a:r>
            <a:endParaRPr lang="es-ES" sz="1200" b="1" kern="1200" dirty="0">
              <a:solidFill>
                <a:schemeClr val="tx1"/>
              </a:solidFill>
              <a:effectLst/>
              <a:latin typeface="Arial" charset="0"/>
              <a:ea typeface="+mn-ea"/>
              <a:cs typeface="+mn-cs"/>
            </a:endParaRPr>
          </a:p>
          <a:p>
            <a:r>
              <a:rPr lang="en-GB" sz="1200" b="0" kern="1200" dirty="0">
                <a:solidFill>
                  <a:schemeClr val="tx1"/>
                </a:solidFill>
                <a:effectLst/>
                <a:latin typeface="Arial" charset="0"/>
                <a:ea typeface="+mn-ea"/>
                <a:cs typeface="+mn-cs"/>
              </a:rPr>
              <a:t>Case 2:	A ‘1’ is sent to the switch object as useful data. If a ‘1’ is sent to the logic object during the set ON period, the output is switched on once the ON delay of the switch object has elapsed. A ‘0’ in the switch object starts the OFF delay (t</a:t>
            </a:r>
            <a:r>
              <a:rPr lang="en-GB" sz="1200" b="0" kern="1200" baseline="-25000" dirty="0">
                <a:solidFill>
                  <a:schemeClr val="tx1"/>
                </a:solidFill>
                <a:effectLst/>
                <a:latin typeface="Arial" charset="0"/>
                <a:ea typeface="+mn-ea"/>
                <a:cs typeface="+mn-cs"/>
              </a:rPr>
              <a:t>a</a:t>
            </a:r>
            <a:r>
              <a:rPr lang="en-GB" sz="1200" b="0" kern="1200" dirty="0">
                <a:solidFill>
                  <a:schemeClr val="tx1"/>
                </a:solidFill>
                <a:effectLst/>
                <a:latin typeface="Arial" charset="0"/>
                <a:ea typeface="+mn-ea"/>
                <a:cs typeface="+mn-cs"/>
              </a:rPr>
              <a:t>). If the logic object receives a ‘0’ during the OFF delay, the output is switched off directly.</a:t>
            </a:r>
            <a:endParaRPr lang="es-ES" sz="1200" b="1" kern="1200" dirty="0">
              <a:solidFill>
                <a:schemeClr val="tx1"/>
              </a:solidFill>
              <a:effectLst/>
              <a:latin typeface="Arial" charset="0"/>
              <a:ea typeface="+mn-ea"/>
              <a:cs typeface="+mn-cs"/>
            </a:endParaRPr>
          </a:p>
          <a:p>
            <a:r>
              <a:rPr lang="en-GB" sz="1200" b="0" kern="1200" dirty="0">
                <a:solidFill>
                  <a:schemeClr val="tx1"/>
                </a:solidFill>
                <a:effectLst/>
                <a:latin typeface="Arial" charset="0"/>
                <a:ea typeface="+mn-ea"/>
                <a:cs typeface="+mn-cs"/>
              </a:rPr>
              <a:t>Summary:	To use the ON and OFF delays fully, the logic object must receive a ‘1’ as a useful signal before the switch object and may only be deactivated by a ‘0’ once the OFF delay has elapsed (t</a:t>
            </a:r>
            <a:r>
              <a:rPr lang="en-GB" sz="1200" b="0" kern="1200" baseline="-25000" dirty="0">
                <a:solidFill>
                  <a:schemeClr val="tx1"/>
                </a:solidFill>
                <a:effectLst/>
                <a:latin typeface="Arial" charset="0"/>
                <a:ea typeface="+mn-ea"/>
                <a:cs typeface="+mn-cs"/>
              </a:rPr>
              <a:t>a</a:t>
            </a:r>
            <a:r>
              <a:rPr lang="en-GB" sz="1200" b="0" kern="1200" dirty="0">
                <a:solidFill>
                  <a:schemeClr val="tx1"/>
                </a:solidFill>
                <a:effectLst/>
                <a:latin typeface="Arial" charset="0"/>
                <a:ea typeface="+mn-ea"/>
                <a:cs typeface="+mn-cs"/>
              </a:rPr>
              <a:t>).</a:t>
            </a:r>
            <a:endParaRPr lang="es-ES" sz="1200" b="1"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11</a:t>
            </a:fld>
            <a:endParaRPr lang="en-US"/>
          </a:p>
        </p:txBody>
      </p:sp>
    </p:spTree>
    <p:extLst>
      <p:ext uri="{BB962C8B-B14F-4D97-AF65-F5344CB8AC3E}">
        <p14:creationId xmlns:p14="http://schemas.microsoft.com/office/powerpoint/2010/main" val="1416833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Extended Logic (Direct Relay Control)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Additional dependencies and behaviour patterns of the switch actuators can be configured e.g. via “Extended Logic” dependent on the manufacturer and product. The options are shown with the example of an 8-fold switch actuator.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With the parameter setting “Extended Logic”, up to three logic objects can be linked with different gates which then influence the relay output (parameter line: “Time 1 Output” </a:t>
            </a:r>
            <a:r>
              <a:rPr lang="en-GB" sz="1200" kern="1200" dirty="0">
                <a:solidFill>
                  <a:schemeClr val="tx1"/>
                </a:solidFill>
                <a:effectLst/>
                <a:latin typeface="Arial" charset="0"/>
                <a:ea typeface="+mn-ea"/>
                <a:cs typeface="+mn-cs"/>
                <a:sym typeface="Wingdings" panose="05000000000000000000" pitchFamily="2" charset="2"/>
              </a:rPr>
              <a:t></a:t>
            </a:r>
            <a:r>
              <a:rPr lang="en-GB" sz="1200" kern="1200" dirty="0">
                <a:solidFill>
                  <a:schemeClr val="tx1"/>
                </a:solidFill>
                <a:effectLst/>
                <a:latin typeface="Arial" charset="0"/>
                <a:ea typeface="+mn-ea"/>
                <a:cs typeface="+mn-cs"/>
              </a:rPr>
              <a:t> “Controls relay directly”). In addition, “Gate functions” and “Filters” can be activated for technical processes.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11: Parameters for "Extended Logic" (controls relay directly) – 8-fold switch actuator</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When using the “Extended Logic” function, the logic objects of the respective channels are queried depending on the parameterisation of the possible logic gates e.g. AND function) and the result is transferred “internally” to the relay output (Logic Output Channel X). The standard switch object of the respective output (channel) no longer has a function (still shown).</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Figure 12: Group objects for "Extended Logic" (controls relay directly) – 8-fold switch actuator</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12</a:t>
            </a:fld>
            <a:endParaRPr lang="en-US"/>
          </a:p>
        </p:txBody>
      </p:sp>
    </p:spTree>
    <p:extLst>
      <p:ext uri="{BB962C8B-B14F-4D97-AF65-F5344CB8AC3E}">
        <p14:creationId xmlns:p14="http://schemas.microsoft.com/office/powerpoint/2010/main" val="3122885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Extended Logic (Object Logic Output)</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With the parameter setting “Extended Logic”, up to three logic objects are used to combine the group addresses assigned to the group objects into a new group address.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13: Parameters for "Extended Logic" (Object Logic Output) – 8-fold switch actuator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Different gate functions can be used and connected with each other. The result of the gate function is then sent as a group address on the bus via the group object "Logic Output" (parameter line: “Time 1 Output” </a:t>
            </a:r>
            <a:r>
              <a:rPr lang="en-GB" sz="1200" kern="1200" dirty="0">
                <a:solidFill>
                  <a:schemeClr val="tx1"/>
                </a:solidFill>
                <a:effectLst/>
                <a:latin typeface="Arial" charset="0"/>
                <a:ea typeface="+mn-ea"/>
                <a:cs typeface="+mn-cs"/>
                <a:sym typeface="Wingdings" panose="05000000000000000000" pitchFamily="2" charset="2"/>
              </a:rPr>
              <a:t></a:t>
            </a:r>
            <a:r>
              <a:rPr lang="en-GB" sz="1200" kern="1200" dirty="0">
                <a:solidFill>
                  <a:schemeClr val="tx1"/>
                </a:solidFill>
                <a:effectLst/>
                <a:latin typeface="Arial" charset="0"/>
                <a:ea typeface="+mn-ea"/>
                <a:cs typeface="+mn-cs"/>
              </a:rPr>
              <a:t> “Object Logic Output”).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“Gate functions” and “Filters” can be activated for technical processes.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standard switch object of the respective output (channel) no longer has a function (still shown).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14: Group objects for "Extended Logic" (Object Logic Output) – 8-fold switch actuator</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13</a:t>
            </a:fld>
            <a:endParaRPr lang="en-US"/>
          </a:p>
        </p:txBody>
      </p:sp>
    </p:spTree>
    <p:extLst>
      <p:ext uri="{BB962C8B-B14F-4D97-AF65-F5344CB8AC3E}">
        <p14:creationId xmlns:p14="http://schemas.microsoft.com/office/powerpoint/2010/main" val="3431308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Logical Connection of Group Addresses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many building functions, there are a variety of tasks that are defined by various group addresses and must be linked together. The requirement can also arise to combine several group addresses into a new group address due to the limited number of associations in a group object.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There is the requirement for other applications to be able to address several objects with various bit widths (1 bit, 8 bit) at the same time with a transmitted address.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Furthermore, various applications have time-limited functions which must be made possible by filtering group addresses.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14</a:t>
            </a:fld>
            <a:endParaRPr lang="en-US"/>
          </a:p>
        </p:txBody>
      </p:sp>
    </p:spTree>
    <p:extLst>
      <p:ext uri="{BB962C8B-B14F-4D97-AF65-F5344CB8AC3E}">
        <p14:creationId xmlns:p14="http://schemas.microsoft.com/office/powerpoint/2010/main" val="37221457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Logic Module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logic modules that are available from various manufacturers offer a range of parameters for managing the logic operations mentioned above.</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Problematic Situations</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Telegram Transfer Times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When using status response objects, it should be noted that problems can be caused by the transfer times of telegrams. Telegrams may no longer arrive at the same time due to the time adjustment so that the logic result at the gate may be incorrect.</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Cyclical Sending</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cyclical sending of sensors can have serious consequences if they are led via logic operations which then cannot carry out cyclical sending themselves. By way of example, an alarm trigger function should be disabled or enabled via a gate in the same way as a watchdog circuit. If an AND function is set for this input, an alarm would pass through to the other input exactly once. The inputs are however sometimes set for cyclical sending to compensate for possible transmission errors caused by repetitions.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is important to know here that in contrast to PLC gates, KNX logic gate modules can also send cyclically (i.e. function practically only as transparent converters).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GB"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15</a:t>
            </a:fld>
            <a:endParaRPr lang="en-US"/>
          </a:p>
        </p:txBody>
      </p:sp>
    </p:spTree>
    <p:extLst>
      <p:ext uri="{BB962C8B-B14F-4D97-AF65-F5344CB8AC3E}">
        <p14:creationId xmlns:p14="http://schemas.microsoft.com/office/powerpoint/2010/main" val="5727576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400" b="1" kern="1200" dirty="0">
                <a:solidFill>
                  <a:schemeClr val="tx1"/>
                </a:solidFill>
                <a:effectLst/>
                <a:latin typeface="Arial" charset="0"/>
                <a:ea typeface="+mn-ea"/>
                <a:cs typeface="+mn-cs"/>
              </a:rPr>
              <a:t>Available Parameter Settings of Logic Modules</a:t>
            </a:r>
            <a:endParaRPr lang="es-ES" sz="14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Each KNX installation has its own requirements.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application possibilities on a logic module are shown as an example.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logic module offers functions which are not possible with sensors and actuators alone. By carrying out three different functions at the same time (e.g. logic, threshold values and scenes), all the additional functions can generally be carried out in small KNX installations with a logic module.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logic module for example makes different functions available in a device for special logic operations between sensors and actuators. The 12 possible functions can be seen from the parameter overview.</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100" b="1" kern="1200" dirty="0">
                <a:solidFill>
                  <a:schemeClr val="tx1"/>
                </a:solidFill>
                <a:effectLst/>
                <a:latin typeface="Arial" charset="0"/>
                <a:ea typeface="+mn-ea"/>
                <a:cs typeface="+mn-cs"/>
              </a:rPr>
              <a:t>Figure 15: Parameter window of "Logic Module" (extract)</a:t>
            </a:r>
            <a:endParaRPr lang="es-ES" sz="1100" b="1"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16</a:t>
            </a:fld>
            <a:endParaRPr lang="en-US"/>
          </a:p>
        </p:txBody>
      </p:sp>
    </p:spTree>
    <p:extLst>
      <p:ext uri="{BB962C8B-B14F-4D97-AF65-F5344CB8AC3E}">
        <p14:creationId xmlns:p14="http://schemas.microsoft.com/office/powerpoint/2010/main" val="11364844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400" b="1" kern="1200" dirty="0">
                <a:solidFill>
                  <a:schemeClr val="tx1"/>
                </a:solidFill>
                <a:effectLst/>
                <a:latin typeface="Arial" charset="0"/>
                <a:ea typeface="+mn-ea"/>
                <a:cs typeface="+mn-cs"/>
              </a:rPr>
              <a:t>Available Parameter Settings of Logic Modules</a:t>
            </a:r>
            <a:endParaRPr lang="es-ES" sz="14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applies to all the parameter windows and functions of the selected logic module:</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Behaviour of the inputs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After receipt of a telegram, all the inputs first save the values in order to make them available (e.g. for logic functions) for further processing. When a new telegram reaches the input, the values are overwritten accordingly.</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Disable objects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Disable objects always block the function on receipt of an ON telegram at the group object “xx Disable xx”. On receipt of an OFF telegram at the group object “xx Disable xx”, the function is enabled.</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Send delay</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send delay indicates how long the logic module waits (depending on the parameterised send condition), before it sends a new value as an output telegram.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Cyclical sending</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Some functions of the logic module enable the cyclical sending of an output value. The set cycle is then maintained until an output value changes. When a value is changed, the output is immediately sent and the next sending cycle is started.</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Data types and datapoint types (DPT)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Different datatypes can be selected for some functions of the logic module. The datapoint type (DPT - Interworking Standard) is applied where applicable.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17</a:t>
            </a:fld>
            <a:endParaRPr lang="en-US"/>
          </a:p>
        </p:txBody>
      </p:sp>
    </p:spTree>
    <p:extLst>
      <p:ext uri="{BB962C8B-B14F-4D97-AF65-F5344CB8AC3E}">
        <p14:creationId xmlns:p14="http://schemas.microsoft.com/office/powerpoint/2010/main" val="2476337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Format Converter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t>
            </a:r>
            <a:r>
              <a:rPr lang="en-GB" sz="1200" i="1" kern="1200" dirty="0">
                <a:solidFill>
                  <a:schemeClr val="tx1"/>
                </a:solidFill>
                <a:effectLst/>
                <a:latin typeface="Arial" charset="0"/>
                <a:ea typeface="+mn-ea"/>
                <a:cs typeface="+mn-cs"/>
              </a:rPr>
              <a:t>Format Converter </a:t>
            </a:r>
            <a:r>
              <a:rPr lang="en-GB" sz="1200" kern="1200" dirty="0">
                <a:solidFill>
                  <a:schemeClr val="tx1"/>
                </a:solidFill>
                <a:effectLst/>
                <a:latin typeface="Arial" charset="0"/>
                <a:ea typeface="+mn-ea"/>
                <a:cs typeface="+mn-cs"/>
              </a:rPr>
              <a:t>is selected as a function in the </a:t>
            </a:r>
            <a:r>
              <a:rPr lang="en-GB" sz="1200" i="1" kern="1200" dirty="0">
                <a:solidFill>
                  <a:schemeClr val="tx1"/>
                </a:solidFill>
                <a:effectLst/>
                <a:latin typeface="Arial" charset="0"/>
                <a:ea typeface="+mn-ea"/>
                <a:cs typeface="+mn-cs"/>
              </a:rPr>
              <a:t>General</a:t>
            </a:r>
            <a:r>
              <a:rPr lang="en-GB" sz="1200" kern="1200" dirty="0">
                <a:solidFill>
                  <a:schemeClr val="tx1"/>
                </a:solidFill>
                <a:effectLst/>
                <a:latin typeface="Arial" charset="0"/>
                <a:ea typeface="+mn-ea"/>
                <a:cs typeface="+mn-cs"/>
              </a:rPr>
              <a:t> parameter, a line appears in the ETS parameter window. The function is always prefixed with the name of the line for which the format converter has been selected (e.g. A – Format converter).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Data (e.g. 1 byte values) can be converted into another format (e.g. 8 x 1 bit) by the format converter. </a:t>
            </a:r>
          </a:p>
          <a:p>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16: Parameters for “Format Converter” function </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t>
            </a:r>
            <a:r>
              <a:rPr lang="en-GB" sz="1200" i="1" kern="1200" dirty="0">
                <a:solidFill>
                  <a:schemeClr val="tx1"/>
                </a:solidFill>
                <a:effectLst/>
                <a:latin typeface="Arial" charset="0"/>
                <a:ea typeface="+mn-ea"/>
                <a:cs typeface="+mn-cs"/>
              </a:rPr>
              <a:t>Format Converter </a:t>
            </a:r>
            <a:r>
              <a:rPr lang="en-GB" sz="1200" kern="1200" dirty="0">
                <a:solidFill>
                  <a:schemeClr val="tx1"/>
                </a:solidFill>
                <a:effectLst/>
                <a:latin typeface="Arial" charset="0"/>
                <a:ea typeface="+mn-ea"/>
                <a:cs typeface="+mn-cs"/>
              </a:rPr>
              <a:t>function breaks down an input telegram into several output telegram of a different format or generates an output telegram from several input telegrams of another format. That means that telegrams are broken down or put together at format level. No specific datapoint type (DTP) can therefore be assigned to the input and output objects. An assignment between the object and a datapoint type (DTP) arises due to the context of the ETS project in which this function is used.</a:t>
            </a:r>
          </a:p>
          <a:p>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17: Group objects (extract) of ‘Format Converter’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the event of bus voltage failure or when the logic module is reprogrammed, the input values are not saved.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18</a:t>
            </a:fld>
            <a:endParaRPr lang="en-US"/>
          </a:p>
        </p:txBody>
      </p:sp>
    </p:spTree>
    <p:extLst>
      <p:ext uri="{BB962C8B-B14F-4D97-AF65-F5344CB8AC3E}">
        <p14:creationId xmlns:p14="http://schemas.microsoft.com/office/powerpoint/2010/main" val="4095016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Logic Gates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function </a:t>
            </a:r>
            <a:r>
              <a:rPr lang="en-GB" sz="1200" i="1" kern="1200" dirty="0">
                <a:solidFill>
                  <a:schemeClr val="tx1"/>
                </a:solidFill>
                <a:effectLst/>
                <a:latin typeface="Arial" charset="0"/>
                <a:ea typeface="+mn-ea"/>
                <a:cs typeface="+mn-cs"/>
              </a:rPr>
              <a:t>Logic </a:t>
            </a:r>
            <a:r>
              <a:rPr lang="en-GB" sz="1200" kern="1200" dirty="0">
                <a:solidFill>
                  <a:schemeClr val="tx1"/>
                </a:solidFill>
                <a:effectLst/>
                <a:latin typeface="Arial" charset="0"/>
                <a:ea typeface="+mn-ea"/>
                <a:cs typeface="+mn-cs"/>
              </a:rPr>
              <a:t>is selected in the </a:t>
            </a:r>
            <a:r>
              <a:rPr lang="en-GB" sz="1200" i="1" kern="1200" dirty="0">
                <a:solidFill>
                  <a:schemeClr val="tx1"/>
                </a:solidFill>
                <a:effectLst/>
                <a:latin typeface="Arial" charset="0"/>
                <a:ea typeface="+mn-ea"/>
                <a:cs typeface="+mn-cs"/>
              </a:rPr>
              <a:t>General</a:t>
            </a:r>
            <a:r>
              <a:rPr lang="en-GB" sz="1200" kern="1200" dirty="0">
                <a:solidFill>
                  <a:schemeClr val="tx1"/>
                </a:solidFill>
                <a:effectLst/>
                <a:latin typeface="Arial" charset="0"/>
                <a:ea typeface="+mn-ea"/>
                <a:cs typeface="+mn-cs"/>
              </a:rPr>
              <a:t> window, 3 further lines appear in the ETS parameter window. The function is always prefixed with the name of the line for which the logic gate has been selected (e.g. A – Logic Input 1 - 4).</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Logic gates can be used to logically process states of the KNX installation which are report via telegrams. An output for example can only be sent from an AND gate if the input for twilight = 1 and the input for movement = 1. A change in the input signals causes the output to be sent (depending on the parameterisation). The input values are saved on bus voltage failure (if configured). If the logic module is reprogrammed, the saved input values are always deleted.</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18: Parameters (extract) of ‘Logic (Gate) Inputs/Output’</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19</a:t>
            </a:fld>
            <a:endParaRPr lang="en-US"/>
          </a:p>
        </p:txBody>
      </p:sp>
    </p:spTree>
    <p:extLst>
      <p:ext uri="{BB962C8B-B14F-4D97-AF65-F5344CB8AC3E}">
        <p14:creationId xmlns:p14="http://schemas.microsoft.com/office/powerpoint/2010/main" val="483162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Min/Max-Value Indication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function </a:t>
            </a:r>
            <a:r>
              <a:rPr lang="en-GB" sz="1200" i="1" kern="1200" dirty="0">
                <a:solidFill>
                  <a:schemeClr val="tx1"/>
                </a:solidFill>
                <a:effectLst/>
                <a:latin typeface="Arial" charset="0"/>
                <a:ea typeface="+mn-ea"/>
                <a:cs typeface="+mn-cs"/>
              </a:rPr>
              <a:t>Min/Max-Value Indication</a:t>
            </a:r>
            <a:r>
              <a:rPr lang="en-GB" sz="1200" kern="1200" dirty="0">
                <a:solidFill>
                  <a:schemeClr val="tx1"/>
                </a:solidFill>
                <a:effectLst/>
                <a:latin typeface="Arial" charset="0"/>
                <a:ea typeface="+mn-ea"/>
                <a:cs typeface="+mn-cs"/>
              </a:rPr>
              <a:t> is selected in the </a:t>
            </a:r>
            <a:r>
              <a:rPr lang="en-GB" sz="1200" i="1" kern="1200" dirty="0">
                <a:solidFill>
                  <a:schemeClr val="tx1"/>
                </a:solidFill>
                <a:effectLst/>
                <a:latin typeface="Arial" charset="0"/>
                <a:ea typeface="+mn-ea"/>
                <a:cs typeface="+mn-cs"/>
              </a:rPr>
              <a:t>General</a:t>
            </a:r>
            <a:r>
              <a:rPr lang="en-GB" sz="1200" kern="1200" dirty="0">
                <a:solidFill>
                  <a:schemeClr val="tx1"/>
                </a:solidFill>
                <a:effectLst/>
                <a:latin typeface="Arial" charset="0"/>
                <a:ea typeface="+mn-ea"/>
                <a:cs typeface="+mn-cs"/>
              </a:rPr>
              <a:t> window, the line appears in the ETS parameter window which carries the name of the selected function (e.g. A – Min/Max-Value Indication). With the min/max-value indication, the largest temperature value for example is determined from 2 sent telegrams. This value from different sensors can then be passed to a temperature controller as a measured value.</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19: Parameters (extract) of ‘Min/Max-Value Indication’</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20</a:t>
            </a:fld>
            <a:endParaRPr lang="en-US"/>
          </a:p>
        </p:txBody>
      </p:sp>
    </p:spTree>
    <p:extLst>
      <p:ext uri="{BB962C8B-B14F-4D97-AF65-F5344CB8AC3E}">
        <p14:creationId xmlns:p14="http://schemas.microsoft.com/office/powerpoint/2010/main" val="3245976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Threshold Value Detection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t>
            </a:r>
            <a:r>
              <a:rPr lang="en-GB" sz="1200" i="1" kern="1200" dirty="0">
                <a:solidFill>
                  <a:schemeClr val="tx1"/>
                </a:solidFill>
                <a:effectLst/>
                <a:latin typeface="Arial" charset="0"/>
                <a:ea typeface="+mn-ea"/>
                <a:cs typeface="+mn-cs"/>
              </a:rPr>
              <a:t>Threshold Values </a:t>
            </a:r>
            <a:r>
              <a:rPr lang="en-GB" sz="1200" kern="1200" dirty="0">
                <a:solidFill>
                  <a:schemeClr val="tx1"/>
                </a:solidFill>
                <a:effectLst/>
                <a:latin typeface="Arial" charset="0"/>
                <a:ea typeface="+mn-ea"/>
                <a:cs typeface="+mn-cs"/>
              </a:rPr>
              <a:t>is selected as a function in the </a:t>
            </a:r>
            <a:r>
              <a:rPr lang="en-GB" sz="1200" i="1" kern="1200" dirty="0">
                <a:solidFill>
                  <a:schemeClr val="tx1"/>
                </a:solidFill>
                <a:effectLst/>
                <a:latin typeface="Arial" charset="0"/>
                <a:ea typeface="+mn-ea"/>
                <a:cs typeface="+mn-cs"/>
              </a:rPr>
              <a:t>General</a:t>
            </a:r>
            <a:r>
              <a:rPr lang="en-GB" sz="1200" kern="1200" dirty="0">
                <a:solidFill>
                  <a:schemeClr val="tx1"/>
                </a:solidFill>
                <a:effectLst/>
                <a:latin typeface="Arial" charset="0"/>
                <a:ea typeface="+mn-ea"/>
                <a:cs typeface="+mn-cs"/>
              </a:rPr>
              <a:t> window, 2 lines appear in the ETS parameter window. The function is always prefixed with the name of the line for which the threshold values have been selected (e.g. A – Threshold Value 1).</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function is used to detect if a value exceeds/falls below a set threshold value. The temperature of a cold store can for example be monitored for a maximum value and a message sent when it is exceeded.</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20: Parameters (extract) of ‘Threshold Value’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Each threshold value function makes 2 independent threshold values available which can be parameterised in the lines Threshold Value 1 (or 2). The datapoint types available for selection are shown in the diagram.</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21</a:t>
            </a:fld>
            <a:endParaRPr lang="en-US"/>
          </a:p>
        </p:txBody>
      </p:sp>
    </p:spTree>
    <p:extLst>
      <p:ext uri="{BB962C8B-B14F-4D97-AF65-F5344CB8AC3E}">
        <p14:creationId xmlns:p14="http://schemas.microsoft.com/office/powerpoint/2010/main" val="36258161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Scenes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t>
            </a:r>
            <a:r>
              <a:rPr lang="en-GB" sz="1200" i="1" kern="1200" dirty="0">
                <a:solidFill>
                  <a:schemeClr val="tx1"/>
                </a:solidFill>
                <a:effectLst/>
                <a:latin typeface="Arial" charset="0"/>
                <a:ea typeface="+mn-ea"/>
                <a:cs typeface="+mn-cs"/>
              </a:rPr>
              <a:t>Scenes</a:t>
            </a:r>
            <a:r>
              <a:rPr lang="en-GB" sz="1200" kern="1200" dirty="0">
                <a:solidFill>
                  <a:schemeClr val="tx1"/>
                </a:solidFill>
                <a:effectLst/>
                <a:latin typeface="Arial" charset="0"/>
                <a:ea typeface="+mn-ea"/>
                <a:cs typeface="+mn-cs"/>
              </a:rPr>
              <a:t> is selected as a function in the </a:t>
            </a:r>
            <a:r>
              <a:rPr lang="en-GB" sz="1200" i="1" kern="1200" dirty="0">
                <a:solidFill>
                  <a:schemeClr val="tx1"/>
                </a:solidFill>
                <a:effectLst/>
                <a:latin typeface="Arial" charset="0"/>
                <a:ea typeface="+mn-ea"/>
                <a:cs typeface="+mn-cs"/>
              </a:rPr>
              <a:t>General</a:t>
            </a:r>
            <a:r>
              <a:rPr lang="en-GB" sz="1200" kern="1200" dirty="0">
                <a:solidFill>
                  <a:schemeClr val="tx1"/>
                </a:solidFill>
                <a:effectLst/>
                <a:latin typeface="Arial" charset="0"/>
                <a:ea typeface="+mn-ea"/>
                <a:cs typeface="+mn-cs"/>
              </a:rPr>
              <a:t> window, further lines appear in the ETS parameter window. The function is always prefixed with the name of the line for which the scenes has been selected (e.g. A – Scenes Common).</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21: Parameters (extract) of ‘Scenes Common’</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Scenes are used to retrieve default settings. There are e.g. 6 group objects available as outputs. The data type is defined once for each output. Different values can then be assigned to these outputs in each scene.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22: Parameters (extract) of ‘Scene Outputs’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scene for a cosy evening by the fire can be defined in a lounge. If this scene is retrieved via a bus telegram, the </a:t>
            </a:r>
            <a:r>
              <a:rPr lang="en-GB" sz="1200" kern="1200" dirty="0" err="1">
                <a:solidFill>
                  <a:schemeClr val="tx1"/>
                </a:solidFill>
                <a:effectLst/>
                <a:latin typeface="Arial" charset="0"/>
                <a:ea typeface="+mn-ea"/>
                <a:cs typeface="+mn-cs"/>
              </a:rPr>
              <a:t>preset</a:t>
            </a:r>
            <a:r>
              <a:rPr lang="en-GB" sz="1200" kern="1200" dirty="0">
                <a:solidFill>
                  <a:schemeClr val="tx1"/>
                </a:solidFill>
                <a:effectLst/>
                <a:latin typeface="Arial" charset="0"/>
                <a:ea typeface="+mn-ea"/>
                <a:cs typeface="+mn-cs"/>
              </a:rPr>
              <a:t> values for the scene are sent on the bus to the actuators as telegrams. A standard lamp can thus for example be switched on, the ceiling lighting dimmed to 10 % and the heating setpoint lowered to 19 °C.</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23: Parameters (extract) of ‘Scene 1’</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22</a:t>
            </a:fld>
            <a:endParaRPr lang="en-US"/>
          </a:p>
        </p:txBody>
      </p:sp>
    </p:spTree>
    <p:extLst>
      <p:ext uri="{BB962C8B-B14F-4D97-AF65-F5344CB8AC3E}">
        <p14:creationId xmlns:p14="http://schemas.microsoft.com/office/powerpoint/2010/main" val="11083101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Temperature Comparator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t>
            </a:r>
            <a:r>
              <a:rPr lang="en-GB" sz="1200" i="1" kern="1200" dirty="0">
                <a:solidFill>
                  <a:schemeClr val="tx1"/>
                </a:solidFill>
                <a:effectLst/>
                <a:latin typeface="Arial" charset="0"/>
                <a:ea typeface="+mn-ea"/>
                <a:cs typeface="+mn-cs"/>
              </a:rPr>
              <a:t>Temperature Comparator </a:t>
            </a:r>
            <a:r>
              <a:rPr lang="en-GB" sz="1200" kern="1200" dirty="0">
                <a:solidFill>
                  <a:schemeClr val="tx1"/>
                </a:solidFill>
                <a:effectLst/>
                <a:latin typeface="Arial" charset="0"/>
                <a:ea typeface="+mn-ea"/>
                <a:cs typeface="+mn-cs"/>
              </a:rPr>
              <a:t>is selected as a function in the </a:t>
            </a:r>
            <a:r>
              <a:rPr lang="en-GB" sz="1200" i="1" kern="1200" dirty="0">
                <a:solidFill>
                  <a:schemeClr val="tx1"/>
                </a:solidFill>
                <a:effectLst/>
                <a:latin typeface="Arial" charset="0"/>
                <a:ea typeface="+mn-ea"/>
                <a:cs typeface="+mn-cs"/>
              </a:rPr>
              <a:t>General</a:t>
            </a:r>
            <a:r>
              <a:rPr lang="en-GB" sz="1200" kern="1200" dirty="0">
                <a:solidFill>
                  <a:schemeClr val="tx1"/>
                </a:solidFill>
                <a:effectLst/>
                <a:latin typeface="Arial" charset="0"/>
                <a:ea typeface="+mn-ea"/>
                <a:cs typeface="+mn-cs"/>
              </a:rPr>
              <a:t> window, a line appears in the ETS parameter window with the selected function e.g. A – Temperature Comparator.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2 different temperature values can be compared with the temperature valuator. Different telegrams can be sent depending on the result.</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24: Parameters (extract) of ‘Temperature Comparator’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23</a:t>
            </a:fld>
            <a:endParaRPr lang="en-US"/>
          </a:p>
        </p:txBody>
      </p:sp>
    </p:spTree>
    <p:extLst>
      <p:ext uri="{BB962C8B-B14F-4D97-AF65-F5344CB8AC3E}">
        <p14:creationId xmlns:p14="http://schemas.microsoft.com/office/powerpoint/2010/main" val="9814121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Gate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t>
            </a:r>
            <a:r>
              <a:rPr lang="en-GB" sz="1200" i="1" kern="1200" dirty="0">
                <a:solidFill>
                  <a:schemeClr val="tx1"/>
                </a:solidFill>
                <a:effectLst/>
                <a:latin typeface="Arial" charset="0"/>
                <a:ea typeface="+mn-ea"/>
                <a:cs typeface="+mn-cs"/>
              </a:rPr>
              <a:t>Gate/Filter</a:t>
            </a:r>
            <a:r>
              <a:rPr lang="en-GB" sz="1200" kern="1200" dirty="0">
                <a:solidFill>
                  <a:schemeClr val="tx1"/>
                </a:solidFill>
                <a:effectLst/>
                <a:latin typeface="Arial" charset="0"/>
                <a:ea typeface="+mn-ea"/>
                <a:cs typeface="+mn-cs"/>
              </a:rPr>
              <a:t> is selected in the </a:t>
            </a:r>
            <a:r>
              <a:rPr lang="en-GB" sz="1200" i="1" kern="1200" dirty="0">
                <a:solidFill>
                  <a:schemeClr val="tx1"/>
                </a:solidFill>
                <a:effectLst/>
                <a:latin typeface="Arial" charset="0"/>
                <a:ea typeface="+mn-ea"/>
                <a:cs typeface="+mn-cs"/>
              </a:rPr>
              <a:t>General</a:t>
            </a:r>
            <a:r>
              <a:rPr lang="en-GB" sz="1200" kern="1200" dirty="0">
                <a:solidFill>
                  <a:schemeClr val="tx1"/>
                </a:solidFill>
                <a:effectLst/>
                <a:latin typeface="Arial" charset="0"/>
                <a:ea typeface="+mn-ea"/>
                <a:cs typeface="+mn-cs"/>
              </a:rPr>
              <a:t> window, 2 lines appear in the ETS parameter window, each with a gate/filter.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filter function enables the filtering out of telegrams. Telegrams can be routed or blocked with a gate depending on a set condition.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Note: The gate/filter functions operates at the format level of telegrams (e.g. 1 bit,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1 byte, 2 byte) and not on datapoint types (EIS type). An assignment between the object and a datapoint type is only carried out due to the context of the ETS project in which this function is used.</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25: Parameters (extract) of ‘Gate/Filter’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24</a:t>
            </a:fld>
            <a:endParaRPr lang="en-US"/>
          </a:p>
        </p:txBody>
      </p:sp>
    </p:spTree>
    <p:extLst>
      <p:ext uri="{BB962C8B-B14F-4D97-AF65-F5344CB8AC3E}">
        <p14:creationId xmlns:p14="http://schemas.microsoft.com/office/powerpoint/2010/main" val="28066843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Staircase Light</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function </a:t>
            </a:r>
            <a:r>
              <a:rPr lang="en-GB" sz="1200" i="1" kern="1200" dirty="0">
                <a:solidFill>
                  <a:schemeClr val="tx1"/>
                </a:solidFill>
                <a:effectLst/>
                <a:latin typeface="Arial" charset="0"/>
                <a:ea typeface="+mn-ea"/>
                <a:cs typeface="+mn-cs"/>
              </a:rPr>
              <a:t>Staircase Light</a:t>
            </a:r>
            <a:r>
              <a:rPr lang="en-GB" sz="1200" kern="1200" dirty="0">
                <a:solidFill>
                  <a:schemeClr val="tx1"/>
                </a:solidFill>
                <a:effectLst/>
                <a:latin typeface="Arial" charset="0"/>
                <a:ea typeface="+mn-ea"/>
                <a:cs typeface="+mn-cs"/>
              </a:rPr>
              <a:t> is selected in the </a:t>
            </a:r>
            <a:r>
              <a:rPr lang="en-GB" sz="1200" i="1" kern="1200" dirty="0">
                <a:solidFill>
                  <a:schemeClr val="tx1"/>
                </a:solidFill>
                <a:effectLst/>
                <a:latin typeface="Arial" charset="0"/>
                <a:ea typeface="+mn-ea"/>
                <a:cs typeface="+mn-cs"/>
              </a:rPr>
              <a:t>General</a:t>
            </a:r>
            <a:r>
              <a:rPr lang="en-GB" sz="1200" kern="1200" dirty="0">
                <a:solidFill>
                  <a:schemeClr val="tx1"/>
                </a:solidFill>
                <a:effectLst/>
                <a:latin typeface="Arial" charset="0"/>
                <a:ea typeface="+mn-ea"/>
                <a:cs typeface="+mn-cs"/>
              </a:rPr>
              <a:t> window, a line appears in the ETS parameter window in which 2 configurable staircase lights are available.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staircase lighting function mirrors a staircase lighting timer. On receipt of an ON telegram, the delay is started. An OFF telegram is sent to the group object at the input once the delay has elapsed.</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26: Parameters (extract) for ‘Staircase Light’</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25</a:t>
            </a:fld>
            <a:endParaRPr lang="en-US"/>
          </a:p>
        </p:txBody>
      </p:sp>
    </p:spTree>
    <p:extLst>
      <p:ext uri="{BB962C8B-B14F-4D97-AF65-F5344CB8AC3E}">
        <p14:creationId xmlns:p14="http://schemas.microsoft.com/office/powerpoint/2010/main" val="19041592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Multiplier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t>
            </a:r>
            <a:r>
              <a:rPr lang="en-GB" sz="1200" i="1" kern="1200" dirty="0">
                <a:solidFill>
                  <a:schemeClr val="tx1"/>
                </a:solidFill>
                <a:effectLst/>
                <a:latin typeface="Arial" charset="0"/>
                <a:ea typeface="+mn-ea"/>
                <a:cs typeface="+mn-cs"/>
              </a:rPr>
              <a:t>Multiplier</a:t>
            </a:r>
            <a:r>
              <a:rPr lang="en-GB" sz="1200" kern="1200" dirty="0">
                <a:solidFill>
                  <a:schemeClr val="tx1"/>
                </a:solidFill>
                <a:effectLst/>
                <a:latin typeface="Arial" charset="0"/>
                <a:ea typeface="+mn-ea"/>
                <a:cs typeface="+mn-cs"/>
              </a:rPr>
              <a:t> is selected in the </a:t>
            </a:r>
            <a:r>
              <a:rPr lang="en-GB" sz="1200" i="1" kern="1200" dirty="0">
                <a:solidFill>
                  <a:schemeClr val="tx1"/>
                </a:solidFill>
                <a:effectLst/>
                <a:latin typeface="Arial" charset="0"/>
                <a:ea typeface="+mn-ea"/>
                <a:cs typeface="+mn-cs"/>
              </a:rPr>
              <a:t>General</a:t>
            </a:r>
            <a:r>
              <a:rPr lang="en-GB" sz="1200" kern="1200" dirty="0">
                <a:solidFill>
                  <a:schemeClr val="tx1"/>
                </a:solidFill>
                <a:effectLst/>
                <a:latin typeface="Arial" charset="0"/>
                <a:ea typeface="+mn-ea"/>
                <a:cs typeface="+mn-cs"/>
              </a:rPr>
              <a:t> parameter window, 2 lines appear in the ETS parameter window.</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multiplier can be used to pass on several telegrams to the output on receipt of a telegram at the input. The output telegrams can be four 1 bit and/or four 1 byte telegrams.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27: Parameters (extract) of ‘Multiplier 1 bit Outputs’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With the parameter </a:t>
            </a:r>
            <a:r>
              <a:rPr lang="en-GB" sz="1200" i="1" kern="1200" dirty="0">
                <a:solidFill>
                  <a:schemeClr val="tx1"/>
                </a:solidFill>
                <a:effectLst/>
                <a:latin typeface="Arial" charset="0"/>
                <a:ea typeface="+mn-ea"/>
                <a:cs typeface="+mn-cs"/>
              </a:rPr>
              <a:t>Reaction of the 1-Byte output x</a:t>
            </a:r>
            <a:r>
              <a:rPr lang="en-GB" sz="1200" kern="1200" dirty="0">
                <a:solidFill>
                  <a:schemeClr val="tx1"/>
                </a:solidFill>
                <a:effectLst/>
                <a:latin typeface="Arial" charset="0"/>
                <a:ea typeface="+mn-ea"/>
                <a:cs typeface="+mn-cs"/>
              </a:rPr>
              <a:t>, it is defined how a binary output of the multiplier should behave. The option as input telegram corresponds to the function of the simple multiplier. The outputs can however also be inverted or only react to a telegram. For example, the option </a:t>
            </a:r>
            <a:r>
              <a:rPr lang="en-GB" sz="1200" i="1" kern="1200" dirty="0">
                <a:solidFill>
                  <a:schemeClr val="tx1"/>
                </a:solidFill>
                <a:effectLst/>
                <a:latin typeface="Arial" charset="0"/>
                <a:ea typeface="+mn-ea"/>
                <a:cs typeface="+mn-cs"/>
              </a:rPr>
              <a:t>send if ON </a:t>
            </a:r>
            <a:r>
              <a:rPr lang="en-GB" sz="1200" kern="1200" dirty="0">
                <a:solidFill>
                  <a:schemeClr val="tx1"/>
                </a:solidFill>
                <a:effectLst/>
                <a:latin typeface="Arial" charset="0"/>
                <a:ea typeface="+mn-ea"/>
                <a:cs typeface="+mn-cs"/>
              </a:rPr>
              <a:t>causes a telegram to be sent to the input while an OFF telegram causes no reaction at the output.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28: Parameters (extract) of ‘Multiplier 1 byte Outputs’</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group objects (example} show that a 1 bit input address can send four 1-bit output addresses and one 1-byte output address on the bus.</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29: Group objects (extract) of ‘Multiplier (Input/Outputs)’</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26</a:t>
            </a:fld>
            <a:endParaRPr lang="en-US"/>
          </a:p>
        </p:txBody>
      </p:sp>
    </p:spTree>
    <p:extLst>
      <p:ext uri="{BB962C8B-B14F-4D97-AF65-F5344CB8AC3E}">
        <p14:creationId xmlns:p14="http://schemas.microsoft.com/office/powerpoint/2010/main" val="16158708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Toggle Value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t>
            </a:r>
            <a:r>
              <a:rPr lang="en-GB" sz="1200" i="1" kern="1200" dirty="0">
                <a:solidFill>
                  <a:schemeClr val="tx1"/>
                </a:solidFill>
                <a:effectLst/>
                <a:latin typeface="Arial" charset="0"/>
                <a:ea typeface="+mn-ea"/>
                <a:cs typeface="+mn-cs"/>
              </a:rPr>
              <a:t>Toggle Value </a:t>
            </a:r>
            <a:r>
              <a:rPr lang="en-GB" sz="1200" kern="1200" dirty="0">
                <a:solidFill>
                  <a:schemeClr val="tx1"/>
                </a:solidFill>
                <a:effectLst/>
                <a:latin typeface="Arial" charset="0"/>
                <a:ea typeface="+mn-ea"/>
                <a:cs typeface="+mn-cs"/>
              </a:rPr>
              <a:t>is selected as a function in the </a:t>
            </a:r>
            <a:r>
              <a:rPr lang="en-GB" sz="1200" i="1" kern="1200" dirty="0">
                <a:solidFill>
                  <a:schemeClr val="tx1"/>
                </a:solidFill>
                <a:effectLst/>
                <a:latin typeface="Arial" charset="0"/>
                <a:ea typeface="+mn-ea"/>
                <a:cs typeface="+mn-cs"/>
              </a:rPr>
              <a:t>General</a:t>
            </a:r>
            <a:r>
              <a:rPr lang="en-GB" sz="1200" kern="1200" dirty="0">
                <a:solidFill>
                  <a:schemeClr val="tx1"/>
                </a:solidFill>
                <a:effectLst/>
                <a:latin typeface="Arial" charset="0"/>
                <a:ea typeface="+mn-ea"/>
                <a:cs typeface="+mn-cs"/>
              </a:rPr>
              <a:t> window, a line appears in the ETS parameter window with the name of the function.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With this function, a </a:t>
            </a:r>
            <a:r>
              <a:rPr lang="en-GB" sz="1200" kern="1200" dirty="0" err="1">
                <a:solidFill>
                  <a:schemeClr val="tx1"/>
                </a:solidFill>
                <a:effectLst/>
                <a:latin typeface="Arial" charset="0"/>
                <a:ea typeface="+mn-ea"/>
                <a:cs typeface="+mn-cs"/>
              </a:rPr>
              <a:t>preset</a:t>
            </a:r>
            <a:r>
              <a:rPr lang="en-GB" sz="1200" kern="1200" dirty="0">
                <a:solidFill>
                  <a:schemeClr val="tx1"/>
                </a:solidFill>
                <a:effectLst/>
                <a:latin typeface="Arial" charset="0"/>
                <a:ea typeface="+mn-ea"/>
                <a:cs typeface="+mn-cs"/>
              </a:rPr>
              <a:t> setpoint value can be sent as a reaction to a 1 bit input telegram. It is therefore possible e.g. to predefine a setpoint for the room temperature when you are present (e.g. 20 °C) and when you are absent (e.g. 18 °C).</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30: Parameters (extract) of ‘Toggle Value’</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27</a:t>
            </a:fld>
            <a:endParaRPr lang="en-US"/>
          </a:p>
        </p:txBody>
      </p:sp>
    </p:spTree>
    <p:extLst>
      <p:ext uri="{BB962C8B-B14F-4D97-AF65-F5344CB8AC3E}">
        <p14:creationId xmlns:p14="http://schemas.microsoft.com/office/powerpoint/2010/main" val="15247546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Counter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a:t>
            </a:r>
            <a:r>
              <a:rPr lang="en-GB" sz="1200" i="1" kern="1200" dirty="0">
                <a:solidFill>
                  <a:schemeClr val="tx1"/>
                </a:solidFill>
                <a:effectLst/>
                <a:latin typeface="Arial" charset="0"/>
                <a:ea typeface="+mn-ea"/>
                <a:cs typeface="+mn-cs"/>
              </a:rPr>
              <a:t>Counter</a:t>
            </a:r>
            <a:r>
              <a:rPr lang="en-GB" sz="1200" kern="1200" dirty="0">
                <a:solidFill>
                  <a:schemeClr val="tx1"/>
                </a:solidFill>
                <a:effectLst/>
                <a:latin typeface="Arial" charset="0"/>
                <a:ea typeface="+mn-ea"/>
                <a:cs typeface="+mn-cs"/>
              </a:rPr>
              <a:t> function is selected in the </a:t>
            </a:r>
            <a:r>
              <a:rPr lang="en-GB" sz="1200" i="1" kern="1200" dirty="0">
                <a:solidFill>
                  <a:schemeClr val="tx1"/>
                </a:solidFill>
                <a:effectLst/>
                <a:latin typeface="Arial" charset="0"/>
                <a:ea typeface="+mn-ea"/>
                <a:cs typeface="+mn-cs"/>
              </a:rPr>
              <a:t>General</a:t>
            </a:r>
            <a:r>
              <a:rPr lang="en-GB" sz="1200" kern="1200" dirty="0">
                <a:solidFill>
                  <a:schemeClr val="tx1"/>
                </a:solidFill>
                <a:effectLst/>
                <a:latin typeface="Arial" charset="0"/>
                <a:ea typeface="+mn-ea"/>
                <a:cs typeface="+mn-cs"/>
              </a:rPr>
              <a:t> window, a line appears in the ETS parameter window with the name of the selected function.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counter is a telegram counter. Group address telegrams from sensors and actuators can thus be counted. The counter can register a telegram max. every 30 </a:t>
            </a:r>
            <a:r>
              <a:rPr lang="en-GB" sz="1200" kern="1200" dirty="0" err="1">
                <a:solidFill>
                  <a:schemeClr val="tx1"/>
                </a:solidFill>
                <a:effectLst/>
                <a:latin typeface="Arial" charset="0"/>
                <a:ea typeface="+mn-ea"/>
                <a:cs typeface="+mn-cs"/>
              </a:rPr>
              <a:t>ms</a:t>
            </a:r>
            <a:r>
              <a:rPr lang="en-GB" sz="1200" kern="1200" dirty="0">
                <a:solidFill>
                  <a:schemeClr val="tx1"/>
                </a:solidFill>
                <a:effectLst/>
                <a:latin typeface="Arial" charset="0"/>
                <a:ea typeface="+mn-ea"/>
                <a:cs typeface="+mn-cs"/>
              </a:rPr>
              <a:t> (corresponds to 33 Hz).</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31: Parameters (extract) of ‘Counter’</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28</a:t>
            </a:fld>
            <a:endParaRPr lang="en-US"/>
          </a:p>
        </p:txBody>
      </p:sp>
    </p:spTree>
    <p:extLst>
      <p:ext uri="{BB962C8B-B14F-4D97-AF65-F5344CB8AC3E}">
        <p14:creationId xmlns:p14="http://schemas.microsoft.com/office/powerpoint/2010/main" val="22603161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Time delay</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t>
            </a:r>
            <a:r>
              <a:rPr lang="en-GB" sz="1200" i="1" kern="1200" dirty="0">
                <a:solidFill>
                  <a:schemeClr val="tx1"/>
                </a:solidFill>
                <a:effectLst/>
                <a:latin typeface="Arial" charset="0"/>
                <a:ea typeface="+mn-ea"/>
                <a:cs typeface="+mn-cs"/>
              </a:rPr>
              <a:t>Time delay</a:t>
            </a:r>
            <a:r>
              <a:rPr lang="en-GB" sz="1200" kern="1200" dirty="0">
                <a:solidFill>
                  <a:schemeClr val="tx1"/>
                </a:solidFill>
                <a:effectLst/>
                <a:latin typeface="Arial" charset="0"/>
                <a:ea typeface="+mn-ea"/>
                <a:cs typeface="+mn-cs"/>
              </a:rPr>
              <a:t> has been selected as a function in the </a:t>
            </a:r>
            <a:r>
              <a:rPr lang="en-GB" sz="1200" i="1" kern="1200" dirty="0">
                <a:solidFill>
                  <a:schemeClr val="tx1"/>
                </a:solidFill>
                <a:effectLst/>
                <a:latin typeface="Arial" charset="0"/>
                <a:ea typeface="+mn-ea"/>
                <a:cs typeface="+mn-cs"/>
              </a:rPr>
              <a:t>General</a:t>
            </a:r>
            <a:r>
              <a:rPr lang="en-GB" sz="1200" kern="1200" dirty="0">
                <a:solidFill>
                  <a:schemeClr val="tx1"/>
                </a:solidFill>
                <a:effectLst/>
                <a:latin typeface="Arial" charset="0"/>
                <a:ea typeface="+mn-ea"/>
                <a:cs typeface="+mn-cs"/>
              </a:rPr>
              <a:t> window, two lines appear in the ETS parameter window on which 2 time delays per line can be used.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time delay can be used for 1 bit telegrams as an ON and/or OFF delay. For all other data types, it is used as a send delay for telegrams. This telegram delay causes the delay to be started when a telegram arrives at the input and the telegram is only passed on once the period has elapsed. If a further telegram with a different value arrives during the delay, this new value is passed on at the end of the delay period.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32: Parameters (extract) of ‘Timer 1 + 2 (3 + 4)’</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29</a:t>
            </a:fld>
            <a:endParaRPr lang="en-US"/>
          </a:p>
        </p:txBody>
      </p:sp>
    </p:spTree>
    <p:extLst>
      <p:ext uri="{BB962C8B-B14F-4D97-AF65-F5344CB8AC3E}">
        <p14:creationId xmlns:p14="http://schemas.microsoft.com/office/powerpoint/2010/main" val="3654197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Extensive Logical Connection of Group Addresses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 variety of logic operations are required for technical building functions, the use of application units is recommended. Various manufacturers offer corresponding device versions with a different range of functions.</a:t>
            </a:r>
            <a:endParaRPr lang="es-ES" sz="1200" b="0" kern="1200" dirty="0">
              <a:solidFill>
                <a:schemeClr val="tx1"/>
              </a:solidFill>
              <a:effectLst/>
              <a:latin typeface="Arial" charset="0"/>
              <a:ea typeface="+mn-ea"/>
              <a:cs typeface="+mn-cs"/>
            </a:endParaRPr>
          </a:p>
          <a:p>
            <a:endParaRPr lang="es-ES" sz="1200" b="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Application Unit (Example)</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33: Application unit</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project design and commissioning of the logic functions of an application unit mainly take place directly in ETS.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assignment of parameters is carried out in a graphical logic diagram which is opened for example via the "Parameters..." button. This is where the logic functions, the inputs and outputs as well as the connections are created and the parameters of the functions are edited.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lvl="0"/>
            <a:r>
              <a:rPr lang="en-GB" sz="1400" b="1" kern="1200" dirty="0">
                <a:solidFill>
                  <a:schemeClr val="tx1"/>
                </a:solidFill>
                <a:effectLst/>
                <a:latin typeface="Arial" charset="0"/>
                <a:ea typeface="+mn-ea"/>
                <a:cs typeface="+mn-cs"/>
              </a:rPr>
              <a:t>Graphical Project Design in a Logic Diagram</a:t>
            </a:r>
            <a:endParaRPr lang="es-ES" sz="1400" b="1" kern="1200" dirty="0">
              <a:solidFill>
                <a:schemeClr val="tx1"/>
              </a:solidFill>
              <a:effectLst/>
              <a:latin typeface="Arial" charset="0"/>
              <a:ea typeface="+mn-ea"/>
              <a:cs typeface="+mn-cs"/>
            </a:endParaRPr>
          </a:p>
          <a:p>
            <a:r>
              <a:rPr lang="en-GB" sz="1400" kern="1200" dirty="0">
                <a:solidFill>
                  <a:schemeClr val="tx1"/>
                </a:solidFill>
                <a:effectLst/>
                <a:latin typeface="Arial" charset="0"/>
                <a:ea typeface="+mn-ea"/>
                <a:cs typeface="+mn-cs"/>
              </a:rPr>
              <a:t>The graphical user interface for the parameterisation of the application unit shown in the example uses various ETS basic functions and ETS interfaces. It is directly integrated into the ETS program and can therefore be operated in the usual ETS environment.</a:t>
            </a:r>
            <a:endParaRPr lang="es-ES" sz="1400" kern="1200" dirty="0">
              <a:solidFill>
                <a:schemeClr val="tx1"/>
              </a:solidFill>
              <a:effectLst/>
              <a:latin typeface="Arial" charset="0"/>
              <a:ea typeface="+mn-ea"/>
              <a:cs typeface="+mn-cs"/>
            </a:endParaRPr>
          </a:p>
          <a:p>
            <a:r>
              <a:rPr lang="en-GB" sz="1400" kern="1200" dirty="0">
                <a:solidFill>
                  <a:schemeClr val="tx1"/>
                </a:solidFill>
                <a:effectLst/>
                <a:latin typeface="Arial" charset="0"/>
                <a:ea typeface="+mn-ea"/>
                <a:cs typeface="+mn-cs"/>
              </a:rPr>
              <a:t>The required function modules are dragged onto the editing surface via drag and drop and the required connections are linked together by pressing the left mouse button.</a:t>
            </a:r>
            <a:endParaRPr lang="es-ES" sz="1400" kern="1200" dirty="0">
              <a:solidFill>
                <a:schemeClr val="tx1"/>
              </a:solidFill>
              <a:effectLst/>
              <a:latin typeface="Arial" charset="0"/>
              <a:ea typeface="+mn-ea"/>
              <a:cs typeface="+mn-cs"/>
            </a:endParaRPr>
          </a:p>
          <a:p>
            <a:r>
              <a:rPr lang="en-GB" sz="1400" kern="1200" dirty="0">
                <a:solidFill>
                  <a:schemeClr val="tx1"/>
                </a:solidFill>
                <a:effectLst/>
                <a:latin typeface="Arial" charset="0"/>
                <a:ea typeface="+mn-ea"/>
                <a:cs typeface="+mn-cs"/>
              </a:rPr>
              <a:t>Clicking with the right mouse button on a module opens up the parameter editing.</a:t>
            </a:r>
          </a:p>
          <a:p>
            <a:endParaRPr lang="en-GB" sz="1400" kern="1200" dirty="0">
              <a:solidFill>
                <a:schemeClr val="tx1"/>
              </a:solidFill>
              <a:effectLst/>
              <a:latin typeface="Arial" charset="0"/>
              <a:ea typeface="+mn-ea"/>
              <a:cs typeface="+mn-cs"/>
            </a:endParaRPr>
          </a:p>
          <a:p>
            <a:endParaRPr lang="en-GB" sz="1400" kern="1200" dirty="0">
              <a:solidFill>
                <a:schemeClr val="tx1"/>
              </a:solidFill>
              <a:effectLst/>
              <a:latin typeface="Arial" charset="0"/>
              <a:ea typeface="+mn-ea"/>
              <a:cs typeface="+mn-cs"/>
            </a:endParaRPr>
          </a:p>
          <a:p>
            <a:r>
              <a:rPr lang="en-GB" sz="1400" b="1" kern="1200" dirty="0">
                <a:solidFill>
                  <a:schemeClr val="tx1"/>
                </a:solidFill>
                <a:effectLst/>
                <a:latin typeface="Arial" charset="0"/>
                <a:ea typeface="+mn-ea"/>
                <a:cs typeface="+mn-cs"/>
              </a:rPr>
              <a:t>Figure 34: Graphical user interface</a:t>
            </a:r>
            <a:endParaRPr lang="es-ES" sz="1400" b="1" kern="1200" dirty="0">
              <a:solidFill>
                <a:schemeClr val="tx1"/>
              </a:solidFill>
              <a:effectLst/>
              <a:latin typeface="Arial" charset="0"/>
              <a:ea typeface="+mn-ea"/>
              <a:cs typeface="+mn-cs"/>
            </a:endParaRPr>
          </a:p>
          <a:p>
            <a:r>
              <a:rPr lang="en-GB" sz="1400" kern="1200" dirty="0">
                <a:solidFill>
                  <a:schemeClr val="tx1"/>
                </a:solidFill>
                <a:effectLst/>
                <a:latin typeface="Arial" charset="0"/>
                <a:ea typeface="+mn-ea"/>
                <a:cs typeface="+mn-cs"/>
              </a:rPr>
              <a:t>The configuration of the logic functions is carried out in the ‘Project Design’ module of ETS and represented in a graphical logic diagram based on DIN 40900.</a:t>
            </a:r>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30</a:t>
            </a:fld>
            <a:endParaRPr lang="en-US"/>
          </a:p>
        </p:txBody>
      </p:sp>
    </p:spTree>
    <p:extLst>
      <p:ext uri="{BB962C8B-B14F-4D97-AF65-F5344CB8AC3E}">
        <p14:creationId xmlns:p14="http://schemas.microsoft.com/office/powerpoint/2010/main" val="1977076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Tasks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tasks are recommended for the previous explanations.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tasks can be adapted accordingly dependent on the available KNX components.</a:t>
            </a:r>
            <a:endParaRPr lang="es-ES" sz="1200" kern="1200" dirty="0">
              <a:solidFill>
                <a:schemeClr val="tx1"/>
              </a:solidFill>
              <a:effectLst/>
              <a:latin typeface="Arial" charset="0"/>
              <a:ea typeface="+mn-ea"/>
              <a:cs typeface="+mn-cs"/>
            </a:endParaRPr>
          </a:p>
          <a:p>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31</a:t>
            </a:fld>
            <a:endParaRPr lang="en-US"/>
          </a:p>
        </p:txBody>
      </p:sp>
    </p:spTree>
    <p:extLst>
      <p:ext uri="{BB962C8B-B14F-4D97-AF65-F5344CB8AC3E}">
        <p14:creationId xmlns:p14="http://schemas.microsoft.com/office/powerpoint/2010/main" val="36056145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kern="1200" dirty="0">
                <a:solidFill>
                  <a:schemeClr val="tx1"/>
                </a:solidFill>
                <a:effectLst/>
                <a:latin typeface="Arial" charset="0"/>
                <a:ea typeface="+mn-ea"/>
                <a:cs typeface="+mn-cs"/>
              </a:rPr>
              <a:t>OR function without time delay or with ON and OFF delay</a:t>
            </a:r>
          </a:p>
          <a:p>
            <a:r>
              <a:rPr lang="en-US" sz="1400" kern="1200" dirty="0">
                <a:solidFill>
                  <a:schemeClr val="tx1"/>
                </a:solidFill>
                <a:effectLst/>
                <a:latin typeface="Arial" charset="0"/>
                <a:ea typeface="+mn-ea"/>
                <a:cs typeface="+mn-cs"/>
              </a:rPr>
              <a:t>Configure an x-fold switch actuator and activate the OR function in the parameters of channel x. Send the required group addresses to the switch or logic object with a switch sensor.</a:t>
            </a:r>
          </a:p>
          <a:p>
            <a:r>
              <a:rPr lang="en-US" sz="1400" kern="1200" dirty="0">
                <a:solidFill>
                  <a:schemeClr val="tx1"/>
                </a:solidFill>
                <a:effectLst/>
                <a:latin typeface="Arial" charset="0"/>
                <a:ea typeface="+mn-ea"/>
                <a:cs typeface="+mn-cs"/>
              </a:rPr>
              <a:t>Test the function of the following processes: </a:t>
            </a:r>
          </a:p>
          <a:p>
            <a:pPr marL="285750" indent="-285750">
              <a:buFont typeface="Arial" panose="020B0604020202020204" pitchFamily="34" charset="0"/>
              <a:buChar char="•"/>
            </a:pPr>
            <a:r>
              <a:rPr lang="en-US" sz="1400" kern="1200" dirty="0">
                <a:solidFill>
                  <a:schemeClr val="tx1"/>
                </a:solidFill>
                <a:effectLst/>
                <a:latin typeface="Arial" charset="0"/>
                <a:ea typeface="+mn-ea"/>
                <a:cs typeface="+mn-cs"/>
              </a:rPr>
              <a:t>OR function without delay</a:t>
            </a:r>
          </a:p>
          <a:p>
            <a:pPr marL="285750" indent="-285750">
              <a:buFont typeface="Arial" panose="020B0604020202020204" pitchFamily="34" charset="0"/>
              <a:buChar char="•"/>
            </a:pPr>
            <a:r>
              <a:rPr lang="en-US" sz="1400" kern="1200" dirty="0">
                <a:solidFill>
                  <a:schemeClr val="tx1"/>
                </a:solidFill>
                <a:effectLst/>
                <a:latin typeface="Arial" charset="0"/>
                <a:ea typeface="+mn-ea"/>
                <a:cs typeface="+mn-cs"/>
              </a:rPr>
              <a:t>OR function with ON and/or OFF delay </a:t>
            </a:r>
          </a:p>
          <a:p>
            <a:r>
              <a:rPr lang="en-US" sz="1400" kern="1200" dirty="0" err="1">
                <a:solidFill>
                  <a:schemeClr val="tx1"/>
                </a:solidFill>
                <a:effectLst/>
                <a:latin typeface="Arial" charset="0"/>
                <a:ea typeface="+mn-ea"/>
                <a:cs typeface="+mn-cs"/>
              </a:rPr>
              <a:t>Familiarise</a:t>
            </a:r>
            <a:r>
              <a:rPr lang="en-US" sz="1400" kern="1200" dirty="0">
                <a:solidFill>
                  <a:schemeClr val="tx1"/>
                </a:solidFill>
                <a:effectLst/>
                <a:latin typeface="Arial" charset="0"/>
                <a:ea typeface="+mn-ea"/>
                <a:cs typeface="+mn-cs"/>
              </a:rPr>
              <a:t> yourself with the flow diagrams in the chapter on the OR function (case 1 and case 2).</a:t>
            </a: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32</a:t>
            </a:fld>
            <a:endParaRPr lang="en-US"/>
          </a:p>
        </p:txBody>
      </p:sp>
    </p:spTree>
    <p:extLst>
      <p:ext uri="{BB962C8B-B14F-4D97-AF65-F5344CB8AC3E}">
        <p14:creationId xmlns:p14="http://schemas.microsoft.com/office/powerpoint/2010/main" val="34480130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Example: Automatic Room Air Conditioning with Enabling (AND function)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Assign a switch sensor the task of switching a room air conditioner via a switch actuator.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room contains a room thermostat with two-step control and bus capability. Alternatively, a conventional room thermostat can be given bus capability via a binary input.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Assign the parameters so that the thermostat regulates the room temperature via the switch object and the switch sensor enables or disables the closed-loop control via the logic object (AND function).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Create the necessary group addresses as main and middle groups.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Create the required subgroups, e.g.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	35 = Thermostat for cooling room xx</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	36 = Switch sensor for cooling room xx</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and link these addresses with the relevant objects.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Transfer the modified information into the devices and test the function.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Configure a Central OFF function and extend this to the devices for air conditioning.</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Link the Central OFF group address with the switch object and test the function.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Link the Central OFF group address with the logic object and test the function.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Summary</a:t>
            </a:r>
            <a:r>
              <a:rPr lang="en-GB" sz="1200" kern="1200" dirty="0">
                <a:solidFill>
                  <a:schemeClr val="tx1"/>
                </a:solidFill>
                <a:effectLst/>
                <a:latin typeface="Arial" charset="0"/>
                <a:ea typeface="+mn-ea"/>
                <a:cs typeface="+mn-cs"/>
              </a:rPr>
              <a:t>: 	If group addresses with the value ‘1’ which have been generated by physical processes are not permitted to be reset by a central ‘OFF’ command, the group address is sent cyclically.</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33</a:t>
            </a:fld>
            <a:endParaRPr lang="en-US"/>
          </a:p>
        </p:txBody>
      </p:sp>
    </p:spTree>
    <p:extLst>
      <p:ext uri="{BB962C8B-B14F-4D97-AF65-F5344CB8AC3E}">
        <p14:creationId xmlns:p14="http://schemas.microsoft.com/office/powerpoint/2010/main" val="27103177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Example: Automatic Room Air Conditioning with Enabling (AND function)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Assign a switch sensor the task of switching a room air conditioner via a switch actuator.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room contains a room thermostat with two-step control and bus capability. Alternatively, a conventional room thermostat can be given bus capability via a binary input.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Assign the parameters so that the thermostat regulates the room temperature via the switch object and the switch sensor enables or disables the closed-loop control via the logic object (AND function).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Create the necessary group addresses as main and middle groups.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Create the required subgroups, e.g.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	35 = Thermostat for cooling room xx</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	36 = Switch sensor for cooling room xx</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and link these addresses with the relevant objects.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Transfer the modified information into the devices and test the function.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Configure a Central OFF function and extend this to the devices for air conditioning.</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Link the Central OFF group address with the switch object and test the function.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Link the Central OFF group address with the logic object and test the function.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Summary</a:t>
            </a:r>
            <a:r>
              <a:rPr lang="en-GB" sz="1200" kern="1200" dirty="0">
                <a:solidFill>
                  <a:schemeClr val="tx1"/>
                </a:solidFill>
                <a:effectLst/>
                <a:latin typeface="Arial" charset="0"/>
                <a:ea typeface="+mn-ea"/>
                <a:cs typeface="+mn-cs"/>
              </a:rPr>
              <a:t>: 	If group addresses with the value ‘1’ which have been generated by physical processes are not permitted to be reset by a central ‘OFF’ command, the group address is sent cyclically.</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34</a:t>
            </a:fld>
            <a:endParaRPr lang="en-US"/>
          </a:p>
        </p:txBody>
      </p:sp>
    </p:spTree>
    <p:extLst>
      <p:ext uri="{BB962C8B-B14F-4D97-AF65-F5344CB8AC3E}">
        <p14:creationId xmlns:p14="http://schemas.microsoft.com/office/powerpoint/2010/main" val="16959809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AND Function without time delay and with ON/OFF Delay</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Configure a 4-fold switch actuator and activate the AND function in the parameters of the channel. </a:t>
            </a:r>
            <a:endParaRPr lang="es-ES" sz="1200" kern="1200" dirty="0">
              <a:solidFill>
                <a:schemeClr val="tx1"/>
              </a:solidFill>
              <a:effectLst/>
              <a:latin typeface="Arial" charset="0"/>
              <a:ea typeface="+mn-ea"/>
              <a:cs typeface="+mn-cs"/>
            </a:endParaRPr>
          </a:p>
          <a:p>
            <a:r>
              <a:rPr lang="en-GB" sz="1200" b="0" kern="1200" dirty="0">
                <a:solidFill>
                  <a:schemeClr val="tx1"/>
                </a:solidFill>
                <a:effectLst/>
                <a:latin typeface="Arial" charset="0"/>
                <a:ea typeface="+mn-ea"/>
                <a:cs typeface="+mn-cs"/>
              </a:rPr>
              <a:t>Test the function of the following sequences:</a:t>
            </a:r>
            <a:endParaRPr lang="es-ES" sz="1200" b="1"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AND function without delay</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AND function with ON delay</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AND function with ON and OFF delay</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Familiarise yourself with the flow diagrams in the section describing the AND function (Case 1, Case 2, Case 3).</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35</a:t>
            </a:fld>
            <a:endParaRPr lang="en-US"/>
          </a:p>
        </p:txBody>
      </p:sp>
    </p:spTree>
    <p:extLst>
      <p:ext uri="{BB962C8B-B14F-4D97-AF65-F5344CB8AC3E}">
        <p14:creationId xmlns:p14="http://schemas.microsoft.com/office/powerpoint/2010/main" val="25023908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Linking Group Addresses (1) – Logic Module or Switch Actuator “Extended Logic”</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KNX system is used in a school building for signal and monitoring functions. The following additions should increase the security of the building:</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The message ‘Window open’ should be extended into an alarm signal (protection against danger) at a particular time of day and routed to the technical supervisor (caretaker).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group address for the message ‘Window open’ is e.g. linked in a logic module as an input address to a second group address for ‘Alarm duration’ using an AND function to form a new output group address ‘ALARM – Window open’.</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36</a:t>
            </a:fld>
            <a:endParaRPr lang="en-US"/>
          </a:p>
        </p:txBody>
      </p:sp>
    </p:spTree>
    <p:extLst>
      <p:ext uri="{BB962C8B-B14F-4D97-AF65-F5344CB8AC3E}">
        <p14:creationId xmlns:p14="http://schemas.microsoft.com/office/powerpoint/2010/main" val="6043008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Linking Group Addresses (2) – Graphical Project Design (Application Module)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classroom should be heated during lessons if the temperature controller sends the signal ‘Heating ON’, both windows in the room are closed and the classroom is occupied. Lesson time is signalled with a binary input (or time switch), each of the two windows is monitored with a window contact and the use of the classroom is recorded with a motion detector. None of the sensors operate with inverted logic.</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Number of used inputs: 5</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Arial" charset="0"/>
                <a:ea typeface="+mn-ea"/>
                <a:cs typeface="+mn-cs"/>
              </a:rPr>
              <a:t>Input 1: Heating ON </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Arial" charset="0"/>
                <a:ea typeface="+mn-ea"/>
                <a:cs typeface="+mn-cs"/>
              </a:rPr>
              <a:t>Input 2: Time switch</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Arial" charset="0"/>
                <a:ea typeface="+mn-ea"/>
                <a:cs typeface="+mn-cs"/>
              </a:rPr>
              <a:t>Inputs 3 and 4: Window contacts</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Arial" charset="0"/>
                <a:ea typeface="+mn-ea"/>
                <a:cs typeface="+mn-cs"/>
              </a:rPr>
              <a:t>Input 5: Motion detector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Logic gate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group address of the output controls the heating actuator.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Test the function.</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37</a:t>
            </a:fld>
            <a:endParaRPr lang="en-US"/>
          </a:p>
        </p:txBody>
      </p:sp>
    </p:spTree>
    <p:extLst>
      <p:ext uri="{BB962C8B-B14F-4D97-AF65-F5344CB8AC3E}">
        <p14:creationId xmlns:p14="http://schemas.microsoft.com/office/powerpoint/2010/main" val="32434812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38</a:t>
            </a:fld>
            <a:endParaRPr lang="en-US"/>
          </a:p>
        </p:txBody>
      </p:sp>
    </p:spTree>
    <p:extLst>
      <p:ext uri="{BB962C8B-B14F-4D97-AF65-F5344CB8AC3E}">
        <p14:creationId xmlns:p14="http://schemas.microsoft.com/office/powerpoint/2010/main" val="23730888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Logic Operations (Appendix)</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Basic Functions and Elements</a:t>
            </a: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AND Function (Conjunction) and </a:t>
            </a:r>
            <a:r>
              <a:rPr lang="en-GB" sz="1200" b="1" kern="1200" dirty="0" err="1">
                <a:solidFill>
                  <a:schemeClr val="tx1"/>
                </a:solidFill>
                <a:effectLst/>
                <a:latin typeface="Arial" charset="0"/>
                <a:ea typeface="+mn-ea"/>
                <a:cs typeface="+mn-cs"/>
              </a:rPr>
              <a:t>AND</a:t>
            </a:r>
            <a:r>
              <a:rPr lang="en-GB" sz="1200" b="1" kern="1200" dirty="0">
                <a:solidFill>
                  <a:schemeClr val="tx1"/>
                </a:solidFill>
                <a:effectLst/>
                <a:latin typeface="Arial" charset="0"/>
                <a:ea typeface="+mn-ea"/>
                <a:cs typeface="+mn-cs"/>
              </a:rPr>
              <a:t> Element (AND)</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sentence «If the weather is nice tomorrow and my brother has time, we are going sailing» contains an </a:t>
            </a:r>
            <a:r>
              <a:rPr lang="en-GB" sz="1200" i="1" kern="1200" dirty="0">
                <a:solidFill>
                  <a:schemeClr val="tx1"/>
                </a:solidFill>
                <a:effectLst/>
                <a:latin typeface="Arial" charset="0"/>
                <a:ea typeface="+mn-ea"/>
                <a:cs typeface="+mn-cs"/>
              </a:rPr>
              <a:t>AND function. </a:t>
            </a:r>
            <a:r>
              <a:rPr lang="en-GB" sz="1200" kern="1200" dirty="0">
                <a:solidFill>
                  <a:schemeClr val="tx1"/>
                </a:solidFill>
                <a:effectLst/>
                <a:latin typeface="Arial" charset="0"/>
                <a:ea typeface="+mn-ea"/>
                <a:cs typeface="+mn-cs"/>
              </a:rPr>
              <a:t>Statement A (nice weather) </a:t>
            </a:r>
            <a:r>
              <a:rPr lang="en-GB" sz="1200" i="1" kern="1200" dirty="0">
                <a:solidFill>
                  <a:schemeClr val="tx1"/>
                </a:solidFill>
                <a:effectLst/>
                <a:latin typeface="Arial" charset="0"/>
                <a:ea typeface="+mn-ea"/>
                <a:cs typeface="+mn-cs"/>
              </a:rPr>
              <a:t>and </a:t>
            </a:r>
            <a:r>
              <a:rPr lang="en-GB" sz="1200" kern="1200" dirty="0">
                <a:solidFill>
                  <a:schemeClr val="tx1"/>
                </a:solidFill>
                <a:effectLst/>
                <a:latin typeface="Arial" charset="0"/>
                <a:ea typeface="+mn-ea"/>
                <a:cs typeface="+mn-cs"/>
              </a:rPr>
              <a:t>statement B (my brother has time) must apply i.e. be true to make statement X (going sailing) true. This connection can be represented in a truth table. A ‘1’ state means «true» or «applicable». A ‘0’ state means «false» or «not applicable». Four cases (combinations) are possible. The cases can follow any order in principle but should correspond to a specific pattern.</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35: Truth table and circuit diagram of an AND function and an AND element</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electronic circuit in which only a ‘1’ state is present at output X when ‘1’ states are present at input A </a:t>
            </a:r>
            <a:r>
              <a:rPr lang="en-GB" sz="1200" i="1" kern="1200" dirty="0">
                <a:solidFill>
                  <a:schemeClr val="tx1"/>
                </a:solidFill>
                <a:effectLst/>
                <a:latin typeface="Arial" charset="0"/>
                <a:ea typeface="+mn-ea"/>
                <a:cs typeface="+mn-cs"/>
              </a:rPr>
              <a:t>and</a:t>
            </a:r>
            <a:r>
              <a:rPr lang="en-GB" sz="1200" kern="1200" dirty="0">
                <a:solidFill>
                  <a:schemeClr val="tx1"/>
                </a:solidFill>
                <a:effectLst/>
                <a:latin typeface="Arial" charset="0"/>
                <a:ea typeface="+mn-ea"/>
                <a:cs typeface="+mn-cs"/>
              </a:rPr>
              <a:t> at input B, is called </a:t>
            </a:r>
            <a:r>
              <a:rPr lang="en-GB" sz="1200" i="1" kern="1200" dirty="0">
                <a:solidFill>
                  <a:schemeClr val="tx1"/>
                </a:solidFill>
                <a:effectLst/>
                <a:latin typeface="Arial" charset="0"/>
                <a:ea typeface="+mn-ea"/>
                <a:cs typeface="+mn-cs"/>
              </a:rPr>
              <a:t>AND</a:t>
            </a:r>
            <a:r>
              <a:rPr lang="en-GB" sz="1200" kern="1200" dirty="0">
                <a:solidFill>
                  <a:schemeClr val="tx1"/>
                </a:solidFill>
                <a:effectLst/>
                <a:latin typeface="Arial" charset="0"/>
                <a:ea typeface="+mn-ea"/>
                <a:cs typeface="+mn-cs"/>
              </a:rPr>
              <a:t>, an</a:t>
            </a:r>
            <a:r>
              <a:rPr lang="en-GB" sz="1200" i="1" kern="1200" dirty="0">
                <a:solidFill>
                  <a:schemeClr val="tx1"/>
                </a:solidFill>
                <a:effectLst/>
                <a:latin typeface="Arial" charset="0"/>
                <a:ea typeface="+mn-ea"/>
                <a:cs typeface="+mn-cs"/>
              </a:rPr>
              <a:t> AND element</a:t>
            </a:r>
            <a:r>
              <a:rPr lang="en-GB" sz="1200" kern="1200" dirty="0">
                <a:solidFill>
                  <a:schemeClr val="tx1"/>
                </a:solidFill>
                <a:effectLst/>
                <a:latin typeface="Arial" charset="0"/>
                <a:ea typeface="+mn-ea"/>
                <a:cs typeface="+mn-cs"/>
              </a:rPr>
              <a:t> or an </a:t>
            </a:r>
            <a:r>
              <a:rPr lang="en-GB" sz="1200" i="1" kern="1200" dirty="0">
                <a:solidFill>
                  <a:schemeClr val="tx1"/>
                </a:solidFill>
                <a:effectLst/>
                <a:latin typeface="Arial" charset="0"/>
                <a:ea typeface="+mn-ea"/>
                <a:cs typeface="+mn-cs"/>
              </a:rPr>
              <a:t>AND gate</a:t>
            </a:r>
            <a:r>
              <a:rPr lang="en-GB"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AND element can be implemented by a circuit diagram. Nowadays however integrated semiconductor circuits are used almost exclusively.</a:t>
            </a:r>
          </a:p>
          <a:p>
            <a:endParaRPr lang="en-GB" sz="1200" kern="1200" dirty="0">
              <a:solidFill>
                <a:schemeClr val="tx1"/>
              </a:solidFill>
              <a:effectLst/>
              <a:latin typeface="Arial" charset="0"/>
              <a:ea typeface="+mn-ea"/>
              <a:cs typeface="+mn-cs"/>
            </a:endParaRPr>
          </a:p>
          <a:p>
            <a:r>
              <a:rPr lang="en-GB" sz="1200" b="1" i="1" kern="1200" dirty="0">
                <a:solidFill>
                  <a:schemeClr val="tx1"/>
                </a:solidFill>
                <a:effectLst/>
                <a:latin typeface="Arial" charset="0"/>
                <a:ea typeface="+mn-ea"/>
                <a:cs typeface="+mn-cs"/>
              </a:rPr>
              <a:t>Any circuit that fulfils the truth table of an AND function is an AND element.</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AND function can be expressed mathematically with the help of logic algebra:</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X = A ^ B</a:t>
            </a:r>
            <a:r>
              <a:rPr lang="en-GB" sz="1200" kern="1200" dirty="0">
                <a:solidFill>
                  <a:schemeClr val="tx1"/>
                </a:solidFill>
                <a:effectLst/>
                <a:latin typeface="Arial" charset="0"/>
                <a:ea typeface="+mn-ea"/>
                <a:cs typeface="+mn-cs"/>
              </a:rPr>
              <a:t>  	^ Symbol for the AND function (standardised).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diagram shows the graphical symbol of an AND element with two inputs. The designations of the inputs and the output can be freely selected. I1, I2 is often used for the inputs and O for the outputs.</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36: Graphical symbol of the AND element with 2 inputs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i="1" kern="1200" dirty="0">
                <a:solidFill>
                  <a:schemeClr val="tx1"/>
                </a:solidFill>
                <a:effectLst/>
                <a:latin typeface="Arial" charset="0"/>
                <a:ea typeface="+mn-ea"/>
                <a:cs typeface="+mn-cs"/>
              </a:rPr>
              <a:t>The ‘1’ state is only present at the output of an AND element if there is also a ‘1’ state at all the inputs.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39</a:t>
            </a:fld>
            <a:endParaRPr lang="en-US"/>
          </a:p>
        </p:txBody>
      </p:sp>
    </p:spTree>
    <p:extLst>
      <p:ext uri="{BB962C8B-B14F-4D97-AF65-F5344CB8AC3E}">
        <p14:creationId xmlns:p14="http://schemas.microsoft.com/office/powerpoint/2010/main" val="9004465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Logic Operations (Appendix)</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Basic Functions and Elements</a:t>
            </a: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OR Function (Disjunction) and OR Element (OR)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sentence «If I inherit some money or win the lottery, I will travel round the world» leads to an OR function. The world trip will be made if statement A (inheritance) or statement B (lottery win) or both statements become true. You could argue whether the trip would also be made if both statements come true. The grammatical mode of expression is not precise enough here. For an OR function, the world trip would also have to be made if A and B become true. The truth table in Diagram 2.3 indicates the connection (‘1’ state = «true», ‘0’ state = «false»).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electronic circuit in which a ‘1’ state is always present at output X if there is a ‘1’ state at input A or input B or at both inputs is called an OR element.</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37: Truth table and circuit of an OR function and an OR element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The represented circuit is only used for clarification. OR elements are nowadays almost exclusively configured as integrated semiconductor circuits.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i="1" kern="1200" dirty="0">
                <a:solidFill>
                  <a:schemeClr val="tx1"/>
                </a:solidFill>
                <a:effectLst/>
                <a:latin typeface="Arial" charset="0"/>
                <a:ea typeface="+mn-ea"/>
                <a:cs typeface="+mn-cs"/>
              </a:rPr>
              <a:t>Any circuit that fulfils the truth table of an OR function is an OR element.</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OR function can likewise be expressed mathematically with the help of logic algebra:</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X = A v B 	v = Symbol for the OR function (standardised).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information in the standardised graphical symbol </a:t>
            </a:r>
            <a:r>
              <a:rPr lang="en-GB" sz="1200" b="1" kern="1200" dirty="0">
                <a:solidFill>
                  <a:schemeClr val="tx1"/>
                </a:solidFill>
                <a:effectLst/>
                <a:latin typeface="Arial" charset="0"/>
                <a:ea typeface="+mn-ea"/>
                <a:cs typeface="+mn-cs"/>
                <a:sym typeface="Symbol" panose="05050102010706020507" pitchFamily="18" charset="2"/>
              </a:rPr>
              <a:t></a:t>
            </a:r>
            <a:r>
              <a:rPr lang="en-GB" sz="1200" kern="1200" dirty="0">
                <a:solidFill>
                  <a:schemeClr val="tx1"/>
                </a:solidFill>
                <a:effectLst/>
                <a:latin typeface="Arial" charset="0"/>
                <a:ea typeface="+mn-ea"/>
                <a:cs typeface="+mn-cs"/>
              </a:rPr>
              <a:t>1 means that the number of ‘1’ states at the inputs must be </a:t>
            </a:r>
            <a:r>
              <a:rPr lang="en-GB" sz="1200" b="1" kern="1200" dirty="0">
                <a:solidFill>
                  <a:schemeClr val="tx1"/>
                </a:solidFill>
                <a:effectLst/>
                <a:latin typeface="Arial" charset="0"/>
                <a:ea typeface="+mn-ea"/>
                <a:cs typeface="+mn-cs"/>
                <a:sym typeface="Symbol" panose="05050102010706020507" pitchFamily="18" charset="2"/>
              </a:rPr>
              <a:t></a:t>
            </a:r>
            <a:r>
              <a:rPr lang="en-GB" sz="1200" kern="1200" dirty="0">
                <a:solidFill>
                  <a:schemeClr val="tx1"/>
                </a:solidFill>
                <a:effectLst/>
                <a:latin typeface="Arial" charset="0"/>
                <a:ea typeface="+mn-ea"/>
                <a:cs typeface="+mn-cs"/>
              </a:rPr>
              <a:t>1 if there should be a ‘1’ at the output.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38: Graphical symbol of the OR element with 2 inputs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designations of the inputs and the output can be freely selected. I1, I2 is often used for the inputs and O for the outputs.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dirty="0">
                <a:solidFill>
                  <a:schemeClr val="tx1"/>
                </a:solidFill>
                <a:effectLst/>
                <a:latin typeface="Arial" charset="0"/>
                <a:ea typeface="+mn-ea"/>
                <a:cs typeface="+mn-cs"/>
              </a:rPr>
              <a:t>The ‘1’ state is always present at the output of an OR element if there is a ‘1’ state at one of the inputs at least.</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40</a:t>
            </a:fld>
            <a:endParaRPr lang="en-US"/>
          </a:p>
        </p:txBody>
      </p:sp>
    </p:spTree>
    <p:extLst>
      <p:ext uri="{BB962C8B-B14F-4D97-AF65-F5344CB8AC3E}">
        <p14:creationId xmlns:p14="http://schemas.microsoft.com/office/powerpoint/2010/main" val="33299626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Logic Operations (Appendix)</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Basic Functions and Elements</a:t>
            </a: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Negation and NOT Element (NOT)</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sentence «If my mother-in-law comes to visit, I am not going to the theatre this evening» is a negation. If the statement A (mother-in-law comes to visit) is true, statement X (going to the theatre) is not true. If statement A is not true, statement X is true and I am going to the theatre. The associated truth table (diagram) has only 2 cases.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electronic circuit in which the state at </a:t>
            </a:r>
            <a:r>
              <a:rPr lang="en-GB" sz="1200" b="1" kern="1200" dirty="0">
                <a:solidFill>
                  <a:schemeClr val="tx1"/>
                </a:solidFill>
                <a:effectLst/>
                <a:latin typeface="Arial" charset="0"/>
                <a:ea typeface="+mn-ea"/>
                <a:cs typeface="+mn-cs"/>
              </a:rPr>
              <a:t>input A </a:t>
            </a:r>
            <a:r>
              <a:rPr lang="en-GB" sz="1200" kern="1200" dirty="0">
                <a:solidFill>
                  <a:schemeClr val="tx1"/>
                </a:solidFill>
                <a:effectLst/>
                <a:latin typeface="Arial" charset="0"/>
                <a:ea typeface="+mn-ea"/>
                <a:cs typeface="+mn-cs"/>
              </a:rPr>
              <a:t>is always opposite to the state at</a:t>
            </a:r>
            <a:r>
              <a:rPr lang="en-GB" sz="1200" b="1" kern="1200" dirty="0">
                <a:solidFill>
                  <a:schemeClr val="tx1"/>
                </a:solidFill>
                <a:effectLst/>
                <a:latin typeface="Arial" charset="0"/>
                <a:ea typeface="+mn-ea"/>
                <a:cs typeface="+mn-cs"/>
              </a:rPr>
              <a:t> output</a:t>
            </a:r>
            <a:r>
              <a:rPr lang="en-GB" sz="120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X</a:t>
            </a:r>
            <a:r>
              <a:rPr lang="en-GB" sz="1200" kern="1200" dirty="0">
                <a:solidFill>
                  <a:schemeClr val="tx1"/>
                </a:solidFill>
                <a:effectLst/>
                <a:latin typeface="Arial" charset="0"/>
                <a:ea typeface="+mn-ea"/>
                <a:cs typeface="+mn-cs"/>
              </a:rPr>
              <a:t>, is called NOT, NOT element or inverter (negator).</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39: Truth table, circuit and graphical symbol (standardised) of a negation or a NOT element</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NOT element can be structured according to the circuit diagram. It must again be noted that NOT elements are usually configured in semiconductor technology.</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dirty="0">
                <a:solidFill>
                  <a:schemeClr val="tx1"/>
                </a:solidFill>
                <a:effectLst/>
                <a:latin typeface="Arial" charset="0"/>
                <a:ea typeface="+mn-ea"/>
                <a:cs typeface="+mn-cs"/>
              </a:rPr>
              <a:t>Any circuit that meets the truth table of a negation is a NOT element.</a:t>
            </a:r>
            <a:endParaRPr lang="es-ES" sz="11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negation can also be expressed mathematically with the help of logic algebra.</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X = not A</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translated line is the symbol of negation.</a:t>
            </a:r>
            <a:endParaRPr lang="es-ES" sz="1200" kern="1200" dirty="0">
              <a:solidFill>
                <a:schemeClr val="tx1"/>
              </a:solidFill>
              <a:effectLst/>
              <a:latin typeface="Arial" charset="0"/>
              <a:ea typeface="+mn-ea"/>
              <a:cs typeface="+mn-cs"/>
            </a:endParaRPr>
          </a:p>
          <a:p>
            <a:r>
              <a:rPr lang="en-GB" sz="1200" b="1" i="1" kern="1200" dirty="0">
                <a:solidFill>
                  <a:schemeClr val="tx1"/>
                </a:solidFill>
                <a:effectLst/>
                <a:latin typeface="Arial" charset="0"/>
                <a:ea typeface="+mn-ea"/>
                <a:cs typeface="+mn-cs"/>
              </a:rPr>
              <a:t>The state at the output of a NOT element is always the opposite of the state at the input.</a:t>
            </a:r>
            <a:endParaRPr lang="es-ES" sz="11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41</a:t>
            </a:fld>
            <a:endParaRPr lang="en-US"/>
          </a:p>
        </p:txBody>
      </p:sp>
    </p:spTree>
    <p:extLst>
      <p:ext uri="{BB962C8B-B14F-4D97-AF65-F5344CB8AC3E}">
        <p14:creationId xmlns:p14="http://schemas.microsoft.com/office/powerpoint/2010/main" val="6172332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Compound Elements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NAND Element (NAND)</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an AND element is combined with a NOT element in accordance with the diagram, all the output states X of the AND element are negated.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Column X indicates the AND function.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X is only ‘1’, if A = 1 and B = 1 (Case 4).</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X is however also the input of the NOT element.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 ‘0’ lies at input X of the NOT element, output Z = 1. If a ‘1’ lies at input X of the NOT element, output Z = 0.</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Column Z indicates a negated AND function. The designation NAND is formed from the English expression NOT AND.</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40: Origination of the NAND function with truth table of the circuit</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NAND elements are used very frequently. Unique graphical symbols have been developed for them.</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41: Truth table and graphical symbol of the NAND element with 2 inputs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graphical symbol is produced from the symbol of the AND element with a circle at the output. This circle denotes the negation of the output.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sentence applies for the logic operation of the NAND element:</a:t>
            </a:r>
            <a:endParaRPr lang="es-ES" sz="1200" kern="1200" dirty="0">
              <a:solidFill>
                <a:schemeClr val="tx1"/>
              </a:solidFill>
              <a:effectLst/>
              <a:latin typeface="Arial" charset="0"/>
              <a:ea typeface="+mn-ea"/>
              <a:cs typeface="+mn-cs"/>
            </a:endParaRPr>
          </a:p>
          <a:p>
            <a:r>
              <a:rPr lang="en-GB" sz="1200" b="1" i="1" kern="1200" dirty="0">
                <a:solidFill>
                  <a:schemeClr val="tx1"/>
                </a:solidFill>
                <a:effectLst/>
                <a:latin typeface="Arial" charset="0"/>
                <a:ea typeface="+mn-ea"/>
                <a:cs typeface="+mn-cs"/>
              </a:rPr>
              <a:t>A ‘1’ state is present at the output of a NAND element if a ‘1’ state is not present at all the inputs.</a:t>
            </a:r>
            <a:endParaRPr lang="es-ES" sz="11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NAND function can be represented as follows using logic algebra:</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Z = not (A ^ B)</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long line above the AND function of A and B indicates that the complete AND function has been negated.</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42</a:t>
            </a:fld>
            <a:endParaRPr lang="en-US"/>
          </a:p>
        </p:txBody>
      </p:sp>
    </p:spTree>
    <p:extLst>
      <p:ext uri="{BB962C8B-B14F-4D97-AF65-F5344CB8AC3E}">
        <p14:creationId xmlns:p14="http://schemas.microsoft.com/office/powerpoint/2010/main" val="33866733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Compound Elements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NOR Element (NOR)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truth table (diagram) applies for the combination of an OR element with a NOT element. An OR function is first formed from the input variables A and B:</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X = A v B</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X is simultaneously the input of the NOT element. All the states of output X appear as negated in column Z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(output X = 0 </a:t>
            </a:r>
            <a:r>
              <a:rPr lang="en-GB" sz="1200" kern="1200" dirty="0">
                <a:solidFill>
                  <a:schemeClr val="tx1"/>
                </a:solidFill>
                <a:effectLst/>
                <a:latin typeface="Arial" charset="0"/>
                <a:ea typeface="+mn-ea"/>
                <a:cs typeface="+mn-cs"/>
                <a:sym typeface="Wingdings" panose="05000000000000000000" pitchFamily="2" charset="2"/>
              </a:rPr>
              <a:t></a:t>
            </a:r>
            <a:r>
              <a:rPr lang="en-GB" sz="1200" kern="1200" dirty="0">
                <a:solidFill>
                  <a:schemeClr val="tx1"/>
                </a:solidFill>
                <a:effectLst/>
                <a:latin typeface="Arial" charset="0"/>
                <a:ea typeface="+mn-ea"/>
                <a:cs typeface="+mn-cs"/>
              </a:rPr>
              <a:t> Z = 1, output X = 1 </a:t>
            </a:r>
            <a:r>
              <a:rPr lang="en-GB" sz="1200" kern="1200" dirty="0">
                <a:solidFill>
                  <a:schemeClr val="tx1"/>
                </a:solidFill>
                <a:effectLst/>
                <a:latin typeface="Arial" charset="0"/>
                <a:ea typeface="+mn-ea"/>
                <a:cs typeface="+mn-cs"/>
                <a:sym typeface="Wingdings" panose="05000000000000000000" pitchFamily="2" charset="2"/>
              </a:rPr>
              <a:t></a:t>
            </a:r>
            <a:r>
              <a:rPr lang="en-GB" sz="1200" kern="1200" dirty="0">
                <a:solidFill>
                  <a:schemeClr val="tx1"/>
                </a:solidFill>
                <a:effectLst/>
                <a:latin typeface="Arial" charset="0"/>
                <a:ea typeface="+mn-ea"/>
                <a:cs typeface="+mn-cs"/>
              </a:rPr>
              <a:t> Z = 0).</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42: Origination of a NOR element with truth table of the circuit and graphical symbol (standardised)</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Z indicate the negated OR function. The designation NOR is formed from the English expression NOT OR (NICHT-ODER). There is no German equivalent for NOR.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NOR elements are used as frequently as NAND elements. There is therefore a separate graphical symbol (diagram) for NOR elements. The symbol is produced from the symbol of the OR element. The negation is shown by a circle at the output.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sentence applies for the logic operation of the NOR element: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dirty="0">
                <a:solidFill>
                  <a:schemeClr val="tx1"/>
                </a:solidFill>
                <a:effectLst/>
                <a:latin typeface="Arial" charset="0"/>
                <a:ea typeface="+mn-ea"/>
                <a:cs typeface="+mn-cs"/>
              </a:rPr>
              <a:t>A ‘1’ state only lies at the output of a NOR element if the ‘1’ state is not present at any of the inputs.</a:t>
            </a:r>
            <a:endParaRPr lang="es-ES" sz="11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algebraic equation applies for the NOR function:</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Z = not(</a:t>
            </a:r>
            <a:r>
              <a:rPr lang="en-GB" sz="1200" b="1" kern="1200" dirty="0">
                <a:solidFill>
                  <a:schemeClr val="tx1"/>
                </a:solidFill>
                <a:effectLst/>
                <a:latin typeface="Arial" charset="0"/>
                <a:ea typeface="+mn-ea"/>
                <a:cs typeface="+mn-cs"/>
              </a:rPr>
              <a:t> </a:t>
            </a:r>
            <a:r>
              <a:rPr lang="en-GB" sz="1200" b="0" kern="1200" dirty="0">
                <a:solidFill>
                  <a:schemeClr val="tx1"/>
                </a:solidFill>
                <a:effectLst/>
                <a:latin typeface="Arial" charset="0"/>
                <a:ea typeface="+mn-ea"/>
                <a:cs typeface="+mn-cs"/>
              </a:rPr>
              <a:t>A v B)</a:t>
            </a:r>
            <a:endParaRPr lang="es-ES" sz="1200" b="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43</a:t>
            </a:fld>
            <a:endParaRPr lang="en-US"/>
          </a:p>
        </p:txBody>
      </p:sp>
    </p:spTree>
    <p:extLst>
      <p:ext uri="{BB962C8B-B14F-4D97-AF65-F5344CB8AC3E}">
        <p14:creationId xmlns:p14="http://schemas.microsoft.com/office/powerpoint/2010/main" val="10468695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Compound Elements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EQUIVALENCE Element</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logic circuit is frequently required in which a ‘1’ state is always present at the output if the two input states are identical i.e. they are either both ‘0’ or both ‘1’. This type of circuit is called EQUIVALENCE (equivalence = equal value). It is configured from basic elements.</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43: Graphical symbol of the EQUIVALENCE element with truth table</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EQUIVALENCE elements also have their own graphical symbol. Diagram 2.9 shows the symbol and the truth table.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dirty="0">
                <a:solidFill>
                  <a:schemeClr val="tx1"/>
                </a:solidFill>
                <a:effectLst/>
                <a:latin typeface="Arial" charset="0"/>
                <a:ea typeface="+mn-ea"/>
                <a:cs typeface="+mn-cs"/>
              </a:rPr>
              <a:t>The ‘1’ state is always present at the output of an EQUIVALENCE element if the inputs have identical states.</a:t>
            </a:r>
            <a:endParaRPr lang="es-ES" sz="11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algebraic equation for the EQUIVALENCE function has the following format: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Z =</a:t>
            </a:r>
            <a:r>
              <a:rPr lang="es-ES"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(A</a:t>
            </a:r>
            <a:r>
              <a:rPr lang="es-ES"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a:t>
            </a:r>
            <a:r>
              <a:rPr lang="es-ES"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B)</a:t>
            </a:r>
            <a:r>
              <a:rPr lang="es-ES"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v (not A ^</a:t>
            </a:r>
            <a:r>
              <a:rPr lang="es-ES" sz="1200" b="0" kern="1200" dirty="0">
                <a:solidFill>
                  <a:schemeClr val="tx1"/>
                </a:solidFill>
                <a:effectLst/>
                <a:latin typeface="Arial" charset="0"/>
                <a:ea typeface="+mn-ea"/>
                <a:cs typeface="+mn-cs"/>
              </a:rPr>
              <a:t> </a:t>
            </a:r>
            <a:r>
              <a:rPr lang="es-ES" sz="1200" b="1" kern="1200" dirty="0" err="1">
                <a:solidFill>
                  <a:schemeClr val="tx1"/>
                </a:solidFill>
                <a:effectLst/>
                <a:latin typeface="Arial" charset="0"/>
                <a:ea typeface="+mn-ea"/>
                <a:cs typeface="+mn-cs"/>
              </a:rPr>
              <a:t>not</a:t>
            </a:r>
            <a:r>
              <a:rPr lang="es-ES" sz="1200" b="1"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B)</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44</a:t>
            </a:fld>
            <a:endParaRPr lang="en-US"/>
          </a:p>
        </p:txBody>
      </p:sp>
    </p:spTree>
    <p:extLst>
      <p:ext uri="{BB962C8B-B14F-4D97-AF65-F5344CB8AC3E}">
        <p14:creationId xmlns:p14="http://schemas.microsoft.com/office/powerpoint/2010/main" val="7007514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Compound Elements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EXCLUSIVE OR Element (XOR)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output of the EQUIVALENCE element is negated by the series connection of a NOT element, an element is created that always has the ‘1’ state at the output if the input states are different.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type of element is called EXCLUSIVE OR (= unequal value). The name suggests that this element is an OR element in which case it is not possible to have a ‘1’ state at the output if both inputs have a ‘1’ state (Case 4). The designation XOR was formed from the English expression EXCLUSIVE OR. </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44: Origination of an EXCLUSIVE OR element with truth table and graphical symbol (standardised)</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‘1’ state is then always present at the output of an EXCLUSIVE OR element if the two inputs have different states.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algebraic equation for EXCLUSIVE OR can be taken in the following format from the circuit in Diagram 6.10:</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X</a:t>
            </a:r>
            <a:r>
              <a:rPr lang="es-ES" sz="12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a:t>
            </a:r>
            <a:r>
              <a:rPr lang="es-ES" sz="12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(A</a:t>
            </a:r>
            <a:r>
              <a:rPr lang="es-ES" sz="12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a:t>
            </a:r>
            <a:r>
              <a:rPr lang="es-ES" sz="12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B)</a:t>
            </a:r>
            <a:r>
              <a:rPr lang="es-ES" sz="12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v</a:t>
            </a:r>
            <a:r>
              <a:rPr lang="es-ES" sz="12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(not A</a:t>
            </a:r>
            <a:r>
              <a:rPr lang="es-ES" sz="12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a:t>
            </a:r>
            <a:r>
              <a:rPr lang="es-ES" sz="1200" kern="1200" dirty="0">
                <a:solidFill>
                  <a:schemeClr val="tx1"/>
                </a:solidFill>
                <a:effectLst/>
                <a:latin typeface="Arial" charset="0"/>
                <a:ea typeface="+mn-ea"/>
                <a:cs typeface="+mn-cs"/>
              </a:rPr>
              <a:t> </a:t>
            </a:r>
            <a:r>
              <a:rPr lang="es-ES" sz="1200" kern="1200" dirty="0" err="1">
                <a:solidFill>
                  <a:schemeClr val="tx1"/>
                </a:solidFill>
                <a:effectLst/>
                <a:latin typeface="Arial" charset="0"/>
                <a:ea typeface="+mn-ea"/>
                <a:cs typeface="+mn-cs"/>
              </a:rPr>
              <a:t>not</a:t>
            </a:r>
            <a:r>
              <a:rPr lang="es-ES" sz="12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B)</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expression is not fully negated since the NOT element is series-connected. The following equation is produced for EXCLUSIVE 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Z =</a:t>
            </a:r>
            <a:r>
              <a:rPr lang="es-ES" sz="1200" kern="1200" dirty="0">
                <a:solidFill>
                  <a:schemeClr val="tx1"/>
                </a:solidFill>
                <a:effectLst/>
                <a:latin typeface="Arial" charset="0"/>
                <a:ea typeface="+mn-ea"/>
                <a:cs typeface="+mn-cs"/>
              </a:rPr>
              <a:t> </a:t>
            </a:r>
            <a:r>
              <a:rPr lang="es-ES" sz="1200" kern="1200" dirty="0" err="1">
                <a:solidFill>
                  <a:schemeClr val="tx1"/>
                </a:solidFill>
                <a:effectLst/>
                <a:latin typeface="Arial" charset="0"/>
                <a:ea typeface="+mn-ea"/>
                <a:cs typeface="+mn-cs"/>
              </a:rPr>
              <a:t>not</a:t>
            </a:r>
            <a:r>
              <a:rPr lang="es-ES" sz="1200" kern="1200" dirty="0">
                <a:solidFill>
                  <a:schemeClr val="tx1"/>
                </a:solidFill>
                <a:effectLst/>
                <a:latin typeface="Arial" charset="0"/>
                <a:ea typeface="+mn-ea"/>
                <a:cs typeface="+mn-cs"/>
              </a:rPr>
              <a:t> ( </a:t>
            </a:r>
            <a:r>
              <a:rPr lang="en-GB" sz="1200" kern="1200" dirty="0">
                <a:solidFill>
                  <a:schemeClr val="tx1"/>
                </a:solidFill>
                <a:effectLst/>
                <a:latin typeface="Arial" charset="0"/>
                <a:ea typeface="+mn-ea"/>
                <a:cs typeface="+mn-cs"/>
              </a:rPr>
              <a:t>(A</a:t>
            </a:r>
            <a:r>
              <a:rPr lang="es-ES" sz="12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a:t>
            </a:r>
            <a:r>
              <a:rPr lang="es-ES" sz="12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B)</a:t>
            </a:r>
            <a:r>
              <a:rPr lang="es-ES" sz="12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v</a:t>
            </a:r>
            <a:r>
              <a:rPr lang="es-ES" sz="12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(not A</a:t>
            </a:r>
            <a:r>
              <a:rPr lang="es-ES" sz="12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 not B)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45</a:t>
            </a:fld>
            <a:endParaRPr lang="en-US"/>
          </a:p>
        </p:txBody>
      </p:sp>
    </p:spTree>
    <p:extLst>
      <p:ext uri="{BB962C8B-B14F-4D97-AF65-F5344CB8AC3E}">
        <p14:creationId xmlns:p14="http://schemas.microsoft.com/office/powerpoint/2010/main" val="3777343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rPr lang="en-US" dirty="0"/>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48909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863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113468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04290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7713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104650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1454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1377345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174670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415927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08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8126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40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295267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16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579243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510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Tree>
    <p:extLst>
      <p:ext uri="{BB962C8B-B14F-4D97-AF65-F5344CB8AC3E}">
        <p14:creationId xmlns:p14="http://schemas.microsoft.com/office/powerpoint/2010/main" val="10004918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770" r:id="rId18"/>
    <p:sldLayoutId id="2147483772" r:id="rId19"/>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Visio_Drawing2.vsdx"/><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13.emf"/></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0.xml"/><Relationship Id="rId5" Type="http://schemas.openxmlformats.org/officeDocument/2006/relationships/image" Target="../media/image15.emf"/><Relationship Id="rId4" Type="http://schemas.openxmlformats.org/officeDocument/2006/relationships/package" Target="../embeddings/Microsoft_Visio_Drawing3.vsdx"/></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Visio_Drawing4.vsdx"/><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18.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Visio_Drawing5.vsdx"/><Relationship Id="rId2" Type="http://schemas.openxmlformats.org/officeDocument/2006/relationships/notesSlide" Target="../notesSlides/notesSlide18.xml"/><Relationship Id="rId1" Type="http://schemas.openxmlformats.org/officeDocument/2006/relationships/slideLayout" Target="../slideLayouts/slideLayout10.xml"/><Relationship Id="rId5" Type="http://schemas.openxmlformats.org/officeDocument/2006/relationships/image" Target="../media/image20.png"/><Relationship Id="rId4" Type="http://schemas.openxmlformats.org/officeDocument/2006/relationships/image" Target="../media/image19.emf"/></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0.xml"/><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0.xml"/><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0.xml"/><Relationship Id="rId5" Type="http://schemas.openxmlformats.org/officeDocument/2006/relationships/image" Target="../media/image37.emf"/><Relationship Id="rId4" Type="http://schemas.openxmlformats.org/officeDocument/2006/relationships/package" Target="../embeddings/Microsoft_Visio_Drawing6.vsdx"/></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package" Target="../embeddings/Microsoft_Visio_Drawing7.vsdx"/><Relationship Id="rId2" Type="http://schemas.openxmlformats.org/officeDocument/2006/relationships/notesSlide" Target="../notesSlides/notesSlide39.xml"/><Relationship Id="rId1" Type="http://schemas.openxmlformats.org/officeDocument/2006/relationships/slideLayout" Target="../slideLayouts/slideLayout10.xml"/><Relationship Id="rId5" Type="http://schemas.openxmlformats.org/officeDocument/2006/relationships/image" Target="../media/image40.png"/><Relationship Id="rId4" Type="http://schemas.openxmlformats.org/officeDocument/2006/relationships/image" Target="../media/image39.emf"/></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10.xml"/><Relationship Id="rId5" Type="http://schemas.openxmlformats.org/officeDocument/2006/relationships/image" Target="../media/image42.emf"/><Relationship Id="rId4" Type="http://schemas.openxmlformats.org/officeDocument/2006/relationships/package" Target="../embeddings/Microsoft_Visio_Drawing8.vsdx"/></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10.xml"/><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3" Type="http://schemas.openxmlformats.org/officeDocument/2006/relationships/package" Target="../embeddings/Microsoft_Visio_Drawing9.vsdx"/><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image" Target="../media/image45.emf"/></Relationships>
</file>

<file path=ppt/slides/_rels/slide43.xml.rels><?xml version="1.0" encoding="UTF-8" standalone="yes"?>
<Relationships xmlns="http://schemas.openxmlformats.org/package/2006/relationships"><Relationship Id="rId3" Type="http://schemas.openxmlformats.org/officeDocument/2006/relationships/package" Target="../embeddings/Microsoft_Visio_Drawing10.vsdx"/><Relationship Id="rId2" Type="http://schemas.openxmlformats.org/officeDocument/2006/relationships/notesSlide" Target="../notesSlides/notesSlide43.xml"/><Relationship Id="rId1" Type="http://schemas.openxmlformats.org/officeDocument/2006/relationships/slideLayout" Target="../slideLayouts/slideLayout10.xml"/><Relationship Id="rId4" Type="http://schemas.openxmlformats.org/officeDocument/2006/relationships/image" Target="../media/image46.emf"/></Relationships>
</file>

<file path=ppt/slides/_rels/slide44.xml.rels><?xml version="1.0" encoding="UTF-8" standalone="yes"?>
<Relationships xmlns="http://schemas.openxmlformats.org/package/2006/relationships"><Relationship Id="rId3" Type="http://schemas.openxmlformats.org/officeDocument/2006/relationships/package" Target="../embeddings/Microsoft_Visio_Drawing11.vsdx"/><Relationship Id="rId2" Type="http://schemas.openxmlformats.org/officeDocument/2006/relationships/notesSlide" Target="../notesSlides/notesSlide44.xml"/><Relationship Id="rId1" Type="http://schemas.openxmlformats.org/officeDocument/2006/relationships/slideLayout" Target="../slideLayouts/slideLayout10.xml"/><Relationship Id="rId4" Type="http://schemas.openxmlformats.org/officeDocument/2006/relationships/image" Target="../media/image47.emf"/></Relationships>
</file>

<file path=ppt/slides/_rels/slide45.xml.rels><?xml version="1.0" encoding="UTF-8" standalone="yes"?>
<Relationships xmlns="http://schemas.openxmlformats.org/package/2006/relationships"><Relationship Id="rId3" Type="http://schemas.openxmlformats.org/officeDocument/2006/relationships/package" Target="../embeddings/Microsoft_Visio_Drawing12.vsdx"/><Relationship Id="rId2" Type="http://schemas.openxmlformats.org/officeDocument/2006/relationships/notesSlide" Target="../notesSlides/notesSlide45.xml"/><Relationship Id="rId1" Type="http://schemas.openxmlformats.org/officeDocument/2006/relationships/slideLayout" Target="../slideLayouts/slideLayout10.xml"/><Relationship Id="rId4" Type="http://schemas.openxmlformats.org/officeDocument/2006/relationships/image" Target="../media/image4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rPr lang="en-GB" dirty="0"/>
              <a:t>KNX Advanced Course</a:t>
            </a:r>
            <a:endParaRPr lang="en-GB" sz="2400" b="0" dirty="0">
              <a:solidFill>
                <a:srgbClr val="0C4B9D"/>
              </a:solidFill>
              <a:latin typeface="+mn-lt"/>
              <a:ea typeface="+mn-ea"/>
              <a:cs typeface="+mn-cs"/>
            </a:endParaRPr>
          </a:p>
        </p:txBody>
      </p:sp>
      <p:sp>
        <p:nvSpPr>
          <p:cNvPr id="6" name="Subtitle 2">
            <a:extLst>
              <a:ext uri="{FF2B5EF4-FFF2-40B4-BE49-F238E27FC236}">
                <a16:creationId xmlns:a16="http://schemas.microsoft.com/office/drawing/2014/main" id="{36891D17-0544-4779-B232-7495C4C552DF}"/>
              </a:ext>
            </a:extLst>
          </p:cNvPr>
          <p:cNvSpPr>
            <a:spLocks noGrp="1"/>
          </p:cNvSpPr>
          <p:nvPr>
            <p:ph type="subTitle" idx="1"/>
          </p:nvPr>
        </p:nvSpPr>
        <p:spPr>
          <a:xfrm>
            <a:off x="468188" y="3447972"/>
            <a:ext cx="4607868" cy="1076325"/>
          </a:xfrm>
        </p:spPr>
        <p:txBody>
          <a:bodyPr/>
          <a:lstStyle/>
          <a:p>
            <a:r>
              <a:rPr lang="nl-BE" sz="2400" dirty="0"/>
              <a:t>Logic Operations</a:t>
            </a:r>
            <a:endParaRPr lang="en-GB" sz="2400" dirty="0"/>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Logical Connection of Group objects</a:t>
            </a:r>
            <a:endParaRPr lang="en-GB" dirty="0"/>
          </a:p>
        </p:txBody>
      </p:sp>
      <p:sp>
        <p:nvSpPr>
          <p:cNvPr id="5" name="Content Placeholder 1">
            <a:extLst>
              <a:ext uri="{FF2B5EF4-FFF2-40B4-BE49-F238E27FC236}">
                <a16:creationId xmlns:a16="http://schemas.microsoft.com/office/drawing/2014/main" id="{F208AD4A-49EC-4480-AA77-B67D151DDF87}"/>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ea typeface="Open Sans" panose="020B0606030504020204" pitchFamily="34" charset="0"/>
                <a:cs typeface="Open Sans" panose="020B0606030504020204" pitchFamily="34" charset="0"/>
              </a:rPr>
              <a:t>Switch Actuator (Binary Output) with Logic Function</a:t>
            </a:r>
          </a:p>
          <a:p>
            <a:pPr lvl="1">
              <a:lnSpc>
                <a:spcPct val="150000"/>
              </a:lnSpc>
              <a:buFont typeface="Wingdings" panose="05000000000000000000" pitchFamily="2" charset="2"/>
              <a:buChar char="§"/>
              <a:defRPr/>
            </a:pPr>
            <a:r>
              <a:rPr lang="en-US" sz="2000" b="1" kern="0" dirty="0">
                <a:solidFill>
                  <a:schemeClr val="bg1">
                    <a:lumMod val="10000"/>
                  </a:schemeClr>
                </a:solidFill>
                <a:ea typeface="Open Sans" panose="020B0606030504020204" pitchFamily="34" charset="0"/>
                <a:cs typeface="Open Sans" panose="020B0606030504020204" pitchFamily="34" charset="0"/>
              </a:rPr>
              <a:t>Group object – Switch : similar to OR function</a:t>
            </a:r>
          </a:p>
          <a:p>
            <a:pPr lvl="1">
              <a:lnSpc>
                <a:spcPct val="150000"/>
              </a:lnSpc>
              <a:buFont typeface="Wingdings" panose="05000000000000000000" pitchFamily="2" charset="2"/>
              <a:buChar char="§"/>
              <a:defRPr/>
            </a:pPr>
            <a:r>
              <a:rPr lang="en-US" sz="2000" b="1" kern="0" dirty="0">
                <a:solidFill>
                  <a:schemeClr val="bg1">
                    <a:lumMod val="10000"/>
                  </a:schemeClr>
                </a:solidFill>
                <a:ea typeface="Open Sans" panose="020B0606030504020204" pitchFamily="34" charset="0"/>
                <a:cs typeface="Open Sans" panose="020B0606030504020204" pitchFamily="34" charset="0"/>
              </a:rPr>
              <a:t>Group object – Logic</a:t>
            </a:r>
          </a:p>
          <a:p>
            <a:pPr lvl="1">
              <a:lnSpc>
                <a:spcPct val="150000"/>
              </a:lnSpc>
              <a:buFont typeface="Wingdings" panose="05000000000000000000" pitchFamily="2" charset="2"/>
              <a:buChar char="§"/>
              <a:defRPr/>
            </a:pPr>
            <a:r>
              <a:rPr lang="en-US" sz="2000" b="1" kern="0" dirty="0">
                <a:solidFill>
                  <a:schemeClr val="bg1">
                    <a:lumMod val="10000"/>
                  </a:schemeClr>
                </a:solidFill>
                <a:ea typeface="Open Sans" panose="020B0606030504020204" pitchFamily="34" charset="0"/>
                <a:cs typeface="Open Sans" panose="020B0606030504020204" pitchFamily="34" charset="0"/>
              </a:rPr>
              <a:t>OR Function with ON/OFF Delay</a:t>
            </a:r>
          </a:p>
          <a:p>
            <a:pPr lvl="1">
              <a:lnSpc>
                <a:spcPct val="150000"/>
              </a:lnSpc>
              <a:buFont typeface="Wingdings" panose="05000000000000000000" pitchFamily="2" charset="2"/>
              <a:buChar char="§"/>
              <a:defRPr/>
            </a:pPr>
            <a:r>
              <a:rPr lang="en-US" sz="2000" b="1" kern="0" dirty="0">
                <a:solidFill>
                  <a:schemeClr val="bg1">
                    <a:lumMod val="10000"/>
                  </a:schemeClr>
                </a:solidFill>
                <a:ea typeface="Open Sans" panose="020B0606030504020204" pitchFamily="34" charset="0"/>
                <a:cs typeface="Open Sans" panose="020B0606030504020204" pitchFamily="34" charset="0"/>
              </a:rPr>
              <a:t>AND Function</a:t>
            </a:r>
          </a:p>
          <a:p>
            <a:pPr lvl="1">
              <a:lnSpc>
                <a:spcPct val="150000"/>
              </a:lnSpc>
              <a:buFont typeface="Wingdings" panose="05000000000000000000" pitchFamily="2" charset="2"/>
              <a:buChar char="§"/>
              <a:defRPr/>
            </a:pPr>
            <a:r>
              <a:rPr lang="en-US" sz="2000" b="1" kern="0" dirty="0">
                <a:solidFill>
                  <a:schemeClr val="bg1">
                    <a:lumMod val="10000"/>
                  </a:schemeClr>
                </a:solidFill>
                <a:ea typeface="Open Sans" panose="020B0606030504020204" pitchFamily="34" charset="0"/>
                <a:cs typeface="Open Sans" panose="020B0606030504020204" pitchFamily="34" charset="0"/>
              </a:rPr>
              <a:t>Extended Logic (Direct Relay Control)</a:t>
            </a:r>
          </a:p>
          <a:p>
            <a:pPr lvl="1">
              <a:lnSpc>
                <a:spcPct val="150000"/>
              </a:lnSpc>
              <a:buFont typeface="Wingdings" panose="05000000000000000000" pitchFamily="2" charset="2"/>
              <a:buChar char="§"/>
              <a:defRPr/>
            </a:pPr>
            <a:r>
              <a:rPr lang="en-US" sz="2000" b="1" kern="0" dirty="0">
                <a:solidFill>
                  <a:schemeClr val="bg1">
                    <a:lumMod val="10000"/>
                  </a:schemeClr>
                </a:solidFill>
                <a:ea typeface="Open Sans" panose="020B0606030504020204" pitchFamily="34" charset="0"/>
                <a:cs typeface="Open Sans" panose="020B0606030504020204" pitchFamily="34" charset="0"/>
              </a:rPr>
              <a:t>Extended Logic (Object Logic Output)</a:t>
            </a:r>
          </a:p>
          <a:p>
            <a:pPr>
              <a:lnSpc>
                <a:spcPct val="150000"/>
              </a:lnSpc>
              <a:defRPr/>
            </a:pPr>
            <a:endParaRPr lang="en-US"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88438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Group object - Logic</a:t>
            </a:r>
            <a:endParaRPr lang="en-GB" dirty="0"/>
          </a:p>
        </p:txBody>
      </p:sp>
      <p:sp>
        <p:nvSpPr>
          <p:cNvPr id="4" name="Rectangle 3">
            <a:extLst>
              <a:ext uri="{FF2B5EF4-FFF2-40B4-BE49-F238E27FC236}">
                <a16:creationId xmlns:a16="http://schemas.microsoft.com/office/drawing/2014/main" id="{C2E30ADE-4EF6-44DC-A591-382F6152B952}"/>
              </a:ext>
            </a:extLst>
          </p:cNvPr>
          <p:cNvSpPr/>
          <p:nvPr/>
        </p:nvSpPr>
        <p:spPr>
          <a:xfrm>
            <a:off x="900112" y="1556792"/>
            <a:ext cx="7704335" cy="1398332"/>
          </a:xfrm>
          <a:prstGeom prst="rect">
            <a:avLst/>
          </a:prstGeom>
        </p:spPr>
        <p:txBody>
          <a:bodyPr wrap="square">
            <a:spAutoFit/>
          </a:bodyPr>
          <a:lstStyle/>
          <a:p>
            <a:pPr marL="342900" indent="-342900" eaLnBrk="0" hangingPunct="0">
              <a:lnSpc>
                <a:spcPct val="150000"/>
              </a:lnSpc>
              <a:spcBef>
                <a:spcPct val="20000"/>
              </a:spcBef>
              <a:buClr>
                <a:srgbClr val="369226"/>
              </a:buClr>
              <a:buFont typeface="Wingdings" pitchFamily="2" charset="2"/>
              <a:buChar char="§"/>
              <a:defRPr/>
            </a:pPr>
            <a:r>
              <a:rPr lang="en-GB" b="1" kern="0" dirty="0">
                <a:solidFill>
                  <a:schemeClr val="bg1">
                    <a:lumMod val="10000"/>
                  </a:schemeClr>
                </a:solidFill>
                <a:latin typeface="+mn-lt"/>
                <a:ea typeface="Open Sans" panose="020B0606030504020204" pitchFamily="34" charset="0"/>
                <a:cs typeface="Open Sans" panose="020B0606030504020204" pitchFamily="34" charset="0"/>
              </a:rPr>
              <a:t>A logic operation can be activated separately for each output</a:t>
            </a:r>
          </a:p>
          <a:p>
            <a:pPr marL="342900" indent="-342900" eaLnBrk="0" hangingPunct="0">
              <a:lnSpc>
                <a:spcPct val="150000"/>
              </a:lnSpc>
              <a:spcBef>
                <a:spcPct val="20000"/>
              </a:spcBef>
              <a:buClr>
                <a:srgbClr val="369226"/>
              </a:buClr>
              <a:buFont typeface="Wingdings" pitchFamily="2" charset="2"/>
              <a:buChar char="§"/>
              <a:defRPr/>
            </a:pPr>
            <a:r>
              <a:rPr lang="en-GB" b="1" kern="0" dirty="0">
                <a:solidFill>
                  <a:schemeClr val="bg1">
                    <a:lumMod val="10000"/>
                  </a:schemeClr>
                </a:solidFill>
                <a:latin typeface="+mn-lt"/>
                <a:ea typeface="Open Sans" panose="020B0606030504020204" pitchFamily="34" charset="0"/>
                <a:cs typeface="Open Sans" panose="020B0606030504020204" pitchFamily="34" charset="0"/>
              </a:rPr>
              <a:t>One or two logic operations are activated depend on product</a:t>
            </a:r>
          </a:p>
          <a:p>
            <a:pPr marL="342900" indent="-342900" eaLnBrk="0" hangingPunct="0">
              <a:lnSpc>
                <a:spcPct val="150000"/>
              </a:lnSpc>
              <a:spcBef>
                <a:spcPct val="20000"/>
              </a:spcBef>
              <a:buClr>
                <a:srgbClr val="369226"/>
              </a:buClr>
              <a:buFont typeface="Wingdings" pitchFamily="2" charset="2"/>
              <a:buChar char="§"/>
              <a:defRPr/>
            </a:pPr>
            <a:r>
              <a:rPr lang="en-GB" b="1" kern="0" dirty="0">
                <a:solidFill>
                  <a:schemeClr val="bg1">
                    <a:lumMod val="10000"/>
                  </a:schemeClr>
                </a:solidFill>
                <a:latin typeface="+mn-lt"/>
                <a:ea typeface="Open Sans" panose="020B0606030504020204" pitchFamily="34" charset="0"/>
                <a:cs typeface="Open Sans" panose="020B0606030504020204" pitchFamily="34" charset="0"/>
              </a:rPr>
              <a:t>Additional logic functions can be activated via “extended logic”</a:t>
            </a:r>
            <a:endParaRPr lang="es-ES" b="1" kern="0" dirty="0">
              <a:solidFill>
                <a:schemeClr val="bg1">
                  <a:lumMod val="10000"/>
                </a:schemeClr>
              </a:solidFill>
              <a:latin typeface="+mn-lt"/>
              <a:ea typeface="Open Sans" panose="020B0606030504020204" pitchFamily="34" charset="0"/>
              <a:cs typeface="Open Sans" panose="020B0606030504020204" pitchFamily="34" charset="0"/>
            </a:endParaRPr>
          </a:p>
        </p:txBody>
      </p:sp>
      <p:graphicFrame>
        <p:nvGraphicFramePr>
          <p:cNvPr id="6" name="Object 5">
            <a:extLst>
              <a:ext uri="{FF2B5EF4-FFF2-40B4-BE49-F238E27FC236}">
                <a16:creationId xmlns:a16="http://schemas.microsoft.com/office/drawing/2014/main" id="{4756ACCA-E787-4CE6-A7D2-3932F575F519}"/>
              </a:ext>
            </a:extLst>
          </p:cNvPr>
          <p:cNvGraphicFramePr>
            <a:graphicFrameLocks noChangeAspect="1"/>
          </p:cNvGraphicFramePr>
          <p:nvPr/>
        </p:nvGraphicFramePr>
        <p:xfrm>
          <a:off x="1566738" y="3210042"/>
          <a:ext cx="6029598" cy="3647958"/>
        </p:xfrm>
        <a:graphic>
          <a:graphicData uri="http://schemas.openxmlformats.org/presentationml/2006/ole">
            <mc:AlternateContent xmlns:mc="http://schemas.openxmlformats.org/markup-compatibility/2006">
              <mc:Choice xmlns:v="urn:schemas-microsoft-com:vml" Requires="v">
                <p:oleObj r:id="rId3" imgW="8799327" imgH="5338492" progId="Visio.Drawing.15">
                  <p:embed/>
                </p:oleObj>
              </mc:Choice>
              <mc:Fallback>
                <p:oleObj r:id="rId3" imgW="8799327" imgH="5338492" progId="Visio.Drawing.15">
                  <p:embed/>
                  <p:pic>
                    <p:nvPicPr>
                      <p:cNvPr id="6" name="Object 5">
                        <a:extLst>
                          <a:ext uri="{FF2B5EF4-FFF2-40B4-BE49-F238E27FC236}">
                            <a16:creationId xmlns:a16="http://schemas.microsoft.com/office/drawing/2014/main" id="{4756ACCA-E787-4CE6-A7D2-3932F575F5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6738" y="3210042"/>
                        <a:ext cx="6029598" cy="3647958"/>
                      </a:xfrm>
                      <a:prstGeom prst="rect">
                        <a:avLst/>
                      </a:prstGeom>
                      <a:noFill/>
                    </p:spPr>
                  </p:pic>
                </p:oleObj>
              </mc:Fallback>
            </mc:AlternateContent>
          </a:graphicData>
        </a:graphic>
      </p:graphicFrame>
    </p:spTree>
    <p:extLst>
      <p:ext uri="{BB962C8B-B14F-4D97-AF65-F5344CB8AC3E}">
        <p14:creationId xmlns:p14="http://schemas.microsoft.com/office/powerpoint/2010/main" val="2813314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Group object - Logic</a:t>
            </a:r>
            <a:endParaRPr lang="en-GB" dirty="0"/>
          </a:p>
        </p:txBody>
      </p:sp>
      <p:graphicFrame>
        <p:nvGraphicFramePr>
          <p:cNvPr id="4" name="Object 3">
            <a:extLst>
              <a:ext uri="{FF2B5EF4-FFF2-40B4-BE49-F238E27FC236}">
                <a16:creationId xmlns:a16="http://schemas.microsoft.com/office/drawing/2014/main" id="{7341EE2F-F0D1-46F7-B220-52F323E944F5}"/>
              </a:ext>
            </a:extLst>
          </p:cNvPr>
          <p:cNvGraphicFramePr>
            <a:graphicFrameLocks noChangeAspect="1"/>
          </p:cNvGraphicFramePr>
          <p:nvPr/>
        </p:nvGraphicFramePr>
        <p:xfrm>
          <a:off x="1153471" y="3390365"/>
          <a:ext cx="7274139" cy="2016224"/>
        </p:xfrm>
        <a:graphic>
          <a:graphicData uri="http://schemas.openxmlformats.org/presentationml/2006/ole">
            <mc:AlternateContent xmlns:mc="http://schemas.openxmlformats.org/markup-compatibility/2006">
              <mc:Choice xmlns:v="urn:schemas-microsoft-com:vml" Requires="v">
                <p:oleObj r:id="rId3" imgW="7234687" imgH="2014793" progId="Visio.Drawing.15">
                  <p:embed/>
                </p:oleObj>
              </mc:Choice>
              <mc:Fallback>
                <p:oleObj r:id="rId3" imgW="7234687" imgH="2014793" progId="Visio.Drawing.15">
                  <p:embed/>
                  <p:pic>
                    <p:nvPicPr>
                      <p:cNvPr id="4" name="Object 3">
                        <a:extLst>
                          <a:ext uri="{FF2B5EF4-FFF2-40B4-BE49-F238E27FC236}">
                            <a16:creationId xmlns:a16="http://schemas.microsoft.com/office/drawing/2014/main" id="{7341EE2F-F0D1-46F7-B220-52F323E944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471" y="3390365"/>
                        <a:ext cx="7274139" cy="2016224"/>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12E0CB3D-C197-417F-AD1B-477891C29323}"/>
              </a:ext>
            </a:extLst>
          </p:cNvPr>
          <p:cNvSpPr/>
          <p:nvPr/>
        </p:nvSpPr>
        <p:spPr>
          <a:xfrm>
            <a:off x="926405" y="5661248"/>
            <a:ext cx="7728272" cy="369332"/>
          </a:xfrm>
          <a:prstGeom prst="rect">
            <a:avLst/>
          </a:prstGeom>
        </p:spPr>
        <p:txBody>
          <a:bodyPr wrap="square">
            <a:spAutoFit/>
          </a:bodyPr>
          <a:lstStyle/>
          <a:p>
            <a:r>
              <a:rPr lang="en-US" b="1" dirty="0"/>
              <a:t>Functional diagram of the logic operations e.g. 4-fold switch actuator</a:t>
            </a:r>
            <a:endParaRPr lang="es-ES" b="1" dirty="0"/>
          </a:p>
        </p:txBody>
      </p:sp>
      <p:sp>
        <p:nvSpPr>
          <p:cNvPr id="6" name="Rectangle 5">
            <a:extLst>
              <a:ext uri="{FF2B5EF4-FFF2-40B4-BE49-F238E27FC236}">
                <a16:creationId xmlns:a16="http://schemas.microsoft.com/office/drawing/2014/main" id="{956AD94C-741C-4089-A932-CF4CB6FEFE30}"/>
              </a:ext>
            </a:extLst>
          </p:cNvPr>
          <p:cNvSpPr/>
          <p:nvPr/>
        </p:nvSpPr>
        <p:spPr>
          <a:xfrm>
            <a:off x="2213123" y="2141527"/>
            <a:ext cx="2902645" cy="927433"/>
          </a:xfrm>
          <a:prstGeom prst="rect">
            <a:avLst/>
          </a:prstGeom>
        </p:spPr>
        <p:txBody>
          <a:bodyPr wrap="square">
            <a:spAutoFit/>
          </a:bodyPr>
          <a:lstStyle/>
          <a:p>
            <a:pPr marL="342900" indent="-342900" eaLnBrk="0" hangingPunct="0">
              <a:lnSpc>
                <a:spcPct val="150000"/>
              </a:lnSpc>
              <a:spcBef>
                <a:spcPct val="20000"/>
              </a:spcBef>
              <a:buClr>
                <a:srgbClr val="369226"/>
              </a:buClr>
              <a:buFont typeface="Wingdings" pitchFamily="2" charset="2"/>
              <a:buChar char="§"/>
              <a:defRPr/>
            </a:pPr>
            <a:r>
              <a:rPr lang="en-US" b="1" kern="0" dirty="0">
                <a:solidFill>
                  <a:srgbClr val="369226"/>
                </a:solidFill>
                <a:latin typeface="+mn-lt"/>
                <a:ea typeface="Open Sans" panose="020B0606030504020204" pitchFamily="34" charset="0"/>
                <a:cs typeface="Open Sans" panose="020B0606030504020204" pitchFamily="34" charset="0"/>
              </a:rPr>
              <a:t>AND</a:t>
            </a:r>
            <a:r>
              <a:rPr lang="en-US" b="1" kern="0" dirty="0">
                <a:solidFill>
                  <a:schemeClr val="bg1">
                    <a:lumMod val="10000"/>
                  </a:schemeClr>
                </a:solidFill>
                <a:latin typeface="+mn-lt"/>
                <a:ea typeface="Open Sans" panose="020B0606030504020204" pitchFamily="34" charset="0"/>
                <a:cs typeface="Open Sans" panose="020B0606030504020204" pitchFamily="34" charset="0"/>
              </a:rPr>
              <a:t> function</a:t>
            </a:r>
          </a:p>
          <a:p>
            <a:pPr marL="342900" indent="-342900" eaLnBrk="0" hangingPunct="0">
              <a:lnSpc>
                <a:spcPct val="150000"/>
              </a:lnSpc>
              <a:spcBef>
                <a:spcPct val="20000"/>
              </a:spcBef>
              <a:buClr>
                <a:srgbClr val="369226"/>
              </a:buClr>
              <a:buFont typeface="Wingdings" pitchFamily="2" charset="2"/>
              <a:buChar char="§"/>
              <a:defRPr/>
            </a:pPr>
            <a:r>
              <a:rPr lang="en-US" b="1" kern="0" dirty="0">
                <a:solidFill>
                  <a:srgbClr val="369226"/>
                </a:solidFill>
                <a:latin typeface="+mn-lt"/>
                <a:ea typeface="Open Sans" panose="020B0606030504020204" pitchFamily="34" charset="0"/>
                <a:cs typeface="Open Sans" panose="020B0606030504020204" pitchFamily="34" charset="0"/>
              </a:rPr>
              <a:t>OR</a:t>
            </a:r>
            <a:r>
              <a:rPr lang="en-US" b="1" kern="0" dirty="0">
                <a:solidFill>
                  <a:schemeClr val="bg1">
                    <a:lumMod val="10000"/>
                  </a:schemeClr>
                </a:solidFill>
                <a:latin typeface="+mn-lt"/>
                <a:ea typeface="Open Sans" panose="020B0606030504020204" pitchFamily="34" charset="0"/>
                <a:cs typeface="Open Sans" panose="020B0606030504020204" pitchFamily="34" charset="0"/>
              </a:rPr>
              <a:t> function</a:t>
            </a:r>
          </a:p>
        </p:txBody>
      </p:sp>
      <p:sp>
        <p:nvSpPr>
          <p:cNvPr id="7" name="Rectangle 6">
            <a:extLst>
              <a:ext uri="{FF2B5EF4-FFF2-40B4-BE49-F238E27FC236}">
                <a16:creationId xmlns:a16="http://schemas.microsoft.com/office/drawing/2014/main" id="{AC28B726-59E3-471F-9C72-ABE3C3D6A8A5}"/>
              </a:ext>
            </a:extLst>
          </p:cNvPr>
          <p:cNvSpPr/>
          <p:nvPr/>
        </p:nvSpPr>
        <p:spPr>
          <a:xfrm>
            <a:off x="4405659" y="2141526"/>
            <a:ext cx="2902645" cy="927433"/>
          </a:xfrm>
          <a:prstGeom prst="rect">
            <a:avLst/>
          </a:prstGeom>
        </p:spPr>
        <p:txBody>
          <a:bodyPr wrap="square">
            <a:spAutoFit/>
          </a:bodyPr>
          <a:lstStyle/>
          <a:p>
            <a:pPr marL="342900" indent="-342900" eaLnBrk="0" hangingPunct="0">
              <a:lnSpc>
                <a:spcPct val="150000"/>
              </a:lnSpc>
              <a:spcBef>
                <a:spcPct val="20000"/>
              </a:spcBef>
              <a:buClr>
                <a:srgbClr val="369226"/>
              </a:buClr>
              <a:buFont typeface="Wingdings" pitchFamily="2" charset="2"/>
              <a:buChar char="§"/>
              <a:defRPr/>
            </a:pPr>
            <a:r>
              <a:rPr lang="en-US" b="1" kern="0" dirty="0">
                <a:solidFill>
                  <a:srgbClr val="369226"/>
                </a:solidFill>
                <a:latin typeface="+mn-lt"/>
                <a:ea typeface="Open Sans" panose="020B0606030504020204" pitchFamily="34" charset="0"/>
                <a:cs typeface="Open Sans" panose="020B0606030504020204" pitchFamily="34" charset="0"/>
              </a:rPr>
              <a:t>XOR</a:t>
            </a:r>
            <a:r>
              <a:rPr lang="en-US" b="1" kern="0" dirty="0">
                <a:solidFill>
                  <a:schemeClr val="bg1">
                    <a:lumMod val="10000"/>
                  </a:schemeClr>
                </a:solidFill>
                <a:latin typeface="+mn-lt"/>
                <a:ea typeface="Open Sans" panose="020B0606030504020204" pitchFamily="34" charset="0"/>
                <a:cs typeface="Open Sans" panose="020B0606030504020204" pitchFamily="34" charset="0"/>
              </a:rPr>
              <a:t> function</a:t>
            </a:r>
          </a:p>
          <a:p>
            <a:pPr marL="342900" indent="-342900" eaLnBrk="0" hangingPunct="0">
              <a:lnSpc>
                <a:spcPct val="150000"/>
              </a:lnSpc>
              <a:spcBef>
                <a:spcPct val="20000"/>
              </a:spcBef>
              <a:buClr>
                <a:srgbClr val="369226"/>
              </a:buClr>
              <a:buFont typeface="Wingdings" pitchFamily="2" charset="2"/>
              <a:buChar char="§"/>
              <a:defRPr/>
            </a:pPr>
            <a:r>
              <a:rPr lang="en-US" b="1" kern="0" dirty="0">
                <a:solidFill>
                  <a:srgbClr val="369226"/>
                </a:solidFill>
                <a:latin typeface="+mn-lt"/>
                <a:ea typeface="Open Sans" panose="020B0606030504020204" pitchFamily="34" charset="0"/>
                <a:cs typeface="Open Sans" panose="020B0606030504020204" pitchFamily="34" charset="0"/>
              </a:rPr>
              <a:t>Gate</a:t>
            </a:r>
            <a:r>
              <a:rPr lang="en-US" b="1" kern="0" dirty="0">
                <a:solidFill>
                  <a:schemeClr val="bg1">
                    <a:lumMod val="10000"/>
                  </a:schemeClr>
                </a:solidFill>
                <a:latin typeface="+mn-lt"/>
                <a:ea typeface="Open Sans" panose="020B0606030504020204" pitchFamily="34" charset="0"/>
                <a:cs typeface="Open Sans" panose="020B0606030504020204" pitchFamily="34" charset="0"/>
              </a:rPr>
              <a:t> function</a:t>
            </a:r>
          </a:p>
        </p:txBody>
      </p:sp>
      <p:sp>
        <p:nvSpPr>
          <p:cNvPr id="8" name="Rectangle 7">
            <a:extLst>
              <a:ext uri="{FF2B5EF4-FFF2-40B4-BE49-F238E27FC236}">
                <a16:creationId xmlns:a16="http://schemas.microsoft.com/office/drawing/2014/main" id="{094A708F-9356-4A6E-96C9-FB5F2949319C}"/>
              </a:ext>
            </a:extLst>
          </p:cNvPr>
          <p:cNvSpPr/>
          <p:nvPr/>
        </p:nvSpPr>
        <p:spPr>
          <a:xfrm>
            <a:off x="926405" y="1450047"/>
            <a:ext cx="7894067" cy="707886"/>
          </a:xfrm>
          <a:prstGeom prst="rect">
            <a:avLst/>
          </a:prstGeom>
        </p:spPr>
        <p:txBody>
          <a:bodyPr wrap="square">
            <a:spAutoFit/>
          </a:bodyPr>
          <a:lstStyle/>
          <a:p>
            <a:r>
              <a:rPr lang="en-US" sz="2000" b="1" dirty="0"/>
              <a:t>Possibility to link the switching of the output with specific conditions:</a:t>
            </a:r>
            <a:endParaRPr lang="es-ES" sz="2000" b="1" dirty="0"/>
          </a:p>
        </p:txBody>
      </p:sp>
    </p:spTree>
    <p:extLst>
      <p:ext uri="{BB962C8B-B14F-4D97-AF65-F5344CB8AC3E}">
        <p14:creationId xmlns:p14="http://schemas.microsoft.com/office/powerpoint/2010/main" val="3307170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OR Function with ON/OFF Delay</a:t>
            </a:r>
            <a:endParaRPr lang="en-GB" dirty="0"/>
          </a:p>
        </p:txBody>
      </p:sp>
      <p:pic>
        <p:nvPicPr>
          <p:cNvPr id="2" name="Picture 1">
            <a:extLst>
              <a:ext uri="{FF2B5EF4-FFF2-40B4-BE49-F238E27FC236}">
                <a16:creationId xmlns:a16="http://schemas.microsoft.com/office/drawing/2014/main" id="{DE024628-BE5E-484B-BF03-1C2A48D8D112}"/>
              </a:ext>
            </a:extLst>
          </p:cNvPr>
          <p:cNvPicPr>
            <a:picLocks noChangeAspect="1"/>
          </p:cNvPicPr>
          <p:nvPr/>
        </p:nvPicPr>
        <p:blipFill>
          <a:blip r:embed="rId3"/>
          <a:stretch>
            <a:fillRect/>
          </a:stretch>
        </p:blipFill>
        <p:spPr>
          <a:xfrm>
            <a:off x="905843" y="1484784"/>
            <a:ext cx="5389414" cy="2382011"/>
          </a:xfrm>
          <a:prstGeom prst="rect">
            <a:avLst/>
          </a:prstGeom>
          <a:ln>
            <a:solidFill>
              <a:schemeClr val="accent1"/>
            </a:solidFill>
          </a:ln>
        </p:spPr>
      </p:pic>
      <p:pic>
        <p:nvPicPr>
          <p:cNvPr id="4" name="Picture 3">
            <a:extLst>
              <a:ext uri="{FF2B5EF4-FFF2-40B4-BE49-F238E27FC236}">
                <a16:creationId xmlns:a16="http://schemas.microsoft.com/office/drawing/2014/main" id="{930A63B6-49CD-4D71-9760-482E14E38AE3}"/>
              </a:ext>
            </a:extLst>
          </p:cNvPr>
          <p:cNvPicPr>
            <a:picLocks noChangeAspect="1"/>
          </p:cNvPicPr>
          <p:nvPr/>
        </p:nvPicPr>
        <p:blipFill>
          <a:blip r:embed="rId4"/>
          <a:stretch>
            <a:fillRect/>
          </a:stretch>
        </p:blipFill>
        <p:spPr>
          <a:xfrm>
            <a:off x="912689" y="4094722"/>
            <a:ext cx="5389414" cy="1787478"/>
          </a:xfrm>
          <a:prstGeom prst="rect">
            <a:avLst/>
          </a:prstGeom>
          <a:ln>
            <a:solidFill>
              <a:schemeClr val="accent1"/>
            </a:solidFill>
          </a:ln>
        </p:spPr>
      </p:pic>
      <p:sp>
        <p:nvSpPr>
          <p:cNvPr id="6" name="Rectangle 5">
            <a:extLst>
              <a:ext uri="{FF2B5EF4-FFF2-40B4-BE49-F238E27FC236}">
                <a16:creationId xmlns:a16="http://schemas.microsoft.com/office/drawing/2014/main" id="{F7ED5B49-3825-4A51-A42C-FAFF5456EB7D}"/>
              </a:ext>
            </a:extLst>
          </p:cNvPr>
          <p:cNvSpPr/>
          <p:nvPr/>
        </p:nvSpPr>
        <p:spPr>
          <a:xfrm>
            <a:off x="6516216" y="1375104"/>
            <a:ext cx="2376264" cy="1869230"/>
          </a:xfrm>
          <a:prstGeom prst="rect">
            <a:avLst/>
          </a:prstGeom>
        </p:spPr>
        <p:txBody>
          <a:bodyPr wrap="square">
            <a:spAutoFit/>
          </a:bodyPr>
          <a:lstStyle/>
          <a:p>
            <a:pPr eaLnBrk="0" hangingPunct="0">
              <a:lnSpc>
                <a:spcPct val="150000"/>
              </a:lnSpc>
              <a:spcBef>
                <a:spcPct val="20000"/>
              </a:spcBef>
              <a:buClr>
                <a:srgbClr val="369226"/>
              </a:buClr>
              <a:defRPr/>
            </a:pPr>
            <a:r>
              <a:rPr lang="en-US" b="1" kern="0" dirty="0">
                <a:latin typeface="+mn-lt"/>
                <a:ea typeface="Open Sans" panose="020B0606030504020204" pitchFamily="34" charset="0"/>
                <a:cs typeface="Open Sans" panose="020B0606030504020204" pitchFamily="34" charset="0"/>
              </a:rPr>
              <a:t>Logic Operations:</a:t>
            </a:r>
          </a:p>
          <a:p>
            <a:pPr marL="342900" indent="-342900" eaLnBrk="0" hangingPunct="0">
              <a:lnSpc>
                <a:spcPct val="150000"/>
              </a:lnSpc>
              <a:spcBef>
                <a:spcPct val="20000"/>
              </a:spcBef>
              <a:buClr>
                <a:srgbClr val="369226"/>
              </a:buClr>
              <a:buFont typeface="Wingdings" pitchFamily="2" charset="2"/>
              <a:buChar char="§"/>
              <a:defRPr/>
            </a:pPr>
            <a:r>
              <a:rPr lang="en-US" b="1" kern="0" dirty="0">
                <a:solidFill>
                  <a:srgbClr val="369226"/>
                </a:solidFill>
                <a:latin typeface="+mn-lt"/>
                <a:ea typeface="Open Sans" panose="020B0606030504020204" pitchFamily="34" charset="0"/>
                <a:cs typeface="Open Sans" panose="020B0606030504020204" pitchFamily="34" charset="0"/>
              </a:rPr>
              <a:t>AND</a:t>
            </a:r>
            <a:r>
              <a:rPr lang="en-US" b="1" kern="0" dirty="0">
                <a:solidFill>
                  <a:schemeClr val="bg1">
                    <a:lumMod val="10000"/>
                  </a:schemeClr>
                </a:solidFill>
                <a:latin typeface="+mn-lt"/>
                <a:ea typeface="Open Sans" panose="020B0606030504020204" pitchFamily="34" charset="0"/>
                <a:cs typeface="Open Sans" panose="020B0606030504020204" pitchFamily="34" charset="0"/>
              </a:rPr>
              <a:t> function</a:t>
            </a:r>
          </a:p>
          <a:p>
            <a:pPr marL="342900" indent="-342900" eaLnBrk="0" hangingPunct="0">
              <a:lnSpc>
                <a:spcPct val="150000"/>
              </a:lnSpc>
              <a:spcBef>
                <a:spcPct val="20000"/>
              </a:spcBef>
              <a:buClr>
                <a:srgbClr val="369226"/>
              </a:buClr>
              <a:buFont typeface="Wingdings" pitchFamily="2" charset="2"/>
              <a:buChar char="§"/>
              <a:defRPr/>
            </a:pPr>
            <a:r>
              <a:rPr lang="en-US" b="1" kern="0" dirty="0">
                <a:solidFill>
                  <a:srgbClr val="369226"/>
                </a:solidFill>
                <a:latin typeface="+mn-lt"/>
                <a:ea typeface="Open Sans" panose="020B0606030504020204" pitchFamily="34" charset="0"/>
                <a:cs typeface="Open Sans" panose="020B0606030504020204" pitchFamily="34" charset="0"/>
              </a:rPr>
              <a:t>OR</a:t>
            </a:r>
            <a:r>
              <a:rPr lang="en-US" b="1" kern="0" dirty="0">
                <a:solidFill>
                  <a:schemeClr val="bg1">
                    <a:lumMod val="10000"/>
                  </a:schemeClr>
                </a:solidFill>
                <a:latin typeface="+mn-lt"/>
                <a:ea typeface="Open Sans" panose="020B0606030504020204" pitchFamily="34" charset="0"/>
                <a:cs typeface="Open Sans" panose="020B0606030504020204" pitchFamily="34" charset="0"/>
              </a:rPr>
              <a:t> function</a:t>
            </a:r>
          </a:p>
          <a:p>
            <a:pPr marL="342900" indent="-342900" eaLnBrk="0" hangingPunct="0">
              <a:lnSpc>
                <a:spcPct val="150000"/>
              </a:lnSpc>
              <a:spcBef>
                <a:spcPct val="20000"/>
              </a:spcBef>
              <a:buClr>
                <a:srgbClr val="369226"/>
              </a:buClr>
              <a:buFont typeface="Wingdings" pitchFamily="2" charset="2"/>
              <a:buChar char="§"/>
              <a:defRPr/>
            </a:pPr>
            <a:r>
              <a:rPr lang="en-US" b="1" kern="0" dirty="0">
                <a:solidFill>
                  <a:srgbClr val="369226"/>
                </a:solidFill>
                <a:latin typeface="+mn-lt"/>
                <a:ea typeface="Open Sans" panose="020B0606030504020204" pitchFamily="34" charset="0"/>
                <a:cs typeface="Open Sans" panose="020B0606030504020204" pitchFamily="34" charset="0"/>
              </a:rPr>
              <a:t>XOR</a:t>
            </a:r>
            <a:r>
              <a:rPr lang="en-US" b="1" kern="0" dirty="0">
                <a:solidFill>
                  <a:schemeClr val="bg1">
                    <a:lumMod val="10000"/>
                  </a:schemeClr>
                </a:solidFill>
                <a:latin typeface="+mn-lt"/>
                <a:ea typeface="Open Sans" panose="020B0606030504020204" pitchFamily="34" charset="0"/>
                <a:cs typeface="Open Sans" panose="020B0606030504020204" pitchFamily="34" charset="0"/>
              </a:rPr>
              <a:t> function</a:t>
            </a:r>
          </a:p>
        </p:txBody>
      </p:sp>
      <p:sp>
        <p:nvSpPr>
          <p:cNvPr id="7" name="Rectangle 6">
            <a:extLst>
              <a:ext uri="{FF2B5EF4-FFF2-40B4-BE49-F238E27FC236}">
                <a16:creationId xmlns:a16="http://schemas.microsoft.com/office/drawing/2014/main" id="{FA452E9C-303E-4C4E-9DFD-00C2594A45E4}"/>
              </a:ext>
            </a:extLst>
          </p:cNvPr>
          <p:cNvSpPr/>
          <p:nvPr/>
        </p:nvSpPr>
        <p:spPr>
          <a:xfrm>
            <a:off x="6516216" y="4005064"/>
            <a:ext cx="2376264" cy="872034"/>
          </a:xfrm>
          <a:prstGeom prst="rect">
            <a:avLst/>
          </a:prstGeom>
        </p:spPr>
        <p:txBody>
          <a:bodyPr wrap="square">
            <a:spAutoFit/>
          </a:bodyPr>
          <a:lstStyle/>
          <a:p>
            <a:pPr eaLnBrk="0" hangingPunct="0">
              <a:lnSpc>
                <a:spcPct val="150000"/>
              </a:lnSpc>
              <a:spcBef>
                <a:spcPct val="20000"/>
              </a:spcBef>
              <a:buClr>
                <a:srgbClr val="369226"/>
              </a:buClr>
              <a:defRPr/>
            </a:pPr>
            <a:r>
              <a:rPr lang="en-US" b="1" kern="0" dirty="0">
                <a:latin typeface="+mn-lt"/>
                <a:ea typeface="Open Sans" panose="020B0606030504020204" pitchFamily="34" charset="0"/>
                <a:cs typeface="Open Sans" panose="020B0606030504020204" pitchFamily="34" charset="0"/>
              </a:rPr>
              <a:t>Alternative ON/OFF delays</a:t>
            </a:r>
          </a:p>
        </p:txBody>
      </p:sp>
    </p:spTree>
    <p:extLst>
      <p:ext uri="{BB962C8B-B14F-4D97-AF65-F5344CB8AC3E}">
        <p14:creationId xmlns:p14="http://schemas.microsoft.com/office/powerpoint/2010/main" val="1793711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Flow Diagram of OR Function</a:t>
            </a:r>
          </a:p>
        </p:txBody>
      </p:sp>
      <p:pic>
        <p:nvPicPr>
          <p:cNvPr id="2" name="Picture 1">
            <a:extLst>
              <a:ext uri="{FF2B5EF4-FFF2-40B4-BE49-F238E27FC236}">
                <a16:creationId xmlns:a16="http://schemas.microsoft.com/office/drawing/2014/main" id="{FCD033B6-BE7D-4D27-9EF7-B6C13381B11D}"/>
              </a:ext>
            </a:extLst>
          </p:cNvPr>
          <p:cNvPicPr>
            <a:picLocks noChangeAspect="1"/>
          </p:cNvPicPr>
          <p:nvPr/>
        </p:nvPicPr>
        <p:blipFill>
          <a:blip r:embed="rId3"/>
          <a:stretch>
            <a:fillRect/>
          </a:stretch>
        </p:blipFill>
        <p:spPr>
          <a:xfrm>
            <a:off x="1331640" y="1484784"/>
            <a:ext cx="6837387" cy="4655491"/>
          </a:xfrm>
          <a:prstGeom prst="rect">
            <a:avLst/>
          </a:prstGeom>
        </p:spPr>
      </p:pic>
    </p:spTree>
    <p:extLst>
      <p:ext uri="{BB962C8B-B14F-4D97-AF65-F5344CB8AC3E}">
        <p14:creationId xmlns:p14="http://schemas.microsoft.com/office/powerpoint/2010/main" val="3418363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7614"/>
            <a:ext cx="6696223" cy="719138"/>
          </a:xfrm>
        </p:spPr>
        <p:txBody>
          <a:bodyPr/>
          <a:lstStyle/>
          <a:p>
            <a:r>
              <a:rPr lang="en-US" dirty="0"/>
              <a:t>OR Function with ON and OFF Delay</a:t>
            </a:r>
          </a:p>
        </p:txBody>
      </p:sp>
      <p:pic>
        <p:nvPicPr>
          <p:cNvPr id="4" name="Picture 3">
            <a:extLst>
              <a:ext uri="{FF2B5EF4-FFF2-40B4-BE49-F238E27FC236}">
                <a16:creationId xmlns:a16="http://schemas.microsoft.com/office/drawing/2014/main" id="{F2915172-63A8-4507-874A-6C67E8B851BB}"/>
              </a:ext>
            </a:extLst>
          </p:cNvPr>
          <p:cNvPicPr>
            <a:picLocks noChangeAspect="1"/>
          </p:cNvPicPr>
          <p:nvPr/>
        </p:nvPicPr>
        <p:blipFill>
          <a:blip r:embed="rId3"/>
          <a:stretch>
            <a:fillRect/>
          </a:stretch>
        </p:blipFill>
        <p:spPr>
          <a:xfrm>
            <a:off x="1403648" y="2520750"/>
            <a:ext cx="6856947" cy="3931629"/>
          </a:xfrm>
          <a:prstGeom prst="rect">
            <a:avLst/>
          </a:prstGeom>
        </p:spPr>
      </p:pic>
      <p:sp>
        <p:nvSpPr>
          <p:cNvPr id="5" name="Rectangle 4">
            <a:extLst>
              <a:ext uri="{FF2B5EF4-FFF2-40B4-BE49-F238E27FC236}">
                <a16:creationId xmlns:a16="http://schemas.microsoft.com/office/drawing/2014/main" id="{338496D7-41A6-44C5-8FD4-D7BF623EB000}"/>
              </a:ext>
            </a:extLst>
          </p:cNvPr>
          <p:cNvSpPr/>
          <p:nvPr/>
        </p:nvSpPr>
        <p:spPr>
          <a:xfrm>
            <a:off x="902394" y="1412776"/>
            <a:ext cx="7558037" cy="958660"/>
          </a:xfrm>
          <a:prstGeom prst="rect">
            <a:avLst/>
          </a:prstGeom>
        </p:spPr>
        <p:txBody>
          <a:bodyPr wrap="square">
            <a:spAutoFit/>
          </a:bodyPr>
          <a:lstStyle/>
          <a:p>
            <a:pPr>
              <a:lnSpc>
                <a:spcPct val="150000"/>
              </a:lnSpc>
            </a:pPr>
            <a:r>
              <a:rPr lang="en-US" sz="2000" b="1" dirty="0"/>
              <a:t>The OR function with an ON and OFF delay reacts differently </a:t>
            </a:r>
            <a:r>
              <a:rPr lang="en-US" sz="2000" b="1" dirty="0">
                <a:solidFill>
                  <a:srgbClr val="369226"/>
                </a:solidFill>
              </a:rPr>
              <a:t>depending on the manufacturer</a:t>
            </a:r>
            <a:endParaRPr lang="es-ES" sz="2000" b="1" dirty="0">
              <a:solidFill>
                <a:srgbClr val="369226"/>
              </a:solidFill>
            </a:endParaRPr>
          </a:p>
        </p:txBody>
      </p:sp>
    </p:spTree>
    <p:extLst>
      <p:ext uri="{BB962C8B-B14F-4D97-AF65-F5344CB8AC3E}">
        <p14:creationId xmlns:p14="http://schemas.microsoft.com/office/powerpoint/2010/main" val="635901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AND Function</a:t>
            </a:r>
          </a:p>
        </p:txBody>
      </p:sp>
      <p:sp>
        <p:nvSpPr>
          <p:cNvPr id="4" name="Rectangle 3">
            <a:extLst>
              <a:ext uri="{FF2B5EF4-FFF2-40B4-BE49-F238E27FC236}">
                <a16:creationId xmlns:a16="http://schemas.microsoft.com/office/drawing/2014/main" id="{B07D3F50-1454-40B5-A0A3-7EE14F805312}"/>
              </a:ext>
            </a:extLst>
          </p:cNvPr>
          <p:cNvSpPr/>
          <p:nvPr/>
        </p:nvSpPr>
        <p:spPr>
          <a:xfrm>
            <a:off x="900112" y="1556792"/>
            <a:ext cx="7704336" cy="4479624"/>
          </a:xfrm>
          <a:prstGeom prst="rect">
            <a:avLst/>
          </a:prstGeom>
        </p:spPr>
        <p:txBody>
          <a:bodyPr wrap="square">
            <a:spAutoFit/>
          </a:bodyPr>
          <a:lstStyle/>
          <a:p>
            <a:pPr marL="342900" indent="-342900" eaLnBrk="0" hangingPunct="0">
              <a:lnSpc>
                <a:spcPct val="150000"/>
              </a:lnSpc>
              <a:spcBef>
                <a:spcPct val="20000"/>
              </a:spcBef>
              <a:buClr>
                <a:srgbClr val="369226"/>
              </a:buClr>
              <a:buFont typeface="Wingdings" pitchFamily="2" charset="2"/>
              <a:buChar char="§"/>
              <a:defRPr/>
            </a:pP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It enables a circuit to be switched dependent on one or several conditions</a:t>
            </a:r>
          </a:p>
          <a:p>
            <a:pPr eaLnBrk="0" hangingPunct="0">
              <a:lnSpc>
                <a:spcPct val="150000"/>
              </a:lnSpc>
              <a:spcBef>
                <a:spcPct val="20000"/>
              </a:spcBef>
              <a:buClr>
                <a:srgbClr val="369226"/>
              </a:buClr>
              <a:defRPr/>
            </a:pPr>
            <a:endParaRPr lang="en-US" sz="1200" b="1" kern="0" dirty="0">
              <a:solidFill>
                <a:schemeClr val="bg1">
                  <a:lumMod val="10000"/>
                </a:schemeClr>
              </a:solidFill>
              <a:latin typeface="+mn-lt"/>
              <a:ea typeface="Open Sans" panose="020B0606030504020204" pitchFamily="34" charset="0"/>
              <a:cs typeface="Open Sans" panose="020B0606030504020204" pitchFamily="34" charset="0"/>
            </a:endParaRPr>
          </a:p>
          <a:p>
            <a:pPr marL="342900" indent="-342900" eaLnBrk="0" hangingPunct="0">
              <a:lnSpc>
                <a:spcPct val="150000"/>
              </a:lnSpc>
              <a:spcBef>
                <a:spcPct val="20000"/>
              </a:spcBef>
              <a:buClr>
                <a:srgbClr val="369226"/>
              </a:buClr>
              <a:buFont typeface="Wingdings" pitchFamily="2" charset="2"/>
              <a:buChar char="§"/>
              <a:defRPr/>
            </a:pP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Manufacturer- and product-dependent timing functions can also be parameterized </a:t>
            </a:r>
          </a:p>
          <a:p>
            <a:pPr eaLnBrk="0" hangingPunct="0">
              <a:lnSpc>
                <a:spcPct val="150000"/>
              </a:lnSpc>
              <a:spcBef>
                <a:spcPct val="20000"/>
              </a:spcBef>
              <a:buClr>
                <a:srgbClr val="369226"/>
              </a:buClr>
              <a:defRPr/>
            </a:pPr>
            <a:endParaRPr lang="en-US" sz="1200" b="1" kern="0" dirty="0">
              <a:solidFill>
                <a:schemeClr val="bg1">
                  <a:lumMod val="10000"/>
                </a:schemeClr>
              </a:solidFill>
              <a:latin typeface="+mn-lt"/>
              <a:ea typeface="Open Sans" panose="020B0606030504020204" pitchFamily="34" charset="0"/>
              <a:cs typeface="Open Sans" panose="020B0606030504020204" pitchFamily="34" charset="0"/>
            </a:endParaRPr>
          </a:p>
          <a:p>
            <a:pPr marL="342900" indent="-342900" eaLnBrk="0" hangingPunct="0">
              <a:lnSpc>
                <a:spcPct val="150000"/>
              </a:lnSpc>
              <a:spcBef>
                <a:spcPct val="20000"/>
              </a:spcBef>
              <a:buClr>
                <a:srgbClr val="369226"/>
              </a:buClr>
              <a:buFont typeface="Wingdings" pitchFamily="2" charset="2"/>
              <a:buChar char="§"/>
              <a:defRPr/>
            </a:pP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When </a:t>
            </a:r>
            <a:r>
              <a:rPr lang="en-US" sz="2000" b="1" kern="0" dirty="0">
                <a:solidFill>
                  <a:schemeClr val="bg1">
                    <a:lumMod val="10000"/>
                  </a:schemeClr>
                </a:solidFill>
                <a:ea typeface="Open Sans" panose="020B0606030504020204" pitchFamily="34" charset="0"/>
                <a:cs typeface="Open Sans" panose="020B0606030504020204" pitchFamily="34" charset="0"/>
              </a:rPr>
              <a:t>AND condition  is activated </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by a physical variable, it should be ensured that is not reset by a manual operation. This problem can likewise be solved by the </a:t>
            </a:r>
            <a:r>
              <a:rPr lang="en-US" sz="2000" b="1" kern="0" dirty="0">
                <a:solidFill>
                  <a:srgbClr val="369226"/>
                </a:solidFill>
                <a:latin typeface="+mn-lt"/>
                <a:ea typeface="Open Sans" panose="020B0606030504020204" pitchFamily="34" charset="0"/>
                <a:cs typeface="Open Sans" panose="020B0606030504020204" pitchFamily="34" charset="0"/>
              </a:rPr>
              <a:t>cyclical sending of a signal</a:t>
            </a:r>
          </a:p>
        </p:txBody>
      </p:sp>
    </p:spTree>
    <p:extLst>
      <p:ext uri="{BB962C8B-B14F-4D97-AF65-F5344CB8AC3E}">
        <p14:creationId xmlns:p14="http://schemas.microsoft.com/office/powerpoint/2010/main" val="1848969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AND Function </a:t>
            </a:r>
            <a:r>
              <a:rPr lang="en-GB" dirty="0"/>
              <a:t>without Delay</a:t>
            </a:r>
            <a:endParaRPr lang="en-US" dirty="0"/>
          </a:p>
        </p:txBody>
      </p:sp>
      <p:pic>
        <p:nvPicPr>
          <p:cNvPr id="2" name="Picture 1">
            <a:extLst>
              <a:ext uri="{FF2B5EF4-FFF2-40B4-BE49-F238E27FC236}">
                <a16:creationId xmlns:a16="http://schemas.microsoft.com/office/drawing/2014/main" id="{052F7A78-C668-4A0F-8D7B-6F04A0857564}"/>
              </a:ext>
            </a:extLst>
          </p:cNvPr>
          <p:cNvPicPr>
            <a:picLocks noChangeAspect="1"/>
          </p:cNvPicPr>
          <p:nvPr/>
        </p:nvPicPr>
        <p:blipFill>
          <a:blip r:embed="rId3"/>
          <a:stretch>
            <a:fillRect/>
          </a:stretch>
        </p:blipFill>
        <p:spPr>
          <a:xfrm>
            <a:off x="1115615" y="1556792"/>
            <a:ext cx="6950043" cy="4032448"/>
          </a:xfrm>
          <a:prstGeom prst="rect">
            <a:avLst/>
          </a:prstGeom>
        </p:spPr>
      </p:pic>
    </p:spTree>
    <p:extLst>
      <p:ext uri="{BB962C8B-B14F-4D97-AF65-F5344CB8AC3E}">
        <p14:creationId xmlns:p14="http://schemas.microsoft.com/office/powerpoint/2010/main" val="3643638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AND Function with ON and OFF Delay</a:t>
            </a:r>
          </a:p>
        </p:txBody>
      </p:sp>
      <p:pic>
        <p:nvPicPr>
          <p:cNvPr id="4" name="Picture 3">
            <a:extLst>
              <a:ext uri="{FF2B5EF4-FFF2-40B4-BE49-F238E27FC236}">
                <a16:creationId xmlns:a16="http://schemas.microsoft.com/office/drawing/2014/main" id="{24595F8A-288A-42ED-9161-80A812BC26D3}"/>
              </a:ext>
            </a:extLst>
          </p:cNvPr>
          <p:cNvPicPr>
            <a:picLocks noChangeAspect="1"/>
          </p:cNvPicPr>
          <p:nvPr/>
        </p:nvPicPr>
        <p:blipFill>
          <a:blip r:embed="rId3"/>
          <a:stretch>
            <a:fillRect/>
          </a:stretch>
        </p:blipFill>
        <p:spPr>
          <a:xfrm>
            <a:off x="900139" y="1413636"/>
            <a:ext cx="5184030" cy="2141600"/>
          </a:xfrm>
          <a:prstGeom prst="rect">
            <a:avLst/>
          </a:prstGeom>
        </p:spPr>
      </p:pic>
      <p:sp>
        <p:nvSpPr>
          <p:cNvPr id="5" name="Rectangle 4">
            <a:extLst>
              <a:ext uri="{FF2B5EF4-FFF2-40B4-BE49-F238E27FC236}">
                <a16:creationId xmlns:a16="http://schemas.microsoft.com/office/drawing/2014/main" id="{9F79AF07-8CAA-4A71-BCE8-03CC0E627767}"/>
              </a:ext>
            </a:extLst>
          </p:cNvPr>
          <p:cNvSpPr/>
          <p:nvPr/>
        </p:nvSpPr>
        <p:spPr>
          <a:xfrm>
            <a:off x="6444208" y="1413636"/>
            <a:ext cx="2088232" cy="1754326"/>
          </a:xfrm>
          <a:prstGeom prst="rect">
            <a:avLst/>
          </a:prstGeom>
        </p:spPr>
        <p:txBody>
          <a:bodyPr wrap="square">
            <a:spAutoFit/>
          </a:bodyPr>
          <a:lstStyle/>
          <a:p>
            <a:r>
              <a:rPr lang="en-US" b="1" dirty="0"/>
              <a:t>Parameter for effect of the ON/OFF delay (extract) e.g. 8-fold switch actuator </a:t>
            </a:r>
            <a:endParaRPr lang="es-ES" b="1" dirty="0"/>
          </a:p>
        </p:txBody>
      </p:sp>
      <p:pic>
        <p:nvPicPr>
          <p:cNvPr id="6" name="Picture 5">
            <a:extLst>
              <a:ext uri="{FF2B5EF4-FFF2-40B4-BE49-F238E27FC236}">
                <a16:creationId xmlns:a16="http://schemas.microsoft.com/office/drawing/2014/main" id="{45B75C64-F457-4FF9-ABE4-AAA5979FF4A1}"/>
              </a:ext>
            </a:extLst>
          </p:cNvPr>
          <p:cNvPicPr>
            <a:picLocks noChangeAspect="1"/>
          </p:cNvPicPr>
          <p:nvPr/>
        </p:nvPicPr>
        <p:blipFill>
          <a:blip r:embed="rId4"/>
          <a:stretch>
            <a:fillRect/>
          </a:stretch>
        </p:blipFill>
        <p:spPr>
          <a:xfrm>
            <a:off x="909266" y="3933056"/>
            <a:ext cx="6922441" cy="2008217"/>
          </a:xfrm>
          <a:prstGeom prst="rect">
            <a:avLst/>
          </a:prstGeom>
        </p:spPr>
      </p:pic>
      <p:sp>
        <p:nvSpPr>
          <p:cNvPr id="7" name="Rectangle 6">
            <a:extLst>
              <a:ext uri="{FF2B5EF4-FFF2-40B4-BE49-F238E27FC236}">
                <a16:creationId xmlns:a16="http://schemas.microsoft.com/office/drawing/2014/main" id="{09385FDA-A558-4C06-882F-46CB57584736}"/>
              </a:ext>
            </a:extLst>
          </p:cNvPr>
          <p:cNvSpPr/>
          <p:nvPr/>
        </p:nvSpPr>
        <p:spPr>
          <a:xfrm>
            <a:off x="2267744" y="6012418"/>
            <a:ext cx="6606480" cy="369332"/>
          </a:xfrm>
          <a:prstGeom prst="rect">
            <a:avLst/>
          </a:prstGeom>
        </p:spPr>
        <p:txBody>
          <a:bodyPr wrap="square">
            <a:spAutoFit/>
          </a:bodyPr>
          <a:lstStyle/>
          <a:p>
            <a:r>
              <a:rPr lang="en-US" b="1" dirty="0"/>
              <a:t>Flow diagram of AND function of 8-fold switch actuator</a:t>
            </a:r>
            <a:endParaRPr lang="es-ES" b="1" dirty="0"/>
          </a:p>
        </p:txBody>
      </p:sp>
    </p:spTree>
    <p:extLst>
      <p:ext uri="{BB962C8B-B14F-4D97-AF65-F5344CB8AC3E}">
        <p14:creationId xmlns:p14="http://schemas.microsoft.com/office/powerpoint/2010/main" val="4145528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AND Function with ON and OFF Delay</a:t>
            </a:r>
          </a:p>
        </p:txBody>
      </p:sp>
      <p:graphicFrame>
        <p:nvGraphicFramePr>
          <p:cNvPr id="8" name="Object 7">
            <a:extLst>
              <a:ext uri="{FF2B5EF4-FFF2-40B4-BE49-F238E27FC236}">
                <a16:creationId xmlns:a16="http://schemas.microsoft.com/office/drawing/2014/main" id="{0743BEAA-CB7B-4CE4-B109-17BF3FF15529}"/>
              </a:ext>
            </a:extLst>
          </p:cNvPr>
          <p:cNvGraphicFramePr>
            <a:graphicFrameLocks noChangeAspect="1"/>
          </p:cNvGraphicFramePr>
          <p:nvPr/>
        </p:nvGraphicFramePr>
        <p:xfrm>
          <a:off x="900113" y="1484784"/>
          <a:ext cx="7672065" cy="3888432"/>
        </p:xfrm>
        <a:graphic>
          <a:graphicData uri="http://schemas.openxmlformats.org/presentationml/2006/ole">
            <mc:AlternateContent xmlns:mc="http://schemas.openxmlformats.org/markup-compatibility/2006">
              <mc:Choice xmlns:v="urn:schemas-microsoft-com:vml" Requires="v">
                <p:oleObj r:id="rId3" imgW="7884160" imgH="4005789" progId="Visio.Drawing.15">
                  <p:embed/>
                </p:oleObj>
              </mc:Choice>
              <mc:Fallback>
                <p:oleObj r:id="rId3" imgW="7884160" imgH="4005789" progId="Visio.Drawing.15">
                  <p:embed/>
                  <p:pic>
                    <p:nvPicPr>
                      <p:cNvPr id="8" name="Object 7">
                        <a:extLst>
                          <a:ext uri="{FF2B5EF4-FFF2-40B4-BE49-F238E27FC236}">
                            <a16:creationId xmlns:a16="http://schemas.microsoft.com/office/drawing/2014/main" id="{0743BEAA-CB7B-4CE4-B109-17BF3FF155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484784"/>
                        <a:ext cx="7672065" cy="3888432"/>
                      </a:xfrm>
                      <a:prstGeom prst="rect">
                        <a:avLst/>
                      </a:prstGeom>
                      <a:noFill/>
                    </p:spPr>
                  </p:pic>
                </p:oleObj>
              </mc:Fallback>
            </mc:AlternateContent>
          </a:graphicData>
        </a:graphic>
      </p:graphicFrame>
    </p:spTree>
    <p:extLst>
      <p:ext uri="{BB962C8B-B14F-4D97-AF65-F5344CB8AC3E}">
        <p14:creationId xmlns:p14="http://schemas.microsoft.com/office/powerpoint/2010/main" val="1253165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Extended Logic (Direct Relay Control)</a:t>
            </a:r>
            <a:endParaRPr lang="en-GB" dirty="0"/>
          </a:p>
        </p:txBody>
      </p:sp>
      <p:sp>
        <p:nvSpPr>
          <p:cNvPr id="2" name="Rectangle 1">
            <a:extLst>
              <a:ext uri="{FF2B5EF4-FFF2-40B4-BE49-F238E27FC236}">
                <a16:creationId xmlns:a16="http://schemas.microsoft.com/office/drawing/2014/main" id="{B943BB5D-7499-4EE8-8797-CE51631E45C3}"/>
              </a:ext>
            </a:extLst>
          </p:cNvPr>
          <p:cNvSpPr/>
          <p:nvPr/>
        </p:nvSpPr>
        <p:spPr>
          <a:xfrm>
            <a:off x="909836" y="1412776"/>
            <a:ext cx="7550596" cy="872034"/>
          </a:xfrm>
          <a:prstGeom prst="rect">
            <a:avLst/>
          </a:prstGeom>
        </p:spPr>
        <p:txBody>
          <a:bodyPr wrap="square">
            <a:spAutoFit/>
          </a:bodyPr>
          <a:lstStyle/>
          <a:p>
            <a:pPr>
              <a:lnSpc>
                <a:spcPct val="150000"/>
              </a:lnSpc>
            </a:pPr>
            <a:r>
              <a:rPr lang="en-US" b="1" dirty="0"/>
              <a:t>With the setting “Extended Logic”, up to three logic objects can be linked with different gates which then influence the relay output </a:t>
            </a:r>
            <a:endParaRPr lang="es-ES" b="1" dirty="0"/>
          </a:p>
        </p:txBody>
      </p:sp>
      <p:pic>
        <p:nvPicPr>
          <p:cNvPr id="4" name="Picture 3">
            <a:extLst>
              <a:ext uri="{FF2B5EF4-FFF2-40B4-BE49-F238E27FC236}">
                <a16:creationId xmlns:a16="http://schemas.microsoft.com/office/drawing/2014/main" id="{F6BA60A7-D4D2-428D-9F4D-89E1B4E9CD19}"/>
              </a:ext>
            </a:extLst>
          </p:cNvPr>
          <p:cNvPicPr>
            <a:picLocks noChangeAspect="1"/>
          </p:cNvPicPr>
          <p:nvPr/>
        </p:nvPicPr>
        <p:blipFill>
          <a:blip r:embed="rId3"/>
          <a:stretch>
            <a:fillRect/>
          </a:stretch>
        </p:blipFill>
        <p:spPr>
          <a:xfrm>
            <a:off x="1691680" y="2355313"/>
            <a:ext cx="5578323" cy="2505673"/>
          </a:xfrm>
          <a:prstGeom prst="rect">
            <a:avLst/>
          </a:prstGeom>
        </p:spPr>
      </p:pic>
      <p:graphicFrame>
        <p:nvGraphicFramePr>
          <p:cNvPr id="6" name="Object 5">
            <a:extLst>
              <a:ext uri="{FF2B5EF4-FFF2-40B4-BE49-F238E27FC236}">
                <a16:creationId xmlns:a16="http://schemas.microsoft.com/office/drawing/2014/main" id="{78A887F2-1057-4E90-BE8B-69A4D627B707}"/>
              </a:ext>
            </a:extLst>
          </p:cNvPr>
          <p:cNvGraphicFramePr>
            <a:graphicFrameLocks noChangeAspect="1"/>
          </p:cNvGraphicFramePr>
          <p:nvPr/>
        </p:nvGraphicFramePr>
        <p:xfrm>
          <a:off x="1798561" y="5157192"/>
          <a:ext cx="5562600" cy="1096963"/>
        </p:xfrm>
        <a:graphic>
          <a:graphicData uri="http://schemas.openxmlformats.org/presentationml/2006/ole">
            <mc:AlternateContent xmlns:mc="http://schemas.openxmlformats.org/markup-compatibility/2006">
              <mc:Choice xmlns:v="urn:schemas-microsoft-com:vml" Requires="v">
                <p:oleObj r:id="rId4" imgW="6010119" imgH="1185308" progId="Visio.Drawing.15">
                  <p:embed/>
                </p:oleObj>
              </mc:Choice>
              <mc:Fallback>
                <p:oleObj r:id="rId4" imgW="6010119" imgH="1185308" progId="Visio.Drawing.15">
                  <p:embed/>
                  <p:pic>
                    <p:nvPicPr>
                      <p:cNvPr id="6" name="Object 5">
                        <a:extLst>
                          <a:ext uri="{FF2B5EF4-FFF2-40B4-BE49-F238E27FC236}">
                            <a16:creationId xmlns:a16="http://schemas.microsoft.com/office/drawing/2014/main" id="{78A887F2-1057-4E90-BE8B-69A4D627B7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8561" y="5157192"/>
                        <a:ext cx="5562600" cy="1096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02915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Extended Logic (Object Logic Output)</a:t>
            </a:r>
            <a:endParaRPr lang="en-GB" dirty="0"/>
          </a:p>
        </p:txBody>
      </p:sp>
      <p:sp>
        <p:nvSpPr>
          <p:cNvPr id="2" name="Rectangle 1">
            <a:extLst>
              <a:ext uri="{FF2B5EF4-FFF2-40B4-BE49-F238E27FC236}">
                <a16:creationId xmlns:a16="http://schemas.microsoft.com/office/drawing/2014/main" id="{0DA84F8E-B86D-437E-953B-5B590011356E}"/>
              </a:ext>
            </a:extLst>
          </p:cNvPr>
          <p:cNvSpPr/>
          <p:nvPr/>
        </p:nvSpPr>
        <p:spPr>
          <a:xfrm>
            <a:off x="873288" y="1412776"/>
            <a:ext cx="7731160" cy="872034"/>
          </a:xfrm>
          <a:prstGeom prst="rect">
            <a:avLst/>
          </a:prstGeom>
        </p:spPr>
        <p:txBody>
          <a:bodyPr wrap="square">
            <a:spAutoFit/>
          </a:bodyPr>
          <a:lstStyle/>
          <a:p>
            <a:pPr>
              <a:lnSpc>
                <a:spcPct val="150000"/>
              </a:lnSpc>
            </a:pPr>
            <a:r>
              <a:rPr lang="en-US" b="1" dirty="0"/>
              <a:t>With “Extended Logic”, up to three logic objects are used to combine the group addresses assigned to the group into a new group address</a:t>
            </a:r>
          </a:p>
        </p:txBody>
      </p:sp>
      <p:pic>
        <p:nvPicPr>
          <p:cNvPr id="4" name="Picture 3">
            <a:extLst>
              <a:ext uri="{FF2B5EF4-FFF2-40B4-BE49-F238E27FC236}">
                <a16:creationId xmlns:a16="http://schemas.microsoft.com/office/drawing/2014/main" id="{B7CE305A-A825-4363-88ED-31F911073596}"/>
              </a:ext>
            </a:extLst>
          </p:cNvPr>
          <p:cNvPicPr>
            <a:picLocks noChangeAspect="1"/>
          </p:cNvPicPr>
          <p:nvPr/>
        </p:nvPicPr>
        <p:blipFill>
          <a:blip r:embed="rId3"/>
          <a:stretch>
            <a:fillRect/>
          </a:stretch>
        </p:blipFill>
        <p:spPr>
          <a:xfrm>
            <a:off x="1782838" y="2464152"/>
            <a:ext cx="5578323" cy="2597121"/>
          </a:xfrm>
          <a:prstGeom prst="rect">
            <a:avLst/>
          </a:prstGeom>
        </p:spPr>
      </p:pic>
      <p:pic>
        <p:nvPicPr>
          <p:cNvPr id="5" name="Picture 4">
            <a:extLst>
              <a:ext uri="{FF2B5EF4-FFF2-40B4-BE49-F238E27FC236}">
                <a16:creationId xmlns:a16="http://schemas.microsoft.com/office/drawing/2014/main" id="{E9BC334A-CA4D-4A7B-A5AC-43B8CF26D146}"/>
              </a:ext>
            </a:extLst>
          </p:cNvPr>
          <p:cNvPicPr>
            <a:picLocks noChangeAspect="1"/>
          </p:cNvPicPr>
          <p:nvPr/>
        </p:nvPicPr>
        <p:blipFill>
          <a:blip r:embed="rId4"/>
          <a:stretch>
            <a:fillRect/>
          </a:stretch>
        </p:blipFill>
        <p:spPr>
          <a:xfrm>
            <a:off x="2000056" y="5240615"/>
            <a:ext cx="5143888" cy="1141135"/>
          </a:xfrm>
          <a:prstGeom prst="rect">
            <a:avLst/>
          </a:prstGeom>
        </p:spPr>
      </p:pic>
    </p:spTree>
    <p:extLst>
      <p:ext uri="{BB962C8B-B14F-4D97-AF65-F5344CB8AC3E}">
        <p14:creationId xmlns:p14="http://schemas.microsoft.com/office/powerpoint/2010/main" val="1515294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7056263" cy="719138"/>
          </a:xfrm>
        </p:spPr>
        <p:txBody>
          <a:bodyPr/>
          <a:lstStyle/>
          <a:p>
            <a:r>
              <a:rPr lang="en-US" dirty="0"/>
              <a:t>Logical Connection of Group Addresses</a:t>
            </a:r>
          </a:p>
        </p:txBody>
      </p:sp>
      <p:sp>
        <p:nvSpPr>
          <p:cNvPr id="2" name="Rectangle 1">
            <a:extLst>
              <a:ext uri="{FF2B5EF4-FFF2-40B4-BE49-F238E27FC236}">
                <a16:creationId xmlns:a16="http://schemas.microsoft.com/office/drawing/2014/main" id="{563AA988-E7FB-4B5F-9578-049F48595BF5}"/>
              </a:ext>
            </a:extLst>
          </p:cNvPr>
          <p:cNvSpPr/>
          <p:nvPr/>
        </p:nvSpPr>
        <p:spPr>
          <a:xfrm>
            <a:off x="900113" y="1646798"/>
            <a:ext cx="7416303" cy="4079515"/>
          </a:xfrm>
          <a:prstGeom prst="rect">
            <a:avLst/>
          </a:prstGeom>
        </p:spPr>
        <p:txBody>
          <a:bodyPr wrap="square">
            <a:spAutoFit/>
          </a:bodyPr>
          <a:lstStyle/>
          <a:p>
            <a:pPr eaLnBrk="0" hangingPunct="0">
              <a:lnSpc>
                <a:spcPct val="150000"/>
              </a:lnSpc>
              <a:spcBef>
                <a:spcPct val="20000"/>
              </a:spcBef>
              <a:buClr>
                <a:srgbClr val="369226"/>
              </a:buClr>
              <a:defRPr/>
            </a:pPr>
            <a:r>
              <a:rPr lang="en-US" sz="2000" b="1" kern="0" dirty="0">
                <a:solidFill>
                  <a:srgbClr val="369226"/>
                </a:solidFill>
                <a:latin typeface="+mn-lt"/>
                <a:ea typeface="Open Sans" panose="020B0606030504020204" pitchFamily="34" charset="0"/>
                <a:cs typeface="Open Sans" panose="020B0606030504020204" pitchFamily="34" charset="0"/>
              </a:rPr>
              <a:t>Used for :</a:t>
            </a:r>
          </a:p>
          <a:p>
            <a:pPr marL="342900" indent="-342900" eaLnBrk="0" hangingPunct="0">
              <a:lnSpc>
                <a:spcPct val="150000"/>
              </a:lnSpc>
              <a:spcBef>
                <a:spcPct val="20000"/>
              </a:spcBef>
              <a:buClr>
                <a:srgbClr val="369226"/>
              </a:buClr>
              <a:buFont typeface="Wingdings" pitchFamily="2" charset="2"/>
              <a:buChar char="§"/>
              <a:defRPr/>
            </a:pPr>
            <a:r>
              <a:rPr lang="en-US" sz="2000" b="1" kern="0" dirty="0">
                <a:latin typeface="+mn-lt"/>
                <a:ea typeface="Open Sans" panose="020B0606030504020204" pitchFamily="34" charset="0"/>
                <a:cs typeface="Open Sans" panose="020B0606030504020204" pitchFamily="34" charset="0"/>
              </a:rPr>
              <a:t>Tasks that are defined by various group addresses and must be linked together </a:t>
            </a:r>
          </a:p>
          <a:p>
            <a:pPr marL="342900" indent="-342900" eaLnBrk="0" hangingPunct="0">
              <a:lnSpc>
                <a:spcPct val="150000"/>
              </a:lnSpc>
              <a:spcBef>
                <a:spcPct val="20000"/>
              </a:spcBef>
              <a:buClr>
                <a:srgbClr val="369226"/>
              </a:buClr>
              <a:buFont typeface="Wingdings" pitchFamily="2" charset="2"/>
              <a:buChar char="§"/>
              <a:defRPr/>
            </a:pPr>
            <a:endParaRPr lang="en-US" sz="1200" b="1" kern="0" dirty="0">
              <a:latin typeface="+mn-lt"/>
              <a:ea typeface="Open Sans" panose="020B0606030504020204" pitchFamily="34" charset="0"/>
              <a:cs typeface="Open Sans" panose="020B0606030504020204" pitchFamily="34" charset="0"/>
            </a:endParaRPr>
          </a:p>
          <a:p>
            <a:pPr marL="342900" indent="-342900" eaLnBrk="0" hangingPunct="0">
              <a:lnSpc>
                <a:spcPct val="150000"/>
              </a:lnSpc>
              <a:spcBef>
                <a:spcPct val="20000"/>
              </a:spcBef>
              <a:buClr>
                <a:srgbClr val="369226"/>
              </a:buClr>
              <a:buFont typeface="Wingdings" pitchFamily="2" charset="2"/>
              <a:buChar char="§"/>
              <a:defRPr/>
            </a:pPr>
            <a:r>
              <a:rPr lang="en-US" sz="2000" b="1" kern="0" dirty="0">
                <a:latin typeface="+mn-lt"/>
                <a:ea typeface="Open Sans" panose="020B0606030504020204" pitchFamily="34" charset="0"/>
                <a:cs typeface="Open Sans" panose="020B0606030504020204" pitchFamily="34" charset="0"/>
              </a:rPr>
              <a:t>To combine several group addresses into a new group address due </a:t>
            </a:r>
            <a:r>
              <a:rPr lang="en-US" sz="2000" b="1" dirty="0"/>
              <a:t>to the limited associations in a group object</a:t>
            </a:r>
          </a:p>
          <a:p>
            <a:pPr marL="342900" indent="-342900" eaLnBrk="0" hangingPunct="0">
              <a:lnSpc>
                <a:spcPct val="150000"/>
              </a:lnSpc>
              <a:spcBef>
                <a:spcPct val="20000"/>
              </a:spcBef>
              <a:buClr>
                <a:srgbClr val="369226"/>
              </a:buClr>
              <a:buFont typeface="Wingdings" pitchFamily="2" charset="2"/>
              <a:buChar char="§"/>
              <a:defRPr/>
            </a:pPr>
            <a:endParaRPr lang="en-US" sz="1200" b="1" dirty="0"/>
          </a:p>
          <a:p>
            <a:pPr marL="342900" indent="-342900" eaLnBrk="0" hangingPunct="0">
              <a:lnSpc>
                <a:spcPct val="150000"/>
              </a:lnSpc>
              <a:spcBef>
                <a:spcPct val="20000"/>
              </a:spcBef>
              <a:buClr>
                <a:srgbClr val="369226"/>
              </a:buClr>
              <a:buFont typeface="Wingdings" pitchFamily="2" charset="2"/>
              <a:buChar char="§"/>
              <a:defRPr/>
            </a:pPr>
            <a:r>
              <a:rPr lang="en-US" sz="2000" b="1" dirty="0"/>
              <a:t>To address several objects with various bit widths (1 bit, 8 bit) at the same time with a transmitted address</a:t>
            </a:r>
          </a:p>
        </p:txBody>
      </p:sp>
    </p:spTree>
    <p:extLst>
      <p:ext uri="{BB962C8B-B14F-4D97-AF65-F5344CB8AC3E}">
        <p14:creationId xmlns:p14="http://schemas.microsoft.com/office/powerpoint/2010/main" val="1832221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Logic Module</a:t>
            </a:r>
            <a:endParaRPr lang="en-GB" dirty="0"/>
          </a:p>
        </p:txBody>
      </p:sp>
      <p:sp>
        <p:nvSpPr>
          <p:cNvPr id="2" name="Rectangle 1">
            <a:extLst>
              <a:ext uri="{FF2B5EF4-FFF2-40B4-BE49-F238E27FC236}">
                <a16:creationId xmlns:a16="http://schemas.microsoft.com/office/drawing/2014/main" id="{A404B2F9-D1A3-4371-8D79-1D536230CB46}"/>
              </a:ext>
            </a:extLst>
          </p:cNvPr>
          <p:cNvSpPr/>
          <p:nvPr/>
        </p:nvSpPr>
        <p:spPr>
          <a:xfrm>
            <a:off x="933822" y="1556792"/>
            <a:ext cx="7526610" cy="4221092"/>
          </a:xfrm>
          <a:prstGeom prst="rect">
            <a:avLst/>
          </a:prstGeom>
        </p:spPr>
        <p:txBody>
          <a:bodyPr wrap="square">
            <a:spAutoFit/>
          </a:bodyPr>
          <a:lstStyle/>
          <a:p>
            <a:r>
              <a:rPr lang="en-US" sz="2000" b="1" dirty="0">
                <a:solidFill>
                  <a:srgbClr val="369226"/>
                </a:solidFill>
              </a:rPr>
              <a:t>Problematic Situations</a:t>
            </a:r>
          </a:p>
          <a:p>
            <a:pPr marL="342900" indent="-342900" eaLnBrk="0" hangingPunct="0">
              <a:lnSpc>
                <a:spcPct val="150000"/>
              </a:lnSpc>
              <a:spcBef>
                <a:spcPct val="20000"/>
              </a:spcBef>
              <a:buClr>
                <a:srgbClr val="369226"/>
              </a:buClr>
              <a:buFont typeface="Wingdings" pitchFamily="2" charset="2"/>
              <a:buChar char="§"/>
              <a:defRPr/>
            </a:pPr>
            <a:r>
              <a:rPr lang="en-US" sz="2000" b="1" kern="0" dirty="0">
                <a:solidFill>
                  <a:srgbClr val="369226"/>
                </a:solidFill>
                <a:latin typeface="+mn-lt"/>
                <a:ea typeface="Open Sans" panose="020B0606030504020204" pitchFamily="34" charset="0"/>
                <a:cs typeface="Open Sans" panose="020B0606030504020204" pitchFamily="34" charset="0"/>
              </a:rPr>
              <a:t>Telegram Transfer Times:</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Using status response objects, telegrams may not arrive at the same time so that the logic result at the gate may be incorrect</a:t>
            </a:r>
          </a:p>
          <a:p>
            <a:pPr marL="342900" indent="-342900" eaLnBrk="0" hangingPunct="0">
              <a:lnSpc>
                <a:spcPct val="150000"/>
              </a:lnSpc>
              <a:spcBef>
                <a:spcPct val="20000"/>
              </a:spcBef>
              <a:buClr>
                <a:srgbClr val="369226"/>
              </a:buClr>
              <a:buFont typeface="Wingdings" pitchFamily="2" charset="2"/>
              <a:buChar char="§"/>
              <a:defRPr/>
            </a:pPr>
            <a:endParaRPr lang="en-US" sz="2000" b="1" kern="0" dirty="0">
              <a:solidFill>
                <a:schemeClr val="bg1">
                  <a:lumMod val="10000"/>
                </a:schemeClr>
              </a:solidFill>
              <a:latin typeface="+mn-lt"/>
              <a:ea typeface="Open Sans" panose="020B0606030504020204" pitchFamily="34" charset="0"/>
              <a:cs typeface="Open Sans" panose="020B0606030504020204" pitchFamily="34" charset="0"/>
            </a:endParaRPr>
          </a:p>
          <a:p>
            <a:pPr marL="342900" indent="-342900" eaLnBrk="0" hangingPunct="0">
              <a:lnSpc>
                <a:spcPct val="150000"/>
              </a:lnSpc>
              <a:spcBef>
                <a:spcPct val="20000"/>
              </a:spcBef>
              <a:buClr>
                <a:srgbClr val="369226"/>
              </a:buClr>
              <a:buFont typeface="Wingdings" pitchFamily="2" charset="2"/>
              <a:buChar char="§"/>
              <a:defRPr/>
            </a:pPr>
            <a:r>
              <a:rPr lang="en-US" sz="2000" b="1" kern="0" dirty="0">
                <a:solidFill>
                  <a:srgbClr val="369226"/>
                </a:solidFill>
                <a:latin typeface="+mn-lt"/>
                <a:ea typeface="Open Sans" panose="020B0606030504020204" pitchFamily="34" charset="0"/>
                <a:cs typeface="Open Sans" panose="020B0606030504020204" pitchFamily="34" charset="0"/>
              </a:rPr>
              <a:t>Cyclical Sending: </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Cyclical sending of sensors can generate wrong result if they are led via logic operations which then cannot carry out cyclical sending themselves. Note: KNX logic gate modules can send cyclically</a:t>
            </a:r>
            <a:endParaRPr lang="en-US" sz="2000" b="1" dirty="0"/>
          </a:p>
        </p:txBody>
      </p:sp>
    </p:spTree>
    <p:extLst>
      <p:ext uri="{BB962C8B-B14F-4D97-AF65-F5344CB8AC3E}">
        <p14:creationId xmlns:p14="http://schemas.microsoft.com/office/powerpoint/2010/main" val="218057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dirty="0"/>
              <a:t>Available Parameter Settings of Logic Modules</a:t>
            </a:r>
            <a:endParaRPr lang="en-GB" dirty="0"/>
          </a:p>
        </p:txBody>
      </p:sp>
      <p:graphicFrame>
        <p:nvGraphicFramePr>
          <p:cNvPr id="4" name="Object 3">
            <a:extLst>
              <a:ext uri="{FF2B5EF4-FFF2-40B4-BE49-F238E27FC236}">
                <a16:creationId xmlns:a16="http://schemas.microsoft.com/office/drawing/2014/main" id="{7BF881C1-269A-48A2-BE43-E253CD7DE0BB}"/>
              </a:ext>
            </a:extLst>
          </p:cNvPr>
          <p:cNvGraphicFramePr>
            <a:graphicFrameLocks noChangeAspect="1"/>
          </p:cNvGraphicFramePr>
          <p:nvPr/>
        </p:nvGraphicFramePr>
        <p:xfrm>
          <a:off x="1359545" y="3260016"/>
          <a:ext cx="6424909" cy="2905288"/>
        </p:xfrm>
        <a:graphic>
          <a:graphicData uri="http://schemas.openxmlformats.org/presentationml/2006/ole">
            <mc:AlternateContent xmlns:mc="http://schemas.openxmlformats.org/markup-compatibility/2006">
              <mc:Choice xmlns:v="urn:schemas-microsoft-com:vml" Requires="v">
                <p:oleObj r:id="rId3" imgW="7296030" imgH="3295678" progId="Visio.Drawing.15">
                  <p:embed/>
                </p:oleObj>
              </mc:Choice>
              <mc:Fallback>
                <p:oleObj r:id="rId3" imgW="7296030" imgH="3295678" progId="Visio.Drawing.15">
                  <p:embed/>
                  <p:pic>
                    <p:nvPicPr>
                      <p:cNvPr id="4" name="Object 3">
                        <a:extLst>
                          <a:ext uri="{FF2B5EF4-FFF2-40B4-BE49-F238E27FC236}">
                            <a16:creationId xmlns:a16="http://schemas.microsoft.com/office/drawing/2014/main" id="{7BF881C1-269A-48A2-BE43-E253CD7DE0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9545" y="3260016"/>
                        <a:ext cx="6424909" cy="2905288"/>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380C158C-6EC6-4FE2-9D8D-F5564ADF44F8}"/>
              </a:ext>
            </a:extLst>
          </p:cNvPr>
          <p:cNvSpPr/>
          <p:nvPr/>
        </p:nvSpPr>
        <p:spPr>
          <a:xfrm>
            <a:off x="900113" y="1628800"/>
            <a:ext cx="7560319" cy="1631216"/>
          </a:xfrm>
          <a:prstGeom prst="rect">
            <a:avLst/>
          </a:prstGeom>
        </p:spPr>
        <p:txBody>
          <a:bodyPr wrap="square">
            <a:spAutoFit/>
          </a:bodyPr>
          <a:lstStyle/>
          <a:p>
            <a:r>
              <a:rPr lang="en-US" sz="2000" b="1" dirty="0"/>
              <a:t>Each KNX installation has its own requirements</a:t>
            </a:r>
          </a:p>
          <a:p>
            <a:endParaRPr lang="en-US" sz="2000" b="1" dirty="0"/>
          </a:p>
          <a:p>
            <a:r>
              <a:rPr lang="en-US" sz="2000" b="1" dirty="0"/>
              <a:t>Logic module offers functions which are not possible with sensors and actuators alone: threshold values and scenes…</a:t>
            </a:r>
          </a:p>
          <a:p>
            <a:endParaRPr lang="en-US" sz="2000" b="1" dirty="0"/>
          </a:p>
        </p:txBody>
      </p:sp>
    </p:spTree>
    <p:extLst>
      <p:ext uri="{BB962C8B-B14F-4D97-AF65-F5344CB8AC3E}">
        <p14:creationId xmlns:p14="http://schemas.microsoft.com/office/powerpoint/2010/main" val="1085444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3598"/>
            <a:ext cx="6624215" cy="719138"/>
          </a:xfrm>
        </p:spPr>
        <p:txBody>
          <a:bodyPr/>
          <a:lstStyle/>
          <a:p>
            <a:r>
              <a:rPr lang="en-US" dirty="0"/>
              <a:t>Available Parameter Settings of Logic Modules</a:t>
            </a:r>
            <a:endParaRPr lang="en-GB" dirty="0"/>
          </a:p>
        </p:txBody>
      </p:sp>
      <p:sp>
        <p:nvSpPr>
          <p:cNvPr id="5" name="Rectangle 4">
            <a:extLst>
              <a:ext uri="{FF2B5EF4-FFF2-40B4-BE49-F238E27FC236}">
                <a16:creationId xmlns:a16="http://schemas.microsoft.com/office/drawing/2014/main" id="{380C158C-6EC6-4FE2-9D8D-F5564ADF44F8}"/>
              </a:ext>
            </a:extLst>
          </p:cNvPr>
          <p:cNvSpPr/>
          <p:nvPr/>
        </p:nvSpPr>
        <p:spPr>
          <a:xfrm>
            <a:off x="900113" y="1675676"/>
            <a:ext cx="7848351" cy="4836196"/>
          </a:xfrm>
          <a:prstGeom prst="rect">
            <a:avLst/>
          </a:prstGeom>
        </p:spPr>
        <p:txBody>
          <a:bodyPr wrap="square">
            <a:spAutoFit/>
          </a:bodyPr>
          <a:lstStyle/>
          <a:p>
            <a:pPr marL="342900" indent="-342900" eaLnBrk="0" hangingPunct="0">
              <a:lnSpc>
                <a:spcPct val="150000"/>
              </a:lnSpc>
              <a:spcBef>
                <a:spcPct val="20000"/>
              </a:spcBef>
              <a:buClr>
                <a:srgbClr val="369226"/>
              </a:buClr>
              <a:buFont typeface="Wingdings" pitchFamily="2" charset="2"/>
              <a:buChar char="§"/>
              <a:defRPr/>
            </a:pPr>
            <a:r>
              <a:rPr lang="en-GB" b="1" dirty="0">
                <a:solidFill>
                  <a:srgbClr val="369226"/>
                </a:solidFill>
              </a:rPr>
              <a:t>Behaviour of the inputs:  </a:t>
            </a:r>
            <a:r>
              <a:rPr lang="en-GB" b="1" dirty="0"/>
              <a:t>When a new telegram reaches the input, the values are first saved and then are overwritten accordingly</a:t>
            </a:r>
          </a:p>
          <a:p>
            <a:pPr marL="342900" indent="-342900" eaLnBrk="0" hangingPunct="0">
              <a:lnSpc>
                <a:spcPct val="150000"/>
              </a:lnSpc>
              <a:spcBef>
                <a:spcPct val="20000"/>
              </a:spcBef>
              <a:buClr>
                <a:srgbClr val="369226"/>
              </a:buClr>
              <a:buFont typeface="Wingdings" pitchFamily="2" charset="2"/>
              <a:buChar char="§"/>
              <a:defRPr/>
            </a:pPr>
            <a:endParaRPr lang="en-GB" sz="400" b="1" dirty="0"/>
          </a:p>
          <a:p>
            <a:pPr marL="342900" indent="-342900" eaLnBrk="0" hangingPunct="0">
              <a:lnSpc>
                <a:spcPct val="150000"/>
              </a:lnSpc>
              <a:spcBef>
                <a:spcPct val="20000"/>
              </a:spcBef>
              <a:buClr>
                <a:srgbClr val="369226"/>
              </a:buClr>
              <a:buFont typeface="Wingdings" pitchFamily="2" charset="2"/>
              <a:buChar char="§"/>
              <a:defRPr/>
            </a:pPr>
            <a:r>
              <a:rPr lang="en-US" b="1" dirty="0">
                <a:solidFill>
                  <a:srgbClr val="369226"/>
                </a:solidFill>
              </a:rPr>
              <a:t>Disable objects: </a:t>
            </a:r>
            <a:r>
              <a:rPr lang="en-US" b="1" dirty="0"/>
              <a:t>Blocking/enabling the function on receipt of an ON/OFF telegram at the group object “xx Disable xx”</a:t>
            </a:r>
          </a:p>
          <a:p>
            <a:pPr marL="342900" indent="-342900" eaLnBrk="0" hangingPunct="0">
              <a:lnSpc>
                <a:spcPct val="150000"/>
              </a:lnSpc>
              <a:spcBef>
                <a:spcPct val="20000"/>
              </a:spcBef>
              <a:buClr>
                <a:srgbClr val="369226"/>
              </a:buClr>
              <a:buFont typeface="Wingdings" pitchFamily="2" charset="2"/>
              <a:buChar char="§"/>
              <a:defRPr/>
            </a:pPr>
            <a:endParaRPr lang="en-US" sz="400" b="1" dirty="0"/>
          </a:p>
          <a:p>
            <a:pPr marL="342900" indent="-342900" eaLnBrk="0" hangingPunct="0">
              <a:lnSpc>
                <a:spcPct val="150000"/>
              </a:lnSpc>
              <a:spcBef>
                <a:spcPct val="20000"/>
              </a:spcBef>
              <a:buClr>
                <a:srgbClr val="369226"/>
              </a:buClr>
              <a:buFont typeface="Wingdings" pitchFamily="2" charset="2"/>
              <a:buChar char="§"/>
              <a:defRPr/>
            </a:pPr>
            <a:r>
              <a:rPr lang="en-US" b="1" kern="0" dirty="0">
                <a:solidFill>
                  <a:srgbClr val="369226"/>
                </a:solidFill>
                <a:latin typeface="+mn-lt"/>
                <a:ea typeface="Open Sans" panose="020B0606030504020204" pitchFamily="34" charset="0"/>
                <a:cs typeface="Open Sans" panose="020B0606030504020204" pitchFamily="34" charset="0"/>
              </a:rPr>
              <a:t>Send delay: </a:t>
            </a:r>
            <a:r>
              <a:rPr lang="en-US" b="1" kern="0" dirty="0">
                <a:latin typeface="+mn-lt"/>
                <a:ea typeface="Open Sans" panose="020B0606030504020204" pitchFamily="34" charset="0"/>
                <a:cs typeface="Open Sans" panose="020B0606030504020204" pitchFamily="34" charset="0"/>
              </a:rPr>
              <a:t>Indicates how long the logic module waits before it sends a new value as an output telegram</a:t>
            </a:r>
          </a:p>
          <a:p>
            <a:pPr marL="342900" indent="-342900" eaLnBrk="0" hangingPunct="0">
              <a:lnSpc>
                <a:spcPct val="150000"/>
              </a:lnSpc>
              <a:spcBef>
                <a:spcPct val="20000"/>
              </a:spcBef>
              <a:buClr>
                <a:srgbClr val="369226"/>
              </a:buClr>
              <a:buFont typeface="Wingdings" pitchFamily="2" charset="2"/>
              <a:buChar char="§"/>
              <a:defRPr/>
            </a:pPr>
            <a:endParaRPr lang="en-US" sz="400" b="1" kern="0" dirty="0">
              <a:latin typeface="+mn-lt"/>
              <a:ea typeface="Open Sans" panose="020B0606030504020204" pitchFamily="34" charset="0"/>
              <a:cs typeface="Open Sans" panose="020B0606030504020204" pitchFamily="34" charset="0"/>
            </a:endParaRPr>
          </a:p>
          <a:p>
            <a:pPr marL="342900" indent="-342900" eaLnBrk="0" hangingPunct="0">
              <a:lnSpc>
                <a:spcPct val="150000"/>
              </a:lnSpc>
              <a:spcBef>
                <a:spcPct val="20000"/>
              </a:spcBef>
              <a:buClr>
                <a:srgbClr val="369226"/>
              </a:buClr>
              <a:buFont typeface="Wingdings" pitchFamily="2" charset="2"/>
              <a:buChar char="§"/>
              <a:defRPr/>
            </a:pPr>
            <a:r>
              <a:rPr lang="en-US" b="1" kern="0" dirty="0">
                <a:solidFill>
                  <a:srgbClr val="369226"/>
                </a:solidFill>
                <a:latin typeface="+mn-lt"/>
                <a:ea typeface="Open Sans" panose="020B0606030504020204" pitchFamily="34" charset="0"/>
                <a:cs typeface="Open Sans" panose="020B0606030504020204" pitchFamily="34" charset="0"/>
              </a:rPr>
              <a:t>Cyclical sending: </a:t>
            </a:r>
            <a:r>
              <a:rPr lang="en-US" b="1" kern="0" dirty="0">
                <a:latin typeface="+mn-lt"/>
                <a:ea typeface="Open Sans" panose="020B0606030504020204" pitchFamily="34" charset="0"/>
                <a:cs typeface="Open Sans" panose="020B0606030504020204" pitchFamily="34" charset="0"/>
              </a:rPr>
              <a:t>The cycle is maintained until an output changes. Then it is immediately sent and next sending cycle is started.</a:t>
            </a:r>
          </a:p>
          <a:p>
            <a:pPr marL="342900" indent="-342900" eaLnBrk="0" hangingPunct="0">
              <a:lnSpc>
                <a:spcPct val="150000"/>
              </a:lnSpc>
              <a:spcBef>
                <a:spcPct val="20000"/>
              </a:spcBef>
              <a:buClr>
                <a:srgbClr val="369226"/>
              </a:buClr>
              <a:buFont typeface="Wingdings" pitchFamily="2" charset="2"/>
              <a:buChar char="§"/>
              <a:defRPr/>
            </a:pPr>
            <a:endParaRPr lang="en-US" sz="400" b="1" kern="0" dirty="0">
              <a:solidFill>
                <a:srgbClr val="369226"/>
              </a:solidFill>
              <a:latin typeface="+mn-lt"/>
              <a:ea typeface="Open Sans" panose="020B0606030504020204" pitchFamily="34" charset="0"/>
              <a:cs typeface="Open Sans" panose="020B0606030504020204" pitchFamily="34" charset="0"/>
            </a:endParaRPr>
          </a:p>
          <a:p>
            <a:pPr marL="342900" indent="-342900" eaLnBrk="0" hangingPunct="0">
              <a:lnSpc>
                <a:spcPct val="150000"/>
              </a:lnSpc>
              <a:spcBef>
                <a:spcPct val="20000"/>
              </a:spcBef>
              <a:buClr>
                <a:srgbClr val="369226"/>
              </a:buClr>
              <a:buFont typeface="Wingdings" pitchFamily="2" charset="2"/>
              <a:buChar char="§"/>
              <a:defRPr/>
            </a:pPr>
            <a:r>
              <a:rPr lang="en-US" b="1" kern="0" dirty="0">
                <a:solidFill>
                  <a:srgbClr val="369226"/>
                </a:solidFill>
                <a:latin typeface="+mn-lt"/>
                <a:ea typeface="Open Sans" panose="020B0606030504020204" pitchFamily="34" charset="0"/>
                <a:cs typeface="Open Sans" panose="020B0606030504020204" pitchFamily="34" charset="0"/>
              </a:rPr>
              <a:t>Data types and datapoint types (DPT): </a:t>
            </a:r>
            <a:r>
              <a:rPr lang="en-US" b="1" kern="0" dirty="0">
                <a:latin typeface="+mn-lt"/>
                <a:ea typeface="Open Sans" panose="020B0606030504020204" pitchFamily="34" charset="0"/>
                <a:cs typeface="Open Sans" panose="020B0606030504020204" pitchFamily="34" charset="0"/>
              </a:rPr>
              <a:t>Different datatypes can be selected for some functions of the logic module</a:t>
            </a:r>
          </a:p>
        </p:txBody>
      </p:sp>
    </p:spTree>
    <p:extLst>
      <p:ext uri="{BB962C8B-B14F-4D97-AF65-F5344CB8AC3E}">
        <p14:creationId xmlns:p14="http://schemas.microsoft.com/office/powerpoint/2010/main" val="517083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Format Converter</a:t>
            </a:r>
          </a:p>
        </p:txBody>
      </p:sp>
      <p:graphicFrame>
        <p:nvGraphicFramePr>
          <p:cNvPr id="4" name="Object 3">
            <a:extLst>
              <a:ext uri="{FF2B5EF4-FFF2-40B4-BE49-F238E27FC236}">
                <a16:creationId xmlns:a16="http://schemas.microsoft.com/office/drawing/2014/main" id="{30285CD3-646C-402E-BA77-591F31CAB5E0}"/>
              </a:ext>
            </a:extLst>
          </p:cNvPr>
          <p:cNvGraphicFramePr>
            <a:graphicFrameLocks noChangeAspect="1"/>
          </p:cNvGraphicFramePr>
          <p:nvPr/>
        </p:nvGraphicFramePr>
        <p:xfrm>
          <a:off x="1043608" y="1424637"/>
          <a:ext cx="4598683" cy="1792818"/>
        </p:xfrm>
        <a:graphic>
          <a:graphicData uri="http://schemas.openxmlformats.org/presentationml/2006/ole">
            <mc:AlternateContent xmlns:mc="http://schemas.openxmlformats.org/markup-compatibility/2006">
              <mc:Choice xmlns:v="urn:schemas-microsoft-com:vml" Requires="v">
                <p:oleObj r:id="rId3" imgW="9351417" imgH="3639602" progId="Visio.Drawing.15">
                  <p:embed/>
                </p:oleObj>
              </mc:Choice>
              <mc:Fallback>
                <p:oleObj r:id="rId3" imgW="9351417" imgH="3639602" progId="Visio.Drawing.15">
                  <p:embed/>
                  <p:pic>
                    <p:nvPicPr>
                      <p:cNvPr id="4" name="Object 3">
                        <a:extLst>
                          <a:ext uri="{FF2B5EF4-FFF2-40B4-BE49-F238E27FC236}">
                            <a16:creationId xmlns:a16="http://schemas.microsoft.com/office/drawing/2014/main" id="{30285CD3-646C-402E-BA77-591F31CAB5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1424637"/>
                        <a:ext cx="4598683" cy="1792818"/>
                      </a:xfrm>
                      <a:prstGeom prst="rect">
                        <a:avLst/>
                      </a:prstGeom>
                      <a:noFill/>
                      <a:ln>
                        <a:solidFill>
                          <a:schemeClr val="accent1"/>
                        </a:solidFill>
                      </a:ln>
                    </p:spPr>
                  </p:pic>
                </p:oleObj>
              </mc:Fallback>
            </mc:AlternateContent>
          </a:graphicData>
        </a:graphic>
      </p:graphicFrame>
      <p:pic>
        <p:nvPicPr>
          <p:cNvPr id="5" name="Picture 4">
            <a:extLst>
              <a:ext uri="{FF2B5EF4-FFF2-40B4-BE49-F238E27FC236}">
                <a16:creationId xmlns:a16="http://schemas.microsoft.com/office/drawing/2014/main" id="{210384ED-F878-4288-AC7D-DDA3FC6153EA}"/>
              </a:ext>
            </a:extLst>
          </p:cNvPr>
          <p:cNvPicPr>
            <a:picLocks noChangeAspect="1"/>
          </p:cNvPicPr>
          <p:nvPr/>
        </p:nvPicPr>
        <p:blipFill>
          <a:blip r:embed="rId5"/>
          <a:stretch>
            <a:fillRect/>
          </a:stretch>
        </p:blipFill>
        <p:spPr>
          <a:xfrm>
            <a:off x="1075584" y="4989436"/>
            <a:ext cx="6961568" cy="1392314"/>
          </a:xfrm>
          <a:prstGeom prst="rect">
            <a:avLst/>
          </a:prstGeom>
          <a:ln>
            <a:solidFill>
              <a:schemeClr val="accent1"/>
            </a:solidFill>
          </a:ln>
        </p:spPr>
      </p:pic>
      <p:sp>
        <p:nvSpPr>
          <p:cNvPr id="7" name="Rectangle 6">
            <a:extLst>
              <a:ext uri="{FF2B5EF4-FFF2-40B4-BE49-F238E27FC236}">
                <a16:creationId xmlns:a16="http://schemas.microsoft.com/office/drawing/2014/main" id="{4D307B3A-8C37-498D-AE30-CBFCD0E2859B}"/>
              </a:ext>
            </a:extLst>
          </p:cNvPr>
          <p:cNvSpPr/>
          <p:nvPr/>
        </p:nvSpPr>
        <p:spPr>
          <a:xfrm>
            <a:off x="5868144" y="1412776"/>
            <a:ext cx="2592288" cy="1015663"/>
          </a:xfrm>
          <a:prstGeom prst="rect">
            <a:avLst/>
          </a:prstGeom>
        </p:spPr>
        <p:txBody>
          <a:bodyPr wrap="square">
            <a:spAutoFit/>
          </a:bodyPr>
          <a:lstStyle/>
          <a:p>
            <a:r>
              <a:rPr lang="en-GB" sz="2000" b="1" dirty="0"/>
              <a:t>Parameters for “Format Converter” function </a:t>
            </a:r>
          </a:p>
        </p:txBody>
      </p:sp>
      <p:sp>
        <p:nvSpPr>
          <p:cNvPr id="8" name="Rectangle 7">
            <a:extLst>
              <a:ext uri="{FF2B5EF4-FFF2-40B4-BE49-F238E27FC236}">
                <a16:creationId xmlns:a16="http://schemas.microsoft.com/office/drawing/2014/main" id="{19A7AB23-5484-4440-8B0E-5582A0C62408}"/>
              </a:ext>
            </a:extLst>
          </p:cNvPr>
          <p:cNvSpPr/>
          <p:nvPr/>
        </p:nvSpPr>
        <p:spPr>
          <a:xfrm>
            <a:off x="900113" y="3429000"/>
            <a:ext cx="7722862" cy="1420325"/>
          </a:xfrm>
          <a:prstGeom prst="rect">
            <a:avLst/>
          </a:prstGeom>
        </p:spPr>
        <p:txBody>
          <a:bodyPr wrap="square">
            <a:spAutoFit/>
          </a:bodyPr>
          <a:lstStyle/>
          <a:p>
            <a:pPr>
              <a:lnSpc>
                <a:spcPct val="150000"/>
              </a:lnSpc>
            </a:pPr>
            <a:r>
              <a:rPr lang="en-US" sz="2000" b="1" dirty="0"/>
              <a:t>It breaks down an input telegram into several output telegram of a different format or generates an output telegram from several input telegrams of another format</a:t>
            </a:r>
            <a:endParaRPr lang="es-ES" sz="2000" b="1" dirty="0"/>
          </a:p>
        </p:txBody>
      </p:sp>
    </p:spTree>
    <p:extLst>
      <p:ext uri="{BB962C8B-B14F-4D97-AF65-F5344CB8AC3E}">
        <p14:creationId xmlns:p14="http://schemas.microsoft.com/office/powerpoint/2010/main" val="3231880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Logic Gates</a:t>
            </a:r>
            <a:endParaRPr lang="en-GB" dirty="0"/>
          </a:p>
        </p:txBody>
      </p:sp>
      <p:sp>
        <p:nvSpPr>
          <p:cNvPr id="2" name="Rectangle 1">
            <a:extLst>
              <a:ext uri="{FF2B5EF4-FFF2-40B4-BE49-F238E27FC236}">
                <a16:creationId xmlns:a16="http://schemas.microsoft.com/office/drawing/2014/main" id="{46DD7D2C-3636-4710-9593-270E3240E055}"/>
              </a:ext>
            </a:extLst>
          </p:cNvPr>
          <p:cNvSpPr/>
          <p:nvPr/>
        </p:nvSpPr>
        <p:spPr>
          <a:xfrm>
            <a:off x="900112" y="1628800"/>
            <a:ext cx="7632328" cy="958660"/>
          </a:xfrm>
          <a:prstGeom prst="rect">
            <a:avLst/>
          </a:prstGeom>
        </p:spPr>
        <p:txBody>
          <a:bodyPr wrap="square">
            <a:spAutoFit/>
          </a:bodyPr>
          <a:lstStyle/>
          <a:p>
            <a:pPr>
              <a:lnSpc>
                <a:spcPct val="150000"/>
              </a:lnSpc>
            </a:pPr>
            <a:r>
              <a:rPr lang="en-US" sz="2000" b="1" dirty="0"/>
              <a:t>Used to logically process states of the KNX installation which are report via telegrams </a:t>
            </a:r>
            <a:endParaRPr lang="es-ES" sz="2000" b="1" dirty="0"/>
          </a:p>
        </p:txBody>
      </p:sp>
      <p:pic>
        <p:nvPicPr>
          <p:cNvPr id="4" name="Picture 3">
            <a:extLst>
              <a:ext uri="{FF2B5EF4-FFF2-40B4-BE49-F238E27FC236}">
                <a16:creationId xmlns:a16="http://schemas.microsoft.com/office/drawing/2014/main" id="{3E348F3F-4C28-4767-B22E-763A61B8C67A}"/>
              </a:ext>
            </a:extLst>
          </p:cNvPr>
          <p:cNvPicPr>
            <a:picLocks noChangeAspect="1"/>
          </p:cNvPicPr>
          <p:nvPr/>
        </p:nvPicPr>
        <p:blipFill>
          <a:blip r:embed="rId3"/>
          <a:stretch>
            <a:fillRect/>
          </a:stretch>
        </p:blipFill>
        <p:spPr>
          <a:xfrm>
            <a:off x="1176501" y="3010212"/>
            <a:ext cx="7079549" cy="2520657"/>
          </a:xfrm>
          <a:prstGeom prst="rect">
            <a:avLst/>
          </a:prstGeom>
          <a:ln>
            <a:solidFill>
              <a:schemeClr val="accent1"/>
            </a:solidFill>
          </a:ln>
        </p:spPr>
      </p:pic>
    </p:spTree>
    <p:extLst>
      <p:ext uri="{BB962C8B-B14F-4D97-AF65-F5344CB8AC3E}">
        <p14:creationId xmlns:p14="http://schemas.microsoft.com/office/powerpoint/2010/main" val="1321237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Min/Max-Value Indication</a:t>
            </a:r>
            <a:endParaRPr lang="en-GB" dirty="0"/>
          </a:p>
        </p:txBody>
      </p:sp>
      <p:sp>
        <p:nvSpPr>
          <p:cNvPr id="2" name="Rectangle 1">
            <a:extLst>
              <a:ext uri="{FF2B5EF4-FFF2-40B4-BE49-F238E27FC236}">
                <a16:creationId xmlns:a16="http://schemas.microsoft.com/office/drawing/2014/main" id="{BF9C909C-745E-4BA6-B1BB-89CC7B35D7DB}"/>
              </a:ext>
            </a:extLst>
          </p:cNvPr>
          <p:cNvSpPr/>
          <p:nvPr/>
        </p:nvSpPr>
        <p:spPr>
          <a:xfrm>
            <a:off x="886858" y="1628800"/>
            <a:ext cx="7501565" cy="958660"/>
          </a:xfrm>
          <a:prstGeom prst="rect">
            <a:avLst/>
          </a:prstGeom>
        </p:spPr>
        <p:txBody>
          <a:bodyPr wrap="square">
            <a:spAutoFit/>
          </a:bodyPr>
          <a:lstStyle/>
          <a:p>
            <a:pPr>
              <a:lnSpc>
                <a:spcPct val="150000"/>
              </a:lnSpc>
            </a:pPr>
            <a:r>
              <a:rPr lang="en-US" sz="2000" b="1" dirty="0"/>
              <a:t>With the min/max-value indication, the largest value is determined from 2 sent telegrams </a:t>
            </a:r>
            <a:endParaRPr lang="es-ES" sz="2000" b="1" dirty="0"/>
          </a:p>
        </p:txBody>
      </p:sp>
      <p:pic>
        <p:nvPicPr>
          <p:cNvPr id="4" name="Picture 3">
            <a:extLst>
              <a:ext uri="{FF2B5EF4-FFF2-40B4-BE49-F238E27FC236}">
                <a16:creationId xmlns:a16="http://schemas.microsoft.com/office/drawing/2014/main" id="{D76FEC21-34BA-4428-9472-E0BCDB8C528C}"/>
              </a:ext>
            </a:extLst>
          </p:cNvPr>
          <p:cNvPicPr>
            <a:picLocks noChangeAspect="1"/>
          </p:cNvPicPr>
          <p:nvPr/>
        </p:nvPicPr>
        <p:blipFill>
          <a:blip r:embed="rId3"/>
          <a:stretch>
            <a:fillRect/>
          </a:stretch>
        </p:blipFill>
        <p:spPr>
          <a:xfrm>
            <a:off x="1163680" y="2840919"/>
            <a:ext cx="6816639" cy="2392211"/>
          </a:xfrm>
          <a:prstGeom prst="rect">
            <a:avLst/>
          </a:prstGeom>
          <a:ln>
            <a:solidFill>
              <a:schemeClr val="accent1"/>
            </a:solidFill>
          </a:ln>
        </p:spPr>
      </p:pic>
    </p:spTree>
    <p:extLst>
      <p:ext uri="{BB962C8B-B14F-4D97-AF65-F5344CB8AC3E}">
        <p14:creationId xmlns:p14="http://schemas.microsoft.com/office/powerpoint/2010/main" val="2016552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Threshold Value Detection</a:t>
            </a:r>
            <a:endParaRPr lang="en-GB" dirty="0"/>
          </a:p>
        </p:txBody>
      </p:sp>
      <p:sp>
        <p:nvSpPr>
          <p:cNvPr id="2" name="Rectangle 1">
            <a:extLst>
              <a:ext uri="{FF2B5EF4-FFF2-40B4-BE49-F238E27FC236}">
                <a16:creationId xmlns:a16="http://schemas.microsoft.com/office/drawing/2014/main" id="{BF9C909C-745E-4BA6-B1BB-89CC7B35D7DB}"/>
              </a:ext>
            </a:extLst>
          </p:cNvPr>
          <p:cNvSpPr/>
          <p:nvPr/>
        </p:nvSpPr>
        <p:spPr>
          <a:xfrm>
            <a:off x="886858" y="1628800"/>
            <a:ext cx="7501565" cy="958660"/>
          </a:xfrm>
          <a:prstGeom prst="rect">
            <a:avLst/>
          </a:prstGeom>
        </p:spPr>
        <p:txBody>
          <a:bodyPr wrap="square">
            <a:spAutoFit/>
          </a:bodyPr>
          <a:lstStyle/>
          <a:p>
            <a:pPr>
              <a:lnSpc>
                <a:spcPct val="150000"/>
              </a:lnSpc>
            </a:pPr>
            <a:r>
              <a:rPr lang="en-US" sz="2000" b="1" dirty="0"/>
              <a:t>Used to detect if a value exceeds/falls below a set threshold value</a:t>
            </a:r>
            <a:endParaRPr lang="es-ES" sz="2000" b="1" dirty="0"/>
          </a:p>
        </p:txBody>
      </p:sp>
      <p:pic>
        <p:nvPicPr>
          <p:cNvPr id="5" name="Picture 4">
            <a:extLst>
              <a:ext uri="{FF2B5EF4-FFF2-40B4-BE49-F238E27FC236}">
                <a16:creationId xmlns:a16="http://schemas.microsoft.com/office/drawing/2014/main" id="{B8392E65-4D3D-4EA7-B314-911ACBED56CC}"/>
              </a:ext>
            </a:extLst>
          </p:cNvPr>
          <p:cNvPicPr>
            <a:picLocks noChangeAspect="1"/>
          </p:cNvPicPr>
          <p:nvPr/>
        </p:nvPicPr>
        <p:blipFill>
          <a:blip r:embed="rId3"/>
          <a:stretch>
            <a:fillRect/>
          </a:stretch>
        </p:blipFill>
        <p:spPr>
          <a:xfrm>
            <a:off x="1331640" y="2924944"/>
            <a:ext cx="6892686" cy="2952328"/>
          </a:xfrm>
          <a:prstGeom prst="rect">
            <a:avLst/>
          </a:prstGeom>
          <a:ln>
            <a:solidFill>
              <a:schemeClr val="accent1"/>
            </a:solidFill>
          </a:ln>
        </p:spPr>
      </p:pic>
    </p:spTree>
    <p:extLst>
      <p:ext uri="{BB962C8B-B14F-4D97-AF65-F5344CB8AC3E}">
        <p14:creationId xmlns:p14="http://schemas.microsoft.com/office/powerpoint/2010/main" val="953657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Scenes</a:t>
            </a:r>
            <a:endParaRPr lang="en-GB" dirty="0"/>
          </a:p>
        </p:txBody>
      </p:sp>
      <p:sp>
        <p:nvSpPr>
          <p:cNvPr id="2" name="Rectangle 1">
            <a:extLst>
              <a:ext uri="{FF2B5EF4-FFF2-40B4-BE49-F238E27FC236}">
                <a16:creationId xmlns:a16="http://schemas.microsoft.com/office/drawing/2014/main" id="{BF9C909C-745E-4BA6-B1BB-89CC7B35D7DB}"/>
              </a:ext>
            </a:extLst>
          </p:cNvPr>
          <p:cNvSpPr/>
          <p:nvPr/>
        </p:nvSpPr>
        <p:spPr>
          <a:xfrm>
            <a:off x="936104" y="1377906"/>
            <a:ext cx="7789598" cy="1420325"/>
          </a:xfrm>
          <a:prstGeom prst="rect">
            <a:avLst/>
          </a:prstGeom>
        </p:spPr>
        <p:txBody>
          <a:bodyPr wrap="square">
            <a:spAutoFit/>
          </a:bodyPr>
          <a:lstStyle/>
          <a:p>
            <a:pPr>
              <a:lnSpc>
                <a:spcPct val="150000"/>
              </a:lnSpc>
            </a:pPr>
            <a:r>
              <a:rPr lang="en-US" sz="2000" b="1" dirty="0"/>
              <a:t>Used to retrieve default settings. The data type is defined once for each output. Different values can then be assigned to these outputs in each scene</a:t>
            </a:r>
            <a:endParaRPr lang="es-ES" sz="2000" b="1" dirty="0"/>
          </a:p>
        </p:txBody>
      </p:sp>
      <p:pic>
        <p:nvPicPr>
          <p:cNvPr id="4" name="Picture 3">
            <a:extLst>
              <a:ext uri="{FF2B5EF4-FFF2-40B4-BE49-F238E27FC236}">
                <a16:creationId xmlns:a16="http://schemas.microsoft.com/office/drawing/2014/main" id="{11BF5876-DFD2-4565-A500-AE738A6D4F6D}"/>
              </a:ext>
            </a:extLst>
          </p:cNvPr>
          <p:cNvPicPr>
            <a:picLocks noChangeAspect="1"/>
          </p:cNvPicPr>
          <p:nvPr/>
        </p:nvPicPr>
        <p:blipFill>
          <a:blip r:embed="rId3"/>
          <a:stretch>
            <a:fillRect/>
          </a:stretch>
        </p:blipFill>
        <p:spPr>
          <a:xfrm>
            <a:off x="982816" y="2852936"/>
            <a:ext cx="3705018" cy="1164487"/>
          </a:xfrm>
          <a:prstGeom prst="rect">
            <a:avLst/>
          </a:prstGeom>
          <a:ln>
            <a:solidFill>
              <a:schemeClr val="accent1"/>
            </a:solidFill>
          </a:ln>
        </p:spPr>
      </p:pic>
      <p:pic>
        <p:nvPicPr>
          <p:cNvPr id="6" name="Picture 5">
            <a:extLst>
              <a:ext uri="{FF2B5EF4-FFF2-40B4-BE49-F238E27FC236}">
                <a16:creationId xmlns:a16="http://schemas.microsoft.com/office/drawing/2014/main" id="{36D084F0-223D-4E50-A9CE-D8FF804B2CA8}"/>
              </a:ext>
            </a:extLst>
          </p:cNvPr>
          <p:cNvPicPr>
            <a:picLocks noChangeAspect="1"/>
          </p:cNvPicPr>
          <p:nvPr/>
        </p:nvPicPr>
        <p:blipFill>
          <a:blip r:embed="rId4"/>
          <a:stretch>
            <a:fillRect/>
          </a:stretch>
        </p:blipFill>
        <p:spPr>
          <a:xfrm>
            <a:off x="4978474" y="2852937"/>
            <a:ext cx="3708637" cy="1164486"/>
          </a:xfrm>
          <a:prstGeom prst="rect">
            <a:avLst/>
          </a:prstGeom>
          <a:ln>
            <a:solidFill>
              <a:schemeClr val="accent1"/>
            </a:solidFill>
          </a:ln>
        </p:spPr>
      </p:pic>
      <p:pic>
        <p:nvPicPr>
          <p:cNvPr id="7" name="Picture 6">
            <a:extLst>
              <a:ext uri="{FF2B5EF4-FFF2-40B4-BE49-F238E27FC236}">
                <a16:creationId xmlns:a16="http://schemas.microsoft.com/office/drawing/2014/main" id="{54556918-6C92-445E-BE98-6272598BACEF}"/>
              </a:ext>
            </a:extLst>
          </p:cNvPr>
          <p:cNvPicPr>
            <a:picLocks noChangeAspect="1"/>
          </p:cNvPicPr>
          <p:nvPr/>
        </p:nvPicPr>
        <p:blipFill>
          <a:blip r:embed="rId5"/>
          <a:stretch>
            <a:fillRect/>
          </a:stretch>
        </p:blipFill>
        <p:spPr>
          <a:xfrm>
            <a:off x="982816" y="4910104"/>
            <a:ext cx="3705018" cy="1023796"/>
          </a:xfrm>
          <a:prstGeom prst="rect">
            <a:avLst/>
          </a:prstGeom>
          <a:ln>
            <a:solidFill>
              <a:schemeClr val="accent1"/>
            </a:solidFill>
          </a:ln>
        </p:spPr>
      </p:pic>
      <p:sp>
        <p:nvSpPr>
          <p:cNvPr id="8" name="Rectangle 7">
            <a:extLst>
              <a:ext uri="{FF2B5EF4-FFF2-40B4-BE49-F238E27FC236}">
                <a16:creationId xmlns:a16="http://schemas.microsoft.com/office/drawing/2014/main" id="{5A52EA69-C209-4617-A9F3-461931791996}"/>
              </a:ext>
            </a:extLst>
          </p:cNvPr>
          <p:cNvSpPr/>
          <p:nvPr/>
        </p:nvSpPr>
        <p:spPr>
          <a:xfrm>
            <a:off x="936104" y="5949280"/>
            <a:ext cx="3751730" cy="369754"/>
          </a:xfrm>
          <a:prstGeom prst="rect">
            <a:avLst/>
          </a:prstGeom>
        </p:spPr>
        <p:txBody>
          <a:bodyPr wrap="square">
            <a:spAutoFit/>
          </a:bodyPr>
          <a:lstStyle/>
          <a:p>
            <a:r>
              <a:rPr lang="en-US" b="1" dirty="0"/>
              <a:t>Parameters (extract) of ‘Scene 1’</a:t>
            </a:r>
          </a:p>
        </p:txBody>
      </p:sp>
      <p:sp>
        <p:nvSpPr>
          <p:cNvPr id="9" name="Rectangle 8">
            <a:extLst>
              <a:ext uri="{FF2B5EF4-FFF2-40B4-BE49-F238E27FC236}">
                <a16:creationId xmlns:a16="http://schemas.microsoft.com/office/drawing/2014/main" id="{B57FBAA8-91E7-49C4-8625-A2D4CE8C5E77}"/>
              </a:ext>
            </a:extLst>
          </p:cNvPr>
          <p:cNvSpPr/>
          <p:nvPr/>
        </p:nvSpPr>
        <p:spPr>
          <a:xfrm>
            <a:off x="4945688" y="4018712"/>
            <a:ext cx="3805685" cy="646331"/>
          </a:xfrm>
          <a:prstGeom prst="rect">
            <a:avLst/>
          </a:prstGeom>
        </p:spPr>
        <p:txBody>
          <a:bodyPr wrap="square">
            <a:spAutoFit/>
          </a:bodyPr>
          <a:lstStyle/>
          <a:p>
            <a:r>
              <a:rPr lang="en-US" b="1" dirty="0"/>
              <a:t>Parameters (extract) of ‘Scene Outputs’</a:t>
            </a:r>
          </a:p>
        </p:txBody>
      </p:sp>
      <p:sp>
        <p:nvSpPr>
          <p:cNvPr id="10" name="Rectangle 9">
            <a:extLst>
              <a:ext uri="{FF2B5EF4-FFF2-40B4-BE49-F238E27FC236}">
                <a16:creationId xmlns:a16="http://schemas.microsoft.com/office/drawing/2014/main" id="{9F581335-681D-4979-BE94-C9CAC05CA722}"/>
              </a:ext>
            </a:extLst>
          </p:cNvPr>
          <p:cNvSpPr/>
          <p:nvPr/>
        </p:nvSpPr>
        <p:spPr>
          <a:xfrm>
            <a:off x="963400" y="4018712"/>
            <a:ext cx="3705018" cy="646331"/>
          </a:xfrm>
          <a:prstGeom prst="rect">
            <a:avLst/>
          </a:prstGeom>
        </p:spPr>
        <p:txBody>
          <a:bodyPr wrap="square">
            <a:spAutoFit/>
          </a:bodyPr>
          <a:lstStyle/>
          <a:p>
            <a:pPr lvl="0" eaLnBrk="0" hangingPunct="0">
              <a:spcBef>
                <a:spcPct val="30000"/>
              </a:spcBef>
              <a:defRPr/>
            </a:pPr>
            <a:r>
              <a:rPr lang="en-GB" b="1" dirty="0"/>
              <a:t>Parameters (extract) of ‘Scenes Common’</a:t>
            </a:r>
            <a:endParaRPr lang="es-ES" b="1" dirty="0"/>
          </a:p>
        </p:txBody>
      </p:sp>
    </p:spTree>
    <p:extLst>
      <p:ext uri="{BB962C8B-B14F-4D97-AF65-F5344CB8AC3E}">
        <p14:creationId xmlns:p14="http://schemas.microsoft.com/office/powerpoint/2010/main" val="95268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Temperature Comparator</a:t>
            </a:r>
            <a:endParaRPr lang="en-GB" dirty="0"/>
          </a:p>
        </p:txBody>
      </p:sp>
      <p:sp>
        <p:nvSpPr>
          <p:cNvPr id="4" name="Rectangle 3">
            <a:extLst>
              <a:ext uri="{FF2B5EF4-FFF2-40B4-BE49-F238E27FC236}">
                <a16:creationId xmlns:a16="http://schemas.microsoft.com/office/drawing/2014/main" id="{160BC1FD-D06F-4B70-90E2-C6E7FE0B63BF}"/>
              </a:ext>
            </a:extLst>
          </p:cNvPr>
          <p:cNvSpPr/>
          <p:nvPr/>
        </p:nvSpPr>
        <p:spPr>
          <a:xfrm>
            <a:off x="886858" y="1628800"/>
            <a:ext cx="7789598" cy="1604991"/>
          </a:xfrm>
          <a:prstGeom prst="rect">
            <a:avLst/>
          </a:prstGeom>
        </p:spPr>
        <p:txBody>
          <a:bodyPr wrap="square">
            <a:spAutoFit/>
          </a:bodyPr>
          <a:lstStyle/>
          <a:p>
            <a:pPr>
              <a:lnSpc>
                <a:spcPct val="150000"/>
              </a:lnSpc>
            </a:pPr>
            <a:r>
              <a:rPr lang="en-US" sz="2000" b="1" dirty="0"/>
              <a:t>2 different temperature values can be compared with the temperature valuator</a:t>
            </a:r>
          </a:p>
          <a:p>
            <a:pPr>
              <a:lnSpc>
                <a:spcPct val="150000"/>
              </a:lnSpc>
            </a:pPr>
            <a:endParaRPr lang="en-US" sz="800" b="1" dirty="0"/>
          </a:p>
          <a:p>
            <a:pPr>
              <a:lnSpc>
                <a:spcPct val="150000"/>
              </a:lnSpc>
            </a:pPr>
            <a:r>
              <a:rPr lang="en-US" sz="2000" b="1" dirty="0"/>
              <a:t>Different telegrams can be sent depending on the result</a:t>
            </a:r>
          </a:p>
        </p:txBody>
      </p:sp>
      <p:pic>
        <p:nvPicPr>
          <p:cNvPr id="2" name="Picture 1">
            <a:extLst>
              <a:ext uri="{FF2B5EF4-FFF2-40B4-BE49-F238E27FC236}">
                <a16:creationId xmlns:a16="http://schemas.microsoft.com/office/drawing/2014/main" id="{1EAE3828-1942-44AA-977A-D8F38652BB04}"/>
              </a:ext>
            </a:extLst>
          </p:cNvPr>
          <p:cNvPicPr>
            <a:picLocks noChangeAspect="1"/>
          </p:cNvPicPr>
          <p:nvPr/>
        </p:nvPicPr>
        <p:blipFill>
          <a:blip r:embed="rId3"/>
          <a:stretch>
            <a:fillRect/>
          </a:stretch>
        </p:blipFill>
        <p:spPr>
          <a:xfrm>
            <a:off x="1163102" y="3573016"/>
            <a:ext cx="6464174" cy="2592288"/>
          </a:xfrm>
          <a:prstGeom prst="rect">
            <a:avLst/>
          </a:prstGeom>
          <a:ln>
            <a:solidFill>
              <a:schemeClr val="accent1"/>
            </a:solidFill>
          </a:ln>
        </p:spPr>
      </p:pic>
    </p:spTree>
    <p:extLst>
      <p:ext uri="{BB962C8B-B14F-4D97-AF65-F5344CB8AC3E}">
        <p14:creationId xmlns:p14="http://schemas.microsoft.com/office/powerpoint/2010/main" val="6927798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Gate</a:t>
            </a:r>
            <a:endParaRPr lang="en-GB" dirty="0"/>
          </a:p>
        </p:txBody>
      </p:sp>
      <p:pic>
        <p:nvPicPr>
          <p:cNvPr id="2" name="Picture 1">
            <a:extLst>
              <a:ext uri="{FF2B5EF4-FFF2-40B4-BE49-F238E27FC236}">
                <a16:creationId xmlns:a16="http://schemas.microsoft.com/office/drawing/2014/main" id="{D8DC9373-246F-495C-BD61-F56FACE48315}"/>
              </a:ext>
            </a:extLst>
          </p:cNvPr>
          <p:cNvPicPr>
            <a:picLocks noChangeAspect="1"/>
          </p:cNvPicPr>
          <p:nvPr/>
        </p:nvPicPr>
        <p:blipFill>
          <a:blip r:embed="rId3"/>
          <a:stretch>
            <a:fillRect/>
          </a:stretch>
        </p:blipFill>
        <p:spPr>
          <a:xfrm>
            <a:off x="1259755" y="3429000"/>
            <a:ext cx="7043803" cy="2707462"/>
          </a:xfrm>
          <a:prstGeom prst="rect">
            <a:avLst/>
          </a:prstGeom>
          <a:ln>
            <a:solidFill>
              <a:schemeClr val="accent1"/>
            </a:solidFill>
          </a:ln>
        </p:spPr>
      </p:pic>
      <p:sp>
        <p:nvSpPr>
          <p:cNvPr id="4" name="Rectangle 3">
            <a:extLst>
              <a:ext uri="{FF2B5EF4-FFF2-40B4-BE49-F238E27FC236}">
                <a16:creationId xmlns:a16="http://schemas.microsoft.com/office/drawing/2014/main" id="{615415F9-C59A-4C33-BE64-3AF2BB039130}"/>
              </a:ext>
            </a:extLst>
          </p:cNvPr>
          <p:cNvSpPr/>
          <p:nvPr/>
        </p:nvSpPr>
        <p:spPr>
          <a:xfrm>
            <a:off x="886858" y="1628800"/>
            <a:ext cx="7789598" cy="1604991"/>
          </a:xfrm>
          <a:prstGeom prst="rect">
            <a:avLst/>
          </a:prstGeom>
        </p:spPr>
        <p:txBody>
          <a:bodyPr wrap="square">
            <a:spAutoFit/>
          </a:bodyPr>
          <a:lstStyle/>
          <a:p>
            <a:pPr>
              <a:lnSpc>
                <a:spcPct val="150000"/>
              </a:lnSpc>
            </a:pPr>
            <a:r>
              <a:rPr lang="en-US" sz="2000" b="1" dirty="0"/>
              <a:t>The filter function enables the filtering out of telegrams</a:t>
            </a:r>
          </a:p>
          <a:p>
            <a:pPr>
              <a:lnSpc>
                <a:spcPct val="150000"/>
              </a:lnSpc>
            </a:pPr>
            <a:endParaRPr lang="en-US" sz="800" b="1" dirty="0"/>
          </a:p>
          <a:p>
            <a:pPr>
              <a:lnSpc>
                <a:spcPct val="150000"/>
              </a:lnSpc>
            </a:pPr>
            <a:r>
              <a:rPr lang="en-US" sz="2000" b="1" dirty="0"/>
              <a:t>Telegrams can be routed or blocked with a gate depending on a set condition</a:t>
            </a:r>
          </a:p>
        </p:txBody>
      </p:sp>
    </p:spTree>
    <p:extLst>
      <p:ext uri="{BB962C8B-B14F-4D97-AF65-F5344CB8AC3E}">
        <p14:creationId xmlns:p14="http://schemas.microsoft.com/office/powerpoint/2010/main" val="20806183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Staircase Light</a:t>
            </a:r>
            <a:endParaRPr lang="en-GB" dirty="0"/>
          </a:p>
        </p:txBody>
      </p:sp>
      <p:sp>
        <p:nvSpPr>
          <p:cNvPr id="4" name="Rectangle 3">
            <a:extLst>
              <a:ext uri="{FF2B5EF4-FFF2-40B4-BE49-F238E27FC236}">
                <a16:creationId xmlns:a16="http://schemas.microsoft.com/office/drawing/2014/main" id="{8C5628D4-31B2-4EAD-B7B7-C20273958540}"/>
              </a:ext>
            </a:extLst>
          </p:cNvPr>
          <p:cNvSpPr/>
          <p:nvPr/>
        </p:nvSpPr>
        <p:spPr>
          <a:xfrm>
            <a:off x="886858" y="1628800"/>
            <a:ext cx="7933614" cy="2035878"/>
          </a:xfrm>
          <a:prstGeom prst="rect">
            <a:avLst/>
          </a:prstGeom>
        </p:spPr>
        <p:txBody>
          <a:bodyPr wrap="square">
            <a:spAutoFit/>
          </a:bodyPr>
          <a:lstStyle/>
          <a:p>
            <a:r>
              <a:rPr lang="en-US" sz="2000" b="1" dirty="0"/>
              <a:t>The staircase lighting function mirrors a staircase lighting timer</a:t>
            </a:r>
          </a:p>
          <a:p>
            <a:endParaRPr lang="en-US" sz="2000" b="1" dirty="0"/>
          </a:p>
          <a:p>
            <a:pPr>
              <a:lnSpc>
                <a:spcPct val="150000"/>
              </a:lnSpc>
            </a:pPr>
            <a:r>
              <a:rPr lang="en-US" sz="2000" b="1" dirty="0"/>
              <a:t>On receipt of an ON telegram, the delay is started. An OFF telegram is sent to the group object at the input once the delay has elapsed</a:t>
            </a:r>
          </a:p>
        </p:txBody>
      </p:sp>
      <p:pic>
        <p:nvPicPr>
          <p:cNvPr id="2" name="Picture 1">
            <a:extLst>
              <a:ext uri="{FF2B5EF4-FFF2-40B4-BE49-F238E27FC236}">
                <a16:creationId xmlns:a16="http://schemas.microsoft.com/office/drawing/2014/main" id="{DE76F25E-21A9-4A0A-9A9F-EB956D92460F}"/>
              </a:ext>
            </a:extLst>
          </p:cNvPr>
          <p:cNvPicPr>
            <a:picLocks noChangeAspect="1"/>
          </p:cNvPicPr>
          <p:nvPr/>
        </p:nvPicPr>
        <p:blipFill>
          <a:blip r:embed="rId3"/>
          <a:stretch>
            <a:fillRect/>
          </a:stretch>
        </p:blipFill>
        <p:spPr>
          <a:xfrm>
            <a:off x="1691680" y="3789040"/>
            <a:ext cx="6029052" cy="2592710"/>
          </a:xfrm>
          <a:prstGeom prst="rect">
            <a:avLst/>
          </a:prstGeom>
          <a:ln>
            <a:solidFill>
              <a:schemeClr val="accent1"/>
            </a:solidFill>
          </a:ln>
        </p:spPr>
      </p:pic>
    </p:spTree>
    <p:extLst>
      <p:ext uri="{BB962C8B-B14F-4D97-AF65-F5344CB8AC3E}">
        <p14:creationId xmlns:p14="http://schemas.microsoft.com/office/powerpoint/2010/main" val="1514632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Multiplier</a:t>
            </a:r>
            <a:endParaRPr lang="en-GB" dirty="0"/>
          </a:p>
        </p:txBody>
      </p:sp>
      <p:sp>
        <p:nvSpPr>
          <p:cNvPr id="4" name="Rectangle 3">
            <a:extLst>
              <a:ext uri="{FF2B5EF4-FFF2-40B4-BE49-F238E27FC236}">
                <a16:creationId xmlns:a16="http://schemas.microsoft.com/office/drawing/2014/main" id="{6F47B4F3-FE40-4980-B4A4-EF7EE3714253}"/>
              </a:ext>
            </a:extLst>
          </p:cNvPr>
          <p:cNvSpPr/>
          <p:nvPr/>
        </p:nvSpPr>
        <p:spPr>
          <a:xfrm>
            <a:off x="886858" y="1556792"/>
            <a:ext cx="7717590" cy="958660"/>
          </a:xfrm>
          <a:prstGeom prst="rect">
            <a:avLst/>
          </a:prstGeom>
        </p:spPr>
        <p:txBody>
          <a:bodyPr wrap="square">
            <a:spAutoFit/>
          </a:bodyPr>
          <a:lstStyle/>
          <a:p>
            <a:pPr>
              <a:lnSpc>
                <a:spcPct val="150000"/>
              </a:lnSpc>
            </a:pPr>
            <a:r>
              <a:rPr lang="en-US" sz="2000" b="1" dirty="0"/>
              <a:t>Used to pass on several telegrams to the output on receipt of a telegram at the input</a:t>
            </a:r>
          </a:p>
        </p:txBody>
      </p:sp>
      <p:pic>
        <p:nvPicPr>
          <p:cNvPr id="2" name="Picture 1">
            <a:extLst>
              <a:ext uri="{FF2B5EF4-FFF2-40B4-BE49-F238E27FC236}">
                <a16:creationId xmlns:a16="http://schemas.microsoft.com/office/drawing/2014/main" id="{5DAB79B5-971C-49EC-9C65-D2B541BAD27C}"/>
              </a:ext>
            </a:extLst>
          </p:cNvPr>
          <p:cNvPicPr>
            <a:picLocks noChangeAspect="1"/>
          </p:cNvPicPr>
          <p:nvPr/>
        </p:nvPicPr>
        <p:blipFill>
          <a:blip r:embed="rId3"/>
          <a:stretch>
            <a:fillRect/>
          </a:stretch>
        </p:blipFill>
        <p:spPr>
          <a:xfrm>
            <a:off x="1043607" y="2731990"/>
            <a:ext cx="3608719" cy="1260879"/>
          </a:xfrm>
          <a:prstGeom prst="rect">
            <a:avLst/>
          </a:prstGeom>
          <a:ln>
            <a:solidFill>
              <a:schemeClr val="accent1"/>
            </a:solidFill>
          </a:ln>
        </p:spPr>
      </p:pic>
      <p:pic>
        <p:nvPicPr>
          <p:cNvPr id="5" name="Picture 4">
            <a:extLst>
              <a:ext uri="{FF2B5EF4-FFF2-40B4-BE49-F238E27FC236}">
                <a16:creationId xmlns:a16="http://schemas.microsoft.com/office/drawing/2014/main" id="{20237359-28E8-431E-BD82-DE00DF23CAC7}"/>
              </a:ext>
            </a:extLst>
          </p:cNvPr>
          <p:cNvPicPr/>
          <p:nvPr/>
        </p:nvPicPr>
        <p:blipFill>
          <a:blip r:embed="rId4"/>
          <a:stretch>
            <a:fillRect/>
          </a:stretch>
        </p:blipFill>
        <p:spPr>
          <a:xfrm>
            <a:off x="4932039" y="2731990"/>
            <a:ext cx="3608719" cy="1260879"/>
          </a:xfrm>
          <a:prstGeom prst="rect">
            <a:avLst/>
          </a:prstGeom>
          <a:ln>
            <a:solidFill>
              <a:schemeClr val="accent1"/>
            </a:solidFill>
          </a:ln>
        </p:spPr>
      </p:pic>
      <p:sp>
        <p:nvSpPr>
          <p:cNvPr id="6" name="Rectangle 5">
            <a:extLst>
              <a:ext uri="{FF2B5EF4-FFF2-40B4-BE49-F238E27FC236}">
                <a16:creationId xmlns:a16="http://schemas.microsoft.com/office/drawing/2014/main" id="{64A8790C-2748-49A3-B91C-3065E1C448DE}"/>
              </a:ext>
            </a:extLst>
          </p:cNvPr>
          <p:cNvSpPr/>
          <p:nvPr/>
        </p:nvSpPr>
        <p:spPr>
          <a:xfrm>
            <a:off x="923246" y="4006805"/>
            <a:ext cx="3864778" cy="646331"/>
          </a:xfrm>
          <a:prstGeom prst="rect">
            <a:avLst/>
          </a:prstGeom>
        </p:spPr>
        <p:txBody>
          <a:bodyPr wrap="square">
            <a:spAutoFit/>
          </a:bodyPr>
          <a:lstStyle/>
          <a:p>
            <a:pPr lvl="0" eaLnBrk="0" hangingPunct="0">
              <a:spcBef>
                <a:spcPct val="30000"/>
              </a:spcBef>
              <a:defRPr/>
            </a:pPr>
            <a:r>
              <a:rPr lang="en-GB" b="1" dirty="0"/>
              <a:t>Parameters (extract) of ‘Multiplier 1 bit Outputs’ </a:t>
            </a:r>
            <a:endParaRPr lang="es-ES" b="1" dirty="0"/>
          </a:p>
        </p:txBody>
      </p:sp>
      <p:sp>
        <p:nvSpPr>
          <p:cNvPr id="7" name="Rectangle 6">
            <a:extLst>
              <a:ext uri="{FF2B5EF4-FFF2-40B4-BE49-F238E27FC236}">
                <a16:creationId xmlns:a16="http://schemas.microsoft.com/office/drawing/2014/main" id="{E9DF3832-A195-4B19-BC62-701DAD174409}"/>
              </a:ext>
            </a:extLst>
          </p:cNvPr>
          <p:cNvSpPr/>
          <p:nvPr/>
        </p:nvSpPr>
        <p:spPr>
          <a:xfrm>
            <a:off x="4806869" y="3992869"/>
            <a:ext cx="3864778" cy="646331"/>
          </a:xfrm>
          <a:prstGeom prst="rect">
            <a:avLst/>
          </a:prstGeom>
        </p:spPr>
        <p:txBody>
          <a:bodyPr wrap="square">
            <a:spAutoFit/>
          </a:bodyPr>
          <a:lstStyle/>
          <a:p>
            <a:r>
              <a:rPr lang="en-US" b="1" dirty="0"/>
              <a:t>Parameters (extract) of ‘Multiplier 1 byte Outputs’</a:t>
            </a:r>
          </a:p>
        </p:txBody>
      </p:sp>
      <p:pic>
        <p:nvPicPr>
          <p:cNvPr id="8" name="Picture 7">
            <a:extLst>
              <a:ext uri="{FF2B5EF4-FFF2-40B4-BE49-F238E27FC236}">
                <a16:creationId xmlns:a16="http://schemas.microsoft.com/office/drawing/2014/main" id="{D970CAA1-D60E-497F-9C7F-C3702A6143A4}"/>
              </a:ext>
            </a:extLst>
          </p:cNvPr>
          <p:cNvPicPr>
            <a:picLocks noChangeAspect="1"/>
          </p:cNvPicPr>
          <p:nvPr/>
        </p:nvPicPr>
        <p:blipFill>
          <a:blip r:embed="rId5"/>
          <a:stretch>
            <a:fillRect/>
          </a:stretch>
        </p:blipFill>
        <p:spPr>
          <a:xfrm>
            <a:off x="1043607" y="4797420"/>
            <a:ext cx="4698780" cy="1175979"/>
          </a:xfrm>
          <a:prstGeom prst="rect">
            <a:avLst/>
          </a:prstGeom>
          <a:ln>
            <a:solidFill>
              <a:schemeClr val="accent1"/>
            </a:solidFill>
          </a:ln>
        </p:spPr>
      </p:pic>
      <p:sp>
        <p:nvSpPr>
          <p:cNvPr id="9" name="Rectangle 8">
            <a:extLst>
              <a:ext uri="{FF2B5EF4-FFF2-40B4-BE49-F238E27FC236}">
                <a16:creationId xmlns:a16="http://schemas.microsoft.com/office/drawing/2014/main" id="{305CDE20-85CE-435E-A38D-5DEB1BA33333}"/>
              </a:ext>
            </a:extLst>
          </p:cNvPr>
          <p:cNvSpPr/>
          <p:nvPr/>
        </p:nvSpPr>
        <p:spPr>
          <a:xfrm>
            <a:off x="912454" y="6012418"/>
            <a:ext cx="6385647" cy="369332"/>
          </a:xfrm>
          <a:prstGeom prst="rect">
            <a:avLst/>
          </a:prstGeom>
        </p:spPr>
        <p:txBody>
          <a:bodyPr wrap="square">
            <a:spAutoFit/>
          </a:bodyPr>
          <a:lstStyle/>
          <a:p>
            <a:r>
              <a:rPr lang="en-US" b="1" dirty="0"/>
              <a:t>Group objects (extract) of ‘Multiplier (Input/Outputs)’</a:t>
            </a:r>
          </a:p>
        </p:txBody>
      </p:sp>
    </p:spTree>
    <p:extLst>
      <p:ext uri="{BB962C8B-B14F-4D97-AF65-F5344CB8AC3E}">
        <p14:creationId xmlns:p14="http://schemas.microsoft.com/office/powerpoint/2010/main" val="1832718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Toggle Value</a:t>
            </a:r>
            <a:endParaRPr lang="en-GB" dirty="0"/>
          </a:p>
        </p:txBody>
      </p:sp>
      <p:sp>
        <p:nvSpPr>
          <p:cNvPr id="4" name="Rectangle 3">
            <a:extLst>
              <a:ext uri="{FF2B5EF4-FFF2-40B4-BE49-F238E27FC236}">
                <a16:creationId xmlns:a16="http://schemas.microsoft.com/office/drawing/2014/main" id="{DC9D0001-C92A-4E46-B17E-A4E5AA2C3703}"/>
              </a:ext>
            </a:extLst>
          </p:cNvPr>
          <p:cNvSpPr/>
          <p:nvPr/>
        </p:nvSpPr>
        <p:spPr>
          <a:xfrm>
            <a:off x="886858" y="1628800"/>
            <a:ext cx="7717590" cy="958660"/>
          </a:xfrm>
          <a:prstGeom prst="rect">
            <a:avLst/>
          </a:prstGeom>
        </p:spPr>
        <p:txBody>
          <a:bodyPr wrap="square">
            <a:spAutoFit/>
          </a:bodyPr>
          <a:lstStyle/>
          <a:p>
            <a:pPr>
              <a:lnSpc>
                <a:spcPct val="150000"/>
              </a:lnSpc>
            </a:pPr>
            <a:r>
              <a:rPr lang="en-US" sz="2000" b="1" dirty="0"/>
              <a:t>With this function, a preset setpoint value can be sent as a reaction to a 1 bit input telegram</a:t>
            </a:r>
          </a:p>
        </p:txBody>
      </p:sp>
      <p:pic>
        <p:nvPicPr>
          <p:cNvPr id="2" name="Picture 1">
            <a:extLst>
              <a:ext uri="{FF2B5EF4-FFF2-40B4-BE49-F238E27FC236}">
                <a16:creationId xmlns:a16="http://schemas.microsoft.com/office/drawing/2014/main" id="{30C95D01-2DF9-4251-A49A-5B9BA99ED3AB}"/>
              </a:ext>
            </a:extLst>
          </p:cNvPr>
          <p:cNvPicPr>
            <a:picLocks noChangeAspect="1"/>
          </p:cNvPicPr>
          <p:nvPr/>
        </p:nvPicPr>
        <p:blipFill>
          <a:blip r:embed="rId3"/>
          <a:stretch>
            <a:fillRect/>
          </a:stretch>
        </p:blipFill>
        <p:spPr>
          <a:xfrm>
            <a:off x="1169708" y="3202244"/>
            <a:ext cx="6804584" cy="2136593"/>
          </a:xfrm>
          <a:prstGeom prst="rect">
            <a:avLst/>
          </a:prstGeom>
          <a:ln>
            <a:solidFill>
              <a:schemeClr val="accent1"/>
            </a:solidFill>
          </a:ln>
        </p:spPr>
      </p:pic>
    </p:spTree>
    <p:extLst>
      <p:ext uri="{BB962C8B-B14F-4D97-AF65-F5344CB8AC3E}">
        <p14:creationId xmlns:p14="http://schemas.microsoft.com/office/powerpoint/2010/main" val="28980312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Counter</a:t>
            </a:r>
            <a:endParaRPr lang="en-GB" dirty="0"/>
          </a:p>
        </p:txBody>
      </p:sp>
      <p:sp>
        <p:nvSpPr>
          <p:cNvPr id="4" name="Rectangle 3">
            <a:extLst>
              <a:ext uri="{FF2B5EF4-FFF2-40B4-BE49-F238E27FC236}">
                <a16:creationId xmlns:a16="http://schemas.microsoft.com/office/drawing/2014/main" id="{40F623BD-DD69-4974-8D12-4D22094497A9}"/>
              </a:ext>
            </a:extLst>
          </p:cNvPr>
          <p:cNvSpPr/>
          <p:nvPr/>
        </p:nvSpPr>
        <p:spPr>
          <a:xfrm>
            <a:off x="886858" y="1628800"/>
            <a:ext cx="7717590" cy="2712987"/>
          </a:xfrm>
          <a:prstGeom prst="rect">
            <a:avLst/>
          </a:prstGeom>
        </p:spPr>
        <p:txBody>
          <a:bodyPr wrap="square">
            <a:spAutoFit/>
          </a:bodyPr>
          <a:lstStyle/>
          <a:p>
            <a:pPr>
              <a:lnSpc>
                <a:spcPct val="150000"/>
              </a:lnSpc>
            </a:pPr>
            <a:r>
              <a:rPr lang="en-US" sz="2000" b="1" dirty="0"/>
              <a:t>The counter is a telegram counter</a:t>
            </a:r>
          </a:p>
          <a:p>
            <a:pPr>
              <a:lnSpc>
                <a:spcPct val="150000"/>
              </a:lnSpc>
            </a:pPr>
            <a:endParaRPr lang="en-US" sz="800" b="1" dirty="0"/>
          </a:p>
          <a:p>
            <a:pPr>
              <a:lnSpc>
                <a:spcPct val="150000"/>
              </a:lnSpc>
            </a:pPr>
            <a:r>
              <a:rPr lang="en-US" sz="2000" b="1" dirty="0"/>
              <a:t>Group address telegrams from sensors and actuators can thus be counted</a:t>
            </a:r>
          </a:p>
          <a:p>
            <a:pPr>
              <a:lnSpc>
                <a:spcPct val="150000"/>
              </a:lnSpc>
            </a:pPr>
            <a:endParaRPr lang="en-US" sz="800" b="1" dirty="0"/>
          </a:p>
          <a:p>
            <a:pPr>
              <a:lnSpc>
                <a:spcPct val="150000"/>
              </a:lnSpc>
            </a:pPr>
            <a:r>
              <a:rPr lang="en-US" sz="2000" b="1" dirty="0"/>
              <a:t>It can register a telegram max. every 30 </a:t>
            </a:r>
            <a:r>
              <a:rPr lang="en-US" sz="2000" b="1" dirty="0" err="1"/>
              <a:t>ms</a:t>
            </a:r>
            <a:r>
              <a:rPr lang="en-US" sz="2000" b="1" dirty="0"/>
              <a:t> (= 33 Hz)</a:t>
            </a:r>
          </a:p>
          <a:p>
            <a:pPr>
              <a:lnSpc>
                <a:spcPct val="150000"/>
              </a:lnSpc>
            </a:pPr>
            <a:endParaRPr lang="en-US" sz="2000" b="1" dirty="0"/>
          </a:p>
        </p:txBody>
      </p:sp>
      <p:pic>
        <p:nvPicPr>
          <p:cNvPr id="2" name="Picture 1">
            <a:extLst>
              <a:ext uri="{FF2B5EF4-FFF2-40B4-BE49-F238E27FC236}">
                <a16:creationId xmlns:a16="http://schemas.microsoft.com/office/drawing/2014/main" id="{633285B9-94C7-4C5A-9347-8C0A91122F97}"/>
              </a:ext>
            </a:extLst>
          </p:cNvPr>
          <p:cNvPicPr>
            <a:picLocks noChangeAspect="1"/>
          </p:cNvPicPr>
          <p:nvPr/>
        </p:nvPicPr>
        <p:blipFill>
          <a:blip r:embed="rId3"/>
          <a:stretch>
            <a:fillRect/>
          </a:stretch>
        </p:blipFill>
        <p:spPr>
          <a:xfrm>
            <a:off x="1188629" y="4283931"/>
            <a:ext cx="6766741" cy="1890538"/>
          </a:xfrm>
          <a:prstGeom prst="rect">
            <a:avLst/>
          </a:prstGeom>
          <a:ln>
            <a:solidFill>
              <a:schemeClr val="accent1"/>
            </a:solidFill>
          </a:ln>
        </p:spPr>
      </p:pic>
    </p:spTree>
    <p:extLst>
      <p:ext uri="{BB962C8B-B14F-4D97-AF65-F5344CB8AC3E}">
        <p14:creationId xmlns:p14="http://schemas.microsoft.com/office/powerpoint/2010/main" val="3807185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Time delay</a:t>
            </a:r>
            <a:endParaRPr lang="en-GB" dirty="0"/>
          </a:p>
        </p:txBody>
      </p:sp>
      <p:sp>
        <p:nvSpPr>
          <p:cNvPr id="4" name="Rectangle 3">
            <a:extLst>
              <a:ext uri="{FF2B5EF4-FFF2-40B4-BE49-F238E27FC236}">
                <a16:creationId xmlns:a16="http://schemas.microsoft.com/office/drawing/2014/main" id="{A4B4C6B6-D10A-4093-BB2D-4AF70CAAB99A}"/>
              </a:ext>
            </a:extLst>
          </p:cNvPr>
          <p:cNvSpPr/>
          <p:nvPr/>
        </p:nvSpPr>
        <p:spPr>
          <a:xfrm>
            <a:off x="886858" y="1628800"/>
            <a:ext cx="7933614" cy="1881990"/>
          </a:xfrm>
          <a:prstGeom prst="rect">
            <a:avLst/>
          </a:prstGeom>
        </p:spPr>
        <p:txBody>
          <a:bodyPr wrap="square">
            <a:spAutoFit/>
          </a:bodyPr>
          <a:lstStyle/>
          <a:p>
            <a:pPr>
              <a:lnSpc>
                <a:spcPct val="150000"/>
              </a:lnSpc>
            </a:pPr>
            <a:r>
              <a:rPr lang="en-US" sz="2000" b="1" dirty="0"/>
              <a:t>It causes the delay to be started when a telegram arrives at the input and is only passed on once the period has elapsed.</a:t>
            </a:r>
          </a:p>
          <a:p>
            <a:pPr>
              <a:lnSpc>
                <a:spcPct val="150000"/>
              </a:lnSpc>
            </a:pPr>
            <a:r>
              <a:rPr lang="en-US" sz="2000" b="1" dirty="0"/>
              <a:t>If a further telegram with a different value arrives during the delay, this new value is passed on at the end of the delay period</a:t>
            </a:r>
          </a:p>
        </p:txBody>
      </p:sp>
      <p:pic>
        <p:nvPicPr>
          <p:cNvPr id="2" name="Picture 1">
            <a:extLst>
              <a:ext uri="{FF2B5EF4-FFF2-40B4-BE49-F238E27FC236}">
                <a16:creationId xmlns:a16="http://schemas.microsoft.com/office/drawing/2014/main" id="{CF942838-396D-4C62-963C-A03CCCDDBB97}"/>
              </a:ext>
            </a:extLst>
          </p:cNvPr>
          <p:cNvPicPr>
            <a:picLocks noChangeAspect="1"/>
          </p:cNvPicPr>
          <p:nvPr/>
        </p:nvPicPr>
        <p:blipFill>
          <a:blip r:embed="rId3"/>
          <a:stretch>
            <a:fillRect/>
          </a:stretch>
        </p:blipFill>
        <p:spPr>
          <a:xfrm>
            <a:off x="1619672" y="3729973"/>
            <a:ext cx="6162971" cy="2645773"/>
          </a:xfrm>
          <a:prstGeom prst="rect">
            <a:avLst/>
          </a:prstGeom>
          <a:ln>
            <a:solidFill>
              <a:schemeClr val="accent1"/>
            </a:solidFill>
          </a:ln>
        </p:spPr>
      </p:pic>
    </p:spTree>
    <p:extLst>
      <p:ext uri="{BB962C8B-B14F-4D97-AF65-F5344CB8AC3E}">
        <p14:creationId xmlns:p14="http://schemas.microsoft.com/office/powerpoint/2010/main" val="1331737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dirty="0"/>
              <a:t>Extensive Logical Connection of Group Addresses</a:t>
            </a:r>
            <a:endParaRPr lang="en-GB" dirty="0"/>
          </a:p>
        </p:txBody>
      </p:sp>
      <p:pic>
        <p:nvPicPr>
          <p:cNvPr id="4" name="Picture 3">
            <a:extLst>
              <a:ext uri="{FF2B5EF4-FFF2-40B4-BE49-F238E27FC236}">
                <a16:creationId xmlns:a16="http://schemas.microsoft.com/office/drawing/2014/main" id="{37F5AF70-E75D-4A09-ADB0-B0FB59B9D03D}"/>
              </a:ext>
            </a:extLst>
          </p:cNvPr>
          <p:cNvPicPr/>
          <p:nvPr/>
        </p:nvPicPr>
        <p:blipFill>
          <a:blip r:embed="rId3"/>
          <a:stretch>
            <a:fillRect/>
          </a:stretch>
        </p:blipFill>
        <p:spPr>
          <a:xfrm>
            <a:off x="976883" y="1646098"/>
            <a:ext cx="2370981" cy="2358966"/>
          </a:xfrm>
          <a:prstGeom prst="rect">
            <a:avLst/>
          </a:prstGeom>
        </p:spPr>
      </p:pic>
      <p:sp>
        <p:nvSpPr>
          <p:cNvPr id="2" name="Rectangle 1">
            <a:extLst>
              <a:ext uri="{FF2B5EF4-FFF2-40B4-BE49-F238E27FC236}">
                <a16:creationId xmlns:a16="http://schemas.microsoft.com/office/drawing/2014/main" id="{F4BF97A6-B105-47E6-A298-51B74E39A0ED}"/>
              </a:ext>
            </a:extLst>
          </p:cNvPr>
          <p:cNvSpPr/>
          <p:nvPr/>
        </p:nvSpPr>
        <p:spPr>
          <a:xfrm>
            <a:off x="3519165" y="1565364"/>
            <a:ext cx="4680520" cy="1015663"/>
          </a:xfrm>
          <a:prstGeom prst="rect">
            <a:avLst/>
          </a:prstGeom>
        </p:spPr>
        <p:txBody>
          <a:bodyPr wrap="square">
            <a:spAutoFit/>
          </a:bodyPr>
          <a:lstStyle/>
          <a:p>
            <a:r>
              <a:rPr lang="en-US" sz="2000" b="1" dirty="0"/>
              <a:t>If several logic operations are required, the use of application units is recommended</a:t>
            </a:r>
          </a:p>
        </p:txBody>
      </p:sp>
      <p:sp>
        <p:nvSpPr>
          <p:cNvPr id="5" name="Rectangle 4">
            <a:extLst>
              <a:ext uri="{FF2B5EF4-FFF2-40B4-BE49-F238E27FC236}">
                <a16:creationId xmlns:a16="http://schemas.microsoft.com/office/drawing/2014/main" id="{01A67FF2-1350-4D87-95AD-BEC7DA154365}"/>
              </a:ext>
            </a:extLst>
          </p:cNvPr>
          <p:cNvSpPr/>
          <p:nvPr/>
        </p:nvSpPr>
        <p:spPr>
          <a:xfrm>
            <a:off x="976883" y="4797152"/>
            <a:ext cx="2807891" cy="1323439"/>
          </a:xfrm>
          <a:prstGeom prst="rect">
            <a:avLst/>
          </a:prstGeom>
        </p:spPr>
        <p:txBody>
          <a:bodyPr wrap="square">
            <a:spAutoFit/>
          </a:bodyPr>
          <a:lstStyle/>
          <a:p>
            <a:r>
              <a:rPr lang="en-US" sz="2000" b="1" dirty="0"/>
              <a:t>The assignment of parameters is carried out in a graphical logic diagram</a:t>
            </a:r>
          </a:p>
        </p:txBody>
      </p:sp>
      <p:graphicFrame>
        <p:nvGraphicFramePr>
          <p:cNvPr id="6" name="Object 5">
            <a:extLst>
              <a:ext uri="{FF2B5EF4-FFF2-40B4-BE49-F238E27FC236}">
                <a16:creationId xmlns:a16="http://schemas.microsoft.com/office/drawing/2014/main" id="{B48A1C51-611A-4D63-9086-D9899FEA2CEF}"/>
              </a:ext>
            </a:extLst>
          </p:cNvPr>
          <p:cNvGraphicFramePr>
            <a:graphicFrameLocks noChangeAspect="1"/>
          </p:cNvGraphicFramePr>
          <p:nvPr/>
        </p:nvGraphicFramePr>
        <p:xfrm>
          <a:off x="3784774" y="2933077"/>
          <a:ext cx="4854853" cy="3448251"/>
        </p:xfrm>
        <a:graphic>
          <a:graphicData uri="http://schemas.openxmlformats.org/presentationml/2006/ole">
            <mc:AlternateContent xmlns:mc="http://schemas.openxmlformats.org/markup-compatibility/2006">
              <mc:Choice xmlns:v="urn:schemas-microsoft-com:vml" Requires="v">
                <p:oleObj r:id="rId4" imgW="9037416" imgH="6905725" progId="Visio.Drawing.15">
                  <p:embed/>
                </p:oleObj>
              </mc:Choice>
              <mc:Fallback>
                <p:oleObj r:id="rId4" imgW="9037416" imgH="6905725" progId="Visio.Drawing.15">
                  <p:embed/>
                  <p:pic>
                    <p:nvPicPr>
                      <p:cNvPr id="6" name="Object 5">
                        <a:extLst>
                          <a:ext uri="{FF2B5EF4-FFF2-40B4-BE49-F238E27FC236}">
                            <a16:creationId xmlns:a16="http://schemas.microsoft.com/office/drawing/2014/main" id="{B48A1C51-611A-4D63-9086-D9899FEA2C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4774" y="2933077"/>
                        <a:ext cx="4854853" cy="3448251"/>
                      </a:xfrm>
                      <a:prstGeom prst="rect">
                        <a:avLst/>
                      </a:prstGeom>
                      <a:noFill/>
                    </p:spPr>
                  </p:pic>
                </p:oleObj>
              </mc:Fallback>
            </mc:AlternateContent>
          </a:graphicData>
        </a:graphic>
      </p:graphicFrame>
    </p:spTree>
    <p:extLst>
      <p:ext uri="{BB962C8B-B14F-4D97-AF65-F5344CB8AC3E}">
        <p14:creationId xmlns:p14="http://schemas.microsoft.com/office/powerpoint/2010/main" val="2613481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1194144-824C-4621-8BEC-57AF7F49FA00}"/>
              </a:ext>
            </a:extLst>
          </p:cNvPr>
          <p:cNvSpPr/>
          <p:nvPr/>
        </p:nvSpPr>
        <p:spPr>
          <a:xfrm>
            <a:off x="1115616" y="2924944"/>
            <a:ext cx="7632848" cy="1368152"/>
          </a:xfrm>
          <a:prstGeom prst="rect">
            <a:avLst/>
          </a:prstGeom>
        </p:spPr>
        <p:txBody>
          <a:bodyPr/>
          <a:lstStyle/>
          <a:p>
            <a:pPr eaLnBrk="0" hangingPunct="0">
              <a:spcBef>
                <a:spcPct val="20000"/>
              </a:spcBef>
              <a:buClr>
                <a:srgbClr val="369226"/>
              </a:buClr>
              <a:buFont typeface="Wingdings" pitchFamily="2" charset="2"/>
            </a:pPr>
            <a:r>
              <a:rPr lang="en-GB" sz="2800" b="1" dirty="0">
                <a:solidFill>
                  <a:srgbClr val="0C4B9D"/>
                </a:solidFill>
                <a:latin typeface="+mj-lt"/>
                <a:ea typeface="+mj-ea"/>
                <a:cs typeface="+mj-cs"/>
              </a:rPr>
              <a:t>Tasks: Linking Actuator Objects</a:t>
            </a:r>
          </a:p>
        </p:txBody>
      </p:sp>
      <p:sp>
        <p:nvSpPr>
          <p:cNvPr id="8" name="Rectangle 7">
            <a:extLst>
              <a:ext uri="{FF2B5EF4-FFF2-40B4-BE49-F238E27FC236}">
                <a16:creationId xmlns:a16="http://schemas.microsoft.com/office/drawing/2014/main" id="{1B2B9F35-0ACE-4DCA-A90A-08EB1B66BE6B}"/>
              </a:ext>
            </a:extLst>
          </p:cNvPr>
          <p:cNvSpPr/>
          <p:nvPr/>
        </p:nvSpPr>
        <p:spPr>
          <a:xfrm>
            <a:off x="1115616" y="3502749"/>
            <a:ext cx="5598368" cy="646331"/>
          </a:xfrm>
          <a:prstGeom prst="rect">
            <a:avLst/>
          </a:prstGeom>
        </p:spPr>
        <p:txBody>
          <a:bodyPr wrap="square">
            <a:spAutoFit/>
          </a:bodyPr>
          <a:lstStyle/>
          <a:p>
            <a:r>
              <a:rPr lang="en-US" b="1" dirty="0"/>
              <a:t>The tasks can be adapted accordingly dependent on the available KNX components.</a:t>
            </a:r>
          </a:p>
        </p:txBody>
      </p:sp>
    </p:spTree>
    <p:extLst>
      <p:ext uri="{BB962C8B-B14F-4D97-AF65-F5344CB8AC3E}">
        <p14:creationId xmlns:p14="http://schemas.microsoft.com/office/powerpoint/2010/main" val="30581399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dirty="0"/>
              <a:t>OR function without time delay or with ON and OFF delay</a:t>
            </a:r>
            <a:endParaRPr lang="en-GB" dirty="0"/>
          </a:p>
        </p:txBody>
      </p:sp>
      <p:sp>
        <p:nvSpPr>
          <p:cNvPr id="2" name="Rectangle 1">
            <a:extLst>
              <a:ext uri="{FF2B5EF4-FFF2-40B4-BE49-F238E27FC236}">
                <a16:creationId xmlns:a16="http://schemas.microsoft.com/office/drawing/2014/main" id="{D8A6A5D3-C56D-45FF-9907-E9103D93C6AD}"/>
              </a:ext>
            </a:extLst>
          </p:cNvPr>
          <p:cNvSpPr/>
          <p:nvPr/>
        </p:nvSpPr>
        <p:spPr>
          <a:xfrm>
            <a:off x="900113" y="1720840"/>
            <a:ext cx="7560319" cy="4559646"/>
          </a:xfrm>
          <a:prstGeom prst="rect">
            <a:avLst/>
          </a:prstGeom>
        </p:spPr>
        <p:txBody>
          <a:bodyPr wrap="square">
            <a:spAutoFit/>
          </a:bodyPr>
          <a:lstStyle/>
          <a:p>
            <a:pPr>
              <a:lnSpc>
                <a:spcPct val="150000"/>
              </a:lnSpc>
            </a:pPr>
            <a:r>
              <a:rPr lang="en-US" sz="2000" b="1" dirty="0"/>
              <a:t>Configure an x-fold switch actuator and activate the OR function in the parameters of channel x. Send the required group addresses to the switch or logic object with a switch sensor</a:t>
            </a:r>
          </a:p>
          <a:p>
            <a:pPr>
              <a:lnSpc>
                <a:spcPct val="150000"/>
              </a:lnSpc>
            </a:pPr>
            <a:endParaRPr lang="en-US" sz="800" b="1" dirty="0"/>
          </a:p>
          <a:p>
            <a:pPr>
              <a:lnSpc>
                <a:spcPct val="150000"/>
              </a:lnSpc>
            </a:pPr>
            <a:r>
              <a:rPr lang="en-US" sz="2000" b="1" dirty="0"/>
              <a:t>Test the function of the following processes: </a:t>
            </a:r>
          </a:p>
          <a:p>
            <a:pPr marL="342900" indent="-342900">
              <a:lnSpc>
                <a:spcPct val="150000"/>
              </a:lnSpc>
              <a:buFont typeface="Wingdings" panose="05000000000000000000" pitchFamily="2" charset="2"/>
              <a:buChar char="§"/>
            </a:pPr>
            <a:r>
              <a:rPr lang="en-US" sz="2000" b="1" dirty="0"/>
              <a:t>OR function without delay</a:t>
            </a:r>
          </a:p>
          <a:p>
            <a:pPr marL="342900" indent="-342900">
              <a:lnSpc>
                <a:spcPct val="150000"/>
              </a:lnSpc>
              <a:buFont typeface="Wingdings" panose="05000000000000000000" pitchFamily="2" charset="2"/>
              <a:buChar char="§"/>
            </a:pPr>
            <a:r>
              <a:rPr lang="en-US" sz="2000" b="1" dirty="0"/>
              <a:t>OR function with ON and/or OFF delay </a:t>
            </a:r>
          </a:p>
          <a:p>
            <a:pPr>
              <a:lnSpc>
                <a:spcPct val="150000"/>
              </a:lnSpc>
            </a:pPr>
            <a:endParaRPr lang="en-US" sz="800" b="1" dirty="0"/>
          </a:p>
          <a:p>
            <a:pPr>
              <a:lnSpc>
                <a:spcPct val="150000"/>
              </a:lnSpc>
            </a:pPr>
            <a:r>
              <a:rPr lang="en-GB" sz="2000" b="1" dirty="0"/>
              <a:t>Familiarise</a:t>
            </a:r>
            <a:r>
              <a:rPr lang="en-US" sz="2000" b="1" dirty="0"/>
              <a:t> yourself with the flow diagrams in the chapter on the OR function (case 1 and case 2).</a:t>
            </a:r>
          </a:p>
        </p:txBody>
      </p:sp>
    </p:spTree>
    <p:extLst>
      <p:ext uri="{BB962C8B-B14F-4D97-AF65-F5344CB8AC3E}">
        <p14:creationId xmlns:p14="http://schemas.microsoft.com/office/powerpoint/2010/main" val="3174906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dirty="0"/>
              <a:t>Automatic Room Air Conditioning with Enabling (AND function)</a:t>
            </a:r>
            <a:endParaRPr lang="en-GB" dirty="0"/>
          </a:p>
        </p:txBody>
      </p:sp>
      <p:sp>
        <p:nvSpPr>
          <p:cNvPr id="5" name="Rectangle 4">
            <a:extLst>
              <a:ext uri="{FF2B5EF4-FFF2-40B4-BE49-F238E27FC236}">
                <a16:creationId xmlns:a16="http://schemas.microsoft.com/office/drawing/2014/main" id="{3076B293-B44C-4C74-91AE-1E6F9FBB1A05}"/>
              </a:ext>
            </a:extLst>
          </p:cNvPr>
          <p:cNvSpPr/>
          <p:nvPr/>
        </p:nvSpPr>
        <p:spPr>
          <a:xfrm>
            <a:off x="943075" y="1484784"/>
            <a:ext cx="7661373" cy="4678204"/>
          </a:xfrm>
          <a:prstGeom prst="rect">
            <a:avLst/>
          </a:prstGeom>
        </p:spPr>
        <p:txBody>
          <a:bodyPr wrap="square">
            <a:spAutoFit/>
          </a:bodyPr>
          <a:lstStyle/>
          <a:p>
            <a:r>
              <a:rPr lang="en-US" sz="2800" b="1" dirty="0">
                <a:solidFill>
                  <a:srgbClr val="369226"/>
                </a:solidFill>
              </a:rPr>
              <a:t>STEP 1</a:t>
            </a:r>
          </a:p>
          <a:p>
            <a:endParaRPr lang="en-US" b="1" dirty="0"/>
          </a:p>
          <a:p>
            <a:r>
              <a:rPr lang="en-US" b="1" dirty="0"/>
              <a:t>Assign a switch sensor the task of switching a room air conditioner via a switch actuator. The room contains a room thermostat with two-step control and bus capability. Alternatively, a conventional room thermostat can be given bus capability via a binary input</a:t>
            </a:r>
          </a:p>
          <a:p>
            <a:endParaRPr lang="en-US" b="1" dirty="0"/>
          </a:p>
          <a:p>
            <a:r>
              <a:rPr lang="en-US" b="1" dirty="0"/>
              <a:t>Assign the parameters so that the thermostat regulates the room temperature via the switch object and the switch sensor enables or disables the closed-loop control via the logic object (AND function)</a:t>
            </a:r>
          </a:p>
          <a:p>
            <a:endParaRPr lang="en-US" b="1" dirty="0"/>
          </a:p>
          <a:p>
            <a:r>
              <a:rPr lang="en-US" b="1" dirty="0"/>
              <a:t>Create the necessary group addresses as main and middle groups.</a:t>
            </a:r>
          </a:p>
          <a:p>
            <a:r>
              <a:rPr lang="en-US" b="1" dirty="0"/>
              <a:t>Create the required subgroups, e.g. </a:t>
            </a:r>
          </a:p>
          <a:p>
            <a:r>
              <a:rPr lang="en-US" b="1" dirty="0"/>
              <a:t>	35 = Thermostat for cooling room xx</a:t>
            </a:r>
          </a:p>
          <a:p>
            <a:r>
              <a:rPr lang="en-US" b="1" dirty="0"/>
              <a:t>	36 = Switch sensor for cooling room xx</a:t>
            </a:r>
          </a:p>
          <a:p>
            <a:r>
              <a:rPr lang="en-US" b="1" dirty="0"/>
              <a:t>and link these addresses with the relevant objects</a:t>
            </a:r>
          </a:p>
        </p:txBody>
      </p:sp>
    </p:spTree>
    <p:extLst>
      <p:ext uri="{BB962C8B-B14F-4D97-AF65-F5344CB8AC3E}">
        <p14:creationId xmlns:p14="http://schemas.microsoft.com/office/powerpoint/2010/main" val="30129662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dirty="0"/>
              <a:t>Automatic Room Air Conditioning with Enabling (AND function)</a:t>
            </a:r>
            <a:endParaRPr lang="en-GB" dirty="0"/>
          </a:p>
        </p:txBody>
      </p:sp>
      <p:sp>
        <p:nvSpPr>
          <p:cNvPr id="5" name="Rectangle 4">
            <a:extLst>
              <a:ext uri="{FF2B5EF4-FFF2-40B4-BE49-F238E27FC236}">
                <a16:creationId xmlns:a16="http://schemas.microsoft.com/office/drawing/2014/main" id="{3076B293-B44C-4C74-91AE-1E6F9FBB1A05}"/>
              </a:ext>
            </a:extLst>
          </p:cNvPr>
          <p:cNvSpPr/>
          <p:nvPr/>
        </p:nvSpPr>
        <p:spPr>
          <a:xfrm>
            <a:off x="943075" y="1484784"/>
            <a:ext cx="7661373" cy="5232202"/>
          </a:xfrm>
          <a:prstGeom prst="rect">
            <a:avLst/>
          </a:prstGeom>
        </p:spPr>
        <p:txBody>
          <a:bodyPr wrap="square">
            <a:spAutoFit/>
          </a:bodyPr>
          <a:lstStyle/>
          <a:p>
            <a:r>
              <a:rPr lang="en-US" sz="2800" b="1" dirty="0">
                <a:solidFill>
                  <a:srgbClr val="369226"/>
                </a:solidFill>
              </a:rPr>
              <a:t>STEP 2</a:t>
            </a:r>
          </a:p>
          <a:p>
            <a:endParaRPr lang="en-US" b="1" dirty="0"/>
          </a:p>
          <a:p>
            <a:r>
              <a:rPr lang="en-US" b="1" dirty="0"/>
              <a:t>Transfer the modified information into the devices and test the function</a:t>
            </a:r>
          </a:p>
          <a:p>
            <a:endParaRPr lang="en-US" b="1" dirty="0"/>
          </a:p>
          <a:p>
            <a:r>
              <a:rPr lang="en-US" b="1" dirty="0"/>
              <a:t>Configure a Central OFF function and extend this to the devices for air conditioning</a:t>
            </a:r>
          </a:p>
          <a:p>
            <a:endParaRPr lang="en-US" b="1" dirty="0"/>
          </a:p>
          <a:p>
            <a:r>
              <a:rPr lang="en-US" b="1" dirty="0"/>
              <a:t>Link the Central OFF group address with the switch object and test the function</a:t>
            </a:r>
          </a:p>
          <a:p>
            <a:endParaRPr lang="en-US" b="1" dirty="0"/>
          </a:p>
          <a:p>
            <a:r>
              <a:rPr lang="en-US" b="1" dirty="0"/>
              <a:t>Link the Central OFF group address with the logic object and test the function</a:t>
            </a:r>
          </a:p>
          <a:p>
            <a:endParaRPr lang="en-US" b="1" dirty="0"/>
          </a:p>
          <a:p>
            <a:r>
              <a:rPr lang="en-US" b="1" dirty="0">
                <a:solidFill>
                  <a:srgbClr val="369226"/>
                </a:solidFill>
              </a:rPr>
              <a:t>Summary: </a:t>
            </a:r>
            <a:r>
              <a:rPr lang="en-US" b="1" dirty="0"/>
              <a:t>If group addresses with the value ‘1’ which have been generated by physical processes are not permitted to be reset by a central ‘OFF’ command, the group address is sent cyclically</a:t>
            </a:r>
          </a:p>
          <a:p>
            <a:r>
              <a:rPr lang="en-US" b="1" dirty="0"/>
              <a:t> </a:t>
            </a:r>
          </a:p>
        </p:txBody>
      </p:sp>
    </p:spTree>
    <p:extLst>
      <p:ext uri="{BB962C8B-B14F-4D97-AF65-F5344CB8AC3E}">
        <p14:creationId xmlns:p14="http://schemas.microsoft.com/office/powerpoint/2010/main" val="578036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dirty="0"/>
              <a:t>AND Function without time delay and with ON/OFF Delay</a:t>
            </a:r>
            <a:endParaRPr lang="en-GB" dirty="0"/>
          </a:p>
        </p:txBody>
      </p:sp>
      <p:sp>
        <p:nvSpPr>
          <p:cNvPr id="4" name="Rectangle 3">
            <a:extLst>
              <a:ext uri="{FF2B5EF4-FFF2-40B4-BE49-F238E27FC236}">
                <a16:creationId xmlns:a16="http://schemas.microsoft.com/office/drawing/2014/main" id="{5641AB53-82BD-49FE-837C-4587D460F7E4}"/>
              </a:ext>
            </a:extLst>
          </p:cNvPr>
          <p:cNvSpPr/>
          <p:nvPr/>
        </p:nvSpPr>
        <p:spPr>
          <a:xfrm>
            <a:off x="900113" y="1720840"/>
            <a:ext cx="7560319" cy="3170099"/>
          </a:xfrm>
          <a:prstGeom prst="rect">
            <a:avLst/>
          </a:prstGeom>
        </p:spPr>
        <p:txBody>
          <a:bodyPr wrap="square">
            <a:spAutoFit/>
          </a:bodyPr>
          <a:lstStyle/>
          <a:p>
            <a:r>
              <a:rPr lang="en-US" sz="2000" b="1" dirty="0"/>
              <a:t>Configure a 4-fold switch actuator and activate the AND function in the parameters of the channel</a:t>
            </a:r>
          </a:p>
          <a:p>
            <a:endParaRPr lang="en-US" sz="2000" b="1" dirty="0"/>
          </a:p>
          <a:p>
            <a:r>
              <a:rPr lang="en-US" sz="2000" b="1" dirty="0"/>
              <a:t>Test the function of the following sequences:</a:t>
            </a:r>
          </a:p>
          <a:p>
            <a:pPr marL="342900" indent="-342900">
              <a:buFont typeface="Wingdings" panose="05000000000000000000" pitchFamily="2" charset="2"/>
              <a:buChar char="§"/>
            </a:pPr>
            <a:r>
              <a:rPr lang="en-US" sz="2000" b="1" dirty="0"/>
              <a:t>AND function without delay</a:t>
            </a:r>
          </a:p>
          <a:p>
            <a:pPr marL="342900" indent="-342900">
              <a:buFont typeface="Wingdings" panose="05000000000000000000" pitchFamily="2" charset="2"/>
              <a:buChar char="§"/>
            </a:pPr>
            <a:r>
              <a:rPr lang="en-US" sz="2000" b="1" dirty="0"/>
              <a:t>AND function with ON delay</a:t>
            </a:r>
          </a:p>
          <a:p>
            <a:pPr marL="342900" indent="-342900">
              <a:buFont typeface="Wingdings" panose="05000000000000000000" pitchFamily="2" charset="2"/>
              <a:buChar char="§"/>
            </a:pPr>
            <a:r>
              <a:rPr lang="en-US" sz="2000" b="1" dirty="0"/>
              <a:t>AND function with ON and OFF delay</a:t>
            </a:r>
          </a:p>
          <a:p>
            <a:endParaRPr lang="en-US" sz="2000" b="1" dirty="0"/>
          </a:p>
          <a:p>
            <a:r>
              <a:rPr lang="en-GB" sz="2000" b="1" dirty="0"/>
              <a:t>Familiarise</a:t>
            </a:r>
            <a:r>
              <a:rPr lang="en-US" sz="2000" b="1" dirty="0"/>
              <a:t> yourself with the flow diagrams in the section describing the AND function (Case 1, Case 2, Case 3)</a:t>
            </a:r>
          </a:p>
        </p:txBody>
      </p:sp>
    </p:spTree>
    <p:extLst>
      <p:ext uri="{BB962C8B-B14F-4D97-AF65-F5344CB8AC3E}">
        <p14:creationId xmlns:p14="http://schemas.microsoft.com/office/powerpoint/2010/main" val="4091236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dirty="0"/>
              <a:t>Linking Group Addresses (1) – “Extended Logic”</a:t>
            </a:r>
            <a:endParaRPr lang="en-GB" dirty="0"/>
          </a:p>
        </p:txBody>
      </p:sp>
      <p:sp>
        <p:nvSpPr>
          <p:cNvPr id="4" name="Rectangle 3">
            <a:extLst>
              <a:ext uri="{FF2B5EF4-FFF2-40B4-BE49-F238E27FC236}">
                <a16:creationId xmlns:a16="http://schemas.microsoft.com/office/drawing/2014/main" id="{19976AEC-BF71-43F4-A513-BEF006A49B2E}"/>
              </a:ext>
            </a:extLst>
          </p:cNvPr>
          <p:cNvSpPr/>
          <p:nvPr/>
        </p:nvSpPr>
        <p:spPr>
          <a:xfrm>
            <a:off x="900113" y="1659572"/>
            <a:ext cx="7704335" cy="3416320"/>
          </a:xfrm>
          <a:prstGeom prst="rect">
            <a:avLst/>
          </a:prstGeom>
        </p:spPr>
        <p:txBody>
          <a:bodyPr wrap="square">
            <a:spAutoFit/>
          </a:bodyPr>
          <a:lstStyle/>
          <a:p>
            <a:r>
              <a:rPr lang="en-US" b="1" dirty="0"/>
              <a:t>The KNX system is used in a school building for signal and monitoring functions. The following additions should increase the security of the building:</a:t>
            </a:r>
          </a:p>
          <a:p>
            <a:pPr marL="342900" indent="-342900">
              <a:buFont typeface="Wingdings" panose="05000000000000000000" pitchFamily="2" charset="2"/>
              <a:buChar char="§"/>
            </a:pPr>
            <a:r>
              <a:rPr lang="en-US" b="1" dirty="0"/>
              <a:t>The message ‘Window open’ should be extended into an alarm signal (protection against danger) at a particular time of day and routed to the technical supervisor (caretaker)</a:t>
            </a:r>
          </a:p>
          <a:p>
            <a:endParaRPr lang="en-US" b="1" dirty="0"/>
          </a:p>
          <a:p>
            <a:r>
              <a:rPr lang="en-US" b="1" dirty="0"/>
              <a:t>The group address for the message ‘Window open’ is e.g. linked in a logic module as an input address to a second group address for ‘Alarm duration’ using an AND function to form a new output group address ‘ALARM – Window open’</a:t>
            </a:r>
          </a:p>
          <a:p>
            <a:endParaRPr lang="en-US" b="1" dirty="0"/>
          </a:p>
        </p:txBody>
      </p:sp>
      <p:pic>
        <p:nvPicPr>
          <p:cNvPr id="5" name="Picture 4">
            <a:extLst>
              <a:ext uri="{FF2B5EF4-FFF2-40B4-BE49-F238E27FC236}">
                <a16:creationId xmlns:a16="http://schemas.microsoft.com/office/drawing/2014/main" id="{0E4C222F-9DB4-4118-AD27-06280C16EFCD}"/>
              </a:ext>
            </a:extLst>
          </p:cNvPr>
          <p:cNvPicPr>
            <a:picLocks noChangeAspect="1"/>
          </p:cNvPicPr>
          <p:nvPr/>
        </p:nvPicPr>
        <p:blipFill>
          <a:blip r:embed="rId3"/>
          <a:stretch>
            <a:fillRect/>
          </a:stretch>
        </p:blipFill>
        <p:spPr>
          <a:xfrm>
            <a:off x="936104" y="5326350"/>
            <a:ext cx="7596336" cy="982970"/>
          </a:xfrm>
          <a:prstGeom prst="rect">
            <a:avLst/>
          </a:prstGeom>
        </p:spPr>
      </p:pic>
    </p:spTree>
    <p:extLst>
      <p:ext uri="{BB962C8B-B14F-4D97-AF65-F5344CB8AC3E}">
        <p14:creationId xmlns:p14="http://schemas.microsoft.com/office/powerpoint/2010/main" val="2731320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Graphical Project Design </a:t>
            </a:r>
            <a:endParaRPr lang="en-GB" dirty="0"/>
          </a:p>
        </p:txBody>
      </p:sp>
      <p:sp>
        <p:nvSpPr>
          <p:cNvPr id="4" name="Rectangle 3">
            <a:extLst>
              <a:ext uri="{FF2B5EF4-FFF2-40B4-BE49-F238E27FC236}">
                <a16:creationId xmlns:a16="http://schemas.microsoft.com/office/drawing/2014/main" id="{101EF0D2-2956-4EB3-A984-2FC03AE2CC1A}"/>
              </a:ext>
            </a:extLst>
          </p:cNvPr>
          <p:cNvSpPr/>
          <p:nvPr/>
        </p:nvSpPr>
        <p:spPr>
          <a:xfrm>
            <a:off x="900113" y="1556792"/>
            <a:ext cx="7920359" cy="4247317"/>
          </a:xfrm>
          <a:prstGeom prst="rect">
            <a:avLst/>
          </a:prstGeom>
        </p:spPr>
        <p:txBody>
          <a:bodyPr wrap="square">
            <a:spAutoFit/>
          </a:bodyPr>
          <a:lstStyle/>
          <a:p>
            <a:r>
              <a:rPr lang="en-US" b="1" dirty="0"/>
              <a:t>A classroom should be heated during lessons if the temperature controller sends the signal ‘Heating ON’, both windows in the room are closed and the classroom is occupied. Lesson time is </a:t>
            </a:r>
            <a:r>
              <a:rPr lang="en-US" b="1" dirty="0" err="1"/>
              <a:t>signalled</a:t>
            </a:r>
            <a:r>
              <a:rPr lang="en-US" b="1" dirty="0"/>
              <a:t> with a binary input (or time switch), each of the two windows is monitored with a window contact and the use of the classroom is recorded with a motion detector. None of the sensors operate with inverted logic</a:t>
            </a:r>
          </a:p>
          <a:p>
            <a:endParaRPr lang="en-US" b="1" dirty="0"/>
          </a:p>
          <a:p>
            <a:pPr marL="342900" indent="-342900">
              <a:buFont typeface="Wingdings" panose="05000000000000000000" pitchFamily="2" charset="2"/>
              <a:buChar char="§"/>
            </a:pPr>
            <a:r>
              <a:rPr lang="en-US" b="1" dirty="0"/>
              <a:t>Number of used inputs: 5</a:t>
            </a:r>
          </a:p>
          <a:p>
            <a:pPr marL="800100" lvl="1" indent="-342900">
              <a:buFont typeface="Wingdings" panose="05000000000000000000" pitchFamily="2" charset="2"/>
              <a:buChar char="§"/>
            </a:pPr>
            <a:r>
              <a:rPr lang="en-US" b="1" dirty="0"/>
              <a:t>Input 1: Heating ON </a:t>
            </a:r>
          </a:p>
          <a:p>
            <a:pPr marL="800100" lvl="1" indent="-342900">
              <a:buFont typeface="Wingdings" panose="05000000000000000000" pitchFamily="2" charset="2"/>
              <a:buChar char="§"/>
            </a:pPr>
            <a:r>
              <a:rPr lang="en-US" b="1" dirty="0"/>
              <a:t>Input 2: Time switch</a:t>
            </a:r>
          </a:p>
          <a:p>
            <a:pPr marL="800100" lvl="1" indent="-342900">
              <a:buFont typeface="Wingdings" panose="05000000000000000000" pitchFamily="2" charset="2"/>
              <a:buChar char="§"/>
            </a:pPr>
            <a:r>
              <a:rPr lang="en-US" b="1" dirty="0"/>
              <a:t>Inputs 3 and 4: Window contacts</a:t>
            </a:r>
          </a:p>
          <a:p>
            <a:pPr marL="800100" lvl="1" indent="-342900">
              <a:buFont typeface="Wingdings" panose="05000000000000000000" pitchFamily="2" charset="2"/>
              <a:buChar char="§"/>
            </a:pPr>
            <a:r>
              <a:rPr lang="en-US" b="1" dirty="0"/>
              <a:t>Input 5: Motion detector</a:t>
            </a:r>
          </a:p>
          <a:p>
            <a:pPr marL="342900" indent="-342900">
              <a:buFont typeface="Wingdings" panose="05000000000000000000" pitchFamily="2" charset="2"/>
              <a:buChar char="§"/>
            </a:pPr>
            <a:r>
              <a:rPr lang="en-US" b="1" dirty="0"/>
              <a:t>Logic gate</a:t>
            </a:r>
          </a:p>
          <a:p>
            <a:r>
              <a:rPr lang="en-US" b="1" dirty="0"/>
              <a:t>The group address of the output controls the heating actuator.</a:t>
            </a:r>
          </a:p>
          <a:p>
            <a:r>
              <a:rPr lang="en-US" b="1" dirty="0"/>
              <a:t>Test the function.</a:t>
            </a:r>
          </a:p>
        </p:txBody>
      </p:sp>
    </p:spTree>
    <p:extLst>
      <p:ext uri="{BB962C8B-B14F-4D97-AF65-F5344CB8AC3E}">
        <p14:creationId xmlns:p14="http://schemas.microsoft.com/office/powerpoint/2010/main" val="8083445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13C572-4CE7-475F-A363-1D1B01086777}"/>
              </a:ext>
            </a:extLst>
          </p:cNvPr>
          <p:cNvSpPr/>
          <p:nvPr/>
        </p:nvSpPr>
        <p:spPr>
          <a:xfrm>
            <a:off x="1115616" y="2924944"/>
            <a:ext cx="7632848" cy="1368152"/>
          </a:xfrm>
          <a:prstGeom prst="rect">
            <a:avLst/>
          </a:prstGeom>
        </p:spPr>
        <p:txBody>
          <a:bodyPr/>
          <a:lstStyle/>
          <a:p>
            <a:pPr eaLnBrk="0" hangingPunct="0">
              <a:spcBef>
                <a:spcPct val="20000"/>
              </a:spcBef>
              <a:buClr>
                <a:srgbClr val="369226"/>
              </a:buClr>
              <a:buFont typeface="Wingdings" pitchFamily="2" charset="2"/>
            </a:pPr>
            <a:r>
              <a:rPr lang="en-GB" sz="2800" b="1" dirty="0">
                <a:solidFill>
                  <a:srgbClr val="0C4B9D"/>
                </a:solidFill>
                <a:latin typeface="+mj-lt"/>
                <a:ea typeface="+mj-ea"/>
                <a:cs typeface="+mj-cs"/>
              </a:rPr>
              <a:t>Supplementary</a:t>
            </a:r>
            <a:r>
              <a:rPr lang="de-DE" sz="2800" b="1" dirty="0">
                <a:solidFill>
                  <a:srgbClr val="0C4B9D"/>
                </a:solidFill>
                <a:latin typeface="+mj-lt"/>
                <a:ea typeface="+mj-ea"/>
                <a:cs typeface="+mj-cs"/>
              </a:rPr>
              <a:t> Information / Informative Appendix</a:t>
            </a:r>
            <a:endParaRPr lang="es-ES" sz="2800" b="1" dirty="0">
              <a:solidFill>
                <a:srgbClr val="0C4B9D"/>
              </a:solidFill>
              <a:latin typeface="+mj-lt"/>
              <a:ea typeface="+mj-ea"/>
              <a:cs typeface="+mj-cs"/>
            </a:endParaRPr>
          </a:p>
        </p:txBody>
      </p:sp>
    </p:spTree>
    <p:extLst>
      <p:ext uri="{BB962C8B-B14F-4D97-AF65-F5344CB8AC3E}">
        <p14:creationId xmlns:p14="http://schemas.microsoft.com/office/powerpoint/2010/main" val="13820765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dirty="0"/>
              <a:t>AND Function (Conjunction) and </a:t>
            </a:r>
            <a:r>
              <a:rPr lang="en-US" dirty="0" err="1"/>
              <a:t>AND</a:t>
            </a:r>
            <a:r>
              <a:rPr lang="en-US" dirty="0"/>
              <a:t> Element (AND)</a:t>
            </a:r>
            <a:endParaRPr lang="en-GB" dirty="0"/>
          </a:p>
        </p:txBody>
      </p:sp>
      <p:graphicFrame>
        <p:nvGraphicFramePr>
          <p:cNvPr id="4" name="Object 3">
            <a:extLst>
              <a:ext uri="{FF2B5EF4-FFF2-40B4-BE49-F238E27FC236}">
                <a16:creationId xmlns:a16="http://schemas.microsoft.com/office/drawing/2014/main" id="{7C7B905B-50D3-4DDF-97D8-D1C2425ED123}"/>
              </a:ext>
            </a:extLst>
          </p:cNvPr>
          <p:cNvGraphicFramePr>
            <a:graphicFrameLocks noChangeAspect="1"/>
          </p:cNvGraphicFramePr>
          <p:nvPr/>
        </p:nvGraphicFramePr>
        <p:xfrm>
          <a:off x="1044836" y="2002436"/>
          <a:ext cx="2981249" cy="2253666"/>
        </p:xfrm>
        <a:graphic>
          <a:graphicData uri="http://schemas.openxmlformats.org/presentationml/2006/ole">
            <mc:AlternateContent xmlns:mc="http://schemas.openxmlformats.org/markup-compatibility/2006">
              <mc:Choice xmlns:v="urn:schemas-microsoft-com:vml" Requires="v">
                <p:oleObj r:id="rId3" imgW="4270651" imgH="3235799" progId="Visio.Drawing.15">
                  <p:embed/>
                </p:oleObj>
              </mc:Choice>
              <mc:Fallback>
                <p:oleObj r:id="rId3" imgW="4270651" imgH="3235799" progId="Visio.Drawing.15">
                  <p:embed/>
                  <p:pic>
                    <p:nvPicPr>
                      <p:cNvPr id="4" name="Object 3">
                        <a:extLst>
                          <a:ext uri="{FF2B5EF4-FFF2-40B4-BE49-F238E27FC236}">
                            <a16:creationId xmlns:a16="http://schemas.microsoft.com/office/drawing/2014/main" id="{7C7B905B-50D3-4DDF-97D8-D1C2425ED1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36" y="2002436"/>
                        <a:ext cx="2981249" cy="2253666"/>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46A7549E-2298-4646-90B5-E7A710AFFBCB}"/>
              </a:ext>
            </a:extLst>
          </p:cNvPr>
          <p:cNvSpPr/>
          <p:nvPr/>
        </p:nvSpPr>
        <p:spPr>
          <a:xfrm>
            <a:off x="4337200" y="2012668"/>
            <a:ext cx="4123232" cy="1200329"/>
          </a:xfrm>
          <a:prstGeom prst="rect">
            <a:avLst/>
          </a:prstGeom>
        </p:spPr>
        <p:txBody>
          <a:bodyPr wrap="square">
            <a:spAutoFit/>
          </a:bodyPr>
          <a:lstStyle/>
          <a:p>
            <a:r>
              <a:rPr lang="en-US" b="1" dirty="0">
                <a:solidFill>
                  <a:srgbClr val="369226"/>
                </a:solidFill>
              </a:rPr>
              <a:t>Any circuit that fulfils the truth table of an AND function is an AND element</a:t>
            </a:r>
          </a:p>
          <a:p>
            <a:endParaRPr lang="en-US" b="1" dirty="0"/>
          </a:p>
        </p:txBody>
      </p:sp>
      <p:pic>
        <p:nvPicPr>
          <p:cNvPr id="6" name="Picture 5">
            <a:extLst>
              <a:ext uri="{FF2B5EF4-FFF2-40B4-BE49-F238E27FC236}">
                <a16:creationId xmlns:a16="http://schemas.microsoft.com/office/drawing/2014/main" id="{00010A4E-A713-4061-BE89-690D8D80339F}"/>
              </a:ext>
            </a:extLst>
          </p:cNvPr>
          <p:cNvPicPr>
            <a:picLocks noChangeAspect="1"/>
          </p:cNvPicPr>
          <p:nvPr/>
        </p:nvPicPr>
        <p:blipFill>
          <a:blip r:embed="rId5"/>
          <a:stretch>
            <a:fillRect/>
          </a:stretch>
        </p:blipFill>
        <p:spPr>
          <a:xfrm>
            <a:off x="970181" y="5012489"/>
            <a:ext cx="3270694" cy="1200329"/>
          </a:xfrm>
          <a:prstGeom prst="rect">
            <a:avLst/>
          </a:prstGeom>
        </p:spPr>
      </p:pic>
      <p:sp>
        <p:nvSpPr>
          <p:cNvPr id="7" name="Rectangle 6">
            <a:extLst>
              <a:ext uri="{FF2B5EF4-FFF2-40B4-BE49-F238E27FC236}">
                <a16:creationId xmlns:a16="http://schemas.microsoft.com/office/drawing/2014/main" id="{23894E2A-261A-4FD9-B58A-EF53F2510B67}"/>
              </a:ext>
            </a:extLst>
          </p:cNvPr>
          <p:cNvSpPr/>
          <p:nvPr/>
        </p:nvSpPr>
        <p:spPr>
          <a:xfrm>
            <a:off x="4337199" y="5150989"/>
            <a:ext cx="4123232" cy="923330"/>
          </a:xfrm>
          <a:prstGeom prst="rect">
            <a:avLst/>
          </a:prstGeom>
        </p:spPr>
        <p:txBody>
          <a:bodyPr wrap="square">
            <a:spAutoFit/>
          </a:bodyPr>
          <a:lstStyle/>
          <a:p>
            <a:r>
              <a:rPr lang="en-US" b="1" dirty="0">
                <a:solidFill>
                  <a:srgbClr val="369226"/>
                </a:solidFill>
              </a:rPr>
              <a:t>The ‘1’ state is only present at the output of an AND element if there is also a ‘1’ state at all the inputs</a:t>
            </a:r>
            <a:endParaRPr lang="es-ES" b="1" dirty="0">
              <a:solidFill>
                <a:srgbClr val="369226"/>
              </a:solidFill>
            </a:endParaRPr>
          </a:p>
        </p:txBody>
      </p:sp>
      <p:sp>
        <p:nvSpPr>
          <p:cNvPr id="8" name="Rectangle 7">
            <a:extLst>
              <a:ext uri="{FF2B5EF4-FFF2-40B4-BE49-F238E27FC236}">
                <a16:creationId xmlns:a16="http://schemas.microsoft.com/office/drawing/2014/main" id="{9747B9E9-37B0-4FF1-B214-E5AE3825E9BF}"/>
              </a:ext>
            </a:extLst>
          </p:cNvPr>
          <p:cNvSpPr/>
          <p:nvPr/>
        </p:nvSpPr>
        <p:spPr>
          <a:xfrm>
            <a:off x="900112" y="1379031"/>
            <a:ext cx="8064376" cy="369332"/>
          </a:xfrm>
          <a:prstGeom prst="rect">
            <a:avLst/>
          </a:prstGeom>
        </p:spPr>
        <p:txBody>
          <a:bodyPr wrap="square">
            <a:spAutoFit/>
          </a:bodyPr>
          <a:lstStyle/>
          <a:p>
            <a:r>
              <a:rPr lang="en-GB" b="1" dirty="0"/>
              <a:t>Truth table/circuit diagram of an AND function and an AND element</a:t>
            </a:r>
            <a:endParaRPr lang="es-ES" dirty="0"/>
          </a:p>
        </p:txBody>
      </p:sp>
      <p:sp>
        <p:nvSpPr>
          <p:cNvPr id="9" name="Rectangle 8">
            <a:extLst>
              <a:ext uri="{FF2B5EF4-FFF2-40B4-BE49-F238E27FC236}">
                <a16:creationId xmlns:a16="http://schemas.microsoft.com/office/drawing/2014/main" id="{5BBAE102-E2BE-44F9-95A8-8C01B793F78B}"/>
              </a:ext>
            </a:extLst>
          </p:cNvPr>
          <p:cNvSpPr/>
          <p:nvPr/>
        </p:nvSpPr>
        <p:spPr>
          <a:xfrm>
            <a:off x="990376" y="4593903"/>
            <a:ext cx="5741864" cy="369332"/>
          </a:xfrm>
          <a:prstGeom prst="rect">
            <a:avLst/>
          </a:prstGeom>
        </p:spPr>
        <p:txBody>
          <a:bodyPr wrap="square">
            <a:spAutoFit/>
          </a:bodyPr>
          <a:lstStyle/>
          <a:p>
            <a:r>
              <a:rPr lang="en-US" b="1" dirty="0"/>
              <a:t>Graphical symbol of the AND element with 2 inputs</a:t>
            </a:r>
            <a:endParaRPr lang="es-ES" b="1" dirty="0"/>
          </a:p>
        </p:txBody>
      </p:sp>
      <p:sp>
        <p:nvSpPr>
          <p:cNvPr id="10" name="Rectangle 9">
            <a:extLst>
              <a:ext uri="{FF2B5EF4-FFF2-40B4-BE49-F238E27FC236}">
                <a16:creationId xmlns:a16="http://schemas.microsoft.com/office/drawing/2014/main" id="{D90F6F8B-FA3F-4791-9B14-8D4FA206E182}"/>
              </a:ext>
            </a:extLst>
          </p:cNvPr>
          <p:cNvSpPr/>
          <p:nvPr/>
        </p:nvSpPr>
        <p:spPr>
          <a:xfrm>
            <a:off x="4393603" y="3429000"/>
            <a:ext cx="4066828" cy="646331"/>
          </a:xfrm>
          <a:prstGeom prst="rect">
            <a:avLst/>
          </a:prstGeom>
        </p:spPr>
        <p:txBody>
          <a:bodyPr wrap="square">
            <a:spAutoFit/>
          </a:bodyPr>
          <a:lstStyle/>
          <a:p>
            <a:r>
              <a:rPr lang="en-US" b="1" dirty="0">
                <a:solidFill>
                  <a:srgbClr val="369226"/>
                </a:solidFill>
              </a:rPr>
              <a:t>X = A ^ B</a:t>
            </a:r>
            <a:r>
              <a:rPr lang="en-US" dirty="0">
                <a:solidFill>
                  <a:srgbClr val="369226"/>
                </a:solidFill>
              </a:rPr>
              <a:t>  </a:t>
            </a:r>
            <a:r>
              <a:rPr lang="en-US" dirty="0"/>
              <a:t>	</a:t>
            </a:r>
            <a:r>
              <a:rPr lang="en-US" b="1" dirty="0"/>
              <a:t>^ Symbol for the AND function (logic algebra).</a:t>
            </a:r>
          </a:p>
        </p:txBody>
      </p:sp>
    </p:spTree>
    <p:extLst>
      <p:ext uri="{BB962C8B-B14F-4D97-AF65-F5344CB8AC3E}">
        <p14:creationId xmlns:p14="http://schemas.microsoft.com/office/powerpoint/2010/main" val="27839743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dirty="0"/>
              <a:t>OR Function (Disjunction) and OR Element (OR)</a:t>
            </a:r>
            <a:endParaRPr lang="en-GB" dirty="0"/>
          </a:p>
        </p:txBody>
      </p:sp>
      <p:sp>
        <p:nvSpPr>
          <p:cNvPr id="5" name="Rectangle 4">
            <a:extLst>
              <a:ext uri="{FF2B5EF4-FFF2-40B4-BE49-F238E27FC236}">
                <a16:creationId xmlns:a16="http://schemas.microsoft.com/office/drawing/2014/main" id="{46A7549E-2298-4646-90B5-E7A710AFFBCB}"/>
              </a:ext>
            </a:extLst>
          </p:cNvPr>
          <p:cNvSpPr/>
          <p:nvPr/>
        </p:nvSpPr>
        <p:spPr>
          <a:xfrm>
            <a:off x="4337200" y="2012668"/>
            <a:ext cx="4123232" cy="923330"/>
          </a:xfrm>
          <a:prstGeom prst="rect">
            <a:avLst/>
          </a:prstGeom>
        </p:spPr>
        <p:txBody>
          <a:bodyPr wrap="square">
            <a:spAutoFit/>
          </a:bodyPr>
          <a:lstStyle/>
          <a:p>
            <a:r>
              <a:rPr lang="en-US" b="1" dirty="0">
                <a:solidFill>
                  <a:srgbClr val="369226"/>
                </a:solidFill>
              </a:rPr>
              <a:t>Any circuit that fulfils the truth table of an OR function is an OR element</a:t>
            </a:r>
          </a:p>
          <a:p>
            <a:endParaRPr lang="en-US" b="1" dirty="0"/>
          </a:p>
        </p:txBody>
      </p:sp>
      <p:sp>
        <p:nvSpPr>
          <p:cNvPr id="7" name="Rectangle 6">
            <a:extLst>
              <a:ext uri="{FF2B5EF4-FFF2-40B4-BE49-F238E27FC236}">
                <a16:creationId xmlns:a16="http://schemas.microsoft.com/office/drawing/2014/main" id="{23894E2A-261A-4FD9-B58A-EF53F2510B67}"/>
              </a:ext>
            </a:extLst>
          </p:cNvPr>
          <p:cNvSpPr/>
          <p:nvPr/>
        </p:nvSpPr>
        <p:spPr>
          <a:xfrm>
            <a:off x="4337199" y="5150989"/>
            <a:ext cx="4123233" cy="923330"/>
          </a:xfrm>
          <a:prstGeom prst="rect">
            <a:avLst/>
          </a:prstGeom>
        </p:spPr>
        <p:txBody>
          <a:bodyPr wrap="square">
            <a:spAutoFit/>
          </a:bodyPr>
          <a:lstStyle/>
          <a:p>
            <a:r>
              <a:rPr lang="en-US" b="1" dirty="0">
                <a:solidFill>
                  <a:srgbClr val="369226"/>
                </a:solidFill>
              </a:rPr>
              <a:t>The ‘1’ state is always present at the output of an OR element if there is a ‘1’ state at one of the inputs at least</a:t>
            </a:r>
            <a:endParaRPr lang="es-ES" b="1" dirty="0">
              <a:solidFill>
                <a:srgbClr val="369226"/>
              </a:solidFill>
            </a:endParaRPr>
          </a:p>
        </p:txBody>
      </p:sp>
      <p:sp>
        <p:nvSpPr>
          <p:cNvPr id="8" name="Rectangle 7">
            <a:extLst>
              <a:ext uri="{FF2B5EF4-FFF2-40B4-BE49-F238E27FC236}">
                <a16:creationId xmlns:a16="http://schemas.microsoft.com/office/drawing/2014/main" id="{9747B9E9-37B0-4FF1-B214-E5AE3825E9BF}"/>
              </a:ext>
            </a:extLst>
          </p:cNvPr>
          <p:cNvSpPr/>
          <p:nvPr/>
        </p:nvSpPr>
        <p:spPr>
          <a:xfrm>
            <a:off x="900112" y="1379031"/>
            <a:ext cx="8064376" cy="369332"/>
          </a:xfrm>
          <a:prstGeom prst="rect">
            <a:avLst/>
          </a:prstGeom>
        </p:spPr>
        <p:txBody>
          <a:bodyPr wrap="square">
            <a:spAutoFit/>
          </a:bodyPr>
          <a:lstStyle/>
          <a:p>
            <a:r>
              <a:rPr lang="en-GB" b="1" dirty="0"/>
              <a:t>Truth table/circuit diagram of an OR function and an OR element</a:t>
            </a:r>
            <a:endParaRPr lang="es-ES" dirty="0"/>
          </a:p>
        </p:txBody>
      </p:sp>
      <p:sp>
        <p:nvSpPr>
          <p:cNvPr id="9" name="Rectangle 8">
            <a:extLst>
              <a:ext uri="{FF2B5EF4-FFF2-40B4-BE49-F238E27FC236}">
                <a16:creationId xmlns:a16="http://schemas.microsoft.com/office/drawing/2014/main" id="{5BBAE102-E2BE-44F9-95A8-8C01B793F78B}"/>
              </a:ext>
            </a:extLst>
          </p:cNvPr>
          <p:cNvSpPr/>
          <p:nvPr/>
        </p:nvSpPr>
        <p:spPr>
          <a:xfrm>
            <a:off x="990376" y="4593903"/>
            <a:ext cx="5741864" cy="369332"/>
          </a:xfrm>
          <a:prstGeom prst="rect">
            <a:avLst/>
          </a:prstGeom>
        </p:spPr>
        <p:txBody>
          <a:bodyPr wrap="square">
            <a:spAutoFit/>
          </a:bodyPr>
          <a:lstStyle/>
          <a:p>
            <a:r>
              <a:rPr lang="en-US" b="1" dirty="0"/>
              <a:t>Graphical symbol of the OR element with 2 inputs</a:t>
            </a:r>
            <a:endParaRPr lang="es-ES" b="1" dirty="0"/>
          </a:p>
        </p:txBody>
      </p:sp>
      <p:sp>
        <p:nvSpPr>
          <p:cNvPr id="10" name="Rectangle 9">
            <a:extLst>
              <a:ext uri="{FF2B5EF4-FFF2-40B4-BE49-F238E27FC236}">
                <a16:creationId xmlns:a16="http://schemas.microsoft.com/office/drawing/2014/main" id="{D90F6F8B-FA3F-4791-9B14-8D4FA206E182}"/>
              </a:ext>
            </a:extLst>
          </p:cNvPr>
          <p:cNvSpPr/>
          <p:nvPr/>
        </p:nvSpPr>
        <p:spPr>
          <a:xfrm>
            <a:off x="4393602" y="3429000"/>
            <a:ext cx="4123231" cy="646331"/>
          </a:xfrm>
          <a:prstGeom prst="rect">
            <a:avLst/>
          </a:prstGeom>
        </p:spPr>
        <p:txBody>
          <a:bodyPr wrap="square">
            <a:spAutoFit/>
          </a:bodyPr>
          <a:lstStyle/>
          <a:p>
            <a:r>
              <a:rPr lang="en-US" b="1" dirty="0">
                <a:solidFill>
                  <a:srgbClr val="369226"/>
                </a:solidFill>
              </a:rPr>
              <a:t>X = A v B</a:t>
            </a:r>
            <a:r>
              <a:rPr lang="en-US" dirty="0">
                <a:solidFill>
                  <a:srgbClr val="369226"/>
                </a:solidFill>
              </a:rPr>
              <a:t>  </a:t>
            </a:r>
            <a:r>
              <a:rPr lang="en-US" dirty="0"/>
              <a:t>	</a:t>
            </a:r>
            <a:r>
              <a:rPr lang="en-GB" b="1" dirty="0"/>
              <a:t>v </a:t>
            </a:r>
            <a:r>
              <a:rPr lang="en-US" b="1" dirty="0"/>
              <a:t>Symbol for the OR function (logic algebra).</a:t>
            </a:r>
          </a:p>
        </p:txBody>
      </p:sp>
      <p:pic>
        <p:nvPicPr>
          <p:cNvPr id="12" name="Picture 11">
            <a:extLst>
              <a:ext uri="{FF2B5EF4-FFF2-40B4-BE49-F238E27FC236}">
                <a16:creationId xmlns:a16="http://schemas.microsoft.com/office/drawing/2014/main" id="{0D949B24-73E4-4050-8FA0-11A74022FEDC}"/>
              </a:ext>
            </a:extLst>
          </p:cNvPr>
          <p:cNvPicPr>
            <a:picLocks noChangeAspect="1"/>
          </p:cNvPicPr>
          <p:nvPr/>
        </p:nvPicPr>
        <p:blipFill>
          <a:blip r:embed="rId3"/>
          <a:stretch>
            <a:fillRect/>
          </a:stretch>
        </p:blipFill>
        <p:spPr>
          <a:xfrm>
            <a:off x="1033367" y="1883975"/>
            <a:ext cx="2818553" cy="2270263"/>
          </a:xfrm>
          <a:prstGeom prst="rect">
            <a:avLst/>
          </a:prstGeom>
        </p:spPr>
      </p:pic>
      <p:graphicFrame>
        <p:nvGraphicFramePr>
          <p:cNvPr id="14" name="Object 13">
            <a:extLst>
              <a:ext uri="{FF2B5EF4-FFF2-40B4-BE49-F238E27FC236}">
                <a16:creationId xmlns:a16="http://schemas.microsoft.com/office/drawing/2014/main" id="{8C4BF9FC-2857-4793-ACC8-771247D5DC7D}"/>
              </a:ext>
            </a:extLst>
          </p:cNvPr>
          <p:cNvGraphicFramePr>
            <a:graphicFrameLocks noChangeAspect="1"/>
          </p:cNvGraphicFramePr>
          <p:nvPr/>
        </p:nvGraphicFramePr>
        <p:xfrm>
          <a:off x="1033367" y="5121832"/>
          <a:ext cx="2972067" cy="1086536"/>
        </p:xfrm>
        <a:graphic>
          <a:graphicData uri="http://schemas.openxmlformats.org/presentationml/2006/ole">
            <mc:AlternateContent xmlns:mc="http://schemas.openxmlformats.org/markup-compatibility/2006">
              <mc:Choice xmlns:v="urn:schemas-microsoft-com:vml" Requires="v">
                <p:oleObj r:id="rId4" imgW="3857349" imgH="1406018" progId="Visio.Drawing.15">
                  <p:embed/>
                </p:oleObj>
              </mc:Choice>
              <mc:Fallback>
                <p:oleObj r:id="rId4" imgW="3857349" imgH="1406018" progId="Visio.Drawing.15">
                  <p:embed/>
                  <p:pic>
                    <p:nvPicPr>
                      <p:cNvPr id="14" name="Object 13">
                        <a:extLst>
                          <a:ext uri="{FF2B5EF4-FFF2-40B4-BE49-F238E27FC236}">
                            <a16:creationId xmlns:a16="http://schemas.microsoft.com/office/drawing/2014/main" id="{8C4BF9FC-2857-4793-ACC8-771247D5DC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3367" y="5121832"/>
                        <a:ext cx="2972067" cy="1086536"/>
                      </a:xfrm>
                      <a:prstGeom prst="rect">
                        <a:avLst/>
                      </a:prstGeom>
                      <a:noFill/>
                    </p:spPr>
                  </p:pic>
                </p:oleObj>
              </mc:Fallback>
            </mc:AlternateContent>
          </a:graphicData>
        </a:graphic>
      </p:graphicFrame>
    </p:spTree>
    <p:extLst>
      <p:ext uri="{BB962C8B-B14F-4D97-AF65-F5344CB8AC3E}">
        <p14:creationId xmlns:p14="http://schemas.microsoft.com/office/powerpoint/2010/main" val="28685376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7614"/>
            <a:ext cx="6696223" cy="719138"/>
          </a:xfrm>
        </p:spPr>
        <p:txBody>
          <a:bodyPr/>
          <a:lstStyle/>
          <a:p>
            <a:r>
              <a:rPr lang="en-US" dirty="0"/>
              <a:t>Negation and NOT Element (NOT)</a:t>
            </a:r>
            <a:endParaRPr lang="en-GB" dirty="0"/>
          </a:p>
        </p:txBody>
      </p:sp>
      <p:sp>
        <p:nvSpPr>
          <p:cNvPr id="5" name="Rectangle 4">
            <a:extLst>
              <a:ext uri="{FF2B5EF4-FFF2-40B4-BE49-F238E27FC236}">
                <a16:creationId xmlns:a16="http://schemas.microsoft.com/office/drawing/2014/main" id="{46A7549E-2298-4646-90B5-E7A710AFFBCB}"/>
              </a:ext>
            </a:extLst>
          </p:cNvPr>
          <p:cNvSpPr/>
          <p:nvPr/>
        </p:nvSpPr>
        <p:spPr>
          <a:xfrm>
            <a:off x="4337200" y="2012668"/>
            <a:ext cx="4123232" cy="646331"/>
          </a:xfrm>
          <a:prstGeom prst="rect">
            <a:avLst/>
          </a:prstGeom>
        </p:spPr>
        <p:txBody>
          <a:bodyPr wrap="square">
            <a:spAutoFit/>
          </a:bodyPr>
          <a:lstStyle/>
          <a:p>
            <a:r>
              <a:rPr lang="en-US" b="1" dirty="0">
                <a:solidFill>
                  <a:srgbClr val="369226"/>
                </a:solidFill>
              </a:rPr>
              <a:t>Any circuit that meets the truth table of a negation is a NOT element</a:t>
            </a:r>
            <a:endParaRPr lang="en-US" b="1" dirty="0"/>
          </a:p>
        </p:txBody>
      </p:sp>
      <p:sp>
        <p:nvSpPr>
          <p:cNvPr id="7" name="Rectangle 6">
            <a:extLst>
              <a:ext uri="{FF2B5EF4-FFF2-40B4-BE49-F238E27FC236}">
                <a16:creationId xmlns:a16="http://schemas.microsoft.com/office/drawing/2014/main" id="{23894E2A-261A-4FD9-B58A-EF53F2510B67}"/>
              </a:ext>
            </a:extLst>
          </p:cNvPr>
          <p:cNvSpPr/>
          <p:nvPr/>
        </p:nvSpPr>
        <p:spPr>
          <a:xfrm>
            <a:off x="4337199" y="5150989"/>
            <a:ext cx="4123233" cy="923330"/>
          </a:xfrm>
          <a:prstGeom prst="rect">
            <a:avLst/>
          </a:prstGeom>
        </p:spPr>
        <p:txBody>
          <a:bodyPr wrap="square">
            <a:spAutoFit/>
          </a:bodyPr>
          <a:lstStyle/>
          <a:p>
            <a:r>
              <a:rPr lang="en-US" b="1" dirty="0">
                <a:solidFill>
                  <a:srgbClr val="369226"/>
                </a:solidFill>
              </a:rPr>
              <a:t>The state at the output of a NOT element is always the opposite of the state at the input</a:t>
            </a:r>
            <a:endParaRPr lang="es-ES" b="1" dirty="0">
              <a:solidFill>
                <a:srgbClr val="369226"/>
              </a:solidFill>
            </a:endParaRPr>
          </a:p>
        </p:txBody>
      </p:sp>
      <p:sp>
        <p:nvSpPr>
          <p:cNvPr id="8" name="Rectangle 7">
            <a:extLst>
              <a:ext uri="{FF2B5EF4-FFF2-40B4-BE49-F238E27FC236}">
                <a16:creationId xmlns:a16="http://schemas.microsoft.com/office/drawing/2014/main" id="{9747B9E9-37B0-4FF1-B214-E5AE3825E9BF}"/>
              </a:ext>
            </a:extLst>
          </p:cNvPr>
          <p:cNvSpPr/>
          <p:nvPr/>
        </p:nvSpPr>
        <p:spPr>
          <a:xfrm>
            <a:off x="900112" y="1379031"/>
            <a:ext cx="8064376" cy="369332"/>
          </a:xfrm>
          <a:prstGeom prst="rect">
            <a:avLst/>
          </a:prstGeom>
        </p:spPr>
        <p:txBody>
          <a:bodyPr wrap="square">
            <a:spAutoFit/>
          </a:bodyPr>
          <a:lstStyle/>
          <a:p>
            <a:r>
              <a:rPr lang="en-GB" b="1" dirty="0"/>
              <a:t>Truth table/circuit diagram of a negation or a NOT element</a:t>
            </a:r>
            <a:endParaRPr lang="es-ES" dirty="0"/>
          </a:p>
        </p:txBody>
      </p:sp>
      <p:sp>
        <p:nvSpPr>
          <p:cNvPr id="9" name="Rectangle 8">
            <a:extLst>
              <a:ext uri="{FF2B5EF4-FFF2-40B4-BE49-F238E27FC236}">
                <a16:creationId xmlns:a16="http://schemas.microsoft.com/office/drawing/2014/main" id="{5BBAE102-E2BE-44F9-95A8-8C01B793F78B}"/>
              </a:ext>
            </a:extLst>
          </p:cNvPr>
          <p:cNvSpPr/>
          <p:nvPr/>
        </p:nvSpPr>
        <p:spPr>
          <a:xfrm>
            <a:off x="990376" y="4593903"/>
            <a:ext cx="5741864" cy="369332"/>
          </a:xfrm>
          <a:prstGeom prst="rect">
            <a:avLst/>
          </a:prstGeom>
        </p:spPr>
        <p:txBody>
          <a:bodyPr wrap="square">
            <a:spAutoFit/>
          </a:bodyPr>
          <a:lstStyle/>
          <a:p>
            <a:r>
              <a:rPr lang="en-US" b="1" dirty="0"/>
              <a:t>Graphical symbol of the NOT element with 1 input</a:t>
            </a:r>
            <a:endParaRPr lang="es-ES" b="1" dirty="0"/>
          </a:p>
        </p:txBody>
      </p:sp>
      <p:sp>
        <p:nvSpPr>
          <p:cNvPr id="10" name="Rectangle 9">
            <a:extLst>
              <a:ext uri="{FF2B5EF4-FFF2-40B4-BE49-F238E27FC236}">
                <a16:creationId xmlns:a16="http://schemas.microsoft.com/office/drawing/2014/main" id="{D90F6F8B-FA3F-4791-9B14-8D4FA206E182}"/>
              </a:ext>
            </a:extLst>
          </p:cNvPr>
          <p:cNvSpPr/>
          <p:nvPr/>
        </p:nvSpPr>
        <p:spPr>
          <a:xfrm>
            <a:off x="4393602" y="3429000"/>
            <a:ext cx="4123231" cy="646331"/>
          </a:xfrm>
          <a:prstGeom prst="rect">
            <a:avLst/>
          </a:prstGeom>
        </p:spPr>
        <p:txBody>
          <a:bodyPr wrap="square">
            <a:spAutoFit/>
          </a:bodyPr>
          <a:lstStyle/>
          <a:p>
            <a:r>
              <a:rPr lang="en-US" b="1" dirty="0">
                <a:solidFill>
                  <a:srgbClr val="369226"/>
                </a:solidFill>
              </a:rPr>
              <a:t>X = A </a:t>
            </a:r>
            <a:r>
              <a:rPr lang="en-US" dirty="0"/>
              <a:t>	</a:t>
            </a:r>
            <a:r>
              <a:rPr lang="en-US" b="1" dirty="0"/>
              <a:t>The translated line is the symbol of negation</a:t>
            </a:r>
          </a:p>
        </p:txBody>
      </p:sp>
      <p:pic>
        <p:nvPicPr>
          <p:cNvPr id="2" name="Picture 1">
            <a:extLst>
              <a:ext uri="{FF2B5EF4-FFF2-40B4-BE49-F238E27FC236}">
                <a16:creationId xmlns:a16="http://schemas.microsoft.com/office/drawing/2014/main" id="{D67C625D-3964-4382-A254-03734EE70528}"/>
              </a:ext>
            </a:extLst>
          </p:cNvPr>
          <p:cNvPicPr>
            <a:picLocks noChangeAspect="1"/>
          </p:cNvPicPr>
          <p:nvPr/>
        </p:nvPicPr>
        <p:blipFill>
          <a:blip r:embed="rId3"/>
          <a:stretch>
            <a:fillRect/>
          </a:stretch>
        </p:blipFill>
        <p:spPr>
          <a:xfrm>
            <a:off x="1010602" y="5031629"/>
            <a:ext cx="2657475" cy="1162050"/>
          </a:xfrm>
          <a:prstGeom prst="rect">
            <a:avLst/>
          </a:prstGeom>
        </p:spPr>
      </p:pic>
      <p:pic>
        <p:nvPicPr>
          <p:cNvPr id="4" name="Picture 3">
            <a:extLst>
              <a:ext uri="{FF2B5EF4-FFF2-40B4-BE49-F238E27FC236}">
                <a16:creationId xmlns:a16="http://schemas.microsoft.com/office/drawing/2014/main" id="{E84DE230-B149-4C6E-BFA3-3A0D1A4629DA}"/>
              </a:ext>
            </a:extLst>
          </p:cNvPr>
          <p:cNvPicPr>
            <a:picLocks noChangeAspect="1"/>
          </p:cNvPicPr>
          <p:nvPr/>
        </p:nvPicPr>
        <p:blipFill>
          <a:blip r:embed="rId4"/>
          <a:stretch>
            <a:fillRect/>
          </a:stretch>
        </p:blipFill>
        <p:spPr>
          <a:xfrm>
            <a:off x="1008847" y="1940497"/>
            <a:ext cx="3009175" cy="2092401"/>
          </a:xfrm>
          <a:prstGeom prst="rect">
            <a:avLst/>
          </a:prstGeom>
        </p:spPr>
      </p:pic>
      <p:cxnSp>
        <p:nvCxnSpPr>
          <p:cNvPr id="11" name="Straight Connector 10">
            <a:extLst>
              <a:ext uri="{FF2B5EF4-FFF2-40B4-BE49-F238E27FC236}">
                <a16:creationId xmlns:a16="http://schemas.microsoft.com/office/drawing/2014/main" id="{6DB16F17-97CE-4D3E-BF1C-5F009453E8F4}"/>
              </a:ext>
            </a:extLst>
          </p:cNvPr>
          <p:cNvCxnSpPr>
            <a:cxnSpLocks/>
          </p:cNvCxnSpPr>
          <p:nvPr/>
        </p:nvCxnSpPr>
        <p:spPr>
          <a:xfrm>
            <a:off x="4860032" y="3463725"/>
            <a:ext cx="216024"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39809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a:extLst>
              <a:ext uri="{FF2B5EF4-FFF2-40B4-BE49-F238E27FC236}">
                <a16:creationId xmlns:a16="http://schemas.microsoft.com/office/drawing/2014/main" id="{71EBB29D-F9D2-4819-85FF-52D96C5624D8}"/>
              </a:ext>
            </a:extLst>
          </p:cNvPr>
          <p:cNvGraphicFramePr>
            <a:graphicFrameLocks noChangeAspect="1"/>
          </p:cNvGraphicFramePr>
          <p:nvPr/>
        </p:nvGraphicFramePr>
        <p:xfrm>
          <a:off x="1144860" y="2019784"/>
          <a:ext cx="6451476" cy="2590505"/>
        </p:xfrm>
        <a:graphic>
          <a:graphicData uri="http://schemas.openxmlformats.org/presentationml/2006/ole">
            <mc:AlternateContent xmlns:mc="http://schemas.openxmlformats.org/markup-compatibility/2006">
              <mc:Choice xmlns:v="urn:schemas-microsoft-com:vml" Requires="v">
                <p:oleObj r:id="rId3" imgW="8037135" imgH="3235799" progId="Visio.Drawing.15">
                  <p:embed/>
                </p:oleObj>
              </mc:Choice>
              <mc:Fallback>
                <p:oleObj r:id="rId3" imgW="8037135" imgH="3235799" progId="Visio.Drawing.15">
                  <p:embed/>
                  <p:pic>
                    <p:nvPicPr>
                      <p:cNvPr id="13" name="Object 12">
                        <a:extLst>
                          <a:ext uri="{FF2B5EF4-FFF2-40B4-BE49-F238E27FC236}">
                            <a16:creationId xmlns:a16="http://schemas.microsoft.com/office/drawing/2014/main" id="{71EBB29D-F9D2-4819-85FF-52D96C5624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4860" y="2019784"/>
                        <a:ext cx="6451476" cy="2590505"/>
                      </a:xfrm>
                      <a:prstGeom prst="rect">
                        <a:avLst/>
                      </a:prstGeom>
                      <a:noFill/>
                    </p:spPr>
                  </p:pic>
                </p:oleObj>
              </mc:Fallback>
            </mc:AlternateContent>
          </a:graphicData>
        </a:graphic>
      </p:graphicFrame>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7614"/>
            <a:ext cx="6696223" cy="719138"/>
          </a:xfrm>
        </p:spPr>
        <p:txBody>
          <a:bodyPr/>
          <a:lstStyle/>
          <a:p>
            <a:r>
              <a:rPr lang="en-US" dirty="0"/>
              <a:t>NAND Element</a:t>
            </a:r>
            <a:endParaRPr lang="en-GB" dirty="0"/>
          </a:p>
        </p:txBody>
      </p:sp>
      <p:sp>
        <p:nvSpPr>
          <p:cNvPr id="7" name="Rectangle 6">
            <a:extLst>
              <a:ext uri="{FF2B5EF4-FFF2-40B4-BE49-F238E27FC236}">
                <a16:creationId xmlns:a16="http://schemas.microsoft.com/office/drawing/2014/main" id="{23894E2A-261A-4FD9-B58A-EF53F2510B67}"/>
              </a:ext>
            </a:extLst>
          </p:cNvPr>
          <p:cNvSpPr/>
          <p:nvPr/>
        </p:nvSpPr>
        <p:spPr>
          <a:xfrm>
            <a:off x="1070609" y="5158933"/>
            <a:ext cx="7002782" cy="646331"/>
          </a:xfrm>
          <a:prstGeom prst="rect">
            <a:avLst/>
          </a:prstGeom>
        </p:spPr>
        <p:txBody>
          <a:bodyPr wrap="square">
            <a:spAutoFit/>
          </a:bodyPr>
          <a:lstStyle/>
          <a:p>
            <a:r>
              <a:rPr lang="en-US" b="1" dirty="0">
                <a:solidFill>
                  <a:srgbClr val="369226"/>
                </a:solidFill>
              </a:rPr>
              <a:t>A ‘1’ state is present at the output of a NAND element if a ‘1’ state is not present at all the inputs</a:t>
            </a:r>
            <a:endParaRPr lang="es-ES" b="1" dirty="0">
              <a:solidFill>
                <a:srgbClr val="369226"/>
              </a:solidFill>
            </a:endParaRPr>
          </a:p>
        </p:txBody>
      </p:sp>
      <p:sp>
        <p:nvSpPr>
          <p:cNvPr id="8" name="Rectangle 7">
            <a:extLst>
              <a:ext uri="{FF2B5EF4-FFF2-40B4-BE49-F238E27FC236}">
                <a16:creationId xmlns:a16="http://schemas.microsoft.com/office/drawing/2014/main" id="{9747B9E9-37B0-4FF1-B214-E5AE3825E9BF}"/>
              </a:ext>
            </a:extLst>
          </p:cNvPr>
          <p:cNvSpPr/>
          <p:nvPr/>
        </p:nvSpPr>
        <p:spPr>
          <a:xfrm>
            <a:off x="900112" y="1379031"/>
            <a:ext cx="8064376" cy="369332"/>
          </a:xfrm>
          <a:prstGeom prst="rect">
            <a:avLst/>
          </a:prstGeom>
        </p:spPr>
        <p:txBody>
          <a:bodyPr wrap="square">
            <a:spAutoFit/>
          </a:bodyPr>
          <a:lstStyle/>
          <a:p>
            <a:r>
              <a:rPr lang="en-GB" b="1" dirty="0"/>
              <a:t>Truth table/circuit diagram of an NAND function</a:t>
            </a:r>
            <a:endParaRPr lang="es-ES" dirty="0"/>
          </a:p>
        </p:txBody>
      </p:sp>
      <p:sp>
        <p:nvSpPr>
          <p:cNvPr id="10" name="Rectangle 9">
            <a:extLst>
              <a:ext uri="{FF2B5EF4-FFF2-40B4-BE49-F238E27FC236}">
                <a16:creationId xmlns:a16="http://schemas.microsoft.com/office/drawing/2014/main" id="{D90F6F8B-FA3F-4791-9B14-8D4FA206E182}"/>
              </a:ext>
            </a:extLst>
          </p:cNvPr>
          <p:cNvSpPr/>
          <p:nvPr/>
        </p:nvSpPr>
        <p:spPr>
          <a:xfrm>
            <a:off x="1115616" y="4038973"/>
            <a:ext cx="4066828" cy="369332"/>
          </a:xfrm>
          <a:prstGeom prst="rect">
            <a:avLst/>
          </a:prstGeom>
        </p:spPr>
        <p:txBody>
          <a:bodyPr wrap="square">
            <a:spAutoFit/>
          </a:bodyPr>
          <a:lstStyle/>
          <a:p>
            <a:r>
              <a:rPr lang="en-US" b="1" dirty="0">
                <a:solidFill>
                  <a:srgbClr val="369226"/>
                </a:solidFill>
              </a:rPr>
              <a:t>Z = A ^ B</a:t>
            </a:r>
            <a:r>
              <a:rPr lang="en-US" dirty="0">
                <a:solidFill>
                  <a:srgbClr val="369226"/>
                </a:solidFill>
              </a:rPr>
              <a:t>  </a:t>
            </a:r>
            <a:r>
              <a:rPr lang="en-US" dirty="0"/>
              <a:t>	</a:t>
            </a:r>
            <a:r>
              <a:rPr lang="en-US" b="1" dirty="0"/>
              <a:t> (logic algebra)</a:t>
            </a:r>
          </a:p>
        </p:txBody>
      </p:sp>
      <p:cxnSp>
        <p:nvCxnSpPr>
          <p:cNvPr id="11" name="Straight Connector 10">
            <a:extLst>
              <a:ext uri="{FF2B5EF4-FFF2-40B4-BE49-F238E27FC236}">
                <a16:creationId xmlns:a16="http://schemas.microsoft.com/office/drawing/2014/main" id="{7A97E97F-1444-4779-80E9-8B63F4045238}"/>
              </a:ext>
            </a:extLst>
          </p:cNvPr>
          <p:cNvCxnSpPr>
            <a:cxnSpLocks/>
          </p:cNvCxnSpPr>
          <p:nvPr/>
        </p:nvCxnSpPr>
        <p:spPr>
          <a:xfrm>
            <a:off x="1510037" y="4038973"/>
            <a:ext cx="720080"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15842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7614"/>
            <a:ext cx="6696223" cy="719138"/>
          </a:xfrm>
        </p:spPr>
        <p:txBody>
          <a:bodyPr/>
          <a:lstStyle/>
          <a:p>
            <a:r>
              <a:rPr lang="en-US" dirty="0"/>
              <a:t>NOR Element</a:t>
            </a:r>
            <a:endParaRPr lang="en-GB" dirty="0"/>
          </a:p>
        </p:txBody>
      </p:sp>
      <p:sp>
        <p:nvSpPr>
          <p:cNvPr id="7" name="Rectangle 6">
            <a:extLst>
              <a:ext uri="{FF2B5EF4-FFF2-40B4-BE49-F238E27FC236}">
                <a16:creationId xmlns:a16="http://schemas.microsoft.com/office/drawing/2014/main" id="{23894E2A-261A-4FD9-B58A-EF53F2510B67}"/>
              </a:ext>
            </a:extLst>
          </p:cNvPr>
          <p:cNvSpPr/>
          <p:nvPr/>
        </p:nvSpPr>
        <p:spPr>
          <a:xfrm>
            <a:off x="1070609" y="5158933"/>
            <a:ext cx="7002782" cy="646331"/>
          </a:xfrm>
          <a:prstGeom prst="rect">
            <a:avLst/>
          </a:prstGeom>
        </p:spPr>
        <p:txBody>
          <a:bodyPr wrap="square">
            <a:spAutoFit/>
          </a:bodyPr>
          <a:lstStyle/>
          <a:p>
            <a:r>
              <a:rPr lang="en-US" b="1" dirty="0">
                <a:solidFill>
                  <a:srgbClr val="369226"/>
                </a:solidFill>
              </a:rPr>
              <a:t>A ‘1’ state only lies at the output of a NOR element if the ‘1’ state is not present at any of the inputs</a:t>
            </a:r>
            <a:endParaRPr lang="es-ES" b="1" dirty="0">
              <a:solidFill>
                <a:srgbClr val="369226"/>
              </a:solidFill>
            </a:endParaRPr>
          </a:p>
        </p:txBody>
      </p:sp>
      <p:sp>
        <p:nvSpPr>
          <p:cNvPr id="8" name="Rectangle 7">
            <a:extLst>
              <a:ext uri="{FF2B5EF4-FFF2-40B4-BE49-F238E27FC236}">
                <a16:creationId xmlns:a16="http://schemas.microsoft.com/office/drawing/2014/main" id="{9747B9E9-37B0-4FF1-B214-E5AE3825E9BF}"/>
              </a:ext>
            </a:extLst>
          </p:cNvPr>
          <p:cNvSpPr/>
          <p:nvPr/>
        </p:nvSpPr>
        <p:spPr>
          <a:xfrm>
            <a:off x="900112" y="1379031"/>
            <a:ext cx="8064376" cy="369332"/>
          </a:xfrm>
          <a:prstGeom prst="rect">
            <a:avLst/>
          </a:prstGeom>
        </p:spPr>
        <p:txBody>
          <a:bodyPr wrap="square">
            <a:spAutoFit/>
          </a:bodyPr>
          <a:lstStyle/>
          <a:p>
            <a:r>
              <a:rPr lang="en-GB" b="1" dirty="0"/>
              <a:t>Truth table/circuit diagram of an NOR element</a:t>
            </a:r>
            <a:endParaRPr lang="es-ES" dirty="0"/>
          </a:p>
        </p:txBody>
      </p:sp>
      <p:sp>
        <p:nvSpPr>
          <p:cNvPr id="10" name="Rectangle 9">
            <a:extLst>
              <a:ext uri="{FF2B5EF4-FFF2-40B4-BE49-F238E27FC236}">
                <a16:creationId xmlns:a16="http://schemas.microsoft.com/office/drawing/2014/main" id="{D90F6F8B-FA3F-4791-9B14-8D4FA206E182}"/>
              </a:ext>
            </a:extLst>
          </p:cNvPr>
          <p:cNvSpPr/>
          <p:nvPr/>
        </p:nvSpPr>
        <p:spPr>
          <a:xfrm>
            <a:off x="1115616" y="4038973"/>
            <a:ext cx="4066828" cy="369332"/>
          </a:xfrm>
          <a:prstGeom prst="rect">
            <a:avLst/>
          </a:prstGeom>
        </p:spPr>
        <p:txBody>
          <a:bodyPr wrap="square">
            <a:spAutoFit/>
          </a:bodyPr>
          <a:lstStyle/>
          <a:p>
            <a:r>
              <a:rPr lang="en-US" b="1" dirty="0">
                <a:solidFill>
                  <a:srgbClr val="369226"/>
                </a:solidFill>
              </a:rPr>
              <a:t>Z = A v B</a:t>
            </a:r>
            <a:r>
              <a:rPr lang="en-US" dirty="0">
                <a:solidFill>
                  <a:srgbClr val="369226"/>
                </a:solidFill>
              </a:rPr>
              <a:t>  </a:t>
            </a:r>
            <a:r>
              <a:rPr lang="en-US" dirty="0"/>
              <a:t>	</a:t>
            </a:r>
            <a:r>
              <a:rPr lang="en-US" b="1" dirty="0"/>
              <a:t> (logic algebra)</a:t>
            </a:r>
          </a:p>
        </p:txBody>
      </p:sp>
      <p:cxnSp>
        <p:nvCxnSpPr>
          <p:cNvPr id="11" name="Straight Connector 10">
            <a:extLst>
              <a:ext uri="{FF2B5EF4-FFF2-40B4-BE49-F238E27FC236}">
                <a16:creationId xmlns:a16="http://schemas.microsoft.com/office/drawing/2014/main" id="{7A97E97F-1444-4779-80E9-8B63F4045238}"/>
              </a:ext>
            </a:extLst>
          </p:cNvPr>
          <p:cNvCxnSpPr>
            <a:cxnSpLocks/>
          </p:cNvCxnSpPr>
          <p:nvPr/>
        </p:nvCxnSpPr>
        <p:spPr>
          <a:xfrm>
            <a:off x="1510037" y="4038973"/>
            <a:ext cx="720080"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graphicFrame>
        <p:nvGraphicFramePr>
          <p:cNvPr id="4" name="Object 3">
            <a:extLst>
              <a:ext uri="{FF2B5EF4-FFF2-40B4-BE49-F238E27FC236}">
                <a16:creationId xmlns:a16="http://schemas.microsoft.com/office/drawing/2014/main" id="{542EF514-6B57-4A5A-AD6A-EF0C747BDF02}"/>
              </a:ext>
            </a:extLst>
          </p:cNvPr>
          <p:cNvGraphicFramePr>
            <a:graphicFrameLocks noChangeAspect="1"/>
          </p:cNvGraphicFramePr>
          <p:nvPr/>
        </p:nvGraphicFramePr>
        <p:xfrm>
          <a:off x="1070608" y="1895170"/>
          <a:ext cx="6711691" cy="2712152"/>
        </p:xfrm>
        <a:graphic>
          <a:graphicData uri="http://schemas.openxmlformats.org/presentationml/2006/ole">
            <mc:AlternateContent xmlns:mc="http://schemas.openxmlformats.org/markup-compatibility/2006">
              <mc:Choice xmlns:v="urn:schemas-microsoft-com:vml" Requires="v">
                <p:oleObj r:id="rId3" imgW="8037135" imgH="3248466" progId="Visio.Drawing.15">
                  <p:embed/>
                </p:oleObj>
              </mc:Choice>
              <mc:Fallback>
                <p:oleObj r:id="rId3" imgW="8037135" imgH="3248466" progId="Visio.Drawing.15">
                  <p:embed/>
                  <p:pic>
                    <p:nvPicPr>
                      <p:cNvPr id="4" name="Object 3">
                        <a:extLst>
                          <a:ext uri="{FF2B5EF4-FFF2-40B4-BE49-F238E27FC236}">
                            <a16:creationId xmlns:a16="http://schemas.microsoft.com/office/drawing/2014/main" id="{542EF514-6B57-4A5A-AD6A-EF0C747BDF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0608" y="1895170"/>
                        <a:ext cx="6711691" cy="2712152"/>
                      </a:xfrm>
                      <a:prstGeom prst="rect">
                        <a:avLst/>
                      </a:prstGeom>
                      <a:noFill/>
                    </p:spPr>
                  </p:pic>
                </p:oleObj>
              </mc:Fallback>
            </mc:AlternateContent>
          </a:graphicData>
        </a:graphic>
      </p:graphicFrame>
    </p:spTree>
    <p:extLst>
      <p:ext uri="{BB962C8B-B14F-4D97-AF65-F5344CB8AC3E}">
        <p14:creationId xmlns:p14="http://schemas.microsoft.com/office/powerpoint/2010/main" val="20753854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7614"/>
            <a:ext cx="6696223" cy="719138"/>
          </a:xfrm>
        </p:spPr>
        <p:txBody>
          <a:bodyPr/>
          <a:lstStyle/>
          <a:p>
            <a:r>
              <a:rPr lang="en-US" dirty="0"/>
              <a:t>Equivalence</a:t>
            </a:r>
            <a:endParaRPr lang="en-GB" dirty="0"/>
          </a:p>
        </p:txBody>
      </p:sp>
      <p:sp>
        <p:nvSpPr>
          <p:cNvPr id="7" name="Rectangle 6">
            <a:extLst>
              <a:ext uri="{FF2B5EF4-FFF2-40B4-BE49-F238E27FC236}">
                <a16:creationId xmlns:a16="http://schemas.microsoft.com/office/drawing/2014/main" id="{23894E2A-261A-4FD9-B58A-EF53F2510B67}"/>
              </a:ext>
            </a:extLst>
          </p:cNvPr>
          <p:cNvSpPr/>
          <p:nvPr/>
        </p:nvSpPr>
        <p:spPr>
          <a:xfrm>
            <a:off x="1070608" y="5518973"/>
            <a:ext cx="7317815" cy="646331"/>
          </a:xfrm>
          <a:prstGeom prst="rect">
            <a:avLst/>
          </a:prstGeom>
        </p:spPr>
        <p:txBody>
          <a:bodyPr wrap="square">
            <a:spAutoFit/>
          </a:bodyPr>
          <a:lstStyle/>
          <a:p>
            <a:r>
              <a:rPr lang="en-US" b="1" dirty="0">
                <a:solidFill>
                  <a:srgbClr val="369226"/>
                </a:solidFill>
              </a:rPr>
              <a:t>The ‘1’ state is always present at the output of an EQUIVALENCE element if the inputs have identical states</a:t>
            </a:r>
            <a:endParaRPr lang="es-ES" b="1" dirty="0">
              <a:solidFill>
                <a:srgbClr val="369226"/>
              </a:solidFill>
            </a:endParaRPr>
          </a:p>
        </p:txBody>
      </p:sp>
      <p:sp>
        <p:nvSpPr>
          <p:cNvPr id="8" name="Rectangle 7">
            <a:extLst>
              <a:ext uri="{FF2B5EF4-FFF2-40B4-BE49-F238E27FC236}">
                <a16:creationId xmlns:a16="http://schemas.microsoft.com/office/drawing/2014/main" id="{9747B9E9-37B0-4FF1-B214-E5AE3825E9BF}"/>
              </a:ext>
            </a:extLst>
          </p:cNvPr>
          <p:cNvSpPr/>
          <p:nvPr/>
        </p:nvSpPr>
        <p:spPr>
          <a:xfrm>
            <a:off x="900112" y="1379031"/>
            <a:ext cx="8064376" cy="369332"/>
          </a:xfrm>
          <a:prstGeom prst="rect">
            <a:avLst/>
          </a:prstGeom>
        </p:spPr>
        <p:txBody>
          <a:bodyPr wrap="square">
            <a:spAutoFit/>
          </a:bodyPr>
          <a:lstStyle/>
          <a:p>
            <a:r>
              <a:rPr lang="en-US" b="1" dirty="0"/>
              <a:t>Graphical symbol of the EQUIVALENCE element with truth table</a:t>
            </a:r>
            <a:endParaRPr lang="es-ES" dirty="0"/>
          </a:p>
        </p:txBody>
      </p:sp>
      <p:sp>
        <p:nvSpPr>
          <p:cNvPr id="10" name="Rectangle 9">
            <a:extLst>
              <a:ext uri="{FF2B5EF4-FFF2-40B4-BE49-F238E27FC236}">
                <a16:creationId xmlns:a16="http://schemas.microsoft.com/office/drawing/2014/main" id="{D90F6F8B-FA3F-4791-9B14-8D4FA206E182}"/>
              </a:ext>
            </a:extLst>
          </p:cNvPr>
          <p:cNvSpPr/>
          <p:nvPr/>
        </p:nvSpPr>
        <p:spPr>
          <a:xfrm>
            <a:off x="1115615" y="4725144"/>
            <a:ext cx="7317815" cy="369332"/>
          </a:xfrm>
          <a:prstGeom prst="rect">
            <a:avLst/>
          </a:prstGeom>
        </p:spPr>
        <p:txBody>
          <a:bodyPr wrap="square">
            <a:spAutoFit/>
          </a:bodyPr>
          <a:lstStyle/>
          <a:p>
            <a:r>
              <a:rPr lang="en-US" b="1" dirty="0">
                <a:solidFill>
                  <a:srgbClr val="369226"/>
                </a:solidFill>
              </a:rPr>
              <a:t>Z = (A ^ B</a:t>
            </a:r>
            <a:r>
              <a:rPr lang="en-US" dirty="0">
                <a:solidFill>
                  <a:srgbClr val="369226"/>
                </a:solidFill>
              </a:rPr>
              <a:t> ) </a:t>
            </a:r>
            <a:r>
              <a:rPr lang="en-US" b="1" dirty="0">
                <a:solidFill>
                  <a:srgbClr val="369226"/>
                </a:solidFill>
              </a:rPr>
              <a:t>v ( A ^ B)</a:t>
            </a:r>
            <a:r>
              <a:rPr lang="en-US" dirty="0">
                <a:solidFill>
                  <a:srgbClr val="369226"/>
                </a:solidFill>
              </a:rPr>
              <a:t>  </a:t>
            </a:r>
            <a:r>
              <a:rPr lang="en-US" dirty="0"/>
              <a:t>	</a:t>
            </a:r>
            <a:r>
              <a:rPr lang="en-US" b="1" dirty="0"/>
              <a:t> (logic algebra)</a:t>
            </a:r>
          </a:p>
        </p:txBody>
      </p:sp>
      <p:cxnSp>
        <p:nvCxnSpPr>
          <p:cNvPr id="11" name="Straight Connector 10">
            <a:extLst>
              <a:ext uri="{FF2B5EF4-FFF2-40B4-BE49-F238E27FC236}">
                <a16:creationId xmlns:a16="http://schemas.microsoft.com/office/drawing/2014/main" id="{7A97E97F-1444-4779-80E9-8B63F4045238}"/>
              </a:ext>
            </a:extLst>
          </p:cNvPr>
          <p:cNvCxnSpPr>
            <a:cxnSpLocks/>
          </p:cNvCxnSpPr>
          <p:nvPr/>
        </p:nvCxnSpPr>
        <p:spPr>
          <a:xfrm>
            <a:off x="2734173" y="4725144"/>
            <a:ext cx="253651"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graphicFrame>
        <p:nvGraphicFramePr>
          <p:cNvPr id="5" name="Object 4">
            <a:extLst>
              <a:ext uri="{FF2B5EF4-FFF2-40B4-BE49-F238E27FC236}">
                <a16:creationId xmlns:a16="http://schemas.microsoft.com/office/drawing/2014/main" id="{D9AE0EF5-B0C5-47F2-8F7D-433206701889}"/>
              </a:ext>
            </a:extLst>
          </p:cNvPr>
          <p:cNvGraphicFramePr>
            <a:graphicFrameLocks noChangeAspect="1"/>
          </p:cNvGraphicFramePr>
          <p:nvPr/>
        </p:nvGraphicFramePr>
        <p:xfrm>
          <a:off x="1259632" y="1929625"/>
          <a:ext cx="4536504" cy="2581315"/>
        </p:xfrm>
        <a:graphic>
          <a:graphicData uri="http://schemas.openxmlformats.org/presentationml/2006/ole">
            <mc:AlternateContent xmlns:mc="http://schemas.openxmlformats.org/markup-compatibility/2006">
              <mc:Choice xmlns:v="urn:schemas-microsoft-com:vml" Requires="v">
                <p:oleObj r:id="rId3" imgW="5708003" imgH="3235799" progId="Visio.Drawing.15">
                  <p:embed/>
                </p:oleObj>
              </mc:Choice>
              <mc:Fallback>
                <p:oleObj r:id="rId3" imgW="5708003" imgH="3235799" progId="Visio.Drawing.15">
                  <p:embed/>
                  <p:pic>
                    <p:nvPicPr>
                      <p:cNvPr id="5" name="Object 4">
                        <a:extLst>
                          <a:ext uri="{FF2B5EF4-FFF2-40B4-BE49-F238E27FC236}">
                            <a16:creationId xmlns:a16="http://schemas.microsoft.com/office/drawing/2014/main" id="{D9AE0EF5-B0C5-47F2-8F7D-4332067018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1929625"/>
                        <a:ext cx="4536504" cy="2581315"/>
                      </a:xfrm>
                      <a:prstGeom prst="rect">
                        <a:avLst/>
                      </a:prstGeom>
                      <a:noFill/>
                    </p:spPr>
                  </p:pic>
                </p:oleObj>
              </mc:Fallback>
            </mc:AlternateContent>
          </a:graphicData>
        </a:graphic>
      </p:graphicFrame>
      <p:cxnSp>
        <p:nvCxnSpPr>
          <p:cNvPr id="12" name="Straight Connector 11">
            <a:extLst>
              <a:ext uri="{FF2B5EF4-FFF2-40B4-BE49-F238E27FC236}">
                <a16:creationId xmlns:a16="http://schemas.microsoft.com/office/drawing/2014/main" id="{4F0CDB31-1C2F-438C-BBFA-C7383E561FEE}"/>
              </a:ext>
            </a:extLst>
          </p:cNvPr>
          <p:cNvCxnSpPr>
            <a:cxnSpLocks/>
          </p:cNvCxnSpPr>
          <p:nvPr/>
        </p:nvCxnSpPr>
        <p:spPr>
          <a:xfrm>
            <a:off x="3166221" y="4725144"/>
            <a:ext cx="253651"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0755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7614"/>
            <a:ext cx="6696223" cy="719138"/>
          </a:xfrm>
        </p:spPr>
        <p:txBody>
          <a:bodyPr/>
          <a:lstStyle/>
          <a:p>
            <a:r>
              <a:rPr lang="en-US" dirty="0"/>
              <a:t>EXCLUSIVE OR Element (XOR)</a:t>
            </a:r>
            <a:br>
              <a:rPr lang="en-GB" dirty="0"/>
            </a:br>
            <a:endParaRPr lang="en-GB" dirty="0"/>
          </a:p>
        </p:txBody>
      </p:sp>
      <p:sp>
        <p:nvSpPr>
          <p:cNvPr id="8" name="Rectangle 7">
            <a:extLst>
              <a:ext uri="{FF2B5EF4-FFF2-40B4-BE49-F238E27FC236}">
                <a16:creationId xmlns:a16="http://schemas.microsoft.com/office/drawing/2014/main" id="{9747B9E9-37B0-4FF1-B214-E5AE3825E9BF}"/>
              </a:ext>
            </a:extLst>
          </p:cNvPr>
          <p:cNvSpPr/>
          <p:nvPr/>
        </p:nvSpPr>
        <p:spPr>
          <a:xfrm>
            <a:off x="900112" y="1379031"/>
            <a:ext cx="8064376" cy="369332"/>
          </a:xfrm>
          <a:prstGeom prst="rect">
            <a:avLst/>
          </a:prstGeom>
        </p:spPr>
        <p:txBody>
          <a:bodyPr wrap="square">
            <a:spAutoFit/>
          </a:bodyPr>
          <a:lstStyle/>
          <a:p>
            <a:r>
              <a:rPr lang="en-US" b="1" dirty="0"/>
              <a:t>Truth table/circuit diagram of an EXCLUSIVE OR element</a:t>
            </a:r>
          </a:p>
        </p:txBody>
      </p:sp>
      <p:sp>
        <p:nvSpPr>
          <p:cNvPr id="10" name="Rectangle 9">
            <a:extLst>
              <a:ext uri="{FF2B5EF4-FFF2-40B4-BE49-F238E27FC236}">
                <a16:creationId xmlns:a16="http://schemas.microsoft.com/office/drawing/2014/main" id="{D90F6F8B-FA3F-4791-9B14-8D4FA206E182}"/>
              </a:ext>
            </a:extLst>
          </p:cNvPr>
          <p:cNvSpPr/>
          <p:nvPr/>
        </p:nvSpPr>
        <p:spPr>
          <a:xfrm>
            <a:off x="1115615" y="5147900"/>
            <a:ext cx="7317815" cy="369332"/>
          </a:xfrm>
          <a:prstGeom prst="rect">
            <a:avLst/>
          </a:prstGeom>
        </p:spPr>
        <p:txBody>
          <a:bodyPr wrap="square">
            <a:spAutoFit/>
          </a:bodyPr>
          <a:lstStyle/>
          <a:p>
            <a:r>
              <a:rPr lang="en-US" b="1" dirty="0">
                <a:solidFill>
                  <a:srgbClr val="369226"/>
                </a:solidFill>
              </a:rPr>
              <a:t>Z = (A ^ B</a:t>
            </a:r>
            <a:r>
              <a:rPr lang="en-US" dirty="0">
                <a:solidFill>
                  <a:srgbClr val="369226"/>
                </a:solidFill>
              </a:rPr>
              <a:t> ) </a:t>
            </a:r>
            <a:r>
              <a:rPr lang="en-US" b="1" dirty="0">
                <a:solidFill>
                  <a:srgbClr val="369226"/>
                </a:solidFill>
              </a:rPr>
              <a:t>v ( A ^ B)</a:t>
            </a:r>
            <a:r>
              <a:rPr lang="en-US" dirty="0">
                <a:solidFill>
                  <a:srgbClr val="369226"/>
                </a:solidFill>
              </a:rPr>
              <a:t>  </a:t>
            </a:r>
            <a:r>
              <a:rPr lang="en-US" dirty="0"/>
              <a:t>	</a:t>
            </a:r>
            <a:r>
              <a:rPr lang="en-US" b="1" dirty="0"/>
              <a:t> (logic algebra)</a:t>
            </a:r>
          </a:p>
        </p:txBody>
      </p:sp>
      <p:cxnSp>
        <p:nvCxnSpPr>
          <p:cNvPr id="11" name="Straight Connector 10">
            <a:extLst>
              <a:ext uri="{FF2B5EF4-FFF2-40B4-BE49-F238E27FC236}">
                <a16:creationId xmlns:a16="http://schemas.microsoft.com/office/drawing/2014/main" id="{7A97E97F-1444-4779-80E9-8B63F4045238}"/>
              </a:ext>
            </a:extLst>
          </p:cNvPr>
          <p:cNvCxnSpPr>
            <a:cxnSpLocks/>
          </p:cNvCxnSpPr>
          <p:nvPr/>
        </p:nvCxnSpPr>
        <p:spPr>
          <a:xfrm>
            <a:off x="2734173" y="5147900"/>
            <a:ext cx="253651"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F0CDB31-1C2F-438C-BBFA-C7383E561FEE}"/>
              </a:ext>
            </a:extLst>
          </p:cNvPr>
          <p:cNvCxnSpPr>
            <a:cxnSpLocks/>
          </p:cNvCxnSpPr>
          <p:nvPr/>
        </p:nvCxnSpPr>
        <p:spPr>
          <a:xfrm>
            <a:off x="3166221" y="5147900"/>
            <a:ext cx="253651"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graphicFrame>
        <p:nvGraphicFramePr>
          <p:cNvPr id="4" name="Object 3">
            <a:extLst>
              <a:ext uri="{FF2B5EF4-FFF2-40B4-BE49-F238E27FC236}">
                <a16:creationId xmlns:a16="http://schemas.microsoft.com/office/drawing/2014/main" id="{C21291BB-63B4-46B9-8971-401F280F1261}"/>
              </a:ext>
            </a:extLst>
          </p:cNvPr>
          <p:cNvGraphicFramePr>
            <a:graphicFrameLocks noChangeAspect="1"/>
          </p:cNvGraphicFramePr>
          <p:nvPr/>
        </p:nvGraphicFramePr>
        <p:xfrm>
          <a:off x="1227335" y="2023993"/>
          <a:ext cx="6689330" cy="2714566"/>
        </p:xfrm>
        <a:graphic>
          <a:graphicData uri="http://schemas.openxmlformats.org/presentationml/2006/ole">
            <mc:AlternateContent xmlns:mc="http://schemas.openxmlformats.org/markup-compatibility/2006">
              <mc:Choice xmlns:v="urn:schemas-microsoft-com:vml" Requires="v">
                <p:oleObj r:id="rId3" imgW="8037135" imgH="3253072" progId="Visio.Drawing.15">
                  <p:embed/>
                </p:oleObj>
              </mc:Choice>
              <mc:Fallback>
                <p:oleObj r:id="rId3" imgW="8037135" imgH="3253072" progId="Visio.Drawing.15">
                  <p:embed/>
                  <p:pic>
                    <p:nvPicPr>
                      <p:cNvPr id="4" name="Object 3">
                        <a:extLst>
                          <a:ext uri="{FF2B5EF4-FFF2-40B4-BE49-F238E27FC236}">
                            <a16:creationId xmlns:a16="http://schemas.microsoft.com/office/drawing/2014/main" id="{C21291BB-63B4-46B9-8971-401F280F12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7335" y="2023993"/>
                        <a:ext cx="6689330" cy="2714566"/>
                      </a:xfrm>
                      <a:prstGeom prst="rect">
                        <a:avLst/>
                      </a:prstGeom>
                      <a:noFill/>
                    </p:spPr>
                  </p:pic>
                </p:oleObj>
              </mc:Fallback>
            </mc:AlternateContent>
          </a:graphicData>
        </a:graphic>
      </p:graphicFrame>
      <p:cxnSp>
        <p:nvCxnSpPr>
          <p:cNvPr id="13" name="Straight Connector 12">
            <a:extLst>
              <a:ext uri="{FF2B5EF4-FFF2-40B4-BE49-F238E27FC236}">
                <a16:creationId xmlns:a16="http://schemas.microsoft.com/office/drawing/2014/main" id="{8CC8E06E-0E37-49EE-A2A3-16AFF78118B1}"/>
              </a:ext>
            </a:extLst>
          </p:cNvPr>
          <p:cNvCxnSpPr>
            <a:cxnSpLocks/>
          </p:cNvCxnSpPr>
          <p:nvPr/>
        </p:nvCxnSpPr>
        <p:spPr>
          <a:xfrm>
            <a:off x="1619672" y="5075892"/>
            <a:ext cx="1800200"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37007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7238</TotalTime>
  <Words>9561</Words>
  <Application>Microsoft Office PowerPoint</Application>
  <PresentationFormat>On-screen Show (4:3)</PresentationFormat>
  <Paragraphs>723</Paragraphs>
  <Slides>45</Slides>
  <Notes>45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2" baseType="lpstr">
      <vt:lpstr>Arial</vt:lpstr>
      <vt:lpstr>Calibri</vt:lpstr>
      <vt:lpstr>Gotham Light</vt:lpstr>
      <vt:lpstr>Gotham Medium</vt:lpstr>
      <vt:lpstr>Wingdings</vt:lpstr>
      <vt:lpstr>Training 2</vt:lpstr>
      <vt:lpstr>Microsoft Visio Drawing</vt:lpstr>
      <vt:lpstr>KNX Advanced Course</vt:lpstr>
      <vt:lpstr>Logical Connection of Group objects</vt:lpstr>
      <vt:lpstr>Group object - Logic</vt:lpstr>
      <vt:lpstr>Group object - Logic</vt:lpstr>
      <vt:lpstr>OR Function with ON/OFF Delay</vt:lpstr>
      <vt:lpstr>Flow Diagram of OR Function</vt:lpstr>
      <vt:lpstr>OR Function with ON and OFF Delay</vt:lpstr>
      <vt:lpstr>AND Function</vt:lpstr>
      <vt:lpstr>AND Function without Delay</vt:lpstr>
      <vt:lpstr>AND Function with ON and OFF Delay</vt:lpstr>
      <vt:lpstr>AND Function with ON and OFF Delay</vt:lpstr>
      <vt:lpstr>Extended Logic (Direct Relay Control)</vt:lpstr>
      <vt:lpstr>Extended Logic (Object Logic Output)</vt:lpstr>
      <vt:lpstr>Logical Connection of Group Addresses</vt:lpstr>
      <vt:lpstr>Logic Module</vt:lpstr>
      <vt:lpstr>Available Parameter Settings of Logic Modules</vt:lpstr>
      <vt:lpstr>Available Parameter Settings of Logic Modules</vt:lpstr>
      <vt:lpstr>Format Converter</vt:lpstr>
      <vt:lpstr>Logic Gates</vt:lpstr>
      <vt:lpstr>Min/Max-Value Indication</vt:lpstr>
      <vt:lpstr>Threshold Value Detection</vt:lpstr>
      <vt:lpstr>Scenes</vt:lpstr>
      <vt:lpstr>Temperature Comparator</vt:lpstr>
      <vt:lpstr>Gate</vt:lpstr>
      <vt:lpstr>Staircase Light</vt:lpstr>
      <vt:lpstr>Multiplier</vt:lpstr>
      <vt:lpstr>Toggle Value</vt:lpstr>
      <vt:lpstr>Counter</vt:lpstr>
      <vt:lpstr>Time delay</vt:lpstr>
      <vt:lpstr>Extensive Logical Connection of Group Addresses</vt:lpstr>
      <vt:lpstr>PowerPoint Presentation</vt:lpstr>
      <vt:lpstr>OR function without time delay or with ON and OFF delay</vt:lpstr>
      <vt:lpstr>Automatic Room Air Conditioning with Enabling (AND function)</vt:lpstr>
      <vt:lpstr>Automatic Room Air Conditioning with Enabling (AND function)</vt:lpstr>
      <vt:lpstr>AND Function without time delay and with ON/OFF Delay</vt:lpstr>
      <vt:lpstr>Linking Group Addresses (1) – “Extended Logic”</vt:lpstr>
      <vt:lpstr>Graphical Project Design </vt:lpstr>
      <vt:lpstr>PowerPoint Presentation</vt:lpstr>
      <vt:lpstr>AND Function (Conjunction) and AND Element (AND)</vt:lpstr>
      <vt:lpstr>OR Function (Disjunction) and OR Element (OR)</vt:lpstr>
      <vt:lpstr>Negation and NOT Element (NOT)</vt:lpstr>
      <vt:lpstr>NAND Element</vt:lpstr>
      <vt:lpstr>NOR Element</vt:lpstr>
      <vt:lpstr>Equivalence</vt:lpstr>
      <vt:lpstr>EXCLUSIVE OR Element (XOR)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arguments</dc:title>
  <dc:creator>KNX Association;R. Hernandez</dc:creator>
  <cp:lastModifiedBy>Ufuk Unal</cp:lastModifiedBy>
  <cp:revision>346</cp:revision>
  <dcterms:created xsi:type="dcterms:W3CDTF">2012-09-10T07:59:43Z</dcterms:created>
  <dcterms:modified xsi:type="dcterms:W3CDTF">2023-04-06T13:56:20Z</dcterms:modified>
</cp:coreProperties>
</file>