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8" r:id="rId3"/>
    <p:sldId id="299" r:id="rId4"/>
    <p:sldId id="311" r:id="rId5"/>
    <p:sldId id="300" r:id="rId6"/>
    <p:sldId id="301" r:id="rId7"/>
    <p:sldId id="302" r:id="rId8"/>
    <p:sldId id="306" r:id="rId9"/>
    <p:sldId id="307" r:id="rId10"/>
    <p:sldId id="303" r:id="rId11"/>
    <p:sldId id="304" r:id="rId12"/>
    <p:sldId id="305" r:id="rId13"/>
    <p:sldId id="308" r:id="rId14"/>
    <p:sldId id="309" r:id="rId15"/>
    <p:sldId id="257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310" r:id="rId29"/>
    <p:sldId id="295" r:id="rId30"/>
    <p:sldId id="296" r:id="rId31"/>
    <p:sldId id="297" r:id="rId32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EAFF"/>
    <a:srgbClr val="B4CAFA"/>
    <a:srgbClr val="369226"/>
    <a:srgbClr val="0C4BAF"/>
    <a:srgbClr val="D6E3BC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63027" autoAdjust="0"/>
  </p:normalViewPr>
  <p:slideViewPr>
    <p:cSldViewPr>
      <p:cViewPr varScale="1">
        <p:scale>
          <a:sx n="57" d="100"/>
          <a:sy n="57" d="100"/>
        </p:scale>
        <p:origin x="1823" y="40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16.02.2023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4181A-B52E-4AEA-801A-5F0AC153D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8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49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48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55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67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28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88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1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337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32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90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85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31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2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90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52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8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64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81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60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01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85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58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58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216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00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447675" y="1020763"/>
            <a:ext cx="42243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8799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19239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027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869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353833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69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83627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06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434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581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32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476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3369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853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383321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70" r:id="rId16"/>
    <p:sldLayoutId id="2147483772" r:id="rId17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.vsdx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Visio_Drawing4.vsdx"/><Relationship Id="rId4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5.vsdx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KNX Advanced Course</a:t>
            </a:r>
            <a:endParaRPr lang="en-GB" sz="2400" b="0" dirty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AD0C2BC-0F89-4FA7-ABF3-8E3EFEC4B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2400" dirty="0"/>
              <a:t>IP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Network </a:t>
            </a:r>
            <a:r>
              <a:rPr lang="es-ES" dirty="0" err="1"/>
              <a:t>classes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67E90-F087-07CB-9E20-076D647E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371950"/>
          </a:xfrm>
        </p:spPr>
        <p:txBody>
          <a:bodyPr/>
          <a:lstStyle/>
          <a:p>
            <a:r>
              <a:rPr lang="en-US" dirty="0"/>
              <a:t>By transmission Technology:</a:t>
            </a:r>
          </a:p>
          <a:p>
            <a:endParaRPr lang="en-US" dirty="0"/>
          </a:p>
          <a:p>
            <a:pPr lvl="1"/>
            <a:r>
              <a:rPr lang="en-US" dirty="0"/>
              <a:t>Point to point transmission				- Broadcast networks</a:t>
            </a:r>
          </a:p>
          <a:p>
            <a:pPr marL="457200" lvl="1" indent="0">
              <a:buNone/>
            </a:pPr>
            <a:r>
              <a:rPr lang="en-US" dirty="0"/>
              <a:t>(unicasting)							</a:t>
            </a:r>
            <a:r>
              <a:rPr lang="en-US" sz="1600" dirty="0"/>
              <a:t>(broadcasting and multicasting)</a:t>
            </a:r>
          </a:p>
          <a:p>
            <a:pPr lvl="1"/>
            <a:endParaRPr lang="en-US" dirty="0"/>
          </a:p>
        </p:txBody>
      </p:sp>
      <p:pic>
        <p:nvPicPr>
          <p:cNvPr id="14338" name="Picture 2" descr="Point to Point Network Topology">
            <a:extLst>
              <a:ext uri="{FF2B5EF4-FFF2-40B4-BE49-F238E27FC236}">
                <a16:creationId xmlns:a16="http://schemas.microsoft.com/office/drawing/2014/main" id="{B678F028-47E9-2178-F2F1-8112895CD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84984"/>
            <a:ext cx="445238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Broadcasting (networking) - Wikipedia">
            <a:extLst>
              <a:ext uri="{FF2B5EF4-FFF2-40B4-BE49-F238E27FC236}">
                <a16:creationId xmlns:a16="http://schemas.microsoft.com/office/drawing/2014/main" id="{F2CB4E6E-0919-0851-3344-83B561AA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996952"/>
            <a:ext cx="4788024" cy="319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72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Network </a:t>
            </a:r>
            <a:r>
              <a:rPr lang="es-ES" dirty="0" err="1"/>
              <a:t>classes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67E90-F087-07CB-9E20-076D647E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443958"/>
          </a:xfrm>
        </p:spPr>
        <p:txBody>
          <a:bodyPr/>
          <a:lstStyle/>
          <a:p>
            <a:r>
              <a:rPr lang="en-US" dirty="0"/>
              <a:t>By scale:</a:t>
            </a:r>
          </a:p>
          <a:p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D5768CC-2CC2-8A85-5001-71498ECB5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021559"/>
              </p:ext>
            </p:extLst>
          </p:nvPr>
        </p:nvGraphicFramePr>
        <p:xfrm>
          <a:off x="899592" y="2021365"/>
          <a:ext cx="7200800" cy="3979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2604">
                  <a:extLst>
                    <a:ext uri="{9D8B030D-6E8A-4147-A177-3AD203B41FA5}">
                      <a16:colId xmlns:a16="http://schemas.microsoft.com/office/drawing/2014/main" val="2441541603"/>
                    </a:ext>
                  </a:extLst>
                </a:gridCol>
                <a:gridCol w="2258351">
                  <a:extLst>
                    <a:ext uri="{9D8B030D-6E8A-4147-A177-3AD203B41FA5}">
                      <a16:colId xmlns:a16="http://schemas.microsoft.com/office/drawing/2014/main" val="3167702347"/>
                    </a:ext>
                  </a:extLst>
                </a:gridCol>
                <a:gridCol w="3109845">
                  <a:extLst>
                    <a:ext uri="{9D8B030D-6E8A-4147-A177-3AD203B41FA5}">
                      <a16:colId xmlns:a16="http://schemas.microsoft.com/office/drawing/2014/main" val="677400381"/>
                    </a:ext>
                  </a:extLst>
                </a:gridCol>
              </a:tblGrid>
              <a:tr h="555876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300"/>
                        </a:spcBef>
                      </a:pPr>
                      <a:r>
                        <a:rPr lang="en-GB" sz="1100">
                          <a:effectLst/>
                        </a:rPr>
                        <a:t>Interprocessor distance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Processors </a:t>
                      </a:r>
                      <a:endParaRPr lang="es-ES" sz="1100">
                        <a:effectLst/>
                      </a:endParaRPr>
                    </a:p>
                    <a:p>
                      <a:pPr marR="6985"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located in same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Example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0625155"/>
                  </a:ext>
                </a:extLst>
              </a:tr>
              <a:tr h="782880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 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Square meter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PAN (Personal Area Network)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2298124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10 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Room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LAN (Local Area Network)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942033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100 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Building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943211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 km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Campus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783554"/>
                  </a:ext>
                </a:extLst>
              </a:tr>
              <a:tr h="782880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10 km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City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MAN (Metropolitan Area Network)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2349355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100 km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Country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WAN (Wide Area Network)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8187483"/>
                  </a:ext>
                </a:extLst>
              </a:tr>
              <a:tr h="514164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1.000 km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Continent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150089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10.000 Km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Planet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Internet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1541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63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E72E33-E177-9479-D0F5-3E1E305C5D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dirty="0"/>
              <a:t>Basic </a:t>
            </a:r>
            <a:r>
              <a:rPr lang="nl-BE" dirty="0" err="1"/>
              <a:t>structure</a:t>
            </a:r>
            <a:r>
              <a:rPr lang="nl-BE" dirty="0"/>
              <a:t> of a Wireless </a:t>
            </a:r>
            <a:r>
              <a:rPr lang="nl-BE" dirty="0" err="1"/>
              <a:t>and</a:t>
            </a:r>
            <a:r>
              <a:rPr lang="nl-BE" dirty="0"/>
              <a:t> a </a:t>
            </a:r>
            <a:r>
              <a:rPr lang="nl-BE" dirty="0" err="1"/>
              <a:t>Wired</a:t>
            </a:r>
            <a:r>
              <a:rPr lang="nl-BE" dirty="0"/>
              <a:t> LAN</a:t>
            </a:r>
            <a:endParaRPr lang="en-US" dirty="0"/>
          </a:p>
        </p:txBody>
      </p:sp>
      <p:grpSp>
        <p:nvGrpSpPr>
          <p:cNvPr id="1683" name="Group 1682">
            <a:extLst>
              <a:ext uri="{FF2B5EF4-FFF2-40B4-BE49-F238E27FC236}">
                <a16:creationId xmlns:a16="http://schemas.microsoft.com/office/drawing/2014/main" id="{AFD0CC4A-9E5C-CE8B-6E55-51A139531B9B}"/>
              </a:ext>
            </a:extLst>
          </p:cNvPr>
          <p:cNvGrpSpPr/>
          <p:nvPr/>
        </p:nvGrpSpPr>
        <p:grpSpPr>
          <a:xfrm>
            <a:off x="1008357" y="2436755"/>
            <a:ext cx="7029280" cy="2086278"/>
            <a:chOff x="1008357" y="2436755"/>
            <a:chExt cx="7029280" cy="2086278"/>
          </a:xfrm>
        </p:grpSpPr>
        <p:pic>
          <p:nvPicPr>
            <p:cNvPr id="1680" name="Picture 1679">
              <a:extLst>
                <a:ext uri="{FF2B5EF4-FFF2-40B4-BE49-F238E27FC236}">
                  <a16:creationId xmlns:a16="http://schemas.microsoft.com/office/drawing/2014/main" id="{49003D3D-9E5A-615D-D09F-8EBC2C701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130" y="2503152"/>
              <a:ext cx="2441352" cy="201988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CA5F6-12FD-E605-25D3-8789FC3ADA89}"/>
                </a:ext>
              </a:extLst>
            </p:cNvPr>
            <p:cNvSpPr txBox="1"/>
            <p:nvPr/>
          </p:nvSpPr>
          <p:spPr>
            <a:xfrm>
              <a:off x="1008357" y="2436755"/>
              <a:ext cx="17281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To wired network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C69A0C-D368-EC7F-92AD-73111219BB7D}"/>
                </a:ext>
              </a:extLst>
            </p:cNvPr>
            <p:cNvSpPr txBox="1"/>
            <p:nvPr/>
          </p:nvSpPr>
          <p:spPr>
            <a:xfrm>
              <a:off x="2625742" y="2581555"/>
              <a:ext cx="17281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Access point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284ED0-EC35-91F1-F500-F5B4A5F3822F}"/>
                </a:ext>
              </a:extLst>
            </p:cNvPr>
            <p:cNvSpPr txBox="1"/>
            <p:nvPr/>
          </p:nvSpPr>
          <p:spPr>
            <a:xfrm>
              <a:off x="5508104" y="2491608"/>
              <a:ext cx="17281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To rest of network</a:t>
              </a:r>
            </a:p>
          </p:txBody>
        </p:sp>
        <p:pic>
          <p:nvPicPr>
            <p:cNvPr id="1682" name="Picture 1681">
              <a:extLst>
                <a:ext uri="{FF2B5EF4-FFF2-40B4-BE49-F238E27FC236}">
                  <a16:creationId xmlns:a16="http://schemas.microsoft.com/office/drawing/2014/main" id="{23CEBF4C-A325-3C16-6FB0-E8D751D26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0331" y="2799385"/>
              <a:ext cx="2043738" cy="167793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C99C69-31CD-8E22-9CFF-4F3878C03D74}"/>
                </a:ext>
              </a:extLst>
            </p:cNvPr>
            <p:cNvSpPr txBox="1"/>
            <p:nvPr/>
          </p:nvSpPr>
          <p:spPr>
            <a:xfrm>
              <a:off x="7008547" y="2788193"/>
              <a:ext cx="10290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Ethernet switch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460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err="1"/>
              <a:t>Layered</a:t>
            </a:r>
            <a:r>
              <a:rPr lang="es-ES" dirty="0"/>
              <a:t> </a:t>
            </a:r>
            <a:r>
              <a:rPr lang="es-ES" dirty="0" err="1"/>
              <a:t>communication</a:t>
            </a:r>
            <a:endParaRPr lang="es-ES" dirty="0"/>
          </a:p>
        </p:txBody>
      </p:sp>
      <p:pic>
        <p:nvPicPr>
          <p:cNvPr id="5" name="Marcador de contenido 4" descr="Diagrama&#10;&#10;Descripción generada automáticamente">
            <a:extLst>
              <a:ext uri="{FF2B5EF4-FFF2-40B4-BE49-F238E27FC236}">
                <a16:creationId xmlns:a16="http://schemas.microsoft.com/office/drawing/2014/main" id="{20EA0179-F996-01AF-CFC8-19DFC3FFA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52046"/>
            <a:ext cx="5832648" cy="2944859"/>
          </a:xfrm>
          <a:prstGeom prst="rect">
            <a:avLst/>
          </a:prstGeom>
        </p:spPr>
      </p:pic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6C66B3BA-9708-ED57-2602-2A806DD62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117" y="1772816"/>
            <a:ext cx="2947379" cy="25725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53A23E0-A042-9128-FE72-655E6ED35A48}"/>
              </a:ext>
            </a:extLst>
          </p:cNvPr>
          <p:cNvSpPr txBox="1"/>
          <p:nvPr/>
        </p:nvSpPr>
        <p:spPr>
          <a:xfrm>
            <a:off x="467544" y="4789642"/>
            <a:ext cx="46255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Advantages of layered communications: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Reduces complexity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Helps to standardize interfaces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Ensures interoperable technologies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Accelerates Systems evolution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Eases teaching and learning of this systems</a:t>
            </a:r>
          </a:p>
        </p:txBody>
      </p:sp>
    </p:spTree>
    <p:extLst>
      <p:ext uri="{BB962C8B-B14F-4D97-AF65-F5344CB8AC3E}">
        <p14:creationId xmlns:p14="http://schemas.microsoft.com/office/powerpoint/2010/main" val="359123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OSI </a:t>
            </a:r>
            <a:r>
              <a:rPr lang="es-ES" dirty="0" err="1"/>
              <a:t>Model</a:t>
            </a:r>
            <a:endParaRPr lang="es-ES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FBEFFB5-6B64-4572-CAA5-D974ACDD4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279936"/>
              </p:ext>
            </p:extLst>
          </p:nvPr>
        </p:nvGraphicFramePr>
        <p:xfrm>
          <a:off x="395536" y="1772815"/>
          <a:ext cx="4320481" cy="36724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7109">
                  <a:extLst>
                    <a:ext uri="{9D8B030D-6E8A-4147-A177-3AD203B41FA5}">
                      <a16:colId xmlns:a16="http://schemas.microsoft.com/office/drawing/2014/main" val="3738335556"/>
                    </a:ext>
                  </a:extLst>
                </a:gridCol>
                <a:gridCol w="1003730">
                  <a:extLst>
                    <a:ext uri="{9D8B030D-6E8A-4147-A177-3AD203B41FA5}">
                      <a16:colId xmlns:a16="http://schemas.microsoft.com/office/drawing/2014/main" val="2373760308"/>
                    </a:ext>
                  </a:extLst>
                </a:gridCol>
                <a:gridCol w="1344821">
                  <a:extLst>
                    <a:ext uri="{9D8B030D-6E8A-4147-A177-3AD203B41FA5}">
                      <a16:colId xmlns:a16="http://schemas.microsoft.com/office/drawing/2014/main" val="2781992922"/>
                    </a:ext>
                  </a:extLst>
                </a:gridCol>
                <a:gridCol w="1344821">
                  <a:extLst>
                    <a:ext uri="{9D8B030D-6E8A-4147-A177-3AD203B41FA5}">
                      <a16:colId xmlns:a16="http://schemas.microsoft.com/office/drawing/2014/main" val="660408522"/>
                    </a:ext>
                  </a:extLst>
                </a:gridCol>
              </a:tblGrid>
              <a:tr h="417831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Layer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Protocol data unit (PDU)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450039"/>
                  </a:ext>
                </a:extLst>
              </a:tr>
              <a:tr h="417831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</a:rPr>
                        <a:t>Host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layers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Application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Data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232631243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Presentation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165434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Session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953222"/>
                  </a:ext>
                </a:extLst>
              </a:tr>
              <a:tr h="74759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Transport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Segment, Datagram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66540229"/>
                  </a:ext>
                </a:extLst>
              </a:tr>
              <a:tr h="417831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Media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layers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Network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Packet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2224710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Data link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Frame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311814593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Physical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</a:rPr>
                        <a:t>Bit, Symbol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40621451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23AEBF50-B432-99B4-2186-6CBA5BEE8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245643"/>
              </p:ext>
            </p:extLst>
          </p:nvPr>
        </p:nvGraphicFramePr>
        <p:xfrm>
          <a:off x="5075208" y="1842939"/>
          <a:ext cx="3889280" cy="360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000379" imgH="4629150" progId="Visio.Drawing.15">
                  <p:embed/>
                </p:oleObj>
              </mc:Choice>
              <mc:Fallback>
                <p:oleObj name="Visio" r:id="rId3" imgW="5000379" imgH="462915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08" y="1842939"/>
                        <a:ext cx="3889280" cy="36022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23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TCP/IP </a:t>
            </a:r>
            <a:r>
              <a:rPr lang="es-ES" dirty="0" err="1"/>
              <a:t>Model</a:t>
            </a:r>
            <a:endParaRPr lang="es-E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3D85E24-E84D-A7BC-0455-C489285D3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2390626"/>
            <a:ext cx="4364990" cy="2622550"/>
          </a:xfrm>
          <a:prstGeom prst="rect">
            <a:avLst/>
          </a:prstGeom>
        </p:spPr>
      </p:pic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00763C6-7A17-7F37-B591-3E99A9E7B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060" y="1556792"/>
            <a:ext cx="447484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8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Link </a:t>
            </a:r>
            <a:r>
              <a:rPr lang="es-ES" dirty="0" err="1"/>
              <a:t>Layer</a:t>
            </a:r>
            <a:r>
              <a:rPr lang="es-ES" dirty="0"/>
              <a:t> at </a:t>
            </a:r>
            <a:r>
              <a:rPr lang="es-ES" dirty="0" err="1"/>
              <a:t>the</a:t>
            </a:r>
            <a:r>
              <a:rPr lang="es-ES" dirty="0"/>
              <a:t> TCP/IP </a:t>
            </a:r>
            <a:r>
              <a:rPr lang="es-ES" dirty="0" err="1"/>
              <a:t>Stack</a:t>
            </a:r>
            <a:endParaRPr lang="es-E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2BC7B63B-79A3-2619-8083-CAD8840E6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710" y="2924944"/>
            <a:ext cx="4080579" cy="233696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324D69B-3BE6-03A3-047C-B2511C565183}"/>
              </a:ext>
            </a:extLst>
          </p:cNvPr>
          <p:cNvSpPr txBox="1"/>
          <p:nvPr/>
        </p:nvSpPr>
        <p:spPr>
          <a:xfrm>
            <a:off x="2915816" y="2065297"/>
            <a:ext cx="4625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Media Access Control (MAC)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758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Internet </a:t>
            </a:r>
            <a:r>
              <a:rPr lang="es-ES" dirty="0" err="1"/>
              <a:t>Layer</a:t>
            </a:r>
            <a:r>
              <a:rPr lang="es-ES" dirty="0"/>
              <a:t> at </a:t>
            </a:r>
            <a:r>
              <a:rPr lang="es-ES" dirty="0" err="1"/>
              <a:t>the</a:t>
            </a:r>
            <a:r>
              <a:rPr lang="es-ES" dirty="0"/>
              <a:t> TCP/IP </a:t>
            </a:r>
            <a:r>
              <a:rPr lang="es-ES" dirty="0" err="1"/>
              <a:t>Stack</a:t>
            </a:r>
            <a:endParaRPr lang="es-E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24D69B-3BE6-03A3-047C-B2511C565183}"/>
              </a:ext>
            </a:extLst>
          </p:cNvPr>
          <p:cNvSpPr txBox="1"/>
          <p:nvPr/>
        </p:nvSpPr>
        <p:spPr>
          <a:xfrm>
            <a:off x="539552" y="1700808"/>
            <a:ext cx="532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ICMP (Internet Control Message Protocol)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210701-C8D4-FE9D-2846-5D25F0F4AB6C}"/>
              </a:ext>
            </a:extLst>
          </p:cNvPr>
          <p:cNvSpPr txBox="1"/>
          <p:nvPr/>
        </p:nvSpPr>
        <p:spPr>
          <a:xfrm>
            <a:off x="527809" y="2428015"/>
            <a:ext cx="532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IGMP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(Internet Group Management Protocol)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6CBC02-81D7-2EE7-7BC7-D63697E3CDE0}"/>
              </a:ext>
            </a:extLst>
          </p:cNvPr>
          <p:cNvSpPr txBox="1"/>
          <p:nvPr/>
        </p:nvSpPr>
        <p:spPr>
          <a:xfrm>
            <a:off x="527809" y="3140968"/>
            <a:ext cx="4625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ARP (Address Resolution Protocol)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4201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93" y="1000803"/>
            <a:ext cx="9092307" cy="444500"/>
          </a:xfrm>
        </p:spPr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Internet </a:t>
            </a:r>
            <a:r>
              <a:rPr lang="es-ES" dirty="0" err="1"/>
              <a:t>Layer</a:t>
            </a:r>
            <a:r>
              <a:rPr lang="es-ES" dirty="0"/>
              <a:t>: TCP/IP </a:t>
            </a:r>
            <a:r>
              <a:rPr lang="es-ES" dirty="0" err="1"/>
              <a:t>Addressing</a:t>
            </a:r>
            <a:endParaRPr lang="es-E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395536" y="1514569"/>
            <a:ext cx="7921745" cy="205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IPv4: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The IPv4 address consist of 4 octets and is represented in dotted decimal. E.g. 192.168.1.1. This address is divided in 2 parts: </a:t>
            </a:r>
            <a:endParaRPr lang="es-E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300"/>
              </a:spcBef>
              <a:buFont typeface="Symbol" panose="05050102010706020507" pitchFamily="18" charset="2"/>
              <a:buBlip>
                <a:blip r:embed="rId3"/>
              </a:buBlip>
            </a:pP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Network Identifier (Network ID)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Also called Network prefix. Made by a certain number of bits starting at the leftmost bit.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300"/>
              </a:spcAft>
              <a:buFont typeface="Symbol" panose="05050102010706020507" pitchFamily="18" charset="2"/>
              <a:buBlip>
                <a:blip r:embed="rId3"/>
              </a:buBlip>
            </a:pP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Host Identifier (Host ID)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The rest of the bits are used to uniquely identify the respective host.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F3811BE-3C17-EA80-3C0B-ED2A369EA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00355"/>
              </p:ext>
            </p:extLst>
          </p:nvPr>
        </p:nvGraphicFramePr>
        <p:xfrm>
          <a:off x="1116047" y="3667584"/>
          <a:ext cx="6480722" cy="14396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7905">
                  <a:extLst>
                    <a:ext uri="{9D8B030D-6E8A-4147-A177-3AD203B41FA5}">
                      <a16:colId xmlns:a16="http://schemas.microsoft.com/office/drawing/2014/main" val="677183006"/>
                    </a:ext>
                  </a:extLst>
                </a:gridCol>
                <a:gridCol w="1255603">
                  <a:extLst>
                    <a:ext uri="{9D8B030D-6E8A-4147-A177-3AD203B41FA5}">
                      <a16:colId xmlns:a16="http://schemas.microsoft.com/office/drawing/2014/main" val="143201958"/>
                    </a:ext>
                  </a:extLst>
                </a:gridCol>
                <a:gridCol w="1185738">
                  <a:extLst>
                    <a:ext uri="{9D8B030D-6E8A-4147-A177-3AD203B41FA5}">
                      <a16:colId xmlns:a16="http://schemas.microsoft.com/office/drawing/2014/main" val="2409448182"/>
                    </a:ext>
                  </a:extLst>
                </a:gridCol>
                <a:gridCol w="1185738">
                  <a:extLst>
                    <a:ext uri="{9D8B030D-6E8A-4147-A177-3AD203B41FA5}">
                      <a16:colId xmlns:a16="http://schemas.microsoft.com/office/drawing/2014/main" val="3662988585"/>
                    </a:ext>
                  </a:extLst>
                </a:gridCol>
                <a:gridCol w="1185738">
                  <a:extLst>
                    <a:ext uri="{9D8B030D-6E8A-4147-A177-3AD203B41FA5}">
                      <a16:colId xmlns:a16="http://schemas.microsoft.com/office/drawing/2014/main" val="4238236033"/>
                    </a:ext>
                  </a:extLst>
                </a:gridCol>
              </a:tblGrid>
              <a:tr h="359907"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>
                          <a:effectLst/>
                        </a:rPr>
                        <a:t>0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>
                          <a:effectLst/>
                        </a:rPr>
                        <a:t>16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>
                          <a:effectLst/>
                        </a:rPr>
                        <a:t>24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>
                          <a:effectLst/>
                        </a:rPr>
                        <a:t>32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3325138"/>
                  </a:ext>
                </a:extLst>
              </a:tr>
              <a:tr h="359907"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Binary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11100011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01010010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10011101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10110001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317863"/>
                  </a:ext>
                </a:extLst>
              </a:tr>
              <a:tr h="359907"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Dotted Decimal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227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82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157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177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044148"/>
                  </a:ext>
                </a:extLst>
              </a:tr>
              <a:tr h="359907"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Network ID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Host ID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5026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533C89-6FE4-D314-C1A1-A2F4D679D582}"/>
              </a:ext>
            </a:extLst>
          </p:cNvPr>
          <p:cNvSpPr txBox="1"/>
          <p:nvPr/>
        </p:nvSpPr>
        <p:spPr>
          <a:xfrm>
            <a:off x="395536" y="5343431"/>
            <a:ext cx="8065604" cy="70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IPv6: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The IPv6 address consist of 16 octets and is represented in hexadecimal. E.g. C0A8:164 </a:t>
            </a:r>
            <a:endParaRPr lang="es-E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5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TCP/IP </a:t>
            </a:r>
            <a:r>
              <a:rPr lang="es-ES" dirty="0" err="1"/>
              <a:t>Addressing</a:t>
            </a:r>
            <a:endParaRPr lang="es-E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251520" y="1509691"/>
            <a:ext cx="8748464" cy="1457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IPv4: 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Private / Public addresses and Classes </a:t>
            </a:r>
          </a:p>
          <a:p>
            <a:pPr marL="342900" lvl="0" indent="-342900">
              <a:lnSpc>
                <a:spcPct val="115000"/>
              </a:lnSpc>
              <a:spcBef>
                <a:spcPts val="300"/>
              </a:spcBef>
              <a:buFont typeface="Symbol" panose="05050102010706020507" pitchFamily="18" charset="2"/>
              <a:buBlip>
                <a:blip r:embed="rId3"/>
              </a:buBlip>
            </a:pPr>
            <a:r>
              <a:rPr lang="en-GB" sz="14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Private IP Addresses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are used for data transmission within private networks and can be freely chosen by the network operator within certain rules.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300"/>
              </a:spcAft>
              <a:buFont typeface="Symbol" panose="05050102010706020507" pitchFamily="18" charset="2"/>
              <a:buBlip>
                <a:blip r:embed="rId3"/>
              </a:buBlip>
            </a:pPr>
            <a:r>
              <a:rPr lang="en-GB" sz="14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Public IP addresses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assigned by the Internet Assigned Numbers Authority (IANA), which is part of the Internet Corporation for Assigned Names and Numbers (ICANN).</a:t>
            </a:r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9520BA5-4EED-9853-F3AD-C934E15DD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69005"/>
              </p:ext>
            </p:extLst>
          </p:nvPr>
        </p:nvGraphicFramePr>
        <p:xfrm>
          <a:off x="820689" y="3140968"/>
          <a:ext cx="7135687" cy="3024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9821">
                  <a:extLst>
                    <a:ext uri="{9D8B030D-6E8A-4147-A177-3AD203B41FA5}">
                      <a16:colId xmlns:a16="http://schemas.microsoft.com/office/drawing/2014/main" val="2225283177"/>
                    </a:ext>
                  </a:extLst>
                </a:gridCol>
                <a:gridCol w="1372215">
                  <a:extLst>
                    <a:ext uri="{9D8B030D-6E8A-4147-A177-3AD203B41FA5}">
                      <a16:colId xmlns:a16="http://schemas.microsoft.com/office/drawing/2014/main" val="1243424883"/>
                    </a:ext>
                  </a:extLst>
                </a:gridCol>
                <a:gridCol w="1401993">
                  <a:extLst>
                    <a:ext uri="{9D8B030D-6E8A-4147-A177-3AD203B41FA5}">
                      <a16:colId xmlns:a16="http://schemas.microsoft.com/office/drawing/2014/main" val="2013185885"/>
                    </a:ext>
                  </a:extLst>
                </a:gridCol>
                <a:gridCol w="1290329">
                  <a:extLst>
                    <a:ext uri="{9D8B030D-6E8A-4147-A177-3AD203B41FA5}">
                      <a16:colId xmlns:a16="http://schemas.microsoft.com/office/drawing/2014/main" val="658851111"/>
                    </a:ext>
                  </a:extLst>
                </a:gridCol>
                <a:gridCol w="1089336">
                  <a:extLst>
                    <a:ext uri="{9D8B030D-6E8A-4147-A177-3AD203B41FA5}">
                      <a16:colId xmlns:a16="http://schemas.microsoft.com/office/drawing/2014/main" val="1478882937"/>
                    </a:ext>
                  </a:extLst>
                </a:gridCol>
                <a:gridCol w="1401993">
                  <a:extLst>
                    <a:ext uri="{9D8B030D-6E8A-4147-A177-3AD203B41FA5}">
                      <a16:colId xmlns:a16="http://schemas.microsoft.com/office/drawing/2014/main" val="66193097"/>
                    </a:ext>
                  </a:extLst>
                </a:gridCol>
              </a:tblGrid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</a:pPr>
                      <a:r>
                        <a:rPr lang="en-GB" sz="1100" dirty="0">
                          <a:effectLst/>
                        </a:rPr>
                        <a:t>Class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Public IP Range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Private IP Range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Subnet Mask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number of Networks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1100">
                          <a:effectLst/>
                        </a:rPr>
                        <a:t>number of Hosts per Network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9639329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1.0.0.0 to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rPr lang="en-GB" sz="1100" dirty="0">
                          <a:effectLst/>
                        </a:rPr>
                        <a:t>127.0.0.0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10.0.0.0 to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rPr lang="en-GB" sz="1100" dirty="0">
                          <a:effectLst/>
                        </a:rPr>
                        <a:t>10.255.255.255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255.0.0.0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126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16,777,214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340005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128.0.0.0 to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rPr lang="en-GB" sz="1100" dirty="0">
                          <a:effectLst/>
                        </a:rPr>
                        <a:t>191.255.0.0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172.16.0.0 to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rPr lang="en-GB" sz="1100" dirty="0">
                          <a:effectLst/>
                        </a:rPr>
                        <a:t>172.31.255.255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255.255.0.0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16,382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65,534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529032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192.0.0.0 to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rPr lang="en-GB" sz="1100" dirty="0">
                          <a:effectLst/>
                        </a:rPr>
                        <a:t>223.255.255.0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192.168.0.0 to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rPr lang="en-GB" sz="1100" dirty="0">
                          <a:effectLst/>
                        </a:rPr>
                        <a:t>192.168.255.255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255.255.255.0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2,097,150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254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008714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N/A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224.0.0.0 to 239.255.255.255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N/A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N/A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Multicasting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88128"/>
                  </a:ext>
                </a:extLst>
              </a:tr>
              <a:tr h="694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N/A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240.0.0.0 to 255.255.255.255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N/A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N/A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Research / Reserved/ Experimental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58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6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transport</a:t>
            </a:r>
            <a:r>
              <a:rPr lang="es-ES" dirty="0"/>
              <a:t> </a:t>
            </a:r>
            <a:r>
              <a:rPr lang="es-ES" dirty="0" err="1"/>
              <a:t>Layer</a:t>
            </a:r>
            <a:r>
              <a:rPr lang="es-ES" dirty="0"/>
              <a:t> at </a:t>
            </a:r>
            <a:r>
              <a:rPr lang="es-ES" dirty="0" err="1"/>
              <a:t>the</a:t>
            </a:r>
            <a:r>
              <a:rPr lang="es-ES" dirty="0"/>
              <a:t> TCP/IP </a:t>
            </a:r>
            <a:r>
              <a:rPr lang="es-ES" dirty="0" err="1"/>
              <a:t>stack</a:t>
            </a:r>
            <a:endParaRPr lang="es-E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251520" y="1509691"/>
            <a:ext cx="3888432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TCP: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</a:rPr>
              <a:t>Transmission Control Protocol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AF11F8-69D3-FADB-B1AB-F9CF9DBC121A}"/>
              </a:ext>
            </a:extLst>
          </p:cNvPr>
          <p:cNvSpPr txBox="1"/>
          <p:nvPr/>
        </p:nvSpPr>
        <p:spPr>
          <a:xfrm>
            <a:off x="5075208" y="1509691"/>
            <a:ext cx="3456384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UDP: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</a:rPr>
              <a:t>User Datagram Protocol</a:t>
            </a:r>
          </a:p>
        </p:txBody>
      </p:sp>
      <p:pic>
        <p:nvPicPr>
          <p:cNvPr id="5" name="Imagen 4" descr="Functioning of TCP">
            <a:extLst>
              <a:ext uri="{FF2B5EF4-FFF2-40B4-BE49-F238E27FC236}">
                <a16:creationId xmlns:a16="http://schemas.microsoft.com/office/drawing/2014/main" id="{06618BE7-AAB5-421A-1277-F8D8202D78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95"/>
          <a:stretch/>
        </p:blipFill>
        <p:spPr bwMode="auto">
          <a:xfrm>
            <a:off x="366405" y="2211938"/>
            <a:ext cx="3888432" cy="30447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7339A549-2C89-58BE-C0A3-887DB93351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2" t="27625" r="882" b="-3917"/>
          <a:stretch/>
        </p:blipFill>
        <p:spPr bwMode="auto">
          <a:xfrm>
            <a:off x="4644008" y="2254249"/>
            <a:ext cx="4181618" cy="272922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1972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The </a:t>
            </a:r>
            <a:r>
              <a:rPr lang="en-US" dirty="0"/>
              <a:t>Application</a:t>
            </a:r>
            <a:r>
              <a:rPr lang="es-ES" dirty="0"/>
              <a:t> Layer at the TCP/IP stack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35496" y="1493387"/>
            <a:ext cx="4176464" cy="71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Many protocols (+500) at this Layer: 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TELNET, FTP, SMTP, HTTP, MQTT,…</a:t>
            </a:r>
            <a:endParaRPr lang="en-GB" sz="1600" dirty="0"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50CE03-964F-12F6-5E7C-80834CAA42A7}"/>
              </a:ext>
            </a:extLst>
          </p:cNvPr>
          <p:cNvSpPr txBox="1"/>
          <p:nvPr/>
        </p:nvSpPr>
        <p:spPr>
          <a:xfrm>
            <a:off x="3275856" y="1466451"/>
            <a:ext cx="5832648" cy="179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Protocols interesting for Network Administrators: </a:t>
            </a: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SNMP: </a:t>
            </a: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Simple Network Management Protocol </a:t>
            </a:r>
            <a:endParaRPr lang="en-GB" sz="1600" b="1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latin typeface="Arial" panose="020B0604020202020204" pitchFamily="34" charset="0"/>
                <a:ea typeface="Calibri" panose="020F0502020204030204" pitchFamily="34" charset="0"/>
              </a:rPr>
              <a:t>DNS: </a:t>
            </a: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Domain Name System </a:t>
            </a:r>
            <a:endParaRPr lang="en-GB" sz="16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DHCP: </a:t>
            </a: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Dynamic Host Configuration Protocol </a:t>
            </a:r>
            <a:endParaRPr lang="en-GB" sz="1600" b="1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latin typeface="Arial" panose="020B0604020202020204" pitchFamily="34" charset="0"/>
                <a:ea typeface="Calibri" panose="020F0502020204030204" pitchFamily="34" charset="0"/>
              </a:rPr>
              <a:t>NAT: </a:t>
            </a: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Network Address Translation</a:t>
            </a:r>
            <a:endParaRPr lang="en-GB" sz="1600" b="1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9" name="Imagen 8" descr="Diagrama&#10;&#10;Descripción generada automáticamente">
            <a:extLst>
              <a:ext uri="{FF2B5EF4-FFF2-40B4-BE49-F238E27FC236}">
                <a16:creationId xmlns:a16="http://schemas.microsoft.com/office/drawing/2014/main" id="{0BD726C0-1AAD-8341-6981-682F097DA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2220088"/>
            <a:ext cx="4824536" cy="3458646"/>
          </a:xfrm>
          <a:prstGeom prst="rect">
            <a:avLst/>
          </a:prstGeom>
        </p:spPr>
      </p:pic>
      <p:pic>
        <p:nvPicPr>
          <p:cNvPr id="11" name="Imagen 10" descr="Diagrama&#10;&#10;Descripción generada automáticamente">
            <a:extLst>
              <a:ext uri="{FF2B5EF4-FFF2-40B4-BE49-F238E27FC236}">
                <a16:creationId xmlns:a16="http://schemas.microsoft.com/office/drawing/2014/main" id="{6E3D116E-32E3-EBD2-45FE-0316733FD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1" y="3222554"/>
            <a:ext cx="4176464" cy="300830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654F299-EBD1-2C57-254E-FB7FEFD524D2}"/>
              </a:ext>
            </a:extLst>
          </p:cNvPr>
          <p:cNvSpPr txBox="1"/>
          <p:nvPr/>
        </p:nvSpPr>
        <p:spPr>
          <a:xfrm>
            <a:off x="1619672" y="5661248"/>
            <a:ext cx="3348372" cy="542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100" dirty="0">
                <a:latin typeface="Arial" panose="020B0604020202020204" pitchFamily="34" charset="0"/>
                <a:ea typeface="Calibri" panose="020F0502020204030204" pitchFamily="34" charset="0"/>
              </a:rPr>
              <a:t>NAPT example</a:t>
            </a: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100" dirty="0">
                <a:latin typeface="Arial" panose="020B0604020202020204" pitchFamily="34" charset="0"/>
                <a:ea typeface="Calibri" panose="020F0502020204030204" pitchFamily="34" charset="0"/>
              </a:rPr>
              <a:t>(NAPT: Network Address and Port translation)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CC63A3-9D25-B4A0-C8CB-C164F3F426FB}"/>
              </a:ext>
            </a:extLst>
          </p:cNvPr>
          <p:cNvSpPr txBox="1"/>
          <p:nvPr/>
        </p:nvSpPr>
        <p:spPr>
          <a:xfrm>
            <a:off x="68151" y="5693958"/>
            <a:ext cx="1047465" cy="270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100" dirty="0">
                <a:latin typeface="Arial" panose="020B0604020202020204" pitchFamily="34" charset="0"/>
                <a:ea typeface="Calibri" panose="020F0502020204030204" pitchFamily="34" charset="0"/>
              </a:rPr>
              <a:t>NAT example</a:t>
            </a:r>
          </a:p>
        </p:txBody>
      </p:sp>
    </p:spTree>
    <p:extLst>
      <p:ext uri="{BB962C8B-B14F-4D97-AF65-F5344CB8AC3E}">
        <p14:creationId xmlns:p14="http://schemas.microsoft.com/office/powerpoint/2010/main" val="203678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Equipment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layers</a:t>
            </a:r>
            <a:endParaRPr lang="es-E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35496" y="1493387"/>
            <a:ext cx="4176464" cy="35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Router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CC51C4-CF6B-D51B-DDC6-688FD397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694" y="18408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3F21DD1A-B9F9-E5EB-73DD-6B4069B9E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267348"/>
              </p:ext>
            </p:extLst>
          </p:nvPr>
        </p:nvGraphicFramePr>
        <p:xfrm>
          <a:off x="4819972" y="1556792"/>
          <a:ext cx="4216524" cy="4598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52627" imgH="5181135" progId="Visio.Drawing.15">
                  <p:embed/>
                </p:oleObj>
              </mc:Choice>
              <mc:Fallback>
                <p:oleObj name="Visio" r:id="rId3" imgW="4352627" imgH="518113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456"/>
                      <a:stretch>
                        <a:fillRect/>
                      </a:stretch>
                    </p:blipFill>
                    <p:spPr bwMode="auto">
                      <a:xfrm>
                        <a:off x="4819972" y="1556792"/>
                        <a:ext cx="4216524" cy="45980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F969EDAA-E06F-00DE-D389-3E44D22207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4" y="1989553"/>
            <a:ext cx="4612570" cy="198952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BBB11BE-2D79-9033-9BF5-CE7260506805}"/>
              </a:ext>
            </a:extLst>
          </p:cNvPr>
          <p:cNvSpPr txBox="1"/>
          <p:nvPr/>
        </p:nvSpPr>
        <p:spPr>
          <a:xfrm>
            <a:off x="107504" y="4373590"/>
            <a:ext cx="4176464" cy="143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Switch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latin typeface="Arial" panose="020B0604020202020204" pitchFamily="34" charset="0"/>
                <a:ea typeface="Calibri" panose="020F0502020204030204" pitchFamily="34" charset="0"/>
              </a:rPr>
              <a:t>Bridge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Repeater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1600" b="1" dirty="0">
                <a:latin typeface="Arial" panose="020B0604020202020204" pitchFamily="34" charset="0"/>
                <a:ea typeface="Calibri" panose="020F0502020204030204" pitchFamily="34" charset="0"/>
              </a:rPr>
              <a:t>Hub</a:t>
            </a:r>
            <a:endParaRPr lang="en-GB" sz="1600" b="1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61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 Communication in KNX Systems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63AC9-9CED-48FD-AB26-D8B253BB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738269"/>
            <a:ext cx="8172400" cy="842386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A6DB5A87-A92C-47B0-BEBD-A0C993C1961B}"/>
              </a:ext>
            </a:extLst>
          </p:cNvPr>
          <p:cNvSpPr txBox="1">
            <a:spLocks/>
          </p:cNvSpPr>
          <p:nvPr/>
        </p:nvSpPr>
        <p:spPr>
          <a:xfrm>
            <a:off x="971600" y="1412875"/>
            <a:ext cx="7992888" cy="31682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000" kern="0">
                <a:ea typeface="Open Sans" panose="020B0606030504020204" pitchFamily="34" charset="0"/>
                <a:cs typeface="Open Sans" panose="020B0606030504020204" pitchFamily="34" charset="0"/>
              </a:rPr>
              <a:t>Communication takes place via the: </a:t>
            </a:r>
          </a:p>
          <a:p>
            <a:r>
              <a:rPr lang="en-US" sz="2000" kern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Application layer which generates the KNXnet/IP telegram</a:t>
            </a:r>
          </a:p>
          <a:p>
            <a:r>
              <a:rPr lang="en-US" sz="2000" kern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Transport layer (UDP)</a:t>
            </a:r>
          </a:p>
          <a:p>
            <a:r>
              <a:rPr lang="en-US" sz="2000" kern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Network layer (IP) </a:t>
            </a:r>
          </a:p>
          <a:p>
            <a:r>
              <a:rPr lang="en-US" sz="2000" kern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Ethernet as a physical layer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kern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lang="es-ES" sz="2400" kern="0">
              <a:solidFill>
                <a:schemeClr val="bg2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sz="2000" kern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Additional information for the respective layer (the header) is always added to the KNXnet/IP information </a:t>
            </a:r>
            <a:endParaRPr lang="en-US" sz="2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842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 Communication in KNX Systems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7CAC5AC-F8B2-4718-BF30-F61B07468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357384"/>
              </p:ext>
            </p:extLst>
          </p:nvPr>
        </p:nvGraphicFramePr>
        <p:xfrm>
          <a:off x="675611" y="1340769"/>
          <a:ext cx="7792778" cy="4896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929243" imgH="5637532" progId="Visio.Drawing.15">
                  <p:embed/>
                </p:oleObj>
              </mc:Choice>
              <mc:Fallback>
                <p:oleObj name="Visio" r:id="rId3" imgW="8929243" imgH="5637532" progId="Visio.Drawing.15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7CAC5AC-F8B2-4718-BF30-F61B074688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11" y="1340769"/>
                        <a:ext cx="7792778" cy="48965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073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of Network Devices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971600" y="1412874"/>
            <a:ext cx="7992888" cy="4968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Arial" charset="0"/>
              </a:rPr>
              <a:t>A network device has at least </a:t>
            </a:r>
            <a:r>
              <a:rPr lang="en-GB" sz="2000" dirty="0">
                <a:latin typeface="Arial" charset="0"/>
              </a:rPr>
              <a:t>two addresses:</a:t>
            </a:r>
          </a:p>
          <a:p>
            <a:pPr marL="0" indent="0">
              <a:buNone/>
            </a:pPr>
            <a:endParaRPr lang="es-ES" sz="2000" dirty="0">
              <a:latin typeface="Arial" charset="0"/>
            </a:endParaRPr>
          </a:p>
          <a:p>
            <a:pPr lvl="0"/>
            <a:r>
              <a:rPr lang="en-GB" sz="2000" dirty="0">
                <a:ea typeface="Open Sans" panose="020B0606030504020204" pitchFamily="34" charset="0"/>
                <a:cs typeface="Open Sans" panose="020B0606030504020204" pitchFamily="34" charset="0"/>
              </a:rPr>
              <a:t>MAC address (Media Access Control) </a:t>
            </a: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Linked to the hardware and cannot be modified</a:t>
            </a: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It is a globally unique “serial number” </a:t>
            </a: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It consists of 6 bytes with the format: 00-50-C2-55-40-00</a:t>
            </a:r>
          </a:p>
          <a:p>
            <a:pPr marL="400050" lvl="1" indent="0">
              <a:buNone/>
            </a:pPr>
            <a:endParaRPr lang="es-ES" sz="1600" dirty="0">
              <a:solidFill>
                <a:schemeClr val="tx1"/>
              </a:solidFill>
              <a:latin typeface="Arial" charset="0"/>
            </a:endParaRPr>
          </a:p>
          <a:p>
            <a:pPr lvl="0"/>
            <a:r>
              <a:rPr lang="en-GB" sz="2000" dirty="0">
                <a:ea typeface="Open Sans" panose="020B0606030504020204" pitchFamily="34" charset="0"/>
                <a:cs typeface="Open Sans" panose="020B0606030504020204" pitchFamily="34" charset="0"/>
              </a:rPr>
              <a:t>IP address (Internet Protocol) </a:t>
            </a: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Assigned by the administrator or via DHCP</a:t>
            </a: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It consists of 4 bytes (IPv4) with the format: 192.168.1.1</a:t>
            </a: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IPv6 is currently not used </a:t>
            </a: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Similar to the KNX physical address</a:t>
            </a:r>
            <a:endParaRPr lang="es-ES" sz="2000" b="1" dirty="0">
              <a:solidFill>
                <a:schemeClr val="bg2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2" indent="-342900"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Entered in the memory of the network device</a:t>
            </a:r>
            <a:endParaRPr lang="es-ES" sz="2000" b="1" dirty="0">
              <a:solidFill>
                <a:schemeClr val="bg2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13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KNX Multicast address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395536" y="1628898"/>
            <a:ext cx="8568952" cy="23761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Arial" charset="0"/>
              </a:rPr>
              <a:t>A 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defined MAC address consisting of 6 bytes is sent in the network layer as destination address. It starts with 01-00-5E- and is supplemented by a 4-byte long multicast IP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Several multicast IP addresses can be mapped on the same MAC address </a:t>
            </a:r>
          </a:p>
          <a:p>
            <a:pPr marL="0" indent="0">
              <a:buNone/>
            </a:pPr>
            <a:r>
              <a:rPr lang="en-GB" sz="2000" dirty="0">
                <a:latin typeface="Arial" charset="0"/>
              </a:rPr>
              <a:t>Multicast IP address: </a:t>
            </a:r>
            <a:r>
              <a:rPr lang="en-GB" sz="2000" dirty="0">
                <a:solidFill>
                  <a:schemeClr val="tx1"/>
                </a:solidFill>
                <a:latin typeface="Arial" charset="0"/>
              </a:rPr>
              <a:t>224.0.23.12</a:t>
            </a:r>
          </a:p>
          <a:p>
            <a:pPr marL="0" indent="0">
              <a:buNone/>
            </a:pPr>
            <a:r>
              <a:rPr lang="en-GB" sz="2000" dirty="0">
                <a:latin typeface="Arial" charset="0"/>
              </a:rPr>
              <a:t>Multicast</a:t>
            </a:r>
            <a:r>
              <a:rPr lang="es-ES" sz="2000" dirty="0">
                <a:latin typeface="Arial" charset="0"/>
              </a:rPr>
              <a:t> </a:t>
            </a:r>
            <a:r>
              <a:rPr lang="en-US" sz="2000" dirty="0">
                <a:latin typeface="Arial" charset="0"/>
              </a:rPr>
              <a:t>MAC address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: 01-00-5E--00-17-0C</a:t>
            </a:r>
          </a:p>
          <a:p>
            <a:pPr marL="0" indent="0">
              <a:buNone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6DB8B-FD89-43EA-A77E-D7684AEDA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149080"/>
            <a:ext cx="9067869" cy="20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27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KNX Multicast address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971600" y="1412874"/>
            <a:ext cx="7992888" cy="4968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It is possible to change the predefined KNX multicast IP addresses in the parameters of </a:t>
            </a:r>
            <a:r>
              <a:rPr lang="en-US" sz="2000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/IP devices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Arial" charset="0"/>
              </a:rPr>
              <a:t>It is possible to establish communication between separated KNX installations within the same IP network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r>
              <a:rPr lang="en-GB" sz="2000" dirty="0">
                <a:latin typeface="Arial" charset="0"/>
              </a:rPr>
              <a:t>All IP routers of an installation are listening in on the same multicast IP address</a:t>
            </a:r>
            <a:endParaRPr lang="es-ES" sz="2000" dirty="0">
              <a:latin typeface="Arial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A4EFA3-CCCC-441F-96CA-66969C93EC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89" y="2276872"/>
            <a:ext cx="6898622" cy="2160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0121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KNXnet</a:t>
            </a:r>
            <a:r>
              <a:rPr lang="en-US" dirty="0"/>
              <a:t>/IP Protocol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539552" y="3947514"/>
            <a:ext cx="8313359" cy="22177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r>
              <a:rPr lang="en-GB" sz="1800" dirty="0">
                <a:latin typeface="Arial" charset="0"/>
              </a:rPr>
              <a:t>Header Length : </a:t>
            </a:r>
            <a:r>
              <a:rPr lang="en-US" sz="1800" dirty="0">
                <a:solidFill>
                  <a:schemeClr val="tx1"/>
                </a:solidFill>
                <a:latin typeface="Arial" charset="0"/>
              </a:rPr>
              <a:t>Start of </a:t>
            </a:r>
            <a:r>
              <a:rPr lang="en-US" sz="1800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US" sz="1800" dirty="0">
                <a:solidFill>
                  <a:schemeClr val="tx1"/>
                </a:solidFill>
                <a:latin typeface="Arial" charset="0"/>
              </a:rPr>
              <a:t>/IP frame (Value = 06h)</a:t>
            </a:r>
          </a:p>
          <a:p>
            <a:r>
              <a:rPr lang="en-GB" sz="1800" dirty="0">
                <a:latin typeface="Arial" charset="0"/>
              </a:rPr>
              <a:t>Protocol Version:  </a:t>
            </a:r>
            <a:r>
              <a:rPr lang="en-GB" sz="1800" b="1" dirty="0">
                <a:solidFill>
                  <a:schemeClr val="tx1"/>
                </a:solidFill>
                <a:latin typeface="Arial" charset="0"/>
              </a:rPr>
              <a:t>Status of the </a:t>
            </a:r>
            <a:r>
              <a:rPr lang="en-GB" sz="1800" b="1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GB" sz="1800" b="1" dirty="0">
                <a:solidFill>
                  <a:schemeClr val="tx1"/>
                </a:solidFill>
                <a:latin typeface="Arial" charset="0"/>
              </a:rPr>
              <a:t>/IP protocol</a:t>
            </a:r>
            <a:r>
              <a:rPr lang="en-GB" sz="1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GB" sz="1800" b="1" dirty="0">
                <a:solidFill>
                  <a:schemeClr val="tx1"/>
                </a:solidFill>
                <a:latin typeface="Arial" charset="0"/>
              </a:rPr>
              <a:t>(Value = 10h)</a:t>
            </a:r>
            <a:endParaRPr lang="es-ES" sz="1800" dirty="0">
              <a:solidFill>
                <a:schemeClr val="tx1"/>
              </a:solidFill>
              <a:latin typeface="Arial" charset="0"/>
            </a:endParaRPr>
          </a:p>
          <a:p>
            <a:r>
              <a:rPr lang="en-US" sz="1800" dirty="0">
                <a:latin typeface="Arial" charset="0"/>
              </a:rPr>
              <a:t>Service Type Identifier: </a:t>
            </a:r>
            <a:r>
              <a:rPr lang="en-US" sz="1800" dirty="0">
                <a:solidFill>
                  <a:schemeClr val="tx1"/>
                </a:solidFill>
                <a:latin typeface="Arial" charset="0"/>
              </a:rPr>
              <a:t>Action to be carried out </a:t>
            </a:r>
          </a:p>
          <a:p>
            <a:r>
              <a:rPr lang="en-US" sz="1800" dirty="0">
                <a:latin typeface="Arial" charset="0"/>
              </a:rPr>
              <a:t>Total Length: </a:t>
            </a:r>
            <a:r>
              <a:rPr lang="en-US" sz="1800" dirty="0">
                <a:solidFill>
                  <a:schemeClr val="tx1"/>
                </a:solidFill>
                <a:latin typeface="Arial" charset="0"/>
              </a:rPr>
              <a:t>Length in bytes of the </a:t>
            </a:r>
            <a:r>
              <a:rPr lang="en-US" sz="1800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US" sz="1800" dirty="0">
                <a:solidFill>
                  <a:schemeClr val="tx1"/>
                </a:solidFill>
                <a:latin typeface="Arial" charset="0"/>
              </a:rPr>
              <a:t>/IP</a:t>
            </a:r>
          </a:p>
          <a:p>
            <a:r>
              <a:rPr lang="en-US" sz="1800" dirty="0" err="1">
                <a:latin typeface="Arial" charset="0"/>
              </a:rPr>
              <a:t>KNXnet</a:t>
            </a:r>
            <a:r>
              <a:rPr lang="en-US" sz="1800" dirty="0">
                <a:latin typeface="Arial" charset="0"/>
              </a:rPr>
              <a:t>/IP Body</a:t>
            </a:r>
            <a:r>
              <a:rPr lang="en-US" sz="1800" dirty="0">
                <a:solidFill>
                  <a:schemeClr val="tx1"/>
                </a:solidFill>
                <a:latin typeface="Arial" charset="0"/>
              </a:rPr>
              <a:t>: Useful data within a </a:t>
            </a:r>
            <a:r>
              <a:rPr lang="en-US" sz="1800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US" sz="1800" dirty="0">
                <a:solidFill>
                  <a:schemeClr val="tx1"/>
                </a:solidFill>
                <a:latin typeface="Arial" charset="0"/>
              </a:rPr>
              <a:t>/IP frame. The useful data adopts a different structure depending on the information content </a:t>
            </a:r>
          </a:p>
          <a:p>
            <a:endParaRPr lang="en-US" sz="1800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A77A5D-E779-401B-9849-AE9676FE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645094"/>
            <a:ext cx="7724582" cy="1071938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A8BAA058-E56C-C2E5-59A7-72D0E85C7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904" y="1526038"/>
            <a:ext cx="6300192" cy="649405"/>
          </a:xfrm>
          <a:prstGeom prst="rect">
            <a:avLst/>
          </a:prstGeom>
        </p:spPr>
      </p:pic>
      <p:sp>
        <p:nvSpPr>
          <p:cNvPr id="13" name="Conector recto 16">
            <a:extLst>
              <a:ext uri="{FF2B5EF4-FFF2-40B4-BE49-F238E27FC236}">
                <a16:creationId xmlns:a16="http://schemas.microsoft.com/office/drawing/2014/main" id="{CB9E8627-27B2-BF94-DDB3-ED82D4C112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1168" y="2066742"/>
            <a:ext cx="5000991" cy="649406"/>
          </a:xfrm>
          <a:prstGeom prst="line">
            <a:avLst/>
          </a:prstGeom>
          <a:noFill/>
          <a:ln w="6350">
            <a:solidFill>
              <a:srgbClr val="5B9BD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4" name="Conector recto 27">
            <a:extLst>
              <a:ext uri="{FF2B5EF4-FFF2-40B4-BE49-F238E27FC236}">
                <a16:creationId xmlns:a16="http://schemas.microsoft.com/office/drawing/2014/main" id="{63DD3E0C-CCAE-18F2-F574-84F159303D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24327" y="2066741"/>
            <a:ext cx="1008112" cy="687053"/>
          </a:xfrm>
          <a:prstGeom prst="line">
            <a:avLst/>
          </a:prstGeom>
          <a:noFill/>
          <a:ln w="6350">
            <a:solidFill>
              <a:srgbClr val="5B9BD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134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KNXnet</a:t>
            </a:r>
            <a:r>
              <a:rPr lang="en-US" dirty="0"/>
              <a:t>/IP - </a:t>
            </a:r>
            <a:r>
              <a:rPr lang="en-US" dirty="0">
                <a:latin typeface="Arial" charset="0"/>
              </a:rPr>
              <a:t>Service Type Identifier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610FEF-1218-44F8-B4F6-905766D6E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426436"/>
            <a:ext cx="7647083" cy="27363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900113" y="1695261"/>
            <a:ext cx="53914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369226"/>
                </a:solidFill>
              </a:rPr>
              <a:t>Service Type Identifier ranges and actions:</a:t>
            </a:r>
          </a:p>
        </p:txBody>
      </p:sp>
    </p:spTree>
    <p:extLst>
      <p:ext uri="{BB962C8B-B14F-4D97-AF65-F5344CB8AC3E}">
        <p14:creationId xmlns:p14="http://schemas.microsoft.com/office/powerpoint/2010/main" val="1182389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KNXnet</a:t>
            </a:r>
            <a:r>
              <a:rPr lang="en-US" dirty="0"/>
              <a:t>/IP - </a:t>
            </a:r>
            <a:r>
              <a:rPr lang="en-US" dirty="0">
                <a:latin typeface="Arial" charset="0"/>
              </a:rPr>
              <a:t>Body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899592" y="1412776"/>
            <a:ext cx="7754088" cy="15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34290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It consists of: </a:t>
            </a:r>
          </a:p>
          <a:p>
            <a:pPr marL="742950" lvl="2" indent="-34290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369226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Connection header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, including: Message Code (1 byte) and an additional length information (1 byte)</a:t>
            </a:r>
          </a:p>
          <a:p>
            <a:pPr marL="742950" lvl="2" indent="-34290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369226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IP Body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contains the so-called </a:t>
            </a:r>
            <a:r>
              <a:rPr lang="en-US" b="1" dirty="0" err="1">
                <a:solidFill>
                  <a:srgbClr val="369226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cEMI</a:t>
            </a:r>
            <a:r>
              <a:rPr lang="en-US" b="1" dirty="0">
                <a:solidFill>
                  <a:srgbClr val="369226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frame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that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contains the TP1 telegram structure</a:t>
            </a:r>
            <a:endParaRPr lang="en-GB" b="1" dirty="0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FB903E-5F59-4A7A-8138-22A317FB0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72" y="3120199"/>
            <a:ext cx="7586059" cy="5968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5A942C-D24B-42B3-9536-0F8F615A555C}"/>
              </a:ext>
            </a:extLst>
          </p:cNvPr>
          <p:cNvSpPr/>
          <p:nvPr/>
        </p:nvSpPr>
        <p:spPr>
          <a:xfrm>
            <a:off x="929680" y="3944764"/>
            <a:ext cx="7754088" cy="243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Check field is not used. Error detection is done via the IP protocol </a:t>
            </a: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endParaRPr lang="en-GB" b="1" dirty="0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Second control field (1 byte) included behind the TP1 control field with:  type of destination address (1 bit) + routing counter (3 bits) + Extended Frame format (4 bits):</a:t>
            </a:r>
            <a:endParaRPr lang="es-ES" b="1" dirty="0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2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0000bin: for standard frames</a:t>
            </a:r>
            <a:endParaRPr lang="es-ES" sz="1600" b="1" dirty="0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2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01xxbin: for LTE frames</a:t>
            </a:r>
          </a:p>
        </p:txBody>
      </p:sp>
    </p:spTree>
    <p:extLst>
      <p:ext uri="{BB962C8B-B14F-4D97-AF65-F5344CB8AC3E}">
        <p14:creationId xmlns:p14="http://schemas.microsoft.com/office/powerpoint/2010/main" val="3329768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A6CF1D-10E5-438C-BAEA-6E0ABCD6A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87846" y="1435344"/>
            <a:ext cx="4969882" cy="516221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rPr lang="en-US" dirty="0"/>
              <a:t>TP1 compared to </a:t>
            </a:r>
            <a:r>
              <a:rPr lang="en-US" dirty="0" err="1"/>
              <a:t>KNXnet</a:t>
            </a:r>
            <a:r>
              <a:rPr lang="en-US" dirty="0"/>
              <a:t>/IP telegrams</a:t>
            </a:r>
            <a:endParaRPr lang="en-GB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1263655" y="1440804"/>
            <a:ext cx="26119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 err="1"/>
              <a:t>KNXnet</a:t>
            </a:r>
            <a:r>
              <a:rPr lang="en-GB" sz="2000" b="1" dirty="0"/>
              <a:t>/IP Telegram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51B84-CAFA-4556-91D3-A1ECCF35D565}"/>
              </a:ext>
            </a:extLst>
          </p:cNvPr>
          <p:cNvSpPr/>
          <p:nvPr/>
        </p:nvSpPr>
        <p:spPr>
          <a:xfrm>
            <a:off x="5724128" y="1471582"/>
            <a:ext cx="2313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/>
              <a:t>KNX TP Telegram</a:t>
            </a:r>
          </a:p>
        </p:txBody>
      </p:sp>
    </p:spTree>
    <p:extLst>
      <p:ext uri="{BB962C8B-B14F-4D97-AF65-F5344CB8AC3E}">
        <p14:creationId xmlns:p14="http://schemas.microsoft.com/office/powerpoint/2010/main" val="206263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Tunnelling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971600" y="1412874"/>
            <a:ext cx="7920880" cy="4968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Enables the </a:t>
            </a:r>
            <a:r>
              <a:rPr lang="en-US" sz="2000" dirty="0">
                <a:latin typeface="Arial" charset="0"/>
              </a:rPr>
              <a:t>connection-oriented transmission 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of KNX telegrams </a:t>
            </a:r>
            <a:r>
              <a:rPr lang="en-US" sz="2000" dirty="0">
                <a:latin typeface="Arial" charset="0"/>
              </a:rPr>
              <a:t>in an IP frame 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with ETS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Used when a </a:t>
            </a:r>
            <a:r>
              <a:rPr lang="en-US" sz="2000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/IP device should be addressed directly via Ethernet (e.g. loading the application into a device)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r>
              <a:rPr lang="en-US" sz="2000" dirty="0">
                <a:latin typeface="Arial" charset="0"/>
              </a:rPr>
              <a:t>Address range 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of 0420h to 042Fh in the type identifier field. Predefined addresses: </a:t>
            </a:r>
          </a:p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0420h : </a:t>
            </a:r>
            <a:r>
              <a:rPr lang="en-US" sz="2000" dirty="0">
                <a:latin typeface="Arial" charset="0"/>
              </a:rPr>
              <a:t>TUNNELLING_REQUEST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: </a:t>
            </a:r>
          </a:p>
          <a:p>
            <a:pPr marL="400050" lvl="1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charset="0"/>
              </a:rPr>
              <a:t>Used to send and receive individual telegrams between </a:t>
            </a:r>
            <a:r>
              <a:rPr lang="en-US" sz="1800" b="1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US" sz="1800" b="1" dirty="0">
                <a:solidFill>
                  <a:schemeClr val="tx1"/>
                </a:solidFill>
                <a:latin typeface="Arial" charset="0"/>
              </a:rPr>
              <a:t>/IP Client and Server</a:t>
            </a:r>
          </a:p>
          <a:p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0421h : </a:t>
            </a:r>
            <a:r>
              <a:rPr lang="en-US" sz="2000" dirty="0">
                <a:latin typeface="Arial" charset="0"/>
              </a:rPr>
              <a:t>TUNNELLING_ACK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: </a:t>
            </a:r>
          </a:p>
          <a:p>
            <a:pPr marL="400050" lvl="1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charset="0"/>
              </a:rPr>
              <a:t>Sent to confirm the receipt of  TUNNELLING_REQUEST information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60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rPr lang="en-GB" dirty="0"/>
              <a:t>Tunnelling</a:t>
            </a:r>
            <a:r>
              <a:rPr lang="en-US" dirty="0"/>
              <a:t> Examples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900113" y="1425075"/>
            <a:ext cx="3812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IP gateway in the main/backbone line as a universal coupler</a:t>
            </a:r>
            <a:endParaRPr lang="en-GB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51B84-CAFA-4556-91D3-A1ECCF35D565}"/>
              </a:ext>
            </a:extLst>
          </p:cNvPr>
          <p:cNvSpPr/>
          <p:nvPr/>
        </p:nvSpPr>
        <p:spPr>
          <a:xfrm>
            <a:off x="5652120" y="1469961"/>
            <a:ext cx="3024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IP router as a coupler between TP lines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5565128-2AF7-40DA-8C68-F29C1B64FE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845598"/>
              </p:ext>
            </p:extLst>
          </p:nvPr>
        </p:nvGraphicFramePr>
        <p:xfrm>
          <a:off x="611560" y="2298988"/>
          <a:ext cx="3701219" cy="3936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96015" imgH="7124515" progId="Visio.Drawing.15">
                  <p:embed/>
                </p:oleObj>
              </mc:Choice>
              <mc:Fallback>
                <p:oleObj r:id="rId3" imgW="6696015" imgH="712451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298988"/>
                        <a:ext cx="3701219" cy="39362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CB8A156-8798-4AA2-82D0-59910EA4D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053056"/>
              </p:ext>
            </p:extLst>
          </p:nvPr>
        </p:nvGraphicFramePr>
        <p:xfrm>
          <a:off x="4928561" y="2300232"/>
          <a:ext cx="3603879" cy="393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819955" imgH="6314990" progId="Visio.Drawing.15">
                  <p:embed/>
                </p:oleObj>
              </mc:Choice>
              <mc:Fallback>
                <p:oleObj r:id="rId5" imgW="5819955" imgH="631499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561" y="2300232"/>
                        <a:ext cx="3603879" cy="3936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7615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rPr lang="en-GB" dirty="0"/>
              <a:t>Tunnelling</a:t>
            </a:r>
            <a:r>
              <a:rPr lang="en-US" dirty="0"/>
              <a:t> Settings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5025863-4A12-0DCA-2D97-A297CC3A5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772816"/>
            <a:ext cx="3160137" cy="4364664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E1648F8-6E2B-C5BD-79BB-6D7DFACCA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6873"/>
              </p:ext>
            </p:extLst>
          </p:nvPr>
        </p:nvGraphicFramePr>
        <p:xfrm>
          <a:off x="251520" y="2348880"/>
          <a:ext cx="5040560" cy="29079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443">
                  <a:extLst>
                    <a:ext uri="{9D8B030D-6E8A-4147-A177-3AD203B41FA5}">
                      <a16:colId xmlns:a16="http://schemas.microsoft.com/office/drawing/2014/main" val="2979004667"/>
                    </a:ext>
                  </a:extLst>
                </a:gridCol>
                <a:gridCol w="1550454">
                  <a:extLst>
                    <a:ext uri="{9D8B030D-6E8A-4147-A177-3AD203B41FA5}">
                      <a16:colId xmlns:a16="http://schemas.microsoft.com/office/drawing/2014/main" val="1207308621"/>
                    </a:ext>
                  </a:extLst>
                </a:gridCol>
                <a:gridCol w="3182663">
                  <a:extLst>
                    <a:ext uri="{9D8B030D-6E8A-4147-A177-3AD203B41FA5}">
                      <a16:colId xmlns:a16="http://schemas.microsoft.com/office/drawing/2014/main" val="4190382245"/>
                    </a:ext>
                  </a:extLst>
                </a:gridCol>
              </a:tblGrid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Name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Enter a user-friendly name for the interface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225632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Host Individual address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Individual address of the host device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987340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Individual address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Individual address to be selected for the host device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1319989"/>
                  </a:ext>
                </a:extLst>
              </a:tr>
              <a:tr h="5934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IP address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IP address found for the interface; </a:t>
                      </a:r>
                      <a:br>
                        <a:rPr lang="en-GB" sz="1100">
                          <a:effectLst/>
                        </a:rPr>
                      </a:br>
                      <a:r>
                        <a:rPr lang="en-GB" sz="1100">
                          <a:effectLst/>
                        </a:rPr>
                        <a:t>if recognized/resolved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1783936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Port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3671 (default)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6416279"/>
                  </a:ext>
                </a:extLst>
              </a:tr>
              <a:tr h="5934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MAC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MAC hardware address of the interface, 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rPr lang="en-GB" sz="1100" dirty="0">
                          <a:effectLst/>
                        </a:rPr>
                        <a:t>as far as can be determined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7057572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APDU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Maximum telegram length (payload)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8999240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>
                          <a:effectLst/>
                        </a:rPr>
                        <a:t>Serial number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dirty="0">
                          <a:effectLst/>
                        </a:rPr>
                        <a:t>Only visible after the device have been programmed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4938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057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1" y="1026198"/>
            <a:ext cx="6984255" cy="314570"/>
          </a:xfrm>
        </p:spPr>
        <p:txBody>
          <a:bodyPr/>
          <a:lstStyle/>
          <a:p>
            <a:r>
              <a:rPr lang="en-GB" dirty="0"/>
              <a:t>Tunnelling</a:t>
            </a:r>
            <a:r>
              <a:rPr lang="en-US" dirty="0"/>
              <a:t> Settings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B55D67-F884-4982-8BE1-480ADBF530A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18" y="1656702"/>
            <a:ext cx="2704212" cy="43204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8C4408-2AA9-497C-B0F7-3B20054C0631}"/>
              </a:ext>
            </a:extLst>
          </p:cNvPr>
          <p:cNvSpPr/>
          <p:nvPr/>
        </p:nvSpPr>
        <p:spPr>
          <a:xfrm>
            <a:off x="3923928" y="1656702"/>
            <a:ext cx="460851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eaLnBrk="0" hangingPunct="0">
              <a:spcBef>
                <a:spcPct val="20000"/>
              </a:spcBef>
              <a:buClr>
                <a:srgbClr val="369226"/>
              </a:buClr>
            </a:pPr>
            <a:r>
              <a:rPr lang="en-US" sz="20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Local individual address shall match the line or area of the device to be addressed and not be used in the installation or project.</a:t>
            </a: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r>
              <a:rPr lang="en-US" sz="2000" b="1" dirty="0">
                <a:cs typeface="+mn-cs"/>
              </a:rPr>
              <a:t> </a:t>
            </a: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endParaRPr lang="en-US" sz="2000" b="1" dirty="0">
              <a:cs typeface="+mn-cs"/>
            </a:endParaRP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endParaRPr lang="en-US" sz="2000" b="1" dirty="0">
              <a:cs typeface="+mn-cs"/>
            </a:endParaRP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r>
              <a:rPr lang="en-US" sz="2000" b="1" dirty="0">
                <a:cs typeface="+mn-cs"/>
              </a:rPr>
              <a:t>Example:  </a:t>
            </a:r>
            <a:r>
              <a:rPr lang="en-US" sz="2000" b="1" dirty="0" err="1">
                <a:cs typeface="+mn-cs"/>
              </a:rPr>
              <a:t>KNXnet</a:t>
            </a:r>
            <a:r>
              <a:rPr lang="en-US" sz="2000" b="1" dirty="0">
                <a:cs typeface="+mn-cs"/>
              </a:rPr>
              <a:t>/IP router of line 1.1 thus has individual address 1.1.0 as coupler address and address 1.1.255 as local individual address</a:t>
            </a: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endParaRPr lang="en-US" sz="2000" b="1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975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129" y="908720"/>
            <a:ext cx="6984255" cy="430683"/>
          </a:xfrm>
        </p:spPr>
        <p:txBody>
          <a:bodyPr/>
          <a:lstStyle/>
          <a:p>
            <a:r>
              <a:rPr lang="en-GB" dirty="0"/>
              <a:t>Remote access to a KNX installation via Tunnelling</a:t>
            </a:r>
            <a:r>
              <a:rPr lang="en-US" dirty="0"/>
              <a:t> connection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" name="Imagen 1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B628AC6C-C1FB-48BF-BE3A-534379CCD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84" y="1988840"/>
            <a:ext cx="2171700" cy="3556635"/>
          </a:xfrm>
          <a:prstGeom prst="rect">
            <a:avLst/>
          </a:prstGeom>
        </p:spPr>
      </p:pic>
      <p:pic>
        <p:nvPicPr>
          <p:cNvPr id="5" name="Imagen 4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C9110DDD-F99D-4E6A-8573-4D0AE1D67CA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75856" y="1484784"/>
            <a:ext cx="5089525" cy="1264920"/>
          </a:xfrm>
          <a:prstGeom prst="rect">
            <a:avLst/>
          </a:prstGeom>
        </p:spPr>
      </p:pic>
      <p:pic>
        <p:nvPicPr>
          <p:cNvPr id="8" name="Imagen 7" descr="Diagrama&#10;&#10;Descripción generada automáticamente">
            <a:extLst>
              <a:ext uri="{FF2B5EF4-FFF2-40B4-BE49-F238E27FC236}">
                <a16:creationId xmlns:a16="http://schemas.microsoft.com/office/drawing/2014/main" id="{914B4787-05A2-40D2-867B-7D6D14DA4F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312" y="2867024"/>
            <a:ext cx="2365375" cy="3333750"/>
          </a:xfrm>
          <a:prstGeom prst="rect">
            <a:avLst/>
          </a:prstGeom>
        </p:spPr>
      </p:pic>
      <p:pic>
        <p:nvPicPr>
          <p:cNvPr id="9" name="Imagen 8" descr="Escala de tiempo&#10;&#10;Descripción generada automáticamente">
            <a:extLst>
              <a:ext uri="{FF2B5EF4-FFF2-40B4-BE49-F238E27FC236}">
                <a16:creationId xmlns:a16="http://schemas.microsoft.com/office/drawing/2014/main" id="{03BF8672-0436-49B7-8683-D35FD4E2A9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867024"/>
            <a:ext cx="22320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29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Routing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539552" y="1628800"/>
            <a:ext cx="8280920" cy="475294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Enables the </a:t>
            </a:r>
            <a:r>
              <a:rPr lang="en-US" sz="2000" dirty="0">
                <a:latin typeface="Arial" charset="0"/>
              </a:rPr>
              <a:t>connectionless and simultaneous transmission 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of KNX telegrams between networks via an IP coupler or IP router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r>
              <a:rPr lang="en-US" sz="2000" dirty="0">
                <a:latin typeface="Arial" charset="0"/>
              </a:rPr>
              <a:t>Address range 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of 0530h to 053Fh in the type identifier field. Predefined addresses: </a:t>
            </a:r>
          </a:p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0530h : </a:t>
            </a:r>
            <a:r>
              <a:rPr lang="en-US" sz="2000" dirty="0">
                <a:latin typeface="Arial" charset="0"/>
              </a:rPr>
              <a:t>ROUTING_INDICATION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: </a:t>
            </a:r>
          </a:p>
          <a:p>
            <a:pPr marL="400050" lvl="1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charset="0"/>
              </a:rPr>
              <a:t>Used to send KNX telegrams via IP networks without a connection</a:t>
            </a:r>
          </a:p>
          <a:p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0531h : </a:t>
            </a:r>
            <a:r>
              <a:rPr lang="en-US" sz="2000" dirty="0">
                <a:latin typeface="Arial" charset="0"/>
              </a:rPr>
              <a:t>ROUTING_LOST_MESSAGE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: </a:t>
            </a:r>
          </a:p>
          <a:p>
            <a:pPr marL="400050" lvl="1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charset="0"/>
              </a:rPr>
              <a:t>Used to display any </a:t>
            </a:r>
            <a:r>
              <a:rPr lang="en-US" sz="1800" b="1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US" sz="1800" b="1" dirty="0">
                <a:solidFill>
                  <a:schemeClr val="tx1"/>
                </a:solidFill>
                <a:latin typeface="Arial" charset="0"/>
              </a:rPr>
              <a:t>/IP routing information that has been lost </a:t>
            </a:r>
            <a:endParaRPr lang="en-US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194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rPr lang="en-GB" dirty="0"/>
              <a:t>Routing</a:t>
            </a:r>
            <a:r>
              <a:rPr lang="en-US" dirty="0"/>
              <a:t> Example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5796138" y="2780928"/>
            <a:ext cx="31683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 successful transmission is not confirmed.  Data loss on the IP side is unlikely </a:t>
            </a:r>
          </a:p>
          <a:p>
            <a:r>
              <a:rPr lang="en-US" b="1" dirty="0"/>
              <a:t> </a:t>
            </a:r>
          </a:p>
          <a:p>
            <a:r>
              <a:rPr lang="en-US" b="1" dirty="0"/>
              <a:t>An IP router that receives a </a:t>
            </a:r>
            <a:r>
              <a:rPr lang="en-US" b="1" dirty="0" err="1"/>
              <a:t>KNXnet</a:t>
            </a:r>
            <a:r>
              <a:rPr lang="en-US" b="1" dirty="0"/>
              <a:t>/IP telegram only route it on its TP side if the corresponding group address is in the filter table and the parameter is set to “filter”</a:t>
            </a:r>
          </a:p>
          <a:p>
            <a:endParaRPr lang="en-GB" b="1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DBBB1B7-C02E-424F-BC44-8A1FBB4CD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0010"/>
              </p:ext>
            </p:extLst>
          </p:nvPr>
        </p:nvGraphicFramePr>
        <p:xfrm>
          <a:off x="755576" y="2545375"/>
          <a:ext cx="4870573" cy="3238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201367" imgH="6800850" progId="Visio.Drawing.15">
                  <p:embed/>
                </p:oleObj>
              </mc:Choice>
              <mc:Fallback>
                <p:oleObj r:id="rId3" imgW="10201367" imgH="6800850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545375"/>
                        <a:ext cx="4870573" cy="3238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C882AD7-E768-4457-AF6D-89611A33894E}"/>
              </a:ext>
            </a:extLst>
          </p:cNvPr>
          <p:cNvSpPr/>
          <p:nvPr/>
        </p:nvSpPr>
        <p:spPr>
          <a:xfrm>
            <a:off x="827584" y="1493168"/>
            <a:ext cx="81369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IP routers used as </a:t>
            </a:r>
            <a:r>
              <a:rPr lang="en-US" b="1"/>
              <a:t>line or backbone </a:t>
            </a:r>
            <a:r>
              <a:rPr lang="en-US" b="1" dirty="0"/>
              <a:t>couplers </a:t>
            </a:r>
          </a:p>
          <a:p>
            <a:r>
              <a:rPr lang="en-US" b="1" dirty="0"/>
              <a:t>Telegram sent via UDP with the multicast address 224.0.23.12 (port 3671) </a:t>
            </a:r>
          </a:p>
          <a:p>
            <a:endParaRPr lang="en-US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888846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rPr lang="en-GB" dirty="0"/>
              <a:t>Routing</a:t>
            </a:r>
            <a:r>
              <a:rPr lang="en-US" dirty="0"/>
              <a:t> Notes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323529" y="1859364"/>
            <a:ext cx="8352928" cy="4109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369226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Direct communication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between two IP devices is normally </a:t>
            </a:r>
            <a:r>
              <a:rPr lang="en-US" b="1" dirty="0">
                <a:solidFill>
                  <a:srgbClr val="369226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only possible via the respective IP addresses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(Destination address is IP address of the recipient ) </a:t>
            </a: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 the case of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KNXnet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/IP routing, the network structure which was pre-assigned by the IP and subnet addresses is removed by using the multicast IP</a:t>
            </a: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If two networks should now be linked together via the KNX multicast IP, it should be ensured that intermediate routers also let the multicast IP through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610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6451</TotalTime>
  <Words>1597</Words>
  <Application>Microsoft Office PowerPoint</Application>
  <PresentationFormat>On-screen Show (4:3)</PresentationFormat>
  <Paragraphs>316</Paragraphs>
  <Slides>31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Gotham Light</vt:lpstr>
      <vt:lpstr>Gotham Medium</vt:lpstr>
      <vt:lpstr>Symbol</vt:lpstr>
      <vt:lpstr>Times New Roman</vt:lpstr>
      <vt:lpstr>Wingdings</vt:lpstr>
      <vt:lpstr>Training 2</vt:lpstr>
      <vt:lpstr>Visio</vt:lpstr>
      <vt:lpstr>Microsoft Visio Drawing</vt:lpstr>
      <vt:lpstr>KNX Advanced 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IP Communication in KNX Systems</vt:lpstr>
      <vt:lpstr>IP Communication in KNX Systems</vt:lpstr>
      <vt:lpstr>Addressing of Network Devices</vt:lpstr>
      <vt:lpstr>KNX Multicast address</vt:lpstr>
      <vt:lpstr>KNX Multicast address</vt:lpstr>
      <vt:lpstr>KNXnet/IP Protocol</vt:lpstr>
      <vt:lpstr>KNXnet/IP - Service Type Identifier</vt:lpstr>
      <vt:lpstr>KNXnet/IP - Body</vt:lpstr>
      <vt:lpstr>TP1 compared to KNXnet/IP telegrams</vt:lpstr>
      <vt:lpstr>Tunnelling</vt:lpstr>
      <vt:lpstr>Tunnelling Examples</vt:lpstr>
      <vt:lpstr>Tunnelling Settings</vt:lpstr>
      <vt:lpstr>Tunnelling Settings</vt:lpstr>
      <vt:lpstr>Remote access to a KNX installation via Tunnelling connection</vt:lpstr>
      <vt:lpstr>Routing</vt:lpstr>
      <vt:lpstr>Routing Example</vt:lpstr>
      <vt:lpstr>Routing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Communication</dc:title>
  <dc:creator>KNX Association;R. Hernandez</dc:creator>
  <cp:lastModifiedBy>Ufuk Unal</cp:lastModifiedBy>
  <cp:revision>273</cp:revision>
  <dcterms:created xsi:type="dcterms:W3CDTF">2012-09-10T07:59:43Z</dcterms:created>
  <dcterms:modified xsi:type="dcterms:W3CDTF">2023-02-16T11:00:22Z</dcterms:modified>
</cp:coreProperties>
</file>