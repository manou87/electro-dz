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17"/>
  </p:notesMasterIdLst>
  <p:handoutMasterIdLst>
    <p:handoutMasterId r:id="rId18"/>
  </p:handoutMasterIdLst>
  <p:sldIdLst>
    <p:sldId id="256" r:id="rId2"/>
    <p:sldId id="258" r:id="rId3"/>
    <p:sldId id="283" r:id="rId4"/>
    <p:sldId id="284" r:id="rId5"/>
    <p:sldId id="282" r:id="rId6"/>
    <p:sldId id="285" r:id="rId7"/>
    <p:sldId id="286" r:id="rId8"/>
    <p:sldId id="287" r:id="rId9"/>
    <p:sldId id="288" r:id="rId10"/>
    <p:sldId id="289" r:id="rId11"/>
    <p:sldId id="293" r:id="rId12"/>
    <p:sldId id="290" r:id="rId13"/>
    <p:sldId id="291" r:id="rId14"/>
    <p:sldId id="292" r:id="rId15"/>
    <p:sldId id="294" r:id="rId16"/>
  </p:sldIdLst>
  <p:sldSz cx="9144000" cy="6858000" type="screen4x3"/>
  <p:notesSz cx="6858000" cy="9144000"/>
  <p:custDataLst>
    <p:tags r:id="rId1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Avant-propos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technologie multimédia s'est développée rapidement ces dernières années. Aujourd'hui, les systèmes multimédia doivent répondre à des normes élevées quant à la qualité des contenus audios et vidéos auxquels les utilisateurs accèdent tous les jours. Ces systèmes leur donnent l'opportunité de rendre leur quotidien plus sécurisé et plus pratique.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 nos jours, le système d'interphone de porte constitue un équipement standard dans la plupart des nouveaux bâtiments. Dans le secteur de la construction haut de gamme, que ce soit dans les bâtiments privés ou commerciaux, la communication est étendue à une transmission d'image unidirectionnelle en plus de la transmission du son. Une option permettant de voir qui se tient devant la porte et si la personne est seule ou accompagnée est ainsi créée.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 plus, certains bâtiments fonctionnels tels que les aéroport, les administrations publiques ou les gares ferroviaires utilisent souvent la technologie audio/vidéo pour rendre des informations actuelles accessibles à leurs clients. Les heures de vol, les retards ou les offres actuelles, etc. sont ainsi diffusés via des informations audio ou visuelles.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Aujourd'hui, les systèmes multimédia occupent une place prédominante dans notre quotidien, même si c'est souvent inconscient, quels que soient leur périmètre ou leur conception.  Nous sommes à présent à la prochaine étape d'intégration et de commande de ces systèmes dans le système d'automatisation des bâtiments.</a:t>
            </a: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Définition de "multimédia" et de "systèmes multimédia"</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terme "multimédia" désigne un système ou une technologie de transmission permettant à différents contenus et formats d'être routés ou lus.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Cela peut comprendre une combinaison d'audios, de vidéos, d'images fixes, de textes ou même d'animations.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L'expression "système multimédia" décrit souvent une combinaison de différents composants multimédia qui produisent ensemble un système fonctionnel. Ces composants peuvent dans la plupart des cas enregistrer et lire du contenu audio ou même afficher du contenu multimédia.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Les différents types de systèmes multimédia</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audio</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audio est généralement constitué d'un équipement électronique qui sert à enregistrer ou reproduire des sons. Pour plus de clarté, distinguons les deux catégories suivantes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s’agit de « systèmes audio typiques » et de « systèmes audio étendus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audio standards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audio standard, par ex. un lecteur MP3 avec un casque connecté, comprend une source audio et une sortie audio. Il s'agit de la représentation la plus simple d'un système audio.</a:t>
            </a: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audio étendus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audio étendu peut comprendre plusieurs sources audio, une unité de mixage audio et plusieurs sorties audio. Les salles de concert où divers microphones sont utilisés pour transmettre le son de différents instruments de musique à une unité de mixage audio et à un amplificateur (analogue ou numérique) sont un exemple d'application classique. Les propriétés de chaque entrée peuvent alors être sélectionnées et reliées à ces deux composants.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Plusieurs haut-parleurs peuvent être connectés à la sortie de l'unité de mixage audio pour reproduire le son requis. Des amplificateurs peuvent être connectés au microphone et/ou aux câbles des haut-parleurs pour transmettre le signal sans aucune perte.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250761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Les différents types de systèmes multimédia</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d'interphone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Tout comme la technologie KNX capteur/actionneur, un système d'interphone comprend essentiellement deux appareils, un émetteur et un récepteur. Chaque appareil associe les deux fonctions qui fonctionnent de manière bidirectionnelle. Généralement, les deux fonctionnent comme des émetteurs-récepteurs, ce qui signifie qu'ils peuvent tous deux envoyer et recevoir des informations.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L'on peut distinguer deux catégories de systèmes d'interphone selon le type d'émetteur-récepteur.</a:t>
            </a:r>
          </a:p>
          <a:p>
            <a:endParaRPr lang="es-ES"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d'interphone "audio à audio"</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d'interphone "audio à audio" comprend habituellement deux appareils ou plus, lesquels sont souvent équipés d'une fonction d'enregistrement et de lecture. Un interlocuteur écoute et parle à un autre interlocuteur via le même système.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 :</a:t>
            </a:r>
            <a:r>
              <a:rPr lang="en-GB" sz="1200" kern="1200">
                <a:solidFill>
                  <a:schemeClr val="tx1"/>
                </a:solidFill>
                <a:effectLst/>
                <a:latin typeface="Arial" charset="0"/>
                <a:ea typeface="+mn-ea"/>
                <a:cs typeface="+mn-cs"/>
              </a:rPr>
              <a:t> Dans certains cas, ces types de systèmes d'intercom utilisent des centres d'appel pour connecter les participants. Pour gagner du temps et de la place, seule la description des systèmes d'interphone pair-à-pair sera abordée.</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d'interphone "audio et vidéo" vers "audio et vidéo"</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systèmes d'interphone "audio et vidéo" vers "audio et vidéo" comprennent des caméras et des appareils audio avec des fonctions d'enregistrement et de lecture. Les interlocuteurs peuvent à la fois se voir et s'entendre l'un l'autre via ce type de système.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NOTE :</a:t>
            </a:r>
            <a:r>
              <a:rPr lang="en-GB" sz="1200" kern="1200">
                <a:solidFill>
                  <a:schemeClr val="tx1"/>
                </a:solidFill>
                <a:effectLst/>
                <a:latin typeface="Arial" charset="0"/>
                <a:ea typeface="+mn-ea"/>
                <a:cs typeface="+mn-cs"/>
              </a:rPr>
              <a:t> Une variante de ce système est le système d'intercommunication de porte qui permet à l'utilisateur à l'intérieur du bâtiment de voir le visiteur en dehors de la porte mais ne permet pas au visiteur de voir l'utilisateur dans la pièce. Les deux interlocuteurs peuvent se parler et s'entendre.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9379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L'intégration de systèmes de commande multimédia dans la technologie des systèmes pour bâtiments </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commandes de base des systèmes multimédia</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 cadre de l'automatisation des bâtiments, l'objectif est de commander des systèmes multimédia offrant des fonctions étendues réalisées via un système de bus.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commande du système audio peut donc être optimisée en mettant en place les fonctions suivantes avec KNX, ce qui permet également d'augmenter le confort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Zone on/off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Réglage du volume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Sélection de la source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Silencieux</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Réglage du son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Diffusion dans une zone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Sélection de la station de radio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retour d'information peut être reçu également pour les fonctions suivantes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Amplificateur on/off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Niveau de volume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Nom de la source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Titre du morceau en lecture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Titre de la station de radio ou RDS</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a:solidFill>
                  <a:schemeClr val="tx1"/>
                </a:solidFill>
                <a:effectLst/>
                <a:latin typeface="Arial" charset="0"/>
                <a:ea typeface="+mn-ea"/>
                <a:cs typeface="+mn-cs"/>
              </a:rPr>
              <a:t>Pour ce qui est des systèmes d'interphone, certaines des fonctions disponibles que l'on peut mettre en place sur KNX sont les suivantes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Déverrouillage d'une porte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Enregistrement de la date et de l'heure des appels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Enregistrement de la photo de la personne qui a appelé</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Déclenchement d'autres fonctions via KNX (telles que le contrôle d'éclairage lorsque la porte est ouverte, l'activation du système d'alarme,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retour d'information peut être reçu pour les actions suivantes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Etat de la porte (ouverte ou fermée, verrouillée ou déverrouillée)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Affichage des détails des appels manqués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Affichage de la photo de la personne qui a appelé</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6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principes de base des systèmes multimédia</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"systèmes audio" commandés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présente un système audio qui communique directement avec KNX.</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Un système audio qui peut être piloté directement via KNX</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sources audio, par ex. un lecteur CD, un syntoniseur, un serveur de musique ou un microphone, sont connectées à l'amplificateur. Cet amplificateur "renforce" les signaux d'entrée analogique pour qu'ils puissent être transmis sur de longues distances sans perte ni perturbation. Les sorties de l'amplificateur sont connectées aux entrées de l'actionneur audio. Cela comprend un coupleur de bus KNX permettant la réception et la conversion des signaux de commande.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qu'un amplificateur audio soit nécessaire à la sortie de l'actionneur pour obtenir une meilleure qualité du signal à l'entrée des haut-parleurs.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134013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Comme cet actionneur audio est un produit KNX, il peut être paramétré et programmé via ETS. Voici certains des objets de groupe disponibles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6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Liste des objets du groupe</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2236265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Une application courante pour l'utilisateur final est l'utilisation d'un bouton-poussoir à 4 positions pour allumer le système audio et sélectionner le lecteur CD 1 comme source audio. De plus, cela peut également rendre possible le contrôle du volume des haut-parleurs de cette pièce. Les adresses de groupe nécessaires sont celles qui commandent ces éléments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7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Liste du groupe d'adresses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objets de groupe de l'actionneur audio, mais aussi les objets de groupe du bouton-poussoir à 4 positions, doivent être reliés aux adresses de groupe correspondantes, comme indiqué sur l'image ci-dessous. Les haut-parleurs de la pièce souhaitée sont connectés au "Canal de contrôle 1" afin que toutes les commandes indiquées répondent au "Canal de contrôle 1".</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8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Lier des objets de groupe au groupe d'adresses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Avec la configuration ci-dessus, l'utilisateur final peut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allumer ou éteindre l'actionneur audio en utilisant les boutons-poussoirs 1 et 2</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sélectionner la source audio en utilisant les boutons-poussoirs 3 et 4</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augmenter ou diminuer le volume en utilisant les boutons-poussoirs 5 et 6</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activer ou désactiver l'effet de volume sonore en utilisant les boutons-poussoirs 7 et 8</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3742482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principes de base des systèmes multimédia</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solution courante pour commander les systèmes audio est présentée dans le diagramme ci-dessous. Le système audio est relié à KNX via une interface KNX/IP.</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9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Contrôle du système audio via une passerelle KNX/IP</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Alors que dans les solutions précédentes la communication est effectuée directement depuis l'actionneur audio vers le bus, cette solution utilise une connexion indirecte entre KNX et le système audio, via une interface KNX/IP. Cela signifie que l'unité centrale n'est plus un appareil adressable par KNX mais un appareil adressable par un réseau IP, en utilisant un TCP/IP pour communiquer. De plus, en tant qu'appareil IP, le système audio peut également être commandé via d'autres appareils multimédia possédant une interface IP tels que les écrans tactiles, les ordinateurs ou les appareils mobiles.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685399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"Audio via IP" Système contrôlable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présente un système "audio via IP" qui communique avec KNX via une passerelle spéciale KNX vers IP et envoit des signaux de commande.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10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Un "Audio via système IP" contrôlable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L'unité centrale audio comprend deux segments. Le premier segment présente des entrées analogiques auxquelles toutes les sources audio sont connectées. Le second segment comprend une interface réseau (TCP/IP) qui sert également de convertisseur numérique/analogique. Ainsi, le signal analogique des sources audio est converti en signal numérique et est transmis aux haut-parleurs via le réseau IP.</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haut-parleurs comprennent également une interface réseau qui convertit le signal numérique du réseau en signal analogique, pour pouvoir être reproduit dans les haut-parleurs.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communication avec KNX est réalisée via une interface spéciale KNX/IP. Cette interface est configurée afin que les données soient transmises de KNX au système audio, et inversement. Cette passerelle est un appareil adressable à la fois par KNX et par un réseau IP.</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important de mentionner que le terme "contrôleur audio multiroom" est utilisé par la majorité des fabricants de KNX produisant des appareils de commande audio équipés soit d'une BCU KNX, soit d'une interface KNX/IP.</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82048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GB" sz="1200" b="1" kern="1200">
                <a:solidFill>
                  <a:schemeClr val="tx1"/>
                </a:solidFill>
                <a:effectLst/>
                <a:latin typeface="Arial" charset="0"/>
                <a:ea typeface="+mn-ea"/>
                <a:cs typeface="+mn-cs"/>
              </a:rPr>
              <a:t>Les systèmes d'interphone commandés directement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montre un système d'interphone de porte, qui est une sous-catégorie des systèmes d'interphone communiquant directement via KNX.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11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Système intercom de porte contrôlable via KNX</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systèmes d'interphone de porte, indépendamment de la fonction de communication vocale, possèdent habituellement un certain nombre de fonctions de commande telles que "déverrouillage de porte", "allumage" ou "extinction" des luminaires dans le voisinage immédiat de la porte.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Grâce à l'intégration d'un système d'interphone de porte dans le monde de KNX, la portée des fonctions des bâtiments est augmentée. De la valeur ajoutée peut être générée en utilisant les produits KNX existants disponibles, tels que les actionneurs. Par exemple, il est possible d'activer la commande d'un ou plusieurs canaux de commutation avec divers circuits d'éclairage lorsque quelqu'un sonne à la porte et que la luminosité extérieure est tombée en dessous d'un certain niveau. Les fonctions peuvent être déclenchées par d'autres systèmes ou des réactions secondaires tels que l'"armement" du système d'alarme.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KNX peut ensuite étendre la fonctionnalité en gérant les sources du système d'interphone de porte, par ex. les signaux d'entrées et le contact magnétique de la fonction de porte, pour les router vers KNX et déclencher les fonctions paramétrées.  KNX peut alors enregistrer les détails d'une visite, tels que la date et l'heure auxquelles la personne sonne à la porte. Une image ou une courte vidéo comprenant un enregistrement audio peut par exemple être conservée.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3571942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systèmes d'interphone "audio et vidéo" vers "audio et vidéo" commandés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présente un système d'interphone "audio et vidéo" vers "audio et vidéo" (système d'interphone vidéo de porte) qui communique directement avec KNX. La fonctionnalité est la même que pour le système d'interphone "audio à audio", avec la communication vidéo en plus.</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12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Un système d'intercommunication avec téléphone vidéo</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1004249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Les systèmes d'interphone commandés via une interface KNX/IP</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solution pour commander le système d'interphone est d'utiliser un contrôleur d'interphone IP. Cela fonctionne via une interface KNX/IP pour déclencher ou appliquer des fonctions. Ainsi, le système d'interphone est un appareil adressable par IP et peut être accédé par tous les appareils IP, car il fonctionne comme un ordinateur considéré comme un appareil dans le réseau IP.</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commandé peut être un système d'interphone soit "audio à audio", soit "audio et vidéo" vers "audio et vidéo", soit une combinaison de ces systèmes.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de-DE"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13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Système intercom de porte contrôlable via une interface KNX/IP</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2941268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a:solidFill>
                  <a:schemeClr val="tx1"/>
                </a:solidFill>
                <a:effectLst/>
                <a:latin typeface="Arial" charset="0"/>
                <a:ea typeface="+mn-ea"/>
                <a:cs typeface="+mn-cs"/>
              </a:rPr>
              <a:t>Les systèmes "d'interphone via IP" commandés via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 exemple présente un système d'interphone IP commandé via KNX. Il s'agit d'une solution entièrement numérique proposée par de nombreux fabricants. L'avantage le plus grand est que tous les composants possèdent une capacité IP et sont accessibles de tous les appareils dans un réseau donné. Ainsi, une infrastructure propre telle que des câbles, etc. n'est pas nécessaire, mais le système peut être basé sur une structure existante ou étendue.</a:t>
            </a:r>
            <a:endParaRPr lang="es-ES" sz="1200" kern="1200" dirty="0">
              <a:solidFill>
                <a:schemeClr val="tx1"/>
              </a:solidFill>
              <a:effectLst/>
              <a:latin typeface="Arial" charset="0"/>
              <a:ea typeface="+mn-ea"/>
              <a:cs typeface="+mn-cs"/>
            </a:endParaRPr>
          </a:p>
          <a:p>
            <a:r>
              <a:rPr lang="de-DE"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14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système "Door intercom via IP" contrôlé via une interface KNX/IP</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483388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multirooming</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terme "multiroom" ou "multirooming" fait référence à la possibilité d'entendre et de contrôler la musique dans chaque pièce de l'appartement ou de la maison. L'utilisateur n'est donc pas seulement limité à l'audio mais il existe également des systèmes disponibles pour la transmission vidéo.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multiroom distribue plusieurs sources dans les zones multiroom individuelles. Les zones sont des zones définies dans lesquelles une source est reproduite. Elles peuvent être étendues aux pièces individuelles ou dans plusieurs pièces. Dans ce contexte, les sources utilisées peuvent être des appareils de lecture classiques tels qu'une radio ou un lecteur CD. Les services de streaming, la webradio et le stockage NAS peuvent cependant être également utilisés. Un prérequis pour cela est de disposer d'un appareil de lecture approprié.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devrait être possible pour l'utilisateur d'intégrer ce système dans le système dans son ensemble et de le commander sans difficulté. L'environnement résidentiel ou commercial doit être analysé précisément et il faudra choisir un système sur câble ou sur radio en fonction de l'environnement.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fabricants KNX comptent sur les fabricants hi-fi établis pour le multirooming et ont des partenariats de coopération correspondants. La commande peut être mise en place via des capteurs KNX, et les signaux KNX sont routés via une passerelle vers les systèmes des fabricants hi-fi.</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15 : Système de multiroom contrôlable via KNX</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3327619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br>
              <a:rPr lang="en-GB"/>
            </a:br>
            <a:r>
              <a:rPr lang="en-GB" sz="2400"/>
              <a:t>Annex informative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GB" sz="2400" dirty="0"/>
              <a:t>KNX et les </a:t>
            </a:r>
            <a:r>
              <a:rPr lang="en-GB" sz="2400" dirty="0" err="1"/>
              <a:t>systèmes</a:t>
            </a:r>
            <a:r>
              <a:rPr lang="en-GB" sz="2400" dirty="0"/>
              <a:t> </a:t>
            </a:r>
            <a:r>
              <a:rPr lang="en-GB" sz="2400" dirty="0" err="1"/>
              <a:t>multimédia</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Définitions</a:t>
            </a:r>
          </a:p>
        </p:txBody>
      </p:sp>
      <p:sp>
        <p:nvSpPr>
          <p:cNvPr id="4" name="Content Placeholder 1">
            <a:extLst>
              <a:ext uri="{FF2B5EF4-FFF2-40B4-BE49-F238E27FC236}">
                <a16:creationId xmlns:a16="http://schemas.microsoft.com/office/drawing/2014/main" id="{AF4E6DCE-C954-4233-8362-59ECD68BF594}"/>
              </a:ext>
            </a:extLst>
          </p:cNvPr>
          <p:cNvSpPr txBox="1">
            <a:spLocks/>
          </p:cNvSpPr>
          <p:nvPr/>
        </p:nvSpPr>
        <p:spPr>
          <a:xfrm>
            <a:off x="971600" y="1412875"/>
            <a:ext cx="7416824" cy="4392389"/>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ea typeface="Open Sans" panose="020B0606030504020204" pitchFamily="34" charset="0"/>
                <a:cs typeface="Open Sans" panose="020B0606030504020204" pitchFamily="34" charset="0"/>
              </a:rPr>
              <a:t>Multimédia</a:t>
            </a:r>
            <a:r>
              <a:rPr lang="en-US" sz="2000" kern="0">
                <a:solidFill>
                  <a:schemeClr val="bg2">
                    <a:lumMod val="10000"/>
                  </a:schemeClr>
                </a:solidFill>
                <a:ea typeface="Open Sans" panose="020B0606030504020204" pitchFamily="34" charset="0"/>
                <a:cs typeface="Open Sans" panose="020B0606030504020204" pitchFamily="34" charset="0"/>
              </a:rPr>
              <a:t> signifie un système ou une technologie de transmission qui permet de router ou de lire des contenus et des formats différents</a:t>
            </a:r>
          </a:p>
          <a:p>
            <a:endParaRPr lang="en-US" sz="2000" kern="0">
              <a:solidFill>
                <a:schemeClr val="bg2">
                  <a:lumMod val="10000"/>
                </a:schemeClr>
              </a:solidFill>
              <a:ea typeface="Open Sans" panose="020B0606030504020204" pitchFamily="34" charset="0"/>
              <a:cs typeface="Open Sans" panose="020B0606030504020204" pitchFamily="34" charset="0"/>
            </a:endParaRPr>
          </a:p>
          <a:p>
            <a:r>
              <a:rPr lang="en-GB" sz="2000" kern="0">
                <a:solidFill>
                  <a:schemeClr val="bg2">
                    <a:lumMod val="10000"/>
                  </a:schemeClr>
                </a:solidFill>
                <a:ea typeface="Open Sans" panose="020B0606030504020204" pitchFamily="34" charset="0"/>
                <a:cs typeface="Open Sans" panose="020B0606030504020204" pitchFamily="34" charset="0"/>
              </a:rPr>
              <a:t>Un </a:t>
            </a:r>
            <a:r>
              <a:rPr lang="en-GB" sz="2000" kern="0">
                <a:ea typeface="Open Sans" panose="020B0606030504020204" pitchFamily="34" charset="0"/>
                <a:cs typeface="Open Sans" panose="020B0606030504020204" pitchFamily="34" charset="0"/>
              </a:rPr>
              <a:t>système multimédia</a:t>
            </a:r>
            <a:r>
              <a:rPr lang="en-GB" sz="2000" kern="0">
                <a:solidFill>
                  <a:schemeClr val="bg2">
                    <a:lumMod val="10000"/>
                  </a:schemeClr>
                </a:solidFill>
                <a:ea typeface="Open Sans" panose="020B0606030504020204" pitchFamily="34" charset="0"/>
                <a:cs typeface="Open Sans" panose="020B0606030504020204" pitchFamily="34" charset="0"/>
              </a:rPr>
              <a:t> représente une combinaison de différentes composantes multimédia qui produisent ensemble un système fonctionnel</a:t>
            </a:r>
            <a:endParaRPr lang="es-ES" sz="2000" kern="0" dirty="0">
              <a:solidFill>
                <a:schemeClr val="bg2">
                  <a:lumMod val="10000"/>
                </a:schemeClr>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764704"/>
            <a:ext cx="7056263" cy="430684"/>
          </a:xfrm>
        </p:spPr>
        <p:txBody>
          <a:bodyPr/>
          <a:lstStyle/>
          <a:p>
            <a:r>
              <a:rPr lang="en-GB" sz="2400" dirty="0"/>
              <a:t>Les </a:t>
            </a:r>
            <a:r>
              <a:rPr lang="en-GB" sz="2400" dirty="0" err="1"/>
              <a:t>différents</a:t>
            </a:r>
            <a:r>
              <a:rPr lang="en-GB" sz="2400" dirty="0"/>
              <a:t> types de </a:t>
            </a:r>
            <a:r>
              <a:rPr lang="en-GB" sz="2400" dirty="0" err="1"/>
              <a:t>systèmes</a:t>
            </a:r>
            <a:r>
              <a:rPr lang="en-GB" sz="2400" dirty="0"/>
              <a:t> </a:t>
            </a:r>
            <a:r>
              <a:rPr lang="en-GB" sz="2400" dirty="0" err="1"/>
              <a:t>multimédia</a:t>
            </a:r>
            <a:endParaRPr lang="en-GB" sz="2400" dirty="0"/>
          </a:p>
        </p:txBody>
      </p:sp>
      <p:pic>
        <p:nvPicPr>
          <p:cNvPr id="4" name="Grafik 1396" descr="Bildergebnis für multimedia player">
            <a:extLst>
              <a:ext uri="{FF2B5EF4-FFF2-40B4-BE49-F238E27FC236}">
                <a16:creationId xmlns:a16="http://schemas.microsoft.com/office/drawing/2014/main" id="{7DCAC405-6FD5-4B63-93CA-807200D4AD4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7727" y="2469504"/>
            <a:ext cx="1800202" cy="1584176"/>
          </a:xfrm>
          <a:prstGeom prst="rect">
            <a:avLst/>
          </a:prstGeom>
          <a:noFill/>
          <a:ln>
            <a:noFill/>
          </a:ln>
        </p:spPr>
      </p:pic>
      <p:sp>
        <p:nvSpPr>
          <p:cNvPr id="5" name="Content Placeholder 1">
            <a:extLst>
              <a:ext uri="{FF2B5EF4-FFF2-40B4-BE49-F238E27FC236}">
                <a16:creationId xmlns:a16="http://schemas.microsoft.com/office/drawing/2014/main" id="{7382FF57-D8EB-4EED-BADE-895933F07E70}"/>
              </a:ext>
            </a:extLst>
          </p:cNvPr>
          <p:cNvSpPr txBox="1">
            <a:spLocks/>
          </p:cNvSpPr>
          <p:nvPr/>
        </p:nvSpPr>
        <p:spPr>
          <a:xfrm>
            <a:off x="981091" y="2638375"/>
            <a:ext cx="4671029" cy="374337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solidFill>
                  <a:schemeClr val="tx1"/>
                </a:solidFill>
                <a:ea typeface="Open Sans" panose="020B0606030504020204" pitchFamily="34" charset="0"/>
                <a:cs typeface="Open Sans" panose="020B0606030504020204" pitchFamily="34" charset="0"/>
              </a:rPr>
              <a:t>Un système audio typique</a:t>
            </a:r>
            <a:r>
              <a:rPr lang="en-US" sz="2000" kern="0">
                <a:ea typeface="Open Sans" panose="020B0606030504020204" pitchFamily="34" charset="0"/>
                <a:cs typeface="Open Sans" panose="020B0606030504020204" pitchFamily="34" charset="0"/>
              </a:rPr>
              <a:t> </a:t>
            </a:r>
            <a:r>
              <a:rPr lang="en-US" sz="2000">
                <a:solidFill>
                  <a:schemeClr val="tx1"/>
                </a:solidFill>
                <a:latin typeface="Arial" charset="0"/>
              </a:rPr>
              <a:t>contient une source audio et une sortie audio</a:t>
            </a:r>
          </a:p>
          <a:p>
            <a:endParaRPr lang="en-US" sz="2000" kern="0" dirty="0">
              <a:solidFill>
                <a:schemeClr val="tx1"/>
              </a:solidFill>
              <a:latin typeface="Arial" charset="0"/>
              <a:ea typeface="Open Sans" panose="020B0606030504020204" pitchFamily="34" charset="0"/>
              <a:cs typeface="Open Sans" panose="020B0606030504020204" pitchFamily="34" charset="0"/>
            </a:endParaRPr>
          </a:p>
          <a:p>
            <a:endParaRPr lang="en-US" sz="2000" kern="0" dirty="0">
              <a:solidFill>
                <a:schemeClr val="tx1"/>
              </a:solidFill>
              <a:latin typeface="Arial" charset="0"/>
              <a:ea typeface="Open Sans" panose="020B0606030504020204" pitchFamily="34" charset="0"/>
              <a:cs typeface="Open Sans" panose="020B0606030504020204" pitchFamily="34" charset="0"/>
            </a:endParaRPr>
          </a:p>
          <a:p>
            <a:r>
              <a:rPr lang="en-GB" sz="2000">
                <a:solidFill>
                  <a:schemeClr val="tx1"/>
                </a:solidFill>
                <a:latin typeface="Arial" charset="0"/>
              </a:rPr>
              <a:t>Un système audio étendu de </a:t>
            </a:r>
            <a:r>
              <a:rPr lang="en-GB" sz="2000">
                <a:latin typeface="Arial" charset="0"/>
              </a:rPr>
              <a:t> </a:t>
            </a:r>
            <a:r>
              <a:rPr lang="en-GB" sz="2000">
                <a:solidFill>
                  <a:schemeClr val="tx1"/>
                </a:solidFill>
                <a:latin typeface="Arial" charset="0"/>
              </a:rPr>
              <a:t>peut contenir différentes sources audio, une unité de mixage audio et diverses sorties audio </a:t>
            </a:r>
            <a:endParaRPr lang="en-US" sz="2000" kern="0" dirty="0">
              <a:ea typeface="Open Sans" panose="020B0606030504020204" pitchFamily="34" charset="0"/>
              <a:cs typeface="Open Sans" panose="020B0606030504020204" pitchFamily="34" charset="0"/>
            </a:endParaRPr>
          </a:p>
        </p:txBody>
      </p:sp>
      <p:pic>
        <p:nvPicPr>
          <p:cNvPr id="6" name="Bild 3" descr="Soundcraft-SI-2">
            <a:extLst>
              <a:ext uri="{FF2B5EF4-FFF2-40B4-BE49-F238E27FC236}">
                <a16:creationId xmlns:a16="http://schemas.microsoft.com/office/drawing/2014/main" id="{30E50554-EA0C-471D-886E-6ECFE494646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6136" y="4474516"/>
            <a:ext cx="2643385" cy="1493466"/>
          </a:xfrm>
          <a:prstGeom prst="rect">
            <a:avLst/>
          </a:prstGeom>
          <a:noFill/>
          <a:ln>
            <a:noFill/>
          </a:ln>
        </p:spPr>
      </p:pic>
      <p:sp>
        <p:nvSpPr>
          <p:cNvPr id="7" name="Content Placeholder 1">
            <a:extLst>
              <a:ext uri="{FF2B5EF4-FFF2-40B4-BE49-F238E27FC236}">
                <a16:creationId xmlns:a16="http://schemas.microsoft.com/office/drawing/2014/main" id="{138C4C26-1DC6-41BD-AA6E-D349B063B0FD}"/>
              </a:ext>
            </a:extLst>
          </p:cNvPr>
          <p:cNvSpPr txBox="1">
            <a:spLocks/>
          </p:cNvSpPr>
          <p:nvPr/>
        </p:nvSpPr>
        <p:spPr>
          <a:xfrm>
            <a:off x="971600" y="1412875"/>
            <a:ext cx="7704856" cy="100801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a:ea typeface="Open Sans" panose="020B0606030504020204" pitchFamily="34" charset="0"/>
                <a:cs typeface="Open Sans" panose="020B0606030504020204" pitchFamily="34" charset="0"/>
              </a:rPr>
              <a:t>Le système audio </a:t>
            </a:r>
            <a:r>
              <a:rPr lang="en-GB" sz="2000" kern="1200">
                <a:solidFill>
                  <a:schemeClr val="tx1"/>
                </a:solidFill>
                <a:latin typeface="Arial" charset="0"/>
              </a:rPr>
              <a:t>se compose d'équipements électroniques pour l'enregistrement ou la reproduction du son</a:t>
            </a: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71503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710506"/>
            <a:ext cx="6840239" cy="484882"/>
          </a:xfrm>
        </p:spPr>
        <p:txBody>
          <a:bodyPr/>
          <a:lstStyle/>
          <a:p>
            <a:r>
              <a:rPr lang="en-GB" sz="2400" dirty="0"/>
              <a:t>Les </a:t>
            </a:r>
            <a:r>
              <a:rPr lang="en-GB" sz="2400" dirty="0" err="1"/>
              <a:t>différents</a:t>
            </a:r>
            <a:r>
              <a:rPr lang="en-GB" sz="2400" dirty="0"/>
              <a:t> types de </a:t>
            </a:r>
            <a:r>
              <a:rPr lang="en-GB" sz="2400" dirty="0" err="1"/>
              <a:t>systèmes</a:t>
            </a:r>
            <a:r>
              <a:rPr lang="en-GB" sz="2400" dirty="0"/>
              <a:t> </a:t>
            </a:r>
            <a:r>
              <a:rPr lang="en-GB" sz="2400" dirty="0" err="1"/>
              <a:t>multimédia</a:t>
            </a:r>
            <a:endParaRPr lang="en-GB" sz="2400" dirty="0"/>
          </a:p>
        </p:txBody>
      </p:sp>
      <p:sp>
        <p:nvSpPr>
          <p:cNvPr id="5" name="Content Placeholder 1">
            <a:extLst>
              <a:ext uri="{FF2B5EF4-FFF2-40B4-BE49-F238E27FC236}">
                <a16:creationId xmlns:a16="http://schemas.microsoft.com/office/drawing/2014/main" id="{7382FF57-D8EB-4EED-BADE-895933F07E70}"/>
              </a:ext>
            </a:extLst>
          </p:cNvPr>
          <p:cNvSpPr txBox="1">
            <a:spLocks/>
          </p:cNvSpPr>
          <p:nvPr/>
        </p:nvSpPr>
        <p:spPr>
          <a:xfrm>
            <a:off x="981092" y="2638375"/>
            <a:ext cx="4469184" cy="374337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a:solidFill>
                  <a:schemeClr val="tx1"/>
                </a:solidFill>
                <a:ea typeface="Open Sans" panose="020B0606030504020204" pitchFamily="34" charset="0"/>
                <a:cs typeface="Open Sans" panose="020B0606030504020204" pitchFamily="34" charset="0"/>
              </a:rPr>
              <a:t>Un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d'intercommunication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audio à audio</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consiste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deux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plusieurs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périphériques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fréquemment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équipés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fonction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d'enregistrement</a:t>
            </a:r>
            <a:r>
              <a:rPr lang="en-US" sz="1800" kern="0" dirty="0">
                <a:solidFill>
                  <a:schemeClr val="tx1"/>
                </a:solidFill>
                <a:ea typeface="Open Sans" panose="020B0606030504020204" pitchFamily="34" charset="0"/>
                <a:cs typeface="Open Sans" panose="020B0606030504020204" pitchFamily="34" charset="0"/>
              </a:rPr>
              <a:t> et de lecture audio </a:t>
            </a:r>
          </a:p>
          <a:p>
            <a:endParaRPr lang="en-US" sz="1800" kern="0" dirty="0">
              <a:solidFill>
                <a:schemeClr val="tx1"/>
              </a:solidFill>
              <a:latin typeface="Arial" charset="0"/>
              <a:ea typeface="Open Sans" panose="020B0606030504020204" pitchFamily="34" charset="0"/>
              <a:cs typeface="Open Sans" panose="020B0606030504020204" pitchFamily="34" charset="0"/>
            </a:endParaRPr>
          </a:p>
          <a:p>
            <a:r>
              <a:rPr lang="en-US" sz="1800" dirty="0">
                <a:solidFill>
                  <a:schemeClr val="tx1"/>
                </a:solidFill>
                <a:latin typeface="Arial" charset="0"/>
              </a:rPr>
              <a:t>Les </a:t>
            </a:r>
            <a:r>
              <a:rPr lang="en-US" sz="1800" dirty="0" err="1">
                <a:solidFill>
                  <a:schemeClr val="tx1"/>
                </a:solidFill>
                <a:latin typeface="Arial" charset="0"/>
              </a:rPr>
              <a:t>systèmes</a:t>
            </a:r>
            <a:r>
              <a:rPr lang="en-US" sz="1800" dirty="0">
                <a:solidFill>
                  <a:schemeClr val="tx1"/>
                </a:solidFill>
                <a:latin typeface="Arial" charset="0"/>
              </a:rPr>
              <a:t> </a:t>
            </a:r>
            <a:r>
              <a:rPr lang="en-US" sz="1800" dirty="0" err="1">
                <a:solidFill>
                  <a:schemeClr val="tx1"/>
                </a:solidFill>
                <a:latin typeface="Arial" charset="0"/>
              </a:rPr>
              <a:t>d'intercommunication</a:t>
            </a:r>
            <a:r>
              <a:rPr lang="en-US" sz="1800" dirty="0">
                <a:solidFill>
                  <a:schemeClr val="tx1"/>
                </a:solidFill>
                <a:latin typeface="Arial" charset="0"/>
              </a:rPr>
              <a:t> «</a:t>
            </a:r>
            <a:r>
              <a:rPr lang="en-US" sz="1800" dirty="0">
                <a:latin typeface="Arial" charset="0"/>
              </a:rPr>
              <a:t>audio et </a:t>
            </a:r>
            <a:r>
              <a:rPr lang="en-US" sz="1800" dirty="0" err="1">
                <a:latin typeface="Arial" charset="0"/>
              </a:rPr>
              <a:t>vidéo</a:t>
            </a:r>
            <a:r>
              <a:rPr lang="en-US" sz="1800" dirty="0">
                <a:solidFill>
                  <a:schemeClr val="tx1"/>
                </a:solidFill>
                <a:latin typeface="Arial" charset="0"/>
              </a:rPr>
              <a:t>» à «</a:t>
            </a:r>
            <a:r>
              <a:rPr lang="en-US" sz="1800" dirty="0">
                <a:latin typeface="Arial" charset="0"/>
              </a:rPr>
              <a:t>audio et </a:t>
            </a:r>
            <a:r>
              <a:rPr lang="en-US" sz="1800" dirty="0" err="1">
                <a:latin typeface="Arial" charset="0"/>
              </a:rPr>
              <a:t>vidéo</a:t>
            </a:r>
            <a:r>
              <a:rPr lang="en-US" sz="1800" dirty="0">
                <a:solidFill>
                  <a:schemeClr val="tx1"/>
                </a:solidFill>
                <a:latin typeface="Arial" charset="0"/>
              </a:rPr>
              <a:t>» </a:t>
            </a:r>
            <a:r>
              <a:rPr lang="en-US" sz="1800" dirty="0" err="1">
                <a:solidFill>
                  <a:schemeClr val="tx1"/>
                </a:solidFill>
                <a:latin typeface="Arial" charset="0"/>
              </a:rPr>
              <a:t>sont</a:t>
            </a:r>
            <a:r>
              <a:rPr lang="en-US" sz="1800" dirty="0">
                <a:solidFill>
                  <a:schemeClr val="tx1"/>
                </a:solidFill>
                <a:latin typeface="Arial" charset="0"/>
              </a:rPr>
              <a:t> </a:t>
            </a:r>
            <a:r>
              <a:rPr lang="en-US" sz="1800" dirty="0" err="1">
                <a:solidFill>
                  <a:schemeClr val="tx1"/>
                </a:solidFill>
                <a:latin typeface="Arial" charset="0"/>
              </a:rPr>
              <a:t>composés</a:t>
            </a:r>
            <a:r>
              <a:rPr lang="en-US" sz="1800" dirty="0">
                <a:solidFill>
                  <a:schemeClr val="tx1"/>
                </a:solidFill>
                <a:latin typeface="Arial" charset="0"/>
              </a:rPr>
              <a:t> de </a:t>
            </a:r>
            <a:r>
              <a:rPr lang="en-US" sz="1800" dirty="0" err="1">
                <a:solidFill>
                  <a:schemeClr val="tx1"/>
                </a:solidFill>
                <a:latin typeface="Arial" charset="0"/>
              </a:rPr>
              <a:t>caméras</a:t>
            </a:r>
            <a:r>
              <a:rPr lang="en-US" sz="1800" dirty="0">
                <a:solidFill>
                  <a:schemeClr val="tx1"/>
                </a:solidFill>
                <a:latin typeface="Arial" charset="0"/>
              </a:rPr>
              <a:t> et de </a:t>
            </a:r>
            <a:r>
              <a:rPr lang="en-US" sz="1800" dirty="0" err="1">
                <a:solidFill>
                  <a:schemeClr val="tx1"/>
                </a:solidFill>
                <a:latin typeface="Arial" charset="0"/>
              </a:rPr>
              <a:t>périphériques</a:t>
            </a:r>
            <a:r>
              <a:rPr lang="en-US" sz="1800" dirty="0">
                <a:solidFill>
                  <a:schemeClr val="tx1"/>
                </a:solidFill>
                <a:latin typeface="Arial" charset="0"/>
              </a:rPr>
              <a:t> audio avec </a:t>
            </a:r>
            <a:r>
              <a:rPr lang="en-US" sz="1800" dirty="0" err="1">
                <a:solidFill>
                  <a:schemeClr val="tx1"/>
                </a:solidFill>
                <a:latin typeface="Arial" charset="0"/>
              </a:rPr>
              <a:t>fonctions</a:t>
            </a:r>
            <a:r>
              <a:rPr lang="en-US" sz="1800" dirty="0">
                <a:solidFill>
                  <a:schemeClr val="tx1"/>
                </a:solidFill>
                <a:latin typeface="Arial" charset="0"/>
              </a:rPr>
              <a:t> </a:t>
            </a:r>
            <a:r>
              <a:rPr lang="en-US" sz="1800" dirty="0" err="1">
                <a:solidFill>
                  <a:schemeClr val="tx1"/>
                </a:solidFill>
                <a:latin typeface="Arial" charset="0"/>
              </a:rPr>
              <a:t>d'enregistrement</a:t>
            </a:r>
            <a:r>
              <a:rPr lang="en-US" sz="1800" dirty="0">
                <a:solidFill>
                  <a:schemeClr val="tx1"/>
                </a:solidFill>
                <a:latin typeface="Arial" charset="0"/>
              </a:rPr>
              <a:t> et de lecture</a:t>
            </a:r>
            <a:endParaRPr lang="en-US" sz="1800" kern="0" dirty="0">
              <a:ea typeface="Open Sans" panose="020B0606030504020204" pitchFamily="34" charset="0"/>
              <a:cs typeface="Open Sans" panose="020B0606030504020204" pitchFamily="34" charset="0"/>
            </a:endParaRPr>
          </a:p>
        </p:txBody>
      </p:sp>
      <p:grpSp>
        <p:nvGrpSpPr>
          <p:cNvPr id="7" name="Gruppieren 1417">
            <a:extLst>
              <a:ext uri="{FF2B5EF4-FFF2-40B4-BE49-F238E27FC236}">
                <a16:creationId xmlns:a16="http://schemas.microsoft.com/office/drawing/2014/main" id="{62FF1E5F-3448-4EA2-A923-17BFE0470F82}"/>
              </a:ext>
            </a:extLst>
          </p:cNvPr>
          <p:cNvGrpSpPr/>
          <p:nvPr/>
        </p:nvGrpSpPr>
        <p:grpSpPr>
          <a:xfrm>
            <a:off x="5674730" y="2770768"/>
            <a:ext cx="2982877" cy="1378312"/>
            <a:chOff x="0" y="0"/>
            <a:chExt cx="3109517" cy="1641475"/>
          </a:xfrm>
        </p:grpSpPr>
        <p:grpSp>
          <p:nvGrpSpPr>
            <p:cNvPr id="8" name="Gruppieren 1415">
              <a:extLst>
                <a:ext uri="{FF2B5EF4-FFF2-40B4-BE49-F238E27FC236}">
                  <a16:creationId xmlns:a16="http://schemas.microsoft.com/office/drawing/2014/main" id="{53BA1306-AA80-4AAD-8B2A-5E00DD61ED3D}"/>
                </a:ext>
              </a:extLst>
            </p:cNvPr>
            <p:cNvGrpSpPr/>
            <p:nvPr/>
          </p:nvGrpSpPr>
          <p:grpSpPr>
            <a:xfrm>
              <a:off x="2472612" y="121298"/>
              <a:ext cx="636905" cy="804779"/>
              <a:chOff x="0" y="0"/>
              <a:chExt cx="636905" cy="804779"/>
            </a:xfrm>
          </p:grpSpPr>
          <p:sp>
            <p:nvSpPr>
              <p:cNvPr id="11" name="Abgerundetes Rechteck 1402">
                <a:extLst>
                  <a:ext uri="{FF2B5EF4-FFF2-40B4-BE49-F238E27FC236}">
                    <a16:creationId xmlns:a16="http://schemas.microsoft.com/office/drawing/2014/main" id="{8997E94A-1130-4049-B150-94D190F58413}"/>
                  </a:ext>
                </a:extLst>
              </p:cNvPr>
              <p:cNvSpPr/>
              <p:nvPr/>
            </p:nvSpPr>
            <p:spPr>
              <a:xfrm>
                <a:off x="0" y="0"/>
                <a:ext cx="636905" cy="804779"/>
              </a:xfrm>
              <a:prstGeom prst="roundRect">
                <a:avLst>
                  <a:gd name="adj" fmla="val 3523"/>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2" name="Ellipse 1403">
                <a:extLst>
                  <a:ext uri="{FF2B5EF4-FFF2-40B4-BE49-F238E27FC236}">
                    <a16:creationId xmlns:a16="http://schemas.microsoft.com/office/drawing/2014/main" id="{AB99BBDA-B38C-43E0-9FD1-DC86BA293088}"/>
                  </a:ext>
                </a:extLst>
              </p:cNvPr>
              <p:cNvSpPr/>
              <p:nvPr/>
            </p:nvSpPr>
            <p:spPr>
              <a:xfrm>
                <a:off x="126657" y="1884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3" name="Ellipse 1404">
                <a:extLst>
                  <a:ext uri="{FF2B5EF4-FFF2-40B4-BE49-F238E27FC236}">
                    <a16:creationId xmlns:a16="http://schemas.microsoft.com/office/drawing/2014/main" id="{702AC01C-EAB8-4C23-B364-B7FB55E51E62}"/>
                  </a:ext>
                </a:extLst>
              </p:cNvPr>
              <p:cNvSpPr/>
              <p:nvPr/>
            </p:nvSpPr>
            <p:spPr>
              <a:xfrm>
                <a:off x="231690" y="1853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4" name="Ellipse 1405">
                <a:extLst>
                  <a:ext uri="{FF2B5EF4-FFF2-40B4-BE49-F238E27FC236}">
                    <a16:creationId xmlns:a16="http://schemas.microsoft.com/office/drawing/2014/main" id="{93526D3B-F7DE-4F41-8485-257F3D04F298}"/>
                  </a:ext>
                </a:extLst>
              </p:cNvPr>
              <p:cNvSpPr/>
              <p:nvPr/>
            </p:nvSpPr>
            <p:spPr>
              <a:xfrm>
                <a:off x="342900" y="1884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5" name="Ellipse 1406">
                <a:extLst>
                  <a:ext uri="{FF2B5EF4-FFF2-40B4-BE49-F238E27FC236}">
                    <a16:creationId xmlns:a16="http://schemas.microsoft.com/office/drawing/2014/main" id="{219E5764-B811-47A6-BE61-5DF462F5EFC9}"/>
                  </a:ext>
                </a:extLst>
              </p:cNvPr>
              <p:cNvSpPr/>
              <p:nvPr/>
            </p:nvSpPr>
            <p:spPr>
              <a:xfrm>
                <a:off x="451022" y="188440"/>
                <a:ext cx="64394" cy="643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6" name="Ellipse 1407">
                <a:extLst>
                  <a:ext uri="{FF2B5EF4-FFF2-40B4-BE49-F238E27FC236}">
                    <a16:creationId xmlns:a16="http://schemas.microsoft.com/office/drawing/2014/main" id="{DA78024B-DFD2-4C8B-A115-458D5F45D827}"/>
                  </a:ext>
                </a:extLst>
              </p:cNvPr>
              <p:cNvSpPr/>
              <p:nvPr/>
            </p:nvSpPr>
            <p:spPr>
              <a:xfrm>
                <a:off x="126657" y="305829"/>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7" name="Ellipse 1408">
                <a:extLst>
                  <a:ext uri="{FF2B5EF4-FFF2-40B4-BE49-F238E27FC236}">
                    <a16:creationId xmlns:a16="http://schemas.microsoft.com/office/drawing/2014/main" id="{9FC8A52E-C42B-4BEE-AA7D-25B8A1578225}"/>
                  </a:ext>
                </a:extLst>
              </p:cNvPr>
              <p:cNvSpPr/>
              <p:nvPr/>
            </p:nvSpPr>
            <p:spPr>
              <a:xfrm>
                <a:off x="228600" y="3027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8" name="Ellipse 1409">
                <a:extLst>
                  <a:ext uri="{FF2B5EF4-FFF2-40B4-BE49-F238E27FC236}">
                    <a16:creationId xmlns:a16="http://schemas.microsoft.com/office/drawing/2014/main" id="{F95FD742-7F1A-4B05-B98A-4590B46A93AE}"/>
                  </a:ext>
                </a:extLst>
              </p:cNvPr>
              <p:cNvSpPr/>
              <p:nvPr/>
            </p:nvSpPr>
            <p:spPr>
              <a:xfrm>
                <a:off x="339811" y="305829"/>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19" name="Ellipse 1410">
                <a:extLst>
                  <a:ext uri="{FF2B5EF4-FFF2-40B4-BE49-F238E27FC236}">
                    <a16:creationId xmlns:a16="http://schemas.microsoft.com/office/drawing/2014/main" id="{0A5655AC-53FC-4DDC-AED0-3121C4E9E7BB}"/>
                  </a:ext>
                </a:extLst>
              </p:cNvPr>
              <p:cNvSpPr/>
              <p:nvPr/>
            </p:nvSpPr>
            <p:spPr>
              <a:xfrm>
                <a:off x="447933" y="305829"/>
                <a:ext cx="64394" cy="643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20" name="Ellipse 1411">
                <a:extLst>
                  <a:ext uri="{FF2B5EF4-FFF2-40B4-BE49-F238E27FC236}">
                    <a16:creationId xmlns:a16="http://schemas.microsoft.com/office/drawing/2014/main" id="{B2C53EAF-0069-4C78-8D68-D645A18F4C94}"/>
                  </a:ext>
                </a:extLst>
              </p:cNvPr>
              <p:cNvSpPr/>
              <p:nvPr/>
            </p:nvSpPr>
            <p:spPr>
              <a:xfrm>
                <a:off x="126657"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21" name="Ellipse 1412">
                <a:extLst>
                  <a:ext uri="{FF2B5EF4-FFF2-40B4-BE49-F238E27FC236}">
                    <a16:creationId xmlns:a16="http://schemas.microsoft.com/office/drawing/2014/main" id="{46E748A2-594D-441E-A491-96AAA59B2944}"/>
                  </a:ext>
                </a:extLst>
              </p:cNvPr>
              <p:cNvSpPr/>
              <p:nvPr/>
            </p:nvSpPr>
            <p:spPr>
              <a:xfrm>
                <a:off x="228600"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22" name="Ellipse 1413">
                <a:extLst>
                  <a:ext uri="{FF2B5EF4-FFF2-40B4-BE49-F238E27FC236}">
                    <a16:creationId xmlns:a16="http://schemas.microsoft.com/office/drawing/2014/main" id="{3977C302-9AB4-4D0D-AADD-578CC03A88E9}"/>
                  </a:ext>
                </a:extLst>
              </p:cNvPr>
              <p:cNvSpPr/>
              <p:nvPr/>
            </p:nvSpPr>
            <p:spPr>
              <a:xfrm>
                <a:off x="339811"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sp>
            <p:nvSpPr>
              <p:cNvPr id="23" name="Ellipse 1414">
                <a:extLst>
                  <a:ext uri="{FF2B5EF4-FFF2-40B4-BE49-F238E27FC236}">
                    <a16:creationId xmlns:a16="http://schemas.microsoft.com/office/drawing/2014/main" id="{3BF94AFF-3B99-4954-BAAF-4D3762C6CBC2}"/>
                  </a:ext>
                </a:extLst>
              </p:cNvPr>
              <p:cNvSpPr/>
              <p:nvPr/>
            </p:nvSpPr>
            <p:spPr>
              <a:xfrm>
                <a:off x="447933"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fromWordArt="0" anchor="ctr" anchorCtr="0" forceAA="0" compatLnSpc="1">
                <a:prstTxWarp prst="textNoShape">
                  <a:avLst/>
                </a:prstTxWarp>
                <a:noAutofit/>
              </a:bodyPr>
              <a:lstStyle/>
              <a:p>
                <a:endParaRPr lang="es-ES"/>
              </a:p>
            </p:txBody>
          </p:sp>
        </p:grpSp>
        <p:cxnSp>
          <p:nvCxnSpPr>
            <p:cNvPr id="9" name="Gerader Verbinder 1416">
              <a:extLst>
                <a:ext uri="{FF2B5EF4-FFF2-40B4-BE49-F238E27FC236}">
                  <a16:creationId xmlns:a16="http://schemas.microsoft.com/office/drawing/2014/main" id="{272597F1-BF8E-496F-AE31-19EE5759279E}"/>
                </a:ext>
              </a:extLst>
            </p:cNvPr>
            <p:cNvCxnSpPr/>
            <p:nvPr/>
          </p:nvCxnSpPr>
          <p:spPr>
            <a:xfrm>
              <a:off x="419878" y="522515"/>
              <a:ext cx="2052734" cy="0"/>
            </a:xfrm>
            <a:prstGeom prst="line">
              <a:avLst/>
            </a:prstGeom>
            <a:ln w="28575"/>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52846201-B72F-42D2-8848-C3D3830E1D9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427990" cy="1641475"/>
            </a:xfrm>
            <a:prstGeom prst="rect">
              <a:avLst/>
            </a:prstGeom>
            <a:noFill/>
            <a:ln>
              <a:noFill/>
            </a:ln>
          </p:spPr>
        </p:pic>
      </p:grpSp>
      <p:grpSp>
        <p:nvGrpSpPr>
          <p:cNvPr id="24" name="Gruppieren 1424">
            <a:extLst>
              <a:ext uri="{FF2B5EF4-FFF2-40B4-BE49-F238E27FC236}">
                <a16:creationId xmlns:a16="http://schemas.microsoft.com/office/drawing/2014/main" id="{8042B459-68CF-4D1D-B790-6301394E98F5}"/>
              </a:ext>
            </a:extLst>
          </p:cNvPr>
          <p:cNvGrpSpPr>
            <a:grpSpLocks noChangeAspect="1"/>
          </p:cNvGrpSpPr>
          <p:nvPr/>
        </p:nvGrpSpPr>
        <p:grpSpPr>
          <a:xfrm>
            <a:off x="5641357" y="4682173"/>
            <a:ext cx="2896497" cy="1465321"/>
            <a:chOff x="0" y="0"/>
            <a:chExt cx="3353562" cy="1697736"/>
          </a:xfrm>
        </p:grpSpPr>
        <p:cxnSp>
          <p:nvCxnSpPr>
            <p:cNvPr id="25" name="Elbow Connector 1365">
              <a:extLst>
                <a:ext uri="{FF2B5EF4-FFF2-40B4-BE49-F238E27FC236}">
                  <a16:creationId xmlns:a16="http://schemas.microsoft.com/office/drawing/2014/main" id="{9F12FFC0-DFEA-4103-A47B-351DF754BCC9}"/>
                </a:ext>
              </a:extLst>
            </p:cNvPr>
            <p:cNvCxnSpPr>
              <a:cxnSpLocks/>
            </p:cNvCxnSpPr>
            <p:nvPr/>
          </p:nvCxnSpPr>
          <p:spPr>
            <a:xfrm flipV="1">
              <a:off x="993648" y="499872"/>
              <a:ext cx="1510030" cy="382905"/>
            </a:xfrm>
            <a:prstGeom prst="bentConnector3">
              <a:avLst/>
            </a:prstGeom>
            <a:noFill/>
            <a:ln w="25400" cap="flat" cmpd="sng" algn="ctr">
              <a:solidFill>
                <a:sysClr val="windowText" lastClr="000000"/>
              </a:solidFill>
              <a:prstDash val="solid"/>
              <a:headEnd type="arrow"/>
              <a:tailEnd type="arrow"/>
            </a:ln>
            <a:effectLst>
              <a:outerShdw blurRad="40000" dist="20000" dir="5400000" rotWithShape="0">
                <a:srgbClr val="000000">
                  <a:alpha val="38000"/>
                </a:srgbClr>
              </a:outerShdw>
            </a:effectLst>
          </p:spPr>
        </p:cxnSp>
        <p:pic>
          <p:nvPicPr>
            <p:cNvPr id="26" name="Picture 25">
              <a:extLst>
                <a:ext uri="{FF2B5EF4-FFF2-40B4-BE49-F238E27FC236}">
                  <a16:creationId xmlns:a16="http://schemas.microsoft.com/office/drawing/2014/main" id="{C2018C8B-9FE9-47D2-8DE1-434243583B2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24912" y="0"/>
              <a:ext cx="628650" cy="1533525"/>
            </a:xfrm>
            <a:prstGeom prst="rect">
              <a:avLst/>
            </a:prstGeom>
            <a:noFill/>
            <a:ln>
              <a:noFill/>
            </a:ln>
          </p:spPr>
        </p:pic>
        <p:pic>
          <p:nvPicPr>
            <p:cNvPr id="27" name="Picture 26">
              <a:extLst>
                <a:ext uri="{FF2B5EF4-FFF2-40B4-BE49-F238E27FC236}">
                  <a16:creationId xmlns:a16="http://schemas.microsoft.com/office/drawing/2014/main" id="{53984A5A-A605-4D77-8C3A-449B92990BA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97536"/>
              <a:ext cx="781050" cy="1600200"/>
            </a:xfrm>
            <a:prstGeom prst="rect">
              <a:avLst/>
            </a:prstGeom>
            <a:noFill/>
            <a:ln>
              <a:noFill/>
            </a:ln>
          </p:spPr>
        </p:pic>
      </p:grpSp>
      <p:sp>
        <p:nvSpPr>
          <p:cNvPr id="28" name="Content Placeholder 1">
            <a:extLst>
              <a:ext uri="{FF2B5EF4-FFF2-40B4-BE49-F238E27FC236}">
                <a16:creationId xmlns:a16="http://schemas.microsoft.com/office/drawing/2014/main" id="{BFFF74BD-1DC3-4658-A2F1-8A1B46B25930}"/>
              </a:ext>
            </a:extLst>
          </p:cNvPr>
          <p:cNvSpPr txBox="1">
            <a:spLocks/>
          </p:cNvSpPr>
          <p:nvPr/>
        </p:nvSpPr>
        <p:spPr>
          <a:xfrm>
            <a:off x="971600" y="1412875"/>
            <a:ext cx="7776864" cy="100801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a:ea typeface="Open Sans" panose="020B0606030504020204" pitchFamily="34" charset="0"/>
                <a:cs typeface="Open Sans" panose="020B0606030504020204" pitchFamily="34" charset="0"/>
              </a:rPr>
              <a:t>Le système d'intercom </a:t>
            </a:r>
            <a:r>
              <a:rPr lang="en-GB" sz="2000" kern="1200">
                <a:solidFill>
                  <a:schemeClr val="tx1"/>
                </a:solidFill>
                <a:latin typeface="Arial" charset="0"/>
              </a:rPr>
              <a:t>se compose de </a:t>
            </a:r>
            <a:r>
              <a:rPr lang="en-US" sz="2000" kern="1200">
                <a:solidFill>
                  <a:schemeClr val="tx1"/>
                </a:solidFill>
                <a:latin typeface="Arial" charset="0"/>
              </a:rPr>
              <a:t>deux dispositifs, un récepteur et un transmetteur. Chaque appareil fonctionne bi-directionnellement</a:t>
            </a: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7918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Intégration des systèmes multimédias</a:t>
            </a:r>
          </a:p>
        </p:txBody>
      </p:sp>
      <p:grpSp>
        <p:nvGrpSpPr>
          <p:cNvPr id="23" name="Group 22">
            <a:extLst>
              <a:ext uri="{FF2B5EF4-FFF2-40B4-BE49-F238E27FC236}">
                <a16:creationId xmlns:a16="http://schemas.microsoft.com/office/drawing/2014/main" id="{17296EA5-9301-475C-A9FD-216AACD34F40}"/>
              </a:ext>
            </a:extLst>
          </p:cNvPr>
          <p:cNvGrpSpPr>
            <a:grpSpLocks/>
          </p:cNvGrpSpPr>
          <p:nvPr/>
        </p:nvGrpSpPr>
        <p:grpSpPr bwMode="auto">
          <a:xfrm>
            <a:off x="5120938" y="1340769"/>
            <a:ext cx="3460450" cy="2490787"/>
            <a:chOff x="863600" y="1428750"/>
            <a:chExt cx="3744686" cy="2490107"/>
          </a:xfrm>
        </p:grpSpPr>
        <p:sp>
          <p:nvSpPr>
            <p:cNvPr id="24" name="Rektangel 21">
              <a:extLst>
                <a:ext uri="{FF2B5EF4-FFF2-40B4-BE49-F238E27FC236}">
                  <a16:creationId xmlns:a16="http://schemas.microsoft.com/office/drawing/2014/main" id="{3174032E-CF72-4071-955F-05CCCF9FAA71}"/>
                </a:ext>
              </a:extLst>
            </p:cNvPr>
            <p:cNvSpPr>
              <a:spLocks noChangeArrowheads="1"/>
            </p:cNvSpPr>
            <p:nvPr/>
          </p:nvSpPr>
          <p:spPr bwMode="auto">
            <a:xfrm>
              <a:off x="863600" y="1428750"/>
              <a:ext cx="3744686" cy="476120"/>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US" sz="1600" b="1">
                  <a:solidFill>
                    <a:schemeClr val="bg1"/>
                  </a:solidFill>
                </a:rPr>
                <a:t>Retour d'information :</a:t>
              </a:r>
              <a:endParaRPr lang="da-DK" sz="1600" b="1" kern="0" noProof="1">
                <a:solidFill>
                  <a:schemeClr val="bg1"/>
                </a:solidFill>
                <a:ea typeface="ＭＳ Ｐゴシック" pitchFamily="-97" charset="-128"/>
              </a:endParaRPr>
            </a:p>
          </p:txBody>
        </p:sp>
        <p:sp>
          <p:nvSpPr>
            <p:cNvPr id="25" name="Rektangel 31">
              <a:extLst>
                <a:ext uri="{FF2B5EF4-FFF2-40B4-BE49-F238E27FC236}">
                  <a16:creationId xmlns:a16="http://schemas.microsoft.com/office/drawing/2014/main" id="{C7644612-4B94-4A21-87A4-BEFA6CB01C66}"/>
                </a:ext>
              </a:extLst>
            </p:cNvPr>
            <p:cNvSpPr>
              <a:spLocks noChangeArrowheads="1"/>
            </p:cNvSpPr>
            <p:nvPr/>
          </p:nvSpPr>
          <p:spPr bwMode="auto">
            <a:xfrm>
              <a:off x="863600" y="1933437"/>
              <a:ext cx="3744686" cy="1985420"/>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400" b="1" dirty="0">
                <a:solidFill>
                  <a:srgbClr val="FFFFFF"/>
                </a:solidFill>
                <a:ea typeface="ＭＳ Ｐゴシック" pitchFamily="-97" charset="-128"/>
              </a:endParaRPr>
            </a:p>
          </p:txBody>
        </p:sp>
        <p:sp>
          <p:nvSpPr>
            <p:cNvPr id="26" name="Tekstboks 9">
              <a:extLst>
                <a:ext uri="{FF2B5EF4-FFF2-40B4-BE49-F238E27FC236}">
                  <a16:creationId xmlns:a16="http://schemas.microsoft.com/office/drawing/2014/main" id="{8F24D8D7-0898-4ADF-8EC5-603E5CDDF57C}"/>
                </a:ext>
              </a:extLst>
            </p:cNvPr>
            <p:cNvSpPr txBox="1">
              <a:spLocks noChangeArrowheads="1"/>
            </p:cNvSpPr>
            <p:nvPr/>
          </p:nvSpPr>
          <p:spPr bwMode="auto">
            <a:xfrm>
              <a:off x="939796" y="2042944"/>
              <a:ext cx="3592295" cy="1169232"/>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400" b="1">
                  <a:solidFill>
                    <a:schemeClr val="bg1">
                      <a:lumMod val="10000"/>
                    </a:schemeClr>
                  </a:solidFill>
                </a:rPr>
                <a:t>Amplificateur On/Off</a:t>
              </a:r>
            </a:p>
            <a:p>
              <a:pPr marL="171450" indent="-171450">
                <a:buFont typeface="Arial" panose="020B0604020202020204" pitchFamily="34" charset="0"/>
                <a:buChar char="•"/>
                <a:defRPr/>
              </a:pPr>
              <a:r>
                <a:rPr lang="en-US" sz="1400" b="1">
                  <a:solidFill>
                    <a:schemeClr val="bg1">
                      <a:lumMod val="10000"/>
                    </a:schemeClr>
                  </a:solidFill>
                </a:rPr>
                <a:t>Niveau de volume</a:t>
              </a:r>
            </a:p>
            <a:p>
              <a:pPr marL="171450" indent="-171450">
                <a:buFont typeface="Arial" panose="020B0604020202020204" pitchFamily="34" charset="0"/>
                <a:buChar char="•"/>
                <a:defRPr/>
              </a:pPr>
              <a:r>
                <a:rPr lang="en-US" sz="1400" b="1">
                  <a:solidFill>
                    <a:schemeClr val="bg1">
                      <a:lumMod val="10000"/>
                    </a:schemeClr>
                  </a:solidFill>
                </a:rPr>
                <a:t>Nom de la source</a:t>
              </a:r>
            </a:p>
            <a:p>
              <a:pPr marL="171450" indent="-171450">
                <a:buFont typeface="Arial" panose="020B0604020202020204" pitchFamily="34" charset="0"/>
                <a:buChar char="•"/>
                <a:defRPr/>
              </a:pPr>
              <a:r>
                <a:rPr lang="en-US" sz="1400" b="1">
                  <a:solidFill>
                    <a:schemeClr val="bg1">
                      <a:lumMod val="10000"/>
                    </a:schemeClr>
                  </a:solidFill>
                </a:rPr>
                <a:t>Titre du morceau en lecture</a:t>
              </a:r>
            </a:p>
            <a:p>
              <a:pPr marL="171450" indent="-171450">
                <a:buFont typeface="Arial" panose="020B0604020202020204" pitchFamily="34" charset="0"/>
                <a:buChar char="•"/>
                <a:defRPr/>
              </a:pPr>
              <a:r>
                <a:rPr lang="en-US" sz="1400" b="1">
                  <a:solidFill>
                    <a:schemeClr val="bg1">
                      <a:lumMod val="10000"/>
                    </a:schemeClr>
                  </a:solidFill>
                </a:rPr>
                <a:t>Titre de la station de radio ou RDS</a:t>
              </a:r>
            </a:p>
          </p:txBody>
        </p:sp>
      </p:grpSp>
      <p:grpSp>
        <p:nvGrpSpPr>
          <p:cNvPr id="27" name="Group 26">
            <a:extLst>
              <a:ext uri="{FF2B5EF4-FFF2-40B4-BE49-F238E27FC236}">
                <a16:creationId xmlns:a16="http://schemas.microsoft.com/office/drawing/2014/main" id="{CD4F0245-0010-47BD-8BE1-AE1BBA1A59C1}"/>
              </a:ext>
            </a:extLst>
          </p:cNvPr>
          <p:cNvGrpSpPr>
            <a:grpSpLocks/>
          </p:cNvGrpSpPr>
          <p:nvPr/>
        </p:nvGrpSpPr>
        <p:grpSpPr bwMode="auto">
          <a:xfrm>
            <a:off x="1471590" y="1340769"/>
            <a:ext cx="3498200" cy="2490787"/>
            <a:chOff x="863600" y="1428750"/>
            <a:chExt cx="3744686" cy="2490107"/>
          </a:xfrm>
        </p:grpSpPr>
        <p:sp>
          <p:nvSpPr>
            <p:cNvPr id="28" name="Rektangel 21">
              <a:extLst>
                <a:ext uri="{FF2B5EF4-FFF2-40B4-BE49-F238E27FC236}">
                  <a16:creationId xmlns:a16="http://schemas.microsoft.com/office/drawing/2014/main" id="{52FE8795-F3FE-4595-8B5F-CE485610E862}"/>
                </a:ext>
              </a:extLst>
            </p:cNvPr>
            <p:cNvSpPr>
              <a:spLocks noChangeArrowheads="1"/>
            </p:cNvSpPr>
            <p:nvPr/>
          </p:nvSpPr>
          <p:spPr bwMode="auto">
            <a:xfrm>
              <a:off x="863600" y="1428750"/>
              <a:ext cx="3744686" cy="476120"/>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a:solidFill>
                    <a:sysClr val="window" lastClr="FFFFFF"/>
                  </a:solidFill>
                  <a:ea typeface="ＭＳ Ｐゴシック" pitchFamily="-97" charset="-128"/>
                </a:rPr>
                <a:t>Fonctions:</a:t>
              </a:r>
            </a:p>
          </p:txBody>
        </p:sp>
        <p:sp>
          <p:nvSpPr>
            <p:cNvPr id="29" name="Rektangel 31">
              <a:extLst>
                <a:ext uri="{FF2B5EF4-FFF2-40B4-BE49-F238E27FC236}">
                  <a16:creationId xmlns:a16="http://schemas.microsoft.com/office/drawing/2014/main" id="{BCB3F47F-5FDA-46F2-B3E5-45C5627FF8FD}"/>
                </a:ext>
              </a:extLst>
            </p:cNvPr>
            <p:cNvSpPr>
              <a:spLocks noChangeArrowheads="1"/>
            </p:cNvSpPr>
            <p:nvPr/>
          </p:nvSpPr>
          <p:spPr bwMode="auto">
            <a:xfrm>
              <a:off x="863600" y="1933437"/>
              <a:ext cx="3744686" cy="1985420"/>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400" b="1" dirty="0">
                <a:solidFill>
                  <a:srgbClr val="FFFFFF"/>
                </a:solidFill>
                <a:ea typeface="ＭＳ Ｐゴシック" pitchFamily="-97" charset="-128"/>
              </a:endParaRPr>
            </a:p>
          </p:txBody>
        </p:sp>
        <p:sp>
          <p:nvSpPr>
            <p:cNvPr id="30" name="Tekstboks 9">
              <a:extLst>
                <a:ext uri="{FF2B5EF4-FFF2-40B4-BE49-F238E27FC236}">
                  <a16:creationId xmlns:a16="http://schemas.microsoft.com/office/drawing/2014/main" id="{6F224230-4B92-42D5-B84B-D728D77EF9CA}"/>
                </a:ext>
              </a:extLst>
            </p:cNvPr>
            <p:cNvSpPr txBox="1">
              <a:spLocks noChangeArrowheads="1"/>
            </p:cNvSpPr>
            <p:nvPr/>
          </p:nvSpPr>
          <p:spPr bwMode="auto">
            <a:xfrm>
              <a:off x="939795" y="2042944"/>
              <a:ext cx="3592295" cy="1600001"/>
            </a:xfrm>
            <a:prstGeom prst="rect">
              <a:avLst/>
            </a:prstGeom>
            <a:solidFill>
              <a:schemeClr val="bg1"/>
            </a:solidFill>
            <a:ln w="9525">
              <a:noFill/>
              <a:miter lim="800000"/>
              <a:headEnd/>
              <a:tailEnd/>
            </a:ln>
          </p:spPr>
          <p:txBody>
            <a:bodyPr>
              <a:spAutoFit/>
            </a:bodyPr>
            <a:lstStyle/>
            <a:p>
              <a:pPr marL="171450" indent="-171450">
                <a:buFont typeface="Arial" panose="020B0604020202020204" pitchFamily="34" charset="0"/>
                <a:buChar char="•"/>
                <a:defRPr/>
              </a:pPr>
              <a:r>
                <a:rPr lang="en-US" sz="1400" b="1">
                  <a:solidFill>
                    <a:schemeClr val="bg1">
                      <a:lumMod val="10000"/>
                    </a:schemeClr>
                  </a:solidFill>
                </a:rPr>
                <a:t>Zone On/Off</a:t>
              </a:r>
            </a:p>
            <a:p>
              <a:pPr marL="171450" indent="-171450">
                <a:buFont typeface="Arial" panose="020B0604020202020204" pitchFamily="34" charset="0"/>
                <a:buChar char="•"/>
                <a:defRPr/>
              </a:pPr>
              <a:r>
                <a:rPr lang="en-US" sz="1400" b="1">
                  <a:solidFill>
                    <a:schemeClr val="bg1">
                      <a:lumMod val="10000"/>
                    </a:schemeClr>
                  </a:solidFill>
                </a:rPr>
                <a:t>Réglage du volume</a:t>
              </a:r>
            </a:p>
            <a:p>
              <a:pPr marL="171450" indent="-171450">
                <a:buFont typeface="Arial" panose="020B0604020202020204" pitchFamily="34" charset="0"/>
                <a:buChar char="•"/>
                <a:defRPr/>
              </a:pPr>
              <a:r>
                <a:rPr lang="en-US" sz="1400" b="1">
                  <a:solidFill>
                    <a:schemeClr val="bg1">
                      <a:lumMod val="10000"/>
                    </a:schemeClr>
                  </a:solidFill>
                </a:rPr>
                <a:t>Sélection de la source</a:t>
              </a:r>
            </a:p>
            <a:p>
              <a:pPr marL="171450" indent="-171450">
                <a:buFont typeface="Arial" panose="020B0604020202020204" pitchFamily="34" charset="0"/>
                <a:buChar char="•"/>
                <a:defRPr/>
              </a:pPr>
              <a:r>
                <a:rPr lang="en-US" sz="1400" b="1">
                  <a:solidFill>
                    <a:schemeClr val="bg1">
                      <a:lumMod val="10000"/>
                    </a:schemeClr>
                  </a:solidFill>
                </a:rPr>
                <a:t>Silencieux</a:t>
              </a:r>
            </a:p>
            <a:p>
              <a:pPr marL="171450" indent="-171450">
                <a:buFont typeface="Arial" panose="020B0604020202020204" pitchFamily="34" charset="0"/>
                <a:buChar char="•"/>
                <a:defRPr/>
              </a:pPr>
              <a:r>
                <a:rPr lang="en-US" sz="1400" b="1">
                  <a:solidFill>
                    <a:schemeClr val="bg1">
                      <a:lumMod val="10000"/>
                    </a:schemeClr>
                  </a:solidFill>
                </a:rPr>
                <a:t>Réglage du son</a:t>
              </a:r>
            </a:p>
            <a:p>
              <a:pPr marL="171450" indent="-171450">
                <a:buFont typeface="Arial" panose="020B0604020202020204" pitchFamily="34" charset="0"/>
                <a:buChar char="•"/>
                <a:defRPr/>
              </a:pPr>
              <a:r>
                <a:rPr lang="en-US" sz="1400" b="1">
                  <a:solidFill>
                    <a:schemeClr val="bg1">
                      <a:lumMod val="10000"/>
                    </a:schemeClr>
                  </a:solidFill>
                </a:rPr>
                <a:t>Diffusion dans une zone</a:t>
              </a:r>
            </a:p>
            <a:p>
              <a:pPr marL="171450" indent="-171450">
                <a:buFont typeface="Arial" panose="020B0604020202020204" pitchFamily="34" charset="0"/>
                <a:buChar char="•"/>
                <a:defRPr/>
              </a:pPr>
              <a:r>
                <a:rPr lang="en-US" sz="1400" b="1">
                  <a:solidFill>
                    <a:schemeClr val="bg1">
                      <a:lumMod val="10000"/>
                    </a:schemeClr>
                  </a:solidFill>
                </a:rPr>
                <a:t>Sélection de la station de radio</a:t>
              </a:r>
            </a:p>
          </p:txBody>
        </p:sp>
      </p:grpSp>
      <p:grpSp>
        <p:nvGrpSpPr>
          <p:cNvPr id="31" name="Group 30">
            <a:extLst>
              <a:ext uri="{FF2B5EF4-FFF2-40B4-BE49-F238E27FC236}">
                <a16:creationId xmlns:a16="http://schemas.microsoft.com/office/drawing/2014/main" id="{32A5E72B-26AC-444F-8E9A-1837A04470EC}"/>
              </a:ext>
            </a:extLst>
          </p:cNvPr>
          <p:cNvGrpSpPr>
            <a:grpSpLocks/>
          </p:cNvGrpSpPr>
          <p:nvPr/>
        </p:nvGrpSpPr>
        <p:grpSpPr bwMode="auto">
          <a:xfrm>
            <a:off x="5120938" y="3933058"/>
            <a:ext cx="3483510" cy="2479675"/>
            <a:chOff x="863600" y="1428750"/>
            <a:chExt cx="3744686" cy="2478367"/>
          </a:xfrm>
        </p:grpSpPr>
        <p:sp>
          <p:nvSpPr>
            <p:cNvPr id="32" name="Rektangel 21">
              <a:extLst>
                <a:ext uri="{FF2B5EF4-FFF2-40B4-BE49-F238E27FC236}">
                  <a16:creationId xmlns:a16="http://schemas.microsoft.com/office/drawing/2014/main" id="{F842A7AD-64A5-45EC-8DF7-EB15CB0E97D7}"/>
                </a:ext>
              </a:extLst>
            </p:cNvPr>
            <p:cNvSpPr>
              <a:spLocks noChangeArrowheads="1"/>
            </p:cNvSpPr>
            <p:nvPr/>
          </p:nvSpPr>
          <p:spPr bwMode="auto">
            <a:xfrm>
              <a:off x="863600" y="1428750"/>
              <a:ext cx="3744686" cy="475999"/>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US" sz="1600" b="1">
                  <a:solidFill>
                    <a:schemeClr val="bg1"/>
                  </a:solidFill>
                </a:rPr>
                <a:t>Retour d'information :</a:t>
              </a:r>
              <a:endParaRPr lang="da-DK" sz="1600" b="1" kern="0" noProof="1">
                <a:solidFill>
                  <a:schemeClr val="bg1"/>
                </a:solidFill>
                <a:ea typeface="ＭＳ Ｐゴシック" pitchFamily="-97" charset="-128"/>
              </a:endParaRPr>
            </a:p>
          </p:txBody>
        </p:sp>
        <p:sp>
          <p:nvSpPr>
            <p:cNvPr id="33" name="Rektangel 31">
              <a:extLst>
                <a:ext uri="{FF2B5EF4-FFF2-40B4-BE49-F238E27FC236}">
                  <a16:creationId xmlns:a16="http://schemas.microsoft.com/office/drawing/2014/main" id="{D4CA21BD-1A54-4B0A-ABD1-0BE0D07EDF27}"/>
                </a:ext>
              </a:extLst>
            </p:cNvPr>
            <p:cNvSpPr>
              <a:spLocks noChangeArrowheads="1"/>
            </p:cNvSpPr>
            <p:nvPr/>
          </p:nvSpPr>
          <p:spPr bwMode="auto">
            <a:xfrm>
              <a:off x="863600" y="1933309"/>
              <a:ext cx="3744686" cy="1973808"/>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400" b="1" dirty="0">
                <a:solidFill>
                  <a:srgbClr val="FFFFFF"/>
                </a:solidFill>
                <a:ea typeface="ＭＳ Ｐゴシック" pitchFamily="-97" charset="-128"/>
              </a:endParaRPr>
            </a:p>
          </p:txBody>
        </p:sp>
        <p:sp>
          <p:nvSpPr>
            <p:cNvPr id="34" name="Tekstboks 9">
              <a:extLst>
                <a:ext uri="{FF2B5EF4-FFF2-40B4-BE49-F238E27FC236}">
                  <a16:creationId xmlns:a16="http://schemas.microsoft.com/office/drawing/2014/main" id="{BCB55CED-23BD-447B-95C7-5117FD4DEB78}"/>
                </a:ext>
              </a:extLst>
            </p:cNvPr>
            <p:cNvSpPr txBox="1">
              <a:spLocks noChangeArrowheads="1"/>
            </p:cNvSpPr>
            <p:nvPr/>
          </p:nvSpPr>
          <p:spPr bwMode="auto">
            <a:xfrm>
              <a:off x="939795" y="2042789"/>
              <a:ext cx="3592295" cy="1384264"/>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400" b="1">
                  <a:solidFill>
                    <a:schemeClr val="bg1">
                      <a:lumMod val="10000"/>
                    </a:schemeClr>
                  </a:solidFill>
                </a:rPr>
                <a:t>Etat de la porte (ouverte ou fermée, verrouillée ou déverrouillée)</a:t>
              </a:r>
            </a:p>
            <a:p>
              <a:pPr marL="171450" indent="-171450">
                <a:buFont typeface="Arial" panose="020B0604020202020204" pitchFamily="34" charset="0"/>
                <a:buChar char="•"/>
                <a:defRPr/>
              </a:pPr>
              <a:r>
                <a:rPr lang="en-US" sz="1400" b="1">
                  <a:solidFill>
                    <a:schemeClr val="bg1">
                      <a:lumMod val="10000"/>
                    </a:schemeClr>
                  </a:solidFill>
                </a:rPr>
                <a:t>Affichage des détails des appels manqués</a:t>
              </a:r>
            </a:p>
            <a:p>
              <a:pPr marL="171450" indent="-171450">
                <a:buFont typeface="Arial" panose="020B0604020202020204" pitchFamily="34" charset="0"/>
                <a:buChar char="•"/>
                <a:defRPr/>
              </a:pPr>
              <a:r>
                <a:rPr lang="en-US" sz="1400" b="1">
                  <a:solidFill>
                    <a:schemeClr val="bg1">
                      <a:lumMod val="10000"/>
                    </a:schemeClr>
                  </a:solidFill>
                </a:rPr>
                <a:t>Affichage de la photo de la personne qui a appelé</a:t>
              </a:r>
              <a:endParaRPr lang="es-ES" sz="1400" b="1" dirty="0">
                <a:solidFill>
                  <a:schemeClr val="bg1">
                    <a:lumMod val="10000"/>
                  </a:schemeClr>
                </a:solidFill>
              </a:endParaRPr>
            </a:p>
          </p:txBody>
        </p:sp>
      </p:grpSp>
      <p:grpSp>
        <p:nvGrpSpPr>
          <p:cNvPr id="35" name="Group 34">
            <a:extLst>
              <a:ext uri="{FF2B5EF4-FFF2-40B4-BE49-F238E27FC236}">
                <a16:creationId xmlns:a16="http://schemas.microsoft.com/office/drawing/2014/main" id="{63B8C8A0-B702-4D72-B549-736EA50CE5C8}"/>
              </a:ext>
            </a:extLst>
          </p:cNvPr>
          <p:cNvGrpSpPr>
            <a:grpSpLocks/>
          </p:cNvGrpSpPr>
          <p:nvPr/>
        </p:nvGrpSpPr>
        <p:grpSpPr bwMode="auto">
          <a:xfrm>
            <a:off x="1471589" y="3933058"/>
            <a:ext cx="3498199" cy="2645688"/>
            <a:chOff x="863600" y="1428750"/>
            <a:chExt cx="3744686" cy="2644292"/>
          </a:xfrm>
        </p:grpSpPr>
        <p:sp>
          <p:nvSpPr>
            <p:cNvPr id="36" name="Rektangel 21">
              <a:extLst>
                <a:ext uri="{FF2B5EF4-FFF2-40B4-BE49-F238E27FC236}">
                  <a16:creationId xmlns:a16="http://schemas.microsoft.com/office/drawing/2014/main" id="{65B2CC88-2FF9-46B6-9E81-6C94DF20A419}"/>
                </a:ext>
              </a:extLst>
            </p:cNvPr>
            <p:cNvSpPr>
              <a:spLocks noChangeArrowheads="1"/>
            </p:cNvSpPr>
            <p:nvPr/>
          </p:nvSpPr>
          <p:spPr bwMode="auto">
            <a:xfrm>
              <a:off x="863600" y="1428750"/>
              <a:ext cx="3744686" cy="475999"/>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a:solidFill>
                    <a:sysClr val="window" lastClr="FFFFFF"/>
                  </a:solidFill>
                  <a:ea typeface="ＭＳ Ｐゴシック" pitchFamily="-97" charset="-128"/>
                </a:rPr>
                <a:t>Fonctions:</a:t>
              </a:r>
            </a:p>
          </p:txBody>
        </p:sp>
        <p:sp>
          <p:nvSpPr>
            <p:cNvPr id="37" name="Rektangel 31">
              <a:extLst>
                <a:ext uri="{FF2B5EF4-FFF2-40B4-BE49-F238E27FC236}">
                  <a16:creationId xmlns:a16="http://schemas.microsoft.com/office/drawing/2014/main" id="{C2CA8013-84A3-42E7-A8E0-9C94BB016ACB}"/>
                </a:ext>
              </a:extLst>
            </p:cNvPr>
            <p:cNvSpPr>
              <a:spLocks noChangeArrowheads="1"/>
            </p:cNvSpPr>
            <p:nvPr/>
          </p:nvSpPr>
          <p:spPr bwMode="auto">
            <a:xfrm>
              <a:off x="863600" y="1933309"/>
              <a:ext cx="3744686" cy="1973808"/>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400" b="1" dirty="0">
                <a:solidFill>
                  <a:srgbClr val="FFFFFF"/>
                </a:solidFill>
                <a:ea typeface="ＭＳ Ｐゴシック" pitchFamily="-97" charset="-128"/>
              </a:endParaRPr>
            </a:p>
          </p:txBody>
        </p:sp>
        <p:sp>
          <p:nvSpPr>
            <p:cNvPr id="38" name="Tekstboks 9">
              <a:extLst>
                <a:ext uri="{FF2B5EF4-FFF2-40B4-BE49-F238E27FC236}">
                  <a16:creationId xmlns:a16="http://schemas.microsoft.com/office/drawing/2014/main" id="{6FB2D0D7-9DA2-4BD2-9C33-453EBF49D38E}"/>
                </a:ext>
              </a:extLst>
            </p:cNvPr>
            <p:cNvSpPr txBox="1">
              <a:spLocks noChangeArrowheads="1"/>
            </p:cNvSpPr>
            <p:nvPr/>
          </p:nvSpPr>
          <p:spPr bwMode="auto">
            <a:xfrm>
              <a:off x="939796" y="2042789"/>
              <a:ext cx="3592295" cy="2030253"/>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400" b="1">
                  <a:solidFill>
                    <a:schemeClr val="bg1">
                      <a:lumMod val="10000"/>
                    </a:schemeClr>
                  </a:solidFill>
                </a:rPr>
                <a:t>Déverrouillage d'une porte</a:t>
              </a:r>
            </a:p>
            <a:p>
              <a:pPr marL="171450" indent="-171450">
                <a:buFont typeface="Arial" panose="020B0604020202020204" pitchFamily="34" charset="0"/>
                <a:buChar char="•"/>
                <a:defRPr/>
              </a:pPr>
              <a:r>
                <a:rPr lang="en-US" sz="1400" b="1">
                  <a:solidFill>
                    <a:schemeClr val="bg1">
                      <a:lumMod val="10000"/>
                    </a:schemeClr>
                  </a:solidFill>
                </a:rPr>
                <a:t>Enregistrement date/heure des appels</a:t>
              </a:r>
            </a:p>
            <a:p>
              <a:pPr marL="171450" indent="-171450">
                <a:buFont typeface="Arial" panose="020B0604020202020204" pitchFamily="34" charset="0"/>
                <a:buChar char="•"/>
                <a:defRPr/>
              </a:pPr>
              <a:r>
                <a:rPr lang="en-US" sz="1400" b="1">
                  <a:solidFill>
                    <a:schemeClr val="bg1">
                      <a:lumMod val="10000"/>
                    </a:schemeClr>
                  </a:solidFill>
                </a:rPr>
                <a:t>Enregistrement de la photo de l'appelant</a:t>
              </a:r>
            </a:p>
            <a:p>
              <a:pPr marL="171450" indent="-171450">
                <a:buFont typeface="Arial" panose="020B0604020202020204" pitchFamily="34" charset="0"/>
                <a:buChar char="•"/>
                <a:defRPr/>
              </a:pPr>
              <a:r>
                <a:rPr lang="en-US" sz="1400" b="1">
                  <a:solidFill>
                    <a:schemeClr val="bg1">
                      <a:lumMod val="10000"/>
                    </a:schemeClr>
                  </a:solidFill>
                </a:rPr>
                <a:t>Déclencher d'autres fonctions sur KNX (comme le contrôle d'éclairage, l'activation du système d'alarme, etc.)</a:t>
              </a:r>
            </a:p>
          </p:txBody>
        </p:sp>
      </p:grpSp>
      <p:sp>
        <p:nvSpPr>
          <p:cNvPr id="39" name="Rektangel 21">
            <a:extLst>
              <a:ext uri="{FF2B5EF4-FFF2-40B4-BE49-F238E27FC236}">
                <a16:creationId xmlns:a16="http://schemas.microsoft.com/office/drawing/2014/main" id="{42BA7288-E5A2-4663-965E-882532A92973}"/>
              </a:ext>
            </a:extLst>
          </p:cNvPr>
          <p:cNvSpPr>
            <a:spLocks noChangeArrowheads="1"/>
          </p:cNvSpPr>
          <p:nvPr/>
        </p:nvSpPr>
        <p:spPr bwMode="auto">
          <a:xfrm rot="16200000">
            <a:off x="-95805" y="4928457"/>
            <a:ext cx="2490788" cy="499989"/>
          </a:xfrm>
          <a:prstGeom prst="rect">
            <a:avLst/>
          </a:prstGeom>
          <a:solidFill>
            <a:srgbClr val="369226"/>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a:solidFill>
                  <a:sysClr val="window" lastClr="FFFFFF"/>
                </a:solidFill>
                <a:ea typeface="ＭＳ Ｐゴシック" pitchFamily="-97" charset="-128"/>
              </a:rPr>
              <a:t>SYSTÈMES INTERCOM</a:t>
            </a:r>
          </a:p>
        </p:txBody>
      </p:sp>
      <p:sp>
        <p:nvSpPr>
          <p:cNvPr id="40" name="Rektangel 21">
            <a:extLst>
              <a:ext uri="{FF2B5EF4-FFF2-40B4-BE49-F238E27FC236}">
                <a16:creationId xmlns:a16="http://schemas.microsoft.com/office/drawing/2014/main" id="{63EA6F12-F2E1-41F9-A23A-DDCAEA9649ED}"/>
              </a:ext>
            </a:extLst>
          </p:cNvPr>
          <p:cNvSpPr>
            <a:spLocks noChangeArrowheads="1"/>
          </p:cNvSpPr>
          <p:nvPr/>
        </p:nvSpPr>
        <p:spPr bwMode="auto">
          <a:xfrm rot="16200000">
            <a:off x="-95806" y="2336167"/>
            <a:ext cx="2490787" cy="499989"/>
          </a:xfrm>
          <a:prstGeom prst="rect">
            <a:avLst/>
          </a:prstGeom>
          <a:solidFill>
            <a:srgbClr val="369226"/>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a:solidFill>
                  <a:sysClr val="window" lastClr="FFFFFF"/>
                </a:solidFill>
                <a:ea typeface="ＭＳ Ｐゴシック" pitchFamily="-97" charset="-128"/>
              </a:rPr>
              <a:t>SYSTÈMES AUDIO</a:t>
            </a:r>
          </a:p>
        </p:txBody>
      </p:sp>
    </p:spTree>
    <p:extLst>
      <p:ext uri="{BB962C8B-B14F-4D97-AF65-F5344CB8AC3E}">
        <p14:creationId xmlns:p14="http://schemas.microsoft.com/office/powerpoint/2010/main" val="153377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p:cTn id="17" dur="500" fill="hold"/>
                                        <p:tgtEl>
                                          <p:spTgt spid="40"/>
                                        </p:tgtEl>
                                        <p:attrNameLst>
                                          <p:attrName>ppt_w</p:attrName>
                                        </p:attrNameLst>
                                      </p:cBhvr>
                                      <p:tavLst>
                                        <p:tav tm="0">
                                          <p:val>
                                            <p:fltVal val="0"/>
                                          </p:val>
                                        </p:tav>
                                        <p:tav tm="100000">
                                          <p:val>
                                            <p:strVal val="#ppt_w"/>
                                          </p:val>
                                        </p:tav>
                                      </p:tavLst>
                                    </p:anim>
                                    <p:anim calcmode="lin" valueType="num">
                                      <p:cBhvr>
                                        <p:cTn id="18" dur="500" fill="hold"/>
                                        <p:tgtEl>
                                          <p:spTgt spid="40"/>
                                        </p:tgtEl>
                                        <p:attrNameLst>
                                          <p:attrName>ppt_h</p:attrName>
                                        </p:attrNameLst>
                                      </p:cBhvr>
                                      <p:tavLst>
                                        <p:tav tm="0">
                                          <p:val>
                                            <p:fltVal val="0"/>
                                          </p:val>
                                        </p:tav>
                                        <p:tav tm="100000">
                                          <p:val>
                                            <p:strVal val="#ppt_h"/>
                                          </p:val>
                                        </p:tav>
                                      </p:tavLst>
                                    </p:anim>
                                    <p:animEffect transition="in" filter="fade">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par>
                                <p:cTn id="27" presetID="53" presetClass="entr" presetSubtype="16"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ppt_w</p:attrName>
                                        </p:attrNameLst>
                                      </p:cBhvr>
                                      <p:tavLst>
                                        <p:tav tm="0">
                                          <p:val>
                                            <p:fltVal val="0"/>
                                          </p:val>
                                        </p:tav>
                                        <p:tav tm="100000">
                                          <p:val>
                                            <p:strVal val="#ppt_w"/>
                                          </p:val>
                                        </p:tav>
                                      </p:tavLst>
                                    </p:anim>
                                    <p:anim calcmode="lin" valueType="num">
                                      <p:cBhvr>
                                        <p:cTn id="30" dur="500" fill="hold"/>
                                        <p:tgtEl>
                                          <p:spTgt spid="35"/>
                                        </p:tgtEl>
                                        <p:attrNameLst>
                                          <p:attrName>ppt_h</p:attrName>
                                        </p:attrNameLst>
                                      </p:cBhvr>
                                      <p:tavLst>
                                        <p:tav tm="0">
                                          <p:val>
                                            <p:fltVal val="0"/>
                                          </p:val>
                                        </p:tav>
                                        <p:tav tm="100000">
                                          <p:val>
                                            <p:strVal val="#ppt_h"/>
                                          </p:val>
                                        </p:tav>
                                      </p:tavLst>
                                    </p:anim>
                                    <p:animEffect transition="in" filter="fade">
                                      <p:cBhvr>
                                        <p:cTn id="31" dur="500"/>
                                        <p:tgtEl>
                                          <p:spTgt spid="35"/>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 calcmode="lin" valueType="num">
                                      <p:cBhvr>
                                        <p:cTn id="34" dur="500" fill="hold"/>
                                        <p:tgtEl>
                                          <p:spTgt spid="39"/>
                                        </p:tgtEl>
                                        <p:attrNameLst>
                                          <p:attrName>ppt_w</p:attrName>
                                        </p:attrNameLst>
                                      </p:cBhvr>
                                      <p:tavLst>
                                        <p:tav tm="0">
                                          <p:val>
                                            <p:fltVal val="0"/>
                                          </p:val>
                                        </p:tav>
                                        <p:tav tm="100000">
                                          <p:val>
                                            <p:strVal val="#ppt_w"/>
                                          </p:val>
                                        </p:tav>
                                      </p:tavLst>
                                    </p:anim>
                                    <p:anim calcmode="lin" valueType="num">
                                      <p:cBhvr>
                                        <p:cTn id="35" dur="500" fill="hold"/>
                                        <p:tgtEl>
                                          <p:spTgt spid="39"/>
                                        </p:tgtEl>
                                        <p:attrNameLst>
                                          <p:attrName>ppt_h</p:attrName>
                                        </p:attrNameLst>
                                      </p:cBhvr>
                                      <p:tavLst>
                                        <p:tav tm="0">
                                          <p:val>
                                            <p:fltVal val="0"/>
                                          </p:val>
                                        </p:tav>
                                        <p:tav tm="100000">
                                          <p:val>
                                            <p:strVal val="#ppt_h"/>
                                          </p:val>
                                        </p:tav>
                                      </p:tavLst>
                                    </p:anim>
                                    <p:animEffect transition="in" filter="fade">
                                      <p:cBhvr>
                                        <p:cTn id="3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912247" cy="719138"/>
          </a:xfrm>
        </p:spPr>
        <p:txBody>
          <a:bodyPr/>
          <a:lstStyle/>
          <a:p>
            <a:r>
              <a:rPr lang="it-IT"/>
              <a:t>Système audio </a:t>
            </a:r>
            <a:r>
              <a:rPr lang="en-GB"/>
              <a:t>contrôlable</a:t>
            </a:r>
            <a:r>
              <a:rPr lang="it-IT"/>
              <a:t> via KNX</a:t>
            </a:r>
          </a:p>
        </p:txBody>
      </p:sp>
      <p:pic>
        <p:nvPicPr>
          <p:cNvPr id="2" name="Picture 1">
            <a:extLst>
              <a:ext uri="{FF2B5EF4-FFF2-40B4-BE49-F238E27FC236}">
                <a16:creationId xmlns:a16="http://schemas.microsoft.com/office/drawing/2014/main" id="{3BFC32DB-DAA3-473C-9C3D-FA38103B07B5}"/>
              </a:ext>
            </a:extLst>
          </p:cNvPr>
          <p:cNvPicPr>
            <a:picLocks noChangeAspect="1"/>
          </p:cNvPicPr>
          <p:nvPr/>
        </p:nvPicPr>
        <p:blipFill>
          <a:blip r:embed="rId3"/>
          <a:stretch>
            <a:fillRect/>
          </a:stretch>
        </p:blipFill>
        <p:spPr>
          <a:xfrm>
            <a:off x="1361807" y="1556792"/>
            <a:ext cx="6685432" cy="4680942"/>
          </a:xfrm>
          <a:prstGeom prst="rect">
            <a:avLst/>
          </a:prstGeom>
        </p:spPr>
      </p:pic>
    </p:spTree>
    <p:extLst>
      <p:ext uri="{BB962C8B-B14F-4D97-AF65-F5344CB8AC3E}">
        <p14:creationId xmlns:p14="http://schemas.microsoft.com/office/powerpoint/2010/main" val="3968228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Fonctions de base</a:t>
            </a:r>
          </a:p>
        </p:txBody>
      </p:sp>
      <p:pic>
        <p:nvPicPr>
          <p:cNvPr id="4" name="Picture 3">
            <a:extLst>
              <a:ext uri="{FF2B5EF4-FFF2-40B4-BE49-F238E27FC236}">
                <a16:creationId xmlns:a16="http://schemas.microsoft.com/office/drawing/2014/main" id="{7041F40B-7F8F-46B2-AF25-612B00029C32}"/>
              </a:ext>
            </a:extLst>
          </p:cNvPr>
          <p:cNvPicPr/>
          <p:nvPr/>
        </p:nvPicPr>
        <p:blipFill>
          <a:blip r:embed="rId3"/>
          <a:stretch>
            <a:fillRect/>
          </a:stretch>
        </p:blipFill>
        <p:spPr>
          <a:xfrm>
            <a:off x="1331640" y="1340768"/>
            <a:ext cx="6264696" cy="1827611"/>
          </a:xfrm>
          <a:prstGeom prst="rect">
            <a:avLst/>
          </a:prstGeom>
        </p:spPr>
      </p:pic>
      <p:pic>
        <p:nvPicPr>
          <p:cNvPr id="6" name="Picture 5">
            <a:extLst>
              <a:ext uri="{FF2B5EF4-FFF2-40B4-BE49-F238E27FC236}">
                <a16:creationId xmlns:a16="http://schemas.microsoft.com/office/drawing/2014/main" id="{C7BE5E43-705E-4443-9045-8141EB0AD685}"/>
              </a:ext>
            </a:extLst>
          </p:cNvPr>
          <p:cNvPicPr>
            <a:picLocks noChangeAspect="1"/>
          </p:cNvPicPr>
          <p:nvPr/>
        </p:nvPicPr>
        <p:blipFill>
          <a:blip r:embed="rId4"/>
          <a:stretch>
            <a:fillRect/>
          </a:stretch>
        </p:blipFill>
        <p:spPr>
          <a:xfrm>
            <a:off x="683568" y="3501009"/>
            <a:ext cx="7596336" cy="2951984"/>
          </a:xfrm>
          <a:prstGeom prst="rect">
            <a:avLst/>
          </a:prstGeom>
        </p:spPr>
      </p:pic>
      <p:sp>
        <p:nvSpPr>
          <p:cNvPr id="7" name="Rectangle 6">
            <a:extLst>
              <a:ext uri="{FF2B5EF4-FFF2-40B4-BE49-F238E27FC236}">
                <a16:creationId xmlns:a16="http://schemas.microsoft.com/office/drawing/2014/main" id="{A3164F9D-55CF-4EC6-8A9F-26766B404606}"/>
              </a:ext>
            </a:extLst>
          </p:cNvPr>
          <p:cNvSpPr/>
          <p:nvPr/>
        </p:nvSpPr>
        <p:spPr>
          <a:xfrm>
            <a:off x="5402193" y="3150028"/>
            <a:ext cx="2877711" cy="369332"/>
          </a:xfrm>
          <a:prstGeom prst="rect">
            <a:avLst/>
          </a:prstGeom>
        </p:spPr>
        <p:txBody>
          <a:bodyPr wrap="none">
            <a:spAutoFit/>
          </a:bodyPr>
          <a:lstStyle/>
          <a:p>
            <a:r>
              <a:rPr lang="en-US" b="1"/>
              <a:t>liste des objets de groupe</a:t>
            </a:r>
            <a:endParaRPr lang="es-ES" b="1" dirty="0"/>
          </a:p>
        </p:txBody>
      </p:sp>
    </p:spTree>
    <p:extLst>
      <p:ext uri="{BB962C8B-B14F-4D97-AF65-F5344CB8AC3E}">
        <p14:creationId xmlns:p14="http://schemas.microsoft.com/office/powerpoint/2010/main" val="2939720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Fonctions de base</a:t>
            </a:r>
          </a:p>
        </p:txBody>
      </p:sp>
      <p:pic>
        <p:nvPicPr>
          <p:cNvPr id="2" name="Picture 1">
            <a:extLst>
              <a:ext uri="{FF2B5EF4-FFF2-40B4-BE49-F238E27FC236}">
                <a16:creationId xmlns:a16="http://schemas.microsoft.com/office/drawing/2014/main" id="{BBCBAD6C-3DF6-443A-8FB5-591139FDC6E8}"/>
              </a:ext>
            </a:extLst>
          </p:cNvPr>
          <p:cNvPicPr>
            <a:picLocks noChangeAspect="1"/>
          </p:cNvPicPr>
          <p:nvPr/>
        </p:nvPicPr>
        <p:blipFill>
          <a:blip r:embed="rId3"/>
          <a:stretch>
            <a:fillRect/>
          </a:stretch>
        </p:blipFill>
        <p:spPr>
          <a:xfrm>
            <a:off x="1547319" y="1352857"/>
            <a:ext cx="6048672" cy="1645095"/>
          </a:xfrm>
          <a:prstGeom prst="rect">
            <a:avLst/>
          </a:prstGeom>
        </p:spPr>
      </p:pic>
      <p:pic>
        <p:nvPicPr>
          <p:cNvPr id="4" name="Picture 3">
            <a:extLst>
              <a:ext uri="{FF2B5EF4-FFF2-40B4-BE49-F238E27FC236}">
                <a16:creationId xmlns:a16="http://schemas.microsoft.com/office/drawing/2014/main" id="{DA565A92-11F8-4E4D-9FA1-B2D942AC0F13}"/>
              </a:ext>
            </a:extLst>
          </p:cNvPr>
          <p:cNvPicPr/>
          <p:nvPr/>
        </p:nvPicPr>
        <p:blipFill>
          <a:blip r:embed="rId4"/>
          <a:stretch>
            <a:fillRect/>
          </a:stretch>
        </p:blipFill>
        <p:spPr>
          <a:xfrm>
            <a:off x="1578258" y="3295432"/>
            <a:ext cx="6018078" cy="2722377"/>
          </a:xfrm>
          <a:prstGeom prst="rect">
            <a:avLst/>
          </a:prstGeom>
        </p:spPr>
      </p:pic>
      <p:sp>
        <p:nvSpPr>
          <p:cNvPr id="5" name="Rectangle 4">
            <a:extLst>
              <a:ext uri="{FF2B5EF4-FFF2-40B4-BE49-F238E27FC236}">
                <a16:creationId xmlns:a16="http://schemas.microsoft.com/office/drawing/2014/main" id="{EE303C30-7DC3-45F5-9B47-4174963C4922}"/>
              </a:ext>
            </a:extLst>
          </p:cNvPr>
          <p:cNvSpPr/>
          <p:nvPr/>
        </p:nvSpPr>
        <p:spPr>
          <a:xfrm>
            <a:off x="4494663" y="2592694"/>
            <a:ext cx="3211135" cy="369332"/>
          </a:xfrm>
          <a:prstGeom prst="rect">
            <a:avLst/>
          </a:prstGeom>
        </p:spPr>
        <p:txBody>
          <a:bodyPr wrap="none">
            <a:spAutoFit/>
          </a:bodyPr>
          <a:lstStyle/>
          <a:p>
            <a:r>
              <a:rPr lang="en-GB" b="1" dirty="0" err="1"/>
              <a:t>liste</a:t>
            </a:r>
            <a:r>
              <a:rPr lang="en-GB" b="1" dirty="0"/>
              <a:t> des </a:t>
            </a:r>
            <a:r>
              <a:rPr lang="en-GB" b="1" dirty="0" err="1"/>
              <a:t>adresses</a:t>
            </a:r>
            <a:r>
              <a:rPr lang="en-GB" b="1" dirty="0"/>
              <a:t> de </a:t>
            </a:r>
            <a:r>
              <a:rPr lang="en-GB" b="1" dirty="0" err="1"/>
              <a:t>groupe</a:t>
            </a:r>
            <a:endParaRPr lang="es-ES" b="1" dirty="0"/>
          </a:p>
        </p:txBody>
      </p:sp>
      <p:sp>
        <p:nvSpPr>
          <p:cNvPr id="6" name="Rectangle 5">
            <a:extLst>
              <a:ext uri="{FF2B5EF4-FFF2-40B4-BE49-F238E27FC236}">
                <a16:creationId xmlns:a16="http://schemas.microsoft.com/office/drawing/2014/main" id="{D5D18E46-8413-4E55-A12C-5C73B3860D3A}"/>
              </a:ext>
            </a:extLst>
          </p:cNvPr>
          <p:cNvSpPr/>
          <p:nvPr/>
        </p:nvSpPr>
        <p:spPr>
          <a:xfrm>
            <a:off x="1547319" y="6033836"/>
            <a:ext cx="6169160" cy="369332"/>
          </a:xfrm>
          <a:prstGeom prst="rect">
            <a:avLst/>
          </a:prstGeom>
        </p:spPr>
        <p:txBody>
          <a:bodyPr wrap="square">
            <a:spAutoFit/>
          </a:bodyPr>
          <a:lstStyle/>
          <a:p>
            <a:r>
              <a:rPr lang="en-US" b="1" dirty="0"/>
              <a:t>liaison des </a:t>
            </a:r>
            <a:r>
              <a:rPr lang="en-US" b="1" dirty="0" err="1"/>
              <a:t>objets</a:t>
            </a:r>
            <a:r>
              <a:rPr lang="en-US" b="1" dirty="0"/>
              <a:t> de </a:t>
            </a:r>
            <a:r>
              <a:rPr lang="en-US" b="1" dirty="0" err="1"/>
              <a:t>groupe</a:t>
            </a:r>
            <a:r>
              <a:rPr lang="en-US" b="1" dirty="0"/>
              <a:t> aux </a:t>
            </a:r>
            <a:r>
              <a:rPr lang="en-US" b="1" dirty="0" err="1"/>
              <a:t>adresses</a:t>
            </a:r>
            <a:r>
              <a:rPr lang="en-US" b="1" dirty="0"/>
              <a:t> de </a:t>
            </a:r>
            <a:r>
              <a:rPr lang="en-US" b="1" dirty="0" err="1"/>
              <a:t>groupe</a:t>
            </a:r>
            <a:endParaRPr lang="en-US" b="1" dirty="0"/>
          </a:p>
        </p:txBody>
      </p:sp>
    </p:spTree>
    <p:extLst>
      <p:ext uri="{BB962C8B-B14F-4D97-AF65-F5344CB8AC3E}">
        <p14:creationId xmlns:p14="http://schemas.microsoft.com/office/powerpoint/2010/main" val="190768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99852" y="476672"/>
            <a:ext cx="7344295" cy="575122"/>
          </a:xfrm>
        </p:spPr>
        <p:txBody>
          <a:bodyPr/>
          <a:lstStyle/>
          <a:p>
            <a:r>
              <a:rPr lang="en-GB" sz="2400" dirty="0" err="1"/>
              <a:t>Contrôle</a:t>
            </a:r>
            <a:r>
              <a:rPr lang="en-GB" sz="2400" dirty="0"/>
              <a:t> du </a:t>
            </a:r>
            <a:r>
              <a:rPr lang="en-GB" sz="2400" dirty="0" err="1"/>
              <a:t>système</a:t>
            </a:r>
            <a:r>
              <a:rPr lang="en-GB" sz="2400" dirty="0"/>
              <a:t> audio</a:t>
            </a:r>
            <a:r>
              <a:rPr lang="pt-BR" sz="2400" dirty="0"/>
              <a:t> via la passerelle KNX/IP</a:t>
            </a:r>
          </a:p>
        </p:txBody>
      </p:sp>
      <p:graphicFrame>
        <p:nvGraphicFramePr>
          <p:cNvPr id="6" name="Object 5">
            <a:extLst>
              <a:ext uri="{FF2B5EF4-FFF2-40B4-BE49-F238E27FC236}">
                <a16:creationId xmlns:a16="http://schemas.microsoft.com/office/drawing/2014/main" id="{F303BA4A-2B5D-4ACE-80DC-1DC33FB9FE2C}"/>
              </a:ext>
            </a:extLst>
          </p:cNvPr>
          <p:cNvGraphicFramePr>
            <a:graphicFrameLocks noChangeAspect="1"/>
          </p:cNvGraphicFramePr>
          <p:nvPr/>
        </p:nvGraphicFramePr>
        <p:xfrm>
          <a:off x="1259632" y="1484784"/>
          <a:ext cx="6493074" cy="4824536"/>
        </p:xfrm>
        <a:graphic>
          <a:graphicData uri="http://schemas.openxmlformats.org/presentationml/2006/ole">
            <mc:AlternateContent xmlns:mc="http://schemas.openxmlformats.org/markup-compatibility/2006">
              <mc:Choice xmlns:v="urn:schemas-microsoft-com:vml" Requires="v">
                <p:oleObj r:id="rId3" imgW="9487941" imgH="7052744" progId="Visio.Drawing.15">
                  <p:embed/>
                </p:oleObj>
              </mc:Choice>
              <mc:Fallback>
                <p:oleObj r:id="rId3" imgW="9487941" imgH="7052744" progId="Visio.Drawing.15">
                  <p:embed/>
                  <p:pic>
                    <p:nvPicPr>
                      <p:cNvPr id="6" name="Object 5">
                        <a:extLst>
                          <a:ext uri="{FF2B5EF4-FFF2-40B4-BE49-F238E27FC236}">
                            <a16:creationId xmlns:a16="http://schemas.microsoft.com/office/drawing/2014/main" id="{F303BA4A-2B5D-4ACE-80DC-1DC33FB9F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484784"/>
                        <a:ext cx="6493074" cy="4824536"/>
                      </a:xfrm>
                      <a:prstGeom prst="rect">
                        <a:avLst/>
                      </a:prstGeom>
                      <a:noFill/>
                    </p:spPr>
                  </p:pic>
                </p:oleObj>
              </mc:Fallback>
            </mc:AlternateContent>
          </a:graphicData>
        </a:graphic>
      </p:graphicFrame>
    </p:spTree>
    <p:extLst>
      <p:ext uri="{BB962C8B-B14F-4D97-AF65-F5344CB8AC3E}">
        <p14:creationId xmlns:p14="http://schemas.microsoft.com/office/powerpoint/2010/main" val="2469771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43252" y="620688"/>
            <a:ext cx="7200279" cy="503114"/>
          </a:xfrm>
        </p:spPr>
        <p:txBody>
          <a:bodyPr/>
          <a:lstStyle/>
          <a:p>
            <a:r>
              <a:rPr lang="it-IT" sz="2400" dirty="0"/>
              <a:t>Audio via le </a:t>
            </a:r>
            <a:r>
              <a:rPr lang="it-IT" sz="2400" dirty="0" err="1"/>
              <a:t>système</a:t>
            </a:r>
            <a:r>
              <a:rPr lang="it-IT" sz="2400" dirty="0"/>
              <a:t> IP </a:t>
            </a:r>
            <a:r>
              <a:rPr lang="en-GB" sz="2400" dirty="0" err="1"/>
              <a:t>contrôlable</a:t>
            </a:r>
            <a:r>
              <a:rPr lang="it-IT" sz="2400" dirty="0"/>
              <a:t> via KNX</a:t>
            </a:r>
          </a:p>
        </p:txBody>
      </p:sp>
      <p:graphicFrame>
        <p:nvGraphicFramePr>
          <p:cNvPr id="5" name="Object 4">
            <a:extLst>
              <a:ext uri="{FF2B5EF4-FFF2-40B4-BE49-F238E27FC236}">
                <a16:creationId xmlns:a16="http://schemas.microsoft.com/office/drawing/2014/main" id="{FC1D761F-7F79-44CA-ADBC-3C6C7E9E93BF}"/>
              </a:ext>
            </a:extLst>
          </p:cNvPr>
          <p:cNvGraphicFramePr>
            <a:graphicFrameLocks noChangeAspect="1"/>
          </p:cNvGraphicFramePr>
          <p:nvPr/>
        </p:nvGraphicFramePr>
        <p:xfrm>
          <a:off x="1119594" y="1484784"/>
          <a:ext cx="6904811" cy="4968552"/>
        </p:xfrm>
        <a:graphic>
          <a:graphicData uri="http://schemas.openxmlformats.org/presentationml/2006/ole">
            <mc:AlternateContent xmlns:mc="http://schemas.openxmlformats.org/markup-compatibility/2006">
              <mc:Choice xmlns:v="urn:schemas-microsoft-com:vml" Requires="v">
                <p:oleObj r:id="rId3" imgW="10058252" imgH="7233705" progId="Visio.Drawing.15">
                  <p:embed/>
                </p:oleObj>
              </mc:Choice>
              <mc:Fallback>
                <p:oleObj r:id="rId3" imgW="10058252" imgH="7233705" progId="Visio.Drawing.15">
                  <p:embed/>
                  <p:pic>
                    <p:nvPicPr>
                      <p:cNvPr id="5" name="Object 4">
                        <a:extLst>
                          <a:ext uri="{FF2B5EF4-FFF2-40B4-BE49-F238E27FC236}">
                            <a16:creationId xmlns:a16="http://schemas.microsoft.com/office/drawing/2014/main" id="{FC1D761F-7F79-44CA-ADBC-3C6C7E9E93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594" y="1484784"/>
                        <a:ext cx="6904811" cy="4968552"/>
                      </a:xfrm>
                      <a:prstGeom prst="rect">
                        <a:avLst/>
                      </a:prstGeom>
                      <a:noFill/>
                    </p:spPr>
                  </p:pic>
                </p:oleObj>
              </mc:Fallback>
            </mc:AlternateContent>
          </a:graphicData>
        </a:graphic>
      </p:graphicFrame>
    </p:spTree>
    <p:extLst>
      <p:ext uri="{BB962C8B-B14F-4D97-AF65-F5344CB8AC3E}">
        <p14:creationId xmlns:p14="http://schemas.microsoft.com/office/powerpoint/2010/main" val="4011714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200279" cy="719138"/>
          </a:xfrm>
        </p:spPr>
        <p:txBody>
          <a:bodyPr/>
          <a:lstStyle/>
          <a:p>
            <a:r>
              <a:rPr lang="en-GB"/>
              <a:t>Intercom</a:t>
            </a:r>
            <a:r>
              <a:rPr lang="it-IT"/>
              <a:t> Système </a:t>
            </a:r>
            <a:r>
              <a:rPr lang="en-GB"/>
              <a:t>contrôlable</a:t>
            </a:r>
            <a:r>
              <a:rPr lang="it-IT"/>
              <a:t> via KNX</a:t>
            </a:r>
          </a:p>
        </p:txBody>
      </p:sp>
      <p:graphicFrame>
        <p:nvGraphicFramePr>
          <p:cNvPr id="4" name="Object 3">
            <a:extLst>
              <a:ext uri="{FF2B5EF4-FFF2-40B4-BE49-F238E27FC236}">
                <a16:creationId xmlns:a16="http://schemas.microsoft.com/office/drawing/2014/main" id="{757482AE-C87A-479A-AA6D-D30D1E0E32D4}"/>
              </a:ext>
            </a:extLst>
          </p:cNvPr>
          <p:cNvGraphicFramePr>
            <a:graphicFrameLocks noChangeAspect="1"/>
          </p:cNvGraphicFramePr>
          <p:nvPr/>
        </p:nvGraphicFramePr>
        <p:xfrm>
          <a:off x="1115616" y="1484784"/>
          <a:ext cx="7123456" cy="4913847"/>
        </p:xfrm>
        <a:graphic>
          <a:graphicData uri="http://schemas.openxmlformats.org/presentationml/2006/ole">
            <mc:AlternateContent xmlns:mc="http://schemas.openxmlformats.org/markup-compatibility/2006">
              <mc:Choice xmlns:v="urn:schemas-microsoft-com:vml" Requires="v">
                <p:oleObj r:id="rId3" imgW="9107854" imgH="6292050" progId="Visio.Drawing.15">
                  <p:embed/>
                </p:oleObj>
              </mc:Choice>
              <mc:Fallback>
                <p:oleObj r:id="rId3" imgW="9107854" imgH="6292050" progId="Visio.Drawing.15">
                  <p:embed/>
                  <p:pic>
                    <p:nvPicPr>
                      <p:cNvPr id="4" name="Object 3">
                        <a:extLst>
                          <a:ext uri="{FF2B5EF4-FFF2-40B4-BE49-F238E27FC236}">
                            <a16:creationId xmlns:a16="http://schemas.microsoft.com/office/drawing/2014/main" id="{757482AE-C87A-479A-AA6D-D30D1E0E32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484784"/>
                        <a:ext cx="7123456" cy="4913847"/>
                      </a:xfrm>
                      <a:prstGeom prst="rect">
                        <a:avLst/>
                      </a:prstGeom>
                      <a:noFill/>
                    </p:spPr>
                  </p:pic>
                </p:oleObj>
              </mc:Fallback>
            </mc:AlternateContent>
          </a:graphicData>
        </a:graphic>
      </p:graphicFrame>
    </p:spTree>
    <p:extLst>
      <p:ext uri="{BB962C8B-B14F-4D97-AF65-F5344CB8AC3E}">
        <p14:creationId xmlns:p14="http://schemas.microsoft.com/office/powerpoint/2010/main" val="3567272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647130"/>
          </a:xfrm>
        </p:spPr>
        <p:txBody>
          <a:bodyPr/>
          <a:lstStyle/>
          <a:p>
            <a:r>
              <a:rPr lang="en-US" sz="2400"/>
              <a:t>Les systèmes d'interphone "audio et vidéo" vers "audio et vidéo" commandés via KNX</a:t>
            </a:r>
            <a:endParaRPr lang="it-IT" sz="2400" dirty="0"/>
          </a:p>
        </p:txBody>
      </p:sp>
      <p:pic>
        <p:nvPicPr>
          <p:cNvPr id="2" name="Picture 1">
            <a:extLst>
              <a:ext uri="{FF2B5EF4-FFF2-40B4-BE49-F238E27FC236}">
                <a16:creationId xmlns:a16="http://schemas.microsoft.com/office/drawing/2014/main" id="{70DF3500-4239-4D67-9E9A-3B38564C4E10}"/>
              </a:ext>
            </a:extLst>
          </p:cNvPr>
          <p:cNvPicPr>
            <a:picLocks noChangeAspect="1"/>
          </p:cNvPicPr>
          <p:nvPr/>
        </p:nvPicPr>
        <p:blipFill>
          <a:blip r:embed="rId3"/>
          <a:stretch>
            <a:fillRect/>
          </a:stretch>
        </p:blipFill>
        <p:spPr>
          <a:xfrm>
            <a:off x="1187623" y="1400428"/>
            <a:ext cx="7061797" cy="5124916"/>
          </a:xfrm>
          <a:prstGeom prst="rect">
            <a:avLst/>
          </a:prstGeom>
        </p:spPr>
      </p:pic>
    </p:spTree>
    <p:extLst>
      <p:ext uri="{BB962C8B-B14F-4D97-AF65-F5344CB8AC3E}">
        <p14:creationId xmlns:p14="http://schemas.microsoft.com/office/powerpoint/2010/main" val="426582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GB"/>
              <a:t>Les systèmes d'interphone commandés via une interface KNX/IP</a:t>
            </a:r>
          </a:p>
        </p:txBody>
      </p:sp>
      <p:pic>
        <p:nvPicPr>
          <p:cNvPr id="2" name="Picture 1">
            <a:extLst>
              <a:ext uri="{FF2B5EF4-FFF2-40B4-BE49-F238E27FC236}">
                <a16:creationId xmlns:a16="http://schemas.microsoft.com/office/drawing/2014/main" id="{A226D0F1-45F3-4208-B6B7-2BE0DC5673BE}"/>
              </a:ext>
            </a:extLst>
          </p:cNvPr>
          <p:cNvPicPr>
            <a:picLocks noChangeAspect="1"/>
          </p:cNvPicPr>
          <p:nvPr/>
        </p:nvPicPr>
        <p:blipFill>
          <a:blip r:embed="rId3"/>
          <a:stretch>
            <a:fillRect/>
          </a:stretch>
        </p:blipFill>
        <p:spPr>
          <a:xfrm>
            <a:off x="1016693" y="1429000"/>
            <a:ext cx="7110613" cy="4952328"/>
          </a:xfrm>
          <a:prstGeom prst="rect">
            <a:avLst/>
          </a:prstGeom>
        </p:spPr>
      </p:pic>
    </p:spTree>
    <p:extLst>
      <p:ext uri="{BB962C8B-B14F-4D97-AF65-F5344CB8AC3E}">
        <p14:creationId xmlns:p14="http://schemas.microsoft.com/office/powerpoint/2010/main" val="249421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GB"/>
              <a:t>Intercom</a:t>
            </a:r>
            <a:r>
              <a:rPr lang="it-IT"/>
              <a:t> via le système IP </a:t>
            </a:r>
            <a:r>
              <a:rPr lang="en-GB"/>
              <a:t>contrôlable</a:t>
            </a:r>
            <a:r>
              <a:rPr lang="it-IT"/>
              <a:t> </a:t>
            </a:r>
            <a:br>
              <a:rPr lang="it-IT" dirty="0"/>
            </a:br>
            <a:r>
              <a:rPr lang="it-IT"/>
              <a:t>via KNX</a:t>
            </a:r>
          </a:p>
        </p:txBody>
      </p:sp>
      <p:graphicFrame>
        <p:nvGraphicFramePr>
          <p:cNvPr id="4" name="Object 3">
            <a:extLst>
              <a:ext uri="{FF2B5EF4-FFF2-40B4-BE49-F238E27FC236}">
                <a16:creationId xmlns:a16="http://schemas.microsoft.com/office/drawing/2014/main" id="{B25F049D-6DA3-4711-8441-BCB271C9DD5E}"/>
              </a:ext>
            </a:extLst>
          </p:cNvPr>
          <p:cNvGraphicFramePr>
            <a:graphicFrameLocks noChangeAspect="1"/>
          </p:cNvGraphicFramePr>
          <p:nvPr/>
        </p:nvGraphicFramePr>
        <p:xfrm>
          <a:off x="1187624" y="1386680"/>
          <a:ext cx="7007994" cy="5138663"/>
        </p:xfrm>
        <a:graphic>
          <a:graphicData uri="http://schemas.openxmlformats.org/presentationml/2006/ole">
            <mc:AlternateContent xmlns:mc="http://schemas.openxmlformats.org/markup-compatibility/2006">
              <mc:Choice xmlns:v="urn:schemas-microsoft-com:vml" Requires="v">
                <p:oleObj r:id="rId3" imgW="9949656" imgH="7297188" progId="Visio.Drawing.15">
                  <p:embed/>
                </p:oleObj>
              </mc:Choice>
              <mc:Fallback>
                <p:oleObj r:id="rId3" imgW="9949656" imgH="7297188" progId="Visio.Drawing.15">
                  <p:embed/>
                  <p:pic>
                    <p:nvPicPr>
                      <p:cNvPr id="4" name="Object 3">
                        <a:extLst>
                          <a:ext uri="{FF2B5EF4-FFF2-40B4-BE49-F238E27FC236}">
                            <a16:creationId xmlns:a16="http://schemas.microsoft.com/office/drawing/2014/main" id="{B25F049D-6DA3-4711-8441-BCB271C9DD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386680"/>
                        <a:ext cx="7007994" cy="5138663"/>
                      </a:xfrm>
                      <a:prstGeom prst="rect">
                        <a:avLst/>
                      </a:prstGeom>
                      <a:noFill/>
                    </p:spPr>
                  </p:pic>
                </p:oleObj>
              </mc:Fallback>
            </mc:AlternateContent>
          </a:graphicData>
        </a:graphic>
      </p:graphicFrame>
    </p:spTree>
    <p:extLst>
      <p:ext uri="{BB962C8B-B14F-4D97-AF65-F5344CB8AC3E}">
        <p14:creationId xmlns:p14="http://schemas.microsoft.com/office/powerpoint/2010/main" val="2120857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FFAD21-AF82-4B71-9DAD-747F14F747AE}"/>
              </a:ext>
            </a:extLst>
          </p:cNvPr>
          <p:cNvSpPr>
            <a:spLocks noGrp="1"/>
          </p:cNvSpPr>
          <p:nvPr>
            <p:ph type="title"/>
          </p:nvPr>
        </p:nvSpPr>
        <p:spPr/>
        <p:txBody>
          <a:bodyPr/>
          <a:lstStyle/>
          <a:p>
            <a:r>
              <a:rPr lang="en-GB"/>
              <a:t>Le multirooming</a:t>
            </a:r>
            <a:endParaRPr lang="en-GB" dirty="0"/>
          </a:p>
        </p:txBody>
      </p:sp>
      <p:pic>
        <p:nvPicPr>
          <p:cNvPr id="6" name="Picture 5">
            <a:extLst>
              <a:ext uri="{FF2B5EF4-FFF2-40B4-BE49-F238E27FC236}">
                <a16:creationId xmlns:a16="http://schemas.microsoft.com/office/drawing/2014/main" id="{62C16B27-DC86-40BF-BD88-9916EDA549AF}"/>
              </a:ext>
            </a:extLst>
          </p:cNvPr>
          <p:cNvPicPr>
            <a:picLocks noChangeAspect="1"/>
          </p:cNvPicPr>
          <p:nvPr/>
        </p:nvPicPr>
        <p:blipFill>
          <a:blip r:embed="rId3"/>
          <a:stretch>
            <a:fillRect/>
          </a:stretch>
        </p:blipFill>
        <p:spPr>
          <a:xfrm>
            <a:off x="1069186" y="3068960"/>
            <a:ext cx="7005627" cy="3096344"/>
          </a:xfrm>
          <a:prstGeom prst="rect">
            <a:avLst/>
          </a:prstGeom>
        </p:spPr>
      </p:pic>
      <p:sp>
        <p:nvSpPr>
          <p:cNvPr id="7" name="Rectangle 6">
            <a:extLst>
              <a:ext uri="{FF2B5EF4-FFF2-40B4-BE49-F238E27FC236}">
                <a16:creationId xmlns:a16="http://schemas.microsoft.com/office/drawing/2014/main" id="{FBF72A5B-F3BA-4660-8A4E-342E64BD378B}"/>
              </a:ext>
            </a:extLst>
          </p:cNvPr>
          <p:cNvSpPr/>
          <p:nvPr/>
        </p:nvSpPr>
        <p:spPr>
          <a:xfrm>
            <a:off x="887644" y="1412776"/>
            <a:ext cx="7500780" cy="18411194"/>
          </a:xfrm>
          <a:prstGeom prst="rect">
            <a:avLst/>
          </a:prstGeom>
        </p:spPr>
        <p:txBody>
          <a:bodyPr/>
          <a:lstStyle/>
          <a:p>
            <a:pPr eaLnBrk="0" hangingPunct="0">
              <a:spcBef>
                <a:spcPct val="20000"/>
              </a:spcBef>
              <a:buClr>
                <a:srgbClr val="369226"/>
              </a:buClr>
            </a:pPr>
            <a:r>
              <a:rPr lang="en-GB" b="1">
                <a:solidFill>
                  <a:srgbClr val="369226"/>
                </a:solidFill>
                <a:latin typeface="+mn-lt"/>
                <a:ea typeface="Open Sans" panose="020B0606030504020204" pitchFamily="34" charset="0"/>
                <a:cs typeface="Open Sans" panose="020B0606030504020204" pitchFamily="34" charset="0"/>
              </a:rPr>
              <a:t>Le multiroom</a:t>
            </a:r>
            <a:r>
              <a:rPr lang="en-US" b="1">
                <a:solidFill>
                  <a:schemeClr val="bg2"/>
                </a:solidFill>
                <a:latin typeface="+mn-lt"/>
                <a:ea typeface="Open Sans" panose="020B0606030504020204" pitchFamily="34" charset="0"/>
                <a:cs typeface="Open Sans" panose="020B0606030504020204" pitchFamily="34" charset="0"/>
              </a:rPr>
              <a:t> </a:t>
            </a:r>
            <a:r>
              <a:rPr lang="en-US" b="1">
                <a:latin typeface="+mn-lt"/>
                <a:ea typeface="Open Sans" panose="020B0606030504020204" pitchFamily="34" charset="0"/>
                <a:cs typeface="Open Sans" panose="020B0606030504020204" pitchFamily="34" charset="0"/>
              </a:rPr>
              <a:t>se réfère au contrôle de la vidéo et de la musique dans chaque pièce de la maison </a:t>
            </a:r>
          </a:p>
          <a:p>
            <a:pPr eaLnBrk="0" hangingPunct="0">
              <a:spcBef>
                <a:spcPct val="20000"/>
              </a:spcBef>
              <a:buClr>
                <a:srgbClr val="369226"/>
              </a:buClr>
            </a:pPr>
            <a:r>
              <a:rPr lang="en-US" b="1">
                <a:latin typeface="+mn-lt"/>
                <a:ea typeface="Open Sans" panose="020B0606030504020204" pitchFamily="34" charset="0"/>
                <a:cs typeface="Open Sans" panose="020B0606030504020204" pitchFamily="34" charset="0"/>
              </a:rPr>
              <a:t>Le</a:t>
            </a:r>
            <a:r>
              <a:rPr lang="en-US" b="1">
                <a:solidFill>
                  <a:schemeClr val="bg2"/>
                </a:solidFill>
                <a:latin typeface="+mn-lt"/>
                <a:ea typeface="Open Sans" panose="020B0606030504020204" pitchFamily="34" charset="0"/>
                <a:cs typeface="Open Sans" panose="020B0606030504020204" pitchFamily="34" charset="0"/>
              </a:rPr>
              <a:t> </a:t>
            </a:r>
            <a:r>
              <a:rPr lang="en-US" b="1">
                <a:solidFill>
                  <a:srgbClr val="369226"/>
                </a:solidFill>
                <a:latin typeface="+mn-lt"/>
                <a:ea typeface="Open Sans" panose="020B0606030504020204" pitchFamily="34" charset="0"/>
                <a:cs typeface="Open Sans" panose="020B0606030504020204" pitchFamily="34" charset="0"/>
              </a:rPr>
              <a:t>système multiroom </a:t>
            </a:r>
            <a:r>
              <a:rPr lang="en-US" b="1">
                <a:latin typeface="+mn-lt"/>
                <a:ea typeface="Open Sans" panose="020B0606030504020204" pitchFamily="34" charset="0"/>
                <a:cs typeface="Open Sans" panose="020B0606030504020204" pitchFamily="34" charset="0"/>
              </a:rPr>
              <a:t>distribue un certain nombre de sources dans les zones individuelles multipièces</a:t>
            </a:r>
          </a:p>
          <a:p>
            <a:pPr eaLnBrk="0" hangingPunct="0">
              <a:spcBef>
                <a:spcPct val="20000"/>
              </a:spcBef>
              <a:buClr>
                <a:srgbClr val="369226"/>
              </a:buClr>
            </a:pPr>
            <a:endParaRPr lang="en-US" b="1" dirty="0">
              <a:solidFill>
                <a:srgbClr val="369226"/>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693466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3136</Words>
  <Application>Microsoft Office PowerPoint</Application>
  <PresentationFormat>On-screen Show (4:3)</PresentationFormat>
  <Paragraphs>225</Paragraphs>
  <Slides>15</Slides>
  <Notes>15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Calibri</vt:lpstr>
      <vt:lpstr>Gotham Light</vt:lpstr>
      <vt:lpstr>Gotham Medium</vt:lpstr>
      <vt:lpstr>Wingdings</vt:lpstr>
      <vt:lpstr>Training 2</vt:lpstr>
      <vt:lpstr>Microsoft Visio Drawing</vt:lpstr>
      <vt:lpstr>COURS AVANCÉ KNX Annex informative</vt:lpstr>
      <vt:lpstr>Définitions</vt:lpstr>
      <vt:lpstr>Les différents types de systèmes multimédia</vt:lpstr>
      <vt:lpstr>Les différents types de systèmes multimédia</vt:lpstr>
      <vt:lpstr>Intégration des systèmes multimédias</vt:lpstr>
      <vt:lpstr>Système audio contrôlable via KNX</vt:lpstr>
      <vt:lpstr>Fonctions de base</vt:lpstr>
      <vt:lpstr>Fonctions de base</vt:lpstr>
      <vt:lpstr>Contrôle du système audio via la passerelle KNX/IP</vt:lpstr>
      <vt:lpstr>Audio via le système IP contrôlable via KNX</vt:lpstr>
      <vt:lpstr>Intercom Système contrôlable via KNX</vt:lpstr>
      <vt:lpstr>Les systèmes d'interphone "audio et vidéo" vers "audio et vidéo" commandés via KNX</vt:lpstr>
      <vt:lpstr>Les systèmes d'interphone commandés via une interface KNX/IP</vt:lpstr>
      <vt:lpstr>Intercom via le système IP contrôlable  via KNX</vt:lpstr>
      <vt:lpstr>Le multirooming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349</cp:revision>
  <dcterms:created xsi:type="dcterms:W3CDTF">2012-09-10T07:59:43Z</dcterms:created>
  <dcterms:modified xsi:type="dcterms:W3CDTF">2023-04-07T15:08:39Z</dcterms:modified>
</cp:coreProperties>
</file>