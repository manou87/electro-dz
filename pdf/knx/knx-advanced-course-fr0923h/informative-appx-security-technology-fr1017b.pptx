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782" r:id="rId1"/>
  </p:sldMasterIdLst>
  <p:notesMasterIdLst>
    <p:notesMasterId r:id="rId49"/>
  </p:notesMasterIdLst>
  <p:handoutMasterIdLst>
    <p:handoutMasterId r:id="rId50"/>
  </p:handoutMasterIdLst>
  <p:sldIdLst>
    <p:sldId id="256" r:id="rId2"/>
    <p:sldId id="325" r:id="rId3"/>
    <p:sldId id="358" r:id="rId4"/>
    <p:sldId id="341" r:id="rId5"/>
    <p:sldId id="342" r:id="rId6"/>
    <p:sldId id="359" r:id="rId7"/>
    <p:sldId id="343" r:id="rId8"/>
    <p:sldId id="344" r:id="rId9"/>
    <p:sldId id="345" r:id="rId10"/>
    <p:sldId id="346" r:id="rId11"/>
    <p:sldId id="347" r:id="rId12"/>
    <p:sldId id="348" r:id="rId13"/>
    <p:sldId id="349" r:id="rId14"/>
    <p:sldId id="350" r:id="rId15"/>
    <p:sldId id="351" r:id="rId16"/>
    <p:sldId id="352" r:id="rId17"/>
    <p:sldId id="353" r:id="rId18"/>
    <p:sldId id="360" r:id="rId19"/>
    <p:sldId id="306" r:id="rId20"/>
    <p:sldId id="354" r:id="rId21"/>
    <p:sldId id="361" r:id="rId22"/>
    <p:sldId id="355" r:id="rId23"/>
    <p:sldId id="356" r:id="rId24"/>
    <p:sldId id="357" r:id="rId25"/>
    <p:sldId id="362" r:id="rId26"/>
    <p:sldId id="326" r:id="rId27"/>
    <p:sldId id="327" r:id="rId28"/>
    <p:sldId id="328" r:id="rId29"/>
    <p:sldId id="363" r:id="rId30"/>
    <p:sldId id="364" r:id="rId31"/>
    <p:sldId id="329" r:id="rId32"/>
    <p:sldId id="330" r:id="rId33"/>
    <p:sldId id="331" r:id="rId34"/>
    <p:sldId id="332" r:id="rId35"/>
    <p:sldId id="365" r:id="rId36"/>
    <p:sldId id="366" r:id="rId37"/>
    <p:sldId id="367" r:id="rId38"/>
    <p:sldId id="333" r:id="rId39"/>
    <p:sldId id="334" r:id="rId40"/>
    <p:sldId id="368" r:id="rId41"/>
    <p:sldId id="335" r:id="rId42"/>
    <p:sldId id="336" r:id="rId43"/>
    <p:sldId id="337" r:id="rId44"/>
    <p:sldId id="338" r:id="rId45"/>
    <p:sldId id="339" r:id="rId46"/>
    <p:sldId id="340" r:id="rId47"/>
    <p:sldId id="369" r:id="rId48"/>
  </p:sldIdLst>
  <p:sldSz cx="9144000" cy="6858000" type="screen4x3"/>
  <p:notesSz cx="6858000" cy="9144000"/>
  <p:custDataLst>
    <p:tags r:id="rId51"/>
  </p:custData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663">
          <p15:clr>
            <a:srgbClr val="A4A3A4"/>
          </p15:clr>
        </p15:guide>
        <p15:guide id="2" orient="horz" pos="935">
          <p15:clr>
            <a:srgbClr val="A4A3A4"/>
          </p15:clr>
        </p15:guide>
        <p15:guide id="3" orient="horz" pos="3475">
          <p15:clr>
            <a:srgbClr val="A4A3A4"/>
          </p15:clr>
        </p15:guide>
        <p15:guide id="4" orient="horz" pos="3294">
          <p15:clr>
            <a:srgbClr val="A4A3A4"/>
          </p15:clr>
        </p15:guide>
        <p15:guide id="5" orient="horz" pos="3974">
          <p15:clr>
            <a:srgbClr val="A4A3A4"/>
          </p15:clr>
        </p15:guide>
        <p15:guide id="6" orient="horz" pos="1253">
          <p15:clr>
            <a:srgbClr val="A4A3A4"/>
          </p15:clr>
        </p15:guide>
        <p15:guide id="7" orient="horz" pos="2614">
          <p15:clr>
            <a:srgbClr val="A4A3A4"/>
          </p15:clr>
        </p15:guide>
        <p15:guide id="8" orient="horz" pos="2840">
          <p15:clr>
            <a:srgbClr val="A4A3A4"/>
          </p15:clr>
        </p15:guide>
        <p15:guide id="9" pos="2290">
          <p15:clr>
            <a:srgbClr val="A4A3A4"/>
          </p15:clr>
        </p15:guide>
        <p15:guide id="10" pos="3334">
          <p15:clr>
            <a:srgbClr val="A4A3A4"/>
          </p15:clr>
        </p15:guide>
        <p15:guide id="11" pos="387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9226"/>
    <a:srgbClr val="0C4BAF"/>
    <a:srgbClr val="D6E3BC"/>
    <a:srgbClr val="B4CAFA"/>
    <a:srgbClr val="AFEAFF"/>
    <a:srgbClr val="E6F2AC"/>
    <a:srgbClr val="FF9F9F"/>
    <a:srgbClr val="0C4B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CB6BCE-CFF7-469F-AABE-282CE60C0D3F}" v="1" dt="2023-04-06T13:03:57.6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55" autoAdjust="0"/>
    <p:restoredTop sz="72829" autoAdjust="0"/>
  </p:normalViewPr>
  <p:slideViewPr>
    <p:cSldViewPr>
      <p:cViewPr varScale="1">
        <p:scale>
          <a:sx n="66" d="100"/>
          <a:sy n="66" d="100"/>
        </p:scale>
        <p:origin x="1858" y="45"/>
      </p:cViewPr>
      <p:guideLst>
        <p:guide orient="horz" pos="663"/>
        <p:guide orient="horz" pos="935"/>
        <p:guide orient="horz" pos="3475"/>
        <p:guide orient="horz" pos="3294"/>
        <p:guide orient="horz" pos="3974"/>
        <p:guide orient="horz" pos="1253"/>
        <p:guide orient="horz" pos="2614"/>
        <p:guide orient="horz" pos="2840"/>
        <p:guide pos="2290"/>
        <p:guide pos="3334"/>
        <p:guide pos="387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0"/>
    </p:cViewPr>
  </p:sorterViewPr>
  <p:notesViewPr>
    <p:cSldViewPr>
      <p:cViewPr varScale="1">
        <p:scale>
          <a:sx n="71" d="100"/>
          <a:sy n="71" d="100"/>
        </p:scale>
        <p:origin x="-279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fuk Unal" userId="d77f72b3-53d7-4cb7-8425-5a8f29447216" providerId="ADAL" clId="{B0DF57DB-BE44-48D9-A5E9-05DDE94F5005}"/>
    <pc:docChg chg="custSel modSld modMainMaster">
      <pc:chgData name="Ufuk Unal" userId="d77f72b3-53d7-4cb7-8425-5a8f29447216" providerId="ADAL" clId="{B0DF57DB-BE44-48D9-A5E9-05DDE94F5005}" dt="2023-03-14T10:09:21.256" v="54" actId="6549"/>
      <pc:docMkLst>
        <pc:docMk/>
      </pc:docMkLst>
      <pc:sldChg chg="delSp modSp mod">
        <pc:chgData name="Ufuk Unal" userId="d77f72b3-53d7-4cb7-8425-5a8f29447216" providerId="ADAL" clId="{B0DF57DB-BE44-48D9-A5E9-05DDE94F5005}" dt="2023-03-14T09:40:49.424" v="2" actId="20577"/>
        <pc:sldMkLst>
          <pc:docMk/>
          <pc:sldMk cId="2459807384" sldId="256"/>
        </pc:sldMkLst>
        <pc:spChg chg="del">
          <ac:chgData name="Ufuk Unal" userId="d77f72b3-53d7-4cb7-8425-5a8f29447216" providerId="ADAL" clId="{B0DF57DB-BE44-48D9-A5E9-05DDE94F5005}" dt="2023-03-14T09:40:47.278" v="0" actId="478"/>
          <ac:spMkLst>
            <pc:docMk/>
            <pc:sldMk cId="2459807384" sldId="256"/>
            <ac:spMk id="5" creationId="{1D73F070-14E5-431D-9BB5-D0DFC46463AA}"/>
          </ac:spMkLst>
        </pc:spChg>
        <pc:spChg chg="mod">
          <ac:chgData name="Ufuk Unal" userId="d77f72b3-53d7-4cb7-8425-5a8f29447216" providerId="ADAL" clId="{B0DF57DB-BE44-48D9-A5E9-05DDE94F5005}" dt="2023-03-14T09:40:49.424" v="2" actId="20577"/>
          <ac:spMkLst>
            <pc:docMk/>
            <pc:sldMk cId="2459807384" sldId="256"/>
            <ac:spMk id="6" creationId="{36891D17-0544-4779-B232-7495C4C552DF}"/>
          </ac:spMkLst>
        </pc:spChg>
      </pc:sldChg>
      <pc:sldChg chg="modNotesTx">
        <pc:chgData name="Ufuk Unal" userId="d77f72b3-53d7-4cb7-8425-5a8f29447216" providerId="ADAL" clId="{B0DF57DB-BE44-48D9-A5E9-05DDE94F5005}" dt="2023-03-14T09:41:48.685" v="4" actId="6549"/>
        <pc:sldMkLst>
          <pc:docMk/>
          <pc:sldMk cId="3311703480" sldId="325"/>
        </pc:sldMkLst>
      </pc:sldChg>
      <pc:sldChg chg="modNotesTx">
        <pc:chgData name="Ufuk Unal" userId="d77f72b3-53d7-4cb7-8425-5a8f29447216" providerId="ADAL" clId="{B0DF57DB-BE44-48D9-A5E9-05DDE94F5005}" dt="2023-03-14T10:07:00.303" v="45" actId="6549"/>
        <pc:sldMkLst>
          <pc:docMk/>
          <pc:sldMk cId="3673250314" sldId="326"/>
        </pc:sldMkLst>
      </pc:sldChg>
      <pc:sldChg chg="modNotesTx">
        <pc:chgData name="Ufuk Unal" userId="d77f72b3-53d7-4cb7-8425-5a8f29447216" providerId="ADAL" clId="{B0DF57DB-BE44-48D9-A5E9-05DDE94F5005}" dt="2023-03-14T10:08:53.084" v="50" actId="6549"/>
        <pc:sldMkLst>
          <pc:docMk/>
          <pc:sldMk cId="2503827922" sldId="327"/>
        </pc:sldMkLst>
      </pc:sldChg>
      <pc:sldChg chg="modNotesTx">
        <pc:chgData name="Ufuk Unal" userId="d77f72b3-53d7-4cb7-8425-5a8f29447216" providerId="ADAL" clId="{B0DF57DB-BE44-48D9-A5E9-05DDE94F5005}" dt="2023-03-14T10:08:58.409" v="51" actId="6549"/>
        <pc:sldMkLst>
          <pc:docMk/>
          <pc:sldMk cId="4063430119" sldId="328"/>
        </pc:sldMkLst>
      </pc:sldChg>
      <pc:sldChg chg="modNotesTx">
        <pc:chgData name="Ufuk Unal" userId="d77f72b3-53d7-4cb7-8425-5a8f29447216" providerId="ADAL" clId="{B0DF57DB-BE44-48D9-A5E9-05DDE94F5005}" dt="2023-03-14T10:09:07.868" v="53" actId="6549"/>
        <pc:sldMkLst>
          <pc:docMk/>
          <pc:sldMk cId="1976804067" sldId="329"/>
        </pc:sldMkLst>
      </pc:sldChg>
      <pc:sldChg chg="modSp mod modNotesTx">
        <pc:chgData name="Ufuk Unal" userId="d77f72b3-53d7-4cb7-8425-5a8f29447216" providerId="ADAL" clId="{B0DF57DB-BE44-48D9-A5E9-05DDE94F5005}" dt="2023-03-14T09:42:40.900" v="18" actId="20577"/>
        <pc:sldMkLst>
          <pc:docMk/>
          <pc:sldMk cId="1374603204" sldId="341"/>
        </pc:sldMkLst>
        <pc:spChg chg="mod">
          <ac:chgData name="Ufuk Unal" userId="d77f72b3-53d7-4cb7-8425-5a8f29447216" providerId="ADAL" clId="{B0DF57DB-BE44-48D9-A5E9-05DDE94F5005}" dt="2023-03-14T09:42:40.900" v="18" actId="20577"/>
          <ac:spMkLst>
            <pc:docMk/>
            <pc:sldMk cId="1374603204" sldId="341"/>
            <ac:spMk id="8" creationId="{9F2C7172-BF0D-4756-AB0D-E9B70C83CC4C}"/>
          </ac:spMkLst>
        </pc:spChg>
      </pc:sldChg>
      <pc:sldChg chg="modNotesTx">
        <pc:chgData name="Ufuk Unal" userId="d77f72b3-53d7-4cb7-8425-5a8f29447216" providerId="ADAL" clId="{B0DF57DB-BE44-48D9-A5E9-05DDE94F5005}" dt="2023-03-14T09:43:14.588" v="19" actId="6549"/>
        <pc:sldMkLst>
          <pc:docMk/>
          <pc:sldMk cId="1994260570" sldId="342"/>
        </pc:sldMkLst>
      </pc:sldChg>
      <pc:sldChg chg="modNotesTx">
        <pc:chgData name="Ufuk Unal" userId="d77f72b3-53d7-4cb7-8425-5a8f29447216" providerId="ADAL" clId="{B0DF57DB-BE44-48D9-A5E9-05DDE94F5005}" dt="2023-03-14T09:43:33.699" v="20" actId="6549"/>
        <pc:sldMkLst>
          <pc:docMk/>
          <pc:sldMk cId="2416504450" sldId="343"/>
        </pc:sldMkLst>
      </pc:sldChg>
      <pc:sldChg chg="modSp mod modNotesTx">
        <pc:chgData name="Ufuk Unal" userId="d77f72b3-53d7-4cb7-8425-5a8f29447216" providerId="ADAL" clId="{B0DF57DB-BE44-48D9-A5E9-05DDE94F5005}" dt="2023-03-14T09:44:48.693" v="25" actId="20577"/>
        <pc:sldMkLst>
          <pc:docMk/>
          <pc:sldMk cId="2684641891" sldId="344"/>
        </pc:sldMkLst>
        <pc:spChg chg="mod">
          <ac:chgData name="Ufuk Unal" userId="d77f72b3-53d7-4cb7-8425-5a8f29447216" providerId="ADAL" clId="{B0DF57DB-BE44-48D9-A5E9-05DDE94F5005}" dt="2023-03-14T09:44:48.693" v="25" actId="20577"/>
          <ac:spMkLst>
            <pc:docMk/>
            <pc:sldMk cId="2684641891" sldId="344"/>
            <ac:spMk id="9" creationId="{0A5586CE-EB4A-496E-9B62-001E25693E4A}"/>
          </ac:spMkLst>
        </pc:spChg>
      </pc:sldChg>
      <pc:sldChg chg="modNotesTx">
        <pc:chgData name="Ufuk Unal" userId="d77f72b3-53d7-4cb7-8425-5a8f29447216" providerId="ADAL" clId="{B0DF57DB-BE44-48D9-A5E9-05DDE94F5005}" dt="2023-03-14T09:46:02.188" v="30" actId="6549"/>
        <pc:sldMkLst>
          <pc:docMk/>
          <pc:sldMk cId="1396881717" sldId="345"/>
        </pc:sldMkLst>
      </pc:sldChg>
      <pc:sldChg chg="modNotesTx">
        <pc:chgData name="Ufuk Unal" userId="d77f72b3-53d7-4cb7-8425-5a8f29447216" providerId="ADAL" clId="{B0DF57DB-BE44-48D9-A5E9-05DDE94F5005}" dt="2023-03-14T09:46:08.139" v="31" actId="6549"/>
        <pc:sldMkLst>
          <pc:docMk/>
          <pc:sldMk cId="4104435945" sldId="346"/>
        </pc:sldMkLst>
      </pc:sldChg>
      <pc:sldChg chg="modNotesTx">
        <pc:chgData name="Ufuk Unal" userId="d77f72b3-53d7-4cb7-8425-5a8f29447216" providerId="ADAL" clId="{B0DF57DB-BE44-48D9-A5E9-05DDE94F5005}" dt="2023-03-14T09:46:29.030" v="33" actId="6549"/>
        <pc:sldMkLst>
          <pc:docMk/>
          <pc:sldMk cId="2470924352" sldId="347"/>
        </pc:sldMkLst>
      </pc:sldChg>
      <pc:sldChg chg="modNotesTx">
        <pc:chgData name="Ufuk Unal" userId="d77f72b3-53d7-4cb7-8425-5a8f29447216" providerId="ADAL" clId="{B0DF57DB-BE44-48D9-A5E9-05DDE94F5005}" dt="2023-03-14T09:46:37.348" v="35" actId="6549"/>
        <pc:sldMkLst>
          <pc:docMk/>
          <pc:sldMk cId="838802227" sldId="349"/>
        </pc:sldMkLst>
      </pc:sldChg>
      <pc:sldChg chg="modNotesTx">
        <pc:chgData name="Ufuk Unal" userId="d77f72b3-53d7-4cb7-8425-5a8f29447216" providerId="ADAL" clId="{B0DF57DB-BE44-48D9-A5E9-05DDE94F5005}" dt="2023-03-14T09:46:40.629" v="36" actId="6549"/>
        <pc:sldMkLst>
          <pc:docMk/>
          <pc:sldMk cId="1108545243" sldId="350"/>
        </pc:sldMkLst>
      </pc:sldChg>
      <pc:sldChg chg="modNotesTx">
        <pc:chgData name="Ufuk Unal" userId="d77f72b3-53d7-4cb7-8425-5a8f29447216" providerId="ADAL" clId="{B0DF57DB-BE44-48D9-A5E9-05DDE94F5005}" dt="2023-03-14T09:46:43.386" v="37" actId="6549"/>
        <pc:sldMkLst>
          <pc:docMk/>
          <pc:sldMk cId="1001165308" sldId="351"/>
        </pc:sldMkLst>
      </pc:sldChg>
      <pc:sldChg chg="modNotesTx">
        <pc:chgData name="Ufuk Unal" userId="d77f72b3-53d7-4cb7-8425-5a8f29447216" providerId="ADAL" clId="{B0DF57DB-BE44-48D9-A5E9-05DDE94F5005}" dt="2023-03-14T09:46:50.877" v="39" actId="6549"/>
        <pc:sldMkLst>
          <pc:docMk/>
          <pc:sldMk cId="3243177277" sldId="352"/>
        </pc:sldMkLst>
      </pc:sldChg>
      <pc:sldChg chg="modNotesTx">
        <pc:chgData name="Ufuk Unal" userId="d77f72b3-53d7-4cb7-8425-5a8f29447216" providerId="ADAL" clId="{B0DF57DB-BE44-48D9-A5E9-05DDE94F5005}" dt="2023-03-14T09:45:29.636" v="26" actId="6549"/>
        <pc:sldMkLst>
          <pc:docMk/>
          <pc:sldMk cId="2021682167" sldId="353"/>
        </pc:sldMkLst>
      </pc:sldChg>
      <pc:sldChg chg="modNotesTx">
        <pc:chgData name="Ufuk Unal" userId="d77f72b3-53d7-4cb7-8425-5a8f29447216" providerId="ADAL" clId="{B0DF57DB-BE44-48D9-A5E9-05DDE94F5005}" dt="2023-03-14T09:45:36.796" v="27" actId="6549"/>
        <pc:sldMkLst>
          <pc:docMk/>
          <pc:sldMk cId="423197906" sldId="354"/>
        </pc:sldMkLst>
      </pc:sldChg>
      <pc:sldChg chg="modNotesTx">
        <pc:chgData name="Ufuk Unal" userId="d77f72b3-53d7-4cb7-8425-5a8f29447216" providerId="ADAL" clId="{B0DF57DB-BE44-48D9-A5E9-05DDE94F5005}" dt="2023-03-14T09:45:58.106" v="29" actId="6549"/>
        <pc:sldMkLst>
          <pc:docMk/>
          <pc:sldMk cId="4233599654" sldId="355"/>
        </pc:sldMkLst>
      </pc:sldChg>
      <pc:sldChg chg="modSp mod modNotesTx">
        <pc:chgData name="Ufuk Unal" userId="d77f72b3-53d7-4cb7-8425-5a8f29447216" providerId="ADAL" clId="{B0DF57DB-BE44-48D9-A5E9-05DDE94F5005}" dt="2023-03-14T10:07:55.220" v="48" actId="6549"/>
        <pc:sldMkLst>
          <pc:docMk/>
          <pc:sldMk cId="3798046907" sldId="357"/>
        </pc:sldMkLst>
        <pc:spChg chg="mod">
          <ac:chgData name="Ufuk Unal" userId="d77f72b3-53d7-4cb7-8425-5a8f29447216" providerId="ADAL" clId="{B0DF57DB-BE44-48D9-A5E9-05DDE94F5005}" dt="2023-03-14T10:07:55.220" v="48" actId="6549"/>
          <ac:spMkLst>
            <pc:docMk/>
            <pc:sldMk cId="3798046907" sldId="357"/>
            <ac:spMk id="9" creationId="{0A5586CE-EB4A-496E-9B62-001E25693E4A}"/>
          </ac:spMkLst>
        </pc:spChg>
      </pc:sldChg>
      <pc:sldChg chg="modNotesTx">
        <pc:chgData name="Ufuk Unal" userId="d77f72b3-53d7-4cb7-8425-5a8f29447216" providerId="ADAL" clId="{B0DF57DB-BE44-48D9-A5E9-05DDE94F5005}" dt="2023-03-14T09:46:47.782" v="38" actId="6549"/>
        <pc:sldMkLst>
          <pc:docMk/>
          <pc:sldMk cId="2763019059" sldId="358"/>
        </pc:sldMkLst>
      </pc:sldChg>
      <pc:sldChg chg="modNotesTx">
        <pc:chgData name="Ufuk Unal" userId="d77f72b3-53d7-4cb7-8425-5a8f29447216" providerId="ADAL" clId="{B0DF57DB-BE44-48D9-A5E9-05DDE94F5005}" dt="2023-03-14T09:45:53.949" v="28" actId="6549"/>
        <pc:sldMkLst>
          <pc:docMk/>
          <pc:sldMk cId="1502931874" sldId="359"/>
        </pc:sldMkLst>
      </pc:sldChg>
      <pc:sldChg chg="modNotesTx">
        <pc:chgData name="Ufuk Unal" userId="d77f72b3-53d7-4cb7-8425-5a8f29447216" providerId="ADAL" clId="{B0DF57DB-BE44-48D9-A5E9-05DDE94F5005}" dt="2023-03-14T09:46:18.797" v="32" actId="6549"/>
        <pc:sldMkLst>
          <pc:docMk/>
          <pc:sldMk cId="2784854281" sldId="360"/>
        </pc:sldMkLst>
      </pc:sldChg>
      <pc:sldChg chg="modNotesTx">
        <pc:chgData name="Ufuk Unal" userId="d77f72b3-53d7-4cb7-8425-5a8f29447216" providerId="ADAL" clId="{B0DF57DB-BE44-48D9-A5E9-05DDE94F5005}" dt="2023-03-14T09:46:32.749" v="34" actId="6549"/>
        <pc:sldMkLst>
          <pc:docMk/>
          <pc:sldMk cId="81848509" sldId="361"/>
        </pc:sldMkLst>
      </pc:sldChg>
      <pc:sldChg chg="modNotesTx">
        <pc:chgData name="Ufuk Unal" userId="d77f72b3-53d7-4cb7-8425-5a8f29447216" providerId="ADAL" clId="{B0DF57DB-BE44-48D9-A5E9-05DDE94F5005}" dt="2023-03-14T09:46:54.846" v="40" actId="6549"/>
        <pc:sldMkLst>
          <pc:docMk/>
          <pc:sldMk cId="2726252616" sldId="362"/>
        </pc:sldMkLst>
      </pc:sldChg>
      <pc:sldChg chg="modNotesTx">
        <pc:chgData name="Ufuk Unal" userId="d77f72b3-53d7-4cb7-8425-5a8f29447216" providerId="ADAL" clId="{B0DF57DB-BE44-48D9-A5E9-05DDE94F5005}" dt="2023-03-14T09:46:57.442" v="41" actId="6549"/>
        <pc:sldMkLst>
          <pc:docMk/>
          <pc:sldMk cId="114654693" sldId="363"/>
        </pc:sldMkLst>
      </pc:sldChg>
      <pc:sldChg chg="modNotesTx">
        <pc:chgData name="Ufuk Unal" userId="d77f72b3-53d7-4cb7-8425-5a8f29447216" providerId="ADAL" clId="{B0DF57DB-BE44-48D9-A5E9-05DDE94F5005}" dt="2023-03-14T09:47:03.519" v="42" actId="6549"/>
        <pc:sldMkLst>
          <pc:docMk/>
          <pc:sldMk cId="68671429" sldId="364"/>
        </pc:sldMkLst>
      </pc:sldChg>
      <pc:sldChg chg="modNotesTx">
        <pc:chgData name="Ufuk Unal" userId="d77f72b3-53d7-4cb7-8425-5a8f29447216" providerId="ADAL" clId="{B0DF57DB-BE44-48D9-A5E9-05DDE94F5005}" dt="2023-03-14T10:06:47.184" v="43" actId="6549"/>
        <pc:sldMkLst>
          <pc:docMk/>
          <pc:sldMk cId="3814972833" sldId="365"/>
        </pc:sldMkLst>
      </pc:sldChg>
      <pc:sldChg chg="modNotesTx">
        <pc:chgData name="Ufuk Unal" userId="d77f72b3-53d7-4cb7-8425-5a8f29447216" providerId="ADAL" clId="{B0DF57DB-BE44-48D9-A5E9-05DDE94F5005}" dt="2023-03-14T10:08:48.939" v="49" actId="6549"/>
        <pc:sldMkLst>
          <pc:docMk/>
          <pc:sldMk cId="1766050880" sldId="366"/>
        </pc:sldMkLst>
      </pc:sldChg>
      <pc:sldChg chg="modNotesTx">
        <pc:chgData name="Ufuk Unal" userId="d77f72b3-53d7-4cb7-8425-5a8f29447216" providerId="ADAL" clId="{B0DF57DB-BE44-48D9-A5E9-05DDE94F5005}" dt="2023-03-14T10:09:21.256" v="54" actId="6549"/>
        <pc:sldMkLst>
          <pc:docMk/>
          <pc:sldMk cId="2830932289" sldId="367"/>
        </pc:sldMkLst>
      </pc:sldChg>
      <pc:sldChg chg="modNotesTx">
        <pc:chgData name="Ufuk Unal" userId="d77f72b3-53d7-4cb7-8425-5a8f29447216" providerId="ADAL" clId="{B0DF57DB-BE44-48D9-A5E9-05DDE94F5005}" dt="2023-03-14T10:09:03.930" v="52" actId="6549"/>
        <pc:sldMkLst>
          <pc:docMk/>
          <pc:sldMk cId="3461289532" sldId="368"/>
        </pc:sldMkLst>
      </pc:sldChg>
      <pc:sldMasterChg chg="modSldLayout">
        <pc:chgData name="Ufuk Unal" userId="d77f72b3-53d7-4cb7-8425-5a8f29447216" providerId="ADAL" clId="{B0DF57DB-BE44-48D9-A5E9-05DDE94F5005}" dt="2023-03-14T09:41:05.076" v="3" actId="478"/>
        <pc:sldMasterMkLst>
          <pc:docMk/>
          <pc:sldMasterMk cId="100049181" sldId="2147483782"/>
        </pc:sldMasterMkLst>
        <pc:sldLayoutChg chg="delSp">
          <pc:chgData name="Ufuk Unal" userId="d77f72b3-53d7-4cb7-8425-5a8f29447216" providerId="ADAL" clId="{B0DF57DB-BE44-48D9-A5E9-05DDE94F5005}" dt="2023-03-14T09:41:05.076" v="3" actId="478"/>
          <pc:sldLayoutMkLst>
            <pc:docMk/>
            <pc:sldMasterMk cId="100049181" sldId="2147483782"/>
            <pc:sldLayoutMk cId="2489093777" sldId="2147483783"/>
          </pc:sldLayoutMkLst>
          <pc:spChg chg="del">
            <ac:chgData name="Ufuk Unal" userId="d77f72b3-53d7-4cb7-8425-5a8f29447216" providerId="ADAL" clId="{B0DF57DB-BE44-48D9-A5E9-05DDE94F5005}" dt="2023-03-14T09:41:05.076" v="3" actId="478"/>
            <ac:spMkLst>
              <pc:docMk/>
              <pc:sldMasterMk cId="100049181" sldId="2147483782"/>
              <pc:sldLayoutMk cId="2489093777" sldId="2147483783"/>
              <ac:spMk id="5" creationId="{00000000-0000-0000-0000-000000000000}"/>
            </ac:spMkLst>
          </pc:spChg>
        </pc:sldLayoutChg>
      </pc:sldMasterChg>
    </pc:docChg>
  </pc:docChgLst>
  <pc:docChgLst>
    <pc:chgData name="Ufuk Unal" userId="d77f72b3-53d7-4cb7-8425-5a8f29447216" providerId="ADAL" clId="{A5CB6BCE-CFF7-469F-AABE-282CE60C0D3F}"/>
    <pc:docChg chg="addSld delSld modSld">
      <pc:chgData name="Ufuk Unal" userId="d77f72b3-53d7-4cb7-8425-5a8f29447216" providerId="ADAL" clId="{A5CB6BCE-CFF7-469F-AABE-282CE60C0D3F}" dt="2023-04-06T13:04:36.292" v="10" actId="47"/>
      <pc:docMkLst>
        <pc:docMk/>
      </pc:docMkLst>
      <pc:sldChg chg="modSp mod">
        <pc:chgData name="Ufuk Unal" userId="d77f72b3-53d7-4cb7-8425-5a8f29447216" providerId="ADAL" clId="{A5CB6BCE-CFF7-469F-AABE-282CE60C0D3F}" dt="2023-04-06T13:03:46.002" v="7" actId="20577"/>
        <pc:sldMkLst>
          <pc:docMk/>
          <pc:sldMk cId="2459807384" sldId="256"/>
        </pc:sldMkLst>
        <pc:spChg chg="mod">
          <ac:chgData name="Ufuk Unal" userId="d77f72b3-53d7-4cb7-8425-5a8f29447216" providerId="ADAL" clId="{A5CB6BCE-CFF7-469F-AABE-282CE60C0D3F}" dt="2023-04-06T13:03:46.002" v="7" actId="20577"/>
          <ac:spMkLst>
            <pc:docMk/>
            <pc:sldMk cId="2459807384" sldId="256"/>
            <ac:spMk id="6" creationId="{36891D17-0544-4779-B232-7495C4C552DF}"/>
          </ac:spMkLst>
        </pc:spChg>
      </pc:sldChg>
      <pc:sldChg chg="add">
        <pc:chgData name="Ufuk Unal" userId="d77f72b3-53d7-4cb7-8425-5a8f29447216" providerId="ADAL" clId="{A5CB6BCE-CFF7-469F-AABE-282CE60C0D3F}" dt="2023-04-06T13:03:57.615" v="8"/>
        <pc:sldMkLst>
          <pc:docMk/>
          <pc:sldMk cId="998842949" sldId="257"/>
        </pc:sldMkLst>
      </pc:sldChg>
      <pc:sldChg chg="add">
        <pc:chgData name="Ufuk Unal" userId="d77f72b3-53d7-4cb7-8425-5a8f29447216" providerId="ADAL" clId="{A5CB6BCE-CFF7-469F-AABE-282CE60C0D3F}" dt="2023-04-06T13:03:57.615" v="8"/>
        <pc:sldMkLst>
          <pc:docMk/>
          <pc:sldMk cId="3205511851" sldId="286"/>
        </pc:sldMkLst>
      </pc:sldChg>
      <pc:sldChg chg="add">
        <pc:chgData name="Ufuk Unal" userId="d77f72b3-53d7-4cb7-8425-5a8f29447216" providerId="ADAL" clId="{A5CB6BCE-CFF7-469F-AABE-282CE60C0D3F}" dt="2023-04-06T13:03:57.615" v="8"/>
        <pc:sldMkLst>
          <pc:docMk/>
          <pc:sldMk cId="8838512" sldId="287"/>
        </pc:sldMkLst>
      </pc:sldChg>
      <pc:sldChg chg="add">
        <pc:chgData name="Ufuk Unal" userId="d77f72b3-53d7-4cb7-8425-5a8f29447216" providerId="ADAL" clId="{A5CB6BCE-CFF7-469F-AABE-282CE60C0D3F}" dt="2023-04-06T13:03:57.615" v="8"/>
        <pc:sldMkLst>
          <pc:docMk/>
          <pc:sldMk cId="2281775076" sldId="288"/>
        </pc:sldMkLst>
      </pc:sldChg>
      <pc:sldChg chg="add">
        <pc:chgData name="Ufuk Unal" userId="d77f72b3-53d7-4cb7-8425-5a8f29447216" providerId="ADAL" clId="{A5CB6BCE-CFF7-469F-AABE-282CE60C0D3F}" dt="2023-04-06T13:03:57.615" v="8"/>
        <pc:sldMkLst>
          <pc:docMk/>
          <pc:sldMk cId="1073715606" sldId="289"/>
        </pc:sldMkLst>
      </pc:sldChg>
      <pc:sldChg chg="add">
        <pc:chgData name="Ufuk Unal" userId="d77f72b3-53d7-4cb7-8425-5a8f29447216" providerId="ADAL" clId="{A5CB6BCE-CFF7-469F-AABE-282CE60C0D3F}" dt="2023-04-06T13:03:57.615" v="8"/>
        <pc:sldMkLst>
          <pc:docMk/>
          <pc:sldMk cId="2608193054" sldId="290"/>
        </pc:sldMkLst>
      </pc:sldChg>
      <pc:sldChg chg="add">
        <pc:chgData name="Ufuk Unal" userId="d77f72b3-53d7-4cb7-8425-5a8f29447216" providerId="ADAL" clId="{A5CB6BCE-CFF7-469F-AABE-282CE60C0D3F}" dt="2023-04-06T13:03:57.615" v="8"/>
        <pc:sldMkLst>
          <pc:docMk/>
          <pc:sldMk cId="3236013279" sldId="291"/>
        </pc:sldMkLst>
      </pc:sldChg>
      <pc:sldChg chg="add">
        <pc:chgData name="Ufuk Unal" userId="d77f72b3-53d7-4cb7-8425-5a8f29447216" providerId="ADAL" clId="{A5CB6BCE-CFF7-469F-AABE-282CE60C0D3F}" dt="2023-04-06T13:03:57.615" v="8"/>
        <pc:sldMkLst>
          <pc:docMk/>
          <pc:sldMk cId="1944076353" sldId="292"/>
        </pc:sldMkLst>
      </pc:sldChg>
      <pc:sldChg chg="add">
        <pc:chgData name="Ufuk Unal" userId="d77f72b3-53d7-4cb7-8425-5a8f29447216" providerId="ADAL" clId="{A5CB6BCE-CFF7-469F-AABE-282CE60C0D3F}" dt="2023-04-06T13:03:57.615" v="8"/>
        <pc:sldMkLst>
          <pc:docMk/>
          <pc:sldMk cId="917736273" sldId="293"/>
        </pc:sldMkLst>
      </pc:sldChg>
      <pc:sldChg chg="add">
        <pc:chgData name="Ufuk Unal" userId="d77f72b3-53d7-4cb7-8425-5a8f29447216" providerId="ADAL" clId="{A5CB6BCE-CFF7-469F-AABE-282CE60C0D3F}" dt="2023-04-06T13:03:57.615" v="8"/>
        <pc:sldMkLst>
          <pc:docMk/>
          <pc:sldMk cId="1152956858" sldId="294"/>
        </pc:sldMkLst>
      </pc:sldChg>
      <pc:sldChg chg="add">
        <pc:chgData name="Ufuk Unal" userId="d77f72b3-53d7-4cb7-8425-5a8f29447216" providerId="ADAL" clId="{A5CB6BCE-CFF7-469F-AABE-282CE60C0D3F}" dt="2023-04-06T13:03:57.615" v="8"/>
        <pc:sldMkLst>
          <pc:docMk/>
          <pc:sldMk cId="3953398966" sldId="295"/>
        </pc:sldMkLst>
      </pc:sldChg>
      <pc:sldChg chg="add">
        <pc:chgData name="Ufuk Unal" userId="d77f72b3-53d7-4cb7-8425-5a8f29447216" providerId="ADAL" clId="{A5CB6BCE-CFF7-469F-AABE-282CE60C0D3F}" dt="2023-04-06T13:03:57.615" v="8"/>
        <pc:sldMkLst>
          <pc:docMk/>
          <pc:sldMk cId="2167178223" sldId="296"/>
        </pc:sldMkLst>
      </pc:sldChg>
      <pc:sldChg chg="add">
        <pc:chgData name="Ufuk Unal" userId="d77f72b3-53d7-4cb7-8425-5a8f29447216" providerId="ADAL" clId="{A5CB6BCE-CFF7-469F-AABE-282CE60C0D3F}" dt="2023-04-06T13:03:57.615" v="8"/>
        <pc:sldMkLst>
          <pc:docMk/>
          <pc:sldMk cId="3072424695" sldId="297"/>
        </pc:sldMkLst>
      </pc:sldChg>
      <pc:sldChg chg="add">
        <pc:chgData name="Ufuk Unal" userId="d77f72b3-53d7-4cb7-8425-5a8f29447216" providerId="ADAL" clId="{A5CB6BCE-CFF7-469F-AABE-282CE60C0D3F}" dt="2023-04-06T13:03:57.615" v="8"/>
        <pc:sldMkLst>
          <pc:docMk/>
          <pc:sldMk cId="2043198107" sldId="298"/>
        </pc:sldMkLst>
      </pc:sldChg>
      <pc:sldChg chg="add">
        <pc:chgData name="Ufuk Unal" userId="d77f72b3-53d7-4cb7-8425-5a8f29447216" providerId="ADAL" clId="{A5CB6BCE-CFF7-469F-AABE-282CE60C0D3F}" dt="2023-04-06T13:03:57.615" v="8"/>
        <pc:sldMkLst>
          <pc:docMk/>
          <pc:sldMk cId="2928479514" sldId="299"/>
        </pc:sldMkLst>
      </pc:sldChg>
      <pc:sldChg chg="add">
        <pc:chgData name="Ufuk Unal" userId="d77f72b3-53d7-4cb7-8425-5a8f29447216" providerId="ADAL" clId="{A5CB6BCE-CFF7-469F-AABE-282CE60C0D3F}" dt="2023-04-06T13:03:57.615" v="8"/>
        <pc:sldMkLst>
          <pc:docMk/>
          <pc:sldMk cId="446979928" sldId="300"/>
        </pc:sldMkLst>
      </pc:sldChg>
      <pc:sldChg chg="add">
        <pc:chgData name="Ufuk Unal" userId="d77f72b3-53d7-4cb7-8425-5a8f29447216" providerId="ADAL" clId="{A5CB6BCE-CFF7-469F-AABE-282CE60C0D3F}" dt="2023-04-06T13:03:57.615" v="8"/>
        <pc:sldMkLst>
          <pc:docMk/>
          <pc:sldMk cId="2359428810" sldId="301"/>
        </pc:sldMkLst>
      </pc:sldChg>
      <pc:sldChg chg="add">
        <pc:chgData name="Ufuk Unal" userId="d77f72b3-53d7-4cb7-8425-5a8f29447216" providerId="ADAL" clId="{A5CB6BCE-CFF7-469F-AABE-282CE60C0D3F}" dt="2023-04-06T13:03:57.615" v="8"/>
        <pc:sldMkLst>
          <pc:docMk/>
          <pc:sldMk cId="722043997" sldId="302"/>
        </pc:sldMkLst>
      </pc:sldChg>
      <pc:sldChg chg="add">
        <pc:chgData name="Ufuk Unal" userId="d77f72b3-53d7-4cb7-8425-5a8f29447216" providerId="ADAL" clId="{A5CB6BCE-CFF7-469F-AABE-282CE60C0D3F}" dt="2023-04-06T13:03:57.615" v="8"/>
        <pc:sldMkLst>
          <pc:docMk/>
          <pc:sldMk cId="1492922032" sldId="303"/>
        </pc:sldMkLst>
      </pc:sldChg>
      <pc:sldChg chg="add">
        <pc:chgData name="Ufuk Unal" userId="d77f72b3-53d7-4cb7-8425-5a8f29447216" providerId="ADAL" clId="{A5CB6BCE-CFF7-469F-AABE-282CE60C0D3F}" dt="2023-04-06T13:03:57.615" v="8"/>
        <pc:sldMkLst>
          <pc:docMk/>
          <pc:sldMk cId="3578986941" sldId="304"/>
        </pc:sldMkLst>
      </pc:sldChg>
      <pc:sldChg chg="del">
        <pc:chgData name="Ufuk Unal" userId="d77f72b3-53d7-4cb7-8425-5a8f29447216" providerId="ADAL" clId="{A5CB6BCE-CFF7-469F-AABE-282CE60C0D3F}" dt="2023-04-06T13:04:36.292" v="10" actId="47"/>
        <pc:sldMkLst>
          <pc:docMk/>
          <pc:sldMk cId="3311703480" sldId="325"/>
        </pc:sldMkLst>
      </pc:sldChg>
      <pc:sldChg chg="del">
        <pc:chgData name="Ufuk Unal" userId="d77f72b3-53d7-4cb7-8425-5a8f29447216" providerId="ADAL" clId="{A5CB6BCE-CFF7-469F-AABE-282CE60C0D3F}" dt="2023-04-06T13:04:36.292" v="10" actId="47"/>
        <pc:sldMkLst>
          <pc:docMk/>
          <pc:sldMk cId="3673250314" sldId="326"/>
        </pc:sldMkLst>
      </pc:sldChg>
      <pc:sldChg chg="del">
        <pc:chgData name="Ufuk Unal" userId="d77f72b3-53d7-4cb7-8425-5a8f29447216" providerId="ADAL" clId="{A5CB6BCE-CFF7-469F-AABE-282CE60C0D3F}" dt="2023-04-06T13:04:36.292" v="10" actId="47"/>
        <pc:sldMkLst>
          <pc:docMk/>
          <pc:sldMk cId="2503827922" sldId="327"/>
        </pc:sldMkLst>
      </pc:sldChg>
      <pc:sldChg chg="del">
        <pc:chgData name="Ufuk Unal" userId="d77f72b3-53d7-4cb7-8425-5a8f29447216" providerId="ADAL" clId="{A5CB6BCE-CFF7-469F-AABE-282CE60C0D3F}" dt="2023-04-06T13:04:36.292" v="10" actId="47"/>
        <pc:sldMkLst>
          <pc:docMk/>
          <pc:sldMk cId="4063430119" sldId="328"/>
        </pc:sldMkLst>
      </pc:sldChg>
      <pc:sldChg chg="del">
        <pc:chgData name="Ufuk Unal" userId="d77f72b3-53d7-4cb7-8425-5a8f29447216" providerId="ADAL" clId="{A5CB6BCE-CFF7-469F-AABE-282CE60C0D3F}" dt="2023-04-06T13:04:36.292" v="10" actId="47"/>
        <pc:sldMkLst>
          <pc:docMk/>
          <pc:sldMk cId="1976804067" sldId="329"/>
        </pc:sldMkLst>
      </pc:sldChg>
      <pc:sldChg chg="del">
        <pc:chgData name="Ufuk Unal" userId="d77f72b3-53d7-4cb7-8425-5a8f29447216" providerId="ADAL" clId="{A5CB6BCE-CFF7-469F-AABE-282CE60C0D3F}" dt="2023-04-06T13:04:36.292" v="10" actId="47"/>
        <pc:sldMkLst>
          <pc:docMk/>
          <pc:sldMk cId="1374603204" sldId="341"/>
        </pc:sldMkLst>
      </pc:sldChg>
      <pc:sldChg chg="del">
        <pc:chgData name="Ufuk Unal" userId="d77f72b3-53d7-4cb7-8425-5a8f29447216" providerId="ADAL" clId="{A5CB6BCE-CFF7-469F-AABE-282CE60C0D3F}" dt="2023-04-06T13:04:36.292" v="10" actId="47"/>
        <pc:sldMkLst>
          <pc:docMk/>
          <pc:sldMk cId="1994260570" sldId="342"/>
        </pc:sldMkLst>
      </pc:sldChg>
      <pc:sldChg chg="del">
        <pc:chgData name="Ufuk Unal" userId="d77f72b3-53d7-4cb7-8425-5a8f29447216" providerId="ADAL" clId="{A5CB6BCE-CFF7-469F-AABE-282CE60C0D3F}" dt="2023-04-06T13:04:36.292" v="10" actId="47"/>
        <pc:sldMkLst>
          <pc:docMk/>
          <pc:sldMk cId="2416504450" sldId="343"/>
        </pc:sldMkLst>
      </pc:sldChg>
      <pc:sldChg chg="del">
        <pc:chgData name="Ufuk Unal" userId="d77f72b3-53d7-4cb7-8425-5a8f29447216" providerId="ADAL" clId="{A5CB6BCE-CFF7-469F-AABE-282CE60C0D3F}" dt="2023-04-06T13:04:36.292" v="10" actId="47"/>
        <pc:sldMkLst>
          <pc:docMk/>
          <pc:sldMk cId="2684641891" sldId="344"/>
        </pc:sldMkLst>
      </pc:sldChg>
      <pc:sldChg chg="del">
        <pc:chgData name="Ufuk Unal" userId="d77f72b3-53d7-4cb7-8425-5a8f29447216" providerId="ADAL" clId="{A5CB6BCE-CFF7-469F-AABE-282CE60C0D3F}" dt="2023-04-06T13:04:36.292" v="10" actId="47"/>
        <pc:sldMkLst>
          <pc:docMk/>
          <pc:sldMk cId="1396881717" sldId="345"/>
        </pc:sldMkLst>
      </pc:sldChg>
      <pc:sldChg chg="del">
        <pc:chgData name="Ufuk Unal" userId="d77f72b3-53d7-4cb7-8425-5a8f29447216" providerId="ADAL" clId="{A5CB6BCE-CFF7-469F-AABE-282CE60C0D3F}" dt="2023-04-06T13:04:36.292" v="10" actId="47"/>
        <pc:sldMkLst>
          <pc:docMk/>
          <pc:sldMk cId="4104435945" sldId="346"/>
        </pc:sldMkLst>
      </pc:sldChg>
      <pc:sldChg chg="del">
        <pc:chgData name="Ufuk Unal" userId="d77f72b3-53d7-4cb7-8425-5a8f29447216" providerId="ADAL" clId="{A5CB6BCE-CFF7-469F-AABE-282CE60C0D3F}" dt="2023-04-06T13:04:36.292" v="10" actId="47"/>
        <pc:sldMkLst>
          <pc:docMk/>
          <pc:sldMk cId="2470924352" sldId="347"/>
        </pc:sldMkLst>
      </pc:sldChg>
      <pc:sldChg chg="del">
        <pc:chgData name="Ufuk Unal" userId="d77f72b3-53d7-4cb7-8425-5a8f29447216" providerId="ADAL" clId="{A5CB6BCE-CFF7-469F-AABE-282CE60C0D3F}" dt="2023-04-06T13:04:36.292" v="10" actId="47"/>
        <pc:sldMkLst>
          <pc:docMk/>
          <pc:sldMk cId="838802227" sldId="349"/>
        </pc:sldMkLst>
      </pc:sldChg>
      <pc:sldChg chg="del">
        <pc:chgData name="Ufuk Unal" userId="d77f72b3-53d7-4cb7-8425-5a8f29447216" providerId="ADAL" clId="{A5CB6BCE-CFF7-469F-AABE-282CE60C0D3F}" dt="2023-04-06T13:04:36.292" v="10" actId="47"/>
        <pc:sldMkLst>
          <pc:docMk/>
          <pc:sldMk cId="1108545243" sldId="350"/>
        </pc:sldMkLst>
      </pc:sldChg>
      <pc:sldChg chg="del">
        <pc:chgData name="Ufuk Unal" userId="d77f72b3-53d7-4cb7-8425-5a8f29447216" providerId="ADAL" clId="{A5CB6BCE-CFF7-469F-AABE-282CE60C0D3F}" dt="2023-04-06T13:04:36.292" v="10" actId="47"/>
        <pc:sldMkLst>
          <pc:docMk/>
          <pc:sldMk cId="1001165308" sldId="351"/>
        </pc:sldMkLst>
      </pc:sldChg>
      <pc:sldChg chg="del">
        <pc:chgData name="Ufuk Unal" userId="d77f72b3-53d7-4cb7-8425-5a8f29447216" providerId="ADAL" clId="{A5CB6BCE-CFF7-469F-AABE-282CE60C0D3F}" dt="2023-04-06T13:04:36.292" v="10" actId="47"/>
        <pc:sldMkLst>
          <pc:docMk/>
          <pc:sldMk cId="3243177277" sldId="352"/>
        </pc:sldMkLst>
      </pc:sldChg>
      <pc:sldChg chg="del">
        <pc:chgData name="Ufuk Unal" userId="d77f72b3-53d7-4cb7-8425-5a8f29447216" providerId="ADAL" clId="{A5CB6BCE-CFF7-469F-AABE-282CE60C0D3F}" dt="2023-04-06T13:04:36.292" v="10" actId="47"/>
        <pc:sldMkLst>
          <pc:docMk/>
          <pc:sldMk cId="2021682167" sldId="353"/>
        </pc:sldMkLst>
      </pc:sldChg>
      <pc:sldChg chg="del">
        <pc:chgData name="Ufuk Unal" userId="d77f72b3-53d7-4cb7-8425-5a8f29447216" providerId="ADAL" clId="{A5CB6BCE-CFF7-469F-AABE-282CE60C0D3F}" dt="2023-04-06T13:04:36.292" v="10" actId="47"/>
        <pc:sldMkLst>
          <pc:docMk/>
          <pc:sldMk cId="423197906" sldId="354"/>
        </pc:sldMkLst>
      </pc:sldChg>
      <pc:sldChg chg="del">
        <pc:chgData name="Ufuk Unal" userId="d77f72b3-53d7-4cb7-8425-5a8f29447216" providerId="ADAL" clId="{A5CB6BCE-CFF7-469F-AABE-282CE60C0D3F}" dt="2023-04-06T13:04:36.292" v="10" actId="47"/>
        <pc:sldMkLst>
          <pc:docMk/>
          <pc:sldMk cId="4233599654" sldId="355"/>
        </pc:sldMkLst>
      </pc:sldChg>
      <pc:sldChg chg="del">
        <pc:chgData name="Ufuk Unal" userId="d77f72b3-53d7-4cb7-8425-5a8f29447216" providerId="ADAL" clId="{A5CB6BCE-CFF7-469F-AABE-282CE60C0D3F}" dt="2023-04-06T13:04:36.292" v="10" actId="47"/>
        <pc:sldMkLst>
          <pc:docMk/>
          <pc:sldMk cId="3798046907" sldId="357"/>
        </pc:sldMkLst>
      </pc:sldChg>
      <pc:sldChg chg="del">
        <pc:chgData name="Ufuk Unal" userId="d77f72b3-53d7-4cb7-8425-5a8f29447216" providerId="ADAL" clId="{A5CB6BCE-CFF7-469F-AABE-282CE60C0D3F}" dt="2023-04-06T13:04:36.292" v="10" actId="47"/>
        <pc:sldMkLst>
          <pc:docMk/>
          <pc:sldMk cId="2763019059" sldId="358"/>
        </pc:sldMkLst>
      </pc:sldChg>
      <pc:sldChg chg="del">
        <pc:chgData name="Ufuk Unal" userId="d77f72b3-53d7-4cb7-8425-5a8f29447216" providerId="ADAL" clId="{A5CB6BCE-CFF7-469F-AABE-282CE60C0D3F}" dt="2023-04-06T13:04:36.292" v="10" actId="47"/>
        <pc:sldMkLst>
          <pc:docMk/>
          <pc:sldMk cId="1502931874" sldId="359"/>
        </pc:sldMkLst>
      </pc:sldChg>
      <pc:sldChg chg="del">
        <pc:chgData name="Ufuk Unal" userId="d77f72b3-53d7-4cb7-8425-5a8f29447216" providerId="ADAL" clId="{A5CB6BCE-CFF7-469F-AABE-282CE60C0D3F}" dt="2023-04-06T13:04:36.292" v="10" actId="47"/>
        <pc:sldMkLst>
          <pc:docMk/>
          <pc:sldMk cId="2784854281" sldId="360"/>
        </pc:sldMkLst>
      </pc:sldChg>
      <pc:sldChg chg="del">
        <pc:chgData name="Ufuk Unal" userId="d77f72b3-53d7-4cb7-8425-5a8f29447216" providerId="ADAL" clId="{A5CB6BCE-CFF7-469F-AABE-282CE60C0D3F}" dt="2023-04-06T13:04:36.292" v="10" actId="47"/>
        <pc:sldMkLst>
          <pc:docMk/>
          <pc:sldMk cId="81848509" sldId="361"/>
        </pc:sldMkLst>
      </pc:sldChg>
      <pc:sldChg chg="del">
        <pc:chgData name="Ufuk Unal" userId="d77f72b3-53d7-4cb7-8425-5a8f29447216" providerId="ADAL" clId="{A5CB6BCE-CFF7-469F-AABE-282CE60C0D3F}" dt="2023-04-06T13:04:36.292" v="10" actId="47"/>
        <pc:sldMkLst>
          <pc:docMk/>
          <pc:sldMk cId="2726252616" sldId="362"/>
        </pc:sldMkLst>
      </pc:sldChg>
      <pc:sldChg chg="del">
        <pc:chgData name="Ufuk Unal" userId="d77f72b3-53d7-4cb7-8425-5a8f29447216" providerId="ADAL" clId="{A5CB6BCE-CFF7-469F-AABE-282CE60C0D3F}" dt="2023-04-06T13:04:36.292" v="10" actId="47"/>
        <pc:sldMkLst>
          <pc:docMk/>
          <pc:sldMk cId="114654693" sldId="363"/>
        </pc:sldMkLst>
      </pc:sldChg>
      <pc:sldChg chg="del">
        <pc:chgData name="Ufuk Unal" userId="d77f72b3-53d7-4cb7-8425-5a8f29447216" providerId="ADAL" clId="{A5CB6BCE-CFF7-469F-AABE-282CE60C0D3F}" dt="2023-04-06T13:04:36.292" v="10" actId="47"/>
        <pc:sldMkLst>
          <pc:docMk/>
          <pc:sldMk cId="68671429" sldId="364"/>
        </pc:sldMkLst>
      </pc:sldChg>
      <pc:sldChg chg="del">
        <pc:chgData name="Ufuk Unal" userId="d77f72b3-53d7-4cb7-8425-5a8f29447216" providerId="ADAL" clId="{A5CB6BCE-CFF7-469F-AABE-282CE60C0D3F}" dt="2023-04-06T13:04:36.292" v="10" actId="47"/>
        <pc:sldMkLst>
          <pc:docMk/>
          <pc:sldMk cId="3814972833" sldId="365"/>
        </pc:sldMkLst>
      </pc:sldChg>
      <pc:sldChg chg="del">
        <pc:chgData name="Ufuk Unal" userId="d77f72b3-53d7-4cb7-8425-5a8f29447216" providerId="ADAL" clId="{A5CB6BCE-CFF7-469F-AABE-282CE60C0D3F}" dt="2023-04-06T13:04:36.292" v="10" actId="47"/>
        <pc:sldMkLst>
          <pc:docMk/>
          <pc:sldMk cId="1766050880" sldId="366"/>
        </pc:sldMkLst>
      </pc:sldChg>
      <pc:sldChg chg="del">
        <pc:chgData name="Ufuk Unal" userId="d77f72b3-53d7-4cb7-8425-5a8f29447216" providerId="ADAL" clId="{A5CB6BCE-CFF7-469F-AABE-282CE60C0D3F}" dt="2023-04-06T13:04:36.292" v="10" actId="47"/>
        <pc:sldMkLst>
          <pc:docMk/>
          <pc:sldMk cId="2830932289" sldId="367"/>
        </pc:sldMkLst>
      </pc:sldChg>
      <pc:sldChg chg="del">
        <pc:chgData name="Ufuk Unal" userId="d77f72b3-53d7-4cb7-8425-5a8f29447216" providerId="ADAL" clId="{A5CB6BCE-CFF7-469F-AABE-282CE60C0D3F}" dt="2023-04-06T13:04:36.292" v="10" actId="47"/>
        <pc:sldMkLst>
          <pc:docMk/>
          <pc:sldMk cId="3461289532" sldId="368"/>
        </pc:sldMkLst>
      </pc:sldChg>
      <pc:sldChg chg="del">
        <pc:chgData name="Ufuk Unal" userId="d77f72b3-53d7-4cb7-8425-5a8f29447216" providerId="ADAL" clId="{A5CB6BCE-CFF7-469F-AABE-282CE60C0D3F}" dt="2023-04-06T13:04:36.292" v="10" actId="47"/>
        <pc:sldMkLst>
          <pc:docMk/>
          <pc:sldMk cId="1006181768" sldId="369"/>
        </pc:sldMkLst>
      </pc:sldChg>
      <pc:sldChg chg="del">
        <pc:chgData name="Ufuk Unal" userId="d77f72b3-53d7-4cb7-8425-5a8f29447216" providerId="ADAL" clId="{A5CB6BCE-CFF7-469F-AABE-282CE60C0D3F}" dt="2023-04-06T13:04:36.292" v="10" actId="47"/>
        <pc:sldMkLst>
          <pc:docMk/>
          <pc:sldMk cId="1944942873" sldId="370"/>
        </pc:sldMkLst>
      </pc:sldChg>
      <pc:sldChg chg="del">
        <pc:chgData name="Ufuk Unal" userId="d77f72b3-53d7-4cb7-8425-5a8f29447216" providerId="ADAL" clId="{A5CB6BCE-CFF7-469F-AABE-282CE60C0D3F}" dt="2023-04-06T13:04:36.292" v="10" actId="47"/>
        <pc:sldMkLst>
          <pc:docMk/>
          <pc:sldMk cId="2853401936" sldId="371"/>
        </pc:sldMkLst>
      </pc:sldChg>
      <pc:sldChg chg="del">
        <pc:chgData name="Ufuk Unal" userId="d77f72b3-53d7-4cb7-8425-5a8f29447216" providerId="ADAL" clId="{A5CB6BCE-CFF7-469F-AABE-282CE60C0D3F}" dt="2023-04-06T13:04:36.292" v="10" actId="47"/>
        <pc:sldMkLst>
          <pc:docMk/>
          <pc:sldMk cId="2263266425" sldId="372"/>
        </pc:sldMkLst>
      </pc:sldChg>
      <pc:sldChg chg="add del">
        <pc:chgData name="Ufuk Unal" userId="d77f72b3-53d7-4cb7-8425-5a8f29447216" providerId="ADAL" clId="{A5CB6BCE-CFF7-469F-AABE-282CE60C0D3F}" dt="2023-04-06T13:04:06.500" v="9" actId="47"/>
        <pc:sldMkLst>
          <pc:docMk/>
          <pc:sldMk cId="1086794968" sldId="37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A36FCBC5-022F-4F31-A153-EFFC809EC573}" type="datetimeFigureOut">
              <a:rPr lang="de-DE"/>
              <a:pPr>
                <a:defRPr/>
              </a:pPr>
              <a:t>07.04.2023</a:t>
            </a:fld>
            <a:endParaRPr lang="de-DE"/>
          </a:p>
        </p:txBody>
      </p:sp>
      <p:sp>
        <p:nvSpPr>
          <p:cNvPr id="4" name="Footer Placeholder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4222AC1C-78EB-4159-9788-A81CB6D78FF5}" type="slidenum">
              <a:rPr lang="de-DE"/>
              <a:pPr>
                <a:defRPr/>
              </a:pPr>
              <a:t>‹#›</a:t>
            </a:fld>
            <a:endParaRPr lang="de-DE"/>
          </a:p>
        </p:txBody>
      </p:sp>
    </p:spTree>
    <p:extLst>
      <p:ext uri="{BB962C8B-B14F-4D97-AF65-F5344CB8AC3E}">
        <p14:creationId xmlns:p14="http://schemas.microsoft.com/office/powerpoint/2010/main" val="2367723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921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de-DE"/>
          </a:p>
        </p:txBody>
      </p:sp>
      <p:sp>
        <p:nvSpPr>
          <p:cNvPr id="112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22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922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F974181A-B52E-4AEA-801A-5F0AC153D341}" type="slidenum">
              <a:rPr lang="en-US"/>
              <a:pPr>
                <a:defRPr/>
              </a:pPr>
              <a:t>‹#›</a:t>
            </a:fld>
            <a:endParaRPr lang="en-US"/>
          </a:p>
        </p:txBody>
      </p:sp>
    </p:spTree>
    <p:extLst>
      <p:ext uri="{BB962C8B-B14F-4D97-AF65-F5344CB8AC3E}">
        <p14:creationId xmlns:p14="http://schemas.microsoft.com/office/powerpoint/2010/main" val="188471955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a:t>
            </a:fld>
            <a:endParaRPr lang="en-US"/>
          </a:p>
        </p:txBody>
      </p:sp>
    </p:spTree>
    <p:extLst>
      <p:ext uri="{BB962C8B-B14F-4D97-AF65-F5344CB8AC3E}">
        <p14:creationId xmlns:p14="http://schemas.microsoft.com/office/powerpoint/2010/main" val="2421482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Principes de base</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Informations générales</a:t>
            </a:r>
            <a:endParaRPr lang="es-ES" sz="1200" b="1"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systèmes d'alarme intrusion sont des installations techniques qui sont utilisées pour protéger les biens et les personnes. Les systèmes d'alarme intrusion assurent entre autres les fonctions suivantes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empêcher cambriolages et vols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alerter certaines personnes pour qu'elles fournissent de l'aide (police, gardien de sécurité)</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système d'alarme intrusion réagit selon la façon dont il a été programmé, par ex. si quelqu'un franchit l'enceinte extérieure du bâtiment ou pénètre dans des locaux protégés.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type d'alarme le plus connu est l'alarme acoustique, qui dans la plupart des cas est combinée à une alarme optique. Le système d'alarme intrusion active également l'émission d'une alarme en passant par le réseau téléphonique public, par ex. pour prévenir la police ou une société de sécurité. L'émission d'alarmes à l'aide de dispositifs de signalisation visuelle/acoustique a le plus grand effet dissuasif puisque ceux-ci attirent l'attention du voisinage sur la propriété dans laquelle l'alarme s'est déclenchée. Il convient de faire particulièrement attention lors de la planification et de la mise en service du système d'alarme intrusion ainsi que lors de l'information du personnel d'exploitation afin d'éviter les fausses alarmes.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L'expérience montre que les personnes habitant dans les environs ne réagissent plus aux systèmes d'alarme intrusion une fois qu'elles ont connu quelques fausses alarmes, et ne feront plus attention à une alarme déclenchée cette fois pour de bonnes raisons. Dans un tel cas, même le meilleur système d'alarme devient inutile. Il n'est pas possible d'énoncer quel est le meilleur type d'alarme en règle générale, car il convient d'adapter la conception et le périmètre fonctionnel de chaque système d'alarme intrusion en fonction de la propriété et de la localisation.</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systèmes d'alarme panique permettent à l'utilisateur de déclencher une alarme manuellement. Comme pour les systèmes d'alarme intrusion, une alarme déclenchée peut être optique, acoustique et/ou silencieuse. L'alarme peut par ex. être déclenchée au moyen d'un bouton-poussoir visible ou d'un commutateur invisible. Par exemple, une banque déclenche l'alarme à l'aide d'un dispositif caché, lequel transmet ensuite un signal silencieux à la police en passant par le réseau téléphonique public. À l'heure actuelle, les fonctions d'un système d'alarme panique peuvent être intégrées à la plupart des systèmes d'alarme intrusion.</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Des systèmes d'alerte de détresse sont également disponibles. Le terme "système d'alarme" est employé collectivement pour désigner :</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les systèmes d'alarme anti-incendie,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les systèmes d'alarme intrusion</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et les systèmes d'alarme panique.</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système d'alerte de détresse offre un niveau de protection supplémentaire contre :</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les fuites d'eau, les ruptures de canalisation</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et les fuites de gaz.</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a:t>
            </a:fld>
            <a:endParaRPr lang="en-US"/>
          </a:p>
        </p:txBody>
      </p:sp>
    </p:spTree>
    <p:extLst>
      <p:ext uri="{BB962C8B-B14F-4D97-AF65-F5344CB8AC3E}">
        <p14:creationId xmlns:p14="http://schemas.microsoft.com/office/powerpoint/2010/main" val="3483641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Principes de base</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Informations générales</a:t>
            </a:r>
            <a:endParaRPr lang="es-ES" sz="1200" b="1"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En principe, une distinction est faire entre les systèmes d'alarme intrusion disposant d'une certification VdS et ceux qui n'en disposent pas.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norme VdS 2311, que la fédération VdS produit concernant la planification et l'installation des systèmes d'alarme intrusion, répartit ces derniers en trois catégories A, B et C, avec la classe A qui correspond au risque de sécurité le plus faible et la classe C au risque le plus élevé.</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Classe A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Protection faible contre les tentatives de sabotage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Les détecteurs ont un niveau de réponse moyen</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Seulement adapté à la surveillance des risques non commerciaux</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Classe B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Protection moyenne contre les tentatives de sabotage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Les détecteurs ont un niveau de réponse moyen</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Surveillance du système pour le sabotage et fiabilité fonctionnelle</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Classe C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Protection renforcée contre les tentatives de sabotage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Les détecteurs ont un niveau de réponse plus élevé</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Surveillance du système pour le sabotage et fiabilité fonctionnelle</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Pour les systèmes d'alarme intrusion sans certification VdS, il existe une subdivision entre les systèmes qui sont installés en utilisant des composants certifiés VdS et les systèmes utilisant des composants non certifiés.</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r>
              <a:rPr lang="en-GB" sz="1200" kern="1200">
                <a:solidFill>
                  <a:schemeClr val="tx1"/>
                </a:solidFill>
                <a:effectLst/>
                <a:latin typeface="Arial" charset="0"/>
                <a:ea typeface="+mn-ea"/>
                <a:cs typeface="+mn-cs"/>
              </a:rPr>
              <a:t>Lors de l'installation d'un système d'alarme intrusion, il convient de s'assurer que tous les composants utilisés disposent d'une certification VdS (indiquée au moyen d'un code numérique). Dans ce contexte, la certification VdS doit être considérée comme un certificat de contrôle technique, un marquage CE ou une mention équivalente.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Association des assureurs : Les systèmes d'alarme avec agrément VdS sont reconnus par les compagnies d'assurance allemandes.</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a:t>
            </a:fld>
            <a:endParaRPr lang="en-US"/>
          </a:p>
        </p:txBody>
      </p:sp>
    </p:spTree>
    <p:extLst>
      <p:ext uri="{BB962C8B-B14F-4D97-AF65-F5344CB8AC3E}">
        <p14:creationId xmlns:p14="http://schemas.microsoft.com/office/powerpoint/2010/main" val="34803681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KNX et les technologies d'alarme intrusion</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US" sz="1200" b="1" kern="1200">
                <a:solidFill>
                  <a:schemeClr val="tx1"/>
                </a:solidFill>
                <a:effectLst/>
                <a:latin typeface="Arial" charset="0"/>
                <a:ea typeface="+mn-ea"/>
                <a:cs typeface="+mn-cs"/>
              </a:rPr>
              <a:t>Informations générales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KNX permet de mettre en œuvre des applications simples de sécurité et de surveillance. Il convient de tenir compte des besoins spécifiques de la propriété ou de l'installation concernée. Il n'est pas possible d'installer des systèmes d'alarme intrusion qui soient conformes à la norme VdS. Vous pouvez déterminer si un système VdS est nécessaire d'après les contraintes structurelles ou les normes d'assurance.</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Veuillez noter que seules des applications relativement "simples" peuvent être mises en œuvre. De plus, les systèmes qui ont été installés avec KNX ne peuvent pas être appelés des "systèmes d'alarme intrusion". Pour éviter toute confusion, des termes tels que "centre d'information" ou "système d'informations" sont utilisés.</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a:t>
            </a:fld>
            <a:endParaRPr lang="en-US"/>
          </a:p>
        </p:txBody>
      </p:sp>
    </p:spTree>
    <p:extLst>
      <p:ext uri="{BB962C8B-B14F-4D97-AF65-F5344CB8AC3E}">
        <p14:creationId xmlns:p14="http://schemas.microsoft.com/office/powerpoint/2010/main" val="386599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Structure d'un système d'alarme VdS</a:t>
            </a:r>
            <a:endParaRPr lang="es-ES" sz="1200" b="1"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L'exemple qui suit montre un système d'alarme équipé d'une passerelle KNX optionnelle, qui a été paramétrée conformément à la norme VdS.</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1 :</a:t>
            </a:r>
            <a:r>
              <a:rPr lang="en-GB" sz="1200" b="0" kern="1200">
                <a:solidFill>
                  <a:schemeClr val="tx1"/>
                </a:solidFill>
                <a:effectLst/>
                <a:latin typeface="Arial" charset="0"/>
                <a:ea typeface="+mn-ea"/>
                <a:cs typeface="+mn-cs"/>
              </a:rPr>
              <a:t> </a:t>
            </a:r>
            <a:r>
              <a:rPr lang="en-GB" sz="1200" b="1" kern="1200">
                <a:solidFill>
                  <a:schemeClr val="tx1"/>
                </a:solidFill>
                <a:effectLst/>
                <a:latin typeface="Arial" charset="0"/>
                <a:ea typeface="+mn-ea"/>
                <a:cs typeface="+mn-cs"/>
              </a:rPr>
              <a:t>Unité de contrôle d'alarme VdS avec passerelle KNX</a:t>
            </a:r>
            <a:endParaRPr lang="es-ES" sz="1200" b="1"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l'unité de contrôle d'alarme est équipée d'une passerelle KNX, il est possible d'afficher des informations et les différents états de l'unité de contrôle d'alarme sur un écran de visualisation. En outre, les informations peuvent continuer à être utilisées dans l'installation KNX, par ex. pour allumer l'éclairage de manière centralisée (fonction panique) ou pour que les contacts des fenêtres puissent influer sur le contrôle de la température et passent l'éclairage en mode de protection contre le gel. Seules les informations provenant de l'unité de contrôle d'alarme peuvent être prises en compte. Il n'est pas possible de déclencher des fonctions comme "activé" ou "désactivé". La communication est unidirectionnelle, ce qui signifie que la partie KNX ne peut pas influer sur la partie VdS. </a:t>
            </a:r>
            <a:endParaRPr lang="es-ES" sz="14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a:t>
            </a:fld>
            <a:endParaRPr lang="en-US"/>
          </a:p>
        </p:txBody>
      </p:sp>
    </p:spTree>
    <p:extLst>
      <p:ext uri="{BB962C8B-B14F-4D97-AF65-F5344CB8AC3E}">
        <p14:creationId xmlns:p14="http://schemas.microsoft.com/office/powerpoint/2010/main" val="14690133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L'unité de contrôle d'alarme KNX</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S'il n'existe aucune spécification VdS, les fonctions de sécurité peuvent être mises en œuvre avec des composants KNX.</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Il est possible de mener une évaluation centralisée de l'unité de contrôle d'alarme qui n'est pas certifiée VdS. Celle-ci communique directement avec KNX. Il est possible d'utiliser soit des capteurs KNX soit des capteurs VdS. Les capteurs VdS peuvent être reliés au réseau KNX, par ex. à l'aide d’interfaces à bouton-poussoir ou d'entrées binaires. Une unité de visualisation optionnelle peut être utilisée pour afficher des informations ou pour servir d'unité de signalisation.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composants peuvent être utilisés à plusieurs reprises pour assurer différentes fonctions. Le détecteur de mouvement peut par exemple allumer l'éclairage, armer le système ou encore déclencher des alarmes.</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2 :</a:t>
            </a:r>
            <a:r>
              <a:rPr lang="en-GB" sz="1200" b="0" kern="1200">
                <a:solidFill>
                  <a:schemeClr val="tx1"/>
                </a:solidFill>
                <a:effectLst/>
                <a:latin typeface="Arial" charset="0"/>
                <a:ea typeface="+mn-ea"/>
                <a:cs typeface="+mn-cs"/>
              </a:rPr>
              <a:t> </a:t>
            </a:r>
            <a:r>
              <a:rPr lang="en-GB" sz="1200" b="1" kern="1200">
                <a:solidFill>
                  <a:schemeClr val="tx1"/>
                </a:solidFill>
                <a:effectLst/>
                <a:latin typeface="Arial" charset="0"/>
                <a:ea typeface="+mn-ea"/>
                <a:cs typeface="+mn-cs"/>
              </a:rPr>
              <a:t>composants VdS en combinaison avec des composants KNX</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6</a:t>
            </a:fld>
            <a:endParaRPr lang="en-US"/>
          </a:p>
        </p:txBody>
      </p:sp>
    </p:spTree>
    <p:extLst>
      <p:ext uri="{BB962C8B-B14F-4D97-AF65-F5344CB8AC3E}">
        <p14:creationId xmlns:p14="http://schemas.microsoft.com/office/powerpoint/2010/main" val="2049449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r>
              <a:rPr lang="en-US" sz="1200" b="1" kern="1200">
                <a:solidFill>
                  <a:schemeClr val="tx1"/>
                </a:solidFill>
                <a:effectLst/>
                <a:latin typeface="Arial" charset="0"/>
                <a:ea typeface="+mn-ea"/>
                <a:cs typeface="+mn-cs"/>
              </a:rPr>
              <a:t>L'unité de contrôle d'alarme KNX certifiée VdS</a:t>
            </a:r>
          </a:p>
          <a:p>
            <a:pPr marL="0" lvl="0" indent="0">
              <a:buFont typeface="Arial" panose="020B0604020202020204" pitchFamily="34" charset="0"/>
              <a:buNone/>
            </a:pPr>
            <a:endParaRPr lang="en-US" sz="1200" kern="1200" dirty="0">
              <a:solidFill>
                <a:schemeClr val="tx1"/>
              </a:solidFill>
              <a:effectLst/>
              <a:latin typeface="Arial" charset="0"/>
              <a:ea typeface="+mn-ea"/>
              <a:cs typeface="+mn-cs"/>
            </a:endParaRPr>
          </a:p>
          <a:p>
            <a:pPr marL="0" lvl="0" indent="0">
              <a:buFont typeface="Arial" panose="020B0604020202020204" pitchFamily="34" charset="0"/>
              <a:buNone/>
            </a:pPr>
            <a:r>
              <a:rPr lang="en-US" sz="1200" kern="1200">
                <a:solidFill>
                  <a:schemeClr val="tx1"/>
                </a:solidFill>
                <a:effectLst/>
                <a:latin typeface="Arial" charset="0"/>
                <a:ea typeface="+mn-ea"/>
                <a:cs typeface="+mn-cs"/>
              </a:rPr>
              <a:t>Des unités de contrôle d'alarme KNX certifiées VdS sont disponibles sur le marché. Les systèmes correspondants disposent de canaux de communication sécurisés et conformes à la norme VdS, tels que des systèmes de bus de sécurité ou des entrées et des sorties pour les systèmes qui sont conformes à la norme VdS.</a:t>
            </a:r>
          </a:p>
          <a:p>
            <a:pPr marL="0" lvl="0" indent="0">
              <a:buFont typeface="Arial" panose="020B0604020202020204" pitchFamily="34" charset="0"/>
              <a:buNone/>
            </a:pPr>
            <a:r>
              <a:rPr lang="en-US" sz="1200" kern="1200">
                <a:solidFill>
                  <a:schemeClr val="tx1"/>
                </a:solidFill>
                <a:effectLst/>
                <a:latin typeface="Arial" charset="0"/>
                <a:ea typeface="+mn-ea"/>
                <a:cs typeface="+mn-cs"/>
              </a:rPr>
              <a:t>Les panneaux de contrôle des alarmes ou les systèmes de détection des dangers disposent également d'une interface KNX. Si ce panneau de contrôle d'alarme est intégré dans un réseau KNX, les fonctions de l'alarme peuvent être visualisées ou reliées à des fonctions de confort qui ne concernent pas la sécurité. Dans ce cas, l'interface KNX fonctionne de manière unidirectionnelle. </a:t>
            </a:r>
          </a:p>
          <a:p>
            <a:pPr marL="0" lvl="0" indent="0">
              <a:buFont typeface="Arial" panose="020B0604020202020204" pitchFamily="34" charset="0"/>
              <a:buNone/>
            </a:pPr>
            <a:endParaRPr lang="en-US" sz="1200" kern="1200" dirty="0">
              <a:solidFill>
                <a:schemeClr val="tx1"/>
              </a:solidFill>
              <a:effectLst/>
              <a:latin typeface="Arial" charset="0"/>
              <a:ea typeface="+mn-ea"/>
              <a:cs typeface="+mn-cs"/>
            </a:endParaRPr>
          </a:p>
          <a:p>
            <a:pPr marL="0" lvl="0" indent="0">
              <a:buFont typeface="Arial" panose="020B0604020202020204" pitchFamily="34" charset="0"/>
              <a:buNone/>
            </a:pPr>
            <a:r>
              <a:rPr lang="en-US" sz="1200" kern="1200">
                <a:solidFill>
                  <a:schemeClr val="tx1"/>
                </a:solidFill>
                <a:effectLst/>
                <a:latin typeface="Arial" charset="0"/>
                <a:ea typeface="+mn-ea"/>
                <a:cs typeface="+mn-cs"/>
              </a:rPr>
              <a:t>Ces dispositifs offrent les fonctionnalités suivantes : </a:t>
            </a:r>
          </a:p>
          <a:p>
            <a:pPr marL="171450" lvl="0" indent="-171450">
              <a:buFont typeface="Arial" panose="020B0604020202020204" pitchFamily="34" charset="0"/>
              <a:buChar char="•"/>
            </a:pPr>
            <a:r>
              <a:rPr lang="en-US" sz="1200" kern="1200">
                <a:solidFill>
                  <a:schemeClr val="tx1"/>
                </a:solidFill>
                <a:effectLst/>
                <a:latin typeface="Arial" charset="0"/>
                <a:ea typeface="+mn-ea"/>
                <a:cs typeface="+mn-cs"/>
              </a:rPr>
              <a:t> Configuration basique avec sûreté intégrée</a:t>
            </a:r>
          </a:p>
          <a:p>
            <a:pPr marL="171450" lvl="0" indent="-171450">
              <a:buFont typeface="Arial" panose="020B0604020202020204" pitchFamily="34" charset="0"/>
              <a:buChar char="•"/>
            </a:pPr>
            <a:r>
              <a:rPr lang="en-US" sz="1200" kern="1200">
                <a:solidFill>
                  <a:schemeClr val="tx1"/>
                </a:solidFill>
                <a:effectLst/>
                <a:latin typeface="Arial" charset="0"/>
                <a:ea typeface="+mn-ea"/>
                <a:cs typeface="+mn-cs"/>
              </a:rPr>
              <a:t> Alimentation électrique sans interruption (USP)</a:t>
            </a:r>
          </a:p>
          <a:p>
            <a:pPr marL="171450" lvl="0" indent="-171450">
              <a:buFont typeface="Arial" panose="020B0604020202020204" pitchFamily="34" charset="0"/>
              <a:buChar char="•"/>
            </a:pPr>
            <a:r>
              <a:rPr lang="en-US" sz="1200" kern="1200">
                <a:solidFill>
                  <a:schemeClr val="tx1"/>
                </a:solidFill>
                <a:effectLst/>
                <a:latin typeface="Arial" charset="0"/>
                <a:ea typeface="+mn-ea"/>
                <a:cs typeface="+mn-cs"/>
              </a:rPr>
              <a:t> Connexion pour les zones VdS</a:t>
            </a:r>
          </a:p>
          <a:p>
            <a:pPr marL="171450" lvl="0" indent="-171450">
              <a:buFont typeface="Arial" panose="020B0604020202020204" pitchFamily="34" charset="0"/>
              <a:buChar char="•"/>
            </a:pPr>
            <a:r>
              <a:rPr lang="en-US" sz="1200" kern="1200">
                <a:solidFill>
                  <a:schemeClr val="tx1"/>
                </a:solidFill>
                <a:effectLst/>
                <a:latin typeface="Arial" charset="0"/>
                <a:ea typeface="+mn-ea"/>
                <a:cs typeface="+mn-cs"/>
              </a:rPr>
              <a:t> Connexions pour les dispositifs de signalisation d'alarme (sirène / feu clignotant)</a:t>
            </a:r>
          </a:p>
          <a:p>
            <a:pPr marL="171450" lvl="0" indent="-171450">
              <a:buFont typeface="Arial" panose="020B0604020202020204" pitchFamily="34" charset="0"/>
              <a:buChar char="•"/>
            </a:pPr>
            <a:r>
              <a:rPr lang="en-US" sz="1200" kern="1200">
                <a:solidFill>
                  <a:schemeClr val="tx1"/>
                </a:solidFill>
                <a:effectLst/>
                <a:latin typeface="Arial" charset="0"/>
                <a:ea typeface="+mn-ea"/>
                <a:cs typeface="+mn-cs"/>
              </a:rPr>
              <a:t> Système de bus de sécurité pour étendre l'installation</a:t>
            </a:r>
          </a:p>
          <a:p>
            <a:pPr marL="171450" lvl="0" indent="-171450">
              <a:buFont typeface="Arial" panose="020B0604020202020204" pitchFamily="34" charset="0"/>
              <a:buChar char="•"/>
            </a:pPr>
            <a:r>
              <a:rPr lang="en-US" sz="1200" kern="1200">
                <a:solidFill>
                  <a:schemeClr val="tx1"/>
                </a:solidFill>
                <a:effectLst/>
                <a:latin typeface="Arial" charset="0"/>
                <a:ea typeface="+mn-ea"/>
                <a:cs typeface="+mn-cs"/>
              </a:rPr>
              <a:t> Surveillance du bus KNX (tension et communication)</a:t>
            </a:r>
          </a:p>
          <a:p>
            <a:pPr marL="171450" lvl="0" indent="-171450">
              <a:buFont typeface="Arial" panose="020B0604020202020204" pitchFamily="34" charset="0"/>
              <a:buChar char="•"/>
            </a:pPr>
            <a:r>
              <a:rPr lang="en-US" sz="1200" kern="1200">
                <a:solidFill>
                  <a:schemeClr val="tx1"/>
                </a:solidFill>
                <a:effectLst/>
                <a:latin typeface="Arial" charset="0"/>
                <a:ea typeface="+mn-ea"/>
                <a:cs typeface="+mn-cs"/>
              </a:rPr>
              <a:t> Communication IP cryptée de manière sécurisée</a:t>
            </a:r>
          </a:p>
          <a:p>
            <a:pPr marL="171450" lvl="0" indent="-171450">
              <a:buFont typeface="Arial" panose="020B0604020202020204" pitchFamily="34" charset="0"/>
              <a:buChar char="•"/>
            </a:pPr>
            <a:r>
              <a:rPr lang="en-US" sz="1200" kern="1200">
                <a:solidFill>
                  <a:schemeClr val="tx1"/>
                </a:solidFill>
                <a:effectLst/>
                <a:latin typeface="Arial" charset="0"/>
                <a:ea typeface="+mn-ea"/>
                <a:cs typeface="+mn-cs"/>
              </a:rPr>
              <a:t> Terminal de système d'exploitation (externe ou intégré)</a:t>
            </a:r>
          </a:p>
          <a:p>
            <a:pPr marL="171450" lvl="0" indent="-171450">
              <a:buFont typeface="Arial" panose="020B0604020202020204" pitchFamily="34" charset="0"/>
              <a:buChar char="•"/>
            </a:pPr>
            <a:r>
              <a:rPr lang="en-US" sz="1200" kern="1200">
                <a:solidFill>
                  <a:schemeClr val="tx1"/>
                </a:solidFill>
                <a:effectLst/>
                <a:latin typeface="Arial" charset="0"/>
                <a:ea typeface="+mn-ea"/>
                <a:cs typeface="+mn-cs"/>
              </a:rPr>
              <a:t> La surveillance anti-effraction</a:t>
            </a:r>
          </a:p>
          <a:p>
            <a:pPr marL="171450" lvl="0" indent="-171450">
              <a:buFont typeface="Arial" panose="020B0604020202020204" pitchFamily="34" charset="0"/>
              <a:buChar char="•"/>
            </a:pPr>
            <a:r>
              <a:rPr lang="en-US" sz="1200" kern="1200">
                <a:solidFill>
                  <a:schemeClr val="tx1"/>
                </a:solidFill>
                <a:effectLst/>
                <a:latin typeface="Arial" charset="0"/>
                <a:ea typeface="+mn-ea"/>
                <a:cs typeface="+mn-cs"/>
              </a:rPr>
              <a:t> Et de nombreuses autres...</a:t>
            </a:r>
          </a:p>
          <a:p>
            <a:pPr marL="0" lvl="0" indent="0">
              <a:buFont typeface="Arial" panose="020B0604020202020204" pitchFamily="34" charset="0"/>
              <a:buNone/>
            </a:pPr>
            <a:endParaRPr lang="en-US" sz="1200" kern="1200" dirty="0">
              <a:solidFill>
                <a:schemeClr val="tx1"/>
              </a:solidFill>
              <a:effectLst/>
              <a:latin typeface="Arial" charset="0"/>
              <a:ea typeface="+mn-ea"/>
              <a:cs typeface="+mn-cs"/>
            </a:endParaRPr>
          </a:p>
          <a:p>
            <a:pPr marL="0" lvl="0" indent="0">
              <a:buFont typeface="Arial" panose="020B0604020202020204" pitchFamily="34" charset="0"/>
              <a:buNone/>
            </a:pPr>
            <a:r>
              <a:rPr lang="en-US" sz="1200" kern="1200">
                <a:solidFill>
                  <a:schemeClr val="tx1"/>
                </a:solidFill>
                <a:effectLst/>
                <a:latin typeface="Arial" charset="0"/>
                <a:ea typeface="+mn-ea"/>
                <a:cs typeface="+mn-cs"/>
              </a:rPr>
              <a:t>Si vous jetez un œil à l'étendue des objets de groupe disponibles, vous vous rendrez rapidement compte que d'autres fonctions de sécurité peuvent également être configurées.</a:t>
            </a: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Tableau 1 : Exemple d'objets de groupe d'un panneau de contrôle de détection des dangers KNX</a:t>
            </a:r>
            <a:endParaRPr lang="es-ES" sz="1200" kern="1200" dirty="0">
              <a:solidFill>
                <a:schemeClr val="tx1"/>
              </a:solidFill>
              <a:effectLst/>
              <a:latin typeface="Arial" charset="0"/>
              <a:ea typeface="+mn-ea"/>
              <a:cs typeface="+mn-cs"/>
            </a:endParaRPr>
          </a:p>
          <a:p>
            <a:r>
              <a:rPr lang="en-US" sz="1200" b="1"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US" sz="1200" b="1"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la configuration de ce type de système prévoit que la communication des fonctions de sécurité est bidirectionnelle via KNX, le système dans son entier n'est pas conforme à la norme VdS. Des exemples d'applications non compatibles avec le VdS sont: réglage/désactivation avec des capteurs KNX, ouverture et fermeture (désactivation/armement des zones) des portes de garage surveillées ou de la surveillance intérieure avec des zones KNX.</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3 : câblage typique d'une unité de contrôle d'alarme KNX</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7</a:t>
            </a:fld>
            <a:endParaRPr lang="en-US"/>
          </a:p>
        </p:txBody>
      </p:sp>
    </p:spTree>
    <p:extLst>
      <p:ext uri="{BB962C8B-B14F-4D97-AF65-F5344CB8AC3E}">
        <p14:creationId xmlns:p14="http://schemas.microsoft.com/office/powerpoint/2010/main" val="11031581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Les fonctions de surveillance avec KNX</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Une autre possibilité est de paramétrer des applications de sécurité et de surveillance uniquement avec des composants KNX. Vous pouvez également utiliser des composants VdS comme capteurs ou dispositifs de signalisation reliés à l'installation KNX par des interfaces à bouton-poussoir, ou encore des entrées ou des sorties binaires. Il est également possible d'utiliser des composants KNX "standards" pour remplir de nombreuses fonctions. Par exemple, le détecteur de mouvement peut allumer l'éclairage de la pièce sur la base de la détection du mouvement en lien avec un interrupteur horaire logique dans des modules séparés ou dans une visualisation, par ex. pendant les horaires habituels de travail. En dehors des horaires de travail, l'intégralité de l'éclairage extérieur et des couloirs s'allume lorsqu'un mouvement est détecté. Cela dissuade les intrus et attire l'attention des voisins. Ces options peuvent être étendues selon les besoins en fonction des composants KNX disponibles, par exemple pour activer une sirène dans le même temps.</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4 : Structure avec KNX </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8</a:t>
            </a:fld>
            <a:endParaRPr lang="en-US"/>
          </a:p>
        </p:txBody>
      </p:sp>
    </p:spTree>
    <p:extLst>
      <p:ext uri="{BB962C8B-B14F-4D97-AF65-F5344CB8AC3E}">
        <p14:creationId xmlns:p14="http://schemas.microsoft.com/office/powerpoint/2010/main" val="41890639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a:solidFill>
                  <a:schemeClr val="tx1"/>
                </a:solidFill>
                <a:effectLst/>
                <a:latin typeface="Arial" charset="0"/>
                <a:ea typeface="+mn-ea"/>
                <a:cs typeface="+mn-cs"/>
              </a:rPr>
              <a:t>Installation et topologie</a:t>
            </a:r>
            <a:endParaRPr lang="es-ES"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Installation</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KNX est utilisé pour des applications simples de sécurité et de surveillance, le principe de base est : le média doit être protégé ! L'installation basse tension doit être particulièrement robuste. Par ex., les installations montées en surface peuvent être menées avec des conduits en acier au lieu du plastique.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Pour les applications de sécurité, il faut éviter les conceptions avec des cheminements de câbles ouverts. </a:t>
            </a:r>
            <a:endParaRPr lang="es-ES" sz="1200"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Topologie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Lorsque de nouvelles installations sont paramétrées, ou que les fonctions d'installations existantes sont étendues, il est conseillé d'élaborer une topologie qui prévoit de placer les dispositifs pour les applications de sécurité et/ou de surveillance soit sur la ligne principale, soit dans des lignes/zones exclusives, selon le nombre de dispositifs. Cette topologie a pour avantage de maintenir la charge de bus faible. Des commandes telles que l'allumage et la variation de l'éclairage ou la régulation de l'installation par l'utilisateur peuvent envoyer des télégrammes de sécurité avec un certain retard. Cela pourrait provoquer soit des fausses alarmes soit des signaux de panne.</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a:solidFill>
                  <a:schemeClr val="tx1"/>
                </a:solidFill>
                <a:effectLst/>
                <a:latin typeface="Arial" charset="0"/>
                <a:ea typeface="+mn-ea"/>
                <a:cs typeface="+mn-cs"/>
              </a:rPr>
              <a:t>Illustration 5: Structure des lignes</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a:solidFill>
                  <a:schemeClr val="tx1"/>
                </a:solidFill>
                <a:effectLst/>
                <a:latin typeface="Arial" charset="0"/>
                <a:ea typeface="+mn-ea"/>
                <a:cs typeface="+mn-cs"/>
              </a:rPr>
              <a:t>Illustration 6 : Exemple de participants utilisés</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9</a:t>
            </a:fld>
            <a:endParaRPr lang="en-US"/>
          </a:p>
        </p:txBody>
      </p:sp>
    </p:spTree>
    <p:extLst>
      <p:ext uri="{BB962C8B-B14F-4D97-AF65-F5344CB8AC3E}">
        <p14:creationId xmlns:p14="http://schemas.microsoft.com/office/powerpoint/2010/main" val="25398813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a:solidFill>
                  <a:schemeClr val="tx1"/>
                </a:solidFill>
                <a:effectLst/>
                <a:latin typeface="Arial" charset="0"/>
                <a:ea typeface="+mn-ea"/>
                <a:cs typeface="+mn-cs"/>
              </a:rPr>
              <a:t>Conception du projet</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exemples suivants ne sont utilisés qu'à des fins de représentation et doivent être seulement considérés comme une aide à la planification.</a:t>
            </a:r>
            <a:endParaRPr lang="es-ES" sz="1200" kern="1200" dirty="0">
              <a:solidFill>
                <a:schemeClr val="tx1"/>
              </a:solidFill>
              <a:effectLst/>
              <a:latin typeface="Arial" charset="0"/>
              <a:ea typeface="+mn-ea"/>
              <a:cs typeface="+mn-cs"/>
            </a:endParaRPr>
          </a:p>
          <a:p>
            <a:pPr lvl="0"/>
            <a:endParaRPr lang="en-US" sz="1200" b="1" kern="1200" dirty="0">
              <a:solidFill>
                <a:schemeClr val="tx1"/>
              </a:solidFill>
              <a:effectLst/>
              <a:latin typeface="Arial" charset="0"/>
              <a:ea typeface="+mn-ea"/>
              <a:cs typeface="+mn-cs"/>
            </a:endParaRPr>
          </a:p>
          <a:p>
            <a:pPr lvl="0"/>
            <a:r>
              <a:rPr lang="en-US" sz="1200" b="1" kern="1200">
                <a:solidFill>
                  <a:schemeClr val="tx1"/>
                </a:solidFill>
                <a:effectLst/>
                <a:latin typeface="Arial" charset="0"/>
                <a:ea typeface="+mn-ea"/>
                <a:cs typeface="+mn-cs"/>
              </a:rPr>
              <a:t>Adresses des Groupes</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7 : Adresses du groupe sur 3 niveaux</a:t>
            </a:r>
            <a:endParaRPr lang="es-ES" sz="1200" b="1"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Il faut appliquer une logique simple et compréhensible pour paramétrer la structure des adresses de groupe. La structure des adresses de groupe qui est sélectionnée n'est pas définie. Dans l'exemple montré ici, le groupe principal 1 a été choisi car c'est ce qui avait été sélectionné pour le rez-de-chaussée. Les groupes du milieu 0-5 peuvent être utilisés par exemple pour les fonctions : Général, Éclairage, Ouvrant, Chauffage, Ventilation, etc. Il convient d'utiliser une description unique et claire de la fonction pour tous les formats de la structure des adresses de groupe.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Les paramètres</a:t>
            </a:r>
            <a:endParaRPr lang="es-ES" sz="1200" b="1"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8: Paramètres du coupler de ligne</a:t>
            </a:r>
            <a:endParaRPr lang="es-ES" sz="1200" b="1" kern="1200" dirty="0">
              <a:solidFill>
                <a:schemeClr val="tx1"/>
              </a:solidFill>
              <a:effectLst/>
              <a:latin typeface="Arial" charset="0"/>
              <a:ea typeface="+mn-ea"/>
              <a:cs typeface="+mn-cs"/>
            </a:endParaRPr>
          </a:p>
          <a:p>
            <a:r>
              <a:rPr lang="en-US" sz="1200" b="1" kern="1200">
                <a:solidFill>
                  <a:schemeClr val="tx1"/>
                </a:solidFill>
                <a:effectLst/>
                <a:latin typeface="Arial" charset="0"/>
                <a:ea typeface="+mn-ea"/>
                <a:cs typeface="+mn-cs"/>
              </a:rPr>
              <a:t> </a:t>
            </a:r>
            <a:endParaRPr lang="es-ES" sz="16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paramétrage pourrait être effectué pour une application de sécurité et/ou de surveillance, comme illustré à l'illustration 7. Il faut toujours utiliser le coupleur de ligne de façon à ce que les télégrammes reliés à la sécurité passent, mais que les télégrammes définis par un utilisateur tels que ceux liés à l'allumage, la variation, le contrôle des stores, etc. soient bloqués, afin de maintenir une charge de bus la plus faible possible dans la zone sécurisée. Il faut ici éviter la fonction "routage". </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9: Paramètres du coupler de ligne</a:t>
            </a:r>
            <a:endParaRPr lang="es-ES" sz="1200" b="1" kern="1200" dirty="0">
              <a:solidFill>
                <a:schemeClr val="tx1"/>
              </a:solidFill>
              <a:effectLst/>
              <a:latin typeface="Arial" charset="0"/>
              <a:ea typeface="+mn-ea"/>
              <a:cs typeface="+mn-cs"/>
            </a:endParaRPr>
          </a:p>
          <a:p>
            <a:r>
              <a:rPr lang="en-US" sz="1200" b="1" kern="1200">
                <a:solidFill>
                  <a:schemeClr val="tx1"/>
                </a:solidFill>
                <a:effectLst/>
                <a:latin typeface="Arial" charset="0"/>
                <a:ea typeface="+mn-ea"/>
                <a:cs typeface="+mn-cs"/>
              </a:rPr>
              <a:t> </a:t>
            </a:r>
            <a:endParaRPr lang="es-ES" sz="16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sirène de la zone extérieure a été paramétrée sur la durée maximale, et la réaction du contact en cas de coupure ou de rétablissement de la tension du bus a également été configurée.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Les indicateurs (flags)</a:t>
            </a:r>
            <a:endParaRPr lang="es-ES" sz="1200" b="1"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10 : Modification de la priorité</a:t>
            </a:r>
            <a:endParaRPr lang="es-ES" sz="1200" b="1"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Pour l'application de sécurité et/ou de surveillance, une autre possibilité est de configurer des indicateurs. La priorité "alarme" garantit que le télégramme est transmis avant les autres télégrammes de priorité inférieure, et que les mesures appropriées sont prises rapidement. Les priorités doivent être définies avec soin. Si la priorité "alarme" était choisie pour chaque objet, chaque télégramme serait traité de la même façon. Voir aussi le chapitre "Planification sans danger".</a:t>
            </a:r>
            <a:endParaRPr lang="es-ES" sz="1200" kern="1200" dirty="0">
              <a:solidFill>
                <a:schemeClr val="tx1"/>
              </a:solidFill>
              <a:effectLst/>
              <a:latin typeface="Arial" charset="0"/>
              <a:ea typeface="+mn-ea"/>
              <a:cs typeface="+mn-cs"/>
            </a:endParaRPr>
          </a:p>
          <a:p>
            <a:br>
              <a:rPr lang="en-US" sz="1200" kern="1200" dirty="0">
                <a:solidFill>
                  <a:schemeClr val="tx1"/>
                </a:solidFill>
                <a:effectLst/>
                <a:latin typeface="Arial" charset="0"/>
                <a:ea typeface="+mn-ea"/>
                <a:cs typeface="+mn-cs"/>
              </a:rPr>
            </a:br>
            <a:r>
              <a:rPr lang="en-US" sz="1600" b="1"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10</a:t>
            </a:fld>
            <a:endParaRPr lang="en-US"/>
          </a:p>
        </p:txBody>
      </p:sp>
    </p:spTree>
    <p:extLst>
      <p:ext uri="{BB962C8B-B14F-4D97-AF65-F5344CB8AC3E}">
        <p14:creationId xmlns:p14="http://schemas.microsoft.com/office/powerpoint/2010/main" val="39217005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11</a:t>
            </a:fld>
            <a:endParaRPr lang="en-US"/>
          </a:p>
        </p:txBody>
      </p:sp>
    </p:spTree>
    <p:extLst>
      <p:ext uri="{BB962C8B-B14F-4D97-AF65-F5344CB8AC3E}">
        <p14:creationId xmlns:p14="http://schemas.microsoft.com/office/powerpoint/2010/main" val="23139646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a:solidFill>
                  <a:schemeClr val="tx1"/>
                </a:solidFill>
                <a:effectLst/>
                <a:latin typeface="Arial" charset="0"/>
                <a:ea typeface="+mn-ea"/>
                <a:cs typeface="+mn-cs"/>
              </a:rPr>
              <a:t>Produits KNX</a:t>
            </a:r>
          </a:p>
          <a:p>
            <a:pPr lvl="0"/>
            <a:endParaRPr lang="en-US"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La source de courant</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Pour assurer les tâches d'un système de sécurité et/ou de surveillance, les fabricants de produits KNX offrent des sources de courant qui peuvent être couplées à un module de batterie. Si la tension secteur venait à se couper, le bus KNX serait alimenté en courant pendant une période limitée, qui dépend du nombre de produits en place.</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11 : Alimentation KNX avec alimentation sans interruption et contact de remplacement pour signalisation à distance</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12</a:t>
            </a:fld>
            <a:endParaRPr lang="en-US"/>
          </a:p>
        </p:txBody>
      </p:sp>
    </p:spTree>
    <p:extLst>
      <p:ext uri="{BB962C8B-B14F-4D97-AF65-F5344CB8AC3E}">
        <p14:creationId xmlns:p14="http://schemas.microsoft.com/office/powerpoint/2010/main" val="13902839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Les entrées binaires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Différentes applications peuvent être installées pour être utilisées comme un système de sécurité et/ou de surveillance. Il convient de se baser sur la documentation technique du fabricant pour choisir le domaine d'application de l'entrée binaire. Selon la version, les actionneurs de fenêtre disposent d'un canal de contrôle ou de plusieurs canaux pour actionner les moteurs des volets, ainsi que d'entrées binaires supplémentaires à combiner avec les contacts de fenêtre. La combinaison d'un volet qui détermine si la fenêtre est ouverte ou fermée offre la possibilité d'installer de nombreuses fonctions (contrôle du chauffage, applications de sécurité et/ou de surveillance, etc.).</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Exemple 1</a:t>
            </a:r>
            <a:r>
              <a:rPr lang="en-GB" sz="1200" kern="1200">
                <a:solidFill>
                  <a:schemeClr val="tx1"/>
                </a:solidFill>
                <a:effectLst/>
                <a:latin typeface="Arial" charset="0"/>
                <a:ea typeface="+mn-ea"/>
                <a:cs typeface="+mn-cs"/>
              </a:rPr>
              <a:t>: Les contacts de l'entrée binaire sont connectés à l'alimentation KNX. Il est possible de paramétrer l'envoi d'un signal au bus en cas de front d'impulsion descendant. En fonction des paramètres configurés, ce signal peut être un signal de panne pour informer l'utilisateur, ou il peut déclencher une alarme. Il est également possible d'utiliser un commutateur auxiliaire existant du disjoncteur de la source de courant, ou un autre système relié à la sécurité. Précisons que le contact d'un commutateur auxiliaire est un contact dit "normalement "fermé" (pour assurer sa protection contre les ruptures de fils).</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12 :</a:t>
            </a:r>
            <a:r>
              <a:rPr lang="en-GB" sz="1200" b="0" kern="1200">
                <a:solidFill>
                  <a:schemeClr val="tx1"/>
                </a:solidFill>
                <a:effectLst/>
                <a:latin typeface="Arial" charset="0"/>
                <a:ea typeface="+mn-ea"/>
                <a:cs typeface="+mn-cs"/>
              </a:rPr>
              <a:t> </a:t>
            </a:r>
            <a:r>
              <a:rPr lang="en-GB" sz="1200" b="1" kern="1200">
                <a:solidFill>
                  <a:schemeClr val="tx1"/>
                </a:solidFill>
                <a:effectLst/>
                <a:latin typeface="Arial" charset="0"/>
                <a:ea typeface="+mn-ea"/>
                <a:cs typeface="+mn-cs"/>
              </a:rPr>
              <a:t>Entrée binaire KNX connectée au signal de sortie de l'alimentation KNX</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13</a:t>
            </a:fld>
            <a:endParaRPr lang="en-US"/>
          </a:p>
        </p:txBody>
      </p:sp>
    </p:spTree>
    <p:extLst>
      <p:ext uri="{BB962C8B-B14F-4D97-AF65-F5344CB8AC3E}">
        <p14:creationId xmlns:p14="http://schemas.microsoft.com/office/powerpoint/2010/main" val="10883783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a:solidFill>
                  <a:schemeClr val="tx1"/>
                </a:solidFill>
                <a:effectLst/>
                <a:latin typeface="Arial" charset="0"/>
                <a:ea typeface="+mn-ea"/>
                <a:cs typeface="+mn-cs"/>
              </a:rPr>
              <a:t>Exemple 2</a:t>
            </a:r>
            <a:r>
              <a:rPr lang="en-GB" sz="1200" kern="1200">
                <a:solidFill>
                  <a:schemeClr val="tx1"/>
                </a:solidFill>
                <a:effectLst/>
                <a:latin typeface="Arial" charset="0"/>
                <a:ea typeface="+mn-ea"/>
                <a:cs typeface="+mn-cs"/>
              </a:rPr>
              <a:t>: L'entrée binaire est utilisée (par exemple, un rail DIN monté ou monté à flush) pour lier les composants VdS à l'installation KNX. Il est possible de donner une "capacité de bus" à des capteurs de rupture de verre, des interrupteurs à clé, des détecteurs de fumée, des contacts Reed, etc. Un contact Reed avec un contact anti-effraction est par exemple relié au canal A pour déclencher la surveillance des ouvertures et au canal B pour déclencher la surveillance anti-effraction.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Dans les paramètres, il a été défini qu'une alarme est envoyée lorsque le contact Reed est ouvert et le système est armé. S'il n'y a pas de conditions logiques, le front descendant au niveau du contact anti-effraction déclencherait une alarme immédiate. Il est possible d'utiliser différents composants munis de contacts sans potentiel de la même façon. En outre, les composants qui nécessitent une alimentation auxiliaire peuvent être reliés à la sortie non commutée existante de la source de courant, pour autant que leurs caractéristiques soient compatibles. </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13 : entrée binaire KNX en relation avec les composants approuvés par VdS</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14</a:t>
            </a:fld>
            <a:endParaRPr lang="en-US"/>
          </a:p>
        </p:txBody>
      </p:sp>
    </p:spTree>
    <p:extLst>
      <p:ext uri="{BB962C8B-B14F-4D97-AF65-F5344CB8AC3E}">
        <p14:creationId xmlns:p14="http://schemas.microsoft.com/office/powerpoint/2010/main" val="11528061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Les sorties binaires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poursuite continuelle du développement des produits KNX permet désormais de prévoir des fonctions telles que la détection de courant. Lorsque la sortie binaire est utilisée pour les applications de sécurité et/ou de surveillance, la détection de courant permet d'augmenter le niveau de sécurité. En configurant l'objet "statut, retour", il est également possible désormais de vérifier si la charge fonctionne bien.</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Exemple</a:t>
            </a:r>
            <a:r>
              <a:rPr lang="en-GB" sz="1200" kern="1200">
                <a:solidFill>
                  <a:schemeClr val="tx1"/>
                </a:solidFill>
                <a:effectLst/>
                <a:latin typeface="Arial" charset="0"/>
                <a:ea typeface="+mn-ea"/>
                <a:cs typeface="+mn-cs"/>
              </a:rPr>
              <a:t>: La sortie binaire est connectée au canal A avec une charge de sécurité approuvée par un Vds. Dans les paramètres, il a été défini que la charge fonctionne lorsque le contact est fermé. L'état de commutation théorique est enregistré par l'objet de retour. L'on peut définir un seuil à l'aide de la fonction optionnelle de détection de courant, que la charge dépasse lorsqu'elle est en fonctionnement. La liaison entre la détection de courant et le commutateur de la sortie peut déclencher un signal de panne ou une alarme en cas d'anomalie.</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14 : Sortie binaire KNX liée à des composants approuvés par VdS</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15</a:t>
            </a:fld>
            <a:endParaRPr lang="en-US"/>
          </a:p>
        </p:txBody>
      </p:sp>
    </p:spTree>
    <p:extLst>
      <p:ext uri="{BB962C8B-B14F-4D97-AF65-F5344CB8AC3E}">
        <p14:creationId xmlns:p14="http://schemas.microsoft.com/office/powerpoint/2010/main" val="24311932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Les capteurs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capteurs KNX sont une composante importante du système KNX. Les capteurs forment l'interface entre l'utilisateur ou la taille physique et le bus KNX. À l'aide de capteurs de commutation, l'utilisateur appelle des fonctions qui ont été configurées au préalable telles que l'activation/désactivation du système, l'allumage de l'éclairage, le déplacement des volets, la détection de mouvement / présence ou encore l'activation de la sirène. Ils permettent de convertir des variables physiques en valeurs électriques qui sont alors envoyées au bus sous forme de télégramme. </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capteurs de commutation servent d'interface opérateur. Voici quelques exemples : boutons-poussoirs simples, boutons-poussoirs de groupe, capteurs de commutation, thermostats d'ambiance et capteur multifonctions. </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15 : Capteurs </a:t>
            </a:r>
            <a:endParaRPr lang="es-ES" sz="1200" b="1"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Exemple 1</a:t>
            </a:r>
            <a:r>
              <a:rPr lang="en-GB" sz="1200" kern="1200">
                <a:solidFill>
                  <a:schemeClr val="tx1"/>
                </a:solidFill>
                <a:effectLst/>
                <a:latin typeface="Arial" charset="0"/>
                <a:ea typeface="+mn-ea"/>
                <a:cs typeface="+mn-cs"/>
              </a:rPr>
              <a:t> : Un simple bouton-poussoir dans la chambre est installé pour pouvoir être actionné depuis le lit en cas d'urgence. Dans les paramètres, il est défini que la touche déclenche une alarme si elle est pressée plus de 3 s, pour éviter un fonctionnement erroné. La réinitialisation est ensuite effectuée par ex. sur un capteur de commutation multifonctions, dont le fonctionnement est protégé par la saisie d'un code PIN.</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Exemple 2</a:t>
            </a:r>
            <a:r>
              <a:rPr lang="en-GB" sz="1200" kern="1200">
                <a:solidFill>
                  <a:schemeClr val="tx1"/>
                </a:solidFill>
                <a:effectLst/>
                <a:latin typeface="Arial" charset="0"/>
                <a:ea typeface="+mn-ea"/>
                <a:cs typeface="+mn-cs"/>
              </a:rPr>
              <a:t>: Un capteur multifonctionnel, la visualisation (panneau tactile) ou l'affichage graphique peut représenter les données d'une installation KNX sous une forme visuellement reconnaissable telles que l'état des fonctions de sécurité ou les zones surveillées telles que le set désactiver, réglage, tampon, défaut et alarme ou fenêtre ouverte.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écrans de visualisation modernes remplissent de nombreuses autres fonctions que simplement fournir une représentation graphique à l'utilisateur. Grâce aux nombreuses fonctions et options qui sont disponibles, les écrans de visualisation peuvent être utilisés comme un système d'informations centralisé.</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Voici ci-dessous quelques exemples de ces différentes fonctions :</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L'envoi d'e-mails (routage de signals tels que celui d'une alarme, d'une panne, etc.)</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La communication via Internet (accès à distance, suivi du statut, etc.)</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Des fonctions logiques avec un périmètre quasiment illimité</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Une caméra réseau</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Une communication de porte</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applications de sécurité et/ou de surveillance sont étendues en utilisant par ex. des caméras réseau. Des alarmes ou d'autres signaux peuvent être envoyés par Internet. Le confort de l'utilisateur s'en trouve augmenté du fait qu'il peut vérifier l'état de son installation de manière externe, par ex. depuis un smartphone.</a:t>
            </a:r>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16</a:t>
            </a:fld>
            <a:endParaRPr lang="en-US"/>
          </a:p>
        </p:txBody>
      </p:sp>
    </p:spTree>
    <p:extLst>
      <p:ext uri="{BB962C8B-B14F-4D97-AF65-F5344CB8AC3E}">
        <p14:creationId xmlns:p14="http://schemas.microsoft.com/office/powerpoint/2010/main" val="42892347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s-ES" sz="1200" b="1" kern="1200">
                <a:solidFill>
                  <a:schemeClr val="tx1"/>
                </a:solidFill>
                <a:effectLst/>
                <a:latin typeface="Arial" charset="0"/>
                <a:ea typeface="+mn-ea"/>
                <a:cs typeface="+mn-cs"/>
              </a:rPr>
              <a:t>Le terminal de la zone KNX.</a:t>
            </a:r>
            <a:endParaRPr lang="es-ES" sz="1050" b="1" kern="1200" dirty="0">
              <a:solidFill>
                <a:schemeClr val="tx1"/>
              </a:solidFill>
              <a:effectLst/>
              <a:latin typeface="Arial" charset="0"/>
              <a:ea typeface="+mn-ea"/>
              <a:cs typeface="+mn-cs"/>
            </a:endParaRPr>
          </a:p>
          <a:p>
            <a:r>
              <a:rPr lang="es-ES" sz="1200" kern="1200">
                <a:solidFill>
                  <a:schemeClr val="tx1"/>
                </a:solidFill>
                <a:effectLst/>
                <a:latin typeface="Arial" charset="0"/>
                <a:ea typeface="+mn-ea"/>
                <a:cs typeface="+mn-cs"/>
              </a:rPr>
              <a:t>Le terminal de zone KNX est utilisé pour une configuration de sécurité simple et une supervision des fonctions à l'aide de capteurs dotés d'une technologie de sécurité. Cependant, d'autres systèmes d'alarme anti-intrusion ne sont pas envisageables dans le cadre des normes VdS pour la prévention des dommages. La structure est la suivante :</a:t>
            </a:r>
            <a:endParaRPr lang="es-ES" sz="1000" kern="1200" dirty="0">
              <a:solidFill>
                <a:schemeClr val="tx1"/>
              </a:solidFill>
              <a:effectLst/>
              <a:latin typeface="Arial" charset="0"/>
              <a:ea typeface="+mn-ea"/>
              <a:cs typeface="+mn-cs"/>
            </a:endParaRPr>
          </a:p>
          <a:p>
            <a:endParaRPr lang="es-ES" sz="1200" b="1" kern="1200" dirty="0">
              <a:solidFill>
                <a:schemeClr val="tx1"/>
              </a:solidFill>
              <a:effectLst/>
              <a:latin typeface="Arial" charset="0"/>
              <a:ea typeface="+mn-ea"/>
              <a:cs typeface="+mn-cs"/>
            </a:endParaRPr>
          </a:p>
          <a:p>
            <a:r>
              <a:rPr lang="es-ES" sz="1200" b="1" kern="1200">
                <a:solidFill>
                  <a:schemeClr val="tx1"/>
                </a:solidFill>
                <a:effectLst/>
                <a:latin typeface="Arial" charset="0"/>
                <a:ea typeface="+mn-ea"/>
                <a:cs typeface="+mn-cs"/>
              </a:rPr>
              <a:t>Illustration 16 : Principe de fonctionnement : concept de zone</a:t>
            </a:r>
            <a:endParaRPr lang="es-ES" sz="11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r>
              <a:rPr lang="es-ES" sz="1200" kern="1200">
                <a:solidFill>
                  <a:schemeClr val="tx1"/>
                </a:solidFill>
                <a:effectLst/>
                <a:latin typeface="Arial" charset="0"/>
                <a:ea typeface="+mn-ea"/>
                <a:cs typeface="+mn-cs"/>
              </a:rPr>
              <a:t>Le terminal de zone agit comme un lien entre la zone de sécurité et KNX. Les exigences de la zone doivent être définies lors de la conception du projet KNX. L'information du terminal de zone devient effective si l'information peut être utilisée à diverses fins d'évaluation (par exemple : si le même détecteur peut être utilisé comme : détecteur de zone de fenêtre pour les signaux d'alarme, détection de collision pour les stores et protection antigel pour le mode chauffage). Il est conseillé d'utiliser le même nombre de capteurs par zone, tels que des contacts magnétiques, des capteurs de bris de vitre, des détecteurs de mouvement ou des détecteurs d'incendie... que dans les systèmes d'alarme intrusion, soit un maximum de 20.</a:t>
            </a:r>
            <a:endParaRPr lang="es-ES" sz="1000" kern="1200" dirty="0">
              <a:solidFill>
                <a:schemeClr val="tx1"/>
              </a:solidFill>
              <a:effectLst/>
              <a:latin typeface="Arial" charset="0"/>
              <a:ea typeface="+mn-ea"/>
              <a:cs typeface="+mn-cs"/>
            </a:endParaRPr>
          </a:p>
          <a:p>
            <a:r>
              <a:rPr lang="es-ES" sz="1200" kern="1200">
                <a:solidFill>
                  <a:schemeClr val="tx1"/>
                </a:solidFill>
                <a:effectLst/>
                <a:latin typeface="Arial" charset="0"/>
                <a:ea typeface="+mn-ea"/>
                <a:cs typeface="+mn-cs"/>
              </a:rPr>
              <a:t> Chaque zone est fermée par une résistance de 2,7 kΩ au </a:t>
            </a:r>
            <a:r>
              <a:rPr lang="es-ES" sz="1200" u="sng" kern="1200">
                <a:solidFill>
                  <a:schemeClr val="tx1"/>
                </a:solidFill>
                <a:effectLst/>
                <a:latin typeface="Arial" charset="0"/>
                <a:ea typeface="+mn-ea"/>
                <a:cs typeface="+mn-cs"/>
              </a:rPr>
              <a:t> dernier </a:t>
            </a:r>
            <a:r>
              <a:rPr lang="es-ES" sz="1200" kern="1200">
                <a:solidFill>
                  <a:schemeClr val="tx1"/>
                </a:solidFill>
                <a:effectLst/>
                <a:latin typeface="Arial" charset="0"/>
                <a:ea typeface="+mn-ea"/>
                <a:cs typeface="+mn-cs"/>
              </a:rPr>
              <a:t> détecteur. </a:t>
            </a:r>
            <a:endParaRPr lang="es-ES" sz="16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17</a:t>
            </a:fld>
            <a:endParaRPr lang="en-US"/>
          </a:p>
        </p:txBody>
      </p:sp>
    </p:spTree>
    <p:extLst>
      <p:ext uri="{BB962C8B-B14F-4D97-AF65-F5344CB8AC3E}">
        <p14:creationId xmlns:p14="http://schemas.microsoft.com/office/powerpoint/2010/main" val="12702278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Le terminal de zone KNX</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Deux modes de fonctionnement peuvent être utilisés avec le terminal de zone.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Dans le mode "Rapport", les états des zones A à D sont indiqués mais ne sont pas enregistrés.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À l'inverse, dans le mode "Surveillance", les états de la zone sont à la fois indiqués et enregistrés. Il n'est pas possible de changer vers ce mode s'il n'y a pas de signaux ("zones A à D" et "Panne tension d'alimentation"). Les états des zones (au niveau de l'alarme) doivent être reconnus (l'objet "activé" ou "désactivé" est paramétré sur "0"). Il faut également que les états soient réinitialisés (l'objet "Réinitialiser les zones" est paramétré sur "1").</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18</a:t>
            </a:fld>
            <a:endParaRPr lang="en-US"/>
          </a:p>
        </p:txBody>
      </p:sp>
    </p:spTree>
    <p:extLst>
      <p:ext uri="{BB962C8B-B14F-4D97-AF65-F5344CB8AC3E}">
        <p14:creationId xmlns:p14="http://schemas.microsoft.com/office/powerpoint/2010/main" val="18971954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19</a:t>
            </a:fld>
            <a:endParaRPr lang="en-US"/>
          </a:p>
        </p:txBody>
      </p:sp>
    </p:spTree>
    <p:extLst>
      <p:ext uri="{BB962C8B-B14F-4D97-AF65-F5344CB8AC3E}">
        <p14:creationId xmlns:p14="http://schemas.microsoft.com/office/powerpoint/2010/main" val="23730888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a:solidFill>
                  <a:schemeClr val="tx1"/>
                </a:solidFill>
                <a:effectLst/>
                <a:latin typeface="Arial" charset="0"/>
                <a:ea typeface="+mn-ea"/>
                <a:cs typeface="+mn-cs"/>
              </a:rPr>
              <a:t>Les capteurs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Dans les détecteurs (capteurs), l'on distingue les détecteurs automatiques et non-automatiques. Les détecteurs automatiques enregistrent une tentative de cambriolage ou de sabotage et déclenchent une alarme. Les détecteurs non automatiques déclenchent une alarme de manière ciblée.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différence entre les détecteurs actifs et passifs est également indiquée.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détecteur actif est essentiellement constitué d'un émetteur et d'un récepteur ; cela implique que le détecteur se surveille lui-même et déclenche une alarme en cas de défaillance de l'émetteur ou du récepteur. Le détecteur passif est seulement capable d'enregistrer certaines valeurs ou un changement de valeurs et de transmettre un signal à l'unité de contrôle du système d'alarme lorsque le seuil défini est dépassé. En revanche, un signal de panne n'est pas automatiquement émis en cas de défaillance. </a:t>
            </a:r>
          </a:p>
          <a:p>
            <a:endParaRPr lang="en-GB"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20</a:t>
            </a:fld>
            <a:endParaRPr lang="en-US"/>
          </a:p>
        </p:txBody>
      </p:sp>
    </p:spTree>
    <p:extLst>
      <p:ext uri="{BB962C8B-B14F-4D97-AF65-F5344CB8AC3E}">
        <p14:creationId xmlns:p14="http://schemas.microsoft.com/office/powerpoint/2010/main" val="17672127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a:solidFill>
                  <a:schemeClr val="tx1"/>
                </a:solidFill>
                <a:effectLst/>
                <a:latin typeface="Arial" charset="0"/>
                <a:ea typeface="+mn-ea"/>
                <a:cs typeface="+mn-cs"/>
              </a:rPr>
              <a:t>Les capteurs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Dans les détecteurs (capteurs), l'on distingue les détecteurs automatiques et non-automatiques. Les détecteurs automatiques enregistrent une tentative de cambriolage ou de sabotage et déclenchent une alarme. Les détecteurs non automatiques déclenchent une alarme de manière ciblée.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différence entre les détecteurs actifs et passifs est également indiquée.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détecteur actif est essentiellement constitué d'un émetteur et d'un récepteur ; cela implique que le détecteur se surveille lui-même et déclenche une alarme en cas de défaillance de l'émetteur ou du récepteur. Le détecteur passif est seulement capable d'enregistrer certaines valeurs ou un changement de valeurs et de transmettre un signal à l'unité de contrôle du système d'alarme lorsque le seuil défini est dépassé. En revanche, un signal de panne n'est pas automatiquement émis en cas de défaillance. Les détecteurs sont également classés selon leur principe physique de fonctionnement.</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détecteurs électro-acoustiques utilisent des ondes sonores, ce qui implique que la fréquence dépend de la conception et de l'application.</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Capteur de rupture de verre actif</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Capteur de rupture de verre passif</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Détecteur sismique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Détecteur de mouvement à ultrasons</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détecteurs électro-optiques utilisent des rayons de chaleur sous forme d'infrarouges.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Barrières photoélectriques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Détecteur de mouvement à infrarouges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Barrières infrarouges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Pinces à billets</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détecteurs électriques utilisent des ondes électromagnétiques ou des changements de capacité électrique.</a:t>
            </a:r>
            <a:endParaRPr lang="es-ES" sz="1200" kern="1200" dirty="0">
              <a:solidFill>
                <a:schemeClr val="tx1"/>
              </a:solidFill>
              <a:effectLst/>
              <a:latin typeface="Arial" charset="0"/>
              <a:ea typeface="+mn-ea"/>
              <a:cs typeface="+mn-cs"/>
            </a:endParaRPr>
          </a:p>
          <a:p>
            <a:pPr marL="171450" indent="-171450">
              <a:buFont typeface="Arial" panose="020B0604020202020204" pitchFamily="34" charset="0"/>
              <a:buChar char="•"/>
            </a:pPr>
            <a:r>
              <a:rPr lang="en-GB" sz="1200" kern="1200">
                <a:solidFill>
                  <a:schemeClr val="tx1"/>
                </a:solidFill>
                <a:effectLst/>
                <a:latin typeface="Arial" charset="0"/>
                <a:ea typeface="+mn-ea"/>
                <a:cs typeface="+mn-cs"/>
              </a:rPr>
              <a:t>Détecteurs hyperfréquences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Liens hyperfréquences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Capteur de changement de champ capacitif</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capteurs électro-mécaniques sont divisés selon les différents contacts dont ils sont équipés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Contact normalement fermé / normalement ouvert</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Contact de fil-piège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Contact à crochet</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Détecteurs de vibrations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Contacts de gâches</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Il est possible d'avoir une combinaison de différents principes physiques dans un seul détecteur.</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21</a:t>
            </a:fld>
            <a:endParaRPr lang="en-US"/>
          </a:p>
        </p:txBody>
      </p:sp>
    </p:spTree>
    <p:extLst>
      <p:ext uri="{BB962C8B-B14F-4D97-AF65-F5344CB8AC3E}">
        <p14:creationId xmlns:p14="http://schemas.microsoft.com/office/powerpoint/2010/main" val="41818075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a:solidFill>
                  <a:schemeClr val="tx1"/>
                </a:solidFill>
                <a:effectLst/>
                <a:latin typeface="Arial" charset="0"/>
                <a:ea typeface="+mn-ea"/>
                <a:cs typeface="+mn-cs"/>
              </a:rPr>
              <a:t>L'unité de contrôle d'alarme intrusion</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Une unité de contrôle d'alarme intrusion évalue les signaux émis par les détecteurs et déclenche les mesures appropriées (signaux d'alarme). Selon la conception de l'unité de contrôle, l'utilisateur peut lire les différents états du système et/ou choisir entre différents modes de fonctionnement. Le système d'alarme intrusion a pour fonctions principales l'enregistrement, le traitement et le routage de signaux et d'informations telles qu'une notification d'intrusion, de sabotage ou un signal de panne. Il assure également les autres fonctions suivantes :</a:t>
            </a:r>
            <a:endParaRPr lang="es-ES" sz="1200" kern="1200" dirty="0">
              <a:solidFill>
                <a:schemeClr val="tx1"/>
              </a:solidFill>
              <a:effectLst/>
              <a:latin typeface="Arial" charset="0"/>
              <a:ea typeface="+mn-ea"/>
              <a:cs typeface="+mn-cs"/>
            </a:endParaRPr>
          </a:p>
          <a:p>
            <a:pPr marL="171450" indent="-171450">
              <a:buFont typeface="Arial" panose="020B0604020202020204" pitchFamily="34" charset="0"/>
              <a:buChar char="•"/>
            </a:pPr>
            <a:r>
              <a:rPr lang="en-GB" sz="1200" kern="1200">
                <a:solidFill>
                  <a:schemeClr val="tx1"/>
                </a:solidFill>
                <a:effectLst/>
                <a:latin typeface="Arial" charset="0"/>
                <a:ea typeface="+mn-ea"/>
                <a:cs typeface="+mn-cs"/>
              </a:rPr>
              <a:t>Enregistrement et évaluation des signaux des détecteurs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Déclenchement de système(s) d'alarme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Surveillance du système d'alimentation</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Affichage des pannes selon les zones ou les détecteurs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Affichage de l'état activé / désactivé</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22</a:t>
            </a:fld>
            <a:endParaRPr lang="en-US"/>
          </a:p>
        </p:txBody>
      </p:sp>
    </p:spTree>
    <p:extLst>
      <p:ext uri="{BB962C8B-B14F-4D97-AF65-F5344CB8AC3E}">
        <p14:creationId xmlns:p14="http://schemas.microsoft.com/office/powerpoint/2010/main" val="10641585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a:solidFill>
                  <a:schemeClr val="tx1"/>
                </a:solidFill>
                <a:effectLst/>
                <a:latin typeface="Arial" charset="0"/>
                <a:ea typeface="+mn-ea"/>
                <a:cs typeface="+mn-cs"/>
              </a:rPr>
              <a:t>Les alarmes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types d'alarme suivants sont possibles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les alarmes acoustiques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les alarmes optiques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les alarmes silencieuses</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Dans le cas d'une alarme acoustique, un puissant signal sonore est émis par un dispositif de signalisation. Utiliser un puissant signal sonore permet d'attirer l'attention du voisinage proche sur la propriété. La durée d'utilisation d'une alarme acoustique extérieure est limitée à 180 secondes. Lorsque cette alarme est utilisée à l'intérieur, il n'y a pas de limitation de durée.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Lorsqu'une alarme optique est déclenchée, un dispositif de signalisation génère une lumière stroboscopique ou un feu clignotant pour attirer l'attention du voisinage. En pratique, l'on utilise souvent une alarme acoustique et une alarme optique qui sont combinées.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L'alarme silencieuse est utilisée en cas de situation imprévisible pour le personnel ou pour l'environnement. Elle est principalement utilisée dans les banques, dans lesquelles les employés peuvent déclencher une alarme sans se faire remarquer du malfaiteur. Dans le cas d'une alarme silencieuse, aucun dispositif de signalisation n'est déclenché, à l'inverse des alarmes acoustiques ou optiques. Le personnel de sécurité est alerté au moyen d'options de télécommunication.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Différentes alarmes existent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les alarmes internes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les alarmes externes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a:solidFill>
                  <a:schemeClr val="tx1"/>
                </a:solidFill>
                <a:effectLst/>
                <a:latin typeface="Arial" charset="0"/>
                <a:ea typeface="+mn-ea"/>
                <a:cs typeface="+mn-cs"/>
              </a:rPr>
              <a:t>les alarmes à distance</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L'alarme interne déclenche seulement l'alarme à l'intérieur de la propriété. Aucun dispositif de signalisation externe n'est activé, et aucun message n'est transmis à l'extérieur du bâtiment.</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L'alarme externe déclenche les dispositifs de signalisation tels que les lumières stroboscopiques et/ou les sirènes.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services d'urgence reçoivent une notification émise par l'alarme à distance en utilisant des options de télécommunication.</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23</a:t>
            </a:fld>
            <a:endParaRPr lang="en-US"/>
          </a:p>
        </p:txBody>
      </p:sp>
    </p:spTree>
    <p:extLst>
      <p:ext uri="{BB962C8B-B14F-4D97-AF65-F5344CB8AC3E}">
        <p14:creationId xmlns:p14="http://schemas.microsoft.com/office/powerpoint/2010/main" val="23578331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a:solidFill>
                  <a:schemeClr val="tx1"/>
                </a:solidFill>
                <a:effectLst/>
                <a:latin typeface="Arial" charset="0"/>
                <a:ea typeface="+mn-ea"/>
                <a:cs typeface="+mn-cs"/>
              </a:rPr>
              <a:t>Paramétrer / armer le système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un système d'alarme intrusion est activé, une alarme se déclenche lorsqu'une tentative de cambriolage est détectée. Si le système d'alarme est désactivé, aucune alarme ne se déclenche.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système est activé ou désactivé au moyen d'un dispositif d'armement.</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Il existe des dispositifs d'armement électromécaniques, intelligents et de proximité.</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24</a:t>
            </a:fld>
            <a:endParaRPr lang="en-US"/>
          </a:p>
        </p:txBody>
      </p:sp>
    </p:spTree>
    <p:extLst>
      <p:ext uri="{BB962C8B-B14F-4D97-AF65-F5344CB8AC3E}">
        <p14:creationId xmlns:p14="http://schemas.microsoft.com/office/powerpoint/2010/main" val="15790474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a:solidFill>
                  <a:schemeClr val="tx1"/>
                </a:solidFill>
                <a:effectLst/>
                <a:latin typeface="Arial" charset="0"/>
                <a:ea typeface="+mn-ea"/>
                <a:cs typeface="+mn-cs"/>
              </a:rPr>
              <a:t>Paramétrer / armer le système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dispositif d'armement électromécanique se compose d'un verrou de commutation qui est relié au verrouillage mécanique de la porte d'accès.</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Dans un dispositif d'armement intelligent, le système est activé en utilisant par ex. une serrure à combinaison (où il faut entrer une combinaison de chiffres). Ce dispositif d'armement doit également être relié à un verrouillage mécanique de la porte d'accès.</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dispositif d'armement de proximité se compose d'une unité de capteur, d'une unité d'évaluation et d'un tableau de distribution.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Les transpondeurs à clé, qui contiennent l'identification réelle, peuvent être lus et effacés. Les utiliser avec l'élément de verrouillage dans le cadre de la porte, et avec un contact de commutation de verrou à clé pour assurer la surveillance du verrouillage, permet de garantir le verrouillage mécanique de la porte d'accès.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liaison du dispositif d'armement au verrouillage peut être effectuée de manière électrique ou mécanique. Il faut cependant s'assurer qu'il n'est pas possible de pénétrer dans la zone de protection de manière accidentelle lorsque le système d'alarme intrusion est activé (entraînement positif).</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25</a:t>
            </a:fld>
            <a:endParaRPr lang="en-US"/>
          </a:p>
        </p:txBody>
      </p:sp>
    </p:spTree>
    <p:extLst>
      <p:ext uri="{BB962C8B-B14F-4D97-AF65-F5344CB8AC3E}">
        <p14:creationId xmlns:p14="http://schemas.microsoft.com/office/powerpoint/2010/main" val="29522746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a:solidFill>
                  <a:schemeClr val="tx1"/>
                </a:solidFill>
                <a:effectLst/>
                <a:latin typeface="Arial" charset="0"/>
                <a:ea typeface="+mn-ea"/>
                <a:cs typeface="+mn-cs"/>
              </a:rPr>
              <a:t>Les alarmes panique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alarmes de panique sont des boutons-poussoirs qu'une personne peut actionner si elle se trouve dans une situation dangereuse. Une alarme à distance s'active immédiatement après que le bouton-poussoir a été pressé. Une alarme de panique peut alors </a:t>
            </a:r>
            <a:r>
              <a:rPr lang="en-GB" sz="1200" b="1" u="sng" kern="1200">
                <a:solidFill>
                  <a:schemeClr val="tx1"/>
                </a:solidFill>
                <a:effectLst/>
                <a:latin typeface="Arial" charset="0"/>
                <a:ea typeface="+mn-ea"/>
                <a:cs typeface="+mn-cs"/>
              </a:rPr>
              <a:t>seulement</a:t>
            </a:r>
            <a:r>
              <a:rPr lang="en-GB" sz="1200" b="1" kern="1200">
                <a:solidFill>
                  <a:schemeClr val="tx1"/>
                </a:solidFill>
                <a:effectLst/>
                <a:latin typeface="Arial" charset="0"/>
                <a:ea typeface="+mn-ea"/>
                <a:cs typeface="+mn-cs"/>
              </a:rPr>
              <a:t> </a:t>
            </a:r>
            <a:r>
              <a:rPr lang="en-GB" sz="1200" kern="1200">
                <a:solidFill>
                  <a:schemeClr val="tx1"/>
                </a:solidFill>
                <a:effectLst/>
                <a:latin typeface="Arial" charset="0"/>
                <a:ea typeface="+mn-ea"/>
                <a:cs typeface="+mn-cs"/>
              </a:rPr>
              <a:t>déclencher une alarme locale si la route de transmission de l'alarme à distance est perturbée.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Une autre possibilité est d'utiliser une alarme silencieuse qui est reçue dans une autre pièce (personnel de sécurité).</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26</a:t>
            </a:fld>
            <a:endParaRPr lang="en-US"/>
          </a:p>
        </p:txBody>
      </p:sp>
    </p:spTree>
    <p:extLst>
      <p:ext uri="{BB962C8B-B14F-4D97-AF65-F5344CB8AC3E}">
        <p14:creationId xmlns:p14="http://schemas.microsoft.com/office/powerpoint/2010/main" val="11686454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a:solidFill>
                  <a:schemeClr val="tx1"/>
                </a:solidFill>
                <a:effectLst/>
                <a:latin typeface="Arial" charset="0"/>
                <a:ea typeface="+mn-ea"/>
                <a:cs typeface="+mn-cs"/>
              </a:rPr>
              <a:t>Surveillance</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La surveillance des ouvertures et du verrouillage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L'on appelle "surveillance des ouvertures" la surveillance des fenêtres, portes, lucarnes ou autres pour détecter si ces éléments sont ouverts ou fermés.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surveillance du verrouillage, quant à elle, constate le statut fermé ou verrouillé des portes, des fenêtres ou des lucarnes. La constatation d'une perturbation d'un circuit ou d'une zone de surveillance de verrouillage ne déclenche pas d'alarme mais empêche l'activation du système. Pour assurer une séparation renforcée des contacts lorsqu'un système d'alarme intrusion est paramétré, il faut surveiller l'état de verrouillage des portes, des portails et des fenêtres. Un composant non verrouillé empêche le système d'alarme intrusion d'être armé. En mode "activé", une panne de la surveillance du verrouillage n'entraîne pas le déclenchement d'une alarme.</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a:solidFill>
                  <a:schemeClr val="tx1"/>
                </a:solidFill>
                <a:effectLst/>
                <a:latin typeface="Arial" charset="0"/>
                <a:ea typeface="+mn-ea"/>
                <a:cs typeface="+mn-cs"/>
              </a:rPr>
              <a:t>Des contacts Reed magnétiques sont utilisés pour assurer la surveillance des ouvertures pour les portes, les fenêtres et les lucarnes. Ils sont composés d'un aimant et d'un contact Reed. L'aimant est monté sur le châssis de la fenêtre ou le panneau de la porte. Le contact Reed est monté directement près de l'aimant ou au-dessus de celui-ci, sur la porte ou le cadre de la fenêtre.</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17 :</a:t>
            </a:r>
            <a:r>
              <a:rPr lang="en-GB" sz="1200" b="0" kern="1200">
                <a:solidFill>
                  <a:schemeClr val="tx1"/>
                </a:solidFill>
                <a:effectLst/>
                <a:latin typeface="Arial" charset="0"/>
                <a:ea typeface="+mn-ea"/>
                <a:cs typeface="+mn-cs"/>
              </a:rPr>
              <a:t> </a:t>
            </a:r>
            <a:r>
              <a:rPr lang="en-GB" sz="1200" b="1" kern="1200">
                <a:solidFill>
                  <a:schemeClr val="tx1"/>
                </a:solidFill>
                <a:effectLst/>
                <a:latin typeface="Arial" charset="0"/>
                <a:ea typeface="+mn-ea"/>
                <a:cs typeface="+mn-cs"/>
              </a:rPr>
              <a:t>Ouverture de la surveillance</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contact Reed se ferme sous l'effet d'un champ magnétique.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la fenêtre ou la porte est ouverte, l'aimant s'éloigne du contact Reed et cela perturbe l'effet du champ magnétique sur le contact. Le contact Reed s'ouvre à nouveau et la zone est déconnectée. Cet événement est considéré comme une tentative de cambriolage par le système d'alarme intrusion. Un contact Reed peut seulement être apposé à l'intérieur de la zone de surveillance (soit sur la surface intérieure de la fenêtre ou de la porte). Le contact Reed est raccordé au moyen de quatre fils.</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18 : Ouverture de la surveillance</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27</a:t>
            </a:fld>
            <a:endParaRPr lang="en-US"/>
          </a:p>
        </p:txBody>
      </p:sp>
    </p:spTree>
    <p:extLst>
      <p:ext uri="{BB962C8B-B14F-4D97-AF65-F5344CB8AC3E}">
        <p14:creationId xmlns:p14="http://schemas.microsoft.com/office/powerpoint/2010/main" val="35233026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Il existe différents contacts Reed magnétiques pour répondre à de nombreux domaines d'application.</a:t>
            </a:r>
            <a:endParaRPr lang="es-ES" sz="1200" kern="1200" dirty="0">
              <a:solidFill>
                <a:schemeClr val="tx1"/>
              </a:solidFill>
              <a:effectLst/>
              <a:latin typeface="Arial" charset="0"/>
              <a:ea typeface="+mn-ea"/>
              <a:cs typeface="+mn-cs"/>
            </a:endParaRPr>
          </a:p>
          <a:p>
            <a:r>
              <a:rPr lang="en-US" sz="1200" b="1"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Les contacts Reed magnétiques universels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De par leur conception, les contacts Reed magnétiques peuvent être soit vissés soit percés à l'emplacement cible. La distance maximale entre le contact Reed et l'aimant est de 15 mm.</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Lorsque l'installation s'effectue sur des matières ferromagnétiques (par ex. une porte en acier), il faut utiliser un montage en surface. Il faut utiliser les espaceurs fournis.</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le contact Reed magnétique avec une protection contre les champs magnétiques externes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 contact Reed magnétique comprend également un contact anti-effraction (contact normalement ouvert) qui se déclenche lorsqu'il est exposé à un champ magnétique (le contact Reed est par ex. influencé par un autre aimant) et la zone est coupée.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distance entre l'aimant et le contact Reed peut aller jusqu'à 15 mm.</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19: Contact avec anneau magnétique avec protection contre les champs magnétiques externes</a:t>
            </a:r>
            <a:endParaRPr lang="es-ES" sz="1200" b="1" kern="1200" dirty="0">
              <a:solidFill>
                <a:schemeClr val="tx1"/>
              </a:solidFill>
              <a:effectLst/>
              <a:latin typeface="Arial" charset="0"/>
              <a:ea typeface="+mn-ea"/>
              <a:cs typeface="+mn-cs"/>
            </a:endParaRPr>
          </a:p>
          <a:p>
            <a:r>
              <a:rPr lang="en-US" sz="1200" b="1" kern="1200">
                <a:solidFill>
                  <a:schemeClr val="tx1"/>
                </a:solidFill>
                <a:effectLst/>
                <a:latin typeface="Arial" charset="0"/>
                <a:ea typeface="+mn-ea"/>
                <a:cs typeface="+mn-cs"/>
              </a:rPr>
              <a:t> </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28</a:t>
            </a:fld>
            <a:endParaRPr lang="en-US"/>
          </a:p>
        </p:txBody>
      </p:sp>
    </p:spTree>
    <p:extLst>
      <p:ext uri="{BB962C8B-B14F-4D97-AF65-F5344CB8AC3E}">
        <p14:creationId xmlns:p14="http://schemas.microsoft.com/office/powerpoint/2010/main" val="33433388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a:solidFill>
                  <a:schemeClr val="tx1"/>
                </a:solidFill>
                <a:effectLst/>
                <a:latin typeface="Arial" charset="0"/>
                <a:ea typeface="+mn-ea"/>
                <a:cs typeface="+mn-cs"/>
              </a:rPr>
              <a:t>Le contact Reed magnétique haute performance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contact Reed magnétique haute performance est tout particulièrement adapté pour être utilisé sur les portes de garage et les lourdes portes métalliques. Du fait de son système magnétique étendu, le contact SKMG peut être utilisé directement sur les portes et les portails métalliques.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distance entre l'aimant et le contact Reed peut aller jusqu'à 30 mm.</a:t>
            </a:r>
            <a:endParaRPr lang="es-ES" sz="1200" kern="1200" dirty="0">
              <a:solidFill>
                <a:schemeClr val="tx1"/>
              </a:solidFill>
              <a:effectLst/>
              <a:latin typeface="Arial" charset="0"/>
              <a:ea typeface="+mn-ea"/>
              <a:cs typeface="+mn-cs"/>
            </a:endParaRPr>
          </a:p>
          <a:p>
            <a:r>
              <a:rPr lang="en-US" sz="1200" b="1" kern="1200">
                <a:solidFill>
                  <a:schemeClr val="tx1"/>
                </a:solidFill>
                <a:effectLst/>
                <a:latin typeface="Arial" charset="0"/>
                <a:ea typeface="+mn-ea"/>
                <a:cs typeface="+mn-cs"/>
              </a:rPr>
              <a:t> </a:t>
            </a:r>
            <a:endParaRPr lang="es-ES" sz="1200" b="1"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Le contact pour porte roulante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contact pour porte roulante est utilisé sur les portes roulantes ou d'autres portails larges. Il est particulièrement résistant à la poussière, à l'humidité et aux substances chimiques telles que l'huile et l'essence. Sa conception lui permet de pouvoir être installé sur le bord du portail, au sol. Il résiste au passage des véhicules équipés de pneus en caoutchouc sans subir aucun dommage. Pour les charges plus lourdes, il doit être introduit dans le sol. La distance entre l'aimant et le contact Reed peut aller jusqu'à 45 mm.</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la surveillance du verrouillage des portes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contact de commutation de verrou à clé est utilisé pour la surveillance du verrouillage des portes. Il est équipé d'un contact bidirectionnel, et peut donc être utilisé comme un contact normalement ouvert ou normalement fermé. L'installation est effectuée à l'arrière de la gâche pour pouvoir faire fonctionner le contact à l'aide de la serrure à verrou.</a:t>
            </a:r>
          </a:p>
          <a:p>
            <a:endParaRPr lang="en-GB"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20 : Verrouillage des portes</a:t>
            </a:r>
            <a:endParaRPr lang="es-ES" sz="1200" b="1"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Pour les serrures à double verrouillage, le contact de commutation du verrou à clé doit être monté de façon à ce qu'il ne réponde qu'au second tour de clé. Le type de protection du contact de commutation du verrou à clé est conforme à la norme IP 67.</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r>
              <a:rPr lang="en-US" sz="1200" b="1" kern="1200">
                <a:solidFill>
                  <a:schemeClr val="tx1"/>
                </a:solidFill>
                <a:effectLst/>
                <a:latin typeface="Arial" charset="0"/>
                <a:ea typeface="+mn-ea"/>
                <a:cs typeface="+mn-cs"/>
              </a:rPr>
              <a:t> </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29</a:t>
            </a:fld>
            <a:endParaRPr lang="en-US"/>
          </a:p>
        </p:txBody>
      </p:sp>
    </p:spTree>
    <p:extLst>
      <p:ext uri="{BB962C8B-B14F-4D97-AF65-F5344CB8AC3E}">
        <p14:creationId xmlns:p14="http://schemas.microsoft.com/office/powerpoint/2010/main" val="36316291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a:solidFill>
                  <a:schemeClr val="tx1"/>
                </a:solidFill>
                <a:effectLst/>
                <a:latin typeface="Arial" charset="0"/>
                <a:ea typeface="+mn-ea"/>
                <a:cs typeface="+mn-cs"/>
              </a:rPr>
              <a:t>Les fenêtres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Il est possible d'effectuer une surveillance du verrouillage des fenêtres directe ou indirecte. La surveillance directe s'effectue à l'aide d'un module pour fenêtres. Un aimant circulaire spécial est monté sur la tige de poussée du châssis de la fenêtre. Le contact Reed est monté dans la position appropriée sur le cadre de la fenêtre.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surveillance indirecte s'effectue à l'aide de boulons de poussée. Le boulon de poussée est monté dans le cadre de la fenêtre. Si la fenêtre est fermée mais pas verrouillée, les boulons de poussée poussent la fenêtre pour l'ouvrir à nouveau. Le contact Reed magnétique peut alors s'en apercevoir et la zone correspondante s'en trouve perturbée.</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surveillance de surfaces vitrées au moyen de capteurs de rupture de verre passif</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capteurs de rupture de verre passifs utilisent des microphones piézoélectriques pour enregistrer les vibrations causées lorsque des vitres sont dégradées en forçant et les évaluer. La zone correspondante est court-circuitée lorsque le verre est endommagé. Ces capteurs sont à câbler dans la zone de telle façon que leur connexion câblée à l'unité de contrôle ne puisse pas être perturbée par les autres détecteurs. La portée de surveillance maximale est de 2 m. Il est possible de monter plusieurs capteurs sur une seule vitre.</a:t>
            </a:r>
          </a:p>
          <a:p>
            <a:endParaRPr lang="en-GB"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21 : Surveillance des vitres par des capteurs de bris de vitre passifs</a:t>
            </a:r>
            <a:endParaRPr lang="es-ES" sz="1200" b="1"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capteur est fixé à l'intérieur du double vitrage (verre de silice), lequel est surveillé en utilisant un adhésif. La connexion est réalisée au moyen de 4 fils.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Souvent, il n'est pas possible de surveiller les vitrages simples, laminés ou revêtus avec des capteurs de rupture de verre.</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22: Fenêtre avec un capteur de brise-verre</a:t>
            </a:r>
            <a:endParaRPr lang="es-ES"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30</a:t>
            </a:fld>
            <a:endParaRPr lang="en-US"/>
          </a:p>
        </p:txBody>
      </p:sp>
    </p:spTree>
    <p:extLst>
      <p:ext uri="{BB962C8B-B14F-4D97-AF65-F5344CB8AC3E}">
        <p14:creationId xmlns:p14="http://schemas.microsoft.com/office/powerpoint/2010/main" val="36028149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La protection périphérique et la surveillance de surface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protection périphérique implique la surveillance de toutes les portes, les fenêtres et les ouvertures qui mènent à l'extérieur, ainsi que tous les autres points d'accès possibles.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surfaces (surfaces vitrées, portes et murs extérieurs) peuvent être surveillées à l'aide de la surveillance de surface, laquelle sert à détecter si quelqu'un s'introduit dans la propriété par effraction (dégradation de la surface), grimpe pour s'y introduire (dégradation de la surface et introduction dans la zone de protection) ou y passe (dégradation de la surface et passage dans la zone de protection).</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une surveillance de surface à l'aide de détecteurs de vibrations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détecteur de vibrations du système d'alarme intrusion évalue les vibrations causées lorsque les surfaces sont dégradées (vitres, briques en verre, panneaux de porte, murs). Si des vibrations d'un niveau prédéfini sont enregistrées, le contact de l'alarme se ferme et la zone est coupée. </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23 : Surveillance de surface avec détecteurs de vibrations</a:t>
            </a:r>
            <a:endParaRPr lang="es-ES" sz="1200" b="1"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détecteurs de vibrations sont à câbler dans la zone de telle façon que leur connexion câblée à l'unité de contrôle ne puisse pas être perturbée par les autres détecteurs. Le détecteur est collé ou vissé dans la surface à surveiller. Le cablâge réalisé est quadripolaire. La portée effective est de 1,15 m pour le verre et de 0,55 m pour le béton, l'acier et le bois.</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31</a:t>
            </a:fld>
            <a:endParaRPr lang="en-US"/>
          </a:p>
        </p:txBody>
      </p:sp>
    </p:spTree>
    <p:extLst>
      <p:ext uri="{BB962C8B-B14F-4D97-AF65-F5344CB8AC3E}">
        <p14:creationId xmlns:p14="http://schemas.microsoft.com/office/powerpoint/2010/main" val="21295358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La surveillance intérieure</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surveillance intérieure permet d'analyser directement les mouvements constatés à l'intérieur de pièces fermées ou l'ouverture de points d'accès de surveillance. Tout changement constaté dans certaines variables physiques spécifiques est classé comme une tentative d'effraction et signalé comme tel. Les pièces sont surveillées à l'aide de détecteurs de mouvement selon différents modes opératoires.</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32</a:t>
            </a:fld>
            <a:endParaRPr lang="en-US"/>
          </a:p>
        </p:txBody>
      </p:sp>
    </p:spTree>
    <p:extLst>
      <p:ext uri="{BB962C8B-B14F-4D97-AF65-F5344CB8AC3E}">
        <p14:creationId xmlns:p14="http://schemas.microsoft.com/office/powerpoint/2010/main" val="42286783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a:solidFill>
                  <a:schemeClr val="tx1"/>
                </a:solidFill>
                <a:effectLst/>
                <a:latin typeface="Arial" charset="0"/>
                <a:ea typeface="+mn-ea"/>
                <a:cs typeface="+mn-cs"/>
              </a:rPr>
              <a:t>Les détecteurs de mouvement passifs à infrarouges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détecteurs de mouvement passifs à infrarouges réagissent aux mouvements thermiques par le biais de photodiodes qui sont sensibles aux infrarouges. La zone de surveillance est divisée en zones et en plans par une lentille optique. Si la radiation de chaleur constatée dans une zone change sur une durée courte, le détecteur de mouvement évalue cet événement comme une tentative de cambriolage. Dans ce cas, le contact de l'alarme est adressé, ce qui déconnecte la zone.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détecteur de mouvement est le plus adapté pour détecter les mouvements allant dans une direction tangente par rapport au détecteur.</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Cela peut être une source d'erreurs en cas de courant d'air, avec des systèmes de chauffage ou de conditionnement d'air, de la lumière directe ou en présence d'autres sources de chaleur.</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C'est la raison pour laquelle les détecteurs à infrarouges ne doivent pas être orientés vers des systèmes de chauffage ou vers des fenêtres.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détecteurs de mouvement peuvent avoir des systèmes de lentille différents.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lentilles volumétriques (surveillance d'une pièce entière) permettent de surveiller des pièces entières. Les lentilles pour zones longues sont adaptées aux longues pièces (telles que les couloirs) et les lentille rideaux servent à réaliser une surveillance de surface afin de détecter toute personne qui grimperait pour s'introduire dans la propriété.</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On peut régler la taille de la zone de surveillance sur l'appareil.</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détecteur de mouvement doit être relié à la source de courant fournie pour les détecteurs, située sur l'unité de contrôle de l'alarme intrusion.</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contact de l'alarme (contact normalement fermé) est inclus dans la zone de surveillance d'intrusion, alors que le contact anti-effraction (contact normalement fermé) est enroulé dans la zone de sabotage. </a:t>
            </a:r>
            <a:br>
              <a:rPr lang="en-GB" sz="1200" kern="1200" dirty="0">
                <a:solidFill>
                  <a:schemeClr val="tx1"/>
                </a:solidFill>
                <a:effectLst/>
                <a:latin typeface="Arial" charset="0"/>
                <a:ea typeface="+mn-ea"/>
                <a:cs typeface="+mn-cs"/>
              </a:rPr>
            </a:br>
            <a:r>
              <a:rPr lang="en-GB" sz="1200" kern="1200">
                <a:solidFill>
                  <a:schemeClr val="tx1"/>
                </a:solidFill>
                <a:effectLst/>
                <a:latin typeface="Arial" charset="0"/>
                <a:ea typeface="+mn-ea"/>
                <a:cs typeface="+mn-cs"/>
              </a:rPr>
              <a:t>On peut également effectuer un test de marche sur le détecteur de mouvement.</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Pour cela, il est possible d'utiliser un commutateur à l'intérieur du détecteur de mouvement, ou d'appliquer une tension de +12 V à l'entrée du test. Le détecteur de mouvement dispose également d'une logique de mémoire (mémoire de l'alarme), c'est à dire qu'il enregistre toute tentative de cambriolage détectée lorsque le système a été paramétré. Lorsque le système a été désactivé, une LED indique quel détecteur a enregistré la tentative de cambriolage.</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De nombreux détecteurs contiennent des circuits anti-masquage. Ils ont alors la capacité de détecter s'ils sont couverts par un objet qui limite leur fonctionnement.</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En plus de cette surveillance de la couverture, qui s'adapte automatiquement aux conditions locales, les détecteurs passifs à infrarouges de classe VdS C adaptés aux exigences de sécurité élevées disposent d'une mémoire de l'alarme ainsi que d'une surveillance du processeur, ce qui permet de garantir un haut niveau de détection et d'immunité aux interférences.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Il est possible de régler la zone de surveillance de ce détecteur de mouvement en changeant les lentilles, qui assurent alors une protection volumétrique, de longue portée ou de la zone de détection.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signalisation de la surveillance de la panne et de la couverture s'effectue à l'aide d'un contact sans potentiel. Le détecteur de mouvement est raccordé au moyen de huit ou dix fils s'il est nécessaire que le test de marche et la mémoire de l'alarme soient contrôlés à distance.</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33</a:t>
            </a:fld>
            <a:endParaRPr lang="en-US"/>
          </a:p>
        </p:txBody>
      </p:sp>
    </p:spTree>
    <p:extLst>
      <p:ext uri="{BB962C8B-B14F-4D97-AF65-F5344CB8AC3E}">
        <p14:creationId xmlns:p14="http://schemas.microsoft.com/office/powerpoint/2010/main" val="12915002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a:solidFill>
                  <a:schemeClr val="tx1"/>
                </a:solidFill>
                <a:effectLst/>
                <a:latin typeface="Arial" charset="0"/>
                <a:ea typeface="+mn-ea"/>
                <a:cs typeface="+mn-cs"/>
              </a:rPr>
              <a:t>Détecteur de mouvement infrarouge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détecteur est équipé d'une lentille à longue portée et de la technologie anti-masquage. La zone de sabotage est déconnectée par un contact de retrait lorsque le détecteur est déconnecté du mur. Il est possible de désactiver le fonctionnement de ce contact.</a:t>
            </a:r>
          </a:p>
          <a:p>
            <a:endParaRPr lang="en-GB"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Le détecteur dual</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 détecteur de mouvement assure une surveillance en utilisant à la fois les infrarouges et un champ magnétique.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Sa zone de surveillance est volumétrique. Ses techniques de surveillance sont liés électroniquement de façon à ce que le détecteur de mouvement ne signale une alarme que si les deux éléments ont détecté une tentative de cambriolage.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taille des deux zones de surveillance peut être déterminée individuellement.</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détecteur dual dispose à la fois d'un circuit anti-masquage et d'une mémoire d'alarme, et peut aussi réaliser un test de marche. </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34</a:t>
            </a:fld>
            <a:endParaRPr lang="en-US"/>
          </a:p>
        </p:txBody>
      </p:sp>
    </p:spTree>
    <p:extLst>
      <p:ext uri="{BB962C8B-B14F-4D97-AF65-F5344CB8AC3E}">
        <p14:creationId xmlns:p14="http://schemas.microsoft.com/office/powerpoint/2010/main" val="9440909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a:solidFill>
                  <a:schemeClr val="tx1"/>
                </a:solidFill>
                <a:effectLst/>
                <a:latin typeface="Arial" charset="0"/>
                <a:ea typeface="+mn-ea"/>
                <a:cs typeface="+mn-cs"/>
              </a:rPr>
              <a:t>Les alarmes panique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Une alarme panique contient un contact d'alarme (contact normalement fermé) qui est déclenchée manuellement en actionnant un bouton-poussoir. Lorsqu'il se déclenche, ce contact d'alarme déconnecte la zone de panique. Le contact anti-effraction intégré (contact normalement fermé) déconnecte la zone de sabotage lorsqu'une tentative d'ouverture du contact a lieu.</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détecteur est raccordé au moyen de six fils. Il peut être livré en version encastrée ou à monter en surface.</a:t>
            </a:r>
            <a:endParaRPr lang="es-ES" sz="1200" kern="1200" dirty="0">
              <a:solidFill>
                <a:schemeClr val="tx1"/>
              </a:solidFill>
              <a:effectLst/>
              <a:latin typeface="Arial" charset="0"/>
              <a:ea typeface="+mn-ea"/>
              <a:cs typeface="+mn-cs"/>
            </a:endParaRPr>
          </a:p>
          <a:p>
            <a:r>
              <a:rPr lang="en-US" sz="1200" b="1"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Les serrures à contact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Une serrure à contact est un appareil qui permet d'assurer une commutation à distance. Lorsqu'il est utilisé avec un dispositif d'armement, l'élément de verrouillage doit être inséré dans la porte d'accès à la zone de protection de façon à ce qu'il ne soit pas possible de pénétrer dans la zone d'armement de manière accidentelle.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serrure à contact est équipée de deux contacts inverseurs : le premier est actionné lorsque la serrure est tournée dans le sens inverse des aiguilles d'une montre et l'autre lorsque la serrure est tournée dans le sens des aiguilles d'une montre. Son fonctionnement est assuré au moyen d'un demi-cylindre profilé. Pour les contacts, il est possible de choisir entre un fonctionnement à clé ou avec un commutateur.</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Cela permet par exemple d'utiliser la serrure à contact à la fois comme un bouton de réinitialisation à distance et comme un dispositif d'armement pour un ou plusieurs emplacements. Des LED intégrées permettent d'afficher les différents états de fonctionnement de l'unité de contrôle (soit par ex. activé, désactivé et prêt à l'emploi). Un buzzer de reconnaissance est intégré à la serrure à contact. Le nombre de conducteurs requis pour le câble de raccordement diffère selon la fonction du verrou de contact. 12 cœurs suffisent cependant dans tous les cas.</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35</a:t>
            </a:fld>
            <a:endParaRPr lang="en-US"/>
          </a:p>
        </p:txBody>
      </p:sp>
    </p:spTree>
    <p:extLst>
      <p:ext uri="{BB962C8B-B14F-4D97-AF65-F5344CB8AC3E}">
        <p14:creationId xmlns:p14="http://schemas.microsoft.com/office/powerpoint/2010/main" val="3119511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a:solidFill>
                  <a:schemeClr val="tx1"/>
                </a:solidFill>
                <a:effectLst/>
                <a:latin typeface="Arial" charset="0"/>
                <a:ea typeface="+mn-ea"/>
                <a:cs typeface="+mn-cs"/>
              </a:rPr>
              <a:t>L'unité de commutation (à installer seulement dans la zone surveillée)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L'unité de commutation est principalement utilisée comme un dispositif d'armement interne.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L'unité contient deux contacts inverseurs qui, utilisés ensemble, forment un commutateur intermédiaire. Le contact à impulsion fourni se ferme brièvement lorsque le système est paramétré et désactivé.</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Ces contacts sont contrôlés par une serrure intégrée.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Des LED intégrées permettent d'afficher les différents états de fonctionnement de l'unité de contrôle (soit par ex. activé, désactivé et prêt à l'emploi). Le buzzer de reconnaissance est également disponible.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contact d'autoprotection intégré interrompt la zone de sabotage lors d'une tentative d'ouverture de l'appareil de commutation. La connexion est réalisée au moyen de 12 fils.</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Les éléments de verrouillage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élément de verrouillage sert à maintenir les portes fermées lorsque le système est activé, dans le cas où une serrure à contact ou le dispositif d'armement de proximité sont utilisés pour armer le système, il n'est pas garanti que l'ouverture fonctionne. Il est également possible de maintenir des portes adjacentes fermées par commande électrique lorsque le système est activé. L'élément de verrouillage est contrôlé par le contact de commutation du verrou à clé, lequel est inséré dans la gâche de la porte.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signal d'activation de reconnaissance émis par l'unité de contrôle du système d'alarme effraction permet de désactiver tout contrôle ultérieur du contact de commutation du verrou à clé qui est en mode "activé", ce qui a pour effet de verrouiller la porte pendant cette phase de commutation.</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36</a:t>
            </a:fld>
            <a:endParaRPr lang="en-US"/>
          </a:p>
        </p:txBody>
      </p:sp>
    </p:spTree>
    <p:extLst>
      <p:ext uri="{BB962C8B-B14F-4D97-AF65-F5344CB8AC3E}">
        <p14:creationId xmlns:p14="http://schemas.microsoft.com/office/powerpoint/2010/main" val="45263126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a:solidFill>
                  <a:schemeClr val="tx1"/>
                </a:solidFill>
                <a:effectLst/>
                <a:latin typeface="Arial" charset="0"/>
                <a:ea typeface="+mn-ea"/>
                <a:cs typeface="+mn-cs"/>
              </a:rPr>
              <a:t>Les serrures à clé</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serrures à clé sont utilisées pour paramétrer des systèmes d'alarme intrusion dans les environnements peu risqués. Ils sont intégrés à la porte d'accès à zone de protection, en plus de la serrure existante. La porte est fermée lorsque le système d'alarme intrusion est en mode "activé", ce qui empêche les intrus de pénétrer dans la zone de protection. La serrure à clé est contrôlée par un demi-cylindre profilé classique.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Il n'y a pas de circuit de résistance dans la zone définie. Celui-ci doit être géré dans la boîte de distribution.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Une LED extérieure en mode "activé" ou "désactivé" est raccordée aux deux fils libres qui sont alors insérés dans la porte. La connexion de la serrure à clé est réalisée au moyen de 6 fils.</a:t>
            </a:r>
            <a:endParaRPr lang="es-ES" sz="1200" kern="1200" dirty="0">
              <a:solidFill>
                <a:schemeClr val="tx1"/>
              </a:solidFill>
              <a:effectLst/>
              <a:latin typeface="Arial" charset="0"/>
              <a:ea typeface="+mn-ea"/>
              <a:cs typeface="+mn-cs"/>
            </a:endParaRPr>
          </a:p>
          <a:p>
            <a:br>
              <a:rPr lang="en-GB" sz="1200" b="1" kern="1200" dirty="0">
                <a:solidFill>
                  <a:schemeClr val="tx1"/>
                </a:solidFill>
                <a:effectLst/>
                <a:latin typeface="Arial" charset="0"/>
                <a:ea typeface="+mn-ea"/>
                <a:cs typeface="+mn-cs"/>
              </a:rPr>
            </a:br>
            <a:r>
              <a:rPr lang="en-US" sz="1200" b="1"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Les serrures de blocage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Une serrure de blocage s'utilise pour paramétrer des systèmes de contrôle d'alarme intrusion. Elle peut seulement être bloquée si le système ainsi que toutes ses fonctions sont prêts à être armés.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Elle est installée sur la porte utilisée pour sortir de la zone de protection.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Lorsque le système d'alarme intrusion est activé, la porte d'accès à la zone de protection est bloquée afin d'empêcher quiconque d'entrer.</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Lorsqu'elle est reliée à une autre unité de commutation, la serrure de blocage peut être utilisée pour intimider les intrus. Dans ce cas, elle ne peut pas être débloquée tant que le système d'alarme intrusion est armé. Lorsque le système est activé, cela empêche les intrus de pénétrer dans la zone de protection en passant par d'autres portes.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serrures de blocage ont un insert à double bit pour lequel utiliser une carte de sécurité n'est pas nécessaire.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demi-cylindre profilé traditionnel peut être inséré dans la serrure de blocage. Cependant, il faut pouvoir régler le dispositif de verrouillage de retour de ce cylindre à 45° des deux côtés. </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Les dispositifs d'armement de proximité</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Utiliser un dispositif d'armement de proximité avec des éléments de verrouillage et des contacts de commutation de verrou de clé garantit l'activation effective de l'unité de contrôle de l'alarme intrusion.</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Remarque</a:t>
            </a:r>
            <a:r>
              <a:rPr lang="en-GB" sz="1200" kern="1200">
                <a:solidFill>
                  <a:schemeClr val="tx1"/>
                </a:solidFill>
                <a:effectLst/>
                <a:latin typeface="Arial" charset="0"/>
                <a:ea typeface="+mn-ea"/>
                <a:cs typeface="+mn-cs"/>
              </a:rPr>
              <a:t>: Un verrou intelligent supplémentaire est requis pour les propriétés commerciales de la classe de sécurité SG5 et SG6.</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37</a:t>
            </a:fld>
            <a:endParaRPr lang="en-US"/>
          </a:p>
        </p:txBody>
      </p:sp>
    </p:spTree>
    <p:extLst>
      <p:ext uri="{BB962C8B-B14F-4D97-AF65-F5344CB8AC3E}">
        <p14:creationId xmlns:p14="http://schemas.microsoft.com/office/powerpoint/2010/main" val="31344963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La surveillance anti-effraction</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tentative d'arrêter tout ou partie d'un système d'alarme intrusion ou d'interférer avec son fonctionnement doit toujours conduire à émettre une alarme de sabotage.</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C'est la raison pour laquelle les câbles et les éléments de l'installation sont surveillés.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un système d'alarme intrusion est en mode "activé", une panne constatée dans le circuit de surveillance anti-effraction doit provoquer l'émission d'une alarme intrusion.</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38</a:t>
            </a:fld>
            <a:endParaRPr lang="en-US"/>
          </a:p>
        </p:txBody>
      </p:sp>
    </p:spTree>
    <p:extLst>
      <p:ext uri="{BB962C8B-B14F-4D97-AF65-F5344CB8AC3E}">
        <p14:creationId xmlns:p14="http://schemas.microsoft.com/office/powerpoint/2010/main" val="40783927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a:solidFill>
                  <a:schemeClr val="tx1"/>
                </a:solidFill>
                <a:effectLst/>
                <a:latin typeface="Arial" charset="0"/>
                <a:ea typeface="+mn-ea"/>
                <a:cs typeface="+mn-cs"/>
              </a:rPr>
              <a:t>Les groupes</a:t>
            </a:r>
            <a:endParaRPr lang="es-ES" sz="1200" b="1" kern="1200" dirty="0">
              <a:solidFill>
                <a:schemeClr val="tx1"/>
              </a:solidFill>
              <a:effectLst/>
              <a:latin typeface="Arial" charset="0"/>
              <a:ea typeface="+mn-ea"/>
              <a:cs typeface="+mn-cs"/>
            </a:endParaRPr>
          </a:p>
          <a:p>
            <a:pPr lvl="0"/>
            <a:r>
              <a:rPr lang="en-GB" sz="1200" b="1" kern="1200">
                <a:solidFill>
                  <a:schemeClr val="tx1"/>
                </a:solidFill>
                <a:effectLst/>
                <a:latin typeface="Arial" charset="0"/>
                <a:ea typeface="+mn-ea"/>
                <a:cs typeface="+mn-cs"/>
              </a:rPr>
              <a:t>Les zones</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Une zone est fondamentalement constituée d'un circuit qui sera coupé ou déconnecté par les contacts d'alarme des détecteurs (lesquels sont activés lorsqu'une tentative de cambriolage est détectée). L'unité de contrôle d'alarme intrusion enregistre ces courts-circuits ou ces coupures en réaliser des mesures de tension et de courant, et déclenche les mesures appropriées. Les différents circuits de zone sont décrits ci-dessous. Pour l'unité de contrôle d'alarme intrusion, veuillez prendre les valeurs exactes de courant et de tension pour les diagrammes de résistance indiquées dans le paragraphe sur les caractéristiques techniques des instructions d'installation.</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En matière de technologie de sécurité, nous distinguons les câbles non surveillés (circuits secondaires) des câbles dont on surveille les courts-circuits et les coupures (circuits primaires).</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39</a:t>
            </a:fld>
            <a:endParaRPr lang="en-US"/>
          </a:p>
        </p:txBody>
      </p:sp>
    </p:spTree>
    <p:extLst>
      <p:ext uri="{BB962C8B-B14F-4D97-AF65-F5344CB8AC3E}">
        <p14:creationId xmlns:p14="http://schemas.microsoft.com/office/powerpoint/2010/main" val="34459573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a:solidFill>
                  <a:schemeClr val="tx1"/>
                </a:solidFill>
                <a:effectLst/>
                <a:latin typeface="Arial" charset="0"/>
                <a:ea typeface="+mn-ea"/>
                <a:cs typeface="+mn-cs"/>
              </a:rPr>
              <a:t>Les circuits secondaires sont divisés entre les circuits fermés et les circuits en boucle ouverte.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circuits en boucle fermée sont fermés dans leur état habituel et ils sont traversés par un flux de courant.</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circuits secondaires</a:t>
            </a:r>
            <a:r>
              <a:rPr lang="en-GB" sz="1200" kern="1200">
                <a:solidFill>
                  <a:schemeClr val="tx1"/>
                </a:solidFill>
                <a:effectLst/>
                <a:latin typeface="Arial" charset="0"/>
                <a:ea typeface="+mn-ea"/>
                <a:cs typeface="+mn-cs"/>
              </a:rPr>
              <a:t>:</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24: Circuit en boucle fermée – flux de courant</a:t>
            </a:r>
            <a:endParaRPr lang="es-ES" sz="1200" b="1"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au moins l'un des contacts est ouvert, le flux de courant est coupé, ce qui provoque l'envoi d'un signal.</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circuits en boucle ouverte sont fermés dans leur état habituel et il n'y a pas de flux de courant.</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25 : Circuit en boucle ouverte – pas de flux de courant</a:t>
            </a:r>
            <a:endParaRPr lang="es-ES" sz="1200" b="1" kern="1200" dirty="0">
              <a:solidFill>
                <a:schemeClr val="tx1"/>
              </a:solidFill>
              <a:effectLst/>
              <a:latin typeface="Arial" charset="0"/>
              <a:ea typeface="+mn-ea"/>
              <a:cs typeface="+mn-cs"/>
            </a:endParaRPr>
          </a:p>
          <a:p>
            <a:r>
              <a:rPr lang="en-US" sz="1200" b="1" kern="1200">
                <a:solidFill>
                  <a:schemeClr val="tx1"/>
                </a:solidFill>
                <a:effectLst/>
                <a:latin typeface="Arial" charset="0"/>
                <a:ea typeface="+mn-ea"/>
                <a:cs typeface="+mn-cs"/>
              </a:rPr>
              <a:t> </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Si au moins l'un des contacts est fermé, il n'y pas de flux de courant donc aucun signal n'est envoyé. Ces deux circuits sont relativement faciles à manipuler. C'est la raison pour laquelle l'on utilise des circuits primaires. </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40</a:t>
            </a:fld>
            <a:endParaRPr lang="en-US"/>
          </a:p>
        </p:txBody>
      </p:sp>
    </p:spTree>
    <p:extLst>
      <p:ext uri="{BB962C8B-B14F-4D97-AF65-F5344CB8AC3E}">
        <p14:creationId xmlns:p14="http://schemas.microsoft.com/office/powerpoint/2010/main" val="126760056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a:solidFill>
                  <a:schemeClr val="tx1"/>
                </a:solidFill>
                <a:effectLst/>
                <a:latin typeface="Arial" charset="0"/>
                <a:ea typeface="+mn-ea"/>
                <a:cs typeface="+mn-cs"/>
              </a:rPr>
              <a:t>Circuit primaire</a:t>
            </a:r>
            <a:r>
              <a:rPr lang="en-GB" sz="1200" kern="1200">
                <a:solidFill>
                  <a:schemeClr val="tx1"/>
                </a:solidFill>
                <a:effectLst/>
                <a:latin typeface="Arial" charset="0"/>
                <a:ea typeface="+mn-ea"/>
                <a:cs typeface="+mn-cs"/>
              </a:rPr>
              <a:t>:</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26 :</a:t>
            </a:r>
            <a:r>
              <a:rPr lang="en-GB" sz="1200" kern="1200">
                <a:solidFill>
                  <a:schemeClr val="tx1"/>
                </a:solidFill>
                <a:effectLst/>
                <a:latin typeface="Arial" charset="0"/>
                <a:ea typeface="+mn-ea"/>
                <a:cs typeface="+mn-cs"/>
              </a:rPr>
              <a:t> </a:t>
            </a:r>
            <a:r>
              <a:rPr lang="en-GB" sz="1200" b="1" kern="1200">
                <a:solidFill>
                  <a:schemeClr val="tx1"/>
                </a:solidFill>
                <a:effectLst/>
                <a:latin typeface="Arial" charset="0"/>
                <a:ea typeface="+mn-ea"/>
                <a:cs typeface="+mn-cs"/>
              </a:rPr>
              <a:t>circuit primaire - 1 contact fermé</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Lors de leur fonctionnement habituel, un certain niveau de courant est défini. Si une perturbation se produit, il n'y aura aucun flux de courant tandis que si un court-circuit se produit, le flux de courant augmentera de manière significative. Les deux situations aboutissent à l'envoi d'un signal.</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41</a:t>
            </a:fld>
            <a:endParaRPr lang="en-US"/>
          </a:p>
        </p:txBody>
      </p:sp>
    </p:spTree>
    <p:extLst>
      <p:ext uri="{BB962C8B-B14F-4D97-AF65-F5344CB8AC3E}">
        <p14:creationId xmlns:p14="http://schemas.microsoft.com/office/powerpoint/2010/main" val="26886014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les zones de sabotage</a:t>
            </a:r>
            <a:endParaRPr lang="es-ES" sz="1200" b="1" kern="1200" dirty="0">
              <a:solidFill>
                <a:schemeClr val="tx1"/>
              </a:solidFill>
              <a:effectLst/>
              <a:latin typeface="Arial" charset="0"/>
              <a:ea typeface="+mn-ea"/>
              <a:cs typeface="+mn-cs"/>
            </a:endParaRPr>
          </a:p>
          <a:p>
            <a:r>
              <a:rPr lang="en-US" sz="1200" b="1"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zones de sabotage ont une résistance EOL de 2,7 kΩ, tout comme les circuits primaires. Tous les contacts anti-effraction (contacts de logement) des détecteurs et les boîtiers de raccordement sont inclus dans la zone de sabotage. Une zone peut comprendre un maximum de 20 appareils.</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a:solidFill>
                  <a:schemeClr val="tx1"/>
                </a:solidFill>
                <a:effectLst/>
                <a:latin typeface="Arial" charset="0"/>
                <a:ea typeface="+mn-ea"/>
                <a:cs typeface="+mn-cs"/>
              </a:rPr>
              <a:t>Illustration 27 : Zones de sabotage</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42</a:t>
            </a:fld>
            <a:endParaRPr lang="en-US"/>
          </a:p>
        </p:txBody>
      </p:sp>
    </p:spTree>
    <p:extLst>
      <p:ext uri="{BB962C8B-B14F-4D97-AF65-F5344CB8AC3E}">
        <p14:creationId xmlns:p14="http://schemas.microsoft.com/office/powerpoint/2010/main" val="51155290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Verrouiller les zones</a:t>
            </a:r>
            <a:r>
              <a:rPr lang="en-GB" sz="1200" b="0" kern="1200">
                <a:solidFill>
                  <a:schemeClr val="tx1"/>
                </a:solidFill>
                <a:effectLst/>
                <a:latin typeface="Arial" charset="0"/>
                <a:ea typeface="+mn-ea"/>
                <a:cs typeface="+mn-cs"/>
              </a:rPr>
              <a:t> </a:t>
            </a:r>
            <a:endParaRPr lang="es-ES" sz="1200" b="1" kern="1200" dirty="0">
              <a:solidFill>
                <a:schemeClr val="tx1"/>
              </a:solidFill>
              <a:effectLst/>
              <a:latin typeface="Arial" charset="0"/>
              <a:ea typeface="+mn-ea"/>
              <a:cs typeface="+mn-cs"/>
            </a:endParaRPr>
          </a:p>
          <a:p>
            <a:r>
              <a:rPr lang="en-US" sz="1200" b="1"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zones de verrouillage sont des circuits secondaires sans résistances EOL. </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28 : Zone de verrouillage</a:t>
            </a:r>
            <a:endParaRPr lang="es-ES" sz="1200" b="1"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 contact normalement ouvert de tous les contacts des gâches sont inclus dans la zone. Lorsque des éléments de verrouillage sont utilisés, il faut surveiller l'état de l'élément (ouvert ou fermé) et l'inclure dans la zone.</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43</a:t>
            </a:fld>
            <a:endParaRPr lang="en-US"/>
          </a:p>
        </p:txBody>
      </p:sp>
    </p:spTree>
    <p:extLst>
      <p:ext uri="{BB962C8B-B14F-4D97-AF65-F5344CB8AC3E}">
        <p14:creationId xmlns:p14="http://schemas.microsoft.com/office/powerpoint/2010/main" val="65970272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Les zones activées</a:t>
            </a:r>
            <a:endParaRPr lang="es-ES" sz="1200" b="1" kern="1200" dirty="0">
              <a:solidFill>
                <a:schemeClr val="tx1"/>
              </a:solidFill>
              <a:effectLst/>
              <a:latin typeface="Arial" charset="0"/>
              <a:ea typeface="+mn-ea"/>
              <a:cs typeface="+mn-cs"/>
            </a:endParaRPr>
          </a:p>
          <a:p>
            <a:r>
              <a:rPr lang="en-US" sz="1200" b="1"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zone définie peut être implémentée avec une résistance EOL de 2. kΩ</a:t>
            </a:r>
            <a:r>
              <a:rPr lang="en-GB" sz="1000" kern="1200">
                <a:solidFill>
                  <a:schemeClr val="tx1"/>
                </a:solidFill>
                <a:effectLst/>
                <a:latin typeface="Arial" charset="0"/>
                <a:ea typeface="+mn-ea"/>
                <a:cs typeface="+mn-cs"/>
              </a:rPr>
              <a:t> </a:t>
            </a:r>
            <a:r>
              <a:rPr lang="en-GB" sz="1200" kern="1200">
                <a:solidFill>
                  <a:schemeClr val="tx1"/>
                </a:solidFill>
                <a:effectLst/>
                <a:latin typeface="Arial" charset="0"/>
                <a:ea typeface="+mn-ea"/>
                <a:cs typeface="+mn-cs"/>
              </a:rPr>
              <a:t>comme avec les circuits primaires dans les systèmes d'alarme d'intrusion.</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 court-circuit ou une coupure de la zone activée entraîne le renforcement du système d'alarme intrusion.</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29 : Définir la zone</a:t>
            </a:r>
            <a:endParaRPr lang="es-ES" sz="1200" b="1"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Alternativement, en plus de la résistance EOL de 2,7 kΩ, une résistance de 560 Ω</a:t>
            </a:r>
            <a:r>
              <a:rPr lang="en-GB" sz="1000" kern="1200">
                <a:solidFill>
                  <a:schemeClr val="tx1"/>
                </a:solidFill>
                <a:effectLst/>
                <a:latin typeface="Arial" charset="0"/>
                <a:ea typeface="+mn-ea"/>
                <a:cs typeface="+mn-cs"/>
              </a:rPr>
              <a:t> </a:t>
            </a:r>
            <a:r>
              <a:rPr lang="en-GB" sz="1200" kern="1200">
                <a:solidFill>
                  <a:schemeClr val="tx1"/>
                </a:solidFill>
                <a:effectLst/>
                <a:latin typeface="Arial" charset="0"/>
                <a:ea typeface="+mn-ea"/>
                <a:cs typeface="+mn-cs"/>
              </a:rPr>
              <a:t>peut être connectée en série. Le pontage de cette résistance de 560 Ω conduit à la désactivation du système d'alarme intrusion. Un court-circuit ou la perturbation de la zone extérieure activée entraîne l'émission d'une alarme de sabotage.</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30 : Définir la zone </a:t>
            </a:r>
            <a:endParaRPr lang="es-ES" sz="14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44</a:t>
            </a:fld>
            <a:endParaRPr lang="en-US"/>
          </a:p>
        </p:txBody>
      </p:sp>
    </p:spTree>
    <p:extLst>
      <p:ext uri="{BB962C8B-B14F-4D97-AF65-F5344CB8AC3E}">
        <p14:creationId xmlns:p14="http://schemas.microsoft.com/office/powerpoint/2010/main" val="18600928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Les zones de panique</a:t>
            </a:r>
            <a:endParaRPr lang="es-ES" sz="1200" b="1" kern="1200" dirty="0">
              <a:solidFill>
                <a:schemeClr val="tx1"/>
              </a:solidFill>
              <a:effectLst/>
              <a:latin typeface="Arial" charset="0"/>
              <a:ea typeface="+mn-ea"/>
              <a:cs typeface="+mn-cs"/>
            </a:endParaRPr>
          </a:p>
          <a:p>
            <a:r>
              <a:rPr lang="en-US" sz="1200" b="1"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zones de panique sont conçues comme des circuits primaires avec une résistance EOL de 2,7 kΩ.</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31: Zone panique</a:t>
            </a:r>
            <a:endParaRPr lang="es-ES" sz="1200" b="1"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La perturbation d'une zone de panique entraîne toujours le déclenchement d'une alarme à distance.</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45</a:t>
            </a:fld>
            <a:endParaRPr lang="en-US"/>
          </a:p>
        </p:txBody>
      </p:sp>
    </p:spTree>
    <p:extLst>
      <p:ext uri="{BB962C8B-B14F-4D97-AF65-F5344CB8AC3E}">
        <p14:creationId xmlns:p14="http://schemas.microsoft.com/office/powerpoint/2010/main" val="230428717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Les signaux d'alarme locaux externes</a:t>
            </a:r>
            <a:endParaRPr lang="es-ES" sz="1200" b="1" kern="1200" dirty="0">
              <a:solidFill>
                <a:schemeClr val="tx1"/>
              </a:solidFill>
              <a:effectLst/>
              <a:latin typeface="Arial" charset="0"/>
              <a:ea typeface="+mn-ea"/>
              <a:cs typeface="+mn-cs"/>
            </a:endParaRPr>
          </a:p>
          <a:p>
            <a:r>
              <a:rPr lang="en-US" sz="1200" b="1"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câbles d'alimentation des appareils de signalisation ne sont pas surveillés au niveau des unités de contrôle d'alarme intrusion. Un court-circuit ou une coupure de ces câbles ne sera pas détecté.</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32: Signal d'alarme locale externe</a:t>
            </a:r>
            <a:endParaRPr lang="es-ES" sz="1200" b="1" kern="1200" dirty="0">
              <a:solidFill>
                <a:schemeClr val="tx1"/>
              </a:solidFill>
              <a:effectLst/>
              <a:latin typeface="Arial" charset="0"/>
              <a:ea typeface="+mn-ea"/>
              <a:cs typeface="+mn-cs"/>
            </a:endParaRPr>
          </a:p>
          <a:p>
            <a:r>
              <a:rPr lang="en-US" sz="1200" b="1" kern="1200">
                <a:solidFill>
                  <a:schemeClr val="tx1"/>
                </a:solidFill>
                <a:effectLst/>
                <a:latin typeface="Arial" charset="0"/>
                <a:ea typeface="+mn-ea"/>
                <a:cs typeface="+mn-cs"/>
              </a:rPr>
              <a:t> </a:t>
            </a:r>
            <a:endParaRPr lang="es-ES" sz="1200" b="1"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Une autre possibilité est de relier le câble d'alimentation aux dispositifs de signalisation externes comme circuits primaires, dont on surveille les courts-circuits et les coupures.</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circuits d'alarme des dispositifs de signalisation externes doivent être réalisés avec une résistance EOL de 1 kΩ chacun. Un court-circuit ou une perturbation du circuit de l'alarme provoque l'émission d'une alarme de sabotage.</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33 : Signal tampon – Résistance à l’EOL de 1 kΩ chacun</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46</a:t>
            </a:fld>
            <a:endParaRPr lang="en-US"/>
          </a:p>
        </p:txBody>
      </p:sp>
    </p:spTree>
    <p:extLst>
      <p:ext uri="{BB962C8B-B14F-4D97-AF65-F5344CB8AC3E}">
        <p14:creationId xmlns:p14="http://schemas.microsoft.com/office/powerpoint/2010/main" val="211950875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a:solidFill>
                  <a:schemeClr val="tx1"/>
                </a:solidFill>
                <a:effectLst/>
                <a:latin typeface="Arial" charset="0"/>
                <a:ea typeface="+mn-ea"/>
                <a:cs typeface="+mn-cs"/>
              </a:rPr>
              <a:t>Les signaux d'alarme locaux internes</a:t>
            </a:r>
            <a:endParaRPr lang="es-ES" sz="1200" b="1" kern="1200" dirty="0">
              <a:solidFill>
                <a:schemeClr val="tx1"/>
              </a:solidFill>
              <a:effectLst/>
              <a:latin typeface="Arial" charset="0"/>
              <a:ea typeface="+mn-ea"/>
              <a:cs typeface="+mn-cs"/>
            </a:endParaRPr>
          </a:p>
          <a:p>
            <a:r>
              <a:rPr lang="en-US" sz="1200" b="1"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a:solidFill>
                  <a:schemeClr val="tx1"/>
                </a:solidFill>
                <a:effectLst/>
                <a:latin typeface="Arial" charset="0"/>
                <a:ea typeface="+mn-ea"/>
                <a:cs typeface="+mn-cs"/>
              </a:rPr>
              <a:t>Les câbles d'alimentation des appareils de signalisation ne sont pas surveillés au niveau des unités de contrôle d'alarme intrusion. Un court-circuit ou une coupure de ces câbles ne sera pas détecté.</a:t>
            </a:r>
            <a:endParaRPr lang="es-ES" sz="1200" kern="1200" dirty="0">
              <a:solidFill>
                <a:schemeClr val="tx1"/>
              </a:solidFill>
              <a:effectLst/>
              <a:latin typeface="Arial" charset="0"/>
              <a:ea typeface="+mn-ea"/>
              <a:cs typeface="+mn-cs"/>
            </a:endParaRPr>
          </a:p>
          <a:p>
            <a:r>
              <a:rPr lang="en-US" sz="1200" kern="120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r>
              <a:rPr lang="en-GB" sz="1200" b="1" kern="1200">
                <a:solidFill>
                  <a:schemeClr val="tx1"/>
                </a:solidFill>
                <a:effectLst/>
                <a:latin typeface="Arial" charset="0"/>
                <a:ea typeface="+mn-ea"/>
                <a:cs typeface="+mn-cs"/>
              </a:rPr>
              <a:t>Illustration 34 : Signal d'alarme locale interne</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47</a:t>
            </a:fld>
            <a:endParaRPr lang="en-US"/>
          </a:p>
        </p:txBody>
      </p:sp>
    </p:spTree>
    <p:extLst>
      <p:ext uri="{BB962C8B-B14F-4D97-AF65-F5344CB8AC3E}">
        <p14:creationId xmlns:p14="http://schemas.microsoft.com/office/powerpoint/2010/main" val="18567842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LEVEL 1">
    <p:spTree>
      <p:nvGrpSpPr>
        <p:cNvPr id="1" name=""/>
        <p:cNvGrpSpPr/>
        <p:nvPr/>
      </p:nvGrpSpPr>
      <p:grpSpPr>
        <a:xfrm>
          <a:off x="0" y="0"/>
          <a:ext cx="0" cy="0"/>
          <a:chOff x="0" y="0"/>
          <a:chExt cx="0" cy="0"/>
        </a:xfrm>
      </p:grpSpPr>
      <p:pic>
        <p:nvPicPr>
          <p:cNvPr id="6" name="Picture 7"/>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27663" y="4630738"/>
            <a:ext cx="3443287" cy="173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hasCustomPrompt="1"/>
          </p:nvPr>
        </p:nvSpPr>
        <p:spPr>
          <a:xfrm>
            <a:off x="447675" y="2122715"/>
            <a:ext cx="6890657" cy="996042"/>
          </a:xfrm>
        </p:spPr>
        <p:txBody>
          <a:bodyPr/>
          <a:lstStyle>
            <a:lvl1pPr algn="l">
              <a:defRPr sz="2800" baseline="0">
                <a:latin typeface="Gotham Medium"/>
              </a:defRPr>
            </a:lvl1pPr>
          </a:lstStyle>
          <a:p>
            <a:r>
              <a:rPr lang="en-US" dirty="0"/>
              <a:t>&lt;&lt;Main Title&gt;&gt;</a:t>
            </a:r>
          </a:p>
        </p:txBody>
      </p:sp>
      <p:sp>
        <p:nvSpPr>
          <p:cNvPr id="3" name="Subtitle 2"/>
          <p:cNvSpPr>
            <a:spLocks noGrp="1"/>
          </p:cNvSpPr>
          <p:nvPr>
            <p:ph type="subTitle" idx="1" hasCustomPrompt="1"/>
          </p:nvPr>
        </p:nvSpPr>
        <p:spPr>
          <a:xfrm>
            <a:off x="447675" y="3393054"/>
            <a:ext cx="4343400" cy="481693"/>
          </a:xfrm>
        </p:spPr>
        <p:txBody>
          <a:bodyPr/>
          <a:lstStyle>
            <a:lvl1pPr marL="0" indent="0" algn="l">
              <a:buNone/>
              <a:defRPr sz="200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2489093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LEVEL 2">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2" name="Content Placeholder 2"/>
          <p:cNvSpPr>
            <a:spLocks noGrp="1"/>
          </p:cNvSpPr>
          <p:nvPr>
            <p:ph idx="1"/>
          </p:nvPr>
        </p:nvSpPr>
        <p:spPr>
          <a:xfrm>
            <a:off x="457200" y="1911010"/>
            <a:ext cx="8229600" cy="4089740"/>
          </a:xfrm>
        </p:spPr>
        <p:txBody>
          <a:bodyPr/>
          <a:lstStyle>
            <a:lvl1pPr>
              <a:defRPr sz="2000">
                <a:latin typeface="Gotham Light"/>
              </a:defRPr>
            </a:lvl1pPr>
            <a:lvl2pPr>
              <a:defRPr sz="1800">
                <a:latin typeface="Gotham Light"/>
              </a:defRPr>
            </a:lvl2pPr>
            <a:lvl3pPr>
              <a:defRPr sz="1500">
                <a:latin typeface="Gotham Light"/>
              </a:defRPr>
            </a:lvl3pPr>
            <a:lvl4pPr>
              <a:defRPr sz="1500">
                <a:latin typeface="Gotham Light"/>
              </a:defRPr>
            </a:lvl4pPr>
            <a:lvl5pPr>
              <a:defRPr sz="1500">
                <a:latin typeface="Gotham Ligh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58635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LEVEL 3">
    <p:spTree>
      <p:nvGrpSpPr>
        <p:cNvPr id="1" name=""/>
        <p:cNvGrpSpPr/>
        <p:nvPr/>
      </p:nvGrpSpPr>
      <p:grpSpPr>
        <a:xfrm>
          <a:off x="0" y="0"/>
          <a:ext cx="0" cy="0"/>
          <a:chOff x="0" y="0"/>
          <a:chExt cx="0" cy="0"/>
        </a:xfrm>
      </p:grpSpPr>
      <p:sp>
        <p:nvSpPr>
          <p:cNvPr id="5"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6"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7"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11"/>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9" name="Title 1"/>
          <p:cNvSpPr txBox="1">
            <a:spLocks/>
          </p:cNvSpPr>
          <p:nvPr/>
        </p:nvSpPr>
        <p:spPr bwMode="auto">
          <a:xfrm>
            <a:off x="690563" y="3148013"/>
            <a:ext cx="688975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lgn="l" defTabSz="457200" rtl="0" eaLnBrk="0" fontAlgn="base" hangingPunct="0">
              <a:spcBef>
                <a:spcPct val="0"/>
              </a:spcBef>
              <a:spcAft>
                <a:spcPct val="0"/>
              </a:spcAft>
              <a:buFont typeface="Wingdings" panose="05000000000000000000" pitchFamily="2" charset="2"/>
              <a:buChar char="§"/>
              <a:defRPr sz="2500" kern="1200">
                <a:solidFill>
                  <a:schemeClr val="tx1"/>
                </a:solidFill>
                <a:latin typeface="Gotham Medium"/>
                <a:ea typeface="MS PGothic" panose="020B0600070205080204" pitchFamily="34" charset="-128"/>
                <a:cs typeface="MS PGothic" charset="0"/>
              </a:defRPr>
            </a:lvl1pPr>
            <a:lvl2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9pPr>
          </a:lstStyle>
          <a:p>
            <a:pPr>
              <a:defRPr/>
            </a:pPr>
            <a:r>
              <a:rPr lang="es-ES_tradnl" dirty="0" err="1"/>
              <a:t>Title</a:t>
            </a:r>
            <a:r>
              <a:rPr lang="es-ES_tradnl" dirty="0"/>
              <a:t> 2 </a:t>
            </a:r>
            <a:r>
              <a:rPr lang="en-US" dirty="0"/>
              <a:t>&lt;&lt;e.g. agenda point&gt;&gt;</a:t>
            </a:r>
          </a:p>
        </p:txBody>
      </p:sp>
      <p:sp>
        <p:nvSpPr>
          <p:cNvPr id="10" name="Subtitle 2"/>
          <p:cNvSpPr txBox="1">
            <a:spLocks/>
          </p:cNvSpPr>
          <p:nvPr/>
        </p:nvSpPr>
        <p:spPr bwMode="auto">
          <a:xfrm>
            <a:off x="936625" y="3867150"/>
            <a:ext cx="4343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0" indent="0" algn="l" defTabSz="457200" rtl="0" eaLnBrk="0" fontAlgn="base" hangingPunct="0">
              <a:spcBef>
                <a:spcPct val="20000"/>
              </a:spcBef>
              <a:spcAft>
                <a:spcPct val="0"/>
              </a:spcAft>
              <a:buFont typeface="Arial" panose="020B0604020202020204" pitchFamily="34" charset="0"/>
              <a:buNone/>
              <a:defRPr sz="1500" kern="1200">
                <a:solidFill>
                  <a:schemeClr val="tx1"/>
                </a:solidFill>
                <a:latin typeface="Gotham Light"/>
                <a:ea typeface="MS PGothic" panose="020B0600070205080204" pitchFamily="34" charset="-128"/>
                <a:cs typeface="MS PGothic" charset="0"/>
              </a:defRPr>
            </a:lvl1pPr>
            <a:lvl2pPr marL="457200" indent="0" algn="ctr" defTabSz="457200" rtl="0" eaLnBrk="0" fontAlgn="base" hangingPunct="0">
              <a:spcBef>
                <a:spcPct val="20000"/>
              </a:spcBef>
              <a:spcAft>
                <a:spcPct val="0"/>
              </a:spcAft>
              <a:buFont typeface="Arial" panose="020B0604020202020204" pitchFamily="34" charset="0"/>
              <a:buNone/>
              <a:defRPr sz="2800" kern="1200">
                <a:solidFill>
                  <a:schemeClr val="tx1">
                    <a:tint val="75000"/>
                  </a:schemeClr>
                </a:solidFill>
                <a:latin typeface="+mn-lt"/>
                <a:ea typeface="MS PGothic" panose="020B0600070205080204" pitchFamily="34" charset="-128"/>
                <a:cs typeface="MS PGothic" charset="0"/>
              </a:defRPr>
            </a:lvl2pPr>
            <a:lvl3pPr marL="914400" indent="0" algn="ctr" defTabSz="457200" rtl="0" eaLnBrk="0" fontAlgn="base" hangingPunct="0">
              <a:spcBef>
                <a:spcPct val="20000"/>
              </a:spcBef>
              <a:spcAft>
                <a:spcPct val="0"/>
              </a:spcAft>
              <a:buFont typeface="Arial" panose="020B0604020202020204" pitchFamily="34" charset="0"/>
              <a:buNone/>
              <a:defRPr sz="2400" kern="1200">
                <a:solidFill>
                  <a:schemeClr val="tx1">
                    <a:tint val="75000"/>
                  </a:schemeClr>
                </a:solidFill>
                <a:latin typeface="+mn-lt"/>
                <a:ea typeface="MS PGothic" panose="020B0600070205080204" pitchFamily="34" charset="-128"/>
                <a:cs typeface="MS PGothic" charset="0"/>
              </a:defRPr>
            </a:lvl3pPr>
            <a:lvl4pPr marL="13716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4pPr>
            <a:lvl5pPr marL="18288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dirty="0"/>
              <a:t>&lt;&lt;subtitle&gt;&gt;</a:t>
            </a:r>
          </a:p>
        </p:txBody>
      </p:sp>
      <p:sp>
        <p:nvSpPr>
          <p:cNvPr id="16" name="Title 1"/>
          <p:cNvSpPr>
            <a:spLocks noGrp="1"/>
          </p:cNvSpPr>
          <p:nvPr>
            <p:ph type="ctrTitle" hasCustomPrompt="1"/>
          </p:nvPr>
        </p:nvSpPr>
        <p:spPr>
          <a:xfrm>
            <a:off x="690108" y="1449155"/>
            <a:ext cx="6890657" cy="719476"/>
          </a:xfrm>
        </p:spPr>
        <p:txBody>
          <a:bodyPr/>
          <a:lstStyle>
            <a:lvl1pPr marL="342900" indent="-342900" algn="l">
              <a:buFont typeface="Wingdings" panose="05000000000000000000" pitchFamily="2" charset="2"/>
              <a:buChar char="§"/>
              <a:defRPr sz="2500">
                <a:latin typeface="Gotham Medium"/>
              </a:defRPr>
            </a:lvl1pPr>
          </a:lstStyle>
          <a:p>
            <a:r>
              <a:rPr lang="en-US" dirty="0"/>
              <a:t>Title 1 &lt;&lt;e.g. agenda point&gt;&gt;</a:t>
            </a:r>
          </a:p>
        </p:txBody>
      </p:sp>
      <p:sp>
        <p:nvSpPr>
          <p:cNvPr id="17" name="Subtitle 2"/>
          <p:cNvSpPr>
            <a:spLocks noGrp="1"/>
          </p:cNvSpPr>
          <p:nvPr>
            <p:ph type="subTitle" idx="1" hasCustomPrompt="1"/>
          </p:nvPr>
        </p:nvSpPr>
        <p:spPr>
          <a:xfrm>
            <a:off x="936625" y="2168631"/>
            <a:ext cx="4343400" cy="481693"/>
          </a:xfrm>
        </p:spPr>
        <p:txBody>
          <a:bodyPr/>
          <a:lstStyle>
            <a:lvl1pPr marL="0" indent="0" algn="l">
              <a:buNone/>
              <a:defRPr sz="1500" baseline="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1134689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1 PICTURE">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6" name="Text Placeholder 15"/>
          <p:cNvSpPr>
            <a:spLocks noGrp="1"/>
          </p:cNvSpPr>
          <p:nvPr>
            <p:ph type="body" sz="quarter" idx="11" hasCustomPrompt="1"/>
          </p:nvPr>
        </p:nvSpPr>
        <p:spPr>
          <a:xfrm>
            <a:off x="784452" y="2376262"/>
            <a:ext cx="3668485" cy="644751"/>
          </a:xfrm>
        </p:spPr>
        <p:txBody>
          <a:bodyPr/>
          <a:lstStyle>
            <a:lvl1pPr algn="l" defTabSz="457200" rtl="0" eaLnBrk="1" fontAlgn="base" hangingPunct="1">
              <a:spcBef>
                <a:spcPct val="0"/>
              </a:spcBef>
              <a:spcAft>
                <a:spcPct val="0"/>
              </a:spcAft>
              <a:defRPr lang="en-US" sz="2800" kern="1200" dirty="0">
                <a:solidFill>
                  <a:srgbClr val="404040"/>
                </a:solidFill>
                <a:latin typeface="Gotham Medium" charset="0"/>
                <a:ea typeface="MS PGothic" panose="020B0600070205080204" pitchFamily="34" charset="-128"/>
                <a:cs typeface="+mn-cs"/>
              </a:defRPr>
            </a:lvl1pPr>
          </a:lstStyle>
          <a:p>
            <a:pPr lvl="0"/>
            <a:r>
              <a:rPr lang="en-US" dirty="0"/>
              <a:t>&lt;&lt;Headline&gt;&gt;</a:t>
            </a:r>
          </a:p>
        </p:txBody>
      </p:sp>
      <p:sp>
        <p:nvSpPr>
          <p:cNvPr id="18" name="Text Placeholder 17"/>
          <p:cNvSpPr>
            <a:spLocks noGrp="1"/>
          </p:cNvSpPr>
          <p:nvPr>
            <p:ph type="body" sz="quarter" idx="12" hasCustomPrompt="1"/>
          </p:nvPr>
        </p:nvSpPr>
        <p:spPr>
          <a:xfrm>
            <a:off x="1159693" y="3298825"/>
            <a:ext cx="3293244" cy="1330325"/>
          </a:xfrm>
        </p:spPr>
        <p:txBody>
          <a:bodyPr/>
          <a:lstStyle>
            <a:lvl1pPr marL="0" indent="0">
              <a:buNone/>
              <a:defRPr lang="en-US" sz="15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4452938" y="1927225"/>
            <a:ext cx="4691062" cy="3135313"/>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1042906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3 PICTURES">
    <p:spTree>
      <p:nvGrpSpPr>
        <p:cNvPr id="1" name=""/>
        <p:cNvGrpSpPr/>
        <p:nvPr/>
      </p:nvGrpSpPr>
      <p:grpSpPr>
        <a:xfrm>
          <a:off x="0" y="0"/>
          <a:ext cx="0" cy="0"/>
          <a:chOff x="0" y="0"/>
          <a:chExt cx="0" cy="0"/>
        </a:xfrm>
      </p:grpSpPr>
      <p:cxnSp>
        <p:nvCxnSpPr>
          <p:cNvPr id="12"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24"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25"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26"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Box 26"/>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p:txBody>
      </p:sp>
      <p:sp>
        <p:nvSpPr>
          <p:cNvPr id="16" name="Text Placeholder 15"/>
          <p:cNvSpPr>
            <a:spLocks noGrp="1"/>
          </p:cNvSpPr>
          <p:nvPr>
            <p:ph type="body" sz="quarter" idx="11" hasCustomPrompt="1"/>
          </p:nvPr>
        </p:nvSpPr>
        <p:spPr>
          <a:xfrm>
            <a:off x="482600" y="1915316"/>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8" name="Text Placeholder 17"/>
          <p:cNvSpPr>
            <a:spLocks noGrp="1"/>
          </p:cNvSpPr>
          <p:nvPr>
            <p:ph type="body" sz="quarter" idx="12" hasCustomPrompt="1"/>
          </p:nvPr>
        </p:nvSpPr>
        <p:spPr>
          <a:xfrm>
            <a:off x="2563950" y="1761443"/>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6389688" y="1501099"/>
            <a:ext cx="2754312" cy="1402440"/>
          </a:xfrm>
        </p:spPr>
        <p:txBody>
          <a:bodyPr/>
          <a:lstStyle/>
          <a:p>
            <a:pPr lvl="0"/>
            <a:r>
              <a:rPr lang="en-US" noProof="0"/>
              <a:t>Click icon to add picture</a:t>
            </a:r>
            <a:endParaRPr lang="en-US" noProof="0" dirty="0"/>
          </a:p>
        </p:txBody>
      </p:sp>
      <p:sp>
        <p:nvSpPr>
          <p:cNvPr id="15" name="Text Placeholder 15"/>
          <p:cNvSpPr>
            <a:spLocks noGrp="1"/>
          </p:cNvSpPr>
          <p:nvPr>
            <p:ph type="body" sz="quarter" idx="14" hasCustomPrompt="1"/>
          </p:nvPr>
        </p:nvSpPr>
        <p:spPr>
          <a:xfrm>
            <a:off x="496212" y="358627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7" name="Text Placeholder 17"/>
          <p:cNvSpPr>
            <a:spLocks noGrp="1"/>
          </p:cNvSpPr>
          <p:nvPr>
            <p:ph type="body" sz="quarter" idx="15" hasCustomPrompt="1"/>
          </p:nvPr>
        </p:nvSpPr>
        <p:spPr>
          <a:xfrm>
            <a:off x="2577562" y="343240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19" name="Picture Placeholder 20"/>
          <p:cNvSpPr>
            <a:spLocks noGrp="1"/>
          </p:cNvSpPr>
          <p:nvPr>
            <p:ph type="pic" sz="quarter" idx="16"/>
          </p:nvPr>
        </p:nvSpPr>
        <p:spPr>
          <a:xfrm>
            <a:off x="6403300" y="3172060"/>
            <a:ext cx="2754312" cy="1402440"/>
          </a:xfrm>
        </p:spPr>
        <p:txBody>
          <a:bodyPr/>
          <a:lstStyle/>
          <a:p>
            <a:pPr lvl="0"/>
            <a:r>
              <a:rPr lang="en-US" noProof="0"/>
              <a:t>Click icon to add picture</a:t>
            </a:r>
            <a:endParaRPr lang="en-US" noProof="0" dirty="0"/>
          </a:p>
        </p:txBody>
      </p:sp>
      <p:sp>
        <p:nvSpPr>
          <p:cNvPr id="20" name="Text Placeholder 15"/>
          <p:cNvSpPr>
            <a:spLocks noGrp="1"/>
          </p:cNvSpPr>
          <p:nvPr>
            <p:ph type="body" sz="quarter" idx="17" hasCustomPrompt="1"/>
          </p:nvPr>
        </p:nvSpPr>
        <p:spPr>
          <a:xfrm>
            <a:off x="501653" y="528172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22" name="Text Placeholder 17"/>
          <p:cNvSpPr>
            <a:spLocks noGrp="1"/>
          </p:cNvSpPr>
          <p:nvPr>
            <p:ph type="body" sz="quarter" idx="18" hasCustomPrompt="1"/>
          </p:nvPr>
        </p:nvSpPr>
        <p:spPr>
          <a:xfrm>
            <a:off x="2583003" y="512785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3" name="Picture Placeholder 20"/>
          <p:cNvSpPr>
            <a:spLocks noGrp="1"/>
          </p:cNvSpPr>
          <p:nvPr>
            <p:ph type="pic" sz="quarter" idx="19"/>
          </p:nvPr>
        </p:nvSpPr>
        <p:spPr>
          <a:xfrm>
            <a:off x="6408741" y="4867510"/>
            <a:ext cx="2754312" cy="1402440"/>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667713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LARGE PICTURE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21" name="Picture Placeholder 20"/>
          <p:cNvSpPr>
            <a:spLocks noGrp="1"/>
          </p:cNvSpPr>
          <p:nvPr>
            <p:ph type="pic" sz="quarter" idx="13"/>
          </p:nvPr>
        </p:nvSpPr>
        <p:spPr>
          <a:xfrm>
            <a:off x="339726" y="1477053"/>
            <a:ext cx="8804274" cy="4835752"/>
          </a:xfrm>
        </p:spPr>
        <p:txBody>
          <a:bodyPr/>
          <a:lstStyle/>
          <a:p>
            <a:pPr lvl="0"/>
            <a:r>
              <a:rPr lang="en-US" noProof="0"/>
              <a:t>Click icon to add picture</a:t>
            </a:r>
            <a:endParaRPr lang="en-US" noProof="0" dirty="0"/>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808628" y="2020548"/>
            <a:ext cx="3293244" cy="1330325"/>
          </a:xfrm>
        </p:spPr>
        <p:txBody>
          <a:bodyPr/>
          <a:lstStyle>
            <a:lvl1pPr marL="0" indent="0">
              <a:buNone/>
              <a:defRPr lang="en-US" sz="18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Tree>
    <p:extLst>
      <p:ext uri="{BB962C8B-B14F-4D97-AF65-F5344CB8AC3E}">
        <p14:creationId xmlns:p14="http://schemas.microsoft.com/office/powerpoint/2010/main" val="1046509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VIDEO AND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1984375" y="1466392"/>
            <a:ext cx="5511800" cy="444500"/>
          </a:xfrm>
        </p:spPr>
        <p:txBody>
          <a:bodyPr/>
          <a:lstStyle>
            <a:lvl1pPr marL="0" indent="0" algn="ctr">
              <a:buNone/>
              <a:defRPr sz="2000" baseline="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3016250" y="4998247"/>
            <a:ext cx="3787865" cy="658482"/>
          </a:xfrm>
        </p:spPr>
        <p:txBody>
          <a:bodyPr/>
          <a:lstStyle>
            <a:lvl1pPr marL="0" indent="0" algn="ctr">
              <a:buNone/>
              <a:defRPr lang="en-US" sz="1400" kern="1200" dirty="0" smtClean="0">
                <a:solidFill>
                  <a:schemeClr val="tx1">
                    <a:lumMod val="75000"/>
                    <a:lumOff val="25000"/>
                  </a:schemeClr>
                </a:solidFill>
                <a:latin typeface="Gotham Light"/>
                <a:ea typeface="+mn-ea"/>
                <a:cs typeface="Gotham Light"/>
              </a:defRPr>
            </a:lvl1pPr>
          </a:lstStyle>
          <a:p>
            <a:pPr lvl="0"/>
            <a:r>
              <a:rPr lang="en-US" dirty="0"/>
              <a:t>&lt;&lt;Description of media&gt;&gt;</a:t>
            </a:r>
          </a:p>
          <a:p>
            <a:pPr lvl="0"/>
            <a:r>
              <a:rPr lang="en-US" dirty="0"/>
              <a:t>&lt;&lt;caption&gt;&gt;</a:t>
            </a:r>
          </a:p>
        </p:txBody>
      </p:sp>
      <p:sp>
        <p:nvSpPr>
          <p:cNvPr id="3" name="Media Placeholder 2"/>
          <p:cNvSpPr>
            <a:spLocks noGrp="1"/>
          </p:cNvSpPr>
          <p:nvPr>
            <p:ph type="media" sz="quarter" idx="14"/>
          </p:nvPr>
        </p:nvSpPr>
        <p:spPr>
          <a:xfrm>
            <a:off x="1984375" y="2020888"/>
            <a:ext cx="5511800" cy="2863850"/>
          </a:xfrm>
        </p:spPr>
        <p:txBody>
          <a:bodyPr/>
          <a:lstStyle>
            <a:lvl1pPr>
              <a:defRPr/>
            </a:lvl1pPr>
          </a:lstStyle>
          <a:p>
            <a:pPr lvl="0"/>
            <a:r>
              <a:rPr lang="en-US" noProof="0"/>
              <a:t>Click icon to add media</a:t>
            </a:r>
            <a:endParaRPr lang="en-US" noProof="0" dirty="0"/>
          </a:p>
        </p:txBody>
      </p:sp>
    </p:spTree>
    <p:extLst>
      <p:ext uri="{BB962C8B-B14F-4D97-AF65-F5344CB8AC3E}">
        <p14:creationId xmlns:p14="http://schemas.microsoft.com/office/powerpoint/2010/main" val="3145434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pic>
        <p:nvPicPr>
          <p:cNvPr id="3"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3063" y="5222875"/>
            <a:ext cx="1465262"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7"/>
          <p:cNvSpPr txBox="1">
            <a:spLocks noChangeArrowheads="1"/>
          </p:cNvSpPr>
          <p:nvPr/>
        </p:nvSpPr>
        <p:spPr bwMode="auto">
          <a:xfrm>
            <a:off x="263525" y="5962650"/>
            <a:ext cx="4224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r>
              <a:rPr lang="en-US" altLang="en-US" sz="1400">
                <a:solidFill>
                  <a:srgbClr val="404040"/>
                </a:solidFill>
                <a:latin typeface="Gotham Light" charset="0"/>
              </a:rPr>
              <a:t>Smart home and building solutions.</a:t>
            </a:r>
          </a:p>
          <a:p>
            <a:pPr eaLnBrk="1" hangingPunct="1"/>
            <a:r>
              <a:rPr lang="en-US" altLang="en-US" sz="1400">
                <a:solidFill>
                  <a:srgbClr val="404040"/>
                </a:solidFill>
                <a:latin typeface="Gotham Light" charset="0"/>
              </a:rPr>
              <a:t>Global. Secure. Connected.</a:t>
            </a:r>
          </a:p>
        </p:txBody>
      </p:sp>
      <p:pic>
        <p:nvPicPr>
          <p:cNvPr id="5" name="Picture 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5663" y="4886325"/>
            <a:ext cx="2935287"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8"/>
          <p:cNvSpPr txBox="1"/>
          <p:nvPr/>
        </p:nvSpPr>
        <p:spPr>
          <a:xfrm>
            <a:off x="3205163" y="1665288"/>
            <a:ext cx="2565400" cy="769937"/>
          </a:xfrm>
          <a:prstGeom prst="rect">
            <a:avLst/>
          </a:prstGeom>
          <a:noFill/>
        </p:spPr>
        <p:txBody>
          <a:bodyPr>
            <a:spAutoFit/>
          </a:bodyPr>
          <a:lstStyle>
            <a:defPPr>
              <a:defRPr lang="en-US"/>
            </a:defPPr>
            <a:lvl1pPr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a:lstStyle>
          <a:p>
            <a:pPr algn="ctr" eaLnBrk="1" fontAlgn="auto" hangingPunct="1">
              <a:spcBef>
                <a:spcPts val="0"/>
              </a:spcBef>
              <a:spcAft>
                <a:spcPts val="0"/>
              </a:spcAft>
              <a:defRPr/>
            </a:pPr>
            <a:r>
              <a:rPr lang="en-US" sz="4400" dirty="0">
                <a:solidFill>
                  <a:schemeClr val="tx1">
                    <a:lumMod val="75000"/>
                    <a:lumOff val="25000"/>
                  </a:schemeClr>
                </a:solidFill>
                <a:latin typeface="Gotham Medium"/>
                <a:ea typeface="+mn-ea"/>
                <a:cs typeface="Gotham Medium"/>
              </a:rPr>
              <a:t>Thanks.</a:t>
            </a:r>
          </a:p>
        </p:txBody>
      </p:sp>
      <p:sp>
        <p:nvSpPr>
          <p:cNvPr id="9" name="Text Placeholder 8"/>
          <p:cNvSpPr>
            <a:spLocks noGrp="1"/>
          </p:cNvSpPr>
          <p:nvPr>
            <p:ph type="body" sz="quarter" idx="10" hasCustomPrompt="1"/>
          </p:nvPr>
        </p:nvSpPr>
        <p:spPr>
          <a:xfrm>
            <a:off x="2712131" y="2686050"/>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[Full name of presenter]</a:t>
            </a:r>
          </a:p>
          <a:p>
            <a:pPr algn="ctr" eaLnBrk="1" hangingPunct="1"/>
            <a:endParaRPr lang="en-US" altLang="en-US" sz="1400" dirty="0">
              <a:solidFill>
                <a:srgbClr val="404040"/>
              </a:solidFill>
              <a:latin typeface="Gotham Light" charset="0"/>
            </a:endParaRPr>
          </a:p>
        </p:txBody>
      </p:sp>
      <p:sp>
        <p:nvSpPr>
          <p:cNvPr id="11" name="Content Placeholder 10"/>
          <p:cNvSpPr>
            <a:spLocks noGrp="1"/>
          </p:cNvSpPr>
          <p:nvPr>
            <p:ph sz="quarter" idx="12" hasCustomPrompt="1"/>
          </p:nvPr>
        </p:nvSpPr>
        <p:spPr>
          <a:xfrm>
            <a:off x="2702606" y="2960345"/>
            <a:ext cx="3552825" cy="252639"/>
          </a:xfrm>
        </p:spPr>
        <p:txBody>
          <a:bodyPr/>
          <a:lstStyle>
            <a:lvl1pPr marL="0" indent="0" algn="ctr">
              <a:buNone/>
              <a:defRPr sz="1000" baseline="0">
                <a:latin typeface="Gotham Light"/>
              </a:defRPr>
            </a:lvl1pPr>
          </a:lstStyle>
          <a:p>
            <a:pPr lvl="0"/>
            <a:r>
              <a:rPr lang="en-US" dirty="0"/>
              <a:t>[Position of presenter]</a:t>
            </a:r>
          </a:p>
        </p:txBody>
      </p:sp>
      <p:sp>
        <p:nvSpPr>
          <p:cNvPr id="12" name="Text Placeholder 8"/>
          <p:cNvSpPr>
            <a:spLocks noGrp="1"/>
          </p:cNvSpPr>
          <p:nvPr>
            <p:ph type="body" sz="quarter" idx="13" hasCustomPrompt="1"/>
          </p:nvPr>
        </p:nvSpPr>
        <p:spPr>
          <a:xfrm>
            <a:off x="2717579" y="3311978"/>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[Phone number]</a:t>
            </a:r>
          </a:p>
          <a:p>
            <a:pPr algn="ctr" eaLnBrk="1" hangingPunct="1"/>
            <a:endParaRPr lang="en-US" altLang="en-US" sz="1400" dirty="0">
              <a:solidFill>
                <a:srgbClr val="404040"/>
              </a:solidFill>
              <a:latin typeface="Gotham Light" charset="0"/>
            </a:endParaRPr>
          </a:p>
        </p:txBody>
      </p:sp>
      <p:sp>
        <p:nvSpPr>
          <p:cNvPr id="14" name="Text Placeholder 8"/>
          <p:cNvSpPr>
            <a:spLocks noGrp="1"/>
          </p:cNvSpPr>
          <p:nvPr>
            <p:ph type="body" sz="quarter" idx="14" hasCustomPrompt="1"/>
          </p:nvPr>
        </p:nvSpPr>
        <p:spPr>
          <a:xfrm>
            <a:off x="2714860" y="3595006"/>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[Email]</a:t>
            </a:r>
          </a:p>
          <a:p>
            <a:pPr algn="ctr" eaLnBrk="1" hangingPunct="1"/>
            <a:endParaRPr lang="en-US" altLang="en-US" sz="1400" dirty="0">
              <a:solidFill>
                <a:srgbClr val="404040"/>
              </a:solidFill>
              <a:latin typeface="Gotham Light" charset="0"/>
            </a:endParaRPr>
          </a:p>
        </p:txBody>
      </p:sp>
      <p:sp>
        <p:nvSpPr>
          <p:cNvPr id="15" name="TextBox 12"/>
          <p:cNvSpPr txBox="1">
            <a:spLocks noChangeArrowheads="1"/>
          </p:cNvSpPr>
          <p:nvPr/>
        </p:nvSpPr>
        <p:spPr bwMode="auto">
          <a:xfrm>
            <a:off x="2717579" y="3998787"/>
            <a:ext cx="35514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US" altLang="en-US" sz="1400" dirty="0">
                <a:solidFill>
                  <a:srgbClr val="404040"/>
                </a:solidFill>
                <a:latin typeface="Gotham Light" charset="0"/>
              </a:rPr>
              <a:t>For general questions: </a:t>
            </a:r>
          </a:p>
          <a:p>
            <a:pPr algn="ctr" eaLnBrk="1" hangingPunct="1"/>
            <a:r>
              <a:rPr lang="en-US" altLang="en-US" sz="1400" dirty="0">
                <a:solidFill>
                  <a:srgbClr val="404040"/>
                </a:solidFill>
                <a:latin typeface="Gotham Light" charset="0"/>
              </a:rPr>
              <a:t>info@knx.org – www.knx.org</a:t>
            </a:r>
          </a:p>
        </p:txBody>
      </p:sp>
    </p:spTree>
    <p:extLst>
      <p:ext uri="{BB962C8B-B14F-4D97-AF65-F5344CB8AC3E}">
        <p14:creationId xmlns:p14="http://schemas.microsoft.com/office/powerpoint/2010/main" val="1377345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556791"/>
            <a:ext cx="8856984" cy="4751933"/>
          </a:xfrm>
          <a:prstGeom prst="rect">
            <a:avLst/>
          </a:prstGeom>
        </p:spPr>
        <p:txBody>
          <a:bodyPr/>
          <a:lstStyle>
            <a:lvl2pPr>
              <a:defRPr sz="1800"/>
            </a:lvl2pPr>
            <a:lvl3pPr>
              <a:defRPr sz="15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1746708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4159274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80816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812649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9401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2952673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731679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113" y="1412875"/>
            <a:ext cx="7416800" cy="4895850"/>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5792430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95108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113" y="1412875"/>
            <a:ext cx="7416800" cy="4895850"/>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776642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47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921070"/>
            <a:ext cx="8229600" cy="491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7"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pic>
        <p:nvPicPr>
          <p:cNvPr id="10" name="Imagen 21" descr="Worldmap.jpg"/>
          <p:cNvPicPr>
            <a:picLocks noChangeAspect="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
          <p:cNvPicPr>
            <a:picLocks noChangeAspect="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482600" y="301718"/>
            <a:ext cx="11049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Conector recto 20"/>
          <p:cNvCxnSpPr/>
          <p:nvPr/>
        </p:nvCxnSpPr>
        <p:spPr>
          <a:xfrm>
            <a:off x="0" y="1484784"/>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sp>
        <p:nvSpPr>
          <p:cNvPr id="14" name="TextBox 11"/>
          <p:cNvSpPr txBox="1">
            <a:spLocks noChangeArrowheads="1"/>
          </p:cNvSpPr>
          <p:nvPr/>
        </p:nvSpPr>
        <p:spPr bwMode="auto">
          <a:xfrm>
            <a:off x="8104188" y="6367462"/>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Tree>
    <p:extLst>
      <p:ext uri="{BB962C8B-B14F-4D97-AF65-F5344CB8AC3E}">
        <p14:creationId xmlns:p14="http://schemas.microsoft.com/office/powerpoint/2010/main" val="100049181"/>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770" r:id="rId18"/>
    <p:sldLayoutId id="2147483772" r:id="rId19"/>
  </p:sldLayoutIdLst>
  <p:txStyles>
    <p:titleStyle>
      <a:lvl1pPr algn="ctr" defTabSz="457200" rtl="0" eaLnBrk="1" fontAlgn="base" hangingPunct="1">
        <a:spcBef>
          <a:spcPct val="0"/>
        </a:spcBef>
        <a:spcAft>
          <a:spcPct val="0"/>
        </a:spcAft>
        <a:defRPr sz="2000" kern="1200">
          <a:solidFill>
            <a:schemeClr val="tx1"/>
          </a:solidFill>
          <a:latin typeface="Gotham Medium"/>
          <a:ea typeface="MS PGothic" panose="020B0600070205080204" pitchFamily="34" charset="-128"/>
          <a:cs typeface="Gotham Medium"/>
        </a:defRPr>
      </a:lvl1pPr>
      <a:lvl2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Gotham Light"/>
          <a:ea typeface="MS PGothic" panose="020B0600070205080204" pitchFamily="34" charset="-128"/>
          <a:cs typeface="Gotham Light"/>
        </a:defRPr>
      </a:lvl1pPr>
      <a:lvl2pPr marL="742950" indent="-285750" algn="l" defTabSz="457200" rtl="0" eaLnBrk="1" fontAlgn="base" hangingPunct="1">
        <a:spcBef>
          <a:spcPct val="20000"/>
        </a:spcBef>
        <a:spcAft>
          <a:spcPct val="0"/>
        </a:spcAft>
        <a:buFont typeface="Arial" panose="020B0604020202020204" pitchFamily="34" charset="0"/>
        <a:buChar char="–"/>
        <a:defRPr sz="1800" kern="1200">
          <a:solidFill>
            <a:schemeClr val="tx1"/>
          </a:solidFill>
          <a:latin typeface="Gotham Light"/>
          <a:ea typeface="MS PGothic" panose="020B0600070205080204" pitchFamily="34" charset="-128"/>
          <a:cs typeface="Gotham Light"/>
        </a:defRPr>
      </a:lvl2pPr>
      <a:lvl3pPr marL="11430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3pPr>
      <a:lvl4pPr marL="16002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4pPr>
      <a:lvl5pPr marL="20574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notesSlide" Target="../notesSlides/notesSlide5.xml"/><Relationship Id="rId1" Type="http://schemas.openxmlformats.org/officeDocument/2006/relationships/slideLayout" Target="../slideLayouts/slideLayout10.xml"/><Relationship Id="rId5" Type="http://schemas.openxmlformats.org/officeDocument/2006/relationships/image" Target="../media/image6.png"/><Relationship Id="rId4" Type="http://schemas.openxmlformats.org/officeDocument/2006/relationships/image" Target="../media/image5.emf"/></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0.xml"/><Relationship Id="rId5" Type="http://schemas.openxmlformats.org/officeDocument/2006/relationships/image" Target="../media/image7.emf"/><Relationship Id="rId4" Type="http://schemas.openxmlformats.org/officeDocument/2006/relationships/package" Target="../embeddings/Microsoft_Visio_Drawing1.vsdx"/></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0.xml"/><Relationship Id="rId5" Type="http://schemas.openxmlformats.org/officeDocument/2006/relationships/image" Target="../media/image9.emf"/><Relationship Id="rId4" Type="http://schemas.openxmlformats.org/officeDocument/2006/relationships/package" Target="../embeddings/Microsoft_Visio_Drawing2.vsdx"/></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0.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package" Target="../embeddings/Microsoft_Visio_Drawing3.vsdx"/><Relationship Id="rId2" Type="http://schemas.openxmlformats.org/officeDocument/2006/relationships/notesSlide" Target="../notesSlides/notesSlide12.xml"/><Relationship Id="rId1" Type="http://schemas.openxmlformats.org/officeDocument/2006/relationships/slideLayout" Target="../slideLayouts/slideLayout10.xml"/><Relationship Id="rId4" Type="http://schemas.openxmlformats.org/officeDocument/2006/relationships/image" Target="../media/image16.emf"/></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package" Target="../embeddings/Microsoft_Visio_Drawing4.vsdx"/><Relationship Id="rId2" Type="http://schemas.openxmlformats.org/officeDocument/2006/relationships/notesSlide" Target="../notesSlides/notesSlide14.xml"/><Relationship Id="rId1" Type="http://schemas.openxmlformats.org/officeDocument/2006/relationships/slideLayout" Target="../slideLayouts/slideLayout10.xml"/><Relationship Id="rId4" Type="http://schemas.openxmlformats.org/officeDocument/2006/relationships/image" Target="../media/image18.emf"/></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package" Target="../embeddings/Microsoft_Visio_Drawing5.vsdx"/><Relationship Id="rId2" Type="http://schemas.openxmlformats.org/officeDocument/2006/relationships/notesSlide" Target="../notesSlides/notesSlide16.xml"/><Relationship Id="rId1" Type="http://schemas.openxmlformats.org/officeDocument/2006/relationships/slideLayout" Target="../slideLayouts/slideLayout10.xml"/><Relationship Id="rId4" Type="http://schemas.openxmlformats.org/officeDocument/2006/relationships/image" Target="../media/image20.emf"/></Relationships>
</file>

<file path=ppt/slides/_rels/slide17.xml.rels><?xml version="1.0" encoding="UTF-8" standalone="yes"?>
<Relationships xmlns="http://schemas.openxmlformats.org/package/2006/relationships"><Relationship Id="rId3" Type="http://schemas.openxmlformats.org/officeDocument/2006/relationships/package" Target="../embeddings/Microsoft_Visio_Drawing6.vsdx"/><Relationship Id="rId2" Type="http://schemas.openxmlformats.org/officeDocument/2006/relationships/notesSlide" Target="../notesSlides/notesSlide17.xml"/><Relationship Id="rId1" Type="http://schemas.openxmlformats.org/officeDocument/2006/relationships/slideLayout" Target="../slideLayouts/slideLayout10.xml"/><Relationship Id="rId4" Type="http://schemas.openxmlformats.org/officeDocument/2006/relationships/image" Target="../media/image21.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package" Target="../embeddings/Microsoft_Visio_Drawing7.vsdx"/><Relationship Id="rId2" Type="http://schemas.openxmlformats.org/officeDocument/2006/relationships/notesSlide" Target="../notesSlides/notesSlide27.xml"/><Relationship Id="rId1" Type="http://schemas.openxmlformats.org/officeDocument/2006/relationships/slideLayout" Target="../slideLayouts/slideLayout10.xml"/><Relationship Id="rId4" Type="http://schemas.openxmlformats.org/officeDocument/2006/relationships/image" Target="../media/image22.emf"/></Relationships>
</file>

<file path=ppt/slides/_rels/slide28.xml.rels><?xml version="1.0" encoding="UTF-8" standalone="yes"?>
<Relationships xmlns="http://schemas.openxmlformats.org/package/2006/relationships"><Relationship Id="rId3" Type="http://schemas.openxmlformats.org/officeDocument/2006/relationships/package" Target="../embeddings/Microsoft_Visio_Drawing8.vsdx"/><Relationship Id="rId2" Type="http://schemas.openxmlformats.org/officeDocument/2006/relationships/notesSlide" Target="../notesSlides/notesSlide28.xml"/><Relationship Id="rId1" Type="http://schemas.openxmlformats.org/officeDocument/2006/relationships/slideLayout" Target="../slideLayouts/slideLayout10.xml"/><Relationship Id="rId4" Type="http://schemas.openxmlformats.org/officeDocument/2006/relationships/image" Target="../media/image23.e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package" Target="../embeddings/Microsoft_Visio_Drawing9.vsdx"/><Relationship Id="rId2" Type="http://schemas.openxmlformats.org/officeDocument/2006/relationships/notesSlide" Target="../notesSlides/notesSlide30.xml"/><Relationship Id="rId1" Type="http://schemas.openxmlformats.org/officeDocument/2006/relationships/slideLayout" Target="../slideLayouts/slideLayout10.xml"/><Relationship Id="rId4" Type="http://schemas.openxmlformats.org/officeDocument/2006/relationships/image" Target="../media/image24.emf"/></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package" Target="../embeddings/Microsoft_Visio_Drawing10.vsdx"/><Relationship Id="rId2" Type="http://schemas.openxmlformats.org/officeDocument/2006/relationships/notesSlide" Target="../notesSlides/notesSlide40.xml"/><Relationship Id="rId1" Type="http://schemas.openxmlformats.org/officeDocument/2006/relationships/slideLayout" Target="../slideLayouts/slideLayout10.xml"/><Relationship Id="rId6" Type="http://schemas.openxmlformats.org/officeDocument/2006/relationships/image" Target="../media/image27.emf"/><Relationship Id="rId5" Type="http://schemas.openxmlformats.org/officeDocument/2006/relationships/package" Target="../embeddings/Microsoft_Visio_Drawing11.vsdx"/><Relationship Id="rId4" Type="http://schemas.openxmlformats.org/officeDocument/2006/relationships/image" Target="../media/image26.emf"/></Relationships>
</file>

<file path=ppt/slides/_rels/slide41.xml.rels><?xml version="1.0" encoding="UTF-8" standalone="yes"?>
<Relationships xmlns="http://schemas.openxmlformats.org/package/2006/relationships"><Relationship Id="rId3" Type="http://schemas.openxmlformats.org/officeDocument/2006/relationships/package" Target="../embeddings/Microsoft_Visio_Drawing12.vsdx"/><Relationship Id="rId2" Type="http://schemas.openxmlformats.org/officeDocument/2006/relationships/notesSlide" Target="../notesSlides/notesSlide41.xml"/><Relationship Id="rId1" Type="http://schemas.openxmlformats.org/officeDocument/2006/relationships/slideLayout" Target="../slideLayouts/slideLayout10.xml"/><Relationship Id="rId4" Type="http://schemas.openxmlformats.org/officeDocument/2006/relationships/image" Target="../media/image28.emf"/></Relationships>
</file>

<file path=ppt/slides/_rels/slide42.xml.rels><?xml version="1.0" encoding="UTF-8" standalone="yes"?>
<Relationships xmlns="http://schemas.openxmlformats.org/package/2006/relationships"><Relationship Id="rId3" Type="http://schemas.openxmlformats.org/officeDocument/2006/relationships/package" Target="../embeddings/Microsoft_Visio_Drawing13.vsdx"/><Relationship Id="rId2" Type="http://schemas.openxmlformats.org/officeDocument/2006/relationships/notesSlide" Target="../notesSlides/notesSlide42.xml"/><Relationship Id="rId1" Type="http://schemas.openxmlformats.org/officeDocument/2006/relationships/slideLayout" Target="../slideLayouts/slideLayout10.xml"/><Relationship Id="rId4" Type="http://schemas.openxmlformats.org/officeDocument/2006/relationships/image" Target="../media/image29.emf"/></Relationships>
</file>

<file path=ppt/slides/_rels/slide43.xml.rels><?xml version="1.0" encoding="UTF-8" standalone="yes"?>
<Relationships xmlns="http://schemas.openxmlformats.org/package/2006/relationships"><Relationship Id="rId3" Type="http://schemas.openxmlformats.org/officeDocument/2006/relationships/package" Target="../embeddings/Microsoft_Visio_Drawing14.vsdx"/><Relationship Id="rId2" Type="http://schemas.openxmlformats.org/officeDocument/2006/relationships/notesSlide" Target="../notesSlides/notesSlide43.xml"/><Relationship Id="rId1" Type="http://schemas.openxmlformats.org/officeDocument/2006/relationships/slideLayout" Target="../slideLayouts/slideLayout10.xml"/><Relationship Id="rId4" Type="http://schemas.openxmlformats.org/officeDocument/2006/relationships/image" Target="../media/image30.emf"/></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4.xml"/><Relationship Id="rId1" Type="http://schemas.openxmlformats.org/officeDocument/2006/relationships/slideLayout" Target="../slideLayouts/slideLayout10.xml"/><Relationship Id="rId5" Type="http://schemas.openxmlformats.org/officeDocument/2006/relationships/image" Target="../media/image32.emf"/><Relationship Id="rId4" Type="http://schemas.openxmlformats.org/officeDocument/2006/relationships/package" Target="../embeddings/Microsoft_Visio_Drawing15.vsdx"/></Relationships>
</file>

<file path=ppt/slides/_rels/slide45.xml.rels><?xml version="1.0" encoding="UTF-8" standalone="yes"?>
<Relationships xmlns="http://schemas.openxmlformats.org/package/2006/relationships"><Relationship Id="rId3" Type="http://schemas.openxmlformats.org/officeDocument/2006/relationships/package" Target="../embeddings/Microsoft_Visio_Drawing16.vsdx"/><Relationship Id="rId2" Type="http://schemas.openxmlformats.org/officeDocument/2006/relationships/notesSlide" Target="../notesSlides/notesSlide45.xml"/><Relationship Id="rId1" Type="http://schemas.openxmlformats.org/officeDocument/2006/relationships/slideLayout" Target="../slideLayouts/slideLayout10.xml"/><Relationship Id="rId4" Type="http://schemas.openxmlformats.org/officeDocument/2006/relationships/image" Target="../media/image33.emf"/></Relationships>
</file>

<file path=ppt/slides/_rels/slide46.xml.rels><?xml version="1.0" encoding="UTF-8" standalone="yes"?>
<Relationships xmlns="http://schemas.openxmlformats.org/package/2006/relationships"><Relationship Id="rId3" Type="http://schemas.openxmlformats.org/officeDocument/2006/relationships/package" Target="../embeddings/Microsoft_Visio_Drawing17.vsdx"/><Relationship Id="rId2" Type="http://schemas.openxmlformats.org/officeDocument/2006/relationships/notesSlide" Target="../notesSlides/notesSlide46.xml"/><Relationship Id="rId1" Type="http://schemas.openxmlformats.org/officeDocument/2006/relationships/slideLayout" Target="../slideLayouts/slideLayout10.xml"/><Relationship Id="rId4" Type="http://schemas.openxmlformats.org/officeDocument/2006/relationships/image" Target="../media/image34.emf"/></Relationships>
</file>

<file path=ppt/slides/_rels/slide47.xml.rels><?xml version="1.0" encoding="UTF-8" standalone="yes"?>
<Relationships xmlns="http://schemas.openxmlformats.org/package/2006/relationships"><Relationship Id="rId3" Type="http://schemas.openxmlformats.org/officeDocument/2006/relationships/package" Target="../embeddings/Microsoft_Visio_Drawing18.vsdx"/><Relationship Id="rId2" Type="http://schemas.openxmlformats.org/officeDocument/2006/relationships/notesSlide" Target="../notesSlides/notesSlide47.xml"/><Relationship Id="rId1" Type="http://schemas.openxmlformats.org/officeDocument/2006/relationships/slideLayout" Target="../slideLayouts/slideLayout10.xml"/><Relationship Id="rId4" Type="http://schemas.openxmlformats.org/officeDocument/2006/relationships/image" Target="../media/image35.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A4048-93B1-4D7E-924E-3B2609D395A8}"/>
              </a:ext>
            </a:extLst>
          </p:cNvPr>
          <p:cNvSpPr>
            <a:spLocks noGrp="1"/>
          </p:cNvSpPr>
          <p:nvPr>
            <p:ph type="ctrTitle"/>
          </p:nvPr>
        </p:nvSpPr>
        <p:spPr/>
        <p:txBody>
          <a:bodyPr/>
          <a:lstStyle/>
          <a:p>
            <a:r>
              <a:rPr lang="en-GB" dirty="0"/>
              <a:t>COURS AVANCÉ KNX</a:t>
            </a:r>
            <a:br>
              <a:rPr lang="en-GB" dirty="0"/>
            </a:br>
            <a:r>
              <a:rPr lang="en-GB" sz="2000" dirty="0"/>
              <a:t>Annex informative</a:t>
            </a:r>
            <a:endParaRPr lang="en-GB" sz="2400" b="0" dirty="0">
              <a:solidFill>
                <a:srgbClr val="0C4B9D"/>
              </a:solidFill>
              <a:latin typeface="+mn-lt"/>
              <a:ea typeface="+mn-ea"/>
              <a:cs typeface="+mn-cs"/>
            </a:endParaRPr>
          </a:p>
        </p:txBody>
      </p:sp>
      <p:sp>
        <p:nvSpPr>
          <p:cNvPr id="6" name="Subtitle 2">
            <a:extLst>
              <a:ext uri="{FF2B5EF4-FFF2-40B4-BE49-F238E27FC236}">
                <a16:creationId xmlns:a16="http://schemas.microsoft.com/office/drawing/2014/main" id="{36891D17-0544-4779-B232-7495C4C552DF}"/>
              </a:ext>
            </a:extLst>
          </p:cNvPr>
          <p:cNvSpPr>
            <a:spLocks noGrp="1"/>
          </p:cNvSpPr>
          <p:nvPr>
            <p:ph type="subTitle" idx="1"/>
          </p:nvPr>
        </p:nvSpPr>
        <p:spPr>
          <a:xfrm>
            <a:off x="468188" y="3447972"/>
            <a:ext cx="4607868" cy="1076325"/>
          </a:xfrm>
        </p:spPr>
        <p:txBody>
          <a:bodyPr/>
          <a:lstStyle/>
          <a:p>
            <a:r>
              <a:rPr lang="en-US" sz="2400" dirty="0"/>
              <a:t>La </a:t>
            </a:r>
            <a:r>
              <a:rPr lang="en-US" sz="2400" dirty="0" err="1"/>
              <a:t>technologie</a:t>
            </a:r>
            <a:r>
              <a:rPr lang="en-US" sz="2400" dirty="0"/>
              <a:t> de </a:t>
            </a:r>
            <a:r>
              <a:rPr lang="en-US" sz="2400" dirty="0" err="1"/>
              <a:t>sécurité</a:t>
            </a:r>
            <a:endParaRPr lang="en-GB" sz="2400" dirty="0"/>
          </a:p>
        </p:txBody>
      </p:sp>
    </p:spTree>
    <p:extLst>
      <p:ext uri="{BB962C8B-B14F-4D97-AF65-F5344CB8AC3E}">
        <p14:creationId xmlns:p14="http://schemas.microsoft.com/office/powerpoint/2010/main" val="2459807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Principes de base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34146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1800" kern="0">
                <a:ea typeface="Open Sans" panose="020B0606030504020204" pitchFamily="34" charset="0"/>
                <a:cs typeface="Open Sans" panose="020B0606030504020204" pitchFamily="34" charset="0"/>
              </a:rPr>
              <a:t>Système d'alarme anti-intrusion : </a:t>
            </a:r>
            <a:r>
              <a:rPr lang="en-US" sz="1800" kern="0">
                <a:solidFill>
                  <a:schemeClr val="tx1"/>
                </a:solidFill>
                <a:ea typeface="Open Sans" panose="020B0606030504020204" pitchFamily="34" charset="0"/>
                <a:cs typeface="Open Sans" panose="020B0606030504020204" pitchFamily="34" charset="0"/>
              </a:rPr>
              <a:t>Installation technique utilisée pour protéger les biens et les personnes :</a:t>
            </a:r>
          </a:p>
          <a:p>
            <a:pPr>
              <a:lnSpc>
                <a:spcPct val="150000"/>
              </a:lnSpc>
              <a:defRPr/>
            </a:pPr>
            <a:r>
              <a:rPr lang="en-US" sz="1800" b="1" kern="0">
                <a:solidFill>
                  <a:schemeClr val="tx1"/>
                </a:solidFill>
                <a:ea typeface="Open Sans" panose="020B0606030504020204" pitchFamily="34" charset="0"/>
                <a:cs typeface="Open Sans" panose="020B0606030504020204" pitchFamily="34" charset="0"/>
              </a:rPr>
              <a:t> empêcher cambriolages et vols</a:t>
            </a:r>
          </a:p>
          <a:p>
            <a:pPr>
              <a:lnSpc>
                <a:spcPct val="150000"/>
              </a:lnSpc>
              <a:defRPr/>
            </a:pPr>
            <a:r>
              <a:rPr lang="en-US" sz="1800" b="1" kern="0">
                <a:solidFill>
                  <a:schemeClr val="tx1"/>
                </a:solidFill>
                <a:ea typeface="Open Sans" panose="020B0606030504020204" pitchFamily="34" charset="0"/>
                <a:cs typeface="Open Sans" panose="020B0606030504020204" pitchFamily="34" charset="0"/>
              </a:rPr>
              <a:t> alerter les gens pour qu'ils fournissent une assistance (police…)</a:t>
            </a:r>
          </a:p>
          <a:p>
            <a:pPr marL="0" lvl="0" indent="0" eaLnBrk="1" hangingPunct="1">
              <a:lnSpc>
                <a:spcPct val="150000"/>
              </a:lnSpc>
              <a:spcBef>
                <a:spcPct val="0"/>
              </a:spcBef>
              <a:buClrTx/>
              <a:buNone/>
              <a:defRPr/>
            </a:pPr>
            <a:endParaRPr lang="en-US" sz="1200" b="0" kern="0" dirty="0">
              <a:solidFill>
                <a:srgbClr val="000000"/>
              </a:solidFill>
              <a:latin typeface="Arial" charset="0"/>
              <a:ea typeface="Open Sans" panose="020B0606030504020204" pitchFamily="34" charset="0"/>
              <a:cs typeface="Open Sans" panose="020B0606030504020204" pitchFamily="34" charset="0"/>
            </a:endParaRPr>
          </a:p>
          <a:p>
            <a:pPr marL="0" lvl="0" indent="0" eaLnBrk="1" hangingPunct="1">
              <a:lnSpc>
                <a:spcPct val="150000"/>
              </a:lnSpc>
              <a:spcBef>
                <a:spcPct val="0"/>
              </a:spcBef>
              <a:buClrTx/>
              <a:buNone/>
              <a:defRPr/>
            </a:pPr>
            <a:r>
              <a:rPr lang="en-US" sz="1800" kern="0">
                <a:latin typeface="Arial" charset="0"/>
                <a:ea typeface="Open Sans" panose="020B0606030504020204" pitchFamily="34" charset="0"/>
                <a:cs typeface="Open Sans" panose="020B0606030504020204" pitchFamily="34" charset="0"/>
              </a:rPr>
              <a:t>Système d'alarme : </a:t>
            </a:r>
            <a:r>
              <a:rPr lang="en-US" sz="1800" kern="0">
                <a:solidFill>
                  <a:srgbClr val="000000"/>
                </a:solidFill>
                <a:latin typeface="Arial" charset="0"/>
                <a:ea typeface="Open Sans" panose="020B0606030504020204" pitchFamily="34" charset="0"/>
                <a:cs typeface="Open Sans" panose="020B0606030504020204" pitchFamily="34" charset="0"/>
              </a:rPr>
              <a:t>Terme collectif pour </a:t>
            </a:r>
            <a:r>
              <a:rPr lang="sv-SE" sz="1800" kern="0">
                <a:solidFill>
                  <a:srgbClr val="000000"/>
                </a:solidFill>
                <a:latin typeface="Arial" charset="0"/>
                <a:ea typeface="Open Sans" panose="020B0606030504020204" pitchFamily="34" charset="0"/>
                <a:cs typeface="Open Sans" panose="020B0606030504020204" pitchFamily="34" charset="0"/>
              </a:rPr>
              <a:t> Systèmes d'alarme incendie, d'alarme intrusion et d'alarme panique</a:t>
            </a:r>
          </a:p>
          <a:p>
            <a:pPr marL="0" lvl="0" indent="0" eaLnBrk="1" hangingPunct="1">
              <a:lnSpc>
                <a:spcPct val="150000"/>
              </a:lnSpc>
              <a:spcBef>
                <a:spcPct val="0"/>
              </a:spcBef>
              <a:buClrTx/>
              <a:buNone/>
              <a:defRPr/>
            </a:pPr>
            <a:endParaRPr lang="sv-SE" sz="1200" kern="0" dirty="0">
              <a:solidFill>
                <a:srgbClr val="000000"/>
              </a:solidFill>
              <a:latin typeface="Arial" charset="0"/>
              <a:ea typeface="Open Sans" panose="020B0606030504020204" pitchFamily="34" charset="0"/>
              <a:cs typeface="Open Sans" panose="020B0606030504020204" pitchFamily="34" charset="0"/>
            </a:endParaRPr>
          </a:p>
          <a:p>
            <a:pPr marL="0" lvl="0" indent="0" eaLnBrk="1" hangingPunct="1">
              <a:lnSpc>
                <a:spcPct val="150000"/>
              </a:lnSpc>
              <a:spcBef>
                <a:spcPct val="0"/>
              </a:spcBef>
              <a:buClrTx/>
              <a:buNone/>
              <a:defRPr/>
            </a:pPr>
            <a:r>
              <a:rPr lang="en-US" sz="1800" kern="0">
                <a:latin typeface="Arial" charset="0"/>
                <a:ea typeface="Open Sans" panose="020B0606030504020204" pitchFamily="34" charset="0"/>
                <a:cs typeface="Open Sans" panose="020B0606030504020204" pitchFamily="34" charset="0"/>
              </a:rPr>
              <a:t>Système d'avertissement de danger : </a:t>
            </a:r>
            <a:r>
              <a:rPr lang="en-US" sz="1800" kern="0">
                <a:solidFill>
                  <a:srgbClr val="000000"/>
                </a:solidFill>
                <a:latin typeface="Arial" charset="0"/>
                <a:ea typeface="Open Sans" panose="020B0606030504020204" pitchFamily="34" charset="0"/>
                <a:cs typeface="Open Sans" panose="020B0606030504020204" pitchFamily="34" charset="0"/>
              </a:rPr>
              <a:t>offre une protection supplémentaire contre les fuites d'eau, les tuyaux éclatés et les fuites de gaz</a:t>
            </a:r>
          </a:p>
          <a:p>
            <a:pPr marL="0" lvl="0" indent="0" eaLnBrk="1" hangingPunct="1">
              <a:spcBef>
                <a:spcPct val="0"/>
              </a:spcBef>
              <a:buClrTx/>
              <a:buNone/>
            </a:pPr>
            <a:endParaRPr lang="sv-SE" sz="2000" b="0" kern="0" dirty="0">
              <a:solidFill>
                <a:srgbClr val="000000"/>
              </a:solidFill>
              <a:latin typeface="Arial" charset="0"/>
              <a:ea typeface="Open Sans" panose="020B0606030504020204" pitchFamily="34" charset="0"/>
              <a:cs typeface="Open Sans" panose="020B0606030504020204" pitchFamily="34" charset="0"/>
            </a:endParaRPr>
          </a:p>
          <a:p>
            <a:pPr marL="0" lvl="0" indent="0" eaLnBrk="1" hangingPunct="1">
              <a:spcBef>
                <a:spcPct val="0"/>
              </a:spcBef>
              <a:buClrTx/>
              <a:buNone/>
            </a:pPr>
            <a:endParaRPr lang="sv-SE" sz="2000" b="0" kern="0" dirty="0">
              <a:solidFill>
                <a:srgbClr val="000000"/>
              </a:solidFill>
              <a:latin typeface="Arial" charset="0"/>
              <a:ea typeface="Open Sans" panose="020B0606030504020204" pitchFamily="34" charset="0"/>
              <a:cs typeface="Open Sans" panose="020B0606030504020204" pitchFamily="34" charset="0"/>
            </a:endParaRPr>
          </a:p>
          <a:p>
            <a:pPr marL="0" indent="0">
              <a:buNone/>
            </a:pPr>
            <a:endParaRPr lang="sv-SE" sz="20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311703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Principes de base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484784"/>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sv-SE" sz="2000" kern="0" dirty="0">
                <a:ea typeface="Open Sans" panose="020B0606030504020204" pitchFamily="34" charset="0"/>
                <a:cs typeface="Open Sans" panose="020B0606030504020204" pitchFamily="34" charset="0"/>
              </a:rPr>
              <a:t>Systèmes d'alarme anti-intrusion VdS 2311:</a:t>
            </a:r>
          </a:p>
          <a:p>
            <a:pPr>
              <a:defRPr/>
            </a:pPr>
            <a:r>
              <a:rPr lang="es-ES" sz="1800" dirty="0" err="1">
                <a:ea typeface="ＭＳ Ｐゴシック" pitchFamily="-97" charset="-128"/>
                <a:cs typeface="Arial" pitchFamily="34" charset="0"/>
              </a:rPr>
              <a:t>Classe</a:t>
            </a:r>
            <a:r>
              <a:rPr lang="es-ES" sz="1800" dirty="0">
                <a:ea typeface="ＭＳ Ｐゴシック" pitchFamily="-97" charset="-128"/>
                <a:cs typeface="Arial" pitchFamily="34" charset="0"/>
              </a:rPr>
              <a:t> A: </a:t>
            </a:r>
            <a:r>
              <a:rPr lang="es-ES" sz="1800" dirty="0">
                <a:solidFill>
                  <a:srgbClr val="0070C0"/>
                </a:solidFill>
                <a:ea typeface="ＭＳ Ｐゴシック" pitchFamily="-97" charset="-128"/>
                <a:cs typeface="Arial" pitchFamily="34" charset="0"/>
              </a:rPr>
              <a:t>	</a:t>
            </a:r>
          </a:p>
          <a:p>
            <a:pPr lvl="1">
              <a:buFont typeface="Wingdings" panose="05000000000000000000" pitchFamily="2" charset="2"/>
              <a:buChar char="§"/>
              <a:defRPr/>
            </a:pPr>
            <a:r>
              <a:rPr lang="en-US" sz="1600" b="1" dirty="0">
                <a:solidFill>
                  <a:schemeClr val="bg1">
                    <a:lumMod val="10000"/>
                  </a:schemeClr>
                </a:solidFill>
              </a:rPr>
              <a:t>Protection </a:t>
            </a:r>
            <a:r>
              <a:rPr lang="en-US" sz="1600" b="1" dirty="0" err="1">
                <a:solidFill>
                  <a:schemeClr val="bg1">
                    <a:lumMod val="10000"/>
                  </a:schemeClr>
                </a:solidFill>
              </a:rPr>
              <a:t>faible</a:t>
            </a:r>
            <a:r>
              <a:rPr lang="en-US" sz="1600" b="1" dirty="0">
                <a:solidFill>
                  <a:schemeClr val="bg1">
                    <a:lumMod val="10000"/>
                  </a:schemeClr>
                </a:solidFill>
              </a:rPr>
              <a:t> </a:t>
            </a:r>
            <a:r>
              <a:rPr lang="en-US" sz="1600" b="1" dirty="0" err="1">
                <a:solidFill>
                  <a:schemeClr val="bg1">
                    <a:lumMod val="10000"/>
                  </a:schemeClr>
                </a:solidFill>
              </a:rPr>
              <a:t>contre</a:t>
            </a:r>
            <a:r>
              <a:rPr lang="en-US" sz="1600" b="1" dirty="0">
                <a:solidFill>
                  <a:schemeClr val="bg1">
                    <a:lumMod val="10000"/>
                  </a:schemeClr>
                </a:solidFill>
              </a:rPr>
              <a:t> les </a:t>
            </a:r>
            <a:r>
              <a:rPr lang="en-US" sz="1600" b="1" dirty="0" err="1">
                <a:solidFill>
                  <a:schemeClr val="bg1">
                    <a:lumMod val="10000"/>
                  </a:schemeClr>
                </a:solidFill>
              </a:rPr>
              <a:t>tentatives</a:t>
            </a:r>
            <a:r>
              <a:rPr lang="en-US" sz="1600" b="1" dirty="0">
                <a:solidFill>
                  <a:schemeClr val="bg1">
                    <a:lumMod val="10000"/>
                  </a:schemeClr>
                </a:solidFill>
              </a:rPr>
              <a:t> de sabotage</a:t>
            </a:r>
            <a:endParaRPr lang="es-ES" sz="1600" b="1" dirty="0">
              <a:solidFill>
                <a:schemeClr val="bg1">
                  <a:lumMod val="10000"/>
                </a:schemeClr>
              </a:solidFill>
            </a:endParaRPr>
          </a:p>
          <a:p>
            <a:pPr lvl="1">
              <a:buFont typeface="Wingdings" panose="05000000000000000000" pitchFamily="2" charset="2"/>
              <a:buChar char="§"/>
              <a:defRPr/>
            </a:pPr>
            <a:r>
              <a:rPr lang="en-US" sz="1600" b="1" dirty="0">
                <a:solidFill>
                  <a:schemeClr val="bg1">
                    <a:lumMod val="10000"/>
                  </a:schemeClr>
                </a:solidFill>
              </a:rPr>
              <a:t>Les </a:t>
            </a:r>
            <a:r>
              <a:rPr lang="en-US" sz="1600" b="1" dirty="0" err="1">
                <a:solidFill>
                  <a:schemeClr val="bg1">
                    <a:lumMod val="10000"/>
                  </a:schemeClr>
                </a:solidFill>
              </a:rPr>
              <a:t>détecteurs</a:t>
            </a:r>
            <a:r>
              <a:rPr lang="en-US" sz="1600" b="1" dirty="0">
                <a:solidFill>
                  <a:schemeClr val="bg1">
                    <a:lumMod val="10000"/>
                  </a:schemeClr>
                </a:solidFill>
              </a:rPr>
              <a:t> </a:t>
            </a:r>
            <a:r>
              <a:rPr lang="en-US" sz="1600" b="1" dirty="0" err="1">
                <a:solidFill>
                  <a:schemeClr val="bg1">
                    <a:lumMod val="10000"/>
                  </a:schemeClr>
                </a:solidFill>
              </a:rPr>
              <a:t>ont</a:t>
            </a:r>
            <a:r>
              <a:rPr lang="en-US" sz="1600" b="1" dirty="0">
                <a:solidFill>
                  <a:schemeClr val="bg1">
                    <a:lumMod val="10000"/>
                  </a:schemeClr>
                </a:solidFill>
              </a:rPr>
              <a:t> un </a:t>
            </a:r>
            <a:r>
              <a:rPr lang="en-US" sz="1600" b="1" dirty="0" err="1">
                <a:solidFill>
                  <a:schemeClr val="bg1">
                    <a:lumMod val="10000"/>
                  </a:schemeClr>
                </a:solidFill>
              </a:rPr>
              <a:t>niveau</a:t>
            </a:r>
            <a:r>
              <a:rPr lang="en-US" sz="1600" b="1" dirty="0">
                <a:solidFill>
                  <a:schemeClr val="bg1">
                    <a:lumMod val="10000"/>
                  </a:schemeClr>
                </a:solidFill>
              </a:rPr>
              <a:t> </a:t>
            </a:r>
            <a:r>
              <a:rPr lang="en-US" sz="1600" b="1" dirty="0" err="1">
                <a:solidFill>
                  <a:schemeClr val="bg1">
                    <a:lumMod val="10000"/>
                  </a:schemeClr>
                </a:solidFill>
              </a:rPr>
              <a:t>moyen</a:t>
            </a:r>
            <a:r>
              <a:rPr lang="en-US" sz="1600" b="1" dirty="0">
                <a:solidFill>
                  <a:schemeClr val="bg1">
                    <a:lumMod val="10000"/>
                  </a:schemeClr>
                </a:solidFill>
              </a:rPr>
              <a:t> de </a:t>
            </a:r>
            <a:r>
              <a:rPr lang="en-US" sz="1600" b="1" dirty="0" err="1">
                <a:solidFill>
                  <a:schemeClr val="bg1">
                    <a:lumMod val="10000"/>
                  </a:schemeClr>
                </a:solidFill>
              </a:rPr>
              <a:t>réponse</a:t>
            </a:r>
            <a:r>
              <a:rPr lang="es-ES" sz="1600" b="1" dirty="0">
                <a:solidFill>
                  <a:schemeClr val="bg1">
                    <a:lumMod val="10000"/>
                  </a:schemeClr>
                </a:solidFill>
              </a:rPr>
              <a:t> </a:t>
            </a:r>
          </a:p>
          <a:p>
            <a:pPr lvl="1">
              <a:buFont typeface="Wingdings" panose="05000000000000000000" pitchFamily="2" charset="2"/>
              <a:buChar char="§"/>
              <a:defRPr/>
            </a:pPr>
            <a:r>
              <a:rPr lang="en-US" sz="1600" b="1" dirty="0" err="1">
                <a:solidFill>
                  <a:schemeClr val="bg1">
                    <a:lumMod val="10000"/>
                  </a:schemeClr>
                </a:solidFill>
              </a:rPr>
              <a:t>Seulement</a:t>
            </a:r>
            <a:r>
              <a:rPr lang="en-US" sz="1600" b="1" dirty="0">
                <a:solidFill>
                  <a:schemeClr val="bg1">
                    <a:lumMod val="10000"/>
                  </a:schemeClr>
                </a:solidFill>
              </a:rPr>
              <a:t> </a:t>
            </a:r>
            <a:r>
              <a:rPr lang="en-US" sz="1600" b="1" dirty="0" err="1">
                <a:solidFill>
                  <a:schemeClr val="bg1">
                    <a:lumMod val="10000"/>
                  </a:schemeClr>
                </a:solidFill>
              </a:rPr>
              <a:t>adapté</a:t>
            </a:r>
            <a:r>
              <a:rPr lang="en-US" sz="1600" b="1" dirty="0">
                <a:solidFill>
                  <a:schemeClr val="bg1">
                    <a:lumMod val="10000"/>
                  </a:schemeClr>
                </a:solidFill>
              </a:rPr>
              <a:t> à la surveillance des </a:t>
            </a:r>
            <a:r>
              <a:rPr lang="en-US" sz="1600" b="1" dirty="0" err="1">
                <a:solidFill>
                  <a:schemeClr val="bg1">
                    <a:lumMod val="10000"/>
                  </a:schemeClr>
                </a:solidFill>
              </a:rPr>
              <a:t>risques</a:t>
            </a:r>
            <a:r>
              <a:rPr lang="en-US" sz="1600" b="1" dirty="0">
                <a:solidFill>
                  <a:schemeClr val="bg1">
                    <a:lumMod val="10000"/>
                  </a:schemeClr>
                </a:solidFill>
              </a:rPr>
              <a:t> non </a:t>
            </a:r>
            <a:r>
              <a:rPr lang="en-US" sz="1600" b="1" dirty="0" err="1">
                <a:solidFill>
                  <a:schemeClr val="bg1">
                    <a:lumMod val="10000"/>
                  </a:schemeClr>
                </a:solidFill>
              </a:rPr>
              <a:t>commerciaux</a:t>
            </a:r>
            <a:endParaRPr lang="en-US" sz="1600" b="1" dirty="0">
              <a:solidFill>
                <a:schemeClr val="bg1">
                  <a:lumMod val="10000"/>
                </a:schemeClr>
              </a:solidFill>
            </a:endParaRPr>
          </a:p>
          <a:p>
            <a:pPr>
              <a:defRPr/>
            </a:pPr>
            <a:endParaRPr lang="en-US" sz="700" dirty="0"/>
          </a:p>
          <a:p>
            <a:pPr>
              <a:defRPr/>
            </a:pPr>
            <a:r>
              <a:rPr lang="en-US" sz="1800" dirty="0" err="1"/>
              <a:t>Classe</a:t>
            </a:r>
            <a:r>
              <a:rPr lang="en-US" sz="1800" dirty="0"/>
              <a:t> B : 	</a:t>
            </a:r>
          </a:p>
          <a:p>
            <a:pPr lvl="1">
              <a:buFont typeface="Wingdings" panose="05000000000000000000" pitchFamily="2" charset="2"/>
              <a:buChar char="§"/>
              <a:defRPr/>
            </a:pPr>
            <a:r>
              <a:rPr lang="en-US" sz="1600" b="1" dirty="0">
                <a:solidFill>
                  <a:schemeClr val="bg1">
                    <a:lumMod val="10000"/>
                  </a:schemeClr>
                </a:solidFill>
              </a:rPr>
              <a:t>Protection </a:t>
            </a:r>
            <a:r>
              <a:rPr lang="en-US" sz="1600" b="1" dirty="0" err="1">
                <a:solidFill>
                  <a:schemeClr val="bg1">
                    <a:lumMod val="10000"/>
                  </a:schemeClr>
                </a:solidFill>
              </a:rPr>
              <a:t>moyenne</a:t>
            </a:r>
            <a:r>
              <a:rPr lang="en-US" sz="1600" b="1" dirty="0">
                <a:solidFill>
                  <a:schemeClr val="bg1">
                    <a:lumMod val="10000"/>
                  </a:schemeClr>
                </a:solidFill>
              </a:rPr>
              <a:t> </a:t>
            </a:r>
            <a:r>
              <a:rPr lang="en-US" sz="1600" b="1" dirty="0" err="1">
                <a:solidFill>
                  <a:schemeClr val="bg1">
                    <a:lumMod val="10000"/>
                  </a:schemeClr>
                </a:solidFill>
              </a:rPr>
              <a:t>contre</a:t>
            </a:r>
            <a:r>
              <a:rPr lang="en-US" sz="1600" b="1" dirty="0">
                <a:solidFill>
                  <a:schemeClr val="bg1">
                    <a:lumMod val="10000"/>
                  </a:schemeClr>
                </a:solidFill>
              </a:rPr>
              <a:t> les </a:t>
            </a:r>
            <a:r>
              <a:rPr lang="en-US" sz="1600" b="1" dirty="0" err="1">
                <a:solidFill>
                  <a:schemeClr val="bg1">
                    <a:lumMod val="10000"/>
                  </a:schemeClr>
                </a:solidFill>
              </a:rPr>
              <a:t>tentatives</a:t>
            </a:r>
            <a:r>
              <a:rPr lang="en-US" sz="1600" b="1" dirty="0">
                <a:solidFill>
                  <a:schemeClr val="bg1">
                    <a:lumMod val="10000"/>
                  </a:schemeClr>
                </a:solidFill>
              </a:rPr>
              <a:t> de sabotage </a:t>
            </a:r>
          </a:p>
          <a:p>
            <a:pPr lvl="1">
              <a:buFont typeface="Wingdings" panose="05000000000000000000" pitchFamily="2" charset="2"/>
              <a:buChar char="§"/>
              <a:defRPr/>
            </a:pPr>
            <a:r>
              <a:rPr lang="en-US" sz="1600" b="1" dirty="0">
                <a:solidFill>
                  <a:schemeClr val="bg1">
                    <a:lumMod val="10000"/>
                  </a:schemeClr>
                </a:solidFill>
              </a:rPr>
              <a:t>Les </a:t>
            </a:r>
            <a:r>
              <a:rPr lang="en-US" sz="1600" b="1" dirty="0" err="1">
                <a:solidFill>
                  <a:schemeClr val="bg1">
                    <a:lumMod val="10000"/>
                  </a:schemeClr>
                </a:solidFill>
              </a:rPr>
              <a:t>détecteurs</a:t>
            </a:r>
            <a:r>
              <a:rPr lang="en-US" sz="1600" b="1" dirty="0">
                <a:solidFill>
                  <a:schemeClr val="bg1">
                    <a:lumMod val="10000"/>
                  </a:schemeClr>
                </a:solidFill>
              </a:rPr>
              <a:t> </a:t>
            </a:r>
            <a:r>
              <a:rPr lang="en-US" sz="1600" b="1" dirty="0" err="1">
                <a:solidFill>
                  <a:schemeClr val="bg1">
                    <a:lumMod val="10000"/>
                  </a:schemeClr>
                </a:solidFill>
              </a:rPr>
              <a:t>ont</a:t>
            </a:r>
            <a:r>
              <a:rPr lang="en-US" sz="1600" b="1" dirty="0">
                <a:solidFill>
                  <a:schemeClr val="bg1">
                    <a:lumMod val="10000"/>
                  </a:schemeClr>
                </a:solidFill>
              </a:rPr>
              <a:t> un </a:t>
            </a:r>
            <a:r>
              <a:rPr lang="en-US" sz="1600" b="1" dirty="0" err="1">
                <a:solidFill>
                  <a:schemeClr val="bg1">
                    <a:lumMod val="10000"/>
                  </a:schemeClr>
                </a:solidFill>
              </a:rPr>
              <a:t>niveau</a:t>
            </a:r>
            <a:r>
              <a:rPr lang="en-US" sz="1600" b="1" dirty="0">
                <a:solidFill>
                  <a:schemeClr val="bg1">
                    <a:lumMod val="10000"/>
                  </a:schemeClr>
                </a:solidFill>
              </a:rPr>
              <a:t> de </a:t>
            </a:r>
            <a:r>
              <a:rPr lang="en-US" sz="1600" b="1" dirty="0" err="1">
                <a:solidFill>
                  <a:schemeClr val="bg1">
                    <a:lumMod val="10000"/>
                  </a:schemeClr>
                </a:solidFill>
              </a:rPr>
              <a:t>réponse</a:t>
            </a:r>
            <a:r>
              <a:rPr lang="en-US" sz="1600" b="1" dirty="0">
                <a:solidFill>
                  <a:schemeClr val="bg1">
                    <a:lumMod val="10000"/>
                  </a:schemeClr>
                </a:solidFill>
              </a:rPr>
              <a:t> </a:t>
            </a:r>
            <a:r>
              <a:rPr lang="en-US" sz="1600" b="1" dirty="0" err="1">
                <a:solidFill>
                  <a:schemeClr val="bg1">
                    <a:lumMod val="10000"/>
                  </a:schemeClr>
                </a:solidFill>
              </a:rPr>
              <a:t>moyen</a:t>
            </a:r>
            <a:endParaRPr lang="en-US" sz="1600" b="1" dirty="0">
              <a:solidFill>
                <a:schemeClr val="bg1">
                  <a:lumMod val="10000"/>
                </a:schemeClr>
              </a:solidFill>
            </a:endParaRPr>
          </a:p>
          <a:p>
            <a:pPr lvl="1">
              <a:buFont typeface="Wingdings" panose="05000000000000000000" pitchFamily="2" charset="2"/>
              <a:buChar char="§"/>
              <a:defRPr/>
            </a:pPr>
            <a:r>
              <a:rPr lang="en-US" sz="1600" b="1" dirty="0">
                <a:solidFill>
                  <a:schemeClr val="bg1">
                    <a:lumMod val="10000"/>
                  </a:schemeClr>
                </a:solidFill>
              </a:rPr>
              <a:t>Surveillance du </a:t>
            </a:r>
            <a:r>
              <a:rPr lang="en-US" sz="1600" b="1" dirty="0" err="1">
                <a:solidFill>
                  <a:schemeClr val="bg1">
                    <a:lumMod val="10000"/>
                  </a:schemeClr>
                </a:solidFill>
              </a:rPr>
              <a:t>système</a:t>
            </a:r>
            <a:r>
              <a:rPr lang="en-US" sz="1600" b="1" dirty="0">
                <a:solidFill>
                  <a:schemeClr val="bg1">
                    <a:lumMod val="10000"/>
                  </a:schemeClr>
                </a:solidFill>
              </a:rPr>
              <a:t> pour le sabotage et </a:t>
            </a:r>
            <a:r>
              <a:rPr lang="en-US" sz="1600" b="1" dirty="0" err="1">
                <a:solidFill>
                  <a:schemeClr val="bg1">
                    <a:lumMod val="10000"/>
                  </a:schemeClr>
                </a:solidFill>
              </a:rPr>
              <a:t>fiabilité</a:t>
            </a:r>
            <a:r>
              <a:rPr lang="en-US" sz="1600" b="1" dirty="0">
                <a:solidFill>
                  <a:schemeClr val="bg1">
                    <a:lumMod val="10000"/>
                  </a:schemeClr>
                </a:solidFill>
              </a:rPr>
              <a:t> </a:t>
            </a:r>
            <a:r>
              <a:rPr lang="en-US" sz="1600" b="1" dirty="0" err="1">
                <a:solidFill>
                  <a:schemeClr val="bg1">
                    <a:lumMod val="10000"/>
                  </a:schemeClr>
                </a:solidFill>
              </a:rPr>
              <a:t>fonctionnelle</a:t>
            </a:r>
            <a:endParaRPr lang="en-US" sz="1600" b="1" dirty="0">
              <a:solidFill>
                <a:schemeClr val="bg1">
                  <a:lumMod val="10000"/>
                </a:schemeClr>
              </a:solidFill>
            </a:endParaRPr>
          </a:p>
          <a:p>
            <a:pPr>
              <a:defRPr/>
            </a:pPr>
            <a:endParaRPr lang="en-US" sz="700" dirty="0"/>
          </a:p>
          <a:p>
            <a:pPr>
              <a:defRPr/>
            </a:pPr>
            <a:r>
              <a:rPr lang="en-US" sz="1800" dirty="0" err="1"/>
              <a:t>Classe</a:t>
            </a:r>
            <a:r>
              <a:rPr lang="en-US" sz="1800" dirty="0"/>
              <a:t> C : 	</a:t>
            </a:r>
          </a:p>
          <a:p>
            <a:pPr lvl="1">
              <a:buFont typeface="Wingdings" panose="05000000000000000000" pitchFamily="2" charset="2"/>
              <a:buChar char="§"/>
              <a:defRPr/>
            </a:pPr>
            <a:r>
              <a:rPr lang="en-US" sz="1600" b="1" dirty="0">
                <a:solidFill>
                  <a:schemeClr val="bg1">
                    <a:lumMod val="10000"/>
                  </a:schemeClr>
                </a:solidFill>
              </a:rPr>
              <a:t>Protection </a:t>
            </a:r>
            <a:r>
              <a:rPr lang="en-US" sz="1600" b="1" dirty="0" err="1">
                <a:solidFill>
                  <a:schemeClr val="bg1">
                    <a:lumMod val="10000"/>
                  </a:schemeClr>
                </a:solidFill>
              </a:rPr>
              <a:t>renforcée</a:t>
            </a:r>
            <a:r>
              <a:rPr lang="en-US" sz="1600" b="1" dirty="0">
                <a:solidFill>
                  <a:schemeClr val="bg1">
                    <a:lumMod val="10000"/>
                  </a:schemeClr>
                </a:solidFill>
              </a:rPr>
              <a:t> </a:t>
            </a:r>
            <a:r>
              <a:rPr lang="en-US" sz="1600" b="1" dirty="0" err="1">
                <a:solidFill>
                  <a:schemeClr val="bg1">
                    <a:lumMod val="10000"/>
                  </a:schemeClr>
                </a:solidFill>
              </a:rPr>
              <a:t>contre</a:t>
            </a:r>
            <a:r>
              <a:rPr lang="en-US" sz="1600" b="1" dirty="0">
                <a:solidFill>
                  <a:schemeClr val="bg1">
                    <a:lumMod val="10000"/>
                  </a:schemeClr>
                </a:solidFill>
              </a:rPr>
              <a:t> les </a:t>
            </a:r>
            <a:r>
              <a:rPr lang="en-US" sz="1600" b="1" dirty="0" err="1">
                <a:solidFill>
                  <a:schemeClr val="bg1">
                    <a:lumMod val="10000"/>
                  </a:schemeClr>
                </a:solidFill>
              </a:rPr>
              <a:t>tentatives</a:t>
            </a:r>
            <a:r>
              <a:rPr lang="en-US" sz="1600" b="1" dirty="0">
                <a:solidFill>
                  <a:schemeClr val="bg1">
                    <a:lumMod val="10000"/>
                  </a:schemeClr>
                </a:solidFill>
              </a:rPr>
              <a:t> de sabotage</a:t>
            </a:r>
          </a:p>
          <a:p>
            <a:pPr lvl="1">
              <a:buFont typeface="Wingdings" panose="05000000000000000000" pitchFamily="2" charset="2"/>
              <a:buChar char="§"/>
              <a:defRPr/>
            </a:pPr>
            <a:r>
              <a:rPr lang="en-US" sz="1600" b="1" dirty="0">
                <a:solidFill>
                  <a:schemeClr val="bg1">
                    <a:lumMod val="10000"/>
                  </a:schemeClr>
                </a:solidFill>
              </a:rPr>
              <a:t>Les </a:t>
            </a:r>
            <a:r>
              <a:rPr lang="en-US" sz="1600" b="1" dirty="0" err="1">
                <a:solidFill>
                  <a:schemeClr val="bg1">
                    <a:lumMod val="10000"/>
                  </a:schemeClr>
                </a:solidFill>
              </a:rPr>
              <a:t>détecteurs</a:t>
            </a:r>
            <a:r>
              <a:rPr lang="en-US" sz="1600" b="1" dirty="0">
                <a:solidFill>
                  <a:schemeClr val="bg1">
                    <a:lumMod val="10000"/>
                  </a:schemeClr>
                </a:solidFill>
              </a:rPr>
              <a:t> </a:t>
            </a:r>
            <a:r>
              <a:rPr lang="en-US" sz="1600" b="1" dirty="0" err="1">
                <a:solidFill>
                  <a:schemeClr val="bg1">
                    <a:lumMod val="10000"/>
                  </a:schemeClr>
                </a:solidFill>
              </a:rPr>
              <a:t>ont</a:t>
            </a:r>
            <a:r>
              <a:rPr lang="en-US" sz="1600" b="1" dirty="0">
                <a:solidFill>
                  <a:schemeClr val="bg1">
                    <a:lumMod val="10000"/>
                  </a:schemeClr>
                </a:solidFill>
              </a:rPr>
              <a:t> un </a:t>
            </a:r>
            <a:r>
              <a:rPr lang="en-US" sz="1600" b="1" dirty="0" err="1">
                <a:solidFill>
                  <a:schemeClr val="bg1">
                    <a:lumMod val="10000"/>
                  </a:schemeClr>
                </a:solidFill>
              </a:rPr>
              <a:t>niveau</a:t>
            </a:r>
            <a:r>
              <a:rPr lang="en-US" sz="1600" b="1" dirty="0">
                <a:solidFill>
                  <a:schemeClr val="bg1">
                    <a:lumMod val="10000"/>
                  </a:schemeClr>
                </a:solidFill>
              </a:rPr>
              <a:t> de </a:t>
            </a:r>
            <a:r>
              <a:rPr lang="en-US" sz="1600" b="1" dirty="0" err="1">
                <a:solidFill>
                  <a:schemeClr val="bg1">
                    <a:lumMod val="10000"/>
                  </a:schemeClr>
                </a:solidFill>
              </a:rPr>
              <a:t>réponse</a:t>
            </a:r>
            <a:r>
              <a:rPr lang="en-US" sz="1600" b="1" dirty="0">
                <a:solidFill>
                  <a:schemeClr val="bg1">
                    <a:lumMod val="10000"/>
                  </a:schemeClr>
                </a:solidFill>
              </a:rPr>
              <a:t> plus </a:t>
            </a:r>
            <a:r>
              <a:rPr lang="en-US" sz="1600" b="1" dirty="0" err="1">
                <a:solidFill>
                  <a:schemeClr val="bg1">
                    <a:lumMod val="10000"/>
                  </a:schemeClr>
                </a:solidFill>
              </a:rPr>
              <a:t>élevé</a:t>
            </a:r>
            <a:r>
              <a:rPr lang="en-US" sz="1600" b="1" dirty="0">
                <a:solidFill>
                  <a:schemeClr val="bg1">
                    <a:lumMod val="10000"/>
                  </a:schemeClr>
                </a:solidFill>
              </a:rPr>
              <a:t> </a:t>
            </a:r>
          </a:p>
          <a:p>
            <a:pPr lvl="1">
              <a:buFont typeface="Wingdings" panose="05000000000000000000" pitchFamily="2" charset="2"/>
              <a:buChar char="§"/>
              <a:defRPr/>
            </a:pPr>
            <a:r>
              <a:rPr lang="en-US" sz="1600" b="1" dirty="0">
                <a:solidFill>
                  <a:schemeClr val="bg1">
                    <a:lumMod val="10000"/>
                  </a:schemeClr>
                </a:solidFill>
              </a:rPr>
              <a:t>Surveillance du </a:t>
            </a:r>
            <a:r>
              <a:rPr lang="en-US" sz="1600" b="1" dirty="0" err="1">
                <a:solidFill>
                  <a:schemeClr val="bg1">
                    <a:lumMod val="10000"/>
                  </a:schemeClr>
                </a:solidFill>
              </a:rPr>
              <a:t>système</a:t>
            </a:r>
            <a:r>
              <a:rPr lang="en-US" sz="1600" b="1" dirty="0">
                <a:solidFill>
                  <a:schemeClr val="bg1">
                    <a:lumMod val="10000"/>
                  </a:schemeClr>
                </a:solidFill>
              </a:rPr>
              <a:t> pour le sabotage et </a:t>
            </a:r>
            <a:r>
              <a:rPr lang="en-US" sz="1600" b="1" dirty="0" err="1">
                <a:solidFill>
                  <a:schemeClr val="bg1">
                    <a:lumMod val="10000"/>
                  </a:schemeClr>
                </a:solidFill>
              </a:rPr>
              <a:t>fiabilité</a:t>
            </a:r>
            <a:r>
              <a:rPr lang="en-US" sz="1600" b="1" dirty="0">
                <a:solidFill>
                  <a:schemeClr val="bg1">
                    <a:lumMod val="10000"/>
                  </a:schemeClr>
                </a:solidFill>
              </a:rPr>
              <a:t> </a:t>
            </a:r>
            <a:r>
              <a:rPr lang="en-US" sz="1600" b="1" dirty="0" err="1">
                <a:solidFill>
                  <a:schemeClr val="bg1">
                    <a:lumMod val="10000"/>
                  </a:schemeClr>
                </a:solidFill>
              </a:rPr>
              <a:t>fonctionnelle</a:t>
            </a:r>
            <a:endParaRPr lang="en-US" sz="1600" b="1" dirty="0">
              <a:solidFill>
                <a:schemeClr val="bg1">
                  <a:lumMod val="10000"/>
                </a:schemeClr>
              </a:solidFill>
            </a:endParaRPr>
          </a:p>
          <a:p>
            <a:pPr>
              <a:defRPr/>
            </a:pPr>
            <a:endParaRPr lang="es-ES" sz="1800" dirty="0">
              <a:solidFill>
                <a:schemeClr val="bg1">
                  <a:lumMod val="10000"/>
                </a:schemeClr>
              </a:solidFill>
            </a:endParaRPr>
          </a:p>
          <a:p>
            <a:pPr marL="0" indent="0">
              <a:lnSpc>
                <a:spcPct val="150000"/>
              </a:lnSpc>
              <a:buNone/>
              <a:defRPr/>
            </a:pPr>
            <a:endParaRPr lang="sv-SE" sz="2000" kern="0" dirty="0">
              <a:ea typeface="Open Sans" panose="020B0606030504020204" pitchFamily="34" charset="0"/>
              <a:cs typeface="Open Sans" panose="020B0606030504020204" pitchFamily="34" charset="0"/>
            </a:endParaRPr>
          </a:p>
        </p:txBody>
      </p:sp>
      <p:pic>
        <p:nvPicPr>
          <p:cNvPr id="4" name="Picture 4">
            <a:extLst>
              <a:ext uri="{FF2B5EF4-FFF2-40B4-BE49-F238E27FC236}">
                <a16:creationId xmlns:a16="http://schemas.microsoft.com/office/drawing/2014/main" id="{5704F599-36A3-4DB4-A817-B9CB41F4A7F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0290" y="1472342"/>
            <a:ext cx="1968812"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5033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549622"/>
            <a:ext cx="6696223" cy="719138"/>
          </a:xfrm>
        </p:spPr>
        <p:txBody>
          <a:bodyPr/>
          <a:lstStyle/>
          <a:p>
            <a:r>
              <a:rPr lang="en-US" sz="2400"/>
              <a:t>KNX et les technologies d'alarme intrusion</a:t>
            </a:r>
            <a:endParaRPr lang="en-GB" sz="2400"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488312"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a:solidFill>
                  <a:schemeClr val="tx1"/>
                </a:solidFill>
                <a:ea typeface="Open Sans" panose="020B0606030504020204" pitchFamily="34" charset="0"/>
                <a:cs typeface="Open Sans" panose="020B0606030504020204" pitchFamily="34" charset="0"/>
              </a:rPr>
              <a:t>KNX permet </a:t>
            </a:r>
            <a:r>
              <a:rPr lang="en-US" sz="2000" kern="0">
                <a:ea typeface="Open Sans" panose="020B0606030504020204" pitchFamily="34" charset="0"/>
                <a:cs typeface="Open Sans" panose="020B0606030504020204" pitchFamily="34" charset="0"/>
              </a:rPr>
              <a:t>une sécurité simple et une surveillance </a:t>
            </a:r>
            <a:r>
              <a:rPr lang="en-US" sz="2000" kern="0">
                <a:solidFill>
                  <a:schemeClr val="tx1"/>
                </a:solidFill>
                <a:ea typeface="Open Sans" panose="020B0606030504020204" pitchFamily="34" charset="0"/>
                <a:cs typeface="Open Sans" panose="020B0606030504020204" pitchFamily="34" charset="0"/>
              </a:rPr>
              <a:t>des applications à implémenter </a:t>
            </a:r>
          </a:p>
          <a:p>
            <a:pPr>
              <a:lnSpc>
                <a:spcPct val="150000"/>
              </a:lnSpc>
              <a:defRPr/>
            </a:pPr>
            <a:endParaRPr lang="en-US" sz="14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GB" sz="2000">
                <a:latin typeface="Arial" charset="0"/>
              </a:rPr>
              <a:t>Impossible </a:t>
            </a:r>
            <a:r>
              <a:rPr lang="en-GB" sz="2000">
                <a:solidFill>
                  <a:schemeClr val="tx1"/>
                </a:solidFill>
                <a:latin typeface="Arial" charset="0"/>
              </a:rPr>
              <a:t>de mettre en place des systèmes d'alarme anti-intrusion conformes aux exigences VdS</a:t>
            </a:r>
          </a:p>
          <a:p>
            <a:pPr>
              <a:lnSpc>
                <a:spcPct val="150000"/>
              </a:lnSpc>
              <a:defRPr/>
            </a:pPr>
            <a:endParaRPr lang="en-GB" sz="1400" dirty="0">
              <a:solidFill>
                <a:schemeClr val="tx1"/>
              </a:solidFill>
              <a:latin typeface="Arial" charset="0"/>
            </a:endParaRPr>
          </a:p>
          <a:p>
            <a:pPr>
              <a:lnSpc>
                <a:spcPct val="150000"/>
              </a:lnSpc>
              <a:defRPr/>
            </a:pPr>
            <a:r>
              <a:rPr lang="en-GB" sz="2000" kern="0">
                <a:solidFill>
                  <a:schemeClr val="tx1"/>
                </a:solidFill>
                <a:latin typeface="Arial" charset="0"/>
                <a:ea typeface="Open Sans" panose="020B0606030504020204" pitchFamily="34" charset="0"/>
                <a:cs typeface="Open Sans" panose="020B0606030504020204" pitchFamily="34" charset="0"/>
              </a:rPr>
              <a:t>Les systèmes mis en œuvre avec KNX sont appelés </a:t>
            </a:r>
            <a:r>
              <a:rPr lang="en-GB" sz="2000" kern="0">
                <a:latin typeface="Arial" charset="0"/>
                <a:ea typeface="Open Sans" panose="020B0606030504020204" pitchFamily="34" charset="0"/>
                <a:cs typeface="Open Sans" panose="020B0606030504020204" pitchFamily="34" charset="0"/>
              </a:rPr>
              <a:t>Systèmes d'information </a:t>
            </a:r>
            <a:r>
              <a:rPr lang="en-GB" sz="2000" kern="0">
                <a:solidFill>
                  <a:schemeClr val="tx1"/>
                </a:solidFill>
                <a:latin typeface="Arial" charset="0"/>
                <a:ea typeface="Open Sans" panose="020B0606030504020204" pitchFamily="34" charset="0"/>
                <a:cs typeface="Open Sans" panose="020B0606030504020204" pitchFamily="34" charset="0"/>
              </a:rPr>
              <a:t>au lieu de systèmes d'alarme anti-intrusion</a:t>
            </a:r>
            <a:endParaRPr lang="en-US" sz="20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24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374603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Structure d'un système d'alarme VdS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9598" y="5734619"/>
            <a:ext cx="7838866" cy="862733"/>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defRPr/>
            </a:pPr>
            <a:r>
              <a:rPr lang="en-US" sz="1600" kern="0" dirty="0">
                <a:ea typeface="Open Sans" panose="020B0606030504020204" pitchFamily="34" charset="0"/>
                <a:cs typeface="Open Sans" panose="020B0606030504020204" pitchFamily="34" charset="0"/>
              </a:rPr>
              <a:t>Affiche les </a:t>
            </a:r>
            <a:r>
              <a:rPr lang="en-US" sz="1600" kern="0" dirty="0" err="1">
                <a:ea typeface="Open Sans" panose="020B0606030504020204" pitchFamily="34" charset="0"/>
                <a:cs typeface="Open Sans" panose="020B0606030504020204" pitchFamily="34" charset="0"/>
              </a:rPr>
              <a:t>informations</a:t>
            </a:r>
            <a:r>
              <a:rPr lang="en-US" sz="1600" kern="0" dirty="0">
                <a:ea typeface="Open Sans" panose="020B0606030504020204" pitchFamily="34" charset="0"/>
                <a:cs typeface="Open Sans" panose="020B0606030504020204" pitchFamily="34" charset="0"/>
              </a:rPr>
              <a:t> et les </a:t>
            </a:r>
            <a:r>
              <a:rPr lang="en-US" sz="1600" kern="0" dirty="0" err="1">
                <a:ea typeface="Open Sans" panose="020B0606030504020204" pitchFamily="34" charset="0"/>
                <a:cs typeface="Open Sans" panose="020B0606030504020204" pitchFamily="34" charset="0"/>
              </a:rPr>
              <a:t>états</a:t>
            </a:r>
            <a:r>
              <a:rPr lang="en-US" sz="1600" kern="0" dirty="0">
                <a:ea typeface="Open Sans" panose="020B0606030504020204" pitchFamily="34" charset="0"/>
                <a:cs typeface="Open Sans" panose="020B0606030504020204" pitchFamily="34" charset="0"/>
              </a:rPr>
              <a:t> </a:t>
            </a:r>
            <a:r>
              <a:rPr lang="en-US" sz="1600" kern="0" dirty="0">
                <a:solidFill>
                  <a:schemeClr val="tx1"/>
                </a:solidFill>
                <a:ea typeface="Open Sans" panose="020B0606030504020204" pitchFamily="34" charset="0"/>
                <a:cs typeface="Open Sans" panose="020B0606030504020204" pitchFamily="34" charset="0"/>
              </a:rPr>
              <a:t>de la </a:t>
            </a:r>
            <a:r>
              <a:rPr lang="en-US" sz="1600" kern="0" dirty="0" err="1">
                <a:solidFill>
                  <a:schemeClr val="tx1"/>
                </a:solidFill>
                <a:ea typeface="Open Sans" panose="020B0606030504020204" pitchFamily="34" charset="0"/>
                <a:cs typeface="Open Sans" panose="020B0606030504020204" pitchFamily="34" charset="0"/>
              </a:rPr>
              <a:t>commande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d'alarme</a:t>
            </a:r>
            <a:endParaRPr lang="en-US" sz="1600" kern="0" dirty="0">
              <a:solidFill>
                <a:schemeClr val="tx1"/>
              </a:solidFill>
              <a:ea typeface="Open Sans" panose="020B0606030504020204" pitchFamily="34" charset="0"/>
              <a:cs typeface="Open Sans" panose="020B0606030504020204" pitchFamily="34" charset="0"/>
            </a:endParaRPr>
          </a:p>
          <a:p>
            <a:pPr>
              <a:defRPr/>
            </a:pPr>
            <a:r>
              <a:rPr lang="en-US" sz="1600" kern="0" dirty="0">
                <a:solidFill>
                  <a:schemeClr val="bg1">
                    <a:lumMod val="10000"/>
                  </a:schemeClr>
                </a:solidFill>
                <a:ea typeface="Open Sans" panose="020B0606030504020204" pitchFamily="34" charset="0"/>
                <a:cs typeface="Open Sans" panose="020B0606030504020204" pitchFamily="34" charset="0"/>
              </a:rPr>
              <a:t>La communication </a:t>
            </a:r>
            <a:r>
              <a:rPr lang="en-US" sz="1600" kern="0" dirty="0" err="1">
                <a:solidFill>
                  <a:schemeClr val="bg1">
                    <a:lumMod val="10000"/>
                  </a:schemeClr>
                </a:solidFill>
                <a:ea typeface="Open Sans" panose="020B0606030504020204" pitchFamily="34" charset="0"/>
                <a:cs typeface="Open Sans" panose="020B0606030504020204" pitchFamily="34" charset="0"/>
              </a:rPr>
              <a:t>est</a:t>
            </a:r>
            <a:r>
              <a:rPr lang="en-US" sz="1600" kern="0" dirty="0">
                <a:solidFill>
                  <a:schemeClr val="bg1">
                    <a:lumMod val="10000"/>
                  </a:schemeClr>
                </a:solidFill>
                <a:ea typeface="Open Sans" panose="020B0606030504020204" pitchFamily="34" charset="0"/>
                <a:cs typeface="Open Sans" panose="020B0606030504020204" pitchFamily="34" charset="0"/>
              </a:rPr>
              <a:t> </a:t>
            </a:r>
            <a:r>
              <a:rPr lang="en-US" sz="1600" kern="0" dirty="0" err="1">
                <a:ea typeface="Open Sans" panose="020B0606030504020204" pitchFamily="34" charset="0"/>
                <a:cs typeface="Open Sans" panose="020B0606030504020204" pitchFamily="34" charset="0"/>
              </a:rPr>
              <a:t>unidirectionnelle</a:t>
            </a:r>
            <a:r>
              <a:rPr lang="en-US" sz="1600" kern="0" dirty="0">
                <a:solidFill>
                  <a:schemeClr val="bg1">
                    <a:lumMod val="10000"/>
                  </a:schemeClr>
                </a:solidFill>
                <a:ea typeface="Open Sans" panose="020B0606030504020204" pitchFamily="34" charset="0"/>
                <a:cs typeface="Open Sans" panose="020B0606030504020204" pitchFamily="34" charset="0"/>
              </a:rPr>
              <a:t>, KNX ne </a:t>
            </a:r>
            <a:r>
              <a:rPr lang="en-US" sz="1600" kern="0" dirty="0" err="1">
                <a:solidFill>
                  <a:schemeClr val="bg1">
                    <a:lumMod val="10000"/>
                  </a:schemeClr>
                </a:solidFill>
                <a:ea typeface="Open Sans" panose="020B0606030504020204" pitchFamily="34" charset="0"/>
                <a:cs typeface="Open Sans" panose="020B0606030504020204" pitchFamily="34" charset="0"/>
              </a:rPr>
              <a:t>peut</a:t>
            </a:r>
            <a:r>
              <a:rPr lang="en-US" sz="1600" kern="0" dirty="0">
                <a:solidFill>
                  <a:schemeClr val="bg1">
                    <a:lumMod val="10000"/>
                  </a:schemeClr>
                </a:solidFill>
                <a:ea typeface="Open Sans" panose="020B0606030504020204" pitchFamily="34" charset="0"/>
                <a:cs typeface="Open Sans" panose="020B0606030504020204" pitchFamily="34" charset="0"/>
              </a:rPr>
              <a:t> pas influencer le </a:t>
            </a:r>
            <a:r>
              <a:rPr lang="en-US" sz="1600" kern="0" dirty="0" err="1">
                <a:solidFill>
                  <a:schemeClr val="bg1">
                    <a:lumMod val="10000"/>
                  </a:schemeClr>
                </a:solidFill>
                <a:ea typeface="Open Sans" panose="020B0606030504020204" pitchFamily="34" charset="0"/>
                <a:cs typeface="Open Sans" panose="020B0606030504020204" pitchFamily="34" charset="0"/>
              </a:rPr>
              <a:t>VdS</a:t>
            </a:r>
            <a:endParaRPr lang="en-US" sz="1600" kern="0" dirty="0">
              <a:ea typeface="Open Sans" panose="020B0606030504020204" pitchFamily="34" charset="0"/>
              <a:cs typeface="Open Sans" panose="020B0606030504020204" pitchFamily="34" charset="0"/>
            </a:endParaRPr>
          </a:p>
        </p:txBody>
      </p:sp>
      <p:graphicFrame>
        <p:nvGraphicFramePr>
          <p:cNvPr id="4" name="Object 3">
            <a:extLst>
              <a:ext uri="{FF2B5EF4-FFF2-40B4-BE49-F238E27FC236}">
                <a16:creationId xmlns:a16="http://schemas.microsoft.com/office/drawing/2014/main" id="{09FE9876-1BCF-4384-AE25-5AA54D5F3A72}"/>
              </a:ext>
            </a:extLst>
          </p:cNvPr>
          <p:cNvGraphicFramePr>
            <a:graphicFrameLocks noChangeAspect="1"/>
          </p:cNvGraphicFramePr>
          <p:nvPr/>
        </p:nvGraphicFramePr>
        <p:xfrm>
          <a:off x="1422079" y="1329881"/>
          <a:ext cx="6447095" cy="4198237"/>
        </p:xfrm>
        <a:graphic>
          <a:graphicData uri="http://schemas.openxmlformats.org/presentationml/2006/ole">
            <mc:AlternateContent xmlns:mc="http://schemas.openxmlformats.org/markup-compatibility/2006">
              <mc:Choice xmlns:v="urn:schemas-microsoft-com:vml" Requires="v">
                <p:oleObj r:id="rId3" imgW="8111905" imgH="5278157" progId="Visio.Drawing.15">
                  <p:embed/>
                </p:oleObj>
              </mc:Choice>
              <mc:Fallback>
                <p:oleObj r:id="rId3" imgW="8111905" imgH="5278157" progId="Visio.Drawing.15">
                  <p:embed/>
                  <p:pic>
                    <p:nvPicPr>
                      <p:cNvPr id="4" name="Object 3">
                        <a:extLst>
                          <a:ext uri="{FF2B5EF4-FFF2-40B4-BE49-F238E27FC236}">
                            <a16:creationId xmlns:a16="http://schemas.microsoft.com/office/drawing/2014/main" id="{09FE9876-1BCF-4384-AE25-5AA54D5F3A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2079" y="1329881"/>
                        <a:ext cx="6447095" cy="4198237"/>
                      </a:xfrm>
                      <a:prstGeom prst="rect">
                        <a:avLst/>
                      </a:prstGeom>
                      <a:noFill/>
                    </p:spPr>
                  </p:pic>
                </p:oleObj>
              </mc:Fallback>
            </mc:AlternateContent>
          </a:graphicData>
        </a:graphic>
      </p:graphicFrame>
      <p:pic>
        <p:nvPicPr>
          <p:cNvPr id="6" name="Picture 1">
            <a:extLst>
              <a:ext uri="{FF2B5EF4-FFF2-40B4-BE49-F238E27FC236}">
                <a16:creationId xmlns:a16="http://schemas.microsoft.com/office/drawing/2014/main" id="{D34E8AF9-7266-4441-9EF2-87A678AEA6CF}"/>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308304" y="4188868"/>
            <a:ext cx="1121741" cy="112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94260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549622"/>
            <a:ext cx="6696223" cy="719138"/>
          </a:xfrm>
        </p:spPr>
        <p:txBody>
          <a:bodyPr/>
          <a:lstStyle/>
          <a:p>
            <a:r>
              <a:rPr lang="en-US"/>
              <a:t>L'unité de contrôle d'alarme KNX</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9598" y="5475489"/>
            <a:ext cx="7694850" cy="1121863"/>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defRPr/>
            </a:pPr>
            <a:r>
              <a:rPr lang="en-US" sz="1400" kern="0">
                <a:ea typeface="Open Sans" panose="020B0606030504020204" pitchFamily="34" charset="0"/>
                <a:cs typeface="Open Sans" panose="020B0606030504020204" pitchFamily="34" charset="0"/>
              </a:rPr>
              <a:t>Unité de contrôle d'alarme, pas de VdS, qui communique directement avec KNX</a:t>
            </a:r>
          </a:p>
          <a:p>
            <a:pPr>
              <a:defRPr/>
            </a:pPr>
            <a:r>
              <a:rPr lang="en-US" sz="1400" kern="0">
                <a:solidFill>
                  <a:schemeClr val="bg1">
                    <a:lumMod val="10000"/>
                  </a:schemeClr>
                </a:solidFill>
                <a:ea typeface="Open Sans" panose="020B0606030504020204" pitchFamily="34" charset="0"/>
                <a:cs typeface="Open Sans" panose="020B0606030504020204" pitchFamily="34" charset="0"/>
              </a:rPr>
              <a:t>Interfaces/entrées binaires utilisées pour relier les capteurs VdS</a:t>
            </a:r>
          </a:p>
          <a:p>
            <a:pPr>
              <a:defRPr/>
            </a:pPr>
            <a:r>
              <a:rPr lang="en-US" sz="1400" kern="0">
                <a:solidFill>
                  <a:schemeClr val="bg1">
                    <a:lumMod val="10000"/>
                  </a:schemeClr>
                </a:solidFill>
                <a:ea typeface="Open Sans" panose="020B0606030504020204" pitchFamily="34" charset="0"/>
                <a:cs typeface="Open Sans" panose="020B0606030504020204" pitchFamily="34" charset="0"/>
              </a:rPr>
              <a:t>Les composants peuvent être utilisés à plusieurs reprises pour assurer différentes fonctions</a:t>
            </a:r>
            <a:endParaRPr lang="en-US" sz="1400" kern="0" dirty="0">
              <a:ea typeface="Open Sans" panose="020B0606030504020204" pitchFamily="34" charset="0"/>
              <a:cs typeface="Open Sans" panose="020B0606030504020204" pitchFamily="34" charset="0"/>
            </a:endParaRPr>
          </a:p>
        </p:txBody>
      </p:sp>
      <p:pic>
        <p:nvPicPr>
          <p:cNvPr id="6" name="Picture 1">
            <a:extLst>
              <a:ext uri="{FF2B5EF4-FFF2-40B4-BE49-F238E27FC236}">
                <a16:creationId xmlns:a16="http://schemas.microsoft.com/office/drawing/2014/main" id="{D34E8AF9-7266-4441-9EF2-87A678AEA6C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08304" y="4188868"/>
            <a:ext cx="1121741" cy="112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Multiply 4">
            <a:extLst>
              <a:ext uri="{FF2B5EF4-FFF2-40B4-BE49-F238E27FC236}">
                <a16:creationId xmlns:a16="http://schemas.microsoft.com/office/drawing/2014/main" id="{0F5EF024-D828-4165-A8CB-139D0B22C2D6}"/>
              </a:ext>
            </a:extLst>
          </p:cNvPr>
          <p:cNvSpPr/>
          <p:nvPr/>
        </p:nvSpPr>
        <p:spPr bwMode="auto">
          <a:xfrm>
            <a:off x="7802314" y="4699232"/>
            <a:ext cx="946150" cy="874713"/>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aphicFrame>
        <p:nvGraphicFramePr>
          <p:cNvPr id="5" name="Object 4">
            <a:extLst>
              <a:ext uri="{FF2B5EF4-FFF2-40B4-BE49-F238E27FC236}">
                <a16:creationId xmlns:a16="http://schemas.microsoft.com/office/drawing/2014/main" id="{17F9CE7B-5424-49FC-86B7-6352381185FB}"/>
              </a:ext>
            </a:extLst>
          </p:cNvPr>
          <p:cNvGraphicFramePr>
            <a:graphicFrameLocks noChangeAspect="1"/>
          </p:cNvGraphicFramePr>
          <p:nvPr/>
        </p:nvGraphicFramePr>
        <p:xfrm>
          <a:off x="1259632" y="1218179"/>
          <a:ext cx="6491335" cy="4227045"/>
        </p:xfrm>
        <a:graphic>
          <a:graphicData uri="http://schemas.openxmlformats.org/presentationml/2006/ole">
            <mc:AlternateContent xmlns:mc="http://schemas.openxmlformats.org/markup-compatibility/2006">
              <mc:Choice xmlns:v="urn:schemas-microsoft-com:vml" Requires="v">
                <p:oleObj r:id="rId4" imgW="8111905" imgH="5278157" progId="Visio.Drawing.15">
                  <p:embed/>
                </p:oleObj>
              </mc:Choice>
              <mc:Fallback>
                <p:oleObj r:id="rId4" imgW="8111905" imgH="5278157" progId="Visio.Drawing.15">
                  <p:embed/>
                  <p:pic>
                    <p:nvPicPr>
                      <p:cNvPr id="5" name="Object 4">
                        <a:extLst>
                          <a:ext uri="{FF2B5EF4-FFF2-40B4-BE49-F238E27FC236}">
                            <a16:creationId xmlns:a16="http://schemas.microsoft.com/office/drawing/2014/main" id="{17F9CE7B-5424-49FC-86B7-6352381185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9632" y="1218179"/>
                        <a:ext cx="6491335" cy="4227045"/>
                      </a:xfrm>
                      <a:prstGeom prst="rect">
                        <a:avLst/>
                      </a:prstGeom>
                      <a:noFill/>
                    </p:spPr>
                  </p:pic>
                </p:oleObj>
              </mc:Fallback>
            </mc:AlternateContent>
          </a:graphicData>
        </a:graphic>
      </p:graphicFrame>
    </p:spTree>
    <p:extLst>
      <p:ext uri="{BB962C8B-B14F-4D97-AF65-F5344CB8AC3E}">
        <p14:creationId xmlns:p14="http://schemas.microsoft.com/office/powerpoint/2010/main" val="3802930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sz="2400" dirty="0" err="1"/>
              <a:t>L'unité</a:t>
            </a:r>
            <a:r>
              <a:rPr lang="en-US" sz="2400" dirty="0"/>
              <a:t> de </a:t>
            </a:r>
            <a:r>
              <a:rPr lang="en-US" sz="2400" dirty="0" err="1"/>
              <a:t>contrôle</a:t>
            </a:r>
            <a:r>
              <a:rPr lang="en-US" sz="2400" dirty="0"/>
              <a:t> </a:t>
            </a:r>
            <a:r>
              <a:rPr lang="en-US" sz="2400" dirty="0" err="1"/>
              <a:t>d'alarme</a:t>
            </a:r>
            <a:r>
              <a:rPr lang="en-US" sz="2400" dirty="0"/>
              <a:t> KNX </a:t>
            </a:r>
            <a:r>
              <a:rPr lang="en-US" sz="2400" dirty="0" err="1"/>
              <a:t>certifiée</a:t>
            </a:r>
            <a:r>
              <a:rPr lang="en-US" sz="2400" dirty="0"/>
              <a:t> </a:t>
            </a:r>
            <a:r>
              <a:rPr lang="en-US" sz="2400" dirty="0" err="1"/>
              <a:t>VdS</a:t>
            </a:r>
            <a:endParaRPr lang="en-GB" sz="2400"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340768"/>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err="1">
                <a:ea typeface="Open Sans" panose="020B0606030504020204" pitchFamily="34" charset="0"/>
                <a:cs typeface="Open Sans" panose="020B0606030504020204" pitchFamily="34" charset="0"/>
              </a:rPr>
              <a:t>Régulation</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d'alarme</a:t>
            </a:r>
            <a:r>
              <a:rPr lang="en-US" sz="1800" kern="0" dirty="0">
                <a:ea typeface="Open Sans" panose="020B0606030504020204" pitchFamily="34" charset="0"/>
                <a:cs typeface="Open Sans" panose="020B0606030504020204" pitchFamily="34" charset="0"/>
              </a:rPr>
              <a:t> KNX </a:t>
            </a:r>
            <a:r>
              <a:rPr lang="en-US" sz="1800" kern="0" dirty="0" err="1">
                <a:ea typeface="Open Sans" panose="020B0606030504020204" pitchFamily="34" charset="0"/>
                <a:cs typeface="Open Sans" panose="020B0606030504020204" pitchFamily="34" charset="0"/>
              </a:rPr>
              <a:t>certifiée</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VdS</a:t>
            </a:r>
            <a:r>
              <a:rPr lang="en-US" sz="1800" kern="0" dirty="0">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opérant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unidirectionnelle</a:t>
            </a: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Si les </a:t>
            </a:r>
            <a:r>
              <a:rPr lang="en-US" sz="1800" kern="0" dirty="0" err="1">
                <a:solidFill>
                  <a:schemeClr val="tx1"/>
                </a:solidFill>
                <a:ea typeface="Open Sans" panose="020B0606030504020204" pitchFamily="34" charset="0"/>
                <a:cs typeface="Open Sans" panose="020B0606030504020204" pitchFamily="34" charset="0"/>
              </a:rPr>
              <a:t>fonctions</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sécurité</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sont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communiquées</a:t>
            </a:r>
            <a:r>
              <a:rPr lang="en-US" sz="1800" kern="0" dirty="0">
                <a:solidFill>
                  <a:schemeClr val="tx1"/>
                </a:solidFill>
                <a:ea typeface="Open Sans" panose="020B0606030504020204" pitchFamily="34" charset="0"/>
                <a:cs typeface="Open Sans" panose="020B0606030504020204" pitchFamily="34" charset="0"/>
              </a:rPr>
              <a:t> bi-</a:t>
            </a:r>
            <a:r>
              <a:rPr lang="en-US" sz="1800" kern="0" dirty="0" err="1">
                <a:solidFill>
                  <a:schemeClr val="tx1"/>
                </a:solidFill>
                <a:ea typeface="Open Sans" panose="020B0606030504020204" pitchFamily="34" charset="0"/>
                <a:cs typeface="Open Sans" panose="020B0606030504020204" pitchFamily="34" charset="0"/>
              </a:rPr>
              <a:t>directionnellement</a:t>
            </a:r>
            <a:r>
              <a:rPr lang="en-US" sz="1800" kern="0" dirty="0">
                <a:solidFill>
                  <a:schemeClr val="tx1"/>
                </a:solidFill>
                <a:ea typeface="Open Sans" panose="020B0606030504020204" pitchFamily="34" charset="0"/>
                <a:cs typeface="Open Sans" panose="020B0606030504020204" pitchFamily="34" charset="0"/>
              </a:rPr>
              <a:t> via KNX, le </a:t>
            </a:r>
            <a:r>
              <a:rPr lang="en-US" sz="1800" kern="0" dirty="0" err="1">
                <a:solidFill>
                  <a:schemeClr val="tx1"/>
                </a:solidFill>
                <a:ea typeface="Open Sans" panose="020B0606030504020204" pitchFamily="34" charset="0"/>
                <a:cs typeface="Open Sans" panose="020B0606030504020204" pitchFamily="34" charset="0"/>
              </a:rPr>
              <a:t>système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complet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est</a:t>
            </a:r>
            <a:r>
              <a:rPr lang="en-US" sz="1800" kern="0" dirty="0">
                <a:solidFill>
                  <a:schemeClr val="tx1"/>
                </a:solidFill>
                <a:ea typeface="Open Sans" panose="020B0606030504020204" pitchFamily="34" charset="0"/>
                <a:cs typeface="Open Sans" panose="020B0606030504020204" pitchFamily="34" charset="0"/>
              </a:rPr>
              <a:t> </a:t>
            </a:r>
            <a:r>
              <a:rPr lang="en-US" sz="1800" kern="0" dirty="0">
                <a:ea typeface="Open Sans" panose="020B0606030504020204" pitchFamily="34" charset="0"/>
                <a:cs typeface="Open Sans" panose="020B0606030504020204" pitchFamily="34" charset="0"/>
              </a:rPr>
              <a:t>non </a:t>
            </a:r>
            <a:r>
              <a:rPr lang="en-US" sz="1800" kern="0" dirty="0" err="1">
                <a:ea typeface="Open Sans" panose="020B0606030504020204" pitchFamily="34" charset="0"/>
                <a:cs typeface="Open Sans" panose="020B0606030504020204" pitchFamily="34" charset="0"/>
              </a:rPr>
              <a:t>conforme</a:t>
            </a:r>
            <a:r>
              <a:rPr lang="en-US" sz="1800" kern="0" dirty="0">
                <a:ea typeface="Open Sans" panose="020B0606030504020204" pitchFamily="34" charset="0"/>
                <a:cs typeface="Open Sans" panose="020B0606030504020204" pitchFamily="34" charset="0"/>
              </a:rPr>
              <a:t> au </a:t>
            </a:r>
            <a:r>
              <a:rPr lang="en-US" sz="1800" kern="0" dirty="0" err="1">
                <a:ea typeface="Open Sans" panose="020B0606030504020204" pitchFamily="34" charset="0"/>
                <a:cs typeface="Open Sans" panose="020B0606030504020204" pitchFamily="34" charset="0"/>
              </a:rPr>
              <a:t>VdS</a:t>
            </a:r>
            <a:endParaRPr lang="en-US" sz="1800" kern="0" dirty="0">
              <a:ea typeface="Open Sans" panose="020B0606030504020204" pitchFamily="34" charset="0"/>
              <a:cs typeface="Open Sans" panose="020B0606030504020204" pitchFamily="34" charset="0"/>
            </a:endParaRPr>
          </a:p>
        </p:txBody>
      </p:sp>
      <p:pic>
        <p:nvPicPr>
          <p:cNvPr id="2" name="Picture 1">
            <a:extLst>
              <a:ext uri="{FF2B5EF4-FFF2-40B4-BE49-F238E27FC236}">
                <a16:creationId xmlns:a16="http://schemas.microsoft.com/office/drawing/2014/main" id="{3840F1C2-A25A-4580-9BFD-3DB8E69C8295}"/>
              </a:ext>
            </a:extLst>
          </p:cNvPr>
          <p:cNvPicPr>
            <a:picLocks noChangeAspect="1"/>
          </p:cNvPicPr>
          <p:nvPr/>
        </p:nvPicPr>
        <p:blipFill>
          <a:blip r:embed="rId3"/>
          <a:stretch>
            <a:fillRect/>
          </a:stretch>
        </p:blipFill>
        <p:spPr>
          <a:xfrm>
            <a:off x="846458" y="3159586"/>
            <a:ext cx="5984594" cy="3293056"/>
          </a:xfrm>
          <a:prstGeom prst="rect">
            <a:avLst/>
          </a:prstGeom>
        </p:spPr>
      </p:pic>
      <p:sp>
        <p:nvSpPr>
          <p:cNvPr id="4" name="Rectangle 3">
            <a:extLst>
              <a:ext uri="{FF2B5EF4-FFF2-40B4-BE49-F238E27FC236}">
                <a16:creationId xmlns:a16="http://schemas.microsoft.com/office/drawing/2014/main" id="{C0A47805-3521-4C67-902D-D1A92BD77049}"/>
              </a:ext>
            </a:extLst>
          </p:cNvPr>
          <p:cNvSpPr/>
          <p:nvPr/>
        </p:nvSpPr>
        <p:spPr>
          <a:xfrm>
            <a:off x="6817650" y="5301208"/>
            <a:ext cx="1872208" cy="1077218"/>
          </a:xfrm>
          <a:prstGeom prst="rect">
            <a:avLst/>
          </a:prstGeom>
        </p:spPr>
        <p:txBody>
          <a:bodyPr wrap="square">
            <a:spAutoFit/>
          </a:bodyPr>
          <a:lstStyle/>
          <a:p>
            <a:r>
              <a:rPr lang="en-US" sz="1600" b="1"/>
              <a:t>câblage classique d'une unité de contrôle d'alarme</a:t>
            </a:r>
            <a:endParaRPr lang="es-ES" sz="1600" b="1" dirty="0"/>
          </a:p>
        </p:txBody>
      </p:sp>
    </p:spTree>
    <p:extLst>
      <p:ext uri="{BB962C8B-B14F-4D97-AF65-F5344CB8AC3E}">
        <p14:creationId xmlns:p14="http://schemas.microsoft.com/office/powerpoint/2010/main" val="2416504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621630"/>
            <a:ext cx="6696223" cy="719138"/>
          </a:xfrm>
        </p:spPr>
        <p:txBody>
          <a:bodyPr/>
          <a:lstStyle/>
          <a:p>
            <a:r>
              <a:rPr lang="en-US" sz="2400"/>
              <a:t>Les fonctions de surveillance avec KNX</a:t>
            </a:r>
            <a:endParaRPr lang="en-GB" sz="2400" dirty="0"/>
          </a:p>
        </p:txBody>
      </p:sp>
      <p:sp>
        <p:nvSpPr>
          <p:cNvPr id="6" name="Content Placeholder 1">
            <a:extLst>
              <a:ext uri="{FF2B5EF4-FFF2-40B4-BE49-F238E27FC236}">
                <a16:creationId xmlns:a16="http://schemas.microsoft.com/office/drawing/2014/main" id="{DA61AD65-AFB4-4F4E-B2C8-F3F55B22FDD0}"/>
              </a:ext>
            </a:extLst>
          </p:cNvPr>
          <p:cNvSpPr txBox="1">
            <a:spLocks/>
          </p:cNvSpPr>
          <p:nvPr/>
        </p:nvSpPr>
        <p:spPr>
          <a:xfrm>
            <a:off x="395536" y="5563307"/>
            <a:ext cx="8640960" cy="862733"/>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defRPr/>
            </a:pPr>
            <a:r>
              <a:rPr lang="en-US" sz="1600" kern="0" dirty="0">
                <a:ea typeface="Open Sans" panose="020B0606030504020204" pitchFamily="34" charset="0"/>
                <a:cs typeface="Open Sans" panose="020B0606030504020204" pitchFamily="34" charset="0"/>
              </a:rPr>
              <a:t>Applications de </a:t>
            </a:r>
            <a:r>
              <a:rPr lang="en-US" sz="1600" kern="0" dirty="0" err="1">
                <a:ea typeface="Open Sans" panose="020B0606030504020204" pitchFamily="34" charset="0"/>
                <a:cs typeface="Open Sans" panose="020B0606030504020204" pitchFamily="34" charset="0"/>
              </a:rPr>
              <a:t>sécurité</a:t>
            </a:r>
            <a:r>
              <a:rPr lang="en-US" sz="1600" kern="0" dirty="0">
                <a:ea typeface="Open Sans" panose="020B0606030504020204" pitchFamily="34" charset="0"/>
                <a:cs typeface="Open Sans" panose="020B0606030504020204" pitchFamily="34" charset="0"/>
              </a:rPr>
              <a:t> et de surveillance </a:t>
            </a:r>
            <a:r>
              <a:rPr lang="en-US" sz="1600" kern="0" dirty="0" err="1">
                <a:ea typeface="Open Sans" panose="020B0606030504020204" pitchFamily="34" charset="0"/>
                <a:cs typeface="Open Sans" panose="020B0606030504020204" pitchFamily="34" charset="0"/>
              </a:rPr>
              <a:t>uniquement</a:t>
            </a:r>
            <a:r>
              <a:rPr lang="en-US" sz="1600" kern="0" dirty="0">
                <a:ea typeface="Open Sans" panose="020B0606030504020204" pitchFamily="34" charset="0"/>
                <a:cs typeface="Open Sans" panose="020B0606030504020204" pitchFamily="34" charset="0"/>
              </a:rPr>
              <a:t> avec des </a:t>
            </a:r>
            <a:r>
              <a:rPr lang="en-US" sz="1600" kern="0" dirty="0" err="1">
                <a:ea typeface="Open Sans" panose="020B0606030504020204" pitchFamily="34" charset="0"/>
                <a:cs typeface="Open Sans" panose="020B0606030504020204" pitchFamily="34" charset="0"/>
              </a:rPr>
              <a:t>composants</a:t>
            </a:r>
            <a:r>
              <a:rPr lang="en-US" sz="1600" kern="0" dirty="0">
                <a:ea typeface="Open Sans" panose="020B0606030504020204" pitchFamily="34" charset="0"/>
                <a:cs typeface="Open Sans" panose="020B0606030504020204" pitchFamily="34" charset="0"/>
              </a:rPr>
              <a:t> KNX</a:t>
            </a:r>
          </a:p>
          <a:p>
            <a:pPr>
              <a:defRPr/>
            </a:pPr>
            <a:r>
              <a:rPr lang="en-US" sz="1600" dirty="0">
                <a:solidFill>
                  <a:schemeClr val="bg1">
                    <a:lumMod val="10000"/>
                  </a:schemeClr>
                </a:solidFill>
              </a:rPr>
              <a:t>Les </a:t>
            </a:r>
            <a:r>
              <a:rPr lang="en-US" sz="1600" dirty="0" err="1">
                <a:solidFill>
                  <a:schemeClr val="bg1">
                    <a:lumMod val="10000"/>
                  </a:schemeClr>
                </a:solidFill>
              </a:rPr>
              <a:t>composantes</a:t>
            </a:r>
            <a:r>
              <a:rPr lang="en-US" sz="1600" dirty="0">
                <a:solidFill>
                  <a:schemeClr val="bg1">
                    <a:lumMod val="10000"/>
                  </a:schemeClr>
                </a:solidFill>
              </a:rPr>
              <a:t> </a:t>
            </a:r>
            <a:r>
              <a:rPr lang="en-US" sz="1600" dirty="0" err="1">
                <a:solidFill>
                  <a:schemeClr val="bg1">
                    <a:lumMod val="10000"/>
                  </a:schemeClr>
                </a:solidFill>
              </a:rPr>
              <a:t>VdS</a:t>
            </a:r>
            <a:r>
              <a:rPr lang="en-US" sz="1600" dirty="0">
                <a:solidFill>
                  <a:schemeClr val="bg1">
                    <a:lumMod val="10000"/>
                  </a:schemeClr>
                </a:solidFill>
              </a:rPr>
              <a:t> </a:t>
            </a:r>
            <a:r>
              <a:rPr lang="en-US" sz="1600" dirty="0" err="1">
                <a:solidFill>
                  <a:schemeClr val="bg1">
                    <a:lumMod val="10000"/>
                  </a:schemeClr>
                </a:solidFill>
              </a:rPr>
              <a:t>peuvent</a:t>
            </a:r>
            <a:r>
              <a:rPr lang="en-US" sz="1600" dirty="0">
                <a:solidFill>
                  <a:schemeClr val="bg1">
                    <a:lumMod val="10000"/>
                  </a:schemeClr>
                </a:solidFill>
              </a:rPr>
              <a:t> </a:t>
            </a:r>
            <a:r>
              <a:rPr lang="en-US" sz="1600" dirty="0" err="1">
                <a:solidFill>
                  <a:schemeClr val="bg1">
                    <a:lumMod val="10000"/>
                  </a:schemeClr>
                </a:solidFill>
              </a:rPr>
              <a:t>être</a:t>
            </a:r>
            <a:r>
              <a:rPr lang="en-US" sz="1600" dirty="0">
                <a:solidFill>
                  <a:schemeClr val="bg1">
                    <a:lumMod val="10000"/>
                  </a:schemeClr>
                </a:solidFill>
              </a:rPr>
              <a:t> </a:t>
            </a:r>
            <a:r>
              <a:rPr lang="en-US" sz="1600" dirty="0" err="1">
                <a:solidFill>
                  <a:schemeClr val="bg1">
                    <a:lumMod val="10000"/>
                  </a:schemeClr>
                </a:solidFill>
              </a:rPr>
              <a:t>utilisées</a:t>
            </a:r>
            <a:r>
              <a:rPr lang="en-US" sz="1600" dirty="0">
                <a:solidFill>
                  <a:schemeClr val="bg1">
                    <a:lumMod val="10000"/>
                  </a:schemeClr>
                </a:solidFill>
              </a:rPr>
              <a:t> </a:t>
            </a:r>
            <a:r>
              <a:rPr lang="en-US" sz="1600" dirty="0" err="1">
                <a:solidFill>
                  <a:schemeClr val="bg1">
                    <a:lumMod val="10000"/>
                  </a:schemeClr>
                </a:solidFill>
              </a:rPr>
              <a:t>comme</a:t>
            </a:r>
            <a:r>
              <a:rPr lang="en-US" sz="1600" dirty="0">
                <a:solidFill>
                  <a:schemeClr val="bg1">
                    <a:lumMod val="10000"/>
                  </a:schemeClr>
                </a:solidFill>
              </a:rPr>
              <a:t> </a:t>
            </a:r>
            <a:r>
              <a:rPr lang="en-GB" sz="1600" dirty="0" err="1">
                <a:solidFill>
                  <a:schemeClr val="bg1">
                    <a:lumMod val="10000"/>
                  </a:schemeClr>
                </a:solidFill>
              </a:rPr>
              <a:t>dispositifs</a:t>
            </a:r>
            <a:r>
              <a:rPr lang="en-GB" sz="1600" dirty="0">
                <a:solidFill>
                  <a:schemeClr val="bg1">
                    <a:lumMod val="10000"/>
                  </a:schemeClr>
                </a:solidFill>
              </a:rPr>
              <a:t> de signalisation</a:t>
            </a:r>
            <a:r>
              <a:rPr lang="en-US" sz="1600" dirty="0">
                <a:solidFill>
                  <a:schemeClr val="bg1">
                    <a:lumMod val="10000"/>
                  </a:schemeClr>
                </a:solidFill>
              </a:rPr>
              <a:t> </a:t>
            </a:r>
            <a:r>
              <a:rPr lang="en-US" sz="1600" dirty="0" err="1">
                <a:solidFill>
                  <a:schemeClr val="bg1">
                    <a:lumMod val="10000"/>
                  </a:schemeClr>
                </a:solidFill>
              </a:rPr>
              <a:t>liés</a:t>
            </a:r>
            <a:r>
              <a:rPr lang="en-US" sz="1600" dirty="0">
                <a:solidFill>
                  <a:schemeClr val="bg1">
                    <a:lumMod val="10000"/>
                  </a:schemeClr>
                </a:solidFill>
              </a:rPr>
              <a:t> au KNX via des interfaces à boutons-</a:t>
            </a:r>
            <a:r>
              <a:rPr lang="en-US" sz="1600" dirty="0" err="1">
                <a:solidFill>
                  <a:schemeClr val="bg1">
                    <a:lumMod val="10000"/>
                  </a:schemeClr>
                </a:solidFill>
              </a:rPr>
              <a:t>poussoirs</a:t>
            </a:r>
            <a:r>
              <a:rPr lang="en-US" sz="1600" dirty="0">
                <a:solidFill>
                  <a:schemeClr val="bg1">
                    <a:lumMod val="10000"/>
                  </a:schemeClr>
                </a:solidFill>
              </a:rPr>
              <a:t>, des entrées </a:t>
            </a:r>
            <a:r>
              <a:rPr lang="en-US" sz="1600" dirty="0" err="1">
                <a:solidFill>
                  <a:schemeClr val="bg1">
                    <a:lumMod val="10000"/>
                  </a:schemeClr>
                </a:solidFill>
              </a:rPr>
              <a:t>ou</a:t>
            </a:r>
            <a:r>
              <a:rPr lang="en-US" sz="1600" dirty="0">
                <a:solidFill>
                  <a:schemeClr val="bg1">
                    <a:lumMod val="10000"/>
                  </a:schemeClr>
                </a:solidFill>
              </a:rPr>
              <a:t> sorties </a:t>
            </a:r>
            <a:r>
              <a:rPr lang="en-US" sz="1600" dirty="0" err="1">
                <a:solidFill>
                  <a:schemeClr val="bg1">
                    <a:lumMod val="10000"/>
                  </a:schemeClr>
                </a:solidFill>
              </a:rPr>
              <a:t>binaires</a:t>
            </a:r>
            <a:endParaRPr lang="en-US" sz="1600" kern="0" dirty="0">
              <a:ea typeface="Open Sans" panose="020B0606030504020204" pitchFamily="34" charset="0"/>
              <a:cs typeface="Open Sans" panose="020B0606030504020204" pitchFamily="34" charset="0"/>
            </a:endParaRPr>
          </a:p>
        </p:txBody>
      </p:sp>
      <p:pic>
        <p:nvPicPr>
          <p:cNvPr id="8" name="Picture 1">
            <a:extLst>
              <a:ext uri="{FF2B5EF4-FFF2-40B4-BE49-F238E27FC236}">
                <a16:creationId xmlns:a16="http://schemas.microsoft.com/office/drawing/2014/main" id="{43969C39-79D0-42D9-9147-5F134FF476C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08304" y="4188868"/>
            <a:ext cx="1121741" cy="112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Object 9">
            <a:extLst>
              <a:ext uri="{FF2B5EF4-FFF2-40B4-BE49-F238E27FC236}">
                <a16:creationId xmlns:a16="http://schemas.microsoft.com/office/drawing/2014/main" id="{C6153F4B-3B48-47E7-B560-6CE1D383E0F5}"/>
              </a:ext>
            </a:extLst>
          </p:cNvPr>
          <p:cNvGraphicFramePr>
            <a:graphicFrameLocks noChangeAspect="1"/>
          </p:cNvGraphicFramePr>
          <p:nvPr/>
        </p:nvGraphicFramePr>
        <p:xfrm>
          <a:off x="1187624" y="1196752"/>
          <a:ext cx="6526331" cy="4249834"/>
        </p:xfrm>
        <a:graphic>
          <a:graphicData uri="http://schemas.openxmlformats.org/presentationml/2006/ole">
            <mc:AlternateContent xmlns:mc="http://schemas.openxmlformats.org/markup-compatibility/2006">
              <mc:Choice xmlns:v="urn:schemas-microsoft-com:vml" Requires="v">
                <p:oleObj r:id="rId4" imgW="8111905" imgH="5278157" progId="Visio.Drawing.15">
                  <p:embed/>
                </p:oleObj>
              </mc:Choice>
              <mc:Fallback>
                <p:oleObj r:id="rId4" imgW="8111905" imgH="5278157" progId="Visio.Drawing.15">
                  <p:embed/>
                  <p:pic>
                    <p:nvPicPr>
                      <p:cNvPr id="10" name="Object 9">
                        <a:extLst>
                          <a:ext uri="{FF2B5EF4-FFF2-40B4-BE49-F238E27FC236}">
                            <a16:creationId xmlns:a16="http://schemas.microsoft.com/office/drawing/2014/main" id="{C6153F4B-3B48-47E7-B560-6CE1D383E0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624" y="1196752"/>
                        <a:ext cx="6526331" cy="4249834"/>
                      </a:xfrm>
                      <a:prstGeom prst="rect">
                        <a:avLst/>
                      </a:prstGeom>
                      <a:noFill/>
                    </p:spPr>
                  </p:pic>
                </p:oleObj>
              </mc:Fallback>
            </mc:AlternateContent>
          </a:graphicData>
        </a:graphic>
      </p:graphicFrame>
      <p:sp>
        <p:nvSpPr>
          <p:cNvPr id="11" name="Multiply 4">
            <a:extLst>
              <a:ext uri="{FF2B5EF4-FFF2-40B4-BE49-F238E27FC236}">
                <a16:creationId xmlns:a16="http://schemas.microsoft.com/office/drawing/2014/main" id="{7257C329-C8C1-42B8-B21D-25536BD6EEE1}"/>
              </a:ext>
            </a:extLst>
          </p:cNvPr>
          <p:cNvSpPr/>
          <p:nvPr/>
        </p:nvSpPr>
        <p:spPr bwMode="auto">
          <a:xfrm>
            <a:off x="7802314" y="4699232"/>
            <a:ext cx="946150" cy="874713"/>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2684641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Installation et topologie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3923928" y="1310267"/>
            <a:ext cx="4896544" cy="2232248"/>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600" kern="0">
                <a:solidFill>
                  <a:schemeClr val="tx1"/>
                </a:solidFill>
                <a:ea typeface="Open Sans" panose="020B0606030504020204" pitchFamily="34" charset="0"/>
                <a:cs typeface="Open Sans" panose="020B0606030504020204" pitchFamily="34" charset="0"/>
              </a:rPr>
              <a:t>Le support de média doit être protégé</a:t>
            </a:r>
          </a:p>
          <a:p>
            <a:pPr>
              <a:lnSpc>
                <a:spcPct val="150000"/>
              </a:lnSpc>
              <a:defRPr/>
            </a:pPr>
            <a:r>
              <a:rPr lang="en-US" sz="1600" kern="0">
                <a:solidFill>
                  <a:schemeClr val="tx1"/>
                </a:solidFill>
                <a:ea typeface="Open Sans" panose="020B0606030504020204" pitchFamily="34" charset="0"/>
                <a:cs typeface="Open Sans" panose="020B0606030504020204" pitchFamily="34" charset="0"/>
              </a:rPr>
              <a:t>La basse tension devrait être robuste</a:t>
            </a:r>
          </a:p>
          <a:p>
            <a:pPr>
              <a:lnSpc>
                <a:spcPct val="150000"/>
              </a:lnSpc>
              <a:defRPr/>
            </a:pPr>
            <a:r>
              <a:rPr lang="en-GB" sz="1600">
                <a:solidFill>
                  <a:schemeClr val="tx1"/>
                </a:solidFill>
                <a:latin typeface="Arial" charset="0"/>
              </a:rPr>
              <a:t>Le routage du câble ouvert doit être évité </a:t>
            </a:r>
            <a:endParaRPr lang="en-US" sz="1600" kern="0" dirty="0">
              <a:ea typeface="Open Sans" panose="020B0606030504020204" pitchFamily="34" charset="0"/>
              <a:cs typeface="Open Sans" panose="020B0606030504020204" pitchFamily="34" charset="0"/>
            </a:endParaRPr>
          </a:p>
          <a:p>
            <a:pPr>
              <a:lnSpc>
                <a:spcPct val="150000"/>
              </a:lnSpc>
              <a:defRPr/>
            </a:pPr>
            <a:r>
              <a:rPr lang="en-US" sz="1600" kern="0">
                <a:solidFill>
                  <a:schemeClr val="bg1">
                    <a:lumMod val="10000"/>
                  </a:schemeClr>
                </a:solidFill>
                <a:ea typeface="Open Sans" panose="020B0606030504020204" pitchFamily="34" charset="0"/>
                <a:cs typeface="Open Sans" panose="020B0606030504020204" pitchFamily="34" charset="0"/>
              </a:rPr>
              <a:t>Mettre les dispositifs de sécurité en ligne principale ou dans des lignes/zones exclusives</a:t>
            </a:r>
          </a:p>
          <a:p>
            <a:pPr>
              <a:lnSpc>
                <a:spcPct val="150000"/>
              </a:lnSpc>
              <a:defRPr/>
            </a:pPr>
            <a:endParaRPr lang="en-US" sz="18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endParaRPr lang="en-US" sz="18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endParaRPr lang="en-US" sz="18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000" kern="0" dirty="0">
              <a:ea typeface="Open Sans" panose="020B0606030504020204" pitchFamily="34" charset="0"/>
              <a:cs typeface="Open Sans" panose="020B0606030504020204" pitchFamily="34" charset="0"/>
            </a:endParaRPr>
          </a:p>
        </p:txBody>
      </p:sp>
      <p:pic>
        <p:nvPicPr>
          <p:cNvPr id="4" name="Picture 3">
            <a:extLst>
              <a:ext uri="{FF2B5EF4-FFF2-40B4-BE49-F238E27FC236}">
                <a16:creationId xmlns:a16="http://schemas.microsoft.com/office/drawing/2014/main" id="{4BA72F85-A446-4849-8EA4-B64FB11365D7}"/>
              </a:ext>
            </a:extLst>
          </p:cNvPr>
          <p:cNvPicPr/>
          <p:nvPr/>
        </p:nvPicPr>
        <p:blipFill>
          <a:blip r:embed="rId3"/>
          <a:stretch>
            <a:fillRect/>
          </a:stretch>
        </p:blipFill>
        <p:spPr>
          <a:xfrm>
            <a:off x="971600" y="3788178"/>
            <a:ext cx="7560840" cy="1945078"/>
          </a:xfrm>
          <a:prstGeom prst="rect">
            <a:avLst/>
          </a:prstGeom>
        </p:spPr>
      </p:pic>
      <p:pic>
        <p:nvPicPr>
          <p:cNvPr id="5" name="Picture 4">
            <a:extLst>
              <a:ext uri="{FF2B5EF4-FFF2-40B4-BE49-F238E27FC236}">
                <a16:creationId xmlns:a16="http://schemas.microsoft.com/office/drawing/2014/main" id="{D68A9B16-041A-43C5-B408-53386FB5D19B}"/>
              </a:ext>
            </a:extLst>
          </p:cNvPr>
          <p:cNvPicPr/>
          <p:nvPr/>
        </p:nvPicPr>
        <p:blipFill>
          <a:blip r:embed="rId4"/>
          <a:stretch>
            <a:fillRect/>
          </a:stretch>
        </p:blipFill>
        <p:spPr>
          <a:xfrm>
            <a:off x="971600" y="1441051"/>
            <a:ext cx="2808312" cy="2101464"/>
          </a:xfrm>
          <a:prstGeom prst="rect">
            <a:avLst/>
          </a:prstGeom>
        </p:spPr>
      </p:pic>
      <p:sp>
        <p:nvSpPr>
          <p:cNvPr id="2" name="Rectangle 1">
            <a:extLst>
              <a:ext uri="{FF2B5EF4-FFF2-40B4-BE49-F238E27FC236}">
                <a16:creationId xmlns:a16="http://schemas.microsoft.com/office/drawing/2014/main" id="{1E806FF8-CF05-47DF-AE77-305E53FC1F68}"/>
              </a:ext>
            </a:extLst>
          </p:cNvPr>
          <p:cNvSpPr/>
          <p:nvPr/>
        </p:nvSpPr>
        <p:spPr>
          <a:xfrm>
            <a:off x="971600" y="5949280"/>
            <a:ext cx="7560840" cy="369332"/>
          </a:xfrm>
          <a:prstGeom prst="rect">
            <a:avLst/>
          </a:prstGeom>
        </p:spPr>
        <p:txBody>
          <a:bodyPr wrap="square">
            <a:spAutoFit/>
          </a:bodyPr>
          <a:lstStyle/>
          <a:p>
            <a:r>
              <a:rPr lang="en-US" b="1">
                <a:solidFill>
                  <a:srgbClr val="369226"/>
                </a:solidFill>
              </a:rPr>
              <a:t>Attention : </a:t>
            </a:r>
            <a:r>
              <a:rPr lang="en-US" b="1"/>
              <a:t>Une charge de bus élevée peut causer des alarmes fausses ou des signaux de défaut</a:t>
            </a:r>
          </a:p>
        </p:txBody>
      </p:sp>
    </p:spTree>
    <p:extLst>
      <p:ext uri="{BB962C8B-B14F-4D97-AF65-F5344CB8AC3E}">
        <p14:creationId xmlns:p14="http://schemas.microsoft.com/office/powerpoint/2010/main" val="1396881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Conception du projet : Exemple</a:t>
            </a:r>
            <a:endParaRPr lang="en-GB" dirty="0"/>
          </a:p>
        </p:txBody>
      </p:sp>
      <p:pic>
        <p:nvPicPr>
          <p:cNvPr id="2" name="Picture 1">
            <a:extLst>
              <a:ext uri="{FF2B5EF4-FFF2-40B4-BE49-F238E27FC236}">
                <a16:creationId xmlns:a16="http://schemas.microsoft.com/office/drawing/2014/main" id="{D5CB9742-DB2B-41A2-85B5-93395AC99600}"/>
              </a:ext>
            </a:extLst>
          </p:cNvPr>
          <p:cNvPicPr>
            <a:picLocks noChangeAspect="1"/>
          </p:cNvPicPr>
          <p:nvPr/>
        </p:nvPicPr>
        <p:blipFill>
          <a:blip r:embed="rId3"/>
          <a:stretch>
            <a:fillRect/>
          </a:stretch>
        </p:blipFill>
        <p:spPr>
          <a:xfrm>
            <a:off x="971600" y="1484784"/>
            <a:ext cx="3060457" cy="4752528"/>
          </a:xfrm>
          <a:prstGeom prst="rect">
            <a:avLst/>
          </a:prstGeom>
          <a:ln>
            <a:solidFill>
              <a:schemeClr val="tx1"/>
            </a:solidFill>
          </a:ln>
        </p:spPr>
      </p:pic>
      <p:pic>
        <p:nvPicPr>
          <p:cNvPr id="6" name="Picture 5">
            <a:extLst>
              <a:ext uri="{FF2B5EF4-FFF2-40B4-BE49-F238E27FC236}">
                <a16:creationId xmlns:a16="http://schemas.microsoft.com/office/drawing/2014/main" id="{9721C505-E344-41CB-B366-B333F9CF35BA}"/>
              </a:ext>
            </a:extLst>
          </p:cNvPr>
          <p:cNvPicPr/>
          <p:nvPr/>
        </p:nvPicPr>
        <p:blipFill>
          <a:blip r:embed="rId4"/>
          <a:stretch>
            <a:fillRect/>
          </a:stretch>
        </p:blipFill>
        <p:spPr>
          <a:xfrm>
            <a:off x="4211960" y="1484784"/>
            <a:ext cx="4305111" cy="4752528"/>
          </a:xfrm>
          <a:prstGeom prst="rect">
            <a:avLst/>
          </a:prstGeom>
          <a:ln>
            <a:solidFill>
              <a:schemeClr val="tx1"/>
            </a:solidFill>
          </a:ln>
        </p:spPr>
      </p:pic>
    </p:spTree>
    <p:extLst>
      <p:ext uri="{BB962C8B-B14F-4D97-AF65-F5344CB8AC3E}">
        <p14:creationId xmlns:p14="http://schemas.microsoft.com/office/powerpoint/2010/main" val="41044359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Conception du projet : Exemple</a:t>
            </a:r>
            <a:endParaRPr lang="en-GB" dirty="0"/>
          </a:p>
        </p:txBody>
      </p:sp>
      <p:pic>
        <p:nvPicPr>
          <p:cNvPr id="4" name="Picture 3">
            <a:extLst>
              <a:ext uri="{FF2B5EF4-FFF2-40B4-BE49-F238E27FC236}">
                <a16:creationId xmlns:a16="http://schemas.microsoft.com/office/drawing/2014/main" id="{5DA3BD62-CAA8-4362-B0BC-614B82A7C877}"/>
              </a:ext>
            </a:extLst>
          </p:cNvPr>
          <p:cNvPicPr>
            <a:picLocks noChangeAspect="1"/>
          </p:cNvPicPr>
          <p:nvPr/>
        </p:nvPicPr>
        <p:blipFill>
          <a:blip r:embed="rId3"/>
          <a:stretch>
            <a:fillRect/>
          </a:stretch>
        </p:blipFill>
        <p:spPr>
          <a:xfrm>
            <a:off x="1088805" y="5128048"/>
            <a:ext cx="6933350" cy="346328"/>
          </a:xfrm>
          <a:prstGeom prst="rect">
            <a:avLst/>
          </a:prstGeom>
          <a:ln>
            <a:solidFill>
              <a:schemeClr val="tx1"/>
            </a:solidFill>
          </a:ln>
        </p:spPr>
      </p:pic>
      <p:pic>
        <p:nvPicPr>
          <p:cNvPr id="5" name="Picture 4">
            <a:extLst>
              <a:ext uri="{FF2B5EF4-FFF2-40B4-BE49-F238E27FC236}">
                <a16:creationId xmlns:a16="http://schemas.microsoft.com/office/drawing/2014/main" id="{061707B1-34A2-480E-88D8-C55A05718803}"/>
              </a:ext>
            </a:extLst>
          </p:cNvPr>
          <p:cNvPicPr>
            <a:picLocks noChangeAspect="1"/>
          </p:cNvPicPr>
          <p:nvPr/>
        </p:nvPicPr>
        <p:blipFill>
          <a:blip r:embed="rId4"/>
          <a:stretch>
            <a:fillRect/>
          </a:stretch>
        </p:blipFill>
        <p:spPr>
          <a:xfrm>
            <a:off x="1059501" y="1556788"/>
            <a:ext cx="6962653" cy="2775585"/>
          </a:xfrm>
          <a:prstGeom prst="rect">
            <a:avLst/>
          </a:prstGeom>
          <a:ln>
            <a:solidFill>
              <a:schemeClr val="tx1"/>
            </a:solidFill>
          </a:ln>
        </p:spPr>
      </p:pic>
      <p:sp>
        <p:nvSpPr>
          <p:cNvPr id="2" name="Rectangle 1">
            <a:extLst>
              <a:ext uri="{FF2B5EF4-FFF2-40B4-BE49-F238E27FC236}">
                <a16:creationId xmlns:a16="http://schemas.microsoft.com/office/drawing/2014/main" id="{82BB168D-2DCF-42A5-9A32-4CEB3F28A796}"/>
              </a:ext>
            </a:extLst>
          </p:cNvPr>
          <p:cNvSpPr/>
          <p:nvPr/>
        </p:nvSpPr>
        <p:spPr>
          <a:xfrm>
            <a:off x="4248224" y="4360878"/>
            <a:ext cx="3890809" cy="369332"/>
          </a:xfrm>
          <a:prstGeom prst="rect">
            <a:avLst/>
          </a:prstGeom>
        </p:spPr>
        <p:txBody>
          <a:bodyPr wrap="none">
            <a:spAutoFit/>
          </a:bodyPr>
          <a:lstStyle/>
          <a:p>
            <a:r>
              <a:rPr lang="en-US" b="1"/>
              <a:t>paramètres de l'actionneur de commutation</a:t>
            </a:r>
            <a:endParaRPr lang="es-ES" b="1" dirty="0"/>
          </a:p>
        </p:txBody>
      </p:sp>
      <p:sp>
        <p:nvSpPr>
          <p:cNvPr id="7" name="Rectangle 6">
            <a:extLst>
              <a:ext uri="{FF2B5EF4-FFF2-40B4-BE49-F238E27FC236}">
                <a16:creationId xmlns:a16="http://schemas.microsoft.com/office/drawing/2014/main" id="{D6B5C311-0D2A-454D-ADA2-BA9B5A3B2E0A}"/>
              </a:ext>
            </a:extLst>
          </p:cNvPr>
          <p:cNvSpPr/>
          <p:nvPr/>
        </p:nvSpPr>
        <p:spPr>
          <a:xfrm>
            <a:off x="5436096" y="5530140"/>
            <a:ext cx="2518638" cy="369332"/>
          </a:xfrm>
          <a:prstGeom prst="rect">
            <a:avLst/>
          </a:prstGeom>
        </p:spPr>
        <p:txBody>
          <a:bodyPr wrap="none">
            <a:spAutoFit/>
          </a:bodyPr>
          <a:lstStyle/>
          <a:p>
            <a:r>
              <a:rPr lang="en-GB" b="1"/>
              <a:t>Comment changer les priorités</a:t>
            </a:r>
          </a:p>
        </p:txBody>
      </p:sp>
    </p:spTree>
    <p:extLst>
      <p:ext uri="{BB962C8B-B14F-4D97-AF65-F5344CB8AC3E}">
        <p14:creationId xmlns:p14="http://schemas.microsoft.com/office/powerpoint/2010/main" val="2470924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La source de courant</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3671888" cy="4094733"/>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err="1">
                <a:solidFill>
                  <a:schemeClr val="bg1">
                    <a:lumMod val="10000"/>
                  </a:schemeClr>
                </a:solidFill>
                <a:ea typeface="Open Sans" panose="020B0606030504020204" pitchFamily="34" charset="0"/>
                <a:cs typeface="Open Sans" panose="020B0606030504020204" pitchFamily="34" charset="0"/>
              </a:rPr>
              <a:t>Quelques</a:t>
            </a:r>
            <a:r>
              <a:rPr lang="en-US" sz="2000" kern="0" dirty="0">
                <a:solidFill>
                  <a:schemeClr val="bg1">
                    <a:lumMod val="10000"/>
                  </a:schemeClr>
                </a:solidFill>
                <a:ea typeface="Open Sans" panose="020B0606030504020204" pitchFamily="34" charset="0"/>
                <a:cs typeface="Open Sans" panose="020B0606030504020204" pitchFamily="34" charset="0"/>
              </a:rPr>
              <a:t> </a:t>
            </a:r>
            <a:r>
              <a:rPr dirty="0" err="1"/>
              <a:t>alimentations</a:t>
            </a:r>
            <a:r>
              <a:rPr lang="en-US" sz="2000" kern="0" dirty="0" err="1">
                <a:ea typeface="Open Sans" panose="020B0606030504020204" pitchFamily="34" charset="0"/>
                <a:cs typeface="Open Sans" panose="020B0606030504020204" pitchFamily="34" charset="0"/>
              </a:rPr>
              <a:t>KNX</a:t>
            </a:r>
            <a:r>
              <a:rPr lang="en-US" sz="2000" kern="0" dirty="0">
                <a:ea typeface="Open Sans" panose="020B0606030504020204" pitchFamily="34" charset="0"/>
                <a:cs typeface="Open Sans" panose="020B0606030504020204" pitchFamily="34" charset="0"/>
              </a:rPr>
              <a:t> </a:t>
            </a:r>
            <a:r>
              <a:rPr lang="en-US" sz="2000" kern="0" dirty="0" err="1">
                <a:solidFill>
                  <a:schemeClr val="bg1">
                    <a:lumMod val="10000"/>
                  </a:schemeClr>
                </a:solidFill>
                <a:ea typeface="Open Sans" panose="020B0606030504020204" pitchFamily="34" charset="0"/>
                <a:cs typeface="Open Sans" panose="020B0606030504020204" pitchFamily="34" charset="0"/>
              </a:rPr>
              <a:t>peuvent</a:t>
            </a:r>
            <a:r>
              <a:rPr lang="en-US" sz="2000" kern="0" dirty="0">
                <a:solidFill>
                  <a:schemeClr val="bg1">
                    <a:lumMod val="10000"/>
                  </a:schemeClr>
                </a:solidFill>
                <a:ea typeface="Open Sans" panose="020B0606030504020204" pitchFamily="34" charset="0"/>
                <a:cs typeface="Open Sans" panose="020B0606030504020204" pitchFamily="34" charset="0"/>
              </a:rPr>
              <a:t> </a:t>
            </a:r>
            <a:r>
              <a:rPr lang="en-US" sz="2000" kern="0" dirty="0" err="1">
                <a:solidFill>
                  <a:schemeClr val="bg1">
                    <a:lumMod val="10000"/>
                  </a:schemeClr>
                </a:solidFill>
                <a:ea typeface="Open Sans" panose="020B0606030504020204" pitchFamily="34" charset="0"/>
                <a:cs typeface="Open Sans" panose="020B0606030504020204" pitchFamily="34" charset="0"/>
              </a:rPr>
              <a:t>être</a:t>
            </a:r>
            <a:r>
              <a:rPr lang="en-US" sz="2000" kern="0" dirty="0">
                <a:solidFill>
                  <a:schemeClr val="bg1">
                    <a:lumMod val="10000"/>
                  </a:schemeClr>
                </a:solidFill>
                <a:ea typeface="Open Sans" panose="020B0606030504020204" pitchFamily="34" charset="0"/>
                <a:cs typeface="Open Sans" panose="020B0606030504020204" pitchFamily="34" charset="0"/>
              </a:rPr>
              <a:t> </a:t>
            </a:r>
            <a:r>
              <a:rPr lang="en-US" sz="2000" kern="0" dirty="0" err="1">
                <a:solidFill>
                  <a:schemeClr val="bg1">
                    <a:lumMod val="10000"/>
                  </a:schemeClr>
                </a:solidFill>
                <a:ea typeface="Open Sans" panose="020B0606030504020204" pitchFamily="34" charset="0"/>
                <a:cs typeface="Open Sans" panose="020B0606030504020204" pitchFamily="34" charset="0"/>
              </a:rPr>
              <a:t>couplées</a:t>
            </a:r>
            <a:r>
              <a:rPr lang="en-US" sz="2000" kern="0" dirty="0">
                <a:solidFill>
                  <a:schemeClr val="bg1">
                    <a:lumMod val="10000"/>
                  </a:schemeClr>
                </a:solidFill>
                <a:ea typeface="Open Sans" panose="020B0606030504020204" pitchFamily="34" charset="0"/>
                <a:cs typeface="Open Sans" panose="020B0606030504020204" pitchFamily="34" charset="0"/>
              </a:rPr>
              <a:t> à un module de batterie avec </a:t>
            </a:r>
            <a:r>
              <a:rPr lang="en-US" sz="2000" kern="0" dirty="0" err="1">
                <a:solidFill>
                  <a:schemeClr val="bg1">
                    <a:lumMod val="10000"/>
                  </a:schemeClr>
                </a:solidFill>
                <a:ea typeface="Open Sans" panose="020B0606030504020204" pitchFamily="34" charset="0"/>
                <a:cs typeface="Open Sans" panose="020B0606030504020204" pitchFamily="34" charset="0"/>
              </a:rPr>
              <a:t>une</a:t>
            </a:r>
            <a:r>
              <a:rPr lang="en-US" sz="2000" kern="0" dirty="0">
                <a:solidFill>
                  <a:schemeClr val="bg1">
                    <a:lumMod val="10000"/>
                  </a:schemeClr>
                </a:solidFill>
                <a:ea typeface="Open Sans" panose="020B0606030504020204" pitchFamily="34" charset="0"/>
                <a:cs typeface="Open Sans" panose="020B0606030504020204" pitchFamily="34" charset="0"/>
              </a:rPr>
              <a:t> puissance </a:t>
            </a:r>
            <a:r>
              <a:rPr lang="en-US" sz="2000" kern="0" dirty="0" err="1">
                <a:solidFill>
                  <a:schemeClr val="bg1">
                    <a:lumMod val="10000"/>
                  </a:schemeClr>
                </a:solidFill>
                <a:ea typeface="Open Sans" panose="020B0606030504020204" pitchFamily="34" charset="0"/>
                <a:cs typeface="Open Sans" panose="020B0606030504020204" pitchFamily="34" charset="0"/>
              </a:rPr>
              <a:t>supplémentaire</a:t>
            </a:r>
            <a:r>
              <a:rPr lang="en-US" sz="2000" kern="0" dirty="0">
                <a:solidFill>
                  <a:schemeClr val="bg1">
                    <a:lumMod val="10000"/>
                  </a:schemeClr>
                </a:solidFill>
                <a:ea typeface="Open Sans" panose="020B0606030504020204" pitchFamily="34" charset="0"/>
                <a:cs typeface="Open Sans" panose="020B0606030504020204" pitchFamily="34" charset="0"/>
              </a:rPr>
              <a:t> pendant </a:t>
            </a:r>
            <a:r>
              <a:rPr lang="en-US" sz="2000" kern="0" dirty="0" err="1">
                <a:solidFill>
                  <a:schemeClr val="bg1">
                    <a:lumMod val="10000"/>
                  </a:schemeClr>
                </a:solidFill>
                <a:ea typeface="Open Sans" panose="020B0606030504020204" pitchFamily="34" charset="0"/>
                <a:cs typeface="Open Sans" panose="020B0606030504020204" pitchFamily="34" charset="0"/>
              </a:rPr>
              <a:t>une</a:t>
            </a:r>
            <a:r>
              <a:rPr lang="en-US" sz="2000" kern="0" dirty="0">
                <a:solidFill>
                  <a:schemeClr val="bg1">
                    <a:lumMod val="10000"/>
                  </a:schemeClr>
                </a:solidFill>
                <a:ea typeface="Open Sans" panose="020B0606030504020204" pitchFamily="34" charset="0"/>
                <a:cs typeface="Open Sans" panose="020B0606030504020204" pitchFamily="34" charset="0"/>
              </a:rPr>
              <a:t> </a:t>
            </a:r>
            <a:r>
              <a:rPr lang="en-US" sz="2000" kern="0" dirty="0" err="1">
                <a:solidFill>
                  <a:schemeClr val="bg1">
                    <a:lumMod val="10000"/>
                  </a:schemeClr>
                </a:solidFill>
                <a:ea typeface="Open Sans" panose="020B0606030504020204" pitchFamily="34" charset="0"/>
                <a:cs typeface="Open Sans" panose="020B0606030504020204" pitchFamily="34" charset="0"/>
              </a:rPr>
              <a:t>période</a:t>
            </a:r>
            <a:r>
              <a:rPr lang="en-US" sz="2000" kern="0" dirty="0">
                <a:solidFill>
                  <a:schemeClr val="bg1">
                    <a:lumMod val="10000"/>
                  </a:schemeClr>
                </a:solidFill>
                <a:ea typeface="Open Sans" panose="020B0606030504020204" pitchFamily="34" charset="0"/>
                <a:cs typeface="Open Sans" panose="020B0606030504020204" pitchFamily="34" charset="0"/>
              </a:rPr>
              <a:t> </a:t>
            </a:r>
            <a:r>
              <a:rPr lang="en-US" sz="2000" kern="0" dirty="0" err="1">
                <a:solidFill>
                  <a:schemeClr val="bg1">
                    <a:lumMod val="10000"/>
                  </a:schemeClr>
                </a:solidFill>
                <a:ea typeface="Open Sans" panose="020B0606030504020204" pitchFamily="34" charset="0"/>
                <a:cs typeface="Open Sans" panose="020B0606030504020204" pitchFamily="34" charset="0"/>
              </a:rPr>
              <a:t>limitée</a:t>
            </a:r>
            <a:endParaRPr lang="en-US" sz="20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endParaRPr lang="en-US" sz="2000" dirty="0">
              <a:solidFill>
                <a:schemeClr val="tx1"/>
              </a:solidFill>
              <a:latin typeface="Arial"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graphicFrame>
        <p:nvGraphicFramePr>
          <p:cNvPr id="4" name="Object 3">
            <a:extLst>
              <a:ext uri="{FF2B5EF4-FFF2-40B4-BE49-F238E27FC236}">
                <a16:creationId xmlns:a16="http://schemas.microsoft.com/office/drawing/2014/main" id="{97762100-4C9B-4AF4-872B-3C1722E86676}"/>
              </a:ext>
            </a:extLst>
          </p:cNvPr>
          <p:cNvGraphicFramePr>
            <a:graphicFrameLocks noChangeAspect="1"/>
          </p:cNvGraphicFramePr>
          <p:nvPr/>
        </p:nvGraphicFramePr>
        <p:xfrm>
          <a:off x="4799270" y="1700808"/>
          <a:ext cx="3731740" cy="3950717"/>
        </p:xfrm>
        <a:graphic>
          <a:graphicData uri="http://schemas.openxmlformats.org/presentationml/2006/ole">
            <mc:AlternateContent xmlns:mc="http://schemas.openxmlformats.org/markup-compatibility/2006">
              <mc:Choice xmlns:v="urn:schemas-microsoft-com:vml" Requires="v">
                <p:oleObj r:id="rId3" imgW="6047852" imgH="6419015" progId="Visio.Drawing.15">
                  <p:embed/>
                </p:oleObj>
              </mc:Choice>
              <mc:Fallback>
                <p:oleObj r:id="rId3" imgW="6047852" imgH="6419015" progId="Visio.Drawing.15">
                  <p:embed/>
                  <p:pic>
                    <p:nvPicPr>
                      <p:cNvPr id="4" name="Object 3">
                        <a:extLst>
                          <a:ext uri="{FF2B5EF4-FFF2-40B4-BE49-F238E27FC236}">
                            <a16:creationId xmlns:a16="http://schemas.microsoft.com/office/drawing/2014/main" id="{97762100-4C9B-4AF4-872B-3C1722E866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9270" y="1700808"/>
                        <a:ext cx="3731740" cy="3950717"/>
                      </a:xfrm>
                      <a:prstGeom prst="rect">
                        <a:avLst/>
                      </a:prstGeom>
                      <a:noFill/>
                    </p:spPr>
                  </p:pic>
                </p:oleObj>
              </mc:Fallback>
            </mc:AlternateContent>
          </a:graphicData>
        </a:graphic>
      </p:graphicFrame>
      <p:sp>
        <p:nvSpPr>
          <p:cNvPr id="5" name="Rectangle 4">
            <a:extLst>
              <a:ext uri="{FF2B5EF4-FFF2-40B4-BE49-F238E27FC236}">
                <a16:creationId xmlns:a16="http://schemas.microsoft.com/office/drawing/2014/main" id="{84A04284-1D66-4356-875B-8A15D37DD6C1}"/>
              </a:ext>
            </a:extLst>
          </p:cNvPr>
          <p:cNvSpPr/>
          <p:nvPr/>
        </p:nvSpPr>
        <p:spPr>
          <a:xfrm>
            <a:off x="3563888" y="5727632"/>
            <a:ext cx="4967122" cy="923330"/>
          </a:xfrm>
          <a:prstGeom prst="rect">
            <a:avLst/>
          </a:prstGeom>
        </p:spPr>
        <p:txBody>
          <a:bodyPr wrap="square">
            <a:spAutoFit/>
          </a:bodyPr>
          <a:lstStyle/>
          <a:p>
            <a:pPr algn="r"/>
            <a:r>
              <a:rPr lang="en-US" b="1"/>
              <a:t>Alimentation KNX avec alimentation sans interruption et contact de remplacement pour signalisation à distance</a:t>
            </a:r>
          </a:p>
        </p:txBody>
      </p:sp>
    </p:spTree>
    <p:extLst>
      <p:ext uri="{BB962C8B-B14F-4D97-AF65-F5344CB8AC3E}">
        <p14:creationId xmlns:p14="http://schemas.microsoft.com/office/powerpoint/2010/main" val="1070751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GB"/>
              <a:t>Les entrées binaires</a:t>
            </a:r>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4716016" y="4725144"/>
            <a:ext cx="4104456" cy="1397285"/>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2000" kern="0">
                <a:solidFill>
                  <a:schemeClr val="tx1"/>
                </a:solidFill>
                <a:ea typeface="Open Sans" panose="020B0606030504020204" pitchFamily="34" charset="0"/>
                <a:cs typeface="Open Sans" panose="020B0606030504020204" pitchFamily="34" charset="0"/>
              </a:rPr>
              <a:t>Un signal est envoyé sur le bus en cas de front d'impulsion descendant</a:t>
            </a: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pic>
        <p:nvPicPr>
          <p:cNvPr id="2" name="Picture 1">
            <a:extLst>
              <a:ext uri="{FF2B5EF4-FFF2-40B4-BE49-F238E27FC236}">
                <a16:creationId xmlns:a16="http://schemas.microsoft.com/office/drawing/2014/main" id="{14FB57F6-864A-4CC2-B32F-683C236AB72A}"/>
              </a:ext>
            </a:extLst>
          </p:cNvPr>
          <p:cNvPicPr>
            <a:picLocks noChangeAspect="1"/>
          </p:cNvPicPr>
          <p:nvPr/>
        </p:nvPicPr>
        <p:blipFill>
          <a:blip r:embed="rId3"/>
          <a:stretch>
            <a:fillRect/>
          </a:stretch>
        </p:blipFill>
        <p:spPr>
          <a:xfrm>
            <a:off x="900113" y="1628800"/>
            <a:ext cx="5400600" cy="4493629"/>
          </a:xfrm>
          <a:prstGeom prst="rect">
            <a:avLst/>
          </a:prstGeom>
        </p:spPr>
      </p:pic>
    </p:spTree>
    <p:extLst>
      <p:ext uri="{BB962C8B-B14F-4D97-AF65-F5344CB8AC3E}">
        <p14:creationId xmlns:p14="http://schemas.microsoft.com/office/powerpoint/2010/main" val="8388022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Les entrées binaires</a:t>
            </a:r>
            <a:endParaRPr lang="en-GB" dirty="0"/>
          </a:p>
        </p:txBody>
      </p:sp>
      <p:graphicFrame>
        <p:nvGraphicFramePr>
          <p:cNvPr id="7" name="Object 6">
            <a:extLst>
              <a:ext uri="{FF2B5EF4-FFF2-40B4-BE49-F238E27FC236}">
                <a16:creationId xmlns:a16="http://schemas.microsoft.com/office/drawing/2014/main" id="{41AE7423-4659-4BB0-AF36-682C6291A4FB}"/>
              </a:ext>
            </a:extLst>
          </p:cNvPr>
          <p:cNvGraphicFramePr>
            <a:graphicFrameLocks noChangeAspect="1"/>
          </p:cNvGraphicFramePr>
          <p:nvPr/>
        </p:nvGraphicFramePr>
        <p:xfrm>
          <a:off x="1297324" y="1308647"/>
          <a:ext cx="6264696" cy="3722449"/>
        </p:xfrm>
        <a:graphic>
          <a:graphicData uri="http://schemas.openxmlformats.org/presentationml/2006/ole">
            <mc:AlternateContent xmlns:mc="http://schemas.openxmlformats.org/markup-compatibility/2006">
              <mc:Choice xmlns:v="urn:schemas-microsoft-com:vml" Requires="v">
                <p:oleObj r:id="rId3" imgW="7767896" imgH="4608308" progId="Visio.Drawing.15">
                  <p:embed/>
                </p:oleObj>
              </mc:Choice>
              <mc:Fallback>
                <p:oleObj r:id="rId3" imgW="7767896" imgH="4608308" progId="Visio.Drawing.15">
                  <p:embed/>
                  <p:pic>
                    <p:nvPicPr>
                      <p:cNvPr id="7" name="Object 6">
                        <a:extLst>
                          <a:ext uri="{FF2B5EF4-FFF2-40B4-BE49-F238E27FC236}">
                            <a16:creationId xmlns:a16="http://schemas.microsoft.com/office/drawing/2014/main" id="{41AE7423-4659-4BB0-AF36-682C6291A4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7324" y="1308647"/>
                        <a:ext cx="6264696" cy="3722449"/>
                      </a:xfrm>
                      <a:prstGeom prst="rect">
                        <a:avLst/>
                      </a:prstGeom>
                      <a:noFill/>
                    </p:spPr>
                  </p:pic>
                </p:oleObj>
              </mc:Fallback>
            </mc:AlternateContent>
          </a:graphicData>
        </a:graphic>
      </p:graphicFrame>
      <p:sp>
        <p:nvSpPr>
          <p:cNvPr id="10" name="Content Placeholder 1">
            <a:extLst>
              <a:ext uri="{FF2B5EF4-FFF2-40B4-BE49-F238E27FC236}">
                <a16:creationId xmlns:a16="http://schemas.microsoft.com/office/drawing/2014/main" id="{B3131D6E-E349-43EC-B8CC-377BDE9D77EC}"/>
              </a:ext>
            </a:extLst>
          </p:cNvPr>
          <p:cNvSpPr txBox="1">
            <a:spLocks/>
          </p:cNvSpPr>
          <p:nvPr/>
        </p:nvSpPr>
        <p:spPr>
          <a:xfrm>
            <a:off x="903560" y="5157192"/>
            <a:ext cx="7844903" cy="2232248"/>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600" kern="0" dirty="0" err="1">
                <a:solidFill>
                  <a:schemeClr val="tx1"/>
                </a:solidFill>
                <a:ea typeface="Open Sans" panose="020B0606030504020204" pitchFamily="34" charset="0"/>
                <a:cs typeface="Open Sans" panose="020B0606030504020204" pitchFamily="34" charset="0"/>
              </a:rPr>
              <a:t>Utilisé</a:t>
            </a:r>
            <a:r>
              <a:rPr lang="en-US" sz="1600" kern="0" dirty="0">
                <a:solidFill>
                  <a:schemeClr val="tx1"/>
                </a:solidFill>
                <a:ea typeface="Open Sans" panose="020B0606030504020204" pitchFamily="34" charset="0"/>
                <a:cs typeface="Open Sans" panose="020B0606030504020204" pitchFamily="34" charset="0"/>
              </a:rPr>
              <a:t> pour </a:t>
            </a:r>
            <a:r>
              <a:rPr lang="en-US" sz="1600" kern="0" dirty="0" err="1">
                <a:solidFill>
                  <a:schemeClr val="tx1"/>
                </a:solidFill>
                <a:ea typeface="Open Sans" panose="020B0606030504020204" pitchFamily="34" charset="0"/>
                <a:cs typeface="Open Sans" panose="020B0606030504020204" pitchFamily="34" charset="0"/>
              </a:rPr>
              <a:t>lier</a:t>
            </a:r>
            <a:r>
              <a:rPr lang="en-US" sz="1600" kern="0" dirty="0">
                <a:solidFill>
                  <a:schemeClr val="tx1"/>
                </a:solidFill>
                <a:ea typeface="Open Sans" panose="020B0606030504020204" pitchFamily="34" charset="0"/>
                <a:cs typeface="Open Sans" panose="020B0606030504020204" pitchFamily="34" charset="0"/>
              </a:rPr>
              <a:t> les </a:t>
            </a:r>
            <a:r>
              <a:rPr lang="en-US" sz="1600" kern="0" dirty="0" err="1">
                <a:solidFill>
                  <a:schemeClr val="tx1"/>
                </a:solidFill>
                <a:ea typeface="Open Sans" panose="020B0606030504020204" pitchFamily="34" charset="0"/>
                <a:cs typeface="Open Sans" panose="020B0606030504020204" pitchFamily="34" charset="0"/>
              </a:rPr>
              <a:t>composants</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VdS</a:t>
            </a:r>
            <a:r>
              <a:rPr lang="en-US" sz="1600" kern="0" dirty="0">
                <a:solidFill>
                  <a:schemeClr val="tx1"/>
                </a:solidFill>
                <a:ea typeface="Open Sans" panose="020B0606030504020204" pitchFamily="34" charset="0"/>
                <a:cs typeface="Open Sans" panose="020B0606030504020204" pitchFamily="34" charset="0"/>
              </a:rPr>
              <a:t> à </a:t>
            </a:r>
            <a:r>
              <a:rPr lang="en-US" sz="1600" kern="0" dirty="0" err="1">
                <a:solidFill>
                  <a:schemeClr val="tx1"/>
                </a:solidFill>
                <a:ea typeface="Open Sans" panose="020B0606030504020204" pitchFamily="34" charset="0"/>
                <a:cs typeface="Open Sans" panose="020B0606030504020204" pitchFamily="34" charset="0"/>
              </a:rPr>
              <a:t>l'installation</a:t>
            </a:r>
            <a:r>
              <a:rPr lang="en-US" sz="1600" kern="0" dirty="0">
                <a:solidFill>
                  <a:schemeClr val="tx1"/>
                </a:solidFill>
                <a:ea typeface="Open Sans" panose="020B0606030504020204" pitchFamily="34" charset="0"/>
                <a:cs typeface="Open Sans" panose="020B0606030504020204" pitchFamily="34" charset="0"/>
              </a:rPr>
              <a:t> de KNX</a:t>
            </a:r>
          </a:p>
          <a:p>
            <a:pPr>
              <a:defRPr/>
            </a:pPr>
            <a:r>
              <a:rPr lang="en-US" sz="1600" kern="0" dirty="0">
                <a:solidFill>
                  <a:schemeClr val="tx1"/>
                </a:solidFill>
                <a:ea typeface="Open Sans" panose="020B0606030504020204" pitchFamily="34" charset="0"/>
                <a:cs typeface="Open Sans" panose="020B0606030504020204" pitchFamily="34" charset="0"/>
              </a:rPr>
              <a:t>Le contact reed </a:t>
            </a:r>
            <a:r>
              <a:rPr lang="en-US" sz="1600" kern="0" dirty="0" err="1">
                <a:solidFill>
                  <a:schemeClr val="tx1"/>
                </a:solidFill>
                <a:ea typeface="Open Sans" panose="020B0606030504020204" pitchFamily="34" charset="0"/>
                <a:cs typeface="Open Sans" panose="020B0606030504020204" pitchFamily="34" charset="0"/>
              </a:rPr>
              <a:t>VdS</a:t>
            </a:r>
            <a:r>
              <a:rPr lang="en-US" sz="1600" kern="0" dirty="0">
                <a:solidFill>
                  <a:schemeClr val="tx1"/>
                </a:solidFill>
                <a:ea typeface="Open Sans" panose="020B0606030504020204" pitchFamily="34" charset="0"/>
                <a:cs typeface="Open Sans" panose="020B0606030504020204" pitchFamily="34" charset="0"/>
              </a:rPr>
              <a:t> avec un contact </a:t>
            </a:r>
            <a:r>
              <a:rPr lang="en-US" sz="1600" kern="0" dirty="0" err="1">
                <a:solidFill>
                  <a:schemeClr val="tx1"/>
                </a:solidFill>
                <a:ea typeface="Open Sans" panose="020B0606030504020204" pitchFamily="34" charset="0"/>
                <a:cs typeface="Open Sans" panose="020B0606030504020204" pitchFamily="34" charset="0"/>
              </a:rPr>
              <a:t>d'autoprotection</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est</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connecté</a:t>
            </a:r>
            <a:r>
              <a:rPr lang="en-US" sz="1600" kern="0" dirty="0">
                <a:solidFill>
                  <a:schemeClr val="tx1"/>
                </a:solidFill>
                <a:ea typeface="Open Sans" panose="020B0606030504020204" pitchFamily="34" charset="0"/>
                <a:cs typeface="Open Sans" panose="020B0606030504020204" pitchFamily="34" charset="0"/>
              </a:rPr>
              <a:t> au canal A pour la surveillance </a:t>
            </a:r>
            <a:r>
              <a:rPr lang="en-US" sz="1600" kern="0" dirty="0" err="1">
                <a:solidFill>
                  <a:schemeClr val="tx1"/>
                </a:solidFill>
                <a:ea typeface="Open Sans" panose="020B0606030504020204" pitchFamily="34" charset="0"/>
                <a:cs typeface="Open Sans" panose="020B0606030504020204" pitchFamily="34" charset="0"/>
              </a:rPr>
              <a:t>d'ouverture</a:t>
            </a:r>
            <a:r>
              <a:rPr lang="en-US" sz="1600" kern="0" dirty="0">
                <a:solidFill>
                  <a:schemeClr val="tx1"/>
                </a:solidFill>
                <a:ea typeface="Open Sans" panose="020B0606030504020204" pitchFamily="34" charset="0"/>
                <a:cs typeface="Open Sans" panose="020B0606030504020204" pitchFamily="34" charset="0"/>
              </a:rPr>
              <a:t> et au canal B pour la surveillance </a:t>
            </a:r>
            <a:r>
              <a:rPr lang="en-US" sz="1600" kern="0" dirty="0" err="1">
                <a:solidFill>
                  <a:schemeClr val="tx1"/>
                </a:solidFill>
                <a:ea typeface="Open Sans" panose="020B0606030504020204" pitchFamily="34" charset="0"/>
                <a:cs typeface="Open Sans" panose="020B0606030504020204" pitchFamily="34" charset="0"/>
              </a:rPr>
              <a:t>d'autoprotection</a:t>
            </a:r>
            <a:endParaRPr lang="en-US" sz="16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8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endParaRPr lang="en-US" sz="18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endParaRPr lang="en-US" sz="18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0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108545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Les sorties binaires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3923928" y="4365798"/>
            <a:ext cx="4678717" cy="1871514"/>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Augmentation du </a:t>
            </a:r>
            <a:r>
              <a:rPr lang="en-US" sz="1800" kern="0" dirty="0" err="1">
                <a:solidFill>
                  <a:schemeClr val="tx1"/>
                </a:solidFill>
                <a:ea typeface="Open Sans" panose="020B0606030504020204" pitchFamily="34" charset="0"/>
                <a:cs typeface="Open Sans" panose="020B0606030504020204" pitchFamily="34" charset="0"/>
              </a:rPr>
              <a:t>niveau</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sécurité</a:t>
            </a:r>
            <a:r>
              <a:rPr lang="en-US" sz="1800" kern="0" dirty="0">
                <a:solidFill>
                  <a:schemeClr val="tx1"/>
                </a:solidFill>
                <a:ea typeface="Open Sans" panose="020B0606030504020204" pitchFamily="34" charset="0"/>
                <a:cs typeface="Open Sans" panose="020B0606030504020204" pitchFamily="34" charset="0"/>
              </a:rPr>
              <a:t> par la </a:t>
            </a:r>
            <a:r>
              <a:rPr lang="en-US" sz="1800" kern="0" dirty="0" err="1">
                <a:solidFill>
                  <a:schemeClr val="tx1"/>
                </a:solidFill>
                <a:ea typeface="Open Sans" panose="020B0606030504020204" pitchFamily="34" charset="0"/>
                <a:cs typeface="Open Sans" panose="020B0606030504020204" pitchFamily="34" charset="0"/>
              </a:rPr>
              <a:t>fonction</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détection</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actuelle</a:t>
            </a: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“Status, Feedback” </a:t>
            </a:r>
            <a:r>
              <a:rPr lang="en-US" sz="1800" kern="0" dirty="0" err="1">
                <a:solidFill>
                  <a:schemeClr val="tx1"/>
                </a:solidFill>
                <a:ea typeface="Open Sans" panose="020B0606030504020204" pitchFamily="34" charset="0"/>
                <a:cs typeface="Open Sans" panose="020B0606030504020204" pitchFamily="34" charset="0"/>
              </a:rPr>
              <a:t>utilisé</a:t>
            </a:r>
            <a:r>
              <a:rPr lang="en-US" sz="1800" kern="0" dirty="0">
                <a:solidFill>
                  <a:schemeClr val="tx1"/>
                </a:solidFill>
                <a:ea typeface="Open Sans" panose="020B0606030504020204" pitchFamily="34" charset="0"/>
                <a:cs typeface="Open Sans" panose="020B0606030504020204" pitchFamily="34" charset="0"/>
              </a:rPr>
              <a:t> pour </a:t>
            </a:r>
            <a:r>
              <a:rPr lang="en-US" sz="1800" kern="0" dirty="0" err="1">
                <a:solidFill>
                  <a:schemeClr val="tx1"/>
                </a:solidFill>
                <a:ea typeface="Open Sans" panose="020B0606030504020204" pitchFamily="34" charset="0"/>
                <a:cs typeface="Open Sans" panose="020B0606030504020204" pitchFamily="34" charset="0"/>
              </a:rPr>
              <a:t>vérifier</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si</a:t>
            </a:r>
            <a:r>
              <a:rPr lang="en-US" sz="1800" kern="0" dirty="0">
                <a:solidFill>
                  <a:schemeClr val="tx1"/>
                </a:solidFill>
                <a:ea typeface="Open Sans" panose="020B0606030504020204" pitchFamily="34" charset="0"/>
                <a:cs typeface="Open Sans" panose="020B0606030504020204" pitchFamily="34" charset="0"/>
              </a:rPr>
              <a:t> la charge </a:t>
            </a:r>
            <a:r>
              <a:rPr lang="en-US" sz="1800" kern="0" dirty="0" err="1">
                <a:solidFill>
                  <a:schemeClr val="tx1"/>
                </a:solidFill>
                <a:ea typeface="Open Sans" panose="020B0606030504020204" pitchFamily="34" charset="0"/>
                <a:cs typeface="Open Sans" panose="020B0606030504020204" pitchFamily="34" charset="0"/>
              </a:rPr>
              <a:t>fonctionne</a:t>
            </a:r>
            <a:r>
              <a:rPr lang="en-US" sz="1800" kern="0" dirty="0">
                <a:solidFill>
                  <a:schemeClr val="tx1"/>
                </a:solidFill>
                <a:ea typeface="Open Sans" panose="020B0606030504020204" pitchFamily="34" charset="0"/>
                <a:cs typeface="Open Sans" panose="020B0606030504020204" pitchFamily="34" charset="0"/>
              </a:rPr>
              <a:t>.</a:t>
            </a:r>
          </a:p>
          <a:p>
            <a:endParaRPr lang="en-US" sz="2000" kern="0" dirty="0">
              <a:solidFill>
                <a:schemeClr val="tx1"/>
              </a:solidFill>
              <a:ea typeface="Open Sans" panose="020B0606030504020204" pitchFamily="34" charset="0"/>
              <a:cs typeface="Open Sans" panose="020B0606030504020204" pitchFamily="34" charset="0"/>
            </a:endParaRPr>
          </a:p>
        </p:txBody>
      </p:sp>
      <p:pic>
        <p:nvPicPr>
          <p:cNvPr id="2" name="Picture 1">
            <a:extLst>
              <a:ext uri="{FF2B5EF4-FFF2-40B4-BE49-F238E27FC236}">
                <a16:creationId xmlns:a16="http://schemas.microsoft.com/office/drawing/2014/main" id="{89951EE6-6C05-4733-8C0F-2A3B7D42B87B}"/>
              </a:ext>
            </a:extLst>
          </p:cNvPr>
          <p:cNvPicPr>
            <a:picLocks noChangeAspect="1"/>
          </p:cNvPicPr>
          <p:nvPr/>
        </p:nvPicPr>
        <p:blipFill>
          <a:blip r:embed="rId3"/>
          <a:stretch>
            <a:fillRect/>
          </a:stretch>
        </p:blipFill>
        <p:spPr>
          <a:xfrm>
            <a:off x="828079" y="1484784"/>
            <a:ext cx="6466487" cy="4097456"/>
          </a:xfrm>
          <a:prstGeom prst="rect">
            <a:avLst/>
          </a:prstGeom>
        </p:spPr>
      </p:pic>
    </p:spTree>
    <p:extLst>
      <p:ext uri="{BB962C8B-B14F-4D97-AF65-F5344CB8AC3E}">
        <p14:creationId xmlns:p14="http://schemas.microsoft.com/office/powerpoint/2010/main" val="10011653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Les capteurs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3" y="1412776"/>
            <a:ext cx="7776344" cy="1151434"/>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2000" kern="0" dirty="0" err="1">
                <a:solidFill>
                  <a:schemeClr val="tx1"/>
                </a:solidFill>
                <a:ea typeface="Open Sans" panose="020B0606030504020204" pitchFamily="34" charset="0"/>
                <a:cs typeface="Open Sans" panose="020B0606030504020204" pitchFamily="34" charset="0"/>
              </a:rPr>
              <a:t>Convertir</a:t>
            </a:r>
            <a:r>
              <a:rPr lang="en-US" sz="2000" kern="0" dirty="0">
                <a:solidFill>
                  <a:schemeClr val="tx1"/>
                </a:solidFill>
                <a:ea typeface="Open Sans" panose="020B0606030504020204" pitchFamily="34" charset="0"/>
                <a:cs typeface="Open Sans" panose="020B0606030504020204" pitchFamily="34" charset="0"/>
              </a:rPr>
              <a:t> </a:t>
            </a:r>
            <a:r>
              <a:rPr lang="en-US" sz="2000" kern="0" dirty="0">
                <a:ea typeface="Open Sans" panose="020B0606030504020204" pitchFamily="34" charset="0"/>
                <a:cs typeface="Open Sans" panose="020B0606030504020204" pitchFamily="34" charset="0"/>
              </a:rPr>
              <a:t>variables physiques </a:t>
            </a:r>
            <a:r>
              <a:rPr lang="en-US" sz="2000" kern="0" dirty="0" err="1">
                <a:ea typeface="Open Sans" panose="020B0606030504020204" pitchFamily="34" charset="0"/>
                <a:cs typeface="Open Sans" panose="020B0606030504020204" pitchFamily="34" charset="0"/>
              </a:rPr>
              <a:t>en</a:t>
            </a:r>
            <a:r>
              <a:rPr lang="en-US" sz="2000" kern="0" dirty="0">
                <a:ea typeface="Open Sans" panose="020B0606030504020204" pitchFamily="34" charset="0"/>
                <a:cs typeface="Open Sans" panose="020B0606030504020204" pitchFamily="34" charset="0"/>
              </a:rPr>
              <a:t> </a:t>
            </a:r>
            <a:r>
              <a:rPr lang="en-US" sz="2000" kern="0" dirty="0" err="1">
                <a:ea typeface="Open Sans" panose="020B0606030504020204" pitchFamily="34" charset="0"/>
                <a:cs typeface="Open Sans" panose="020B0606030504020204" pitchFamily="34" charset="0"/>
              </a:rPr>
              <a:t>valeurs</a:t>
            </a:r>
            <a:r>
              <a:rPr lang="en-US" sz="2000" kern="0" dirty="0">
                <a:ea typeface="Open Sans" panose="020B0606030504020204" pitchFamily="34" charset="0"/>
                <a:cs typeface="Open Sans" panose="020B0606030504020204" pitchFamily="34" charset="0"/>
              </a:rPr>
              <a:t> </a:t>
            </a:r>
            <a:r>
              <a:rPr lang="en-US" sz="2000" kern="0" dirty="0" err="1">
                <a:ea typeface="Open Sans" panose="020B0606030504020204" pitchFamily="34" charset="0"/>
                <a:cs typeface="Open Sans" panose="020B0606030504020204" pitchFamily="34" charset="0"/>
              </a:rPr>
              <a:t>électriques</a:t>
            </a:r>
            <a:r>
              <a:rPr lang="en-US" sz="2000" kern="0" dirty="0">
                <a:ea typeface="Open Sans" panose="020B0606030504020204" pitchFamily="34" charset="0"/>
                <a:cs typeface="Open Sans" panose="020B0606030504020204" pitchFamily="34" charset="0"/>
              </a:rPr>
              <a:t> </a:t>
            </a:r>
            <a:r>
              <a:rPr lang="en-US" sz="2000" kern="0" dirty="0">
                <a:solidFill>
                  <a:schemeClr val="tx1"/>
                </a:solidFill>
                <a:ea typeface="Open Sans" panose="020B0606030504020204" pitchFamily="34" charset="0"/>
                <a:cs typeface="Open Sans" panose="020B0606030504020204" pitchFamily="34" charset="0"/>
              </a:rPr>
              <a:t>qui </a:t>
            </a:r>
            <a:r>
              <a:rPr lang="en-US" sz="2000" kern="0" dirty="0" err="1">
                <a:solidFill>
                  <a:schemeClr val="tx1"/>
                </a:solidFill>
                <a:ea typeface="Open Sans" panose="020B0606030504020204" pitchFamily="34" charset="0"/>
                <a:cs typeface="Open Sans" panose="020B0606030504020204" pitchFamily="34" charset="0"/>
              </a:rPr>
              <a:t>sont</a:t>
            </a:r>
            <a:r>
              <a:rPr lang="en-US" sz="2000" kern="0" dirty="0">
                <a:solidFill>
                  <a:schemeClr val="tx1"/>
                </a:solidFill>
                <a:ea typeface="Open Sans" panose="020B0606030504020204" pitchFamily="34" charset="0"/>
                <a:cs typeface="Open Sans" panose="020B0606030504020204" pitchFamily="34" charset="0"/>
              </a:rPr>
              <a:t> </a:t>
            </a:r>
            <a:r>
              <a:rPr lang="en-US" sz="2000" kern="0" dirty="0" err="1">
                <a:solidFill>
                  <a:schemeClr val="tx1"/>
                </a:solidFill>
                <a:ea typeface="Open Sans" panose="020B0606030504020204" pitchFamily="34" charset="0"/>
                <a:cs typeface="Open Sans" panose="020B0606030504020204" pitchFamily="34" charset="0"/>
              </a:rPr>
              <a:t>envoyées</a:t>
            </a:r>
            <a:r>
              <a:rPr lang="en-US" sz="2000" kern="0" dirty="0">
                <a:solidFill>
                  <a:schemeClr val="tx1"/>
                </a:solidFill>
                <a:ea typeface="Open Sans" panose="020B0606030504020204" pitchFamily="34" charset="0"/>
                <a:cs typeface="Open Sans" panose="020B0606030504020204" pitchFamily="34" charset="0"/>
              </a:rPr>
              <a:t> sur le bus </a:t>
            </a:r>
            <a:r>
              <a:rPr lang="en-US" sz="2000" kern="0" dirty="0" err="1">
                <a:solidFill>
                  <a:schemeClr val="tx1"/>
                </a:solidFill>
                <a:ea typeface="Open Sans" panose="020B0606030504020204" pitchFamily="34" charset="0"/>
                <a:cs typeface="Open Sans" panose="020B0606030504020204" pitchFamily="34" charset="0"/>
              </a:rPr>
              <a:t>en</a:t>
            </a:r>
            <a:r>
              <a:rPr lang="en-US" sz="2000" kern="0" dirty="0">
                <a:solidFill>
                  <a:schemeClr val="tx1"/>
                </a:solidFill>
                <a:ea typeface="Open Sans" panose="020B0606030504020204" pitchFamily="34" charset="0"/>
                <a:cs typeface="Open Sans" panose="020B0606030504020204" pitchFamily="34" charset="0"/>
              </a:rPr>
              <a:t> tant que </a:t>
            </a:r>
            <a:r>
              <a:rPr lang="en-US" sz="2000" kern="0" dirty="0" err="1">
                <a:solidFill>
                  <a:schemeClr val="tx1"/>
                </a:solidFill>
                <a:ea typeface="Open Sans" panose="020B0606030504020204" pitchFamily="34" charset="0"/>
                <a:cs typeface="Open Sans" panose="020B0606030504020204" pitchFamily="34" charset="0"/>
              </a:rPr>
              <a:t>télégramme</a:t>
            </a:r>
            <a:endParaRPr lang="en-US" sz="2000" kern="0" dirty="0">
              <a:solidFill>
                <a:schemeClr val="tx1"/>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graphicFrame>
        <p:nvGraphicFramePr>
          <p:cNvPr id="4" name="Object 3">
            <a:extLst>
              <a:ext uri="{FF2B5EF4-FFF2-40B4-BE49-F238E27FC236}">
                <a16:creationId xmlns:a16="http://schemas.microsoft.com/office/drawing/2014/main" id="{6F9B814B-1280-402D-A889-F07CFC541349}"/>
              </a:ext>
            </a:extLst>
          </p:cNvPr>
          <p:cNvGraphicFramePr>
            <a:graphicFrameLocks noChangeAspect="1"/>
          </p:cNvGraphicFramePr>
          <p:nvPr/>
        </p:nvGraphicFramePr>
        <p:xfrm>
          <a:off x="922169" y="2924944"/>
          <a:ext cx="7401875" cy="1617712"/>
        </p:xfrm>
        <a:graphic>
          <a:graphicData uri="http://schemas.openxmlformats.org/presentationml/2006/ole">
            <mc:AlternateContent xmlns:mc="http://schemas.openxmlformats.org/markup-compatibility/2006">
              <mc:Choice xmlns:v="urn:schemas-microsoft-com:vml" Requires="v">
                <p:oleObj r:id="rId3" imgW="8555399" imgH="1855947" progId="Visio.Drawing.15">
                  <p:embed/>
                </p:oleObj>
              </mc:Choice>
              <mc:Fallback>
                <p:oleObj r:id="rId3" imgW="8555399" imgH="1855947" progId="Visio.Drawing.15">
                  <p:embed/>
                  <p:pic>
                    <p:nvPicPr>
                      <p:cNvPr id="4" name="Object 3">
                        <a:extLst>
                          <a:ext uri="{FF2B5EF4-FFF2-40B4-BE49-F238E27FC236}">
                            <a16:creationId xmlns:a16="http://schemas.microsoft.com/office/drawing/2014/main" id="{6F9B814B-1280-402D-A889-F07CFC5413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2169" y="2924944"/>
                        <a:ext cx="7401875" cy="1617712"/>
                      </a:xfrm>
                      <a:prstGeom prst="rect">
                        <a:avLst/>
                      </a:prstGeom>
                      <a:noFill/>
                    </p:spPr>
                  </p:pic>
                </p:oleObj>
              </mc:Fallback>
            </mc:AlternateContent>
          </a:graphicData>
        </a:graphic>
      </p:graphicFrame>
      <p:sp>
        <p:nvSpPr>
          <p:cNvPr id="5" name="Rectangle 4">
            <a:extLst>
              <a:ext uri="{FF2B5EF4-FFF2-40B4-BE49-F238E27FC236}">
                <a16:creationId xmlns:a16="http://schemas.microsoft.com/office/drawing/2014/main" id="{C9CFF781-379C-4C77-82A0-E6DC15829EAA}"/>
              </a:ext>
            </a:extLst>
          </p:cNvPr>
          <p:cNvSpPr/>
          <p:nvPr/>
        </p:nvSpPr>
        <p:spPr>
          <a:xfrm>
            <a:off x="900112" y="4940474"/>
            <a:ext cx="7776344" cy="1881990"/>
          </a:xfrm>
          <a:prstGeom prst="rect">
            <a:avLst/>
          </a:prstGeom>
        </p:spPr>
        <p:txBody>
          <a:bodyPr/>
          <a:lstStyle/>
          <a:p>
            <a:pPr eaLnBrk="0" hangingPunct="0">
              <a:lnSpc>
                <a:spcPct val="150000"/>
              </a:lnSpc>
              <a:spcBef>
                <a:spcPct val="20000"/>
              </a:spcBef>
              <a:buClr>
                <a:srgbClr val="369226"/>
              </a:buClr>
            </a:pPr>
            <a:r>
              <a:rPr lang="en-US" b="1" kern="0" dirty="0" err="1">
                <a:latin typeface="+mn-lt"/>
                <a:ea typeface="Open Sans" panose="020B0606030504020204" pitchFamily="34" charset="0"/>
                <a:cs typeface="Open Sans" panose="020B0606030504020204" pitchFamily="34" charset="0"/>
              </a:rPr>
              <a:t>L'utilisateur</a:t>
            </a:r>
            <a:r>
              <a:rPr lang="en-US" b="1" kern="0" dirty="0">
                <a:latin typeface="+mn-lt"/>
                <a:ea typeface="Open Sans" panose="020B0606030504020204" pitchFamily="34" charset="0"/>
                <a:cs typeface="Open Sans" panose="020B0606030504020204" pitchFamily="34" charset="0"/>
              </a:rPr>
              <a:t> </a:t>
            </a:r>
            <a:r>
              <a:rPr lang="en-US" b="1" kern="0" dirty="0" err="1">
                <a:solidFill>
                  <a:srgbClr val="369226"/>
                </a:solidFill>
                <a:latin typeface="+mn-lt"/>
                <a:ea typeface="Open Sans" panose="020B0606030504020204" pitchFamily="34" charset="0"/>
                <a:cs typeface="Open Sans" panose="020B0606030504020204" pitchFamily="34" charset="0"/>
              </a:rPr>
              <a:t>appelle</a:t>
            </a:r>
            <a:r>
              <a:rPr lang="en-US" b="1" kern="0" dirty="0">
                <a:solidFill>
                  <a:srgbClr val="369226"/>
                </a:solidFill>
                <a:latin typeface="+mn-lt"/>
                <a:ea typeface="Open Sans" panose="020B0606030504020204" pitchFamily="34" charset="0"/>
                <a:cs typeface="Open Sans" panose="020B0606030504020204" pitchFamily="34" charset="0"/>
              </a:rPr>
              <a:t> des </a:t>
            </a:r>
            <a:r>
              <a:rPr lang="en-US" b="1" kern="0" dirty="0" err="1">
                <a:solidFill>
                  <a:srgbClr val="369226"/>
                </a:solidFill>
                <a:latin typeface="+mn-lt"/>
                <a:ea typeface="Open Sans" panose="020B0606030504020204" pitchFamily="34" charset="0"/>
                <a:cs typeface="Open Sans" panose="020B0606030504020204" pitchFamily="34" charset="0"/>
              </a:rPr>
              <a:t>fonctions</a:t>
            </a:r>
            <a:r>
              <a:rPr lang="en-US" b="1" kern="0" dirty="0">
                <a:solidFill>
                  <a:srgbClr val="369226"/>
                </a:solidFill>
                <a:latin typeface="+mn-lt"/>
                <a:ea typeface="Open Sans" panose="020B0606030504020204" pitchFamily="34" charset="0"/>
                <a:cs typeface="Open Sans" panose="020B0606030504020204" pitchFamily="34" charset="0"/>
              </a:rPr>
              <a:t> </a:t>
            </a:r>
            <a:r>
              <a:rPr lang="en-US" b="1" kern="0" dirty="0" err="1">
                <a:solidFill>
                  <a:srgbClr val="369226"/>
                </a:solidFill>
                <a:latin typeface="+mn-lt"/>
                <a:ea typeface="Open Sans" panose="020B0606030504020204" pitchFamily="34" charset="0"/>
                <a:cs typeface="Open Sans" panose="020B0606030504020204" pitchFamily="34" charset="0"/>
              </a:rPr>
              <a:t>configurées</a:t>
            </a:r>
            <a:r>
              <a:rPr lang="en-US" b="1" kern="0" dirty="0">
                <a:solidFill>
                  <a:srgbClr val="369226"/>
                </a:solidFill>
                <a:latin typeface="+mn-lt"/>
                <a:ea typeface="Open Sans" panose="020B0606030504020204" pitchFamily="34" charset="0"/>
                <a:cs typeface="Open Sans" panose="020B0606030504020204" pitchFamily="34" charset="0"/>
              </a:rPr>
              <a:t> </a:t>
            </a:r>
            <a:r>
              <a:rPr lang="en-US" b="1" kern="0" dirty="0" err="1">
                <a:latin typeface="+mn-lt"/>
                <a:ea typeface="Open Sans" panose="020B0606030504020204" pitchFamily="34" charset="0"/>
                <a:cs typeface="Open Sans" panose="020B0606030504020204" pitchFamily="34" charset="0"/>
              </a:rPr>
              <a:t>telles</a:t>
            </a:r>
            <a:r>
              <a:rPr lang="en-US" b="1" kern="0" dirty="0">
                <a:latin typeface="+mn-lt"/>
                <a:ea typeface="Open Sans" panose="020B0606030504020204" pitchFamily="34" charset="0"/>
                <a:cs typeface="Open Sans" panose="020B0606030504020204" pitchFamily="34" charset="0"/>
              </a:rPr>
              <a:t> que </a:t>
            </a:r>
            <a:r>
              <a:rPr lang="en-US" b="1" kern="0" dirty="0" err="1">
                <a:latin typeface="+mn-lt"/>
                <a:ea typeface="Open Sans" panose="020B0606030504020204" pitchFamily="34" charset="0"/>
                <a:cs typeface="Open Sans" panose="020B0606030504020204" pitchFamily="34" charset="0"/>
              </a:rPr>
              <a:t>l'armement</a:t>
            </a:r>
            <a:r>
              <a:rPr lang="en-US" b="1" kern="0" dirty="0">
                <a:latin typeface="+mn-lt"/>
                <a:ea typeface="Open Sans" panose="020B0606030504020204" pitchFamily="34" charset="0"/>
                <a:cs typeface="Open Sans" panose="020B0606030504020204" pitchFamily="34" charset="0"/>
              </a:rPr>
              <a:t> </a:t>
            </a:r>
            <a:r>
              <a:rPr lang="en-US" b="1" kern="0" dirty="0" err="1">
                <a:latin typeface="+mn-lt"/>
                <a:ea typeface="Open Sans" panose="020B0606030504020204" pitchFamily="34" charset="0"/>
                <a:cs typeface="Open Sans" panose="020B0606030504020204" pitchFamily="34" charset="0"/>
              </a:rPr>
              <a:t>ou</a:t>
            </a:r>
            <a:r>
              <a:rPr lang="en-US" b="1" kern="0" dirty="0">
                <a:latin typeface="+mn-lt"/>
                <a:ea typeface="Open Sans" panose="020B0606030504020204" pitchFamily="34" charset="0"/>
                <a:cs typeface="Open Sans" panose="020B0606030504020204" pitchFamily="34" charset="0"/>
              </a:rPr>
              <a:t> la </a:t>
            </a:r>
            <a:r>
              <a:rPr lang="en-US" b="1" kern="0" dirty="0" err="1">
                <a:latin typeface="+mn-lt"/>
                <a:ea typeface="Open Sans" panose="020B0606030504020204" pitchFamily="34" charset="0"/>
                <a:cs typeface="Open Sans" panose="020B0606030504020204" pitchFamily="34" charset="0"/>
              </a:rPr>
              <a:t>désactivation</a:t>
            </a:r>
            <a:r>
              <a:rPr lang="en-US" b="1" kern="0" dirty="0">
                <a:latin typeface="+mn-lt"/>
                <a:ea typeface="Open Sans" panose="020B0606030504020204" pitchFamily="34" charset="0"/>
                <a:cs typeface="Open Sans" panose="020B0606030504020204" pitchFamily="34" charset="0"/>
              </a:rPr>
              <a:t> du </a:t>
            </a:r>
            <a:r>
              <a:rPr lang="en-US" b="1" kern="0" dirty="0" err="1">
                <a:latin typeface="+mn-lt"/>
                <a:ea typeface="Open Sans" panose="020B0606030504020204" pitchFamily="34" charset="0"/>
                <a:cs typeface="Open Sans" panose="020B0606030504020204" pitchFamily="34" charset="0"/>
              </a:rPr>
              <a:t>système</a:t>
            </a:r>
            <a:r>
              <a:rPr lang="en-US" b="1" kern="0" dirty="0">
                <a:latin typeface="+mn-lt"/>
                <a:ea typeface="Open Sans" panose="020B0606030504020204" pitchFamily="34" charset="0"/>
                <a:cs typeface="Open Sans" panose="020B0606030504020204" pitchFamily="34" charset="0"/>
              </a:rPr>
              <a:t>, envoi </a:t>
            </a:r>
            <a:r>
              <a:rPr lang="en-US" b="1" kern="0" dirty="0" err="1">
                <a:latin typeface="+mn-lt"/>
                <a:ea typeface="Open Sans" panose="020B0606030504020204" pitchFamily="34" charset="0"/>
                <a:cs typeface="Open Sans" panose="020B0606030504020204" pitchFamily="34" charset="0"/>
              </a:rPr>
              <a:t>d'e</a:t>
            </a:r>
            <a:r>
              <a:rPr lang="en-US" b="1" kern="0" dirty="0">
                <a:latin typeface="+mn-lt"/>
                <a:ea typeface="Open Sans" panose="020B0606030504020204" pitchFamily="34" charset="0"/>
                <a:cs typeface="Open Sans" panose="020B0606030504020204" pitchFamily="34" charset="0"/>
              </a:rPr>
              <a:t>-mails pour les </a:t>
            </a:r>
            <a:r>
              <a:rPr lang="en-US" b="1" kern="0" dirty="0" err="1">
                <a:latin typeface="+mn-lt"/>
                <a:ea typeface="Open Sans" panose="020B0606030504020204" pitchFamily="34" charset="0"/>
                <a:cs typeface="Open Sans" panose="020B0606030504020204" pitchFamily="34" charset="0"/>
              </a:rPr>
              <a:t>alarmes</a:t>
            </a:r>
            <a:r>
              <a:rPr lang="en-US" b="1" kern="0" dirty="0">
                <a:latin typeface="+mn-lt"/>
                <a:ea typeface="Open Sans" panose="020B0606030504020204" pitchFamily="34" charset="0"/>
                <a:cs typeface="Open Sans" panose="020B0606030504020204" pitchFamily="34" charset="0"/>
              </a:rPr>
              <a:t>, </a:t>
            </a:r>
            <a:r>
              <a:rPr lang="en-US" b="1" kern="0" dirty="0" err="1">
                <a:latin typeface="+mn-lt"/>
                <a:ea typeface="Open Sans" panose="020B0606030504020204" pitchFamily="34" charset="0"/>
                <a:cs typeface="Open Sans" panose="020B0606030504020204" pitchFamily="34" charset="0"/>
              </a:rPr>
              <a:t>mouvement</a:t>
            </a:r>
            <a:r>
              <a:rPr lang="en-US" b="1" kern="0" dirty="0">
                <a:latin typeface="+mn-lt"/>
                <a:ea typeface="Open Sans" panose="020B0606030504020204" pitchFamily="34" charset="0"/>
                <a:cs typeface="Open Sans" panose="020B0606030504020204" pitchFamily="34" charset="0"/>
              </a:rPr>
              <a:t>/</a:t>
            </a:r>
            <a:r>
              <a:rPr lang="en-US" b="1" kern="0" dirty="0" err="1">
                <a:latin typeface="+mn-lt"/>
                <a:ea typeface="Open Sans" panose="020B0606030504020204" pitchFamily="34" charset="0"/>
                <a:cs typeface="Open Sans" panose="020B0606030504020204" pitchFamily="34" charset="0"/>
              </a:rPr>
              <a:t>présence</a:t>
            </a:r>
            <a:r>
              <a:rPr lang="en-US" b="1" kern="0" dirty="0">
                <a:latin typeface="+mn-lt"/>
                <a:ea typeface="Open Sans" panose="020B0606030504020204" pitchFamily="34" charset="0"/>
                <a:cs typeface="Open Sans" panose="020B0606030504020204" pitchFamily="34" charset="0"/>
              </a:rPr>
              <a:t> </a:t>
            </a:r>
            <a:r>
              <a:rPr lang="en-US" b="1" kern="0" dirty="0" err="1">
                <a:latin typeface="+mn-lt"/>
                <a:ea typeface="Open Sans" panose="020B0606030504020204" pitchFamily="34" charset="0"/>
                <a:cs typeface="Open Sans" panose="020B0606030504020204" pitchFamily="34" charset="0"/>
              </a:rPr>
              <a:t>détectée</a:t>
            </a:r>
            <a:r>
              <a:rPr lang="en-US" b="1" kern="0" dirty="0">
                <a:latin typeface="+mn-lt"/>
                <a:ea typeface="Open Sans" panose="020B0606030504020204" pitchFamily="34" charset="0"/>
                <a:cs typeface="Open Sans" panose="020B0606030504020204" pitchFamily="34" charset="0"/>
              </a:rPr>
              <a:t>, activation de la </a:t>
            </a:r>
            <a:r>
              <a:rPr lang="en-US" b="1" kern="0" dirty="0" err="1">
                <a:latin typeface="+mn-lt"/>
                <a:ea typeface="Open Sans" panose="020B0606030504020204" pitchFamily="34" charset="0"/>
                <a:cs typeface="Open Sans" panose="020B0606030504020204" pitchFamily="34" charset="0"/>
              </a:rPr>
              <a:t>sirène</a:t>
            </a:r>
            <a:r>
              <a:rPr lang="en-US" b="1" kern="0" dirty="0">
                <a:latin typeface="+mn-lt"/>
                <a:ea typeface="Open Sans" panose="020B0606030504020204" pitchFamily="34" charset="0"/>
                <a:cs typeface="Open Sans" panose="020B0606030504020204" pitchFamily="34" charset="0"/>
              </a:rPr>
              <a:t> …</a:t>
            </a:r>
            <a:endParaRPr lang="es-ES" b="1" kern="0" dirty="0">
              <a:latin typeface="+mn-lt"/>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2431772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Le terminal de zone KNX</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683568" y="1268760"/>
            <a:ext cx="8208912"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err="1">
                <a:solidFill>
                  <a:schemeClr val="tx1"/>
                </a:solidFill>
                <a:ea typeface="Open Sans" panose="020B0606030504020204" pitchFamily="34" charset="0"/>
                <a:cs typeface="Open Sans" panose="020B0606030504020204" pitchFamily="34" charset="0"/>
              </a:rPr>
              <a:t>Utilisé</a:t>
            </a:r>
            <a:r>
              <a:rPr lang="en-US" sz="1800" kern="0" dirty="0">
                <a:solidFill>
                  <a:schemeClr val="tx1"/>
                </a:solidFill>
                <a:ea typeface="Open Sans" panose="020B0606030504020204" pitchFamily="34" charset="0"/>
                <a:cs typeface="Open Sans" panose="020B0606030504020204" pitchFamily="34" charset="0"/>
              </a:rPr>
              <a:t> pour </a:t>
            </a:r>
            <a:r>
              <a:rPr lang="en-US" sz="1800" kern="0" dirty="0" err="1">
                <a:ea typeface="Open Sans" panose="020B0606030504020204" pitchFamily="34" charset="0"/>
                <a:cs typeface="Open Sans" panose="020B0606030504020204" pitchFamily="34" charset="0"/>
              </a:rPr>
              <a:t>fonctions</a:t>
            </a:r>
            <a:r>
              <a:rPr lang="en-US" sz="1800" kern="0" dirty="0">
                <a:ea typeface="Open Sans" panose="020B0606030504020204" pitchFamily="34" charset="0"/>
                <a:cs typeface="Open Sans" panose="020B0606030504020204" pitchFamily="34" charset="0"/>
              </a:rPr>
              <a:t> de </a:t>
            </a:r>
            <a:r>
              <a:rPr lang="en-US" sz="1800" kern="0" dirty="0" err="1">
                <a:ea typeface="Open Sans" panose="020B0606030504020204" pitchFamily="34" charset="0"/>
                <a:cs typeface="Open Sans" panose="020B0606030504020204" pitchFamily="34" charset="0"/>
              </a:rPr>
              <a:t>sécurité</a:t>
            </a:r>
            <a:r>
              <a:rPr lang="en-US" sz="1800" kern="0" dirty="0">
                <a:ea typeface="Open Sans" panose="020B0606030504020204" pitchFamily="34" charset="0"/>
                <a:cs typeface="Open Sans" panose="020B0606030504020204" pitchFamily="34" charset="0"/>
              </a:rPr>
              <a:t> simple et de surveillance </a:t>
            </a:r>
            <a:r>
              <a:rPr lang="en-US" sz="1800" kern="0" dirty="0">
                <a:solidFill>
                  <a:schemeClr val="tx1"/>
                </a:solidFill>
                <a:ea typeface="Open Sans" panose="020B0606030504020204" pitchFamily="34" charset="0"/>
                <a:cs typeface="Open Sans" panose="020B0606030504020204" pitchFamily="34" charset="0"/>
              </a:rPr>
              <a:t>. PAS </a:t>
            </a:r>
            <a:r>
              <a:rPr lang="en-US" sz="1800" kern="0" dirty="0" err="1">
                <a:solidFill>
                  <a:schemeClr val="tx1"/>
                </a:solidFill>
                <a:ea typeface="Open Sans" panose="020B0606030504020204" pitchFamily="34" charset="0"/>
                <a:cs typeface="Open Sans" panose="020B0606030504020204" pitchFamily="34" charset="0"/>
              </a:rPr>
              <a:t>VdS</a:t>
            </a: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Agit </a:t>
            </a:r>
            <a:r>
              <a:rPr lang="en-US" sz="1800" kern="0" dirty="0" err="1">
                <a:solidFill>
                  <a:schemeClr val="tx1"/>
                </a:solidFill>
                <a:ea typeface="Open Sans" panose="020B0606030504020204" pitchFamily="34" charset="0"/>
                <a:cs typeface="Open Sans" panose="020B0606030504020204" pitchFamily="34" charset="0"/>
              </a:rPr>
              <a:t>comme</a:t>
            </a:r>
            <a:r>
              <a:rPr lang="en-US" sz="1800" kern="0" dirty="0">
                <a:solidFill>
                  <a:schemeClr val="tx1"/>
                </a:solidFill>
                <a:ea typeface="Open Sans" panose="020B0606030504020204" pitchFamily="34" charset="0"/>
                <a:cs typeface="Open Sans" panose="020B0606030504020204" pitchFamily="34" charset="0"/>
              </a:rPr>
              <a:t> le lien </a:t>
            </a:r>
            <a:r>
              <a:rPr lang="en-US" sz="1800" kern="0" dirty="0">
                <a:ea typeface="Open Sans" panose="020B0606030504020204" pitchFamily="34" charset="0"/>
                <a:cs typeface="Open Sans" panose="020B0606030504020204" pitchFamily="34" charset="0"/>
              </a:rPr>
              <a:t>entre les zones de </a:t>
            </a:r>
            <a:r>
              <a:rPr lang="en-US" sz="1800" kern="0" dirty="0" err="1">
                <a:ea typeface="Open Sans" panose="020B0606030504020204" pitchFamily="34" charset="0"/>
                <a:cs typeface="Open Sans" panose="020B0606030504020204" pitchFamily="34" charset="0"/>
              </a:rPr>
              <a:t>sécurité</a:t>
            </a:r>
            <a:r>
              <a:rPr lang="en-US" sz="1800" kern="0" dirty="0">
                <a:ea typeface="Open Sans" panose="020B0606030504020204" pitchFamily="34" charset="0"/>
                <a:cs typeface="Open Sans" panose="020B0606030504020204" pitchFamily="34" charset="0"/>
              </a:rPr>
              <a:t> et le KNX</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Il </a:t>
            </a:r>
            <a:r>
              <a:rPr lang="en-US" sz="1800" kern="0" dirty="0" err="1">
                <a:solidFill>
                  <a:schemeClr val="tx1"/>
                </a:solidFill>
                <a:ea typeface="Open Sans" panose="020B0606030504020204" pitchFamily="34" charset="0"/>
                <a:cs typeface="Open Sans" panose="020B0606030504020204" pitchFamily="34" charset="0"/>
              </a:rPr>
              <a:t>est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conseillé</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d'utiliser</a:t>
            </a:r>
            <a:r>
              <a:rPr lang="en-US" sz="1800" kern="0" dirty="0">
                <a:solidFill>
                  <a:schemeClr val="tx1"/>
                </a:solidFill>
                <a:ea typeface="Open Sans" panose="020B0606030504020204" pitchFamily="34" charset="0"/>
                <a:cs typeface="Open Sans" panose="020B0606030504020204" pitchFamily="34" charset="0"/>
              </a:rPr>
              <a:t> le </a:t>
            </a:r>
            <a:r>
              <a:rPr lang="en-US" sz="1800" kern="0" dirty="0" err="1">
                <a:solidFill>
                  <a:schemeClr val="tx1"/>
                </a:solidFill>
                <a:ea typeface="Open Sans" panose="020B0606030504020204" pitchFamily="34" charset="0"/>
                <a:cs typeface="Open Sans" panose="020B0606030504020204" pitchFamily="34" charset="0"/>
              </a:rPr>
              <a:t>nombre</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capteurs</a:t>
            </a:r>
            <a:r>
              <a:rPr lang="en-US" sz="1800" kern="0" dirty="0">
                <a:solidFill>
                  <a:schemeClr val="tx1"/>
                </a:solidFill>
                <a:ea typeface="Open Sans" panose="020B0606030504020204" pitchFamily="34" charset="0"/>
                <a:cs typeface="Open Sans" panose="020B0606030504020204" pitchFamily="34" charset="0"/>
              </a:rPr>
              <a:t> par zone de la </a:t>
            </a:r>
            <a:r>
              <a:rPr lang="en-US" sz="1800" kern="0" dirty="0" err="1">
                <a:solidFill>
                  <a:schemeClr val="tx1"/>
                </a:solidFill>
                <a:ea typeface="Open Sans" panose="020B0606030504020204" pitchFamily="34" charset="0"/>
                <a:cs typeface="Open Sans" panose="020B0606030504020204" pitchFamily="34" charset="0"/>
              </a:rPr>
              <a:t>même</a:t>
            </a:r>
            <a:r>
              <a:rPr lang="en-US" sz="1800" kern="0" dirty="0">
                <a:solidFill>
                  <a:schemeClr val="tx1"/>
                </a:solidFill>
                <a:ea typeface="Open Sans" panose="020B0606030504020204" pitchFamily="34" charset="0"/>
                <a:cs typeface="Open Sans" panose="020B0606030504020204" pitchFamily="34" charset="0"/>
              </a:rPr>
              <a:t> manière que pour les </a:t>
            </a:r>
            <a:r>
              <a:rPr lang="en-US" sz="1800" kern="0" dirty="0" err="1">
                <a:solidFill>
                  <a:schemeClr val="tx1"/>
                </a:solidFill>
                <a:ea typeface="Open Sans" panose="020B0606030504020204" pitchFamily="34" charset="0"/>
                <a:cs typeface="Open Sans" panose="020B0606030504020204" pitchFamily="34" charset="0"/>
              </a:rPr>
              <a:t>systèmes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d'alarme</a:t>
            </a:r>
            <a:r>
              <a:rPr lang="en-US" sz="1800" kern="0" dirty="0">
                <a:solidFill>
                  <a:schemeClr val="tx1"/>
                </a:solidFill>
                <a:ea typeface="Open Sans" panose="020B0606030504020204" pitchFamily="34" charset="0"/>
                <a:cs typeface="Open Sans" panose="020B0606030504020204" pitchFamily="34" charset="0"/>
              </a:rPr>
              <a:t> anti-intrusion: </a:t>
            </a:r>
            <a:r>
              <a:rPr lang="en-US" sz="1800" kern="0" dirty="0">
                <a:ea typeface="Open Sans" panose="020B0606030504020204" pitchFamily="34" charset="0"/>
                <a:cs typeface="Open Sans" panose="020B0606030504020204" pitchFamily="34" charset="0"/>
              </a:rPr>
              <a:t>max. 20</a:t>
            </a:r>
          </a:p>
          <a:p>
            <a:pPr>
              <a:lnSpc>
                <a:spcPct val="150000"/>
              </a:lnSpc>
              <a:defRPr/>
            </a:pPr>
            <a:r>
              <a:rPr lang="en-US" sz="1800" kern="0" dirty="0" err="1">
                <a:solidFill>
                  <a:schemeClr val="tx1"/>
                </a:solidFill>
                <a:ea typeface="Open Sans" panose="020B0606030504020204" pitchFamily="34" charset="0"/>
                <a:cs typeface="Open Sans" panose="020B0606030504020204" pitchFamily="34" charset="0"/>
              </a:rPr>
              <a:t>Chaque</a:t>
            </a:r>
            <a:r>
              <a:rPr lang="en-US" sz="1800" kern="0" dirty="0">
                <a:solidFill>
                  <a:schemeClr val="tx1"/>
                </a:solidFill>
                <a:ea typeface="Open Sans" panose="020B0606030504020204" pitchFamily="34" charset="0"/>
                <a:cs typeface="Open Sans" panose="020B0606030504020204" pitchFamily="34" charset="0"/>
              </a:rPr>
              <a:t> zone </a:t>
            </a:r>
            <a:r>
              <a:rPr lang="en-US" sz="1800" kern="0" dirty="0" err="1">
                <a:solidFill>
                  <a:schemeClr val="tx1"/>
                </a:solidFill>
                <a:ea typeface="Open Sans" panose="020B0606030504020204" pitchFamily="34" charset="0"/>
                <a:cs typeface="Open Sans" panose="020B0606030504020204" pitchFamily="34" charset="0"/>
              </a:rPr>
              <a:t>est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terminée</a:t>
            </a:r>
            <a:r>
              <a:rPr lang="en-US" sz="1800" kern="0" dirty="0">
                <a:solidFill>
                  <a:schemeClr val="tx1"/>
                </a:solidFill>
                <a:ea typeface="Open Sans" panose="020B0606030504020204" pitchFamily="34" charset="0"/>
                <a:cs typeface="Open Sans" panose="020B0606030504020204" pitchFamily="34" charset="0"/>
              </a:rPr>
              <a:t> avec </a:t>
            </a:r>
            <a:r>
              <a:rPr lang="en-US" sz="1800" kern="0" dirty="0" err="1">
                <a:solidFill>
                  <a:schemeClr val="tx1"/>
                </a:solidFill>
                <a:ea typeface="Open Sans" panose="020B0606030504020204" pitchFamily="34" charset="0"/>
                <a:cs typeface="Open Sans" panose="020B0606030504020204" pitchFamily="34" charset="0"/>
              </a:rPr>
              <a:t>une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résistance</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a:ea typeface="Open Sans" panose="020B0606030504020204" pitchFamily="34" charset="0"/>
                <a:cs typeface="Open Sans" panose="020B0606030504020204" pitchFamily="34" charset="0"/>
              </a:rPr>
              <a:t>2.7 </a:t>
            </a:r>
            <a:r>
              <a:rPr lang="en-US" sz="1800" kern="0" dirty="0" err="1">
                <a:ea typeface="Open Sans" panose="020B0606030504020204" pitchFamily="34" charset="0"/>
                <a:cs typeface="Open Sans" panose="020B0606030504020204" pitchFamily="34" charset="0"/>
              </a:rPr>
              <a:t>kΩ</a:t>
            </a:r>
            <a:endParaRPr lang="en-US" sz="18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Principaux</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avantages</a:t>
            </a:r>
            <a:r>
              <a:rPr lang="en-US" sz="1800" kern="0" dirty="0">
                <a:ea typeface="Open Sans" panose="020B0606030504020204" pitchFamily="34" charset="0"/>
                <a:cs typeface="Open Sans" panose="020B0606030504020204" pitchFamily="34" charset="0"/>
              </a:rPr>
              <a:t> : </a:t>
            </a:r>
            <a:r>
              <a:rPr lang="en-US" sz="1800" kern="0" dirty="0">
                <a:solidFill>
                  <a:schemeClr val="bg1">
                    <a:lumMod val="10000"/>
                  </a:schemeClr>
                </a:solidFill>
                <a:ea typeface="Open Sans" panose="020B0606030504020204" pitchFamily="34" charset="0"/>
                <a:cs typeface="Open Sans" panose="020B0606030504020204" pitchFamily="34" charset="0"/>
              </a:rPr>
              <a:t> surveillance du circuit pour </a:t>
            </a:r>
            <a:r>
              <a:rPr lang="en-US" sz="1800" kern="0" dirty="0" err="1">
                <a:solidFill>
                  <a:schemeClr val="bg1">
                    <a:lumMod val="10000"/>
                  </a:schemeClr>
                </a:solidFill>
                <a:ea typeface="Open Sans" panose="020B0606030504020204" pitchFamily="34" charset="0"/>
                <a:cs typeface="Open Sans" panose="020B0606030504020204" pitchFamily="34" charset="0"/>
              </a:rPr>
              <a:t>l'isolement</a:t>
            </a:r>
            <a:r>
              <a:rPr lang="en-US" sz="1800" kern="0" dirty="0">
                <a:solidFill>
                  <a:schemeClr val="bg1">
                    <a:lumMod val="10000"/>
                  </a:schemeClr>
                </a:solidFill>
                <a:ea typeface="Open Sans" panose="020B0606030504020204" pitchFamily="34" charset="0"/>
                <a:cs typeface="Open Sans" panose="020B0606030504020204" pitchFamily="34" charset="0"/>
              </a:rPr>
              <a:t> / les courts-circuits </a:t>
            </a:r>
            <a:r>
              <a:rPr lang="en-US" sz="1800" kern="0" dirty="0">
                <a:ea typeface="Open Sans" panose="020B0606030504020204" pitchFamily="34" charset="0"/>
                <a:cs typeface="Open Sans" panose="020B0606030504020204" pitchFamily="34" charset="0"/>
              </a:rPr>
              <a:t> </a:t>
            </a:r>
          </a:p>
          <a:p>
            <a:pPr marL="457200" indent="-457200">
              <a:buFont typeface="+mj-lt"/>
              <a:buAutoNum type="arabicPeriod"/>
            </a:pPr>
            <a:endParaRPr lang="en-US" sz="2000" kern="0" dirty="0">
              <a:ea typeface="Open Sans" panose="020B0606030504020204" pitchFamily="34" charset="0"/>
              <a:cs typeface="Open Sans" panose="020B0606030504020204" pitchFamily="34" charset="0"/>
            </a:endParaRPr>
          </a:p>
        </p:txBody>
      </p:sp>
      <p:graphicFrame>
        <p:nvGraphicFramePr>
          <p:cNvPr id="4" name="Object 3">
            <a:extLst>
              <a:ext uri="{FF2B5EF4-FFF2-40B4-BE49-F238E27FC236}">
                <a16:creationId xmlns:a16="http://schemas.microsoft.com/office/drawing/2014/main" id="{D20B9086-4117-47ED-A88E-1611B9A7F940}"/>
              </a:ext>
            </a:extLst>
          </p:cNvPr>
          <p:cNvGraphicFramePr>
            <a:graphicFrameLocks noChangeAspect="1"/>
          </p:cNvGraphicFramePr>
          <p:nvPr/>
        </p:nvGraphicFramePr>
        <p:xfrm>
          <a:off x="1331640" y="4581128"/>
          <a:ext cx="6748500" cy="1681857"/>
        </p:xfrm>
        <a:graphic>
          <a:graphicData uri="http://schemas.openxmlformats.org/presentationml/2006/ole">
            <mc:AlternateContent xmlns:mc="http://schemas.openxmlformats.org/markup-compatibility/2006">
              <mc:Choice xmlns:v="urn:schemas-microsoft-com:vml" Requires="v">
                <p:oleObj r:id="rId3" imgW="9460974" imgH="2371832" progId="Visio.Drawing.15">
                  <p:embed/>
                </p:oleObj>
              </mc:Choice>
              <mc:Fallback>
                <p:oleObj r:id="rId3" imgW="9460974" imgH="2371832" progId="Visio.Drawing.15">
                  <p:embed/>
                  <p:pic>
                    <p:nvPicPr>
                      <p:cNvPr id="4" name="Object 3">
                        <a:extLst>
                          <a:ext uri="{FF2B5EF4-FFF2-40B4-BE49-F238E27FC236}">
                            <a16:creationId xmlns:a16="http://schemas.microsoft.com/office/drawing/2014/main" id="{D20B9086-4117-47ED-A88E-1611B9A7F9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640" y="4581128"/>
                        <a:ext cx="6748500" cy="1681857"/>
                      </a:xfrm>
                      <a:prstGeom prst="rect">
                        <a:avLst/>
                      </a:prstGeom>
                      <a:noFill/>
                    </p:spPr>
                  </p:pic>
                </p:oleObj>
              </mc:Fallback>
            </mc:AlternateContent>
          </a:graphicData>
        </a:graphic>
      </p:graphicFrame>
    </p:spTree>
    <p:extLst>
      <p:ext uri="{BB962C8B-B14F-4D97-AF65-F5344CB8AC3E}">
        <p14:creationId xmlns:p14="http://schemas.microsoft.com/office/powerpoint/2010/main" val="2021682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Le terminal de zone KNX</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268760"/>
            <a:ext cx="7848352"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1800" kern="0" dirty="0">
                <a:ea typeface="Open Sans" panose="020B0606030504020204" pitchFamily="34" charset="0"/>
                <a:cs typeface="Open Sans" panose="020B0606030504020204" pitchFamily="34" charset="0"/>
              </a:rPr>
              <a:t>Deux modes de </a:t>
            </a:r>
            <a:r>
              <a:rPr lang="en-US" sz="1800" kern="0" dirty="0" err="1">
                <a:ea typeface="Open Sans" panose="020B0606030504020204" pitchFamily="34" charset="0"/>
                <a:cs typeface="Open Sans" panose="020B0606030504020204" pitchFamily="34" charset="0"/>
              </a:rPr>
              <a:t>fonctionnement</a:t>
            </a:r>
            <a:r>
              <a:rPr lang="en-US" sz="1800" kern="0" dirty="0">
                <a:ea typeface="Open Sans" panose="020B0606030504020204" pitchFamily="34" charset="0"/>
                <a:cs typeface="Open Sans" panose="020B0606030504020204" pitchFamily="34" charset="0"/>
              </a:rPr>
              <a:t> :</a:t>
            </a:r>
          </a:p>
          <a:p>
            <a:pPr>
              <a:lnSpc>
                <a:spcPct val="150000"/>
              </a:lnSpc>
              <a:defRPr/>
            </a:pPr>
            <a:r>
              <a:rPr lang="en-US" sz="1800" kern="0" dirty="0">
                <a:ea typeface="Open Sans" panose="020B0606030504020204" pitchFamily="34" charset="0"/>
                <a:cs typeface="Open Sans" panose="020B0606030504020204" pitchFamily="34" charset="0"/>
              </a:rPr>
              <a:t> Mode rapport </a:t>
            </a:r>
            <a:r>
              <a:rPr lang="en-US" sz="1800" kern="0" dirty="0">
                <a:solidFill>
                  <a:schemeClr val="bg1">
                    <a:lumMod val="10000"/>
                  </a:schemeClr>
                </a:solidFill>
                <a:ea typeface="Open Sans" panose="020B0606030504020204" pitchFamily="34" charset="0"/>
                <a:cs typeface="Open Sans" panose="020B0606030504020204" pitchFamily="34" charset="0"/>
              </a:rPr>
              <a:t> : les </a:t>
            </a:r>
            <a:r>
              <a:rPr lang="en-US" sz="1800" kern="0" dirty="0" err="1">
                <a:solidFill>
                  <a:schemeClr val="bg1">
                    <a:lumMod val="10000"/>
                  </a:schemeClr>
                </a:solidFill>
                <a:ea typeface="Open Sans" panose="020B0606030504020204" pitchFamily="34" charset="0"/>
                <a:cs typeface="Open Sans" panose="020B0606030504020204" pitchFamily="34" charset="0"/>
              </a:rPr>
              <a:t>états</a:t>
            </a:r>
            <a:r>
              <a:rPr lang="en-US" sz="1800" kern="0" dirty="0">
                <a:solidFill>
                  <a:schemeClr val="bg1">
                    <a:lumMod val="10000"/>
                  </a:schemeClr>
                </a:solidFill>
                <a:ea typeface="Open Sans" panose="020B0606030504020204" pitchFamily="34" charset="0"/>
                <a:cs typeface="Open Sans" panose="020B0606030504020204" pitchFamily="34" charset="0"/>
              </a:rPr>
              <a:t> des zones </a:t>
            </a:r>
            <a:r>
              <a:rPr lang="en-US" sz="1800" kern="0" dirty="0" err="1">
                <a:solidFill>
                  <a:schemeClr val="bg1">
                    <a:lumMod val="10000"/>
                  </a:schemeClr>
                </a:solidFill>
                <a:ea typeface="Open Sans" panose="020B0606030504020204" pitchFamily="34" charset="0"/>
                <a:cs typeface="Open Sans" panose="020B0606030504020204" pitchFamily="34" charset="0"/>
              </a:rPr>
              <a:t>sont</a:t>
            </a:r>
            <a:r>
              <a:rPr lang="en-US" sz="1800" kern="0" dirty="0">
                <a:solidFill>
                  <a:schemeClr val="bg1">
                    <a:lumMod val="10000"/>
                  </a:schemeClr>
                </a:solidFill>
                <a:ea typeface="Open Sans" panose="020B0606030504020204" pitchFamily="34" charset="0"/>
                <a:cs typeface="Open Sans" panose="020B0606030504020204" pitchFamily="34" charset="0"/>
              </a:rPr>
              <a:t> </a:t>
            </a:r>
            <a:r>
              <a:rPr lang="en-US" sz="1800" kern="0" dirty="0" err="1">
                <a:solidFill>
                  <a:schemeClr val="bg1">
                    <a:lumMod val="10000"/>
                  </a:schemeClr>
                </a:solidFill>
                <a:ea typeface="Open Sans" panose="020B0606030504020204" pitchFamily="34" charset="0"/>
                <a:cs typeface="Open Sans" panose="020B0606030504020204" pitchFamily="34" charset="0"/>
              </a:rPr>
              <a:t>rapportés</a:t>
            </a:r>
            <a:r>
              <a:rPr lang="en-US" sz="1800" kern="0" dirty="0">
                <a:solidFill>
                  <a:schemeClr val="bg1">
                    <a:lumMod val="10000"/>
                  </a:schemeClr>
                </a:solidFill>
                <a:ea typeface="Open Sans" panose="020B0606030504020204" pitchFamily="34" charset="0"/>
                <a:cs typeface="Open Sans" panose="020B0606030504020204" pitchFamily="34" charset="0"/>
              </a:rPr>
              <a:t> </a:t>
            </a:r>
            <a:r>
              <a:rPr lang="en-US" sz="1800" kern="0" dirty="0" err="1">
                <a:solidFill>
                  <a:schemeClr val="bg1">
                    <a:lumMod val="10000"/>
                  </a:schemeClr>
                </a:solidFill>
                <a:ea typeface="Open Sans" panose="020B0606030504020204" pitchFamily="34" charset="0"/>
                <a:cs typeface="Open Sans" panose="020B0606030504020204" pitchFamily="34" charset="0"/>
              </a:rPr>
              <a:t>mais</a:t>
            </a:r>
            <a:r>
              <a:rPr lang="en-US" sz="1800" kern="0" dirty="0">
                <a:solidFill>
                  <a:schemeClr val="bg1">
                    <a:lumMod val="10000"/>
                  </a:schemeClr>
                </a:solidFill>
                <a:ea typeface="Open Sans" panose="020B0606030504020204" pitchFamily="34" charset="0"/>
                <a:cs typeface="Open Sans" panose="020B0606030504020204" pitchFamily="34" charset="0"/>
              </a:rPr>
              <a:t> pas </a:t>
            </a:r>
            <a:r>
              <a:rPr lang="en-US" sz="1800" kern="0" dirty="0" err="1">
                <a:solidFill>
                  <a:schemeClr val="bg1">
                    <a:lumMod val="10000"/>
                  </a:schemeClr>
                </a:solidFill>
                <a:ea typeface="Open Sans" panose="020B0606030504020204" pitchFamily="34" charset="0"/>
                <a:cs typeface="Open Sans" panose="020B0606030504020204" pitchFamily="34" charset="0"/>
              </a:rPr>
              <a:t>stockés</a:t>
            </a:r>
            <a:r>
              <a:rPr lang="en-US" sz="1800" kern="0" dirty="0">
                <a:solidFill>
                  <a:schemeClr val="bg1">
                    <a:lumMod val="10000"/>
                  </a:schemeClr>
                </a:solidFill>
                <a:ea typeface="Open Sans" panose="020B0606030504020204" pitchFamily="34" charset="0"/>
                <a:cs typeface="Open Sans" panose="020B0606030504020204" pitchFamily="34" charset="0"/>
              </a:rPr>
              <a:t> </a:t>
            </a:r>
            <a:r>
              <a:rPr lang="en-US" sz="1800" kern="0" dirty="0">
                <a:ea typeface="Open Sans" panose="020B0606030504020204" pitchFamily="34" charset="0"/>
                <a:cs typeface="Open Sans" panose="020B0606030504020204" pitchFamily="34" charset="0"/>
              </a:rPr>
              <a:t> </a:t>
            </a:r>
          </a:p>
          <a:p>
            <a:pPr>
              <a:lnSpc>
                <a:spcPct val="150000"/>
              </a:lnSpc>
              <a:defRPr/>
            </a:pPr>
            <a:r>
              <a:rPr lang="en-US" sz="1800" kern="0" dirty="0">
                <a:ea typeface="Open Sans" panose="020B0606030504020204" pitchFamily="34" charset="0"/>
                <a:cs typeface="Open Sans" panose="020B0606030504020204" pitchFamily="34" charset="0"/>
              </a:rPr>
              <a:t> Mode </a:t>
            </a:r>
            <a:r>
              <a:rPr lang="en-US" sz="1800" kern="0" dirty="0" err="1">
                <a:ea typeface="Open Sans" panose="020B0606030504020204" pitchFamily="34" charset="0"/>
                <a:cs typeface="Open Sans" panose="020B0606030504020204" pitchFamily="34" charset="0"/>
              </a:rPr>
              <a:t>moniteur</a:t>
            </a:r>
            <a:r>
              <a:rPr lang="en-US" sz="1800" kern="0" dirty="0">
                <a:ea typeface="Open Sans" panose="020B0606030504020204" pitchFamily="34" charset="0"/>
                <a:cs typeface="Open Sans" panose="020B0606030504020204" pitchFamily="34" charset="0"/>
              </a:rPr>
              <a:t> </a:t>
            </a:r>
            <a:r>
              <a:rPr lang="en-US" sz="1800" kern="0" dirty="0">
                <a:solidFill>
                  <a:schemeClr val="bg1">
                    <a:lumMod val="10000"/>
                  </a:schemeClr>
                </a:solidFill>
                <a:ea typeface="Open Sans" panose="020B0606030504020204" pitchFamily="34" charset="0"/>
                <a:cs typeface="Open Sans" panose="020B0606030504020204" pitchFamily="34" charset="0"/>
              </a:rPr>
              <a:t> : les </a:t>
            </a:r>
            <a:r>
              <a:rPr lang="en-US" sz="1800" kern="0" dirty="0" err="1">
                <a:solidFill>
                  <a:schemeClr val="bg1">
                    <a:lumMod val="10000"/>
                  </a:schemeClr>
                </a:solidFill>
                <a:ea typeface="Open Sans" panose="020B0606030504020204" pitchFamily="34" charset="0"/>
                <a:cs typeface="Open Sans" panose="020B0606030504020204" pitchFamily="34" charset="0"/>
              </a:rPr>
              <a:t>états</a:t>
            </a:r>
            <a:r>
              <a:rPr lang="en-US" sz="1800" kern="0" dirty="0">
                <a:solidFill>
                  <a:schemeClr val="bg1">
                    <a:lumMod val="10000"/>
                  </a:schemeClr>
                </a:solidFill>
                <a:ea typeface="Open Sans" panose="020B0606030504020204" pitchFamily="34" charset="0"/>
                <a:cs typeface="Open Sans" panose="020B0606030504020204" pitchFamily="34" charset="0"/>
              </a:rPr>
              <a:t> des zones </a:t>
            </a:r>
            <a:r>
              <a:rPr lang="en-US" sz="1800" kern="0" dirty="0" err="1">
                <a:solidFill>
                  <a:schemeClr val="bg1">
                    <a:lumMod val="10000"/>
                  </a:schemeClr>
                </a:solidFill>
                <a:ea typeface="Open Sans" panose="020B0606030504020204" pitchFamily="34" charset="0"/>
                <a:cs typeface="Open Sans" panose="020B0606030504020204" pitchFamily="34" charset="0"/>
              </a:rPr>
              <a:t>sont</a:t>
            </a:r>
            <a:r>
              <a:rPr lang="en-US" sz="1800" kern="0" dirty="0">
                <a:solidFill>
                  <a:schemeClr val="bg1">
                    <a:lumMod val="10000"/>
                  </a:schemeClr>
                </a:solidFill>
                <a:ea typeface="Open Sans" panose="020B0606030504020204" pitchFamily="34" charset="0"/>
                <a:cs typeface="Open Sans" panose="020B0606030504020204" pitchFamily="34" charset="0"/>
              </a:rPr>
              <a:t> </a:t>
            </a:r>
            <a:r>
              <a:rPr lang="en-US" sz="1800" kern="0" dirty="0" err="1">
                <a:solidFill>
                  <a:schemeClr val="bg1">
                    <a:lumMod val="10000"/>
                  </a:schemeClr>
                </a:solidFill>
                <a:ea typeface="Open Sans" panose="020B0606030504020204" pitchFamily="34" charset="0"/>
                <a:cs typeface="Open Sans" panose="020B0606030504020204" pitchFamily="34" charset="0"/>
              </a:rPr>
              <a:t>rapportés</a:t>
            </a:r>
            <a:r>
              <a:rPr lang="en-US" sz="1800" kern="0" dirty="0">
                <a:solidFill>
                  <a:schemeClr val="bg1">
                    <a:lumMod val="10000"/>
                  </a:schemeClr>
                </a:solidFill>
                <a:ea typeface="Open Sans" panose="020B0606030504020204" pitchFamily="34" charset="0"/>
                <a:cs typeface="Open Sans" panose="020B0606030504020204" pitchFamily="34" charset="0"/>
              </a:rPr>
              <a:t> et </a:t>
            </a:r>
            <a:r>
              <a:rPr lang="en-US" sz="1800" kern="0" dirty="0" err="1">
                <a:solidFill>
                  <a:schemeClr val="bg1">
                    <a:lumMod val="10000"/>
                  </a:schemeClr>
                </a:solidFill>
                <a:ea typeface="Open Sans" panose="020B0606030504020204" pitchFamily="34" charset="0"/>
                <a:cs typeface="Open Sans" panose="020B0606030504020204" pitchFamily="34" charset="0"/>
              </a:rPr>
              <a:t>mémorisés</a:t>
            </a:r>
            <a:r>
              <a:rPr lang="en-US" sz="1800" kern="0" dirty="0">
                <a:solidFill>
                  <a:schemeClr val="bg1">
                    <a:lumMod val="10000"/>
                  </a:schemeClr>
                </a:solidFill>
                <a:ea typeface="Open Sans" panose="020B0606030504020204" pitchFamily="34" charset="0"/>
                <a:cs typeface="Open Sans" panose="020B0606030504020204" pitchFamily="34" charset="0"/>
              </a:rPr>
              <a:t>. Il </a:t>
            </a:r>
            <a:r>
              <a:rPr lang="en-US" sz="1800" kern="0" dirty="0" err="1">
                <a:solidFill>
                  <a:schemeClr val="bg1">
                    <a:lumMod val="10000"/>
                  </a:schemeClr>
                </a:solidFill>
                <a:ea typeface="Open Sans" panose="020B0606030504020204" pitchFamily="34" charset="0"/>
                <a:cs typeface="Open Sans" panose="020B0606030504020204" pitchFamily="34" charset="0"/>
              </a:rPr>
              <a:t>n'est</a:t>
            </a:r>
            <a:r>
              <a:rPr lang="en-US" sz="1800" kern="0" dirty="0">
                <a:solidFill>
                  <a:schemeClr val="bg1">
                    <a:lumMod val="10000"/>
                  </a:schemeClr>
                </a:solidFill>
                <a:ea typeface="Open Sans" panose="020B0606030504020204" pitchFamily="34" charset="0"/>
                <a:cs typeface="Open Sans" panose="020B0606030504020204" pitchFamily="34" charset="0"/>
              </a:rPr>
              <a:t> possible de passer à </a:t>
            </a:r>
            <a:r>
              <a:rPr lang="en-US" sz="1800" kern="0" dirty="0" err="1">
                <a:solidFill>
                  <a:schemeClr val="bg1">
                    <a:lumMod val="10000"/>
                  </a:schemeClr>
                </a:solidFill>
                <a:ea typeface="Open Sans" panose="020B0606030504020204" pitchFamily="34" charset="0"/>
                <a:cs typeface="Open Sans" panose="020B0606030504020204" pitchFamily="34" charset="0"/>
              </a:rPr>
              <a:t>ce</a:t>
            </a:r>
            <a:r>
              <a:rPr lang="en-US" sz="1800" kern="0" dirty="0">
                <a:solidFill>
                  <a:schemeClr val="bg1">
                    <a:lumMod val="10000"/>
                  </a:schemeClr>
                </a:solidFill>
                <a:ea typeface="Open Sans" panose="020B0606030504020204" pitchFamily="34" charset="0"/>
                <a:cs typeface="Open Sans" panose="020B0606030504020204" pitchFamily="34" charset="0"/>
              </a:rPr>
              <a:t> mode que </a:t>
            </a:r>
            <a:r>
              <a:rPr lang="en-US" sz="1800" kern="0" dirty="0" err="1">
                <a:solidFill>
                  <a:schemeClr val="bg1">
                    <a:lumMod val="10000"/>
                  </a:schemeClr>
                </a:solidFill>
                <a:ea typeface="Open Sans" panose="020B0606030504020204" pitchFamily="34" charset="0"/>
                <a:cs typeface="Open Sans" panose="020B0606030504020204" pitchFamily="34" charset="0"/>
              </a:rPr>
              <a:t>si</a:t>
            </a:r>
            <a:r>
              <a:rPr lang="en-US" sz="1800" kern="0" dirty="0">
                <a:solidFill>
                  <a:schemeClr val="bg1">
                    <a:lumMod val="10000"/>
                  </a:schemeClr>
                </a:solidFill>
                <a:ea typeface="Open Sans" panose="020B0606030504020204" pitchFamily="34" charset="0"/>
                <a:cs typeface="Open Sans" panose="020B0606030504020204" pitchFamily="34" charset="0"/>
              </a:rPr>
              <a:t> </a:t>
            </a:r>
            <a:r>
              <a:rPr lang="en-US" sz="1800" kern="0" dirty="0" err="1">
                <a:solidFill>
                  <a:schemeClr val="bg1">
                    <a:lumMod val="10000"/>
                  </a:schemeClr>
                </a:solidFill>
                <a:ea typeface="Open Sans" panose="020B0606030504020204" pitchFamily="34" charset="0"/>
                <a:cs typeface="Open Sans" panose="020B0606030504020204" pitchFamily="34" charset="0"/>
              </a:rPr>
              <a:t>aucun</a:t>
            </a:r>
            <a:r>
              <a:rPr lang="en-US" sz="1800" kern="0" dirty="0">
                <a:solidFill>
                  <a:schemeClr val="bg1">
                    <a:lumMod val="10000"/>
                  </a:schemeClr>
                </a:solidFill>
                <a:ea typeface="Open Sans" panose="020B0606030504020204" pitchFamily="34" charset="0"/>
                <a:cs typeface="Open Sans" panose="020B0606030504020204" pitchFamily="34" charset="0"/>
              </a:rPr>
              <a:t> signal </a:t>
            </a:r>
            <a:r>
              <a:rPr lang="en-US" sz="1800" kern="0" dirty="0" err="1">
                <a:solidFill>
                  <a:schemeClr val="bg1">
                    <a:lumMod val="10000"/>
                  </a:schemeClr>
                </a:solidFill>
                <a:ea typeface="Open Sans" panose="020B0606030504020204" pitchFamily="34" charset="0"/>
                <a:cs typeface="Open Sans" panose="020B0606030504020204" pitchFamily="34" charset="0"/>
              </a:rPr>
              <a:t>n'est</a:t>
            </a:r>
            <a:r>
              <a:rPr lang="en-US" sz="1800" kern="0" dirty="0">
                <a:solidFill>
                  <a:schemeClr val="bg1">
                    <a:lumMod val="10000"/>
                  </a:schemeClr>
                </a:solidFill>
                <a:ea typeface="Open Sans" panose="020B0606030504020204" pitchFamily="34" charset="0"/>
                <a:cs typeface="Open Sans" panose="020B0606030504020204" pitchFamily="34" charset="0"/>
              </a:rPr>
              <a:t> </a:t>
            </a:r>
            <a:r>
              <a:rPr lang="en-US" sz="1800" kern="0" dirty="0" err="1">
                <a:solidFill>
                  <a:schemeClr val="bg1">
                    <a:lumMod val="10000"/>
                  </a:schemeClr>
                </a:solidFill>
                <a:ea typeface="Open Sans" panose="020B0606030504020204" pitchFamily="34" charset="0"/>
                <a:cs typeface="Open Sans" panose="020B0606030504020204" pitchFamily="34" charset="0"/>
              </a:rPr>
              <a:t>présent</a:t>
            </a:r>
            <a:r>
              <a:rPr lang="en-US" sz="1800" kern="0" dirty="0">
                <a:solidFill>
                  <a:schemeClr val="bg1">
                    <a:lumMod val="10000"/>
                  </a:schemeClr>
                </a:solidFill>
                <a:ea typeface="Open Sans" panose="020B0606030504020204" pitchFamily="34" charset="0"/>
                <a:cs typeface="Open Sans" panose="020B0606030504020204" pitchFamily="34" charset="0"/>
              </a:rPr>
              <a:t>. </a:t>
            </a:r>
          </a:p>
          <a:p>
            <a:pPr marL="0" indent="0">
              <a:lnSpc>
                <a:spcPct val="150000"/>
              </a:lnSpc>
              <a:buNone/>
              <a:defRPr/>
            </a:pPr>
            <a:endParaRPr lang="en-US" sz="1100" kern="0" dirty="0">
              <a:solidFill>
                <a:schemeClr val="bg1">
                  <a:lumMod val="10000"/>
                </a:schemeClr>
              </a:solidFill>
              <a:ea typeface="Open Sans" panose="020B0606030504020204" pitchFamily="34" charset="0"/>
              <a:cs typeface="Open Sans" panose="020B0606030504020204" pitchFamily="34" charset="0"/>
            </a:endParaRPr>
          </a:p>
          <a:p>
            <a:pPr marL="0" indent="0">
              <a:lnSpc>
                <a:spcPct val="150000"/>
              </a:lnSpc>
              <a:buNone/>
              <a:defRPr/>
            </a:pPr>
            <a:r>
              <a:rPr lang="en-US" sz="1800" kern="0" dirty="0">
                <a:solidFill>
                  <a:schemeClr val="bg1">
                    <a:lumMod val="10000"/>
                  </a:schemeClr>
                </a:solidFill>
                <a:ea typeface="Open Sans" panose="020B0606030504020204" pitchFamily="34" charset="0"/>
                <a:cs typeface="Open Sans" panose="020B0606030504020204" pitchFamily="34" charset="0"/>
              </a:rPr>
              <a:t>Les </a:t>
            </a:r>
            <a:r>
              <a:rPr lang="en-US" sz="1800" kern="0" dirty="0" err="1">
                <a:solidFill>
                  <a:schemeClr val="bg1">
                    <a:lumMod val="10000"/>
                  </a:schemeClr>
                </a:solidFill>
                <a:ea typeface="Open Sans" panose="020B0606030504020204" pitchFamily="34" charset="0"/>
                <a:cs typeface="Open Sans" panose="020B0606030504020204" pitchFamily="34" charset="0"/>
              </a:rPr>
              <a:t>états</a:t>
            </a:r>
            <a:r>
              <a:rPr lang="en-US" sz="1800" kern="0" dirty="0">
                <a:solidFill>
                  <a:schemeClr val="bg1">
                    <a:lumMod val="10000"/>
                  </a:schemeClr>
                </a:solidFill>
                <a:ea typeface="Open Sans" panose="020B0606030504020204" pitchFamily="34" charset="0"/>
                <a:cs typeface="Open Sans" panose="020B0606030504020204" pitchFamily="34" charset="0"/>
              </a:rPr>
              <a:t> des zones (</a:t>
            </a:r>
            <a:r>
              <a:rPr lang="en-US" sz="1800" kern="0" dirty="0" err="1">
                <a:solidFill>
                  <a:schemeClr val="bg1">
                    <a:lumMod val="10000"/>
                  </a:schemeClr>
                </a:solidFill>
                <a:ea typeface="Open Sans" panose="020B0606030504020204" pitchFamily="34" charset="0"/>
                <a:cs typeface="Open Sans" panose="020B0606030504020204" pitchFamily="34" charset="0"/>
              </a:rPr>
              <a:t>alarme</a:t>
            </a:r>
            <a:r>
              <a:rPr lang="en-US" sz="1800" kern="0" dirty="0">
                <a:solidFill>
                  <a:schemeClr val="bg1">
                    <a:lumMod val="10000"/>
                  </a:schemeClr>
                </a:solidFill>
                <a:ea typeface="Open Sans" panose="020B0606030504020204" pitchFamily="34" charset="0"/>
                <a:cs typeface="Open Sans" panose="020B0606030504020204" pitchFamily="34" charset="0"/>
              </a:rPr>
              <a:t>) </a:t>
            </a:r>
            <a:r>
              <a:rPr lang="en-US" sz="1800" kern="0" dirty="0" err="1">
                <a:solidFill>
                  <a:schemeClr val="bg1">
                    <a:lumMod val="10000"/>
                  </a:schemeClr>
                </a:solidFill>
                <a:ea typeface="Open Sans" panose="020B0606030504020204" pitchFamily="34" charset="0"/>
                <a:cs typeface="Open Sans" panose="020B0606030504020204" pitchFamily="34" charset="0"/>
              </a:rPr>
              <a:t>doivent</a:t>
            </a:r>
            <a:r>
              <a:rPr lang="en-US" sz="1800" kern="0" dirty="0">
                <a:solidFill>
                  <a:schemeClr val="bg1">
                    <a:lumMod val="10000"/>
                  </a:schemeClr>
                </a:solidFill>
                <a:ea typeface="Open Sans" panose="020B0606030504020204" pitchFamily="34" charset="0"/>
                <a:cs typeface="Open Sans" panose="020B0606030504020204" pitchFamily="34" charset="0"/>
              </a:rPr>
              <a:t> </a:t>
            </a:r>
            <a:r>
              <a:rPr lang="en-US" sz="1800" kern="0" dirty="0" err="1">
                <a:solidFill>
                  <a:schemeClr val="bg1">
                    <a:lumMod val="10000"/>
                  </a:schemeClr>
                </a:solidFill>
                <a:ea typeface="Open Sans" panose="020B0606030504020204" pitchFamily="34" charset="0"/>
                <a:cs typeface="Open Sans" panose="020B0606030504020204" pitchFamily="34" charset="0"/>
              </a:rPr>
              <a:t>être</a:t>
            </a:r>
            <a:r>
              <a:rPr lang="en-US" sz="1800" kern="0" dirty="0">
                <a:solidFill>
                  <a:schemeClr val="bg1">
                    <a:lumMod val="10000"/>
                  </a:schemeClr>
                </a:solidFill>
                <a:ea typeface="Open Sans" panose="020B0606030504020204" pitchFamily="34" charset="0"/>
                <a:cs typeface="Open Sans" panose="020B0606030504020204" pitchFamily="34" charset="0"/>
              </a:rPr>
              <a:t> </a:t>
            </a:r>
            <a:r>
              <a:rPr lang="en-US" sz="1800" kern="0" dirty="0" err="1">
                <a:solidFill>
                  <a:schemeClr val="bg1">
                    <a:lumMod val="10000"/>
                  </a:schemeClr>
                </a:solidFill>
                <a:ea typeface="Open Sans" panose="020B0606030504020204" pitchFamily="34" charset="0"/>
                <a:cs typeface="Open Sans" panose="020B0606030504020204" pitchFamily="34" charset="0"/>
              </a:rPr>
              <a:t>acquittés</a:t>
            </a:r>
            <a:r>
              <a:rPr lang="en-US" sz="1800" kern="0" dirty="0">
                <a:solidFill>
                  <a:schemeClr val="bg1">
                    <a:lumMod val="10000"/>
                  </a:schemeClr>
                </a:solidFill>
                <a:ea typeface="Open Sans" panose="020B0606030504020204" pitchFamily="34" charset="0"/>
                <a:cs typeface="Open Sans" panose="020B0606030504020204" pitchFamily="34" charset="0"/>
              </a:rPr>
              <a:t> (‘Set / unset’ </a:t>
            </a:r>
            <a:r>
              <a:rPr lang="en-US" sz="1800" kern="0" dirty="0" err="1">
                <a:solidFill>
                  <a:schemeClr val="bg1">
                    <a:lumMod val="10000"/>
                  </a:schemeClr>
                </a:solidFill>
                <a:ea typeface="Open Sans" panose="020B0606030504020204" pitchFamily="34" charset="0"/>
                <a:cs typeface="Open Sans" panose="020B0606030504020204" pitchFamily="34" charset="0"/>
              </a:rPr>
              <a:t>est</a:t>
            </a:r>
            <a:r>
              <a:rPr lang="en-US" sz="1800" kern="0" dirty="0">
                <a:solidFill>
                  <a:schemeClr val="bg1">
                    <a:lumMod val="10000"/>
                  </a:schemeClr>
                </a:solidFill>
                <a:ea typeface="Open Sans" panose="020B0606030504020204" pitchFamily="34" charset="0"/>
                <a:cs typeface="Open Sans" panose="020B0606030504020204" pitchFamily="34" charset="0"/>
              </a:rPr>
              <a:t> mis à ‘0’)</a:t>
            </a:r>
          </a:p>
          <a:p>
            <a:pPr marL="0" indent="0">
              <a:lnSpc>
                <a:spcPct val="150000"/>
              </a:lnSpc>
              <a:buNone/>
              <a:defRPr/>
            </a:pPr>
            <a:endParaRPr lang="en-US" sz="1100" kern="0" dirty="0">
              <a:solidFill>
                <a:schemeClr val="bg1">
                  <a:lumMod val="10000"/>
                </a:schemeClr>
              </a:solidFill>
              <a:ea typeface="Open Sans" panose="020B0606030504020204" pitchFamily="34" charset="0"/>
              <a:cs typeface="Open Sans" panose="020B0606030504020204" pitchFamily="34" charset="0"/>
            </a:endParaRPr>
          </a:p>
          <a:p>
            <a:pPr marL="0" indent="0">
              <a:lnSpc>
                <a:spcPct val="150000"/>
              </a:lnSpc>
              <a:buNone/>
              <a:defRPr/>
            </a:pPr>
            <a:r>
              <a:rPr lang="en-US" sz="1800" kern="0" dirty="0" err="1">
                <a:solidFill>
                  <a:schemeClr val="bg1">
                    <a:lumMod val="10000"/>
                  </a:schemeClr>
                </a:solidFill>
                <a:ea typeface="Open Sans" panose="020B0606030504020204" pitchFamily="34" charset="0"/>
                <a:cs typeface="Open Sans" panose="020B0606030504020204" pitchFamily="34" charset="0"/>
              </a:rPr>
              <a:t>Ces</a:t>
            </a:r>
            <a:r>
              <a:rPr lang="en-US" sz="1800" kern="0" dirty="0">
                <a:solidFill>
                  <a:schemeClr val="bg1">
                    <a:lumMod val="10000"/>
                  </a:schemeClr>
                </a:solidFill>
                <a:ea typeface="Open Sans" panose="020B0606030504020204" pitchFamily="34" charset="0"/>
                <a:cs typeface="Open Sans" panose="020B0606030504020204" pitchFamily="34" charset="0"/>
              </a:rPr>
              <a:t> </a:t>
            </a:r>
            <a:r>
              <a:rPr lang="en-US" sz="1800" kern="0" dirty="0" err="1">
                <a:solidFill>
                  <a:schemeClr val="bg1">
                    <a:lumMod val="10000"/>
                  </a:schemeClr>
                </a:solidFill>
                <a:ea typeface="Open Sans" panose="020B0606030504020204" pitchFamily="34" charset="0"/>
                <a:cs typeface="Open Sans" panose="020B0606030504020204" pitchFamily="34" charset="0"/>
              </a:rPr>
              <a:t>états</a:t>
            </a:r>
            <a:r>
              <a:rPr lang="en-US" sz="1800" kern="0" dirty="0">
                <a:solidFill>
                  <a:schemeClr val="bg1">
                    <a:lumMod val="10000"/>
                  </a:schemeClr>
                </a:solidFill>
                <a:ea typeface="Open Sans" panose="020B0606030504020204" pitchFamily="34" charset="0"/>
                <a:cs typeface="Open Sans" panose="020B0606030504020204" pitchFamily="34" charset="0"/>
              </a:rPr>
              <a:t> </a:t>
            </a:r>
            <a:r>
              <a:rPr lang="en-US" sz="1800" kern="0" dirty="0" err="1">
                <a:solidFill>
                  <a:schemeClr val="bg1">
                    <a:lumMod val="10000"/>
                  </a:schemeClr>
                </a:solidFill>
                <a:ea typeface="Open Sans" panose="020B0606030504020204" pitchFamily="34" charset="0"/>
                <a:cs typeface="Open Sans" panose="020B0606030504020204" pitchFamily="34" charset="0"/>
              </a:rPr>
              <a:t>doivent</a:t>
            </a:r>
            <a:r>
              <a:rPr lang="en-US" sz="1800" kern="0" dirty="0">
                <a:solidFill>
                  <a:schemeClr val="bg1">
                    <a:lumMod val="10000"/>
                  </a:schemeClr>
                </a:solidFill>
                <a:ea typeface="Open Sans" panose="020B0606030504020204" pitchFamily="34" charset="0"/>
                <a:cs typeface="Open Sans" panose="020B0606030504020204" pitchFamily="34" charset="0"/>
              </a:rPr>
              <a:t> </a:t>
            </a:r>
            <a:r>
              <a:rPr lang="en-US" sz="1800" kern="0" dirty="0" err="1">
                <a:solidFill>
                  <a:schemeClr val="bg1">
                    <a:lumMod val="10000"/>
                  </a:schemeClr>
                </a:solidFill>
                <a:ea typeface="Open Sans" panose="020B0606030504020204" pitchFamily="34" charset="0"/>
                <a:cs typeface="Open Sans" panose="020B0606030504020204" pitchFamily="34" charset="0"/>
              </a:rPr>
              <a:t>également</a:t>
            </a:r>
            <a:r>
              <a:rPr lang="en-US" sz="1800" kern="0" dirty="0">
                <a:solidFill>
                  <a:schemeClr val="bg1">
                    <a:lumMod val="10000"/>
                  </a:schemeClr>
                </a:solidFill>
                <a:ea typeface="Open Sans" panose="020B0606030504020204" pitchFamily="34" charset="0"/>
                <a:cs typeface="Open Sans" panose="020B0606030504020204" pitchFamily="34" charset="0"/>
              </a:rPr>
              <a:t> </a:t>
            </a:r>
            <a:r>
              <a:rPr lang="en-US" sz="1800" kern="0" dirty="0" err="1">
                <a:solidFill>
                  <a:schemeClr val="bg1">
                    <a:lumMod val="10000"/>
                  </a:schemeClr>
                </a:solidFill>
                <a:ea typeface="Open Sans" panose="020B0606030504020204" pitchFamily="34" charset="0"/>
                <a:cs typeface="Open Sans" panose="020B0606030504020204" pitchFamily="34" charset="0"/>
              </a:rPr>
              <a:t>être</a:t>
            </a:r>
            <a:r>
              <a:rPr lang="en-US" sz="1800" kern="0" dirty="0">
                <a:solidFill>
                  <a:schemeClr val="bg1">
                    <a:lumMod val="10000"/>
                  </a:schemeClr>
                </a:solidFill>
                <a:ea typeface="Open Sans" panose="020B0606030504020204" pitchFamily="34" charset="0"/>
                <a:cs typeface="Open Sans" panose="020B0606030504020204" pitchFamily="34" charset="0"/>
              </a:rPr>
              <a:t> </a:t>
            </a:r>
            <a:r>
              <a:rPr lang="en-US" sz="1800" kern="0" dirty="0" err="1">
                <a:solidFill>
                  <a:schemeClr val="bg1">
                    <a:lumMod val="10000"/>
                  </a:schemeClr>
                </a:solidFill>
                <a:ea typeface="Open Sans" panose="020B0606030504020204" pitchFamily="34" charset="0"/>
                <a:cs typeface="Open Sans" panose="020B0606030504020204" pitchFamily="34" charset="0"/>
              </a:rPr>
              <a:t>réinitialisés</a:t>
            </a:r>
            <a:r>
              <a:rPr lang="en-US" sz="1800" kern="0" dirty="0">
                <a:solidFill>
                  <a:schemeClr val="bg1">
                    <a:lumMod val="10000"/>
                  </a:schemeClr>
                </a:solidFill>
                <a:ea typeface="Open Sans" panose="020B0606030504020204" pitchFamily="34" charset="0"/>
                <a:cs typeface="Open Sans" panose="020B0606030504020204" pitchFamily="34" charset="0"/>
              </a:rPr>
              <a:t> ("Reset zones" </a:t>
            </a:r>
            <a:r>
              <a:rPr lang="en-US" sz="1800" kern="0" dirty="0" err="1">
                <a:solidFill>
                  <a:schemeClr val="bg1">
                    <a:lumMod val="10000"/>
                  </a:schemeClr>
                </a:solidFill>
                <a:ea typeface="Open Sans" panose="020B0606030504020204" pitchFamily="34" charset="0"/>
                <a:cs typeface="Open Sans" panose="020B0606030504020204" pitchFamily="34" charset="0"/>
              </a:rPr>
              <a:t>est</a:t>
            </a:r>
            <a:r>
              <a:rPr lang="en-US" sz="1800" kern="0" dirty="0">
                <a:solidFill>
                  <a:schemeClr val="bg1">
                    <a:lumMod val="10000"/>
                  </a:schemeClr>
                </a:solidFill>
                <a:ea typeface="Open Sans" panose="020B0606030504020204" pitchFamily="34" charset="0"/>
                <a:cs typeface="Open Sans" panose="020B0606030504020204" pitchFamily="34" charset="0"/>
              </a:rPr>
              <a:t> </a:t>
            </a:r>
            <a:r>
              <a:rPr lang="en-US" sz="1800" kern="0" dirty="0" err="1">
                <a:solidFill>
                  <a:schemeClr val="bg1">
                    <a:lumMod val="10000"/>
                  </a:schemeClr>
                </a:solidFill>
                <a:ea typeface="Open Sans" panose="020B0606030504020204" pitchFamily="34" charset="0"/>
                <a:cs typeface="Open Sans" panose="020B0606030504020204" pitchFamily="34" charset="0"/>
              </a:rPr>
              <a:t>réglé</a:t>
            </a:r>
            <a:r>
              <a:rPr lang="en-US" sz="1800" kern="0" dirty="0">
                <a:solidFill>
                  <a:schemeClr val="bg1">
                    <a:lumMod val="10000"/>
                  </a:schemeClr>
                </a:solidFill>
                <a:ea typeface="Open Sans" panose="020B0606030504020204" pitchFamily="34" charset="0"/>
                <a:cs typeface="Open Sans" panose="020B0606030504020204" pitchFamily="34" charset="0"/>
              </a:rPr>
              <a:t> sur "1")</a:t>
            </a:r>
          </a:p>
          <a:p>
            <a:pPr>
              <a:lnSpc>
                <a:spcPct val="150000"/>
              </a:lnSpc>
              <a:defRPr/>
            </a:pPr>
            <a:endParaRPr lang="en-US" sz="18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0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1173003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F13C572-4CE7-475F-A363-1D1B01086777}"/>
              </a:ext>
            </a:extLst>
          </p:cNvPr>
          <p:cNvSpPr/>
          <p:nvPr/>
        </p:nvSpPr>
        <p:spPr>
          <a:xfrm>
            <a:off x="1115616" y="2924944"/>
            <a:ext cx="7632848" cy="1368152"/>
          </a:xfrm>
          <a:prstGeom prst="rect">
            <a:avLst/>
          </a:prstGeom>
        </p:spPr>
        <p:txBody>
          <a:bodyPr/>
          <a:lstStyle/>
          <a:p>
            <a:pPr eaLnBrk="0" hangingPunct="0">
              <a:spcBef>
                <a:spcPct val="20000"/>
              </a:spcBef>
              <a:buClr>
                <a:srgbClr val="369226"/>
              </a:buClr>
              <a:buFont typeface="Wingdings" pitchFamily="2" charset="2"/>
            </a:pPr>
            <a:r>
              <a:rPr lang="en-GB" sz="2800" b="1">
                <a:solidFill>
                  <a:srgbClr val="0C4B9D"/>
                </a:solidFill>
                <a:latin typeface="+mj-lt"/>
                <a:ea typeface="+mj-ea"/>
                <a:cs typeface="+mj-cs"/>
              </a:rPr>
              <a:t> Supplément </a:t>
            </a:r>
            <a:r>
              <a:t> </a:t>
            </a:r>
            <a:r>
              <a:rPr lang="de-DE" sz="2800" b="1">
                <a:solidFill>
                  <a:srgbClr val="0C4B9D"/>
                </a:solidFill>
                <a:latin typeface="+mj-lt"/>
                <a:ea typeface="+mj-ea"/>
                <a:cs typeface="+mj-cs"/>
              </a:rPr>
              <a:t> Information / Annexe informative </a:t>
            </a:r>
            <a:endParaRPr lang="es-ES" sz="2800" b="1" dirty="0">
              <a:solidFill>
                <a:srgbClr val="0C4B9D"/>
              </a:solidFill>
              <a:latin typeface="+mj-lt"/>
              <a:ea typeface="+mj-ea"/>
              <a:cs typeface="+mj-cs"/>
            </a:endParaRPr>
          </a:p>
        </p:txBody>
      </p:sp>
    </p:spTree>
    <p:extLst>
      <p:ext uri="{BB962C8B-B14F-4D97-AF65-F5344CB8AC3E}">
        <p14:creationId xmlns:p14="http://schemas.microsoft.com/office/powerpoint/2010/main" val="13820765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Les capteurs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268760"/>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err="1">
                <a:ea typeface="Open Sans" panose="020B0606030504020204" pitchFamily="34" charset="0"/>
                <a:cs typeface="Open Sans" panose="020B0606030504020204" pitchFamily="34" charset="0"/>
              </a:rPr>
              <a:t>Détecteurs</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automatiques</a:t>
            </a:r>
            <a:r>
              <a:rPr lang="en-US" sz="1800" kern="0" dirty="0">
                <a:ea typeface="Open Sans" panose="020B0606030504020204" pitchFamily="34" charset="0"/>
                <a:cs typeface="Open Sans" panose="020B0606030504020204" pitchFamily="34" charset="0"/>
              </a:rPr>
              <a:t> : </a:t>
            </a:r>
            <a:r>
              <a:rPr lang="en-US" sz="1800" kern="0" dirty="0" err="1">
                <a:solidFill>
                  <a:schemeClr val="tx1"/>
                </a:solidFill>
                <a:ea typeface="Open Sans" panose="020B0606030504020204" pitchFamily="34" charset="0"/>
                <a:cs typeface="Open Sans" panose="020B0606030504020204" pitchFamily="34" charset="0"/>
              </a:rPr>
              <a:t>enregistrez</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une</a:t>
            </a:r>
            <a:r>
              <a:rPr lang="en-US" sz="1800" kern="0" dirty="0">
                <a:solidFill>
                  <a:schemeClr val="tx1"/>
                </a:solidFill>
                <a:ea typeface="Open Sans" panose="020B0606030504020204" pitchFamily="34" charset="0"/>
                <a:cs typeface="Open Sans" panose="020B0606030504020204" pitchFamily="34" charset="0"/>
              </a:rPr>
              <a:t> tentative de rupture </a:t>
            </a:r>
            <a:r>
              <a:rPr lang="en-US" sz="1800" kern="0" dirty="0" err="1">
                <a:solidFill>
                  <a:schemeClr val="tx1"/>
                </a:solidFill>
                <a:ea typeface="Open Sans" panose="020B0606030504020204" pitchFamily="34" charset="0"/>
                <a:cs typeface="Open Sans" panose="020B0606030504020204" pitchFamily="34" charset="0"/>
              </a:rPr>
              <a:t>ou</a:t>
            </a:r>
            <a:r>
              <a:rPr lang="en-US" sz="1800" kern="0" dirty="0">
                <a:solidFill>
                  <a:schemeClr val="tx1"/>
                </a:solidFill>
                <a:ea typeface="Open Sans" panose="020B0606030504020204" pitchFamily="34" charset="0"/>
                <a:cs typeface="Open Sans" panose="020B0606030504020204" pitchFamily="34" charset="0"/>
              </a:rPr>
              <a:t> de sabotage et </a:t>
            </a:r>
            <a:r>
              <a:rPr lang="en-US" sz="1800" kern="0" dirty="0" err="1">
                <a:solidFill>
                  <a:schemeClr val="tx1"/>
                </a:solidFill>
                <a:ea typeface="Open Sans" panose="020B0606030504020204" pitchFamily="34" charset="0"/>
                <a:cs typeface="Open Sans" panose="020B0606030504020204" pitchFamily="34" charset="0"/>
              </a:rPr>
              <a:t>déclenchez</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l'alarme</a:t>
            </a: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dirty="0" err="1">
                <a:ea typeface="Open Sans" panose="020B0606030504020204" pitchFamily="34" charset="0"/>
                <a:cs typeface="Open Sans" panose="020B0606030504020204" pitchFamily="34" charset="0"/>
              </a:rPr>
              <a:t>Détecteurs</a:t>
            </a:r>
            <a:r>
              <a:rPr lang="en-US" sz="1800" kern="0" dirty="0">
                <a:ea typeface="Open Sans" panose="020B0606030504020204" pitchFamily="34" charset="0"/>
                <a:cs typeface="Open Sans" panose="020B0606030504020204" pitchFamily="34" charset="0"/>
              </a:rPr>
              <a:t> non </a:t>
            </a:r>
            <a:r>
              <a:rPr lang="en-US" sz="1800" kern="0" dirty="0" err="1">
                <a:ea typeface="Open Sans" panose="020B0606030504020204" pitchFamily="34" charset="0"/>
                <a:cs typeface="Open Sans" panose="020B0606030504020204" pitchFamily="34" charset="0"/>
              </a:rPr>
              <a:t>automatiques</a:t>
            </a:r>
            <a:r>
              <a:rPr lang="en-US" sz="1800" kern="0" dirty="0">
                <a:ea typeface="Open Sans" panose="020B0606030504020204" pitchFamily="34" charset="0"/>
                <a:cs typeface="Open Sans" panose="020B0606030504020204" pitchFamily="34" charset="0"/>
              </a:rPr>
              <a:t> : </a:t>
            </a:r>
            <a:r>
              <a:rPr lang="en-US" sz="1800" kern="0" dirty="0" err="1">
                <a:solidFill>
                  <a:schemeClr val="tx1"/>
                </a:solidFill>
                <a:ea typeface="Open Sans" panose="020B0606030504020204" pitchFamily="34" charset="0"/>
                <a:cs typeface="Open Sans" panose="020B0606030504020204" pitchFamily="34" charset="0"/>
              </a:rPr>
              <a:t>déclenche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une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alarme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ciblée</a:t>
            </a: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4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GB" sz="1800" dirty="0" err="1">
                <a:latin typeface="Arial" charset="0"/>
              </a:rPr>
              <a:t>Détecteur</a:t>
            </a:r>
            <a:r>
              <a:rPr lang="en-GB" sz="1800" dirty="0">
                <a:latin typeface="Arial" charset="0"/>
              </a:rPr>
              <a:t> </a:t>
            </a:r>
            <a:r>
              <a:rPr lang="en-GB" sz="1800" dirty="0" err="1">
                <a:latin typeface="Arial" charset="0"/>
              </a:rPr>
              <a:t>actif</a:t>
            </a:r>
            <a:r>
              <a:rPr lang="en-GB" sz="1800" dirty="0">
                <a:latin typeface="Arial" charset="0"/>
              </a:rPr>
              <a:t> : </a:t>
            </a:r>
            <a:r>
              <a:rPr lang="en-GB" sz="1800" dirty="0">
                <a:solidFill>
                  <a:schemeClr val="tx1"/>
                </a:solidFill>
                <a:latin typeface="Arial" charset="0"/>
              </a:rPr>
              <a:t>se compose </a:t>
            </a:r>
            <a:r>
              <a:rPr lang="en-GB" sz="1800" dirty="0" err="1">
                <a:solidFill>
                  <a:schemeClr val="tx1"/>
                </a:solidFill>
                <a:latin typeface="Arial" charset="0"/>
              </a:rPr>
              <a:t>principalement</a:t>
            </a:r>
            <a:r>
              <a:rPr lang="en-GB" sz="1800" dirty="0">
                <a:solidFill>
                  <a:schemeClr val="tx1"/>
                </a:solidFill>
                <a:latin typeface="Arial" charset="0"/>
              </a:rPr>
              <a:t> d'un </a:t>
            </a:r>
            <a:r>
              <a:rPr lang="en-GB" sz="1800" dirty="0" err="1">
                <a:solidFill>
                  <a:schemeClr val="tx1"/>
                </a:solidFill>
                <a:latin typeface="Arial" charset="0"/>
              </a:rPr>
              <a:t>émetteur</a:t>
            </a:r>
            <a:r>
              <a:rPr lang="en-GB" sz="1800" dirty="0">
                <a:solidFill>
                  <a:schemeClr val="tx1"/>
                </a:solidFill>
                <a:latin typeface="Arial" charset="0"/>
              </a:rPr>
              <a:t> et d'un </a:t>
            </a:r>
            <a:r>
              <a:rPr lang="en-GB" sz="1800" dirty="0" err="1">
                <a:solidFill>
                  <a:schemeClr val="tx1"/>
                </a:solidFill>
                <a:latin typeface="Arial" charset="0"/>
              </a:rPr>
              <a:t>récepteur</a:t>
            </a:r>
            <a:r>
              <a:rPr lang="en-GB" sz="1800" dirty="0">
                <a:solidFill>
                  <a:schemeClr val="tx1"/>
                </a:solidFill>
                <a:latin typeface="Arial" charset="0"/>
              </a:rPr>
              <a:t>. Le </a:t>
            </a:r>
            <a:r>
              <a:rPr lang="en-GB" sz="1800" dirty="0" err="1">
                <a:solidFill>
                  <a:schemeClr val="tx1"/>
                </a:solidFill>
                <a:latin typeface="Arial" charset="0"/>
              </a:rPr>
              <a:t>détecteur</a:t>
            </a:r>
            <a:r>
              <a:rPr lang="en-GB" sz="1800" dirty="0">
                <a:solidFill>
                  <a:schemeClr val="tx1"/>
                </a:solidFill>
                <a:latin typeface="Arial" charset="0"/>
              </a:rPr>
              <a:t> se </a:t>
            </a:r>
            <a:r>
              <a:rPr lang="en-GB" sz="1800" dirty="0" err="1">
                <a:solidFill>
                  <a:schemeClr val="tx1"/>
                </a:solidFill>
                <a:latin typeface="Arial" charset="0"/>
              </a:rPr>
              <a:t>surveille</a:t>
            </a:r>
            <a:r>
              <a:rPr lang="en-GB" sz="1800" dirty="0">
                <a:solidFill>
                  <a:schemeClr val="tx1"/>
                </a:solidFill>
                <a:latin typeface="Arial" charset="0"/>
              </a:rPr>
              <a:t> </a:t>
            </a:r>
            <a:r>
              <a:rPr lang="en-GB" sz="1800" dirty="0" err="1">
                <a:solidFill>
                  <a:schemeClr val="tx1"/>
                </a:solidFill>
                <a:latin typeface="Arial" charset="0"/>
              </a:rPr>
              <a:t>lui-même</a:t>
            </a:r>
            <a:r>
              <a:rPr lang="en-GB" sz="1800" dirty="0">
                <a:solidFill>
                  <a:schemeClr val="tx1"/>
                </a:solidFill>
                <a:latin typeface="Arial" charset="0"/>
              </a:rPr>
              <a:t> et </a:t>
            </a:r>
            <a:r>
              <a:rPr lang="en-GB" sz="1800" dirty="0" err="1">
                <a:solidFill>
                  <a:schemeClr val="tx1"/>
                </a:solidFill>
                <a:latin typeface="Arial" charset="0"/>
              </a:rPr>
              <a:t>déclenche</a:t>
            </a:r>
            <a:r>
              <a:rPr lang="en-GB" sz="1800" dirty="0">
                <a:solidFill>
                  <a:schemeClr val="tx1"/>
                </a:solidFill>
                <a:latin typeface="Arial" charset="0"/>
              </a:rPr>
              <a:t> </a:t>
            </a:r>
            <a:r>
              <a:rPr lang="en-GB" sz="1800" dirty="0" err="1">
                <a:solidFill>
                  <a:schemeClr val="tx1"/>
                </a:solidFill>
                <a:latin typeface="Arial" charset="0"/>
              </a:rPr>
              <a:t>une</a:t>
            </a:r>
            <a:r>
              <a:rPr lang="en-GB" sz="1800" dirty="0">
                <a:solidFill>
                  <a:schemeClr val="tx1"/>
                </a:solidFill>
                <a:latin typeface="Arial" charset="0"/>
              </a:rPr>
              <a:t> </a:t>
            </a:r>
            <a:r>
              <a:rPr lang="en-GB" sz="1800" dirty="0" err="1">
                <a:solidFill>
                  <a:schemeClr val="tx1"/>
                </a:solidFill>
                <a:latin typeface="Arial" charset="0"/>
              </a:rPr>
              <a:t>alarme</a:t>
            </a:r>
            <a:r>
              <a:rPr lang="en-GB" sz="1800" dirty="0">
                <a:solidFill>
                  <a:schemeClr val="tx1"/>
                </a:solidFill>
                <a:latin typeface="Arial" charset="0"/>
              </a:rPr>
              <a:t> </a:t>
            </a:r>
            <a:r>
              <a:rPr lang="en-GB" sz="1800" dirty="0" err="1">
                <a:solidFill>
                  <a:schemeClr val="tx1"/>
                </a:solidFill>
                <a:latin typeface="Arial" charset="0"/>
              </a:rPr>
              <a:t>en</a:t>
            </a:r>
            <a:r>
              <a:rPr lang="en-GB" sz="1800" dirty="0">
                <a:solidFill>
                  <a:schemeClr val="tx1"/>
                </a:solidFill>
                <a:latin typeface="Arial" charset="0"/>
              </a:rPr>
              <a:t> </a:t>
            </a:r>
            <a:r>
              <a:rPr lang="en-GB" sz="1800" dirty="0" err="1">
                <a:solidFill>
                  <a:schemeClr val="tx1"/>
                </a:solidFill>
                <a:latin typeface="Arial" charset="0"/>
              </a:rPr>
              <a:t>cas</a:t>
            </a:r>
            <a:r>
              <a:rPr lang="en-GB" sz="1800" dirty="0">
                <a:solidFill>
                  <a:schemeClr val="tx1"/>
                </a:solidFill>
                <a:latin typeface="Arial" charset="0"/>
              </a:rPr>
              <a:t> </a:t>
            </a:r>
            <a:r>
              <a:rPr lang="en-GB" sz="1800" dirty="0" err="1">
                <a:solidFill>
                  <a:schemeClr val="tx1"/>
                </a:solidFill>
                <a:latin typeface="Arial" charset="0"/>
              </a:rPr>
              <a:t>d'échec</a:t>
            </a:r>
            <a:r>
              <a:rPr lang="en-GB" sz="1800" dirty="0">
                <a:solidFill>
                  <a:schemeClr val="tx1"/>
                </a:solidFill>
                <a:latin typeface="Arial" charset="0"/>
              </a:rPr>
              <a:t> de </a:t>
            </a:r>
            <a:r>
              <a:rPr lang="en-GB" sz="1800" dirty="0" err="1">
                <a:solidFill>
                  <a:schemeClr val="tx1"/>
                </a:solidFill>
                <a:latin typeface="Arial" charset="0"/>
              </a:rPr>
              <a:t>l'émetteur</a:t>
            </a:r>
            <a:r>
              <a:rPr lang="en-GB" sz="1800" dirty="0">
                <a:solidFill>
                  <a:schemeClr val="tx1"/>
                </a:solidFill>
                <a:latin typeface="Arial" charset="0"/>
              </a:rPr>
              <a:t> </a:t>
            </a:r>
            <a:r>
              <a:rPr lang="en-GB" sz="1800" dirty="0" err="1">
                <a:solidFill>
                  <a:schemeClr val="tx1"/>
                </a:solidFill>
                <a:latin typeface="Arial" charset="0"/>
              </a:rPr>
              <a:t>ou</a:t>
            </a:r>
            <a:r>
              <a:rPr lang="en-GB" sz="1800" dirty="0">
                <a:solidFill>
                  <a:schemeClr val="tx1"/>
                </a:solidFill>
                <a:latin typeface="Arial" charset="0"/>
              </a:rPr>
              <a:t> du </a:t>
            </a:r>
            <a:r>
              <a:rPr lang="en-GB" sz="1800" dirty="0" err="1">
                <a:solidFill>
                  <a:schemeClr val="tx1"/>
                </a:solidFill>
                <a:latin typeface="Arial" charset="0"/>
              </a:rPr>
              <a:t>récepteur</a:t>
            </a:r>
            <a:endParaRPr lang="en-GB" sz="1800" dirty="0">
              <a:solidFill>
                <a:schemeClr val="tx1"/>
              </a:solidFill>
              <a:latin typeface="Arial" charset="0"/>
            </a:endParaRPr>
          </a:p>
          <a:p>
            <a:pPr>
              <a:lnSpc>
                <a:spcPct val="150000"/>
              </a:lnSpc>
              <a:defRPr/>
            </a:pPr>
            <a:r>
              <a:rPr lang="en-US" sz="1800" kern="0" dirty="0" err="1">
                <a:ea typeface="Open Sans" panose="020B0606030504020204" pitchFamily="34" charset="0"/>
                <a:cs typeface="Open Sans" panose="020B0606030504020204" pitchFamily="34" charset="0"/>
              </a:rPr>
              <a:t>Détecteur</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passif</a:t>
            </a:r>
            <a:r>
              <a:rPr lang="en-US" sz="1800" kern="0" dirty="0">
                <a:ea typeface="Open Sans" panose="020B0606030504020204" pitchFamily="34" charset="0"/>
                <a:cs typeface="Open Sans" panose="020B0606030504020204" pitchFamily="34" charset="0"/>
              </a:rPr>
              <a:t> : </a:t>
            </a:r>
            <a:r>
              <a:rPr lang="en-US" sz="1800" kern="0" dirty="0" err="1">
                <a:solidFill>
                  <a:schemeClr val="tx1"/>
                </a:solidFill>
                <a:ea typeface="Open Sans" panose="020B0606030504020204" pitchFamily="34" charset="0"/>
                <a:cs typeface="Open Sans" panose="020B0606030504020204" pitchFamily="34" charset="0"/>
              </a:rPr>
              <a:t>enregistre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certaines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valeurs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ou</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leur</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changement</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valeur</a:t>
            </a:r>
            <a:r>
              <a:rPr lang="en-US" sz="1800" kern="0" dirty="0">
                <a:solidFill>
                  <a:schemeClr val="tx1"/>
                </a:solidFill>
                <a:ea typeface="Open Sans" panose="020B0606030504020204" pitchFamily="34" charset="0"/>
                <a:cs typeface="Open Sans" panose="020B0606030504020204" pitchFamily="34" charset="0"/>
              </a:rPr>
              <a:t> pour </a:t>
            </a:r>
            <a:r>
              <a:rPr lang="en-US" sz="1800" kern="0" dirty="0" err="1">
                <a:solidFill>
                  <a:schemeClr val="tx1"/>
                </a:solidFill>
                <a:ea typeface="Open Sans" panose="020B0606030504020204" pitchFamily="34" charset="0"/>
                <a:cs typeface="Open Sans" panose="020B0606030504020204" pitchFamily="34" charset="0"/>
              </a:rPr>
              <a:t>envoyer</a:t>
            </a:r>
            <a:r>
              <a:rPr lang="en-US" sz="1800" kern="0" dirty="0">
                <a:solidFill>
                  <a:schemeClr val="tx1"/>
                </a:solidFill>
                <a:ea typeface="Open Sans" panose="020B0606030504020204" pitchFamily="34" charset="0"/>
                <a:cs typeface="Open Sans" panose="020B0606030504020204" pitchFamily="34" charset="0"/>
              </a:rPr>
              <a:t> un signal à </a:t>
            </a:r>
            <a:r>
              <a:rPr lang="en-US" sz="1800" kern="0" dirty="0" err="1">
                <a:solidFill>
                  <a:schemeClr val="tx1"/>
                </a:solidFill>
                <a:ea typeface="Open Sans" panose="020B0606030504020204" pitchFamily="34" charset="0"/>
                <a:cs typeface="Open Sans" panose="020B0606030504020204" pitchFamily="34" charset="0"/>
              </a:rPr>
              <a:t>l'unité</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commande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d'alarme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lorsque</a:t>
            </a:r>
            <a:r>
              <a:rPr lang="en-US" sz="1800" kern="0" dirty="0">
                <a:solidFill>
                  <a:schemeClr val="tx1"/>
                </a:solidFill>
                <a:ea typeface="Open Sans" panose="020B0606030504020204" pitchFamily="34" charset="0"/>
                <a:cs typeface="Open Sans" panose="020B0606030504020204" pitchFamily="34" charset="0"/>
              </a:rPr>
              <a:t> le </a:t>
            </a:r>
            <a:r>
              <a:rPr lang="en-US" sz="1800" kern="0" dirty="0" err="1">
                <a:solidFill>
                  <a:schemeClr val="tx1"/>
                </a:solidFill>
                <a:ea typeface="Open Sans" panose="020B0606030504020204" pitchFamily="34" charset="0"/>
                <a:cs typeface="Open Sans" panose="020B0606030504020204" pitchFamily="34" charset="0"/>
              </a:rPr>
              <a:t>seuil</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est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dépassé</a:t>
            </a:r>
            <a:r>
              <a:rPr lang="en-US" sz="1800" kern="0" dirty="0">
                <a:solidFill>
                  <a:schemeClr val="tx1"/>
                </a:solidFill>
                <a:ea typeface="Open Sans" panose="020B0606030504020204" pitchFamily="34" charset="0"/>
                <a:cs typeface="Open Sans" panose="020B0606030504020204" pitchFamily="34" charset="0"/>
              </a:rPr>
              <a:t>. Un signal de </a:t>
            </a:r>
            <a:r>
              <a:rPr lang="en-US" sz="1800" kern="0" dirty="0" err="1">
                <a:solidFill>
                  <a:schemeClr val="tx1"/>
                </a:solidFill>
                <a:ea typeface="Open Sans" panose="020B0606030504020204" pitchFamily="34" charset="0"/>
                <a:cs typeface="Open Sans" panose="020B0606030504020204" pitchFamily="34" charset="0"/>
              </a:rPr>
              <a:t>défaut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n'est</a:t>
            </a:r>
            <a:r>
              <a:rPr lang="en-US" sz="1800" kern="0" dirty="0">
                <a:solidFill>
                  <a:schemeClr val="tx1"/>
                </a:solidFill>
                <a:ea typeface="Open Sans" panose="020B0606030504020204" pitchFamily="34" charset="0"/>
                <a:cs typeface="Open Sans" panose="020B0606030504020204" pitchFamily="34" charset="0"/>
              </a:rPr>
              <a:t> pas </a:t>
            </a:r>
            <a:r>
              <a:rPr lang="en-US" sz="1800" kern="0" dirty="0" err="1">
                <a:solidFill>
                  <a:schemeClr val="tx1"/>
                </a:solidFill>
                <a:ea typeface="Open Sans" panose="020B0606030504020204" pitchFamily="34" charset="0"/>
                <a:cs typeface="Open Sans" panose="020B0606030504020204" pitchFamily="34" charset="0"/>
              </a:rPr>
              <a:t>émis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en</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cas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d'échec</a:t>
            </a:r>
            <a:endParaRPr lang="en-US" sz="1800" kern="0" dirty="0">
              <a:solidFill>
                <a:schemeClr val="tx1"/>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0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231979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Capteurs par </a:t>
            </a:r>
            <a:r>
              <a:rPr lang="en-GB"/>
              <a:t>principes physiques</a:t>
            </a:r>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340768"/>
            <a:ext cx="7920360"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ea typeface="Open Sans" panose="020B0606030504020204" pitchFamily="34" charset="0"/>
                <a:cs typeface="Open Sans" panose="020B0606030504020204" pitchFamily="34" charset="0"/>
              </a:rPr>
              <a:t> Les </a:t>
            </a:r>
            <a:r>
              <a:rPr lang="en-US" sz="1800" kern="0" dirty="0" err="1">
                <a:ea typeface="Open Sans" panose="020B0606030504020204" pitchFamily="34" charset="0"/>
                <a:cs typeface="Open Sans" panose="020B0606030504020204" pitchFamily="34" charset="0"/>
              </a:rPr>
              <a:t>détecteurs</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électroacoustiques</a:t>
            </a:r>
            <a:r>
              <a:rPr lang="en-US" sz="1800" kern="0" dirty="0">
                <a:ea typeface="Open Sans" panose="020B0606030504020204" pitchFamily="34" charset="0"/>
                <a:cs typeface="Open Sans" panose="020B0606030504020204" pitchFamily="34" charset="0"/>
              </a:rPr>
              <a:t> </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utilisent</a:t>
            </a:r>
            <a:r>
              <a:rPr lang="en-US" sz="1800" kern="0" dirty="0">
                <a:solidFill>
                  <a:schemeClr val="tx1"/>
                </a:solidFill>
                <a:ea typeface="Open Sans" panose="020B0606030504020204" pitchFamily="34" charset="0"/>
                <a:cs typeface="Open Sans" panose="020B0606030504020204" pitchFamily="34" charset="0"/>
              </a:rPr>
              <a:t> des </a:t>
            </a:r>
            <a:r>
              <a:rPr lang="en-US" sz="1800" kern="0" dirty="0" err="1">
                <a:solidFill>
                  <a:schemeClr val="tx1"/>
                </a:solidFill>
                <a:ea typeface="Open Sans" panose="020B0606030504020204" pitchFamily="34" charset="0"/>
                <a:cs typeface="Open Sans" panose="020B0606030504020204" pitchFamily="34" charset="0"/>
              </a:rPr>
              <a:t>ondes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sonores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dont</a:t>
            </a:r>
            <a:r>
              <a:rPr lang="en-US" sz="1800" kern="0" dirty="0">
                <a:solidFill>
                  <a:schemeClr val="tx1"/>
                </a:solidFill>
                <a:ea typeface="Open Sans" panose="020B0606030504020204" pitchFamily="34" charset="0"/>
                <a:cs typeface="Open Sans" panose="020B0606030504020204" pitchFamily="34" charset="0"/>
              </a:rPr>
              <a:t> la </a:t>
            </a:r>
            <a:r>
              <a:rPr lang="en-US" sz="1800" kern="0" dirty="0" err="1">
                <a:solidFill>
                  <a:schemeClr val="tx1"/>
                </a:solidFill>
                <a:ea typeface="Open Sans" panose="020B0606030504020204" pitchFamily="34" charset="0"/>
                <a:cs typeface="Open Sans" panose="020B0606030504020204" pitchFamily="34" charset="0"/>
              </a:rPr>
              <a:t>fréquence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dépend</a:t>
            </a:r>
            <a:r>
              <a:rPr lang="en-US" sz="1800" kern="0" dirty="0">
                <a:solidFill>
                  <a:schemeClr val="tx1"/>
                </a:solidFill>
                <a:ea typeface="Open Sans" panose="020B0606030504020204" pitchFamily="34" charset="0"/>
                <a:cs typeface="Open Sans" panose="020B0606030504020204" pitchFamily="34" charset="0"/>
              </a:rPr>
              <a:t> de la conception et de </a:t>
            </a:r>
            <a:r>
              <a:rPr lang="en-US" sz="1800" kern="0" dirty="0" err="1">
                <a:solidFill>
                  <a:schemeClr val="tx1"/>
                </a:solidFill>
                <a:ea typeface="Open Sans" panose="020B0606030504020204" pitchFamily="34" charset="0"/>
                <a:cs typeface="Open Sans" panose="020B0606030504020204" pitchFamily="34" charset="0"/>
              </a:rPr>
              <a:t>l'application</a:t>
            </a:r>
            <a:r>
              <a:rPr lang="en-US" sz="1800" kern="0" dirty="0">
                <a:solidFill>
                  <a:schemeClr val="tx1"/>
                </a:solidFill>
                <a:ea typeface="Open Sans" panose="020B0606030504020204" pitchFamily="34" charset="0"/>
                <a:cs typeface="Open Sans" panose="020B0606030504020204" pitchFamily="34" charset="0"/>
              </a:rPr>
              <a:t> </a:t>
            </a:r>
            <a:r>
              <a:rPr lang="en-US" sz="1800" kern="0" dirty="0">
                <a:ea typeface="Open Sans" panose="020B0606030504020204" pitchFamily="34" charset="0"/>
                <a:cs typeface="Open Sans" panose="020B0606030504020204" pitchFamily="34" charset="0"/>
              </a:rPr>
              <a:t> </a:t>
            </a:r>
          </a:p>
          <a:p>
            <a:pPr>
              <a:lnSpc>
                <a:spcPct val="150000"/>
              </a:lnSpc>
              <a:defRPr/>
            </a:pPr>
            <a:r>
              <a:rPr lang="en-US" sz="1800" kern="0" dirty="0">
                <a:ea typeface="Open Sans" panose="020B0606030504020204" pitchFamily="34" charset="0"/>
                <a:cs typeface="Open Sans" panose="020B0606030504020204" pitchFamily="34" charset="0"/>
              </a:rPr>
              <a:t> Les </a:t>
            </a:r>
            <a:r>
              <a:rPr lang="en-US" sz="1800" kern="0" dirty="0" err="1">
                <a:ea typeface="Open Sans" panose="020B0606030504020204" pitchFamily="34" charset="0"/>
                <a:cs typeface="Open Sans" panose="020B0606030504020204" pitchFamily="34" charset="0"/>
              </a:rPr>
              <a:t>détecteurs</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électro-optiques</a:t>
            </a:r>
            <a:r>
              <a:rPr lang="en-US" sz="1800" kern="0" dirty="0">
                <a:ea typeface="Open Sans" panose="020B0606030504020204" pitchFamily="34" charset="0"/>
                <a:cs typeface="Open Sans" panose="020B0606030504020204" pitchFamily="34" charset="0"/>
              </a:rPr>
              <a:t> </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utilisent</a:t>
            </a:r>
            <a:r>
              <a:rPr lang="en-US" sz="1800" kern="0" dirty="0">
                <a:solidFill>
                  <a:schemeClr val="tx1"/>
                </a:solidFill>
                <a:ea typeface="Open Sans" panose="020B0606030504020204" pitchFamily="34" charset="0"/>
                <a:cs typeface="Open Sans" panose="020B0606030504020204" pitchFamily="34" charset="0"/>
              </a:rPr>
              <a:t> des rayons </a:t>
            </a:r>
            <a:r>
              <a:rPr lang="en-US" sz="1800" kern="0" dirty="0" err="1">
                <a:solidFill>
                  <a:schemeClr val="tx1"/>
                </a:solidFill>
                <a:ea typeface="Open Sans" panose="020B0606030504020204" pitchFamily="34" charset="0"/>
                <a:cs typeface="Open Sans" panose="020B0606030504020204" pitchFamily="34" charset="0"/>
              </a:rPr>
              <a:t>thermiques</a:t>
            </a:r>
            <a:r>
              <a:rPr lang="en-US" sz="1800" kern="0" dirty="0">
                <a:solidFill>
                  <a:schemeClr val="tx1"/>
                </a:solidFill>
                <a:ea typeface="Open Sans" panose="020B0606030504020204" pitchFamily="34" charset="0"/>
                <a:cs typeface="Open Sans" panose="020B0606030504020204" pitchFamily="34" charset="0"/>
              </a:rPr>
              <a:t> sous </a:t>
            </a:r>
            <a:r>
              <a:rPr lang="en-US" sz="1800" kern="0" dirty="0" err="1">
                <a:solidFill>
                  <a:schemeClr val="tx1"/>
                </a:solidFill>
                <a:ea typeface="Open Sans" panose="020B0606030504020204" pitchFamily="34" charset="0"/>
                <a:cs typeface="Open Sans" panose="020B0606030504020204" pitchFamily="34" charset="0"/>
              </a:rPr>
              <a:t>forme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d'infrarouge</a:t>
            </a:r>
            <a:r>
              <a:rPr lang="en-US" sz="1800" kern="0" dirty="0">
                <a:solidFill>
                  <a:schemeClr val="tx1"/>
                </a:solidFill>
                <a:ea typeface="Open Sans" panose="020B0606030504020204" pitchFamily="34" charset="0"/>
                <a:cs typeface="Open Sans" panose="020B0606030504020204" pitchFamily="34" charset="0"/>
              </a:rPr>
              <a:t> </a:t>
            </a:r>
            <a:r>
              <a:rPr lang="en-US" sz="1800" kern="0" dirty="0">
                <a:ea typeface="Open Sans" panose="020B0606030504020204" pitchFamily="34" charset="0"/>
                <a:cs typeface="Open Sans" panose="020B0606030504020204" pitchFamily="34" charset="0"/>
              </a:rPr>
              <a:t> </a:t>
            </a:r>
          </a:p>
          <a:p>
            <a:pPr>
              <a:lnSpc>
                <a:spcPct val="150000"/>
              </a:lnSpc>
              <a:defRPr/>
            </a:pPr>
            <a:r>
              <a:rPr lang="en-US" sz="1800" kern="0" dirty="0">
                <a:ea typeface="Open Sans" panose="020B0606030504020204" pitchFamily="34" charset="0"/>
                <a:cs typeface="Open Sans" panose="020B0606030504020204" pitchFamily="34" charset="0"/>
              </a:rPr>
              <a:t> Les </a:t>
            </a:r>
            <a:r>
              <a:rPr lang="en-US" sz="1800" kern="0" dirty="0" err="1">
                <a:ea typeface="Open Sans" panose="020B0606030504020204" pitchFamily="34" charset="0"/>
                <a:cs typeface="Open Sans" panose="020B0606030504020204" pitchFamily="34" charset="0"/>
              </a:rPr>
              <a:t>détecteurs</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électriques</a:t>
            </a:r>
            <a:r>
              <a:rPr lang="en-US" sz="1800" kern="0" dirty="0">
                <a:ea typeface="Open Sans" panose="020B0606030504020204" pitchFamily="34" charset="0"/>
                <a:cs typeface="Open Sans" panose="020B0606030504020204" pitchFamily="34" charset="0"/>
              </a:rPr>
              <a:t> </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utilisent</a:t>
            </a:r>
            <a:r>
              <a:rPr lang="en-US" sz="1800" kern="0" dirty="0">
                <a:solidFill>
                  <a:schemeClr val="tx1"/>
                </a:solidFill>
                <a:ea typeface="Open Sans" panose="020B0606030504020204" pitchFamily="34" charset="0"/>
                <a:cs typeface="Open Sans" panose="020B0606030504020204" pitchFamily="34" charset="0"/>
              </a:rPr>
              <a:t> des </a:t>
            </a:r>
            <a:r>
              <a:rPr lang="en-US" sz="1800" kern="0" dirty="0" err="1">
                <a:solidFill>
                  <a:schemeClr val="tx1"/>
                </a:solidFill>
                <a:ea typeface="Open Sans" panose="020B0606030504020204" pitchFamily="34" charset="0"/>
                <a:cs typeface="Open Sans" panose="020B0606030504020204" pitchFamily="34" charset="0"/>
              </a:rPr>
              <a:t>ondes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électromagnétiques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ou</a:t>
            </a:r>
            <a:r>
              <a:rPr lang="en-US" sz="1800" kern="0" dirty="0">
                <a:solidFill>
                  <a:schemeClr val="tx1"/>
                </a:solidFill>
                <a:ea typeface="Open Sans" panose="020B0606030504020204" pitchFamily="34" charset="0"/>
                <a:cs typeface="Open Sans" panose="020B0606030504020204" pitchFamily="34" charset="0"/>
              </a:rPr>
              <a:t> des </a:t>
            </a:r>
            <a:r>
              <a:rPr lang="en-US" sz="1800" kern="0" dirty="0" err="1">
                <a:solidFill>
                  <a:schemeClr val="tx1"/>
                </a:solidFill>
                <a:ea typeface="Open Sans" panose="020B0606030504020204" pitchFamily="34" charset="0"/>
                <a:cs typeface="Open Sans" panose="020B0606030504020204" pitchFamily="34" charset="0"/>
              </a:rPr>
              <a:t>changements</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capacité</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électrique</a:t>
            </a:r>
            <a:r>
              <a:rPr lang="en-US" sz="1800" kern="0" dirty="0">
                <a:solidFill>
                  <a:schemeClr val="tx1"/>
                </a:solidFill>
                <a:ea typeface="Open Sans" panose="020B0606030504020204" pitchFamily="34" charset="0"/>
                <a:cs typeface="Open Sans" panose="020B0606030504020204" pitchFamily="34" charset="0"/>
              </a:rPr>
              <a:t> </a:t>
            </a:r>
            <a:r>
              <a:rPr lang="en-US" sz="1800" kern="0" dirty="0">
                <a:ea typeface="Open Sans" panose="020B0606030504020204" pitchFamily="34" charset="0"/>
                <a:cs typeface="Open Sans" panose="020B0606030504020204" pitchFamily="34" charset="0"/>
              </a:rPr>
              <a:t> </a:t>
            </a:r>
          </a:p>
          <a:p>
            <a:pPr>
              <a:lnSpc>
                <a:spcPct val="150000"/>
              </a:lnSpc>
              <a:defRPr/>
            </a:pPr>
            <a:r>
              <a:rPr lang="en-US" sz="1800" kern="0" dirty="0">
                <a:ea typeface="Open Sans" panose="020B0606030504020204" pitchFamily="34" charset="0"/>
                <a:cs typeface="Open Sans" panose="020B0606030504020204" pitchFamily="34" charset="0"/>
              </a:rPr>
              <a:t>Les </a:t>
            </a:r>
            <a:r>
              <a:rPr lang="en-US" sz="1800" kern="0" dirty="0" err="1">
                <a:ea typeface="Open Sans" panose="020B0606030504020204" pitchFamily="34" charset="0"/>
                <a:cs typeface="Open Sans" panose="020B0606030504020204" pitchFamily="34" charset="0"/>
              </a:rPr>
              <a:t>détecteurs</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électro-mécaniques</a:t>
            </a:r>
            <a:r>
              <a:rPr lang="en-US" sz="1800" kern="0" dirty="0">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sont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divisés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en</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fonction</a:t>
            </a:r>
            <a:r>
              <a:rPr lang="en-US" sz="1800" kern="0" dirty="0">
                <a:solidFill>
                  <a:schemeClr val="tx1"/>
                </a:solidFill>
                <a:ea typeface="Open Sans" panose="020B0606030504020204" pitchFamily="34" charset="0"/>
                <a:cs typeface="Open Sans" panose="020B0606030504020204" pitchFamily="34" charset="0"/>
              </a:rPr>
              <a:t> des </a:t>
            </a:r>
            <a:r>
              <a:rPr lang="en-US" sz="1800" kern="0" dirty="0" err="1">
                <a:solidFill>
                  <a:schemeClr val="tx1"/>
                </a:solidFill>
                <a:ea typeface="Open Sans" panose="020B0606030504020204" pitchFamily="34" charset="0"/>
                <a:cs typeface="Open Sans" panose="020B0606030504020204" pitchFamily="34" charset="0"/>
              </a:rPr>
              <a:t>différents</a:t>
            </a:r>
            <a:r>
              <a:rPr lang="en-US" sz="1800" kern="0" dirty="0">
                <a:solidFill>
                  <a:schemeClr val="tx1"/>
                </a:solidFill>
                <a:ea typeface="Open Sans" panose="020B0606030504020204" pitchFamily="34" charset="0"/>
                <a:cs typeface="Open Sans" panose="020B0606030504020204" pitchFamily="34" charset="0"/>
              </a:rPr>
              <a:t> types de contacts</a:t>
            </a:r>
          </a:p>
          <a:p>
            <a:pPr marL="0" indent="0">
              <a:lnSpc>
                <a:spcPct val="150000"/>
              </a:lnSpc>
              <a:buNone/>
              <a:defRPr/>
            </a:pPr>
            <a:endParaRPr lang="en-US" sz="1400" kern="0" dirty="0">
              <a:solidFill>
                <a:schemeClr val="tx1"/>
              </a:solidFill>
              <a:ea typeface="Open Sans" panose="020B0606030504020204" pitchFamily="34" charset="0"/>
              <a:cs typeface="Open Sans" panose="020B0606030504020204" pitchFamily="34" charset="0"/>
            </a:endParaRPr>
          </a:p>
          <a:p>
            <a:pPr marL="0" indent="0">
              <a:lnSpc>
                <a:spcPct val="150000"/>
              </a:lnSpc>
              <a:buNone/>
              <a:defRPr/>
            </a:pPr>
            <a:r>
              <a:rPr lang="en-US" sz="1800" kern="0" dirty="0">
                <a:ea typeface="Open Sans" panose="020B0606030504020204" pitchFamily="34" charset="0"/>
                <a:cs typeface="Open Sans" panose="020B0606030504020204" pitchFamily="34" charset="0"/>
              </a:rPr>
              <a:t>Il </a:t>
            </a:r>
            <a:r>
              <a:rPr lang="en-US" sz="1800" kern="0" dirty="0" err="1">
                <a:ea typeface="Open Sans" panose="020B0606030504020204" pitchFamily="34" charset="0"/>
                <a:cs typeface="Open Sans" panose="020B0606030504020204" pitchFamily="34" charset="0"/>
              </a:rPr>
              <a:t>est</a:t>
            </a:r>
            <a:r>
              <a:rPr lang="en-US" sz="1800" kern="0" dirty="0">
                <a:ea typeface="Open Sans" panose="020B0606030504020204" pitchFamily="34" charset="0"/>
                <a:cs typeface="Open Sans" panose="020B0606030504020204" pitchFamily="34" charset="0"/>
              </a:rPr>
              <a:t> possible de combiner </a:t>
            </a:r>
            <a:r>
              <a:rPr lang="en-US" sz="1800" kern="0" dirty="0" err="1">
                <a:ea typeface="Open Sans" panose="020B0606030504020204" pitchFamily="34" charset="0"/>
                <a:cs typeface="Open Sans" panose="020B0606030504020204" pitchFamily="34" charset="0"/>
              </a:rPr>
              <a:t>différents</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principes</a:t>
            </a:r>
            <a:r>
              <a:rPr lang="en-US" sz="1800" kern="0" dirty="0">
                <a:ea typeface="Open Sans" panose="020B0606030504020204" pitchFamily="34" charset="0"/>
                <a:cs typeface="Open Sans" panose="020B0606030504020204" pitchFamily="34" charset="0"/>
              </a:rPr>
              <a:t> physiques dans un </a:t>
            </a:r>
            <a:r>
              <a:rPr lang="en-US" sz="1800" kern="0" dirty="0" err="1">
                <a:ea typeface="Open Sans" panose="020B0606030504020204" pitchFamily="34" charset="0"/>
                <a:cs typeface="Open Sans" panose="020B0606030504020204" pitchFamily="34" charset="0"/>
              </a:rPr>
              <a:t>détecteur</a:t>
            </a:r>
            <a:endParaRPr lang="en-US" sz="18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9695032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err="1"/>
              <a:t>L'unité</a:t>
            </a:r>
            <a:r>
              <a:rPr lang="en-US" dirty="0"/>
              <a:t> de </a:t>
            </a:r>
            <a:r>
              <a:rPr lang="en-US" dirty="0" err="1"/>
              <a:t>contrôle</a:t>
            </a:r>
            <a:r>
              <a:rPr lang="en-US" dirty="0"/>
              <a:t> </a:t>
            </a:r>
            <a:r>
              <a:rPr lang="en-US" dirty="0" err="1"/>
              <a:t>d'alarme</a:t>
            </a:r>
            <a:r>
              <a:rPr lang="en-US" dirty="0"/>
              <a:t> intrusion</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340768"/>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err="1">
                <a:solidFill>
                  <a:schemeClr val="tx1"/>
                </a:solidFill>
                <a:ea typeface="Open Sans" panose="020B0606030504020204" pitchFamily="34" charset="0"/>
                <a:cs typeface="Open Sans" panose="020B0606030504020204" pitchFamily="34" charset="0"/>
              </a:rPr>
              <a:t>Évalue</a:t>
            </a:r>
            <a:r>
              <a:rPr lang="en-US" sz="1800" kern="0" dirty="0">
                <a:solidFill>
                  <a:schemeClr val="tx1"/>
                </a:solidFill>
                <a:ea typeface="Open Sans" panose="020B0606030504020204" pitchFamily="34" charset="0"/>
                <a:cs typeface="Open Sans" panose="020B0606030504020204" pitchFamily="34" charset="0"/>
              </a:rPr>
              <a:t> les </a:t>
            </a:r>
            <a:r>
              <a:rPr lang="en-US" sz="1800" kern="0" dirty="0" err="1">
                <a:solidFill>
                  <a:schemeClr val="tx1"/>
                </a:solidFill>
                <a:ea typeface="Open Sans" panose="020B0606030504020204" pitchFamily="34" charset="0"/>
                <a:cs typeface="Open Sans" panose="020B0606030504020204" pitchFamily="34" charset="0"/>
              </a:rPr>
              <a:t>signaux</a:t>
            </a:r>
            <a:r>
              <a:rPr lang="en-US" sz="1800" kern="0" dirty="0">
                <a:solidFill>
                  <a:schemeClr val="tx1"/>
                </a:solidFill>
                <a:ea typeface="Open Sans" panose="020B0606030504020204" pitchFamily="34" charset="0"/>
                <a:cs typeface="Open Sans" panose="020B0606030504020204" pitchFamily="34" charset="0"/>
              </a:rPr>
              <a:t> des </a:t>
            </a:r>
            <a:r>
              <a:rPr lang="en-US" sz="1800" kern="0" dirty="0" err="1">
                <a:solidFill>
                  <a:schemeClr val="tx1"/>
                </a:solidFill>
                <a:ea typeface="Open Sans" panose="020B0606030504020204" pitchFamily="34" charset="0"/>
                <a:cs typeface="Open Sans" panose="020B0606030504020204" pitchFamily="34" charset="0"/>
              </a:rPr>
              <a:t>détecteurs</a:t>
            </a:r>
            <a:r>
              <a:rPr lang="en-US" sz="1800" kern="0" dirty="0">
                <a:solidFill>
                  <a:schemeClr val="tx1"/>
                </a:solidFill>
                <a:ea typeface="Open Sans" panose="020B0606030504020204" pitchFamily="34" charset="0"/>
                <a:cs typeface="Open Sans" panose="020B0606030504020204" pitchFamily="34" charset="0"/>
              </a:rPr>
              <a:t> et lance les </a:t>
            </a:r>
            <a:r>
              <a:rPr lang="en-US" sz="1800" kern="0" dirty="0" err="1">
                <a:solidFill>
                  <a:schemeClr val="tx1"/>
                </a:solidFill>
                <a:ea typeface="Open Sans" panose="020B0606030504020204" pitchFamily="34" charset="0"/>
                <a:cs typeface="Open Sans" panose="020B0606030504020204" pitchFamily="34" charset="0"/>
              </a:rPr>
              <a:t>mesures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appropriées</a:t>
            </a:r>
            <a:r>
              <a:rPr lang="en-US" sz="1800" kern="0" dirty="0">
                <a:solidFill>
                  <a:schemeClr val="tx1"/>
                </a:solidFill>
                <a:ea typeface="Open Sans" panose="020B0606030504020204" pitchFamily="34" charset="0"/>
                <a:cs typeface="Open Sans" panose="020B0606030504020204" pitchFamily="34" charset="0"/>
              </a:rPr>
              <a:t> </a:t>
            </a: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dirty="0" err="1">
                <a:ea typeface="Open Sans" panose="020B0606030504020204" pitchFamily="34" charset="0"/>
                <a:cs typeface="Open Sans" panose="020B0606030504020204" pitchFamily="34" charset="0"/>
              </a:rPr>
              <a:t>Tâches</a:t>
            </a:r>
            <a:r>
              <a:rPr lang="en-US" sz="1800" kern="0" dirty="0">
                <a:solidFill>
                  <a:schemeClr val="tx1"/>
                </a:solidFill>
                <a:ea typeface="Open Sans" panose="020B0606030504020204" pitchFamily="34" charset="0"/>
                <a:cs typeface="Open Sans" panose="020B0606030504020204" pitchFamily="34" charset="0"/>
              </a:rPr>
              <a:t>: </a:t>
            </a:r>
          </a:p>
          <a:p>
            <a:pPr lvl="1">
              <a:lnSpc>
                <a:spcPct val="150000"/>
              </a:lnSpc>
              <a:buFont typeface="Wingdings" panose="05000000000000000000" pitchFamily="2" charset="2"/>
              <a:buChar char="§"/>
              <a:defRPr/>
            </a:pPr>
            <a:r>
              <a:rPr lang="en-GB" sz="1800" b="1" dirty="0" err="1">
                <a:solidFill>
                  <a:schemeClr val="tx1"/>
                </a:solidFill>
                <a:latin typeface="Arial" charset="0"/>
              </a:rPr>
              <a:t>Enregistrement</a:t>
            </a:r>
            <a:r>
              <a:rPr lang="en-GB" sz="1800" b="1" dirty="0">
                <a:solidFill>
                  <a:schemeClr val="tx1"/>
                </a:solidFill>
                <a:latin typeface="Arial" charset="0"/>
              </a:rPr>
              <a:t> et </a:t>
            </a:r>
            <a:r>
              <a:rPr lang="en-GB" sz="1800" b="1" dirty="0" err="1">
                <a:solidFill>
                  <a:schemeClr val="tx1"/>
                </a:solidFill>
                <a:latin typeface="Arial" charset="0"/>
              </a:rPr>
              <a:t>évaluation</a:t>
            </a:r>
            <a:r>
              <a:rPr lang="en-GB" sz="1800" b="1" dirty="0">
                <a:solidFill>
                  <a:schemeClr val="tx1"/>
                </a:solidFill>
                <a:latin typeface="Arial" charset="0"/>
              </a:rPr>
              <a:t> des </a:t>
            </a:r>
            <a:r>
              <a:rPr lang="en-GB" sz="1800" b="1" dirty="0" err="1">
                <a:solidFill>
                  <a:schemeClr val="tx1"/>
                </a:solidFill>
                <a:latin typeface="Arial" charset="0"/>
              </a:rPr>
              <a:t>signaux</a:t>
            </a:r>
            <a:r>
              <a:rPr lang="en-GB" sz="1800" b="1" dirty="0">
                <a:solidFill>
                  <a:schemeClr val="tx1"/>
                </a:solidFill>
                <a:latin typeface="Arial" charset="0"/>
              </a:rPr>
              <a:t> </a:t>
            </a:r>
            <a:r>
              <a:rPr lang="en-GB" sz="1800" b="1" dirty="0" err="1">
                <a:solidFill>
                  <a:schemeClr val="tx1"/>
                </a:solidFill>
                <a:latin typeface="Arial" charset="0"/>
              </a:rPr>
              <a:t>émis</a:t>
            </a:r>
            <a:r>
              <a:rPr lang="en-GB" sz="1800" b="1" dirty="0">
                <a:solidFill>
                  <a:schemeClr val="tx1"/>
                </a:solidFill>
                <a:latin typeface="Arial" charset="0"/>
              </a:rPr>
              <a:t> par les </a:t>
            </a:r>
            <a:r>
              <a:rPr lang="en-GB" sz="1800" b="1" dirty="0" err="1">
                <a:solidFill>
                  <a:schemeClr val="tx1"/>
                </a:solidFill>
                <a:latin typeface="Arial" charset="0"/>
              </a:rPr>
              <a:t>détecteurs</a:t>
            </a:r>
            <a:endParaRPr lang="es-ES" sz="1800" b="1" dirty="0">
              <a:solidFill>
                <a:schemeClr val="tx1"/>
              </a:solidFill>
              <a:latin typeface="Arial" charset="0"/>
            </a:endParaRPr>
          </a:p>
          <a:p>
            <a:pPr lvl="1">
              <a:lnSpc>
                <a:spcPct val="150000"/>
              </a:lnSpc>
              <a:buFont typeface="Wingdings" panose="05000000000000000000" pitchFamily="2" charset="2"/>
              <a:buChar char="§"/>
              <a:defRPr/>
            </a:pPr>
            <a:r>
              <a:rPr lang="en-GB" sz="1800" b="1" dirty="0" err="1">
                <a:solidFill>
                  <a:schemeClr val="tx1"/>
                </a:solidFill>
                <a:latin typeface="Arial" charset="0"/>
              </a:rPr>
              <a:t>Déclenchement</a:t>
            </a:r>
            <a:r>
              <a:rPr lang="en-GB" sz="1800" b="1" dirty="0">
                <a:solidFill>
                  <a:schemeClr val="tx1"/>
                </a:solidFill>
                <a:latin typeface="Arial" charset="0"/>
              </a:rPr>
              <a:t> de </a:t>
            </a:r>
            <a:r>
              <a:rPr lang="en-GB" sz="1800" b="1" dirty="0" err="1">
                <a:solidFill>
                  <a:schemeClr val="tx1"/>
                </a:solidFill>
                <a:latin typeface="Arial" charset="0"/>
              </a:rPr>
              <a:t>système</a:t>
            </a:r>
            <a:r>
              <a:rPr lang="en-GB" sz="1800" b="1" dirty="0">
                <a:solidFill>
                  <a:schemeClr val="tx1"/>
                </a:solidFill>
                <a:latin typeface="Arial" charset="0"/>
              </a:rPr>
              <a:t>(s) </a:t>
            </a:r>
            <a:r>
              <a:rPr lang="en-GB" sz="1800" b="1" dirty="0" err="1">
                <a:solidFill>
                  <a:schemeClr val="tx1"/>
                </a:solidFill>
                <a:latin typeface="Arial" charset="0"/>
              </a:rPr>
              <a:t>d'alarme</a:t>
            </a:r>
            <a:endParaRPr lang="es-ES" sz="1800" b="1" dirty="0">
              <a:solidFill>
                <a:schemeClr val="tx1"/>
              </a:solidFill>
              <a:latin typeface="Arial" charset="0"/>
            </a:endParaRPr>
          </a:p>
          <a:p>
            <a:pPr lvl="1">
              <a:lnSpc>
                <a:spcPct val="150000"/>
              </a:lnSpc>
              <a:buFont typeface="Wingdings" panose="05000000000000000000" pitchFamily="2" charset="2"/>
              <a:buChar char="§"/>
              <a:defRPr/>
            </a:pPr>
            <a:r>
              <a:rPr lang="en-GB" sz="1800" b="1" dirty="0">
                <a:solidFill>
                  <a:schemeClr val="tx1"/>
                </a:solidFill>
                <a:latin typeface="Arial" charset="0"/>
              </a:rPr>
              <a:t>Surveillance du </a:t>
            </a:r>
            <a:r>
              <a:rPr lang="en-GB" sz="1800" b="1" dirty="0" err="1">
                <a:solidFill>
                  <a:schemeClr val="tx1"/>
                </a:solidFill>
                <a:latin typeface="Arial" charset="0"/>
              </a:rPr>
              <a:t>système</a:t>
            </a:r>
            <a:r>
              <a:rPr lang="en-GB" sz="1800" b="1" dirty="0">
                <a:solidFill>
                  <a:schemeClr val="tx1"/>
                </a:solidFill>
                <a:latin typeface="Arial" charset="0"/>
              </a:rPr>
              <a:t> </a:t>
            </a:r>
            <a:r>
              <a:rPr lang="en-GB" sz="1800" b="1" dirty="0" err="1">
                <a:solidFill>
                  <a:schemeClr val="tx1"/>
                </a:solidFill>
                <a:latin typeface="Arial" charset="0"/>
              </a:rPr>
              <a:t>d'alimentation</a:t>
            </a:r>
            <a:endParaRPr lang="es-ES" sz="1800" b="1" dirty="0">
              <a:solidFill>
                <a:schemeClr val="tx1"/>
              </a:solidFill>
              <a:latin typeface="Arial" charset="0"/>
            </a:endParaRPr>
          </a:p>
          <a:p>
            <a:pPr lvl="1">
              <a:lnSpc>
                <a:spcPct val="150000"/>
              </a:lnSpc>
              <a:buFont typeface="Wingdings" panose="05000000000000000000" pitchFamily="2" charset="2"/>
              <a:buChar char="§"/>
              <a:defRPr/>
            </a:pPr>
            <a:r>
              <a:rPr lang="en-GB" sz="1800" b="1" dirty="0" err="1">
                <a:solidFill>
                  <a:schemeClr val="tx1"/>
                </a:solidFill>
                <a:latin typeface="Arial" charset="0"/>
              </a:rPr>
              <a:t>Affichage</a:t>
            </a:r>
            <a:r>
              <a:rPr lang="en-GB" sz="1800" b="1" dirty="0">
                <a:solidFill>
                  <a:schemeClr val="tx1"/>
                </a:solidFill>
                <a:latin typeface="Arial" charset="0"/>
              </a:rPr>
              <a:t> des </a:t>
            </a:r>
            <a:r>
              <a:rPr lang="en-GB" sz="1800" b="1" dirty="0" err="1">
                <a:solidFill>
                  <a:schemeClr val="tx1"/>
                </a:solidFill>
                <a:latin typeface="Arial" charset="0"/>
              </a:rPr>
              <a:t>pannes</a:t>
            </a:r>
            <a:r>
              <a:rPr lang="en-GB" sz="1800" b="1" dirty="0">
                <a:solidFill>
                  <a:schemeClr val="tx1"/>
                </a:solidFill>
                <a:latin typeface="Arial" charset="0"/>
              </a:rPr>
              <a:t> </a:t>
            </a:r>
            <a:r>
              <a:rPr lang="en-GB" sz="1800" b="1" dirty="0" err="1">
                <a:solidFill>
                  <a:schemeClr val="tx1"/>
                </a:solidFill>
                <a:latin typeface="Arial" charset="0"/>
              </a:rPr>
              <a:t>selon</a:t>
            </a:r>
            <a:r>
              <a:rPr lang="en-GB" sz="1800" b="1" dirty="0">
                <a:solidFill>
                  <a:schemeClr val="tx1"/>
                </a:solidFill>
                <a:latin typeface="Arial" charset="0"/>
              </a:rPr>
              <a:t> les zones </a:t>
            </a:r>
            <a:r>
              <a:rPr lang="en-GB" sz="1800" b="1" dirty="0" err="1">
                <a:solidFill>
                  <a:schemeClr val="tx1"/>
                </a:solidFill>
                <a:latin typeface="Arial" charset="0"/>
              </a:rPr>
              <a:t>ou</a:t>
            </a:r>
            <a:r>
              <a:rPr lang="en-GB" sz="1800" b="1" dirty="0">
                <a:solidFill>
                  <a:schemeClr val="tx1"/>
                </a:solidFill>
                <a:latin typeface="Arial" charset="0"/>
              </a:rPr>
              <a:t> les </a:t>
            </a:r>
            <a:r>
              <a:rPr lang="en-GB" sz="1800" b="1" dirty="0" err="1">
                <a:solidFill>
                  <a:schemeClr val="tx1"/>
                </a:solidFill>
                <a:latin typeface="Arial" charset="0"/>
              </a:rPr>
              <a:t>détecteurs</a:t>
            </a:r>
            <a:r>
              <a:rPr lang="en-GB" sz="1800" b="1" dirty="0">
                <a:solidFill>
                  <a:schemeClr val="tx1"/>
                </a:solidFill>
                <a:latin typeface="Arial" charset="0"/>
              </a:rPr>
              <a:t> </a:t>
            </a:r>
            <a:endParaRPr lang="es-ES" sz="1800" b="1" dirty="0">
              <a:solidFill>
                <a:schemeClr val="tx1"/>
              </a:solidFill>
              <a:latin typeface="Arial" charset="0"/>
            </a:endParaRPr>
          </a:p>
          <a:p>
            <a:pPr lvl="1">
              <a:lnSpc>
                <a:spcPct val="150000"/>
              </a:lnSpc>
              <a:buFont typeface="Wingdings" panose="05000000000000000000" pitchFamily="2" charset="2"/>
              <a:buChar char="§"/>
              <a:defRPr/>
            </a:pPr>
            <a:r>
              <a:rPr lang="en-GB" sz="1800" b="1" dirty="0" err="1">
                <a:solidFill>
                  <a:schemeClr val="tx1"/>
                </a:solidFill>
                <a:latin typeface="Arial" charset="0"/>
              </a:rPr>
              <a:t>Affichage</a:t>
            </a:r>
            <a:r>
              <a:rPr lang="en-GB" sz="1800" b="1" dirty="0">
                <a:solidFill>
                  <a:schemeClr val="tx1"/>
                </a:solidFill>
                <a:latin typeface="Arial" charset="0"/>
              </a:rPr>
              <a:t> de </a:t>
            </a:r>
            <a:r>
              <a:rPr lang="en-GB" sz="1800" b="1" dirty="0" err="1">
                <a:solidFill>
                  <a:schemeClr val="tx1"/>
                </a:solidFill>
                <a:latin typeface="Arial" charset="0"/>
              </a:rPr>
              <a:t>l'état</a:t>
            </a:r>
            <a:r>
              <a:rPr lang="en-GB" sz="1800" b="1" dirty="0">
                <a:solidFill>
                  <a:schemeClr val="tx1"/>
                </a:solidFill>
                <a:latin typeface="Arial" charset="0"/>
              </a:rPr>
              <a:t> </a:t>
            </a:r>
            <a:r>
              <a:rPr lang="en-GB" sz="1800" b="1" dirty="0" err="1">
                <a:solidFill>
                  <a:schemeClr val="tx1"/>
                </a:solidFill>
                <a:latin typeface="Arial" charset="0"/>
              </a:rPr>
              <a:t>activé</a:t>
            </a:r>
            <a:r>
              <a:rPr lang="en-GB" sz="1800" b="1" dirty="0">
                <a:solidFill>
                  <a:schemeClr val="tx1"/>
                </a:solidFill>
                <a:latin typeface="Arial" charset="0"/>
              </a:rPr>
              <a:t> / </a:t>
            </a:r>
            <a:r>
              <a:rPr lang="en-GB" sz="1800" b="1" dirty="0" err="1">
                <a:solidFill>
                  <a:schemeClr val="tx1"/>
                </a:solidFill>
                <a:latin typeface="Arial" charset="0"/>
              </a:rPr>
              <a:t>désactivé</a:t>
            </a:r>
            <a:endParaRPr lang="es-ES" sz="1800" b="1" dirty="0">
              <a:solidFill>
                <a:schemeClr val="tx1"/>
              </a:solidFill>
              <a:latin typeface="Arial" charset="0"/>
            </a:endParaRP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0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2335996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Les alarmes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268760"/>
            <a:ext cx="3167832" cy="2448272"/>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1800" kern="0" dirty="0">
                <a:ea typeface="Open Sans" panose="020B0606030504020204" pitchFamily="34" charset="0"/>
                <a:cs typeface="Open Sans" panose="020B0606030504020204" pitchFamily="34" charset="0"/>
              </a:rPr>
              <a:t>Types </a:t>
            </a:r>
            <a:r>
              <a:rPr lang="en-US" sz="1800" kern="0" dirty="0" err="1">
                <a:ea typeface="Open Sans" panose="020B0606030504020204" pitchFamily="34" charset="0"/>
                <a:cs typeface="Open Sans" panose="020B0606030504020204" pitchFamily="34" charset="0"/>
              </a:rPr>
              <a:t>d'alarme</a:t>
            </a:r>
            <a:r>
              <a:rPr lang="en-US" sz="1800" kern="0" dirty="0">
                <a:ea typeface="Open Sans" panose="020B0606030504020204" pitchFamily="34" charset="0"/>
                <a:cs typeface="Open Sans" panose="020B0606030504020204" pitchFamily="34" charset="0"/>
              </a:rPr>
              <a:t> :</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les </a:t>
            </a:r>
            <a:r>
              <a:rPr lang="en-US" sz="1800" kern="0" dirty="0" err="1">
                <a:solidFill>
                  <a:schemeClr val="tx1"/>
                </a:solidFill>
                <a:ea typeface="Open Sans" panose="020B0606030504020204" pitchFamily="34" charset="0"/>
                <a:cs typeface="Open Sans" panose="020B0606030504020204" pitchFamily="34" charset="0"/>
              </a:rPr>
              <a:t>alarmes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acoustiques</a:t>
            </a: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les </a:t>
            </a:r>
            <a:r>
              <a:rPr lang="en-US" sz="1800" kern="0" dirty="0" err="1">
                <a:solidFill>
                  <a:schemeClr val="tx1"/>
                </a:solidFill>
                <a:ea typeface="Open Sans" panose="020B0606030504020204" pitchFamily="34" charset="0"/>
                <a:cs typeface="Open Sans" panose="020B0606030504020204" pitchFamily="34" charset="0"/>
              </a:rPr>
              <a:t>alarmes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optiques</a:t>
            </a: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les </a:t>
            </a:r>
            <a:r>
              <a:rPr lang="en-US" sz="1800" kern="0" dirty="0" err="1">
                <a:solidFill>
                  <a:schemeClr val="tx1"/>
                </a:solidFill>
                <a:ea typeface="Open Sans" panose="020B0606030504020204" pitchFamily="34" charset="0"/>
                <a:cs typeface="Open Sans" panose="020B0606030504020204" pitchFamily="34" charset="0"/>
              </a:rPr>
              <a:t>alarmes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silencieuses</a:t>
            </a: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8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000" kern="0" dirty="0">
              <a:ea typeface="Open Sans" panose="020B0606030504020204" pitchFamily="34" charset="0"/>
              <a:cs typeface="Open Sans" panose="020B0606030504020204" pitchFamily="34" charset="0"/>
            </a:endParaRPr>
          </a:p>
        </p:txBody>
      </p:sp>
      <p:sp>
        <p:nvSpPr>
          <p:cNvPr id="4" name="Content Placeholder 1">
            <a:extLst>
              <a:ext uri="{FF2B5EF4-FFF2-40B4-BE49-F238E27FC236}">
                <a16:creationId xmlns:a16="http://schemas.microsoft.com/office/drawing/2014/main" id="{66D4E347-EC7C-4CF9-96CE-843D52FBE095}"/>
              </a:ext>
            </a:extLst>
          </p:cNvPr>
          <p:cNvSpPr txBox="1">
            <a:spLocks/>
          </p:cNvSpPr>
          <p:nvPr/>
        </p:nvSpPr>
        <p:spPr>
          <a:xfrm>
            <a:off x="4788544" y="1268760"/>
            <a:ext cx="3167832" cy="2448272"/>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1800" kern="0" dirty="0">
                <a:ea typeface="Open Sans" panose="020B0606030504020204" pitchFamily="34" charset="0"/>
                <a:cs typeface="Open Sans" panose="020B0606030504020204" pitchFamily="34" charset="0"/>
              </a:rPr>
              <a:t>Les </a:t>
            </a:r>
            <a:r>
              <a:rPr lang="en-US" sz="1800" kern="0" dirty="0" err="1">
                <a:ea typeface="Open Sans" panose="020B0606030504020204" pitchFamily="34" charset="0"/>
                <a:cs typeface="Open Sans" panose="020B0606030504020204" pitchFamily="34" charset="0"/>
              </a:rPr>
              <a:t>alarmes</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sont</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divisées</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en</a:t>
            </a:r>
            <a:r>
              <a:rPr lang="en-US" sz="1800" kern="0" dirty="0">
                <a:ea typeface="Open Sans" panose="020B0606030504020204" pitchFamily="34" charset="0"/>
                <a:cs typeface="Open Sans" panose="020B0606030504020204" pitchFamily="34" charset="0"/>
              </a:rPr>
              <a:t> :</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les </a:t>
            </a:r>
            <a:r>
              <a:rPr lang="en-US" sz="1800" kern="0" dirty="0" err="1">
                <a:solidFill>
                  <a:schemeClr val="tx1"/>
                </a:solidFill>
                <a:ea typeface="Open Sans" panose="020B0606030504020204" pitchFamily="34" charset="0"/>
                <a:cs typeface="Open Sans" panose="020B0606030504020204" pitchFamily="34" charset="0"/>
              </a:rPr>
              <a:t>alarmes</a:t>
            </a:r>
            <a:r>
              <a:rPr lang="en-US" sz="1800" kern="0" dirty="0">
                <a:solidFill>
                  <a:schemeClr val="tx1"/>
                </a:solidFill>
                <a:ea typeface="Open Sans" panose="020B0606030504020204" pitchFamily="34" charset="0"/>
                <a:cs typeface="Open Sans" panose="020B0606030504020204" pitchFamily="34" charset="0"/>
              </a:rPr>
              <a:t> internes</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les </a:t>
            </a:r>
            <a:r>
              <a:rPr lang="en-US" sz="1800" kern="0" dirty="0" err="1">
                <a:solidFill>
                  <a:schemeClr val="tx1"/>
                </a:solidFill>
                <a:ea typeface="Open Sans" panose="020B0606030504020204" pitchFamily="34" charset="0"/>
                <a:cs typeface="Open Sans" panose="020B0606030504020204" pitchFamily="34" charset="0"/>
              </a:rPr>
              <a:t>alarmes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externes</a:t>
            </a: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les </a:t>
            </a:r>
            <a:r>
              <a:rPr lang="en-US" sz="1800" kern="0" dirty="0" err="1">
                <a:solidFill>
                  <a:schemeClr val="tx1"/>
                </a:solidFill>
                <a:ea typeface="Open Sans" panose="020B0606030504020204" pitchFamily="34" charset="0"/>
                <a:cs typeface="Open Sans" panose="020B0606030504020204" pitchFamily="34" charset="0"/>
              </a:rPr>
              <a:t>alarmes</a:t>
            </a:r>
            <a:r>
              <a:rPr lang="en-US" sz="1800" kern="0" dirty="0">
                <a:solidFill>
                  <a:schemeClr val="tx1"/>
                </a:solidFill>
                <a:ea typeface="Open Sans" panose="020B0606030504020204" pitchFamily="34" charset="0"/>
                <a:cs typeface="Open Sans" panose="020B0606030504020204" pitchFamily="34" charset="0"/>
              </a:rPr>
              <a:t> à distance</a:t>
            </a:r>
          </a:p>
          <a:p>
            <a:pPr>
              <a:lnSpc>
                <a:spcPct val="150000"/>
              </a:lnSpc>
              <a:defRPr/>
            </a:pPr>
            <a:endParaRPr lang="en-US" sz="18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000" kern="0" dirty="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8819CD94-DDC4-4101-88A6-1FFE1F79085C}"/>
              </a:ext>
            </a:extLst>
          </p:cNvPr>
          <p:cNvSpPr/>
          <p:nvPr/>
        </p:nvSpPr>
        <p:spPr>
          <a:xfrm>
            <a:off x="576076" y="3933478"/>
            <a:ext cx="8424936" cy="2448272"/>
          </a:xfrm>
          <a:prstGeom prst="rect">
            <a:avLst/>
          </a:prstGeom>
        </p:spPr>
        <p:txBody>
          <a:bodyPr/>
          <a:lstStyle/>
          <a:p>
            <a:pPr marL="342900" indent="-342900" eaLnBrk="0" hangingPunct="0">
              <a:lnSpc>
                <a:spcPct val="150000"/>
              </a:lnSpc>
              <a:spcBef>
                <a:spcPct val="20000"/>
              </a:spcBef>
              <a:buClr>
                <a:srgbClr val="369226"/>
              </a:buClr>
              <a:buFont typeface="Wingdings" panose="05000000000000000000" pitchFamily="2" charset="2"/>
              <a:buChar char="§"/>
            </a:pPr>
            <a:r>
              <a:rPr lang="en-US" b="1" kern="0" dirty="0" err="1">
                <a:solidFill>
                  <a:srgbClr val="369226"/>
                </a:solidFill>
                <a:latin typeface="+mn-lt"/>
                <a:ea typeface="Open Sans" panose="020B0606030504020204" pitchFamily="34" charset="0"/>
                <a:cs typeface="Open Sans" panose="020B0606030504020204" pitchFamily="34" charset="0"/>
              </a:rPr>
              <a:t>Alarme</a:t>
            </a:r>
            <a:r>
              <a:rPr lang="en-US" b="1" kern="0" dirty="0">
                <a:solidFill>
                  <a:srgbClr val="369226"/>
                </a:solidFill>
                <a:latin typeface="+mn-lt"/>
                <a:ea typeface="Open Sans" panose="020B0606030504020204" pitchFamily="34" charset="0"/>
                <a:cs typeface="Open Sans" panose="020B0606030504020204" pitchFamily="34" charset="0"/>
              </a:rPr>
              <a:t> interne </a:t>
            </a:r>
            <a:r>
              <a:rPr lang="en-US" b="1" kern="0" dirty="0">
                <a:latin typeface="+mn-lt"/>
                <a:ea typeface="Open Sans" panose="020B0606030504020204" pitchFamily="34" charset="0"/>
                <a:cs typeface="Open Sans" panose="020B0606030504020204" pitchFamily="34" charset="0"/>
              </a:rPr>
              <a:t>ne </a:t>
            </a:r>
            <a:r>
              <a:rPr lang="en-US" b="1" kern="0" dirty="0" err="1">
                <a:latin typeface="+mn-lt"/>
                <a:ea typeface="Open Sans" panose="020B0606030504020204" pitchFamily="34" charset="0"/>
                <a:cs typeface="Open Sans" panose="020B0606030504020204" pitchFamily="34" charset="0"/>
              </a:rPr>
              <a:t>déclenche</a:t>
            </a:r>
            <a:r>
              <a:rPr lang="en-US" b="1" kern="0" dirty="0">
                <a:latin typeface="+mn-lt"/>
                <a:ea typeface="Open Sans" panose="020B0606030504020204" pitchFamily="34" charset="0"/>
                <a:cs typeface="Open Sans" panose="020B0606030504020204" pitchFamily="34" charset="0"/>
              </a:rPr>
              <a:t> que </a:t>
            </a:r>
            <a:r>
              <a:rPr lang="en-US" b="1" kern="0" dirty="0" err="1">
                <a:latin typeface="+mn-lt"/>
                <a:ea typeface="Open Sans" panose="020B0606030504020204" pitchFamily="34" charset="0"/>
                <a:cs typeface="Open Sans" panose="020B0606030504020204" pitchFamily="34" charset="0"/>
              </a:rPr>
              <a:t>l'alarme</a:t>
            </a:r>
            <a:r>
              <a:rPr lang="en-US" b="1" kern="0" dirty="0">
                <a:latin typeface="+mn-lt"/>
                <a:ea typeface="Open Sans" panose="020B0606030504020204" pitchFamily="34" charset="0"/>
                <a:cs typeface="Open Sans" panose="020B0606030504020204" pitchFamily="34" charset="0"/>
              </a:rPr>
              <a:t> à </a:t>
            </a:r>
            <a:r>
              <a:rPr lang="en-US" b="1" kern="0" dirty="0" err="1">
                <a:latin typeface="+mn-lt"/>
                <a:ea typeface="Open Sans" panose="020B0606030504020204" pitchFamily="34" charset="0"/>
                <a:cs typeface="Open Sans" panose="020B0606030504020204" pitchFamily="34" charset="0"/>
              </a:rPr>
              <a:t>l'intérieur</a:t>
            </a:r>
            <a:r>
              <a:rPr lang="en-US" b="1" kern="0" dirty="0">
                <a:latin typeface="+mn-lt"/>
                <a:ea typeface="Open Sans" panose="020B0606030504020204" pitchFamily="34" charset="0"/>
                <a:cs typeface="Open Sans" panose="020B0606030504020204" pitchFamily="34" charset="0"/>
              </a:rPr>
              <a:t> de la </a:t>
            </a:r>
            <a:r>
              <a:rPr lang="en-US" b="1" kern="0" dirty="0" err="1">
                <a:latin typeface="+mn-lt"/>
                <a:ea typeface="Open Sans" panose="020B0606030504020204" pitchFamily="34" charset="0"/>
                <a:cs typeface="Open Sans" panose="020B0606030504020204" pitchFamily="34" charset="0"/>
              </a:rPr>
              <a:t>propriété</a:t>
            </a:r>
            <a:endParaRPr lang="en-US" b="1" kern="0" dirty="0">
              <a:latin typeface="+mn-lt"/>
              <a:ea typeface="Open Sans" panose="020B0606030504020204" pitchFamily="34" charset="0"/>
              <a:cs typeface="Open Sans" panose="020B0606030504020204" pitchFamily="34" charset="0"/>
            </a:endParaRPr>
          </a:p>
          <a:p>
            <a:pPr marL="342900" indent="-342900" eaLnBrk="0" hangingPunct="0">
              <a:lnSpc>
                <a:spcPct val="150000"/>
              </a:lnSpc>
              <a:spcBef>
                <a:spcPct val="20000"/>
              </a:spcBef>
              <a:buClr>
                <a:srgbClr val="369226"/>
              </a:buClr>
              <a:buFont typeface="Wingdings" panose="05000000000000000000" pitchFamily="2" charset="2"/>
              <a:buChar char="§"/>
            </a:pPr>
            <a:r>
              <a:rPr lang="en-US" b="1" kern="0" dirty="0" err="1">
                <a:solidFill>
                  <a:srgbClr val="369226"/>
                </a:solidFill>
                <a:latin typeface="+mn-lt"/>
                <a:ea typeface="Open Sans" panose="020B0606030504020204" pitchFamily="34" charset="0"/>
                <a:cs typeface="Open Sans" panose="020B0606030504020204" pitchFamily="34" charset="0"/>
              </a:rPr>
              <a:t>L'alarme</a:t>
            </a:r>
            <a:r>
              <a:rPr lang="en-US" b="1" kern="0" dirty="0">
                <a:solidFill>
                  <a:srgbClr val="369226"/>
                </a:solidFill>
                <a:latin typeface="+mn-lt"/>
                <a:ea typeface="Open Sans" panose="020B0606030504020204" pitchFamily="34" charset="0"/>
                <a:cs typeface="Open Sans" panose="020B0606030504020204" pitchFamily="34" charset="0"/>
              </a:rPr>
              <a:t> </a:t>
            </a:r>
            <a:r>
              <a:rPr lang="en-US" b="1" kern="0" dirty="0" err="1">
                <a:solidFill>
                  <a:srgbClr val="369226"/>
                </a:solidFill>
                <a:latin typeface="+mn-lt"/>
                <a:ea typeface="Open Sans" panose="020B0606030504020204" pitchFamily="34" charset="0"/>
                <a:cs typeface="Open Sans" panose="020B0606030504020204" pitchFamily="34" charset="0"/>
              </a:rPr>
              <a:t>externe</a:t>
            </a:r>
            <a:r>
              <a:rPr lang="en-US" b="1" kern="0" dirty="0">
                <a:solidFill>
                  <a:srgbClr val="369226"/>
                </a:solidFill>
                <a:latin typeface="+mn-lt"/>
                <a:ea typeface="Open Sans" panose="020B0606030504020204" pitchFamily="34" charset="0"/>
                <a:cs typeface="Open Sans" panose="020B0606030504020204" pitchFamily="34" charset="0"/>
              </a:rPr>
              <a:t> </a:t>
            </a:r>
            <a:r>
              <a:rPr lang="en-US" b="1" kern="0" dirty="0" err="1">
                <a:latin typeface="+mn-lt"/>
                <a:ea typeface="Open Sans" panose="020B0606030504020204" pitchFamily="34" charset="0"/>
                <a:cs typeface="Open Sans" panose="020B0606030504020204" pitchFamily="34" charset="0"/>
              </a:rPr>
              <a:t>déclenche</a:t>
            </a:r>
            <a:r>
              <a:rPr lang="en-US" b="1" kern="0" dirty="0">
                <a:latin typeface="+mn-lt"/>
                <a:ea typeface="Open Sans" panose="020B0606030504020204" pitchFamily="34" charset="0"/>
                <a:cs typeface="Open Sans" panose="020B0606030504020204" pitchFamily="34" charset="0"/>
              </a:rPr>
              <a:t> les </a:t>
            </a:r>
            <a:r>
              <a:rPr lang="en-US" b="1" kern="0" dirty="0" err="1">
                <a:latin typeface="+mn-lt"/>
                <a:ea typeface="Open Sans" panose="020B0606030504020204" pitchFamily="34" charset="0"/>
                <a:cs typeface="Open Sans" panose="020B0606030504020204" pitchFamily="34" charset="0"/>
              </a:rPr>
              <a:t>dispositifs</a:t>
            </a:r>
            <a:r>
              <a:rPr lang="en-US" b="1" kern="0" dirty="0">
                <a:latin typeface="+mn-lt"/>
                <a:ea typeface="Open Sans" panose="020B0606030504020204" pitchFamily="34" charset="0"/>
                <a:cs typeface="Open Sans" panose="020B0606030504020204" pitchFamily="34" charset="0"/>
              </a:rPr>
              <a:t> de </a:t>
            </a:r>
            <a:r>
              <a:rPr lang="en-US" b="1" kern="0" dirty="0" err="1">
                <a:latin typeface="+mn-lt"/>
                <a:ea typeface="Open Sans" panose="020B0606030504020204" pitchFamily="34" charset="0"/>
                <a:cs typeface="Open Sans" panose="020B0606030504020204" pitchFamily="34" charset="0"/>
              </a:rPr>
              <a:t>signalisation</a:t>
            </a:r>
            <a:r>
              <a:rPr lang="en-US" b="1" kern="0" dirty="0">
                <a:latin typeface="+mn-lt"/>
                <a:ea typeface="Open Sans" panose="020B0606030504020204" pitchFamily="34" charset="0"/>
                <a:cs typeface="Open Sans" panose="020B0606030504020204" pitchFamily="34" charset="0"/>
              </a:rPr>
              <a:t> </a:t>
            </a:r>
            <a:r>
              <a:rPr lang="en-US" b="1" kern="0" dirty="0" err="1">
                <a:latin typeface="+mn-lt"/>
                <a:ea typeface="Open Sans" panose="020B0606030504020204" pitchFamily="34" charset="0"/>
                <a:cs typeface="Open Sans" panose="020B0606030504020204" pitchFamily="34" charset="0"/>
              </a:rPr>
              <a:t>tels</a:t>
            </a:r>
            <a:r>
              <a:rPr lang="en-US" b="1" kern="0" dirty="0">
                <a:latin typeface="+mn-lt"/>
                <a:ea typeface="Open Sans" panose="020B0606030504020204" pitchFamily="34" charset="0"/>
                <a:cs typeface="Open Sans" panose="020B0606030504020204" pitchFamily="34" charset="0"/>
              </a:rPr>
              <a:t> que les </a:t>
            </a:r>
            <a:r>
              <a:rPr lang="en-US" b="1" kern="0" dirty="0" err="1">
                <a:latin typeface="+mn-lt"/>
                <a:ea typeface="Open Sans" panose="020B0606030504020204" pitchFamily="34" charset="0"/>
                <a:cs typeface="Open Sans" panose="020B0606030504020204" pitchFamily="34" charset="0"/>
              </a:rPr>
              <a:t>lumières</a:t>
            </a:r>
            <a:r>
              <a:rPr lang="en-US" b="1" kern="0" dirty="0">
                <a:latin typeface="+mn-lt"/>
                <a:ea typeface="Open Sans" panose="020B0606030504020204" pitchFamily="34" charset="0"/>
                <a:cs typeface="Open Sans" panose="020B0606030504020204" pitchFamily="34" charset="0"/>
              </a:rPr>
              <a:t> </a:t>
            </a:r>
            <a:r>
              <a:rPr lang="en-US" b="1" kern="0" dirty="0" err="1">
                <a:latin typeface="+mn-lt"/>
                <a:ea typeface="Open Sans" panose="020B0606030504020204" pitchFamily="34" charset="0"/>
                <a:cs typeface="Open Sans" panose="020B0606030504020204" pitchFamily="34" charset="0"/>
              </a:rPr>
              <a:t>stroboscopiques</a:t>
            </a:r>
            <a:r>
              <a:rPr lang="en-US" b="1" kern="0" dirty="0">
                <a:latin typeface="+mn-lt"/>
                <a:ea typeface="Open Sans" panose="020B0606030504020204" pitchFamily="34" charset="0"/>
                <a:cs typeface="Open Sans" panose="020B0606030504020204" pitchFamily="34" charset="0"/>
              </a:rPr>
              <a:t> et/</a:t>
            </a:r>
            <a:r>
              <a:rPr lang="en-US" b="1" kern="0" dirty="0" err="1">
                <a:latin typeface="+mn-lt"/>
                <a:ea typeface="Open Sans" panose="020B0606030504020204" pitchFamily="34" charset="0"/>
                <a:cs typeface="Open Sans" panose="020B0606030504020204" pitchFamily="34" charset="0"/>
              </a:rPr>
              <a:t>ou</a:t>
            </a:r>
            <a:r>
              <a:rPr lang="en-US" b="1" kern="0" dirty="0">
                <a:latin typeface="+mn-lt"/>
                <a:ea typeface="Open Sans" panose="020B0606030504020204" pitchFamily="34" charset="0"/>
                <a:cs typeface="Open Sans" panose="020B0606030504020204" pitchFamily="34" charset="0"/>
              </a:rPr>
              <a:t> les </a:t>
            </a:r>
            <a:r>
              <a:rPr lang="en-US" b="1" kern="0" dirty="0" err="1">
                <a:latin typeface="+mn-lt"/>
                <a:ea typeface="Open Sans" panose="020B0606030504020204" pitchFamily="34" charset="0"/>
                <a:cs typeface="Open Sans" panose="020B0606030504020204" pitchFamily="34" charset="0"/>
              </a:rPr>
              <a:t>sirènes</a:t>
            </a:r>
            <a:endParaRPr lang="en-US" b="1" kern="0" dirty="0">
              <a:latin typeface="+mn-lt"/>
              <a:ea typeface="Open Sans" panose="020B0606030504020204" pitchFamily="34" charset="0"/>
              <a:cs typeface="Open Sans" panose="020B0606030504020204" pitchFamily="34" charset="0"/>
            </a:endParaRPr>
          </a:p>
          <a:p>
            <a:pPr marL="342900" indent="-342900" eaLnBrk="0" hangingPunct="0">
              <a:lnSpc>
                <a:spcPct val="150000"/>
              </a:lnSpc>
              <a:spcBef>
                <a:spcPct val="20000"/>
              </a:spcBef>
              <a:buClr>
                <a:srgbClr val="369226"/>
              </a:buClr>
              <a:buFont typeface="Wingdings" panose="05000000000000000000" pitchFamily="2" charset="2"/>
              <a:buChar char="§"/>
            </a:pPr>
            <a:r>
              <a:rPr lang="en-US" b="1" kern="0" dirty="0" err="1">
                <a:solidFill>
                  <a:srgbClr val="369226"/>
                </a:solidFill>
                <a:latin typeface="+mn-lt"/>
                <a:ea typeface="Open Sans" panose="020B0606030504020204" pitchFamily="34" charset="0"/>
                <a:cs typeface="Open Sans" panose="020B0606030504020204" pitchFamily="34" charset="0"/>
              </a:rPr>
              <a:t>Alarme</a:t>
            </a:r>
            <a:r>
              <a:rPr lang="en-US" b="1" kern="0" dirty="0">
                <a:solidFill>
                  <a:srgbClr val="369226"/>
                </a:solidFill>
                <a:latin typeface="+mn-lt"/>
                <a:ea typeface="Open Sans" panose="020B0606030504020204" pitchFamily="34" charset="0"/>
                <a:cs typeface="Open Sans" panose="020B0606030504020204" pitchFamily="34" charset="0"/>
              </a:rPr>
              <a:t> à distance </a:t>
            </a:r>
            <a:r>
              <a:rPr lang="en-US" b="1" kern="0" dirty="0" err="1">
                <a:latin typeface="+mn-lt"/>
                <a:ea typeface="Open Sans" panose="020B0606030504020204" pitchFamily="34" charset="0"/>
                <a:cs typeface="Open Sans" panose="020B0606030504020204" pitchFamily="34" charset="0"/>
              </a:rPr>
              <a:t>notifie</a:t>
            </a:r>
            <a:r>
              <a:rPr lang="en-US" b="1" kern="0" dirty="0">
                <a:latin typeface="+mn-lt"/>
                <a:ea typeface="Open Sans" panose="020B0606030504020204" pitchFamily="34" charset="0"/>
                <a:cs typeface="Open Sans" panose="020B0606030504020204" pitchFamily="34" charset="0"/>
              </a:rPr>
              <a:t> les services </a:t>
            </a:r>
            <a:r>
              <a:rPr lang="en-US" b="1" kern="0" dirty="0" err="1">
                <a:latin typeface="+mn-lt"/>
                <a:ea typeface="Open Sans" panose="020B0606030504020204" pitchFamily="34" charset="0"/>
                <a:cs typeface="Open Sans" panose="020B0606030504020204" pitchFamily="34" charset="0"/>
              </a:rPr>
              <a:t>d'urgence</a:t>
            </a:r>
            <a:r>
              <a:rPr lang="en-US" b="1" kern="0" dirty="0">
                <a:latin typeface="+mn-lt"/>
                <a:ea typeface="Open Sans" panose="020B0606030504020204" pitchFamily="34" charset="0"/>
                <a:cs typeface="Open Sans" panose="020B0606030504020204" pitchFamily="34" charset="0"/>
              </a:rPr>
              <a:t> </a:t>
            </a:r>
            <a:r>
              <a:rPr lang="en-US" b="1" kern="0" dirty="0" err="1">
                <a:latin typeface="+mn-lt"/>
                <a:ea typeface="Open Sans" panose="020B0606030504020204" pitchFamily="34" charset="0"/>
                <a:cs typeface="Open Sans" panose="020B0606030504020204" pitchFamily="34" charset="0"/>
              </a:rPr>
              <a:t>en</a:t>
            </a:r>
            <a:r>
              <a:rPr lang="en-US" b="1" kern="0" dirty="0">
                <a:latin typeface="+mn-lt"/>
                <a:ea typeface="Open Sans" panose="020B0606030504020204" pitchFamily="34" charset="0"/>
                <a:cs typeface="Open Sans" panose="020B0606030504020204" pitchFamily="34" charset="0"/>
              </a:rPr>
              <a:t> </a:t>
            </a:r>
            <a:r>
              <a:rPr lang="en-US" b="1" kern="0" dirty="0" err="1">
                <a:latin typeface="+mn-lt"/>
                <a:ea typeface="Open Sans" panose="020B0606030504020204" pitchFamily="34" charset="0"/>
                <a:cs typeface="Open Sans" panose="020B0606030504020204" pitchFamily="34" charset="0"/>
              </a:rPr>
              <a:t>utilisant</a:t>
            </a:r>
            <a:r>
              <a:rPr lang="en-US" b="1" kern="0" dirty="0">
                <a:latin typeface="+mn-lt"/>
                <a:ea typeface="Open Sans" panose="020B0606030504020204" pitchFamily="34" charset="0"/>
                <a:cs typeface="Open Sans" panose="020B0606030504020204" pitchFamily="34" charset="0"/>
              </a:rPr>
              <a:t> les options de </a:t>
            </a:r>
            <a:r>
              <a:rPr lang="en-US" b="1" kern="0" dirty="0" err="1">
                <a:latin typeface="+mn-lt"/>
                <a:ea typeface="Open Sans" panose="020B0606030504020204" pitchFamily="34" charset="0"/>
                <a:cs typeface="Open Sans" panose="020B0606030504020204" pitchFamily="34" charset="0"/>
              </a:rPr>
              <a:t>télécommunication</a:t>
            </a:r>
            <a:endParaRPr lang="en-US" b="1" kern="0" dirty="0">
              <a:latin typeface="+mn-lt"/>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5917358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Paramétrer / armer le système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268760"/>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Si le </a:t>
            </a:r>
            <a:r>
              <a:rPr lang="en-US" sz="1800" kern="0" dirty="0" err="1">
                <a:solidFill>
                  <a:schemeClr val="tx1"/>
                </a:solidFill>
                <a:ea typeface="Open Sans" panose="020B0606030504020204" pitchFamily="34" charset="0"/>
                <a:cs typeface="Open Sans" panose="020B0606030504020204" pitchFamily="34" charset="0"/>
              </a:rPr>
              <a:t>système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est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défini</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une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alarme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est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déclenchée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lorsqu'une</a:t>
            </a:r>
            <a:r>
              <a:rPr lang="en-US" sz="1800" kern="0" dirty="0">
                <a:solidFill>
                  <a:schemeClr val="tx1"/>
                </a:solidFill>
                <a:ea typeface="Open Sans" panose="020B0606030504020204" pitchFamily="34" charset="0"/>
                <a:cs typeface="Open Sans" panose="020B0606030504020204" pitchFamily="34" charset="0"/>
              </a:rPr>
              <a:t> tentative de rupture </a:t>
            </a:r>
            <a:r>
              <a:rPr lang="en-US" sz="1800" kern="0" dirty="0" err="1">
                <a:solidFill>
                  <a:schemeClr val="tx1"/>
                </a:solidFill>
                <a:ea typeface="Open Sans" panose="020B0606030504020204" pitchFamily="34" charset="0"/>
                <a:cs typeface="Open Sans" panose="020B0606030504020204" pitchFamily="34" charset="0"/>
              </a:rPr>
              <a:t>est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détectée</a:t>
            </a: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Le </a:t>
            </a:r>
            <a:r>
              <a:rPr lang="en-US" sz="1800" kern="0" dirty="0" err="1">
                <a:solidFill>
                  <a:schemeClr val="tx1"/>
                </a:solidFill>
                <a:ea typeface="Open Sans" panose="020B0606030504020204" pitchFamily="34" charset="0"/>
                <a:cs typeface="Open Sans" panose="020B0606030504020204" pitchFamily="34" charset="0"/>
              </a:rPr>
              <a:t>système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est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défini</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ou</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annulé</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en</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utilisant</a:t>
            </a:r>
            <a:r>
              <a:rPr lang="en-US" sz="1800" kern="0" dirty="0">
                <a:solidFill>
                  <a:schemeClr val="tx1"/>
                </a:solidFill>
                <a:ea typeface="Open Sans" panose="020B0606030504020204" pitchFamily="34" charset="0"/>
                <a:cs typeface="Open Sans" panose="020B0606030504020204" pitchFamily="34" charset="0"/>
              </a:rPr>
              <a:t> un </a:t>
            </a:r>
            <a:r>
              <a:rPr lang="en-US" sz="1800" kern="0" dirty="0" err="1">
                <a:solidFill>
                  <a:schemeClr val="tx1"/>
                </a:solidFill>
                <a:ea typeface="Open Sans" panose="020B0606030504020204" pitchFamily="34" charset="0"/>
                <a:cs typeface="Open Sans" panose="020B0606030504020204" pitchFamily="34" charset="0"/>
              </a:rPr>
              <a:t>dispositif</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d'armement</a:t>
            </a:r>
            <a:r>
              <a:rPr lang="en-US" sz="1800" kern="0" dirty="0">
                <a:solidFill>
                  <a:schemeClr val="tx1"/>
                </a:solidFill>
                <a:ea typeface="Open Sans" panose="020B0606030504020204" pitchFamily="34" charset="0"/>
                <a:cs typeface="Open Sans" panose="020B0606030504020204" pitchFamily="34" charset="0"/>
              </a:rPr>
              <a:t> </a:t>
            </a: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dirty="0">
                <a:ea typeface="Open Sans" panose="020B0606030504020204" pitchFamily="34" charset="0"/>
                <a:cs typeface="Open Sans" panose="020B0606030504020204" pitchFamily="34" charset="0"/>
              </a:rPr>
              <a:t>Types </a:t>
            </a:r>
            <a:r>
              <a:rPr lang="en-US" sz="1800" kern="0" dirty="0" err="1">
                <a:ea typeface="Open Sans" panose="020B0606030504020204" pitchFamily="34" charset="0"/>
                <a:cs typeface="Open Sans" panose="020B0606030504020204" pitchFamily="34" charset="0"/>
              </a:rPr>
              <a:t>d'appareils</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d'armement</a:t>
            </a:r>
            <a:r>
              <a:rPr lang="en-US" sz="1800" kern="0" dirty="0">
                <a:ea typeface="Open Sans" panose="020B0606030504020204" pitchFamily="34" charset="0"/>
                <a:cs typeface="Open Sans" panose="020B0606030504020204" pitchFamily="34" charset="0"/>
              </a:rPr>
              <a:t> :</a:t>
            </a:r>
          </a:p>
          <a:p>
            <a:pPr lvl="1">
              <a:lnSpc>
                <a:spcPct val="150000"/>
              </a:lnSpc>
              <a:buFont typeface="Wingdings" panose="05000000000000000000" pitchFamily="2" charset="2"/>
              <a:buChar char="§"/>
              <a:defRPr/>
            </a:pPr>
            <a:r>
              <a:rPr lang="en-US" sz="1800" b="1" kern="0" dirty="0" err="1">
                <a:solidFill>
                  <a:srgbClr val="369226"/>
                </a:solidFill>
                <a:ea typeface="Open Sans" panose="020B0606030504020204" pitchFamily="34" charset="0"/>
                <a:cs typeface="Open Sans" panose="020B0606030504020204" pitchFamily="34" charset="0"/>
              </a:rPr>
              <a:t>Dispositif</a:t>
            </a:r>
            <a:r>
              <a:rPr lang="en-US" sz="1800" b="1" kern="0" dirty="0">
                <a:solidFill>
                  <a:srgbClr val="369226"/>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d'armement</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électromécanique</a:t>
            </a:r>
            <a:endParaRPr lang="en-US" sz="1800" b="1" kern="0" dirty="0">
              <a:solidFill>
                <a:schemeClr val="tx1"/>
              </a:solidFill>
              <a:ea typeface="Open Sans" panose="020B0606030504020204" pitchFamily="34" charset="0"/>
              <a:cs typeface="Open Sans" panose="020B0606030504020204" pitchFamily="34" charset="0"/>
            </a:endParaRPr>
          </a:p>
          <a:p>
            <a:pPr lvl="1">
              <a:lnSpc>
                <a:spcPct val="150000"/>
              </a:lnSpc>
              <a:buFont typeface="Wingdings" panose="05000000000000000000" pitchFamily="2" charset="2"/>
              <a:buChar char="§"/>
              <a:defRPr/>
            </a:pPr>
            <a:r>
              <a:rPr lang="en-US" sz="1800" b="1" kern="0" dirty="0" err="1">
                <a:solidFill>
                  <a:srgbClr val="369226"/>
                </a:solidFill>
                <a:ea typeface="Open Sans" panose="020B0606030504020204" pitchFamily="34" charset="0"/>
                <a:cs typeface="Open Sans" panose="020B0606030504020204" pitchFamily="34" charset="0"/>
              </a:rPr>
              <a:t>Dispositif</a:t>
            </a:r>
            <a:r>
              <a:rPr lang="en-US" sz="1800" b="1" kern="0" dirty="0">
                <a:solidFill>
                  <a:srgbClr val="369226"/>
                </a:solidFill>
                <a:ea typeface="Open Sans" panose="020B0606030504020204" pitchFamily="34" charset="0"/>
                <a:cs typeface="Open Sans" panose="020B0606030504020204" pitchFamily="34" charset="0"/>
              </a:rPr>
              <a:t> </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d'armement</a:t>
            </a:r>
            <a:r>
              <a:rPr lang="en-US" sz="1800" b="1" kern="0" dirty="0">
                <a:solidFill>
                  <a:schemeClr val="tx1"/>
                </a:solidFill>
                <a:ea typeface="Open Sans" panose="020B0606030504020204" pitchFamily="34" charset="0"/>
                <a:cs typeface="Open Sans" panose="020B0606030504020204" pitchFamily="34" charset="0"/>
              </a:rPr>
              <a:t> intelligent </a:t>
            </a:r>
          </a:p>
          <a:p>
            <a:pPr lvl="1">
              <a:lnSpc>
                <a:spcPct val="150000"/>
              </a:lnSpc>
              <a:buFont typeface="Wingdings" panose="05000000000000000000" pitchFamily="2" charset="2"/>
              <a:buChar char="§"/>
              <a:defRPr/>
            </a:pPr>
            <a:r>
              <a:rPr lang="en-US" sz="1800" b="1" kern="0" dirty="0" err="1">
                <a:solidFill>
                  <a:srgbClr val="369226"/>
                </a:solidFill>
                <a:ea typeface="Open Sans" panose="020B0606030504020204" pitchFamily="34" charset="0"/>
                <a:cs typeface="Open Sans" panose="020B0606030504020204" pitchFamily="34" charset="0"/>
              </a:rPr>
              <a:t>Dispositif</a:t>
            </a:r>
            <a:r>
              <a:rPr lang="en-US" sz="1800" b="1" kern="0" dirty="0">
                <a:solidFill>
                  <a:srgbClr val="369226"/>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d'armement</a:t>
            </a:r>
            <a:r>
              <a:rPr lang="en-US" sz="1800" b="1" kern="0" dirty="0">
                <a:solidFill>
                  <a:schemeClr val="tx1"/>
                </a:solidFill>
                <a:ea typeface="Open Sans" panose="020B0606030504020204" pitchFamily="34" charset="0"/>
                <a:cs typeface="Open Sans" panose="020B0606030504020204" pitchFamily="34" charset="0"/>
              </a:rPr>
              <a:t> de </a:t>
            </a:r>
            <a:r>
              <a:rPr lang="en-US" sz="1800" b="1" kern="0" dirty="0" err="1">
                <a:solidFill>
                  <a:schemeClr val="tx1"/>
                </a:solidFill>
                <a:ea typeface="Open Sans" panose="020B0606030504020204" pitchFamily="34" charset="0"/>
                <a:cs typeface="Open Sans" panose="020B0606030504020204" pitchFamily="34" charset="0"/>
              </a:rPr>
              <a:t>proximité</a:t>
            </a:r>
            <a:endParaRPr lang="en-US" sz="1800" b="1" kern="0" dirty="0">
              <a:solidFill>
                <a:schemeClr val="tx1"/>
              </a:solidFill>
              <a:ea typeface="Open Sans" panose="020B0606030504020204" pitchFamily="34" charset="0"/>
              <a:cs typeface="Open Sans" panose="020B0606030504020204" pitchFamily="34" charset="0"/>
            </a:endParaRPr>
          </a:p>
          <a:p>
            <a:pPr marL="0" indent="0">
              <a:lnSpc>
                <a:spcPct val="150000"/>
              </a:lnSpc>
              <a:buNone/>
              <a:defRPr/>
            </a:pPr>
            <a:endParaRPr lang="en-US" sz="18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7980469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Paramétrer / armer le système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340768"/>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err="1">
                <a:ea typeface="Open Sans" panose="020B0606030504020204" pitchFamily="34" charset="0"/>
                <a:cs typeface="Open Sans" panose="020B0606030504020204" pitchFamily="34" charset="0"/>
              </a:rPr>
              <a:t>Électromécanique</a:t>
            </a:r>
            <a:r>
              <a:rPr lang="en-US" sz="1800" kern="0" dirty="0">
                <a:ea typeface="Open Sans" panose="020B0606030504020204" pitchFamily="34" charset="0"/>
                <a:cs typeface="Open Sans" panose="020B0606030504020204" pitchFamily="34" charset="0"/>
              </a:rPr>
              <a:t> : </a:t>
            </a:r>
            <a:r>
              <a:rPr lang="en-US" sz="1800" kern="0" dirty="0">
                <a:solidFill>
                  <a:schemeClr val="tx1"/>
                </a:solidFill>
                <a:ea typeface="Open Sans" panose="020B0606030504020204" pitchFamily="34" charset="0"/>
                <a:cs typeface="Open Sans" panose="020B0606030504020204" pitchFamily="34" charset="0"/>
              </a:rPr>
              <a:t>se compose d'un </a:t>
            </a:r>
            <a:r>
              <a:rPr lang="en-US" sz="1800" kern="0" dirty="0" err="1">
                <a:solidFill>
                  <a:schemeClr val="tx1"/>
                </a:solidFill>
                <a:ea typeface="Open Sans" panose="020B0606030504020204" pitchFamily="34" charset="0"/>
                <a:cs typeface="Open Sans" panose="020B0606030504020204" pitchFamily="34" charset="0"/>
              </a:rPr>
              <a:t>verrou</a:t>
            </a:r>
            <a:r>
              <a:rPr lang="en-US" sz="1800" kern="0" dirty="0">
                <a:solidFill>
                  <a:schemeClr val="tx1"/>
                </a:solidFill>
                <a:ea typeface="Open Sans" panose="020B0606030504020204" pitchFamily="34" charset="0"/>
                <a:cs typeface="Open Sans" panose="020B0606030504020204" pitchFamily="34" charset="0"/>
              </a:rPr>
              <a:t> de commutation </a:t>
            </a:r>
            <a:r>
              <a:rPr lang="en-US" sz="1800" kern="0" dirty="0" err="1">
                <a:solidFill>
                  <a:schemeClr val="tx1"/>
                </a:solidFill>
                <a:ea typeface="Open Sans" panose="020B0606030504020204" pitchFamily="34" charset="0"/>
                <a:cs typeface="Open Sans" panose="020B0606030504020204" pitchFamily="34" charset="0"/>
              </a:rPr>
              <a:t>relié</a:t>
            </a:r>
            <a:r>
              <a:rPr lang="en-US" sz="1800" kern="0" dirty="0">
                <a:solidFill>
                  <a:schemeClr val="tx1"/>
                </a:solidFill>
                <a:ea typeface="Open Sans" panose="020B0606030504020204" pitchFamily="34" charset="0"/>
                <a:cs typeface="Open Sans" panose="020B0606030504020204" pitchFamily="34" charset="0"/>
              </a:rPr>
              <a:t> au </a:t>
            </a:r>
            <a:r>
              <a:rPr lang="en-US" sz="1800" kern="0" dirty="0" err="1">
                <a:solidFill>
                  <a:schemeClr val="tx1"/>
                </a:solidFill>
                <a:ea typeface="Open Sans" panose="020B0606030504020204" pitchFamily="34" charset="0"/>
                <a:cs typeface="Open Sans" panose="020B0606030504020204" pitchFamily="34" charset="0"/>
              </a:rPr>
              <a:t>verrouillage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mécanique</a:t>
            </a:r>
            <a:r>
              <a:rPr lang="en-US" sz="1800" kern="0" dirty="0">
                <a:solidFill>
                  <a:schemeClr val="tx1"/>
                </a:solidFill>
                <a:ea typeface="Open Sans" panose="020B0606030504020204" pitchFamily="34" charset="0"/>
                <a:cs typeface="Open Sans" panose="020B0606030504020204" pitchFamily="34" charset="0"/>
              </a:rPr>
              <a:t> de la </a:t>
            </a:r>
            <a:r>
              <a:rPr lang="en-US" sz="1800" kern="0" dirty="0" err="1">
                <a:solidFill>
                  <a:schemeClr val="tx1"/>
                </a:solidFill>
                <a:ea typeface="Open Sans" panose="020B0606030504020204" pitchFamily="34" charset="0"/>
                <a:cs typeface="Open Sans" panose="020B0606030504020204" pitchFamily="34" charset="0"/>
              </a:rPr>
              <a:t>porte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d'accès</a:t>
            </a:r>
            <a:r>
              <a:rPr lang="en-US" sz="1800" kern="0" dirty="0">
                <a:solidFill>
                  <a:schemeClr val="tx1"/>
                </a:solidFill>
                <a:ea typeface="Open Sans" panose="020B0606030504020204" pitchFamily="34" charset="0"/>
                <a:cs typeface="Open Sans" panose="020B0606030504020204" pitchFamily="34" charset="0"/>
              </a:rPr>
              <a:t>.</a:t>
            </a:r>
          </a:p>
          <a:p>
            <a:pPr>
              <a:lnSpc>
                <a:spcPct val="150000"/>
              </a:lnSpc>
              <a:defRPr/>
            </a:pPr>
            <a:endParaRPr lang="en-US" sz="1800" kern="0" dirty="0">
              <a:ea typeface="Open Sans" panose="020B0606030504020204" pitchFamily="34" charset="0"/>
              <a:cs typeface="Open Sans" panose="020B0606030504020204" pitchFamily="34" charset="0"/>
            </a:endParaRPr>
          </a:p>
          <a:p>
            <a:pPr>
              <a:lnSpc>
                <a:spcPct val="150000"/>
              </a:lnSpc>
              <a:defRPr/>
            </a:pPr>
            <a:r>
              <a:rPr lang="en-US" sz="1800" kern="0" dirty="0">
                <a:ea typeface="Open Sans" panose="020B0606030504020204" pitchFamily="34" charset="0"/>
                <a:cs typeface="Open Sans" panose="020B0606030504020204" pitchFamily="34" charset="0"/>
              </a:rPr>
              <a:t> Intelligent : </a:t>
            </a:r>
            <a:r>
              <a:rPr lang="en-US" sz="1800" kern="0" dirty="0">
                <a:solidFill>
                  <a:schemeClr val="tx1"/>
                </a:solidFill>
                <a:ea typeface="Open Sans" panose="020B0606030504020204" pitchFamily="34" charset="0"/>
                <a:cs typeface="Open Sans" panose="020B0606030504020204" pitchFamily="34" charset="0"/>
              </a:rPr>
              <a:t> le </a:t>
            </a:r>
            <a:r>
              <a:rPr lang="en-US" sz="1800" kern="0" dirty="0" err="1">
                <a:solidFill>
                  <a:schemeClr val="tx1"/>
                </a:solidFill>
                <a:ea typeface="Open Sans" panose="020B0606030504020204" pitchFamily="34" charset="0"/>
                <a:cs typeface="Open Sans" panose="020B0606030504020204" pitchFamily="34" charset="0"/>
              </a:rPr>
              <a:t>système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est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réglé</a:t>
            </a:r>
            <a:r>
              <a:rPr lang="en-US" sz="1800" kern="0" dirty="0">
                <a:solidFill>
                  <a:schemeClr val="tx1"/>
                </a:solidFill>
                <a:ea typeface="Open Sans" panose="020B0606030504020204" pitchFamily="34" charset="0"/>
                <a:cs typeface="Open Sans" panose="020B0606030504020204" pitchFamily="34" charset="0"/>
              </a:rPr>
              <a:t> à </a:t>
            </a:r>
            <a:r>
              <a:rPr lang="en-US" sz="1800" kern="0" dirty="0" err="1">
                <a:solidFill>
                  <a:schemeClr val="tx1"/>
                </a:solidFill>
                <a:ea typeface="Open Sans" panose="020B0606030504020204" pitchFamily="34" charset="0"/>
                <a:cs typeface="Open Sans" panose="020B0606030504020204" pitchFamily="34" charset="0"/>
              </a:rPr>
              <a:t>l'aide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d'une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serrure</a:t>
            </a:r>
            <a:r>
              <a:rPr lang="en-US" sz="1800" kern="0" dirty="0">
                <a:solidFill>
                  <a:schemeClr val="tx1"/>
                </a:solidFill>
                <a:ea typeface="Open Sans" panose="020B0606030504020204" pitchFamily="34" charset="0"/>
                <a:cs typeface="Open Sans" panose="020B0606030504020204" pitchFamily="34" charset="0"/>
              </a:rPr>
              <a:t> à </a:t>
            </a:r>
            <a:r>
              <a:rPr lang="en-US" sz="1800" kern="0" dirty="0" err="1">
                <a:solidFill>
                  <a:schemeClr val="tx1"/>
                </a:solidFill>
                <a:ea typeface="Open Sans" panose="020B0606030504020204" pitchFamily="34" charset="0"/>
                <a:cs typeface="Open Sans" panose="020B0606030504020204" pitchFamily="34" charset="0"/>
              </a:rPr>
              <a:t>combinaison</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liée</a:t>
            </a:r>
            <a:r>
              <a:rPr lang="en-US" sz="1800" kern="0" dirty="0">
                <a:solidFill>
                  <a:schemeClr val="tx1"/>
                </a:solidFill>
                <a:ea typeface="Open Sans" panose="020B0606030504020204" pitchFamily="34" charset="0"/>
                <a:cs typeface="Open Sans" panose="020B0606030504020204" pitchFamily="34" charset="0"/>
              </a:rPr>
              <a:t> à un </a:t>
            </a:r>
            <a:r>
              <a:rPr lang="en-US" sz="1800" kern="0" dirty="0" err="1">
                <a:solidFill>
                  <a:schemeClr val="tx1"/>
                </a:solidFill>
                <a:ea typeface="Open Sans" panose="020B0606030504020204" pitchFamily="34" charset="0"/>
                <a:cs typeface="Open Sans" panose="020B0606030504020204" pitchFamily="34" charset="0"/>
              </a:rPr>
              <a:t>verrouillage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mécanique</a:t>
            </a:r>
            <a:r>
              <a:rPr lang="en-US" sz="1800" kern="0" dirty="0">
                <a:solidFill>
                  <a:schemeClr val="tx1"/>
                </a:solidFill>
                <a:ea typeface="Open Sans" panose="020B0606030504020204" pitchFamily="34" charset="0"/>
                <a:cs typeface="Open Sans" panose="020B0606030504020204" pitchFamily="34" charset="0"/>
              </a:rPr>
              <a:t> de la </a:t>
            </a:r>
            <a:r>
              <a:rPr lang="en-US" sz="1800" kern="0" dirty="0" err="1">
                <a:solidFill>
                  <a:schemeClr val="tx1"/>
                </a:solidFill>
                <a:ea typeface="Open Sans" panose="020B0606030504020204" pitchFamily="34" charset="0"/>
                <a:cs typeface="Open Sans" panose="020B0606030504020204" pitchFamily="34" charset="0"/>
              </a:rPr>
              <a:t>porte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d'accès</a:t>
            </a:r>
            <a:r>
              <a:rPr lang="en-US" sz="1800" kern="0" dirty="0">
                <a:solidFill>
                  <a:schemeClr val="tx1"/>
                </a:solidFill>
                <a:ea typeface="Open Sans" panose="020B0606030504020204" pitchFamily="34" charset="0"/>
                <a:cs typeface="Open Sans" panose="020B0606030504020204" pitchFamily="34" charset="0"/>
              </a:rPr>
              <a:t> </a:t>
            </a:r>
            <a:r>
              <a:rPr lang="en-US" sz="1800" kern="0" dirty="0">
                <a:ea typeface="Open Sans" panose="020B0606030504020204" pitchFamily="34" charset="0"/>
                <a:cs typeface="Open Sans" panose="020B0606030504020204" pitchFamily="34" charset="0"/>
              </a:rPr>
              <a:t> </a:t>
            </a:r>
          </a:p>
          <a:p>
            <a:pPr>
              <a:lnSpc>
                <a:spcPct val="150000"/>
              </a:lnSpc>
              <a:defRPr/>
            </a:pPr>
            <a:endParaRPr lang="en-US" sz="1800" kern="0" dirty="0">
              <a:ea typeface="Open Sans" panose="020B0606030504020204" pitchFamily="34" charset="0"/>
              <a:cs typeface="Open Sans" panose="020B0606030504020204" pitchFamily="34" charset="0"/>
            </a:endParaRPr>
          </a:p>
          <a:p>
            <a:pPr>
              <a:lnSpc>
                <a:spcPct val="150000"/>
              </a:lnSpc>
              <a:defRPr/>
            </a:pPr>
            <a:r>
              <a:rPr lang="en-US" sz="1800" kern="0" dirty="0" err="1">
                <a:ea typeface="Open Sans" panose="020B0606030504020204" pitchFamily="34" charset="0"/>
                <a:cs typeface="Open Sans" panose="020B0606030504020204" pitchFamily="34" charset="0"/>
              </a:rPr>
              <a:t>Proximité</a:t>
            </a:r>
            <a:r>
              <a:rPr lang="en-US" sz="1800" kern="0" dirty="0">
                <a:ea typeface="Open Sans" panose="020B0606030504020204" pitchFamily="34" charset="0"/>
                <a:cs typeface="Open Sans" panose="020B0606030504020204" pitchFamily="34" charset="0"/>
              </a:rPr>
              <a:t> : </a:t>
            </a:r>
            <a:r>
              <a:rPr lang="en-US" sz="1800" kern="0" dirty="0">
                <a:solidFill>
                  <a:schemeClr val="tx1"/>
                </a:solidFill>
                <a:ea typeface="Open Sans" panose="020B0606030504020204" pitchFamily="34" charset="0"/>
                <a:cs typeface="Open Sans" panose="020B0606030504020204" pitchFamily="34" charset="0"/>
              </a:rPr>
              <a:t>se compose </a:t>
            </a:r>
            <a:r>
              <a:rPr lang="en-US" sz="1800" kern="0" dirty="0" err="1">
                <a:solidFill>
                  <a:schemeClr val="tx1"/>
                </a:solidFill>
                <a:ea typeface="Open Sans" panose="020B0606030504020204" pitchFamily="34" charset="0"/>
                <a:cs typeface="Open Sans" panose="020B0606030504020204" pitchFamily="34" charset="0"/>
              </a:rPr>
              <a:t>d'une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unité</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capteur</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d'une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unité</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d'évaluation</a:t>
            </a:r>
            <a:r>
              <a:rPr lang="en-US" sz="1800" kern="0" dirty="0">
                <a:solidFill>
                  <a:schemeClr val="tx1"/>
                </a:solidFill>
                <a:ea typeface="Open Sans" panose="020B0606030504020204" pitchFamily="34" charset="0"/>
                <a:cs typeface="Open Sans" panose="020B0606030504020204" pitchFamily="34" charset="0"/>
              </a:rPr>
              <a:t> et </a:t>
            </a:r>
            <a:r>
              <a:rPr lang="en-US" sz="1800" kern="0" dirty="0" err="1">
                <a:solidFill>
                  <a:schemeClr val="tx1"/>
                </a:solidFill>
                <a:ea typeface="Open Sans" panose="020B0606030504020204" pitchFamily="34" charset="0"/>
                <a:cs typeface="Open Sans" panose="020B0606030504020204" pitchFamily="34" charset="0"/>
              </a:rPr>
              <a:t>d'une</a:t>
            </a:r>
            <a:r>
              <a:rPr lang="en-US" sz="1800" kern="0" dirty="0">
                <a:solidFill>
                  <a:schemeClr val="tx1"/>
                </a:solidFill>
                <a:ea typeface="Open Sans" panose="020B0606030504020204" pitchFamily="34" charset="0"/>
                <a:cs typeface="Open Sans" panose="020B0606030504020204" pitchFamily="34" charset="0"/>
              </a:rPr>
              <a:t> carte de distribution.  La </a:t>
            </a:r>
            <a:r>
              <a:rPr lang="en-US" sz="1800" kern="0" dirty="0" err="1">
                <a:solidFill>
                  <a:schemeClr val="tx1"/>
                </a:solidFill>
                <a:ea typeface="Open Sans" panose="020B0606030504020204" pitchFamily="34" charset="0"/>
                <a:cs typeface="Open Sans" panose="020B0606030504020204" pitchFamily="34" charset="0"/>
              </a:rPr>
              <a:t>connexion</a:t>
            </a:r>
            <a:r>
              <a:rPr lang="en-US" sz="1800" kern="0" dirty="0">
                <a:solidFill>
                  <a:schemeClr val="tx1"/>
                </a:solidFill>
                <a:ea typeface="Open Sans" panose="020B0606030504020204" pitchFamily="34" charset="0"/>
                <a:cs typeface="Open Sans" panose="020B0606030504020204" pitchFamily="34" charset="0"/>
              </a:rPr>
              <a:t> et le </a:t>
            </a:r>
            <a:r>
              <a:rPr lang="en-US" sz="1800" kern="0" dirty="0" err="1">
                <a:solidFill>
                  <a:schemeClr val="tx1"/>
                </a:solidFill>
                <a:ea typeface="Open Sans" panose="020B0606030504020204" pitchFamily="34" charset="0"/>
                <a:cs typeface="Open Sans" panose="020B0606030504020204" pitchFamily="34" charset="0"/>
              </a:rPr>
              <a:t>verrouillage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peuvent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être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effectués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électriquement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ou</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mécaniquement</a:t>
            </a:r>
            <a:endParaRPr lang="en-US" sz="1800" kern="0" dirty="0">
              <a:solidFill>
                <a:schemeClr val="tx1"/>
              </a:solidFill>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0415074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Les alarmes panique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484784"/>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err="1">
                <a:solidFill>
                  <a:schemeClr val="tx1"/>
                </a:solidFill>
                <a:ea typeface="Open Sans" panose="020B0606030504020204" pitchFamily="34" charset="0"/>
                <a:cs typeface="Open Sans" panose="020B0606030504020204" pitchFamily="34" charset="0"/>
              </a:rPr>
              <a:t>Sont</a:t>
            </a:r>
            <a:r>
              <a:rPr lang="en-US" sz="1800" kern="0" dirty="0">
                <a:solidFill>
                  <a:schemeClr val="tx1"/>
                </a:solidFill>
                <a:ea typeface="Open Sans" panose="020B0606030504020204" pitchFamily="34" charset="0"/>
                <a:cs typeface="Open Sans" panose="020B0606030504020204" pitchFamily="34" charset="0"/>
              </a:rPr>
              <a:t> des boutons </a:t>
            </a:r>
            <a:r>
              <a:rPr lang="en-US" sz="1800" kern="0" dirty="0" err="1">
                <a:solidFill>
                  <a:schemeClr val="tx1"/>
                </a:solidFill>
                <a:ea typeface="Open Sans" panose="020B0606030504020204" pitchFamily="34" charset="0"/>
                <a:cs typeface="Open Sans" panose="020B0606030504020204" pitchFamily="34" charset="0"/>
              </a:rPr>
              <a:t>poussés</a:t>
            </a:r>
            <a:r>
              <a:rPr lang="en-US" sz="1800" kern="0" dirty="0">
                <a:solidFill>
                  <a:schemeClr val="tx1"/>
                </a:solidFill>
                <a:ea typeface="Open Sans" panose="020B0606030504020204" pitchFamily="34" charset="0"/>
                <a:cs typeface="Open Sans" panose="020B0606030504020204" pitchFamily="34" charset="0"/>
              </a:rPr>
              <a:t> qui </a:t>
            </a:r>
            <a:r>
              <a:rPr lang="en-US" sz="1800" kern="0" dirty="0" err="1">
                <a:solidFill>
                  <a:schemeClr val="tx1"/>
                </a:solidFill>
                <a:ea typeface="Open Sans" panose="020B0606030504020204" pitchFamily="34" charset="0"/>
                <a:cs typeface="Open Sans" panose="020B0606030504020204" pitchFamily="34" charset="0"/>
              </a:rPr>
              <a:t>sont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opérés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si</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quelqu'un</a:t>
            </a:r>
            <a:r>
              <a:rPr lang="en-US" sz="1800" kern="0" dirty="0">
                <a:solidFill>
                  <a:schemeClr val="tx1"/>
                </a:solidFill>
                <a:ea typeface="Open Sans" panose="020B0606030504020204" pitchFamily="34" charset="0"/>
                <a:cs typeface="Open Sans" panose="020B0606030504020204" pitchFamily="34" charset="0"/>
              </a:rPr>
              <a:t> se </a:t>
            </a:r>
            <a:r>
              <a:rPr lang="en-US" sz="1800" kern="0" dirty="0" err="1">
                <a:solidFill>
                  <a:schemeClr val="tx1"/>
                </a:solidFill>
                <a:ea typeface="Open Sans" panose="020B0606030504020204" pitchFamily="34" charset="0"/>
                <a:cs typeface="Open Sans" panose="020B0606030504020204" pitchFamily="34" charset="0"/>
              </a:rPr>
              <a:t>retrouve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en</a:t>
            </a:r>
            <a:r>
              <a:rPr lang="en-US" sz="1800" kern="0" dirty="0">
                <a:ea typeface="Open Sans" panose="020B0606030504020204" pitchFamily="34" charset="0"/>
                <a:cs typeface="Open Sans" panose="020B0606030504020204" pitchFamily="34" charset="0"/>
              </a:rPr>
              <a:t> danger </a:t>
            </a:r>
          </a:p>
          <a:p>
            <a:pPr>
              <a:lnSpc>
                <a:spcPct val="150000"/>
              </a:lnSpc>
              <a:defRPr/>
            </a:pPr>
            <a:endParaRPr lang="en-US" sz="12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Une </a:t>
            </a:r>
            <a:r>
              <a:rPr lang="en-US" sz="1800" kern="0" dirty="0" err="1">
                <a:solidFill>
                  <a:schemeClr val="tx1"/>
                </a:solidFill>
                <a:ea typeface="Open Sans" panose="020B0606030504020204" pitchFamily="34" charset="0"/>
                <a:cs typeface="Open Sans" panose="020B0606030504020204" pitchFamily="34" charset="0"/>
              </a:rPr>
              <a:t>alarme</a:t>
            </a:r>
            <a:r>
              <a:rPr lang="en-US" sz="1800" kern="0" dirty="0">
                <a:solidFill>
                  <a:schemeClr val="tx1"/>
                </a:solidFill>
                <a:ea typeface="Open Sans" panose="020B0606030504020204" pitchFamily="34" charset="0"/>
                <a:cs typeface="Open Sans" panose="020B0606030504020204" pitchFamily="34" charset="0"/>
              </a:rPr>
              <a:t> à distance </a:t>
            </a:r>
            <a:r>
              <a:rPr lang="en-US" sz="1800" kern="0" dirty="0" err="1">
                <a:ea typeface="Open Sans" panose="020B0606030504020204" pitchFamily="34" charset="0"/>
                <a:cs typeface="Open Sans" panose="020B0606030504020204" pitchFamily="34" charset="0"/>
              </a:rPr>
              <a:t>est</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activée</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immédiatement</a:t>
            </a:r>
            <a:r>
              <a:rPr lang="en-US" sz="1800" kern="0" dirty="0">
                <a:ea typeface="Open Sans" panose="020B0606030504020204" pitchFamily="34" charset="0"/>
                <a:cs typeface="Open Sans" panose="020B0606030504020204" pitchFamily="34" charset="0"/>
              </a:rPr>
              <a:t> </a:t>
            </a:r>
            <a:r>
              <a:rPr lang="en-US" sz="1800" kern="0" dirty="0">
                <a:solidFill>
                  <a:schemeClr val="tx1"/>
                </a:solidFill>
                <a:ea typeface="Open Sans" panose="020B0606030504020204" pitchFamily="34" charset="0"/>
                <a:cs typeface="Open Sans" panose="020B0606030504020204" pitchFamily="34" charset="0"/>
              </a:rPr>
              <a:t>après le </a:t>
            </a:r>
            <a:r>
              <a:rPr lang="en-US" sz="1800" kern="0" dirty="0" err="1">
                <a:solidFill>
                  <a:schemeClr val="tx1"/>
                </a:solidFill>
                <a:ea typeface="Open Sans" panose="020B0606030504020204" pitchFamily="34" charset="0"/>
                <a:cs typeface="Open Sans" panose="020B0606030504020204" pitchFamily="34" charset="0"/>
              </a:rPr>
              <a:t>fonctionnement</a:t>
            </a:r>
            <a:r>
              <a:rPr lang="en-US" sz="1800" kern="0" dirty="0">
                <a:solidFill>
                  <a:schemeClr val="tx1"/>
                </a:solidFill>
                <a:ea typeface="Open Sans" panose="020B0606030504020204" pitchFamily="34" charset="0"/>
                <a:cs typeface="Open Sans" panose="020B0606030504020204" pitchFamily="34" charset="0"/>
              </a:rPr>
              <a:t> du bouton </a:t>
            </a:r>
            <a:r>
              <a:rPr lang="en-US" sz="1800" kern="0" dirty="0" err="1">
                <a:solidFill>
                  <a:schemeClr val="tx1"/>
                </a:solidFill>
                <a:ea typeface="Open Sans" panose="020B0606030504020204" pitchFamily="34" charset="0"/>
                <a:cs typeface="Open Sans" panose="020B0606030504020204" pitchFamily="34" charset="0"/>
              </a:rPr>
              <a:t>pousser</a:t>
            </a:r>
            <a:r>
              <a:rPr lang="en-US" sz="1800" kern="0" dirty="0">
                <a:solidFill>
                  <a:schemeClr val="tx1"/>
                </a:solidFill>
                <a:ea typeface="Open Sans" panose="020B0606030504020204" pitchFamily="34" charset="0"/>
                <a:cs typeface="Open Sans" panose="020B0606030504020204" pitchFamily="34" charset="0"/>
              </a:rPr>
              <a:t>. Une </a:t>
            </a:r>
            <a:r>
              <a:rPr lang="en-US" sz="1800" kern="0" dirty="0" err="1">
                <a:solidFill>
                  <a:schemeClr val="tx1"/>
                </a:solidFill>
                <a:ea typeface="Open Sans" panose="020B0606030504020204" pitchFamily="34" charset="0"/>
                <a:cs typeface="Open Sans" panose="020B0606030504020204" pitchFamily="34" charset="0"/>
              </a:rPr>
              <a:t>alarme</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panique</a:t>
            </a:r>
            <a:r>
              <a:rPr lang="en-US" sz="1800" kern="0" dirty="0">
                <a:solidFill>
                  <a:schemeClr val="tx1"/>
                </a:solidFill>
                <a:ea typeface="Open Sans" panose="020B0606030504020204" pitchFamily="34" charset="0"/>
                <a:cs typeface="Open Sans" panose="020B0606030504020204" pitchFamily="34" charset="0"/>
              </a:rPr>
              <a:t> ne </a:t>
            </a:r>
            <a:r>
              <a:rPr lang="en-US" sz="1800" kern="0" dirty="0" err="1">
                <a:solidFill>
                  <a:schemeClr val="tx1"/>
                </a:solidFill>
                <a:ea typeface="Open Sans" panose="020B0606030504020204" pitchFamily="34" charset="0"/>
                <a:cs typeface="Open Sans" panose="020B0606030504020204" pitchFamily="34" charset="0"/>
              </a:rPr>
              <a:t>peut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déclencher</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une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alarme</a:t>
            </a:r>
            <a:r>
              <a:rPr lang="en-US" sz="1800" kern="0" dirty="0">
                <a:solidFill>
                  <a:schemeClr val="tx1"/>
                </a:solidFill>
                <a:ea typeface="Open Sans" panose="020B0606030504020204" pitchFamily="34" charset="0"/>
                <a:cs typeface="Open Sans" panose="020B0606030504020204" pitchFamily="34" charset="0"/>
              </a:rPr>
              <a:t> locale que </a:t>
            </a:r>
            <a:r>
              <a:rPr lang="en-US" sz="1800" kern="0" dirty="0" err="1">
                <a:solidFill>
                  <a:schemeClr val="tx1"/>
                </a:solidFill>
                <a:ea typeface="Open Sans" panose="020B0606030504020204" pitchFamily="34" charset="0"/>
                <a:cs typeface="Open Sans" panose="020B0606030504020204" pitchFamily="34" charset="0"/>
              </a:rPr>
              <a:t>si</a:t>
            </a:r>
            <a:r>
              <a:rPr lang="en-US" sz="1800" kern="0" dirty="0">
                <a:solidFill>
                  <a:schemeClr val="tx1"/>
                </a:solidFill>
                <a:ea typeface="Open Sans" panose="020B0606030504020204" pitchFamily="34" charset="0"/>
                <a:cs typeface="Open Sans" panose="020B0606030504020204" pitchFamily="34" charset="0"/>
              </a:rPr>
              <a:t> la route de transmission de </a:t>
            </a:r>
            <a:r>
              <a:rPr lang="en-US" sz="1800" kern="0" dirty="0" err="1">
                <a:solidFill>
                  <a:schemeClr val="tx1"/>
                </a:solidFill>
                <a:ea typeface="Open Sans" panose="020B0606030504020204" pitchFamily="34" charset="0"/>
                <a:cs typeface="Open Sans" panose="020B0606030504020204" pitchFamily="34" charset="0"/>
              </a:rPr>
              <a:t>l'alarme</a:t>
            </a:r>
            <a:r>
              <a:rPr lang="en-US" sz="1800" kern="0" dirty="0">
                <a:solidFill>
                  <a:schemeClr val="tx1"/>
                </a:solidFill>
                <a:ea typeface="Open Sans" panose="020B0606030504020204" pitchFamily="34" charset="0"/>
                <a:cs typeface="Open Sans" panose="020B0606030504020204" pitchFamily="34" charset="0"/>
              </a:rPr>
              <a:t> à distance </a:t>
            </a:r>
            <a:r>
              <a:rPr lang="en-US" sz="1800" kern="0" dirty="0" err="1">
                <a:solidFill>
                  <a:schemeClr val="tx1"/>
                </a:solidFill>
                <a:ea typeface="Open Sans" panose="020B0606030504020204" pitchFamily="34" charset="0"/>
                <a:cs typeface="Open Sans" panose="020B0606030504020204" pitchFamily="34" charset="0"/>
              </a:rPr>
              <a:t>est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perturbée</a:t>
            </a: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2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 Une </a:t>
            </a:r>
            <a:r>
              <a:rPr lang="en-US" sz="1800" kern="0" dirty="0" err="1">
                <a:solidFill>
                  <a:schemeClr val="tx1"/>
                </a:solidFill>
                <a:ea typeface="Open Sans" panose="020B0606030504020204" pitchFamily="34" charset="0"/>
                <a:cs typeface="Open Sans" panose="020B0606030504020204" pitchFamily="34" charset="0"/>
              </a:rPr>
              <a:t>autre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possibilité</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est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une</a:t>
            </a:r>
            <a:r>
              <a:rPr lang="en-US" sz="1800" kern="0" dirty="0">
                <a:solidFill>
                  <a:schemeClr val="tx1"/>
                </a:solidFill>
                <a:ea typeface="Open Sans" panose="020B0606030504020204" pitchFamily="34" charset="0"/>
                <a:cs typeface="Open Sans" panose="020B0606030504020204" pitchFamily="34" charset="0"/>
              </a:rPr>
              <a:t> </a:t>
            </a:r>
            <a:r>
              <a:rPr sz="2400" dirty="0"/>
              <a:t> </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alarme</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silencieuse</a:t>
            </a:r>
            <a:r>
              <a:rPr lang="en-US" sz="1800" kern="0" dirty="0">
                <a:ea typeface="Open Sans" panose="020B0606030504020204" pitchFamily="34" charset="0"/>
                <a:cs typeface="Open Sans" panose="020B0606030504020204" pitchFamily="34" charset="0"/>
              </a:rPr>
              <a:t> </a:t>
            </a:r>
            <a:r>
              <a:rPr lang="en-US" sz="1800" kern="0" dirty="0">
                <a:solidFill>
                  <a:schemeClr val="tx1"/>
                </a:solidFill>
                <a:ea typeface="Open Sans" panose="020B0606030504020204" pitchFamily="34" charset="0"/>
                <a:cs typeface="Open Sans" panose="020B0606030504020204" pitchFamily="34" charset="0"/>
              </a:rPr>
              <a:t> dans un bureau de </a:t>
            </a:r>
            <a:r>
              <a:rPr lang="en-US" sz="1800" kern="0" dirty="0" err="1">
                <a:solidFill>
                  <a:schemeClr val="tx1"/>
                </a:solidFill>
                <a:ea typeface="Open Sans" panose="020B0606030504020204" pitchFamily="34" charset="0"/>
                <a:cs typeface="Open Sans" panose="020B0606030504020204" pitchFamily="34" charset="0"/>
              </a:rPr>
              <a:t>réception</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d'alarme</a:t>
            </a:r>
            <a:r>
              <a:rPr lang="en-US" sz="1800" kern="0" dirty="0">
                <a:solidFill>
                  <a:schemeClr val="tx1"/>
                </a:solidFill>
                <a:ea typeface="Open Sans" panose="020B0606030504020204" pitchFamily="34" charset="0"/>
                <a:cs typeface="Open Sans" panose="020B0606030504020204" pitchFamily="34" charset="0"/>
              </a:rPr>
              <a:t> (personnel de </a:t>
            </a:r>
            <a:r>
              <a:rPr lang="en-US" sz="1800" kern="0" dirty="0" err="1">
                <a:solidFill>
                  <a:schemeClr val="tx1"/>
                </a:solidFill>
                <a:ea typeface="Open Sans" panose="020B0606030504020204" pitchFamily="34" charset="0"/>
                <a:cs typeface="Open Sans" panose="020B0606030504020204" pitchFamily="34" charset="0"/>
              </a:rPr>
              <a:t>sécurité</a:t>
            </a:r>
            <a:r>
              <a:rPr lang="en-US" sz="1800" kern="0" dirty="0">
                <a:solidFill>
                  <a:schemeClr val="tx1"/>
                </a:solidFill>
                <a:ea typeface="Open Sans" panose="020B0606030504020204" pitchFamily="34" charset="0"/>
                <a:cs typeface="Open Sans" panose="020B0606030504020204" pitchFamily="34" charset="0"/>
              </a:rPr>
              <a:t>) </a:t>
            </a:r>
            <a:r>
              <a:rPr lang="en-US" sz="1800" kern="0" dirty="0">
                <a:ea typeface="Open Sans" panose="020B0606030504020204" pitchFamily="34" charset="0"/>
                <a:cs typeface="Open Sans" panose="020B0606030504020204" pitchFamily="34" charset="0"/>
              </a:rPr>
              <a:t> </a:t>
            </a:r>
          </a:p>
        </p:txBody>
      </p:sp>
    </p:spTree>
    <p:extLst>
      <p:ext uri="{BB962C8B-B14F-4D97-AF65-F5344CB8AC3E}">
        <p14:creationId xmlns:p14="http://schemas.microsoft.com/office/powerpoint/2010/main" val="36732503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621630"/>
            <a:ext cx="6912247" cy="719138"/>
          </a:xfrm>
        </p:spPr>
        <p:txBody>
          <a:bodyPr/>
          <a:lstStyle/>
          <a:p>
            <a:r>
              <a:rPr lang="en-US" sz="2000" dirty="0"/>
              <a:t>La surveillance des </a:t>
            </a:r>
            <a:r>
              <a:rPr lang="en-US" sz="2000" dirty="0" err="1"/>
              <a:t>ouvertures</a:t>
            </a:r>
            <a:r>
              <a:rPr lang="en-US" sz="2000" dirty="0"/>
              <a:t> et du </a:t>
            </a:r>
            <a:r>
              <a:rPr lang="en-US" sz="2000" dirty="0" err="1"/>
              <a:t>verrouillage</a:t>
            </a:r>
            <a:endParaRPr lang="en-GB" sz="2000"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268760"/>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L'état</a:t>
            </a:r>
            <a:r>
              <a:rPr lang="en-US" sz="1600" kern="0" dirty="0">
                <a:solidFill>
                  <a:schemeClr val="tx1"/>
                </a:solidFill>
                <a:ea typeface="Open Sans" panose="020B0606030504020204" pitchFamily="34" charset="0"/>
                <a:cs typeface="Open Sans" panose="020B0606030504020204" pitchFamily="34" charset="0"/>
              </a:rPr>
              <a:t> des </a:t>
            </a:r>
            <a:r>
              <a:rPr lang="en-US" sz="1600" kern="0" dirty="0" err="1">
                <a:solidFill>
                  <a:schemeClr val="tx1"/>
                </a:solidFill>
                <a:ea typeface="Open Sans" panose="020B0606030504020204" pitchFamily="34" charset="0"/>
                <a:cs typeface="Open Sans" panose="020B0606030504020204" pitchFamily="34" charset="0"/>
              </a:rPr>
              <a:t>portes</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fenêtres</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ou</a:t>
            </a:r>
            <a:r>
              <a:rPr lang="en-US" sz="1600" kern="0" dirty="0">
                <a:solidFill>
                  <a:schemeClr val="tx1"/>
                </a:solidFill>
                <a:ea typeface="Open Sans" panose="020B0606030504020204" pitchFamily="34" charset="0"/>
                <a:cs typeface="Open Sans" panose="020B0606030504020204" pitchFamily="34" charset="0"/>
              </a:rPr>
              <a:t> lucarnes </a:t>
            </a:r>
            <a:r>
              <a:rPr lang="en-US" sz="1600" kern="0" dirty="0" err="1">
                <a:solidFill>
                  <a:schemeClr val="tx1"/>
                </a:solidFill>
                <a:ea typeface="Open Sans" panose="020B0606030504020204" pitchFamily="34" charset="0"/>
                <a:cs typeface="Open Sans" panose="020B0606030504020204" pitchFamily="34" charset="0"/>
              </a:rPr>
              <a:t>est</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observé</a:t>
            </a:r>
            <a:r>
              <a:rPr lang="en-US" sz="1600" kern="0" dirty="0">
                <a:solidFill>
                  <a:schemeClr val="tx1"/>
                </a:solidFill>
                <a:ea typeface="Open Sans" panose="020B0606030504020204" pitchFamily="34" charset="0"/>
                <a:cs typeface="Open Sans" panose="020B0606030504020204" pitchFamily="34" charset="0"/>
              </a:rPr>
              <a:t> à </a:t>
            </a:r>
            <a:r>
              <a:rPr lang="en-US" sz="1600" kern="0" dirty="0" err="1">
                <a:solidFill>
                  <a:schemeClr val="tx1"/>
                </a:solidFill>
                <a:ea typeface="Open Sans" panose="020B0606030504020204" pitchFamily="34" charset="0"/>
                <a:cs typeface="Open Sans" panose="020B0606030504020204" pitchFamily="34" charset="0"/>
              </a:rPr>
              <a:t>l'aide</a:t>
            </a:r>
            <a:r>
              <a:rPr lang="en-US" sz="1600" kern="0" dirty="0">
                <a:solidFill>
                  <a:schemeClr val="tx1"/>
                </a:solidFill>
                <a:ea typeface="Open Sans" panose="020B0606030504020204" pitchFamily="34" charset="0"/>
                <a:cs typeface="Open Sans" panose="020B0606030504020204" pitchFamily="34" charset="0"/>
              </a:rPr>
              <a:t> de </a:t>
            </a:r>
            <a:r>
              <a:rPr sz="2000" dirty="0"/>
              <a:t> </a:t>
            </a:r>
            <a:r>
              <a:rPr lang="en-US" sz="1600" kern="0" dirty="0">
                <a:ea typeface="Open Sans" panose="020B0606030504020204" pitchFamily="34" charset="0"/>
                <a:cs typeface="Open Sans" panose="020B0606030504020204" pitchFamily="34" charset="0"/>
              </a:rPr>
              <a:t> surveillance </a:t>
            </a:r>
            <a:r>
              <a:rPr lang="en-US" sz="1600" kern="0" dirty="0" err="1">
                <a:ea typeface="Open Sans" panose="020B0606030504020204" pitchFamily="34" charset="0"/>
                <a:cs typeface="Open Sans" panose="020B0606030504020204" pitchFamily="34" charset="0"/>
              </a:rPr>
              <a:t>serrure</a:t>
            </a:r>
            <a:r>
              <a:rPr lang="en-US" sz="1600" kern="0" dirty="0">
                <a:ea typeface="Open Sans" panose="020B0606030504020204" pitchFamily="34" charset="0"/>
                <a:cs typeface="Open Sans" panose="020B0606030504020204" pitchFamily="34" charset="0"/>
              </a:rPr>
              <a:t> </a:t>
            </a:r>
            <a:r>
              <a:rPr lang="en-US" sz="1600" kern="0" dirty="0">
                <a:solidFill>
                  <a:schemeClr val="tx1"/>
                </a:solidFill>
                <a:ea typeface="Open Sans" panose="020B0606030504020204" pitchFamily="34" charset="0"/>
                <a:cs typeface="Open Sans" panose="020B0606030504020204" pitchFamily="34" charset="0"/>
              </a:rPr>
              <a:t>.  Une </a:t>
            </a:r>
            <a:r>
              <a:rPr lang="en-US" sz="1600" kern="0" dirty="0">
                <a:ea typeface="Open Sans" panose="020B0606030504020204" pitchFamily="34" charset="0"/>
                <a:cs typeface="Open Sans" panose="020B0606030504020204" pitchFamily="34" charset="0"/>
              </a:rPr>
              <a:t>perturbation dans le circuit </a:t>
            </a:r>
            <a:r>
              <a:rPr lang="en-US" sz="1600" kern="0" dirty="0" err="1">
                <a:ea typeface="Open Sans" panose="020B0606030504020204" pitchFamily="34" charset="0"/>
                <a:cs typeface="Open Sans" panose="020B0606030504020204" pitchFamily="34" charset="0"/>
              </a:rPr>
              <a:t>ou</a:t>
            </a:r>
            <a:r>
              <a:rPr lang="en-US" sz="1600" kern="0" dirty="0">
                <a:ea typeface="Open Sans" panose="020B0606030504020204" pitchFamily="34" charset="0"/>
                <a:cs typeface="Open Sans" panose="020B0606030504020204" pitchFamily="34" charset="0"/>
              </a:rPr>
              <a:t> la zone </a:t>
            </a:r>
            <a:r>
              <a:rPr lang="en-US" sz="1600" kern="0" dirty="0">
                <a:solidFill>
                  <a:schemeClr val="tx1"/>
                </a:solidFill>
                <a:ea typeface="Open Sans" panose="020B0606030504020204" pitchFamily="34" charset="0"/>
                <a:cs typeface="Open Sans" panose="020B0606030504020204" pitchFamily="34" charset="0"/>
              </a:rPr>
              <a:t>ne conduit pas à </a:t>
            </a:r>
            <a:r>
              <a:rPr lang="en-US" sz="1600" kern="0" dirty="0" err="1">
                <a:solidFill>
                  <a:schemeClr val="tx1"/>
                </a:solidFill>
                <a:ea typeface="Open Sans" panose="020B0606030504020204" pitchFamily="34" charset="0"/>
                <a:cs typeface="Open Sans" panose="020B0606030504020204" pitchFamily="34" charset="0"/>
              </a:rPr>
              <a:t>une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alarme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mais</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empêche</a:t>
            </a:r>
            <a:r>
              <a:rPr lang="en-US" sz="1600" kern="0" dirty="0">
                <a:solidFill>
                  <a:schemeClr val="tx1"/>
                </a:solidFill>
                <a:ea typeface="Open Sans" panose="020B0606030504020204" pitchFamily="34" charset="0"/>
                <a:cs typeface="Open Sans" panose="020B0606030504020204" pitchFamily="34" charset="0"/>
              </a:rPr>
              <a:t> le </a:t>
            </a:r>
            <a:r>
              <a:rPr lang="en-US" sz="1600" kern="0" dirty="0" err="1">
                <a:solidFill>
                  <a:schemeClr val="tx1"/>
                </a:solidFill>
                <a:ea typeface="Open Sans" panose="020B0606030504020204" pitchFamily="34" charset="0"/>
                <a:cs typeface="Open Sans" panose="020B0606030504020204" pitchFamily="34" charset="0"/>
              </a:rPr>
              <a:t>système</a:t>
            </a:r>
            <a:r>
              <a:rPr lang="en-US" sz="1600" kern="0" dirty="0">
                <a:solidFill>
                  <a:schemeClr val="tx1"/>
                </a:solidFill>
                <a:ea typeface="Open Sans" panose="020B0606030504020204" pitchFamily="34" charset="0"/>
                <a:cs typeface="Open Sans" panose="020B0606030504020204" pitchFamily="34" charset="0"/>
              </a:rPr>
              <a:t> d'être </a:t>
            </a:r>
            <a:r>
              <a:rPr lang="en-US" sz="1600" kern="0" dirty="0" err="1">
                <a:solidFill>
                  <a:schemeClr val="tx1"/>
                </a:solidFill>
                <a:ea typeface="Open Sans" panose="020B0606030504020204" pitchFamily="34" charset="0"/>
                <a:cs typeface="Open Sans" panose="020B0606030504020204" pitchFamily="34" charset="0"/>
              </a:rPr>
              <a:t>réglé</a:t>
            </a:r>
            <a:endParaRPr lang="en-US" sz="16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GB" sz="16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GB" sz="1600" kern="0" dirty="0">
                <a:ea typeface="Open Sans" panose="020B0606030504020204" pitchFamily="34" charset="0"/>
                <a:cs typeface="Open Sans" panose="020B0606030504020204" pitchFamily="34" charset="0"/>
              </a:rPr>
              <a:t>Les contacts à </a:t>
            </a:r>
            <a:r>
              <a:rPr lang="en-GB" sz="1600" kern="0" dirty="0" err="1">
                <a:ea typeface="Open Sans" panose="020B0606030504020204" pitchFamily="34" charset="0"/>
                <a:cs typeface="Open Sans" panose="020B0606030504020204" pitchFamily="34" charset="0"/>
              </a:rPr>
              <a:t>anneaux</a:t>
            </a:r>
            <a:r>
              <a:rPr lang="en-GB" sz="1600" kern="0" dirty="0">
                <a:ea typeface="Open Sans" panose="020B0606030504020204" pitchFamily="34" charset="0"/>
                <a:cs typeface="Open Sans" panose="020B0606030504020204" pitchFamily="34" charset="0"/>
              </a:rPr>
              <a:t> </a:t>
            </a:r>
            <a:r>
              <a:rPr lang="en-GB" sz="1600" kern="0" dirty="0" err="1">
                <a:ea typeface="Open Sans" panose="020B0606030504020204" pitchFamily="34" charset="0"/>
                <a:cs typeface="Open Sans" panose="020B0606030504020204" pitchFamily="34" charset="0"/>
              </a:rPr>
              <a:t>magnétiques</a:t>
            </a:r>
            <a:r>
              <a:rPr lang="en-GB" sz="1600" kern="0" dirty="0">
                <a:ea typeface="Open Sans" panose="020B0606030504020204" pitchFamily="34" charset="0"/>
                <a:cs typeface="Open Sans" panose="020B0606030504020204" pitchFamily="34" charset="0"/>
              </a:rPr>
              <a:t> </a:t>
            </a:r>
            <a:r>
              <a:rPr lang="en-GB" sz="1600" kern="0" dirty="0" err="1">
                <a:solidFill>
                  <a:schemeClr val="tx1"/>
                </a:solidFill>
                <a:ea typeface="Open Sans" panose="020B0606030504020204" pitchFamily="34" charset="0"/>
                <a:cs typeface="Open Sans" panose="020B0606030504020204" pitchFamily="34" charset="0"/>
              </a:rPr>
              <a:t>sont</a:t>
            </a:r>
            <a:r>
              <a:rPr lang="en-GB" sz="1600" kern="0" dirty="0">
                <a:solidFill>
                  <a:schemeClr val="tx1"/>
                </a:solidFill>
                <a:ea typeface="Open Sans" panose="020B0606030504020204" pitchFamily="34" charset="0"/>
                <a:cs typeface="Open Sans" panose="020B0606030504020204" pitchFamily="34" charset="0"/>
              </a:rPr>
              <a:t> </a:t>
            </a:r>
            <a:r>
              <a:rPr lang="en-GB" sz="1600" kern="0" dirty="0" err="1">
                <a:solidFill>
                  <a:schemeClr val="tx1"/>
                </a:solidFill>
                <a:ea typeface="Open Sans" panose="020B0606030504020204" pitchFamily="34" charset="0"/>
                <a:cs typeface="Open Sans" panose="020B0606030504020204" pitchFamily="34" charset="0"/>
              </a:rPr>
              <a:t>utilisés</a:t>
            </a:r>
            <a:r>
              <a:rPr lang="en-GB" sz="1600" kern="0" dirty="0">
                <a:solidFill>
                  <a:schemeClr val="tx1"/>
                </a:solidFill>
                <a:ea typeface="Open Sans" panose="020B0606030504020204" pitchFamily="34" charset="0"/>
                <a:cs typeface="Open Sans" panose="020B0606030504020204" pitchFamily="34" charset="0"/>
              </a:rPr>
              <a:t> pour </a:t>
            </a:r>
            <a:r>
              <a:rPr lang="en-GB" sz="1600" kern="0" dirty="0">
                <a:ea typeface="Open Sans" panose="020B0606030504020204" pitchFamily="34" charset="0"/>
                <a:cs typeface="Open Sans" panose="020B0606030504020204" pitchFamily="34" charset="0"/>
              </a:rPr>
              <a:t>la surveillance </a:t>
            </a:r>
            <a:r>
              <a:rPr lang="en-GB" sz="1600" kern="0" dirty="0" err="1">
                <a:ea typeface="Open Sans" panose="020B0606030504020204" pitchFamily="34" charset="0"/>
                <a:cs typeface="Open Sans" panose="020B0606030504020204" pitchFamily="34" charset="0"/>
              </a:rPr>
              <a:t>d'ouverture</a:t>
            </a:r>
            <a:r>
              <a:rPr lang="en-GB" sz="1600" kern="0" dirty="0">
                <a:ea typeface="Open Sans" panose="020B0606030504020204" pitchFamily="34" charset="0"/>
                <a:cs typeface="Open Sans" panose="020B0606030504020204" pitchFamily="34" charset="0"/>
              </a:rPr>
              <a:t> </a:t>
            </a:r>
            <a:r>
              <a:rPr lang="en-GB" sz="1600" kern="0" dirty="0">
                <a:solidFill>
                  <a:schemeClr val="tx1"/>
                </a:solidFill>
                <a:ea typeface="Open Sans" panose="020B0606030504020204" pitchFamily="34" charset="0"/>
                <a:cs typeface="Open Sans" panose="020B0606030504020204" pitchFamily="34" charset="0"/>
              </a:rPr>
              <a:t>des </a:t>
            </a:r>
            <a:r>
              <a:rPr lang="en-GB" sz="1600" kern="0" dirty="0" err="1">
                <a:solidFill>
                  <a:schemeClr val="tx1"/>
                </a:solidFill>
                <a:ea typeface="Open Sans" panose="020B0606030504020204" pitchFamily="34" charset="0"/>
                <a:cs typeface="Open Sans" panose="020B0606030504020204" pitchFamily="34" charset="0"/>
              </a:rPr>
              <a:t>portes</a:t>
            </a:r>
            <a:r>
              <a:rPr lang="en-GB" sz="1600" kern="0" dirty="0">
                <a:solidFill>
                  <a:schemeClr val="tx1"/>
                </a:solidFill>
                <a:ea typeface="Open Sans" panose="020B0606030504020204" pitchFamily="34" charset="0"/>
                <a:cs typeface="Open Sans" panose="020B0606030504020204" pitchFamily="34" charset="0"/>
              </a:rPr>
              <a:t>, des </a:t>
            </a:r>
            <a:r>
              <a:rPr lang="en-GB" sz="1600" kern="0" dirty="0" err="1">
                <a:solidFill>
                  <a:schemeClr val="tx1"/>
                </a:solidFill>
                <a:ea typeface="Open Sans" panose="020B0606030504020204" pitchFamily="34" charset="0"/>
                <a:cs typeface="Open Sans" panose="020B0606030504020204" pitchFamily="34" charset="0"/>
              </a:rPr>
              <a:t>fenêtres</a:t>
            </a:r>
            <a:r>
              <a:rPr lang="en-GB" sz="1600" kern="0" dirty="0">
                <a:solidFill>
                  <a:schemeClr val="tx1"/>
                </a:solidFill>
                <a:ea typeface="Open Sans" panose="020B0606030504020204" pitchFamily="34" charset="0"/>
                <a:cs typeface="Open Sans" panose="020B0606030504020204" pitchFamily="34" charset="0"/>
              </a:rPr>
              <a:t> et des lucarnes</a:t>
            </a:r>
            <a:endParaRPr lang="en-US" sz="1600" kern="0" dirty="0">
              <a:solidFill>
                <a:schemeClr val="tx1"/>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1800" kern="0" dirty="0">
              <a:ea typeface="Open Sans" panose="020B0606030504020204" pitchFamily="34" charset="0"/>
              <a:cs typeface="Open Sans" panose="020B0606030504020204" pitchFamily="34" charset="0"/>
            </a:endParaRPr>
          </a:p>
        </p:txBody>
      </p:sp>
      <p:graphicFrame>
        <p:nvGraphicFramePr>
          <p:cNvPr id="4" name="Object 3">
            <a:extLst>
              <a:ext uri="{FF2B5EF4-FFF2-40B4-BE49-F238E27FC236}">
                <a16:creationId xmlns:a16="http://schemas.microsoft.com/office/drawing/2014/main" id="{E5C40ADB-705F-430D-BF38-CCA26D9E1205}"/>
              </a:ext>
            </a:extLst>
          </p:cNvPr>
          <p:cNvGraphicFramePr>
            <a:graphicFrameLocks noChangeAspect="1"/>
          </p:cNvGraphicFramePr>
          <p:nvPr/>
        </p:nvGraphicFramePr>
        <p:xfrm>
          <a:off x="935344" y="4869160"/>
          <a:ext cx="7770416" cy="1092370"/>
        </p:xfrm>
        <a:graphic>
          <a:graphicData uri="http://schemas.openxmlformats.org/presentationml/2006/ole">
            <mc:AlternateContent xmlns:mc="http://schemas.openxmlformats.org/markup-compatibility/2006">
              <mc:Choice xmlns:v="urn:schemas-microsoft-com:vml" Requires="v">
                <p:oleObj r:id="rId3" imgW="9922689" imgH="1403179" progId="Visio.Drawing.15">
                  <p:embed/>
                </p:oleObj>
              </mc:Choice>
              <mc:Fallback>
                <p:oleObj r:id="rId3" imgW="9922689" imgH="1403179" progId="Visio.Drawing.15">
                  <p:embed/>
                  <p:pic>
                    <p:nvPicPr>
                      <p:cNvPr id="4" name="Object 3">
                        <a:extLst>
                          <a:ext uri="{FF2B5EF4-FFF2-40B4-BE49-F238E27FC236}">
                            <a16:creationId xmlns:a16="http://schemas.microsoft.com/office/drawing/2014/main" id="{E5C40ADB-705F-430D-BF38-CCA26D9E12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5344" y="4869160"/>
                        <a:ext cx="7770416" cy="1092370"/>
                      </a:xfrm>
                      <a:prstGeom prst="rect">
                        <a:avLst/>
                      </a:prstGeom>
                      <a:noFill/>
                    </p:spPr>
                  </p:pic>
                </p:oleObj>
              </mc:Fallback>
            </mc:AlternateContent>
          </a:graphicData>
        </a:graphic>
      </p:graphicFrame>
    </p:spTree>
    <p:extLst>
      <p:ext uri="{BB962C8B-B14F-4D97-AF65-F5344CB8AC3E}">
        <p14:creationId xmlns:p14="http://schemas.microsoft.com/office/powerpoint/2010/main" val="25038279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549622"/>
            <a:ext cx="6696223" cy="719138"/>
          </a:xfrm>
        </p:spPr>
        <p:txBody>
          <a:bodyPr/>
          <a:lstStyle/>
          <a:p>
            <a:r>
              <a:rPr lang="en-US" sz="2400" dirty="0"/>
              <a:t>Types de contacts </a:t>
            </a:r>
            <a:r>
              <a:rPr lang="en-US" sz="2400" dirty="0" err="1"/>
              <a:t>en</a:t>
            </a:r>
            <a:r>
              <a:rPr lang="en-US" sz="2400" dirty="0"/>
              <a:t> </a:t>
            </a:r>
            <a:r>
              <a:rPr lang="en-US" sz="2400" dirty="0" err="1"/>
              <a:t>roseau</a:t>
            </a:r>
            <a:r>
              <a:rPr lang="en-US" sz="2400" dirty="0"/>
              <a:t> </a:t>
            </a:r>
            <a:r>
              <a:rPr lang="en-US" sz="2400" dirty="0" err="1"/>
              <a:t>magnétique</a:t>
            </a:r>
            <a:endParaRPr lang="en-GB" sz="2400"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269454"/>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600" kern="0" dirty="0">
                <a:ea typeface="Open Sans" panose="020B0606030504020204" pitchFamily="34" charset="0"/>
                <a:cs typeface="Open Sans" panose="020B0606030504020204" pitchFamily="34" charset="0"/>
              </a:rPr>
              <a:t> Contact </a:t>
            </a:r>
            <a:r>
              <a:rPr lang="en-US" sz="1600" kern="0" dirty="0" err="1">
                <a:ea typeface="Open Sans" panose="020B0606030504020204" pitchFamily="34" charset="0"/>
                <a:cs typeface="Open Sans" panose="020B0606030504020204" pitchFamily="34" charset="0"/>
              </a:rPr>
              <a:t>roseau</a:t>
            </a:r>
            <a:r>
              <a:rPr lang="en-US" sz="1600" kern="0" dirty="0">
                <a:ea typeface="Open Sans" panose="020B0606030504020204" pitchFamily="34" charset="0"/>
                <a:cs typeface="Open Sans" panose="020B0606030504020204" pitchFamily="34" charset="0"/>
              </a:rPr>
              <a:t> </a:t>
            </a:r>
            <a:r>
              <a:rPr lang="en-US" sz="1600" kern="0" dirty="0" err="1">
                <a:ea typeface="Open Sans" panose="020B0606030504020204" pitchFamily="34" charset="0"/>
                <a:cs typeface="Open Sans" panose="020B0606030504020204" pitchFamily="34" charset="0"/>
              </a:rPr>
              <a:t>magnétique</a:t>
            </a:r>
            <a:r>
              <a:rPr lang="en-US" sz="1600" kern="0" dirty="0">
                <a:ea typeface="Open Sans" panose="020B0606030504020204" pitchFamily="34" charset="0"/>
                <a:cs typeface="Open Sans" panose="020B0606030504020204" pitchFamily="34" charset="0"/>
              </a:rPr>
              <a:t> </a:t>
            </a:r>
            <a:r>
              <a:rPr lang="en-US" sz="1600" kern="0" dirty="0" err="1">
                <a:ea typeface="Open Sans" panose="020B0606030504020204" pitchFamily="34" charset="0"/>
                <a:cs typeface="Open Sans" panose="020B0606030504020204" pitchFamily="34" charset="0"/>
              </a:rPr>
              <a:t>universel</a:t>
            </a:r>
            <a:r>
              <a:rPr lang="en-US" sz="1600" kern="0" dirty="0">
                <a:ea typeface="Open Sans" panose="020B0606030504020204" pitchFamily="34" charset="0"/>
                <a:cs typeface="Open Sans" panose="020B0606030504020204" pitchFamily="34" charset="0"/>
              </a:rPr>
              <a:t> : </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permet</a:t>
            </a:r>
            <a:r>
              <a:rPr lang="en-US" sz="1600" kern="0" dirty="0">
                <a:solidFill>
                  <a:schemeClr val="tx1"/>
                </a:solidFill>
                <a:ea typeface="Open Sans" panose="020B0606030504020204" pitchFamily="34" charset="0"/>
                <a:cs typeface="Open Sans" panose="020B0606030504020204" pitchFamily="34" charset="0"/>
              </a:rPr>
              <a:t> de le </a:t>
            </a:r>
            <a:r>
              <a:rPr lang="en-US" sz="1600" kern="0" dirty="0" err="1">
                <a:solidFill>
                  <a:schemeClr val="tx1"/>
                </a:solidFill>
                <a:ea typeface="Open Sans" panose="020B0606030504020204" pitchFamily="34" charset="0"/>
                <a:cs typeface="Open Sans" panose="020B0606030504020204" pitchFamily="34" charset="0"/>
              </a:rPr>
              <a:t>visser</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ou</a:t>
            </a:r>
            <a:r>
              <a:rPr lang="en-US" sz="1600" kern="0" dirty="0">
                <a:solidFill>
                  <a:schemeClr val="tx1"/>
                </a:solidFill>
                <a:ea typeface="Open Sans" panose="020B0606030504020204" pitchFamily="34" charset="0"/>
                <a:cs typeface="Open Sans" panose="020B0606030504020204" pitchFamily="34" charset="0"/>
              </a:rPr>
              <a:t> de le </a:t>
            </a:r>
            <a:r>
              <a:rPr lang="en-US" sz="1600" kern="0" dirty="0" err="1">
                <a:solidFill>
                  <a:schemeClr val="tx1"/>
                </a:solidFill>
                <a:ea typeface="Open Sans" panose="020B0606030504020204" pitchFamily="34" charset="0"/>
                <a:cs typeface="Open Sans" panose="020B0606030504020204" pitchFamily="34" charset="0"/>
              </a:rPr>
              <a:t>percer</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en</a:t>
            </a:r>
            <a:r>
              <a:rPr lang="en-US" sz="1600" kern="0" dirty="0">
                <a:solidFill>
                  <a:schemeClr val="tx1"/>
                </a:solidFill>
                <a:ea typeface="Open Sans" panose="020B0606030504020204" pitchFamily="34" charset="0"/>
                <a:cs typeface="Open Sans" panose="020B0606030504020204" pitchFamily="34" charset="0"/>
              </a:rPr>
              <a:t> position. Distance </a:t>
            </a:r>
            <a:r>
              <a:rPr lang="en-US" sz="1600" kern="0" dirty="0" err="1">
                <a:solidFill>
                  <a:schemeClr val="tx1"/>
                </a:solidFill>
                <a:ea typeface="Open Sans" panose="020B0606030504020204" pitchFamily="34" charset="0"/>
                <a:cs typeface="Open Sans" panose="020B0606030504020204" pitchFamily="34" charset="0"/>
              </a:rPr>
              <a:t>maximale</a:t>
            </a:r>
            <a:r>
              <a:rPr lang="en-US" sz="1600" kern="0" dirty="0">
                <a:solidFill>
                  <a:schemeClr val="tx1"/>
                </a:solidFill>
                <a:ea typeface="Open Sans" panose="020B0606030504020204" pitchFamily="34" charset="0"/>
                <a:cs typeface="Open Sans" panose="020B0606030504020204" pitchFamily="34" charset="0"/>
              </a:rPr>
              <a:t> de 15 mm</a:t>
            </a:r>
          </a:p>
          <a:p>
            <a:pPr>
              <a:lnSpc>
                <a:spcPct val="150000"/>
              </a:lnSpc>
              <a:defRPr/>
            </a:pPr>
            <a:endParaRPr lang="en-US" sz="1100" kern="0" dirty="0">
              <a:ea typeface="Open Sans" panose="020B0606030504020204" pitchFamily="34" charset="0"/>
              <a:cs typeface="Open Sans" panose="020B0606030504020204" pitchFamily="34" charset="0"/>
            </a:endParaRPr>
          </a:p>
          <a:p>
            <a:pPr>
              <a:lnSpc>
                <a:spcPct val="150000"/>
              </a:lnSpc>
              <a:defRPr/>
            </a:pPr>
            <a:r>
              <a:rPr lang="en-US" sz="1600" kern="0" dirty="0">
                <a:ea typeface="Open Sans" panose="020B0606030504020204" pitchFamily="34" charset="0"/>
                <a:cs typeface="Open Sans" panose="020B0606030504020204" pitchFamily="34" charset="0"/>
              </a:rPr>
              <a:t>Le contact avec </a:t>
            </a:r>
            <a:r>
              <a:rPr lang="en-US" sz="1600" kern="0" dirty="0" err="1">
                <a:ea typeface="Open Sans" panose="020B0606030504020204" pitchFamily="34" charset="0"/>
                <a:cs typeface="Open Sans" panose="020B0606030504020204" pitchFamily="34" charset="0"/>
              </a:rPr>
              <a:t>roseau</a:t>
            </a:r>
            <a:r>
              <a:rPr lang="en-US" sz="1600" kern="0" dirty="0">
                <a:ea typeface="Open Sans" panose="020B0606030504020204" pitchFamily="34" charset="0"/>
                <a:cs typeface="Open Sans" panose="020B0606030504020204" pitchFamily="34" charset="0"/>
              </a:rPr>
              <a:t> </a:t>
            </a:r>
            <a:r>
              <a:rPr lang="en-US" sz="1600" kern="0" dirty="0" err="1">
                <a:ea typeface="Open Sans" panose="020B0606030504020204" pitchFamily="34" charset="0"/>
                <a:cs typeface="Open Sans" panose="020B0606030504020204" pitchFamily="34" charset="0"/>
              </a:rPr>
              <a:t>magnétique</a:t>
            </a:r>
            <a:r>
              <a:rPr lang="en-US" sz="1600" kern="0" dirty="0">
                <a:ea typeface="Open Sans" panose="020B0606030504020204" pitchFamily="34" charset="0"/>
                <a:cs typeface="Open Sans" panose="020B0606030504020204" pitchFamily="34" charset="0"/>
              </a:rPr>
              <a:t> avec protection </a:t>
            </a:r>
            <a:r>
              <a:rPr lang="en-US" sz="1600" kern="0" dirty="0" err="1">
                <a:ea typeface="Open Sans" panose="020B0606030504020204" pitchFamily="34" charset="0"/>
                <a:cs typeface="Open Sans" panose="020B0606030504020204" pitchFamily="34" charset="0"/>
              </a:rPr>
              <a:t>contre</a:t>
            </a:r>
            <a:r>
              <a:rPr lang="en-US" sz="1600" kern="0" dirty="0">
                <a:ea typeface="Open Sans" panose="020B0606030504020204" pitchFamily="34" charset="0"/>
                <a:cs typeface="Open Sans" panose="020B0606030504020204" pitchFamily="34" charset="0"/>
              </a:rPr>
              <a:t> les champs </a:t>
            </a:r>
            <a:r>
              <a:rPr lang="en-US" sz="1600" kern="0" dirty="0" err="1">
                <a:ea typeface="Open Sans" panose="020B0606030504020204" pitchFamily="34" charset="0"/>
                <a:cs typeface="Open Sans" panose="020B0606030504020204" pitchFamily="34" charset="0"/>
              </a:rPr>
              <a:t>magnétiques</a:t>
            </a:r>
            <a:r>
              <a:rPr lang="en-US" sz="1600" kern="0" dirty="0">
                <a:ea typeface="Open Sans" panose="020B0606030504020204" pitchFamily="34" charset="0"/>
                <a:cs typeface="Open Sans" panose="020B0606030504020204" pitchFamily="34" charset="0"/>
              </a:rPr>
              <a:t> </a:t>
            </a:r>
            <a:r>
              <a:rPr lang="en-US" sz="1600" kern="0" dirty="0" err="1">
                <a:ea typeface="Open Sans" panose="020B0606030504020204" pitchFamily="34" charset="0"/>
                <a:cs typeface="Open Sans" panose="020B0606030504020204" pitchFamily="34" charset="0"/>
              </a:rPr>
              <a:t>externes</a:t>
            </a:r>
            <a:r>
              <a:rPr lang="en-US" sz="1600" kern="0" dirty="0">
                <a:ea typeface="Open Sans" panose="020B0606030504020204" pitchFamily="34" charset="0"/>
                <a:cs typeface="Open Sans" panose="020B0606030504020204" pitchFamily="34" charset="0"/>
              </a:rPr>
              <a:t> : </a:t>
            </a:r>
            <a:r>
              <a:rPr lang="en-US" sz="1600" kern="0" dirty="0" err="1">
                <a:solidFill>
                  <a:schemeClr val="tx1"/>
                </a:solidFill>
                <a:ea typeface="Open Sans" panose="020B0606030504020204" pitchFamily="34" charset="0"/>
                <a:cs typeface="Open Sans" panose="020B0606030504020204" pitchFamily="34" charset="0"/>
              </a:rPr>
              <a:t>comprend</a:t>
            </a:r>
            <a:r>
              <a:rPr lang="en-US" sz="1600" kern="0" dirty="0">
                <a:solidFill>
                  <a:schemeClr val="tx1"/>
                </a:solidFill>
                <a:ea typeface="Open Sans" panose="020B0606030504020204" pitchFamily="34" charset="0"/>
                <a:cs typeface="Open Sans" panose="020B0606030504020204" pitchFamily="34" charset="0"/>
              </a:rPr>
              <a:t> un contact tampon (</a:t>
            </a:r>
            <a:r>
              <a:rPr lang="en-US" sz="1600" kern="0" dirty="0" err="1">
                <a:solidFill>
                  <a:schemeClr val="tx1"/>
                </a:solidFill>
                <a:ea typeface="Open Sans" panose="020B0606030504020204" pitchFamily="34" charset="0"/>
                <a:cs typeface="Open Sans" panose="020B0606030504020204" pitchFamily="34" charset="0"/>
              </a:rPr>
              <a:t>normalement</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ouvert</a:t>
            </a:r>
            <a:r>
              <a:rPr lang="en-US" sz="1600" kern="0" dirty="0">
                <a:solidFill>
                  <a:schemeClr val="tx1"/>
                </a:solidFill>
                <a:ea typeface="Open Sans" panose="020B0606030504020204" pitchFamily="34" charset="0"/>
                <a:cs typeface="Open Sans" panose="020B0606030504020204" pitchFamily="34" charset="0"/>
              </a:rPr>
              <a:t>) qui </a:t>
            </a:r>
            <a:r>
              <a:rPr lang="en-US" sz="1600" kern="0" dirty="0" err="1">
                <a:solidFill>
                  <a:schemeClr val="tx1"/>
                </a:solidFill>
                <a:ea typeface="Open Sans" panose="020B0606030504020204" pitchFamily="34" charset="0"/>
                <a:cs typeface="Open Sans" panose="020B0606030504020204" pitchFamily="34" charset="0"/>
              </a:rPr>
              <a:t>est</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déclenché</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lors</a:t>
            </a:r>
            <a:r>
              <a:rPr lang="en-US" sz="1600" kern="0" dirty="0">
                <a:solidFill>
                  <a:schemeClr val="tx1"/>
                </a:solidFill>
                <a:ea typeface="Open Sans" panose="020B0606030504020204" pitchFamily="34" charset="0"/>
                <a:cs typeface="Open Sans" panose="020B0606030504020204" pitchFamily="34" charset="0"/>
              </a:rPr>
              <a:t> de </a:t>
            </a:r>
            <a:r>
              <a:rPr lang="en-US" sz="1600" kern="0" dirty="0" err="1">
                <a:solidFill>
                  <a:schemeClr val="tx1"/>
                </a:solidFill>
                <a:ea typeface="Open Sans" panose="020B0606030504020204" pitchFamily="34" charset="0"/>
                <a:cs typeface="Open Sans" panose="020B0606030504020204" pitchFamily="34" charset="0"/>
              </a:rPr>
              <a:t>l'exposition</a:t>
            </a:r>
            <a:r>
              <a:rPr lang="en-US" sz="1600" kern="0" dirty="0">
                <a:solidFill>
                  <a:schemeClr val="tx1"/>
                </a:solidFill>
                <a:ea typeface="Open Sans" panose="020B0606030504020204" pitchFamily="34" charset="0"/>
                <a:cs typeface="Open Sans" panose="020B0606030504020204" pitchFamily="34" charset="0"/>
              </a:rPr>
              <a:t> à un champ </a:t>
            </a:r>
            <a:r>
              <a:rPr lang="en-US" sz="1600" kern="0" dirty="0" err="1">
                <a:solidFill>
                  <a:schemeClr val="tx1"/>
                </a:solidFill>
                <a:ea typeface="Open Sans" panose="020B0606030504020204" pitchFamily="34" charset="0"/>
                <a:cs typeface="Open Sans" panose="020B0606030504020204" pitchFamily="34" charset="0"/>
              </a:rPr>
              <a:t>magnétique</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externe</a:t>
            </a:r>
            <a:r>
              <a:rPr lang="en-US" sz="1600" kern="0" dirty="0">
                <a:solidFill>
                  <a:schemeClr val="tx1"/>
                </a:solidFill>
                <a:ea typeface="Open Sans" panose="020B0606030504020204" pitchFamily="34" charset="0"/>
                <a:cs typeface="Open Sans" panose="020B0606030504020204" pitchFamily="34" charset="0"/>
              </a:rPr>
              <a:t> et la zone </a:t>
            </a:r>
            <a:r>
              <a:rPr lang="en-US" sz="1600" kern="0" dirty="0" err="1">
                <a:solidFill>
                  <a:schemeClr val="tx1"/>
                </a:solidFill>
                <a:ea typeface="Open Sans" panose="020B0606030504020204" pitchFamily="34" charset="0"/>
                <a:cs typeface="Open Sans" panose="020B0606030504020204" pitchFamily="34" charset="0"/>
              </a:rPr>
              <a:t>est</a:t>
            </a:r>
            <a:r>
              <a:rPr lang="en-US" sz="1600" kern="0" dirty="0">
                <a:solidFill>
                  <a:schemeClr val="tx1"/>
                </a:solidFill>
                <a:ea typeface="Open Sans" panose="020B0606030504020204" pitchFamily="34" charset="0"/>
                <a:cs typeface="Open Sans" panose="020B0606030504020204" pitchFamily="34" charset="0"/>
              </a:rPr>
              <a:t> </a:t>
            </a:r>
            <a:r>
              <a:rPr lang="en-US" sz="1600" kern="0" dirty="0" err="1">
                <a:solidFill>
                  <a:schemeClr val="tx1"/>
                </a:solidFill>
                <a:ea typeface="Open Sans" panose="020B0606030504020204" pitchFamily="34" charset="0"/>
                <a:cs typeface="Open Sans" panose="020B0606030504020204" pitchFamily="34" charset="0"/>
              </a:rPr>
              <a:t>raccourcie</a:t>
            </a:r>
            <a:r>
              <a:rPr lang="en-US" sz="1600" kern="0" dirty="0">
                <a:solidFill>
                  <a:schemeClr val="tx1"/>
                </a:solidFill>
                <a:ea typeface="Open Sans" panose="020B0606030504020204" pitchFamily="34" charset="0"/>
                <a:cs typeface="Open Sans" panose="020B0606030504020204" pitchFamily="34" charset="0"/>
              </a:rPr>
              <a:t>.  Distance : </a:t>
            </a:r>
            <a:r>
              <a:rPr lang="en-US" sz="1600" kern="0" dirty="0" err="1">
                <a:solidFill>
                  <a:schemeClr val="tx1"/>
                </a:solidFill>
                <a:ea typeface="Open Sans" panose="020B0606030504020204" pitchFamily="34" charset="0"/>
                <a:cs typeface="Open Sans" panose="020B0606030504020204" pitchFamily="34" charset="0"/>
              </a:rPr>
              <a:t>jusqu'à</a:t>
            </a:r>
            <a:r>
              <a:rPr lang="en-US" sz="1600" kern="0" dirty="0">
                <a:solidFill>
                  <a:schemeClr val="tx1"/>
                </a:solidFill>
                <a:ea typeface="Open Sans" panose="020B0606030504020204" pitchFamily="34" charset="0"/>
                <a:cs typeface="Open Sans" panose="020B0606030504020204" pitchFamily="34" charset="0"/>
              </a:rPr>
              <a:t> 15 mm</a:t>
            </a:r>
          </a:p>
        </p:txBody>
      </p:sp>
      <p:sp>
        <p:nvSpPr>
          <p:cNvPr id="2" name="Rectangle 2">
            <a:extLst>
              <a:ext uri="{FF2B5EF4-FFF2-40B4-BE49-F238E27FC236}">
                <a16:creationId xmlns:a16="http://schemas.microsoft.com/office/drawing/2014/main" id="{25D6BDAB-622A-45B7-8743-0355E9EF1EE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graphicFrame>
        <p:nvGraphicFramePr>
          <p:cNvPr id="4" name="Object 3">
            <a:extLst>
              <a:ext uri="{FF2B5EF4-FFF2-40B4-BE49-F238E27FC236}">
                <a16:creationId xmlns:a16="http://schemas.microsoft.com/office/drawing/2014/main" id="{0A4396C4-1230-4BF1-B2D9-C9156BEFD1FB}"/>
              </a:ext>
            </a:extLst>
          </p:cNvPr>
          <p:cNvGraphicFramePr>
            <a:graphicFrameLocks noChangeAspect="1"/>
          </p:cNvGraphicFramePr>
          <p:nvPr/>
        </p:nvGraphicFramePr>
        <p:xfrm>
          <a:off x="1403648" y="5085184"/>
          <a:ext cx="6582008" cy="1296144"/>
        </p:xfrm>
        <a:graphic>
          <a:graphicData uri="http://schemas.openxmlformats.org/presentationml/2006/ole">
            <mc:AlternateContent xmlns:mc="http://schemas.openxmlformats.org/markup-compatibility/2006">
              <mc:Choice xmlns:v="urn:schemas-microsoft-com:vml" Requires="v">
                <p:oleObj r:id="rId3" imgW="9605647" imgH="1882945" progId="Visio.Drawing.15">
                  <p:embed/>
                </p:oleObj>
              </mc:Choice>
              <mc:Fallback>
                <p:oleObj r:id="rId3" imgW="9605647" imgH="1882945" progId="Visio.Drawing.15">
                  <p:embed/>
                  <p:pic>
                    <p:nvPicPr>
                      <p:cNvPr id="4" name="Object 3">
                        <a:extLst>
                          <a:ext uri="{FF2B5EF4-FFF2-40B4-BE49-F238E27FC236}">
                            <a16:creationId xmlns:a16="http://schemas.microsoft.com/office/drawing/2014/main" id="{0A4396C4-1230-4BF1-B2D9-C9156BEFD1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648" y="5085184"/>
                        <a:ext cx="6582008" cy="1296144"/>
                      </a:xfrm>
                      <a:prstGeom prst="rect">
                        <a:avLst/>
                      </a:prstGeom>
                      <a:noFill/>
                    </p:spPr>
                  </p:pic>
                </p:oleObj>
              </mc:Fallback>
            </mc:AlternateContent>
          </a:graphicData>
        </a:graphic>
      </p:graphicFrame>
    </p:spTree>
    <p:extLst>
      <p:ext uri="{BB962C8B-B14F-4D97-AF65-F5344CB8AC3E}">
        <p14:creationId xmlns:p14="http://schemas.microsoft.com/office/powerpoint/2010/main" val="40634301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621630"/>
            <a:ext cx="7128271" cy="719138"/>
          </a:xfrm>
        </p:spPr>
        <p:txBody>
          <a:bodyPr/>
          <a:lstStyle/>
          <a:p>
            <a:r>
              <a:rPr lang="en-US" sz="2400"/>
              <a:t>Types de contacts en roseau magnétique</a:t>
            </a:r>
            <a:endParaRPr lang="en-GB" sz="2400"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755576" y="1268760"/>
            <a:ext cx="7848352"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ea typeface="Open Sans" panose="020B0606030504020204" pitchFamily="34" charset="0"/>
                <a:cs typeface="Open Sans" panose="020B0606030504020204" pitchFamily="34" charset="0"/>
              </a:rPr>
              <a:t> Contact </a:t>
            </a:r>
            <a:r>
              <a:rPr lang="en-US" sz="1800" kern="0" dirty="0" err="1">
                <a:ea typeface="Open Sans" panose="020B0606030504020204" pitchFamily="34" charset="0"/>
                <a:cs typeface="Open Sans" panose="020B0606030504020204" pitchFamily="34" charset="0"/>
              </a:rPr>
              <a:t>roseau</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magnétique</a:t>
            </a:r>
            <a:r>
              <a:rPr lang="en-US" sz="1800" kern="0" dirty="0">
                <a:ea typeface="Open Sans" panose="020B0606030504020204" pitchFamily="34" charset="0"/>
                <a:cs typeface="Open Sans" panose="020B0606030504020204" pitchFamily="34" charset="0"/>
              </a:rPr>
              <a:t> haute performance : </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utilisé</a:t>
            </a:r>
            <a:r>
              <a:rPr lang="en-US" sz="1800" kern="0" dirty="0">
                <a:solidFill>
                  <a:schemeClr val="tx1"/>
                </a:solidFill>
                <a:ea typeface="Open Sans" panose="020B0606030504020204" pitchFamily="34" charset="0"/>
                <a:cs typeface="Open Sans" panose="020B0606030504020204" pitchFamily="34" charset="0"/>
              </a:rPr>
              <a:t> sur les </a:t>
            </a:r>
            <a:r>
              <a:rPr lang="en-US" sz="1800" kern="0" dirty="0" err="1">
                <a:solidFill>
                  <a:schemeClr val="tx1"/>
                </a:solidFill>
                <a:ea typeface="Open Sans" panose="020B0606030504020204" pitchFamily="34" charset="0"/>
                <a:cs typeface="Open Sans" panose="020B0606030504020204" pitchFamily="34" charset="0"/>
              </a:rPr>
              <a:t>portes</a:t>
            </a:r>
            <a:r>
              <a:rPr lang="en-US" sz="1800" kern="0" dirty="0">
                <a:solidFill>
                  <a:schemeClr val="tx1"/>
                </a:solidFill>
                <a:ea typeface="Open Sans" panose="020B0606030504020204" pitchFamily="34" charset="0"/>
                <a:cs typeface="Open Sans" panose="020B0606030504020204" pitchFamily="34" charset="0"/>
              </a:rPr>
              <a:t> de garage et les </a:t>
            </a:r>
            <a:r>
              <a:rPr lang="en-US" sz="1800" kern="0" dirty="0" err="1">
                <a:solidFill>
                  <a:schemeClr val="tx1"/>
                </a:solidFill>
                <a:ea typeface="Open Sans" panose="020B0606030504020204" pitchFamily="34" charset="0"/>
                <a:cs typeface="Open Sans" panose="020B0606030504020204" pitchFamily="34" charset="0"/>
              </a:rPr>
              <a:t>portes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en</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métal</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lourd</a:t>
            </a:r>
            <a:r>
              <a:rPr lang="en-US" sz="1800" kern="0" dirty="0">
                <a:solidFill>
                  <a:schemeClr val="tx1"/>
                </a:solidFill>
                <a:ea typeface="Open Sans" panose="020B0606030504020204" pitchFamily="34" charset="0"/>
                <a:cs typeface="Open Sans" panose="020B0606030504020204" pitchFamily="34" charset="0"/>
              </a:rPr>
              <a:t>. Distance : </a:t>
            </a:r>
            <a:r>
              <a:rPr lang="en-US" sz="1800" kern="0" dirty="0" err="1">
                <a:solidFill>
                  <a:schemeClr val="tx1"/>
                </a:solidFill>
                <a:ea typeface="Open Sans" panose="020B0606030504020204" pitchFamily="34" charset="0"/>
                <a:cs typeface="Open Sans" panose="020B0606030504020204" pitchFamily="34" charset="0"/>
              </a:rPr>
              <a:t>jusqu'à</a:t>
            </a:r>
            <a:r>
              <a:rPr lang="en-US" sz="1800" kern="0" dirty="0">
                <a:solidFill>
                  <a:schemeClr val="tx1"/>
                </a:solidFill>
                <a:ea typeface="Open Sans" panose="020B0606030504020204" pitchFamily="34" charset="0"/>
                <a:cs typeface="Open Sans" panose="020B0606030504020204" pitchFamily="34" charset="0"/>
              </a:rPr>
              <a:t> 30 mm</a:t>
            </a:r>
          </a:p>
          <a:p>
            <a:pPr>
              <a:lnSpc>
                <a:spcPct val="150000"/>
              </a:lnSpc>
              <a:defRPr/>
            </a:pPr>
            <a:endParaRPr lang="en-US" sz="1200" kern="0" dirty="0">
              <a:ea typeface="Open Sans" panose="020B0606030504020204" pitchFamily="34" charset="0"/>
              <a:cs typeface="Open Sans" panose="020B0606030504020204" pitchFamily="34" charset="0"/>
            </a:endParaRPr>
          </a:p>
          <a:p>
            <a:pPr>
              <a:lnSpc>
                <a:spcPct val="150000"/>
              </a:lnSpc>
              <a:defRPr/>
            </a:pPr>
            <a:r>
              <a:rPr lang="en-US" sz="1800" kern="0" dirty="0">
                <a:ea typeface="Open Sans" panose="020B0606030504020204" pitchFamily="34" charset="0"/>
                <a:cs typeface="Open Sans" panose="020B0606030504020204" pitchFamily="34" charset="0"/>
              </a:rPr>
              <a:t>Contact </a:t>
            </a:r>
            <a:r>
              <a:rPr lang="en-US" sz="1800" kern="0" dirty="0" err="1">
                <a:ea typeface="Open Sans" panose="020B0606030504020204" pitchFamily="34" charset="0"/>
                <a:cs typeface="Open Sans" panose="020B0606030504020204" pitchFamily="34" charset="0"/>
              </a:rPr>
              <a:t>porte</a:t>
            </a:r>
            <a:r>
              <a:rPr lang="en-US" sz="1800" kern="0" dirty="0">
                <a:ea typeface="Open Sans" panose="020B0606030504020204" pitchFamily="34" charset="0"/>
                <a:cs typeface="Open Sans" panose="020B0606030504020204" pitchFamily="34" charset="0"/>
              </a:rPr>
              <a:t> rouleau : </a:t>
            </a:r>
            <a:r>
              <a:rPr lang="en-US" sz="1800" kern="0" dirty="0" err="1">
                <a:solidFill>
                  <a:schemeClr val="tx1"/>
                </a:solidFill>
                <a:ea typeface="Open Sans" panose="020B0606030504020204" pitchFamily="34" charset="0"/>
                <a:cs typeface="Open Sans" panose="020B0606030504020204" pitchFamily="34" charset="0"/>
              </a:rPr>
              <a:t>utilisé</a:t>
            </a:r>
            <a:r>
              <a:rPr lang="en-US" sz="1800" kern="0" dirty="0">
                <a:solidFill>
                  <a:schemeClr val="tx1"/>
                </a:solidFill>
                <a:ea typeface="Open Sans" panose="020B0606030504020204" pitchFamily="34" charset="0"/>
                <a:cs typeface="Open Sans" panose="020B0606030504020204" pitchFamily="34" charset="0"/>
              </a:rPr>
              <a:t> sur des </a:t>
            </a:r>
            <a:r>
              <a:rPr lang="en-US" sz="1800" kern="0" dirty="0" err="1">
                <a:solidFill>
                  <a:schemeClr val="tx1"/>
                </a:solidFill>
                <a:ea typeface="Open Sans" panose="020B0606030504020204" pitchFamily="34" charset="0"/>
                <a:cs typeface="Open Sans" panose="020B0606030504020204" pitchFamily="34" charset="0"/>
              </a:rPr>
              <a:t>portes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roulantes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ou</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d'autres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grandes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portes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Résistez</a:t>
            </a:r>
            <a:r>
              <a:rPr lang="en-US" sz="1800" kern="0" dirty="0">
                <a:solidFill>
                  <a:schemeClr val="tx1"/>
                </a:solidFill>
                <a:ea typeface="Open Sans" panose="020B0606030504020204" pitchFamily="34" charset="0"/>
                <a:cs typeface="Open Sans" panose="020B0606030504020204" pitchFamily="34" charset="0"/>
              </a:rPr>
              <a:t> à la </a:t>
            </a:r>
            <a:r>
              <a:rPr lang="en-US" sz="1800" kern="0" dirty="0" err="1">
                <a:solidFill>
                  <a:schemeClr val="tx1"/>
                </a:solidFill>
                <a:ea typeface="Open Sans" panose="020B0606030504020204" pitchFamily="34" charset="0"/>
                <a:cs typeface="Open Sans" panose="020B0606030504020204" pitchFamily="34" charset="0"/>
              </a:rPr>
              <a:t>poussière</a:t>
            </a:r>
            <a:r>
              <a:rPr lang="en-US" sz="1800" kern="0" dirty="0">
                <a:solidFill>
                  <a:schemeClr val="tx1"/>
                </a:solidFill>
                <a:ea typeface="Open Sans" panose="020B0606030504020204" pitchFamily="34" charset="0"/>
                <a:cs typeface="Open Sans" panose="020B0606030504020204" pitchFamily="34" charset="0"/>
              </a:rPr>
              <a:t>, à </a:t>
            </a:r>
            <a:r>
              <a:rPr lang="en-US" sz="1800" kern="0" dirty="0" err="1">
                <a:solidFill>
                  <a:schemeClr val="tx1"/>
                </a:solidFill>
                <a:ea typeface="Open Sans" panose="020B0606030504020204" pitchFamily="34" charset="0"/>
                <a:cs typeface="Open Sans" panose="020B0606030504020204" pitchFamily="34" charset="0"/>
              </a:rPr>
              <a:t>l'humidité</a:t>
            </a:r>
            <a:r>
              <a:rPr lang="en-US" sz="1800" kern="0" dirty="0">
                <a:solidFill>
                  <a:schemeClr val="tx1"/>
                </a:solidFill>
                <a:ea typeface="Open Sans" panose="020B0606030504020204" pitchFamily="34" charset="0"/>
                <a:cs typeface="Open Sans" panose="020B0606030504020204" pitchFamily="34" charset="0"/>
              </a:rPr>
              <a:t> et aux </a:t>
            </a:r>
            <a:r>
              <a:rPr lang="en-US" sz="1800" kern="0" dirty="0" err="1">
                <a:solidFill>
                  <a:schemeClr val="tx1"/>
                </a:solidFill>
                <a:ea typeface="Open Sans" panose="020B0606030504020204" pitchFamily="34" charset="0"/>
                <a:cs typeface="Open Sans" panose="020B0606030504020204" pitchFamily="34" charset="0"/>
              </a:rPr>
              <a:t>produits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chimiques</a:t>
            </a:r>
            <a:r>
              <a:rPr lang="en-US" sz="1800" kern="0" dirty="0">
                <a:solidFill>
                  <a:schemeClr val="tx1"/>
                </a:solidFill>
                <a:ea typeface="Open Sans" panose="020B0606030504020204" pitchFamily="34" charset="0"/>
                <a:cs typeface="Open Sans" panose="020B0606030504020204" pitchFamily="34" charset="0"/>
              </a:rPr>
              <a:t>. Distance : </a:t>
            </a:r>
            <a:r>
              <a:rPr lang="en-US" sz="1800" kern="0" dirty="0" err="1">
                <a:solidFill>
                  <a:schemeClr val="tx1"/>
                </a:solidFill>
                <a:ea typeface="Open Sans" panose="020B0606030504020204" pitchFamily="34" charset="0"/>
                <a:cs typeface="Open Sans" panose="020B0606030504020204" pitchFamily="34" charset="0"/>
              </a:rPr>
              <a:t>jusqu'à</a:t>
            </a:r>
            <a:r>
              <a:rPr lang="en-US" sz="1800" kern="0" dirty="0">
                <a:solidFill>
                  <a:schemeClr val="tx1"/>
                </a:solidFill>
                <a:ea typeface="Open Sans" panose="020B0606030504020204" pitchFamily="34" charset="0"/>
                <a:cs typeface="Open Sans" panose="020B0606030504020204" pitchFamily="34" charset="0"/>
              </a:rPr>
              <a:t> 45mm</a:t>
            </a:r>
          </a:p>
          <a:p>
            <a:pPr marL="0" indent="0">
              <a:lnSpc>
                <a:spcPct val="150000"/>
              </a:lnSpc>
              <a:buNone/>
              <a:defRPr/>
            </a:pPr>
            <a:r>
              <a:rPr lang="en-US" sz="1800" kern="0" dirty="0">
                <a:ea typeface="Open Sans" panose="020B0606030504020204" pitchFamily="34" charset="0"/>
                <a:cs typeface="Open Sans" panose="020B0606030504020204" pitchFamily="34" charset="0"/>
              </a:rPr>
              <a:t>  </a:t>
            </a:r>
          </a:p>
          <a:p>
            <a:pPr>
              <a:lnSpc>
                <a:spcPct val="150000"/>
              </a:lnSpc>
              <a:defRPr/>
            </a:pPr>
            <a:r>
              <a:rPr lang="en-US" sz="1800" kern="0" dirty="0">
                <a:ea typeface="Open Sans" panose="020B0606030504020204" pitchFamily="34" charset="0"/>
                <a:cs typeface="Open Sans" panose="020B0606030504020204" pitchFamily="34" charset="0"/>
              </a:rPr>
              <a:t>Surveillance des </a:t>
            </a:r>
            <a:r>
              <a:rPr lang="en-US" sz="1800" kern="0" dirty="0" err="1">
                <a:ea typeface="Open Sans" panose="020B0606030504020204" pitchFamily="34" charset="0"/>
                <a:cs typeface="Open Sans" panose="020B0606030504020204" pitchFamily="34" charset="0"/>
              </a:rPr>
              <a:t>portes</a:t>
            </a:r>
            <a:r>
              <a:rPr lang="en-US" sz="1800" kern="0" dirty="0">
                <a:ea typeface="Open Sans" panose="020B0606030504020204" pitchFamily="34" charset="0"/>
                <a:cs typeface="Open Sans" panose="020B0606030504020204" pitchFamily="34" charset="0"/>
              </a:rPr>
              <a:t> : </a:t>
            </a:r>
            <a:r>
              <a:rPr lang="en-US" sz="1800" kern="0" dirty="0">
                <a:solidFill>
                  <a:schemeClr val="tx1"/>
                </a:solidFill>
                <a:ea typeface="Open Sans" panose="020B0606030504020204" pitchFamily="34" charset="0"/>
                <a:cs typeface="Open Sans" panose="020B0606030504020204" pitchFamily="34" charset="0"/>
              </a:rPr>
              <a:t>contact </a:t>
            </a:r>
            <a:r>
              <a:rPr lang="en-US" sz="1800" kern="0" dirty="0" err="1">
                <a:solidFill>
                  <a:schemeClr val="tx1"/>
                </a:solidFill>
                <a:ea typeface="Open Sans" panose="020B0606030504020204" pitchFamily="34" charset="0"/>
                <a:cs typeface="Open Sans" panose="020B0606030504020204" pitchFamily="34" charset="0"/>
              </a:rPr>
              <a:t>bidirectionnel</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installé</a:t>
            </a:r>
            <a:r>
              <a:rPr lang="en-US" sz="1800" kern="0" dirty="0">
                <a:solidFill>
                  <a:schemeClr val="tx1"/>
                </a:solidFill>
                <a:ea typeface="Open Sans" panose="020B0606030504020204" pitchFamily="34" charset="0"/>
                <a:cs typeface="Open Sans" panose="020B0606030504020204" pitchFamily="34" charset="0"/>
              </a:rPr>
              <a:t> derrière la plaque de frappe pour </a:t>
            </a:r>
            <a:r>
              <a:rPr lang="en-US" sz="1800" kern="0" dirty="0" err="1">
                <a:solidFill>
                  <a:schemeClr val="tx1"/>
                </a:solidFill>
                <a:ea typeface="Open Sans" panose="020B0606030504020204" pitchFamily="34" charset="0"/>
                <a:cs typeface="Open Sans" panose="020B0606030504020204" pitchFamily="34" charset="0"/>
              </a:rPr>
              <a:t>qu'il</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puisse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être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utilisé</a:t>
            </a:r>
            <a:r>
              <a:rPr lang="en-US" sz="1800" kern="0" dirty="0">
                <a:solidFill>
                  <a:schemeClr val="tx1"/>
                </a:solidFill>
                <a:ea typeface="Open Sans" panose="020B0606030504020204" pitchFamily="34" charset="0"/>
                <a:cs typeface="Open Sans" panose="020B0606030504020204" pitchFamily="34" charset="0"/>
              </a:rPr>
              <a:t> via le </a:t>
            </a:r>
            <a:r>
              <a:rPr lang="en-US" sz="1800" kern="0" dirty="0" err="1">
                <a:solidFill>
                  <a:schemeClr val="tx1"/>
                </a:solidFill>
                <a:ea typeface="Open Sans" panose="020B0606030504020204" pitchFamily="34" charset="0"/>
                <a:cs typeface="Open Sans" panose="020B0606030504020204" pitchFamily="34" charset="0"/>
              </a:rPr>
              <a:t>verrou</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boulon</a:t>
            </a:r>
            <a:r>
              <a:rPr lang="en-US" sz="1800" kern="0" dirty="0">
                <a:solidFill>
                  <a:schemeClr val="tx1"/>
                </a:solidFill>
                <a:ea typeface="Open Sans" panose="020B0606030504020204" pitchFamily="34" charset="0"/>
                <a:cs typeface="Open Sans" panose="020B0606030504020204" pitchFamily="34" charset="0"/>
              </a:rPr>
              <a:t>. Le type de protection du contact de commutation de </a:t>
            </a:r>
            <a:r>
              <a:rPr lang="en-US" sz="1800" kern="0" dirty="0" err="1">
                <a:solidFill>
                  <a:schemeClr val="tx1"/>
                </a:solidFill>
                <a:ea typeface="Open Sans" panose="020B0606030504020204" pitchFamily="34" charset="0"/>
                <a:cs typeface="Open Sans" panose="020B0606030504020204" pitchFamily="34" charset="0"/>
              </a:rPr>
              <a:t>boulon</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clé</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est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conforme</a:t>
            </a:r>
            <a:r>
              <a:rPr lang="en-US" sz="1800" kern="0" dirty="0">
                <a:solidFill>
                  <a:schemeClr val="tx1"/>
                </a:solidFill>
                <a:ea typeface="Open Sans" panose="020B0606030504020204" pitchFamily="34" charset="0"/>
                <a:cs typeface="Open Sans" panose="020B0606030504020204" pitchFamily="34" charset="0"/>
              </a:rPr>
              <a:t> à IP 67</a:t>
            </a:r>
          </a:p>
          <a:p>
            <a:pPr>
              <a:lnSpc>
                <a:spcPct val="150000"/>
              </a:lnSpc>
              <a:defRPr/>
            </a:pPr>
            <a:endParaRPr lang="en-US" sz="1800" kern="0" dirty="0">
              <a:ea typeface="Open Sans" panose="020B0606030504020204" pitchFamily="34" charset="0"/>
              <a:cs typeface="Open Sans" panose="020B0606030504020204" pitchFamily="34" charset="0"/>
            </a:endParaRPr>
          </a:p>
        </p:txBody>
      </p:sp>
      <p:sp>
        <p:nvSpPr>
          <p:cNvPr id="2" name="Rectangle 2">
            <a:extLst>
              <a:ext uri="{FF2B5EF4-FFF2-40B4-BE49-F238E27FC236}">
                <a16:creationId xmlns:a16="http://schemas.microsoft.com/office/drawing/2014/main" id="{25D6BDAB-622A-45B7-8743-0355E9EF1EE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spTree>
    <p:extLst>
      <p:ext uri="{BB962C8B-B14F-4D97-AF65-F5344CB8AC3E}">
        <p14:creationId xmlns:p14="http://schemas.microsoft.com/office/powerpoint/2010/main" val="14603729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7614"/>
            <a:ext cx="6696223" cy="719138"/>
          </a:xfrm>
        </p:spPr>
        <p:txBody>
          <a:bodyPr/>
          <a:lstStyle/>
          <a:p>
            <a:r>
              <a:rPr lang="en-US" sz="2400" dirty="0"/>
              <a:t>Types de contacts </a:t>
            </a:r>
            <a:r>
              <a:rPr lang="en-US" sz="2400" dirty="0" err="1"/>
              <a:t>en</a:t>
            </a:r>
            <a:r>
              <a:rPr lang="en-US" sz="2400" dirty="0"/>
              <a:t> </a:t>
            </a:r>
            <a:r>
              <a:rPr lang="en-US" sz="2400" dirty="0" err="1"/>
              <a:t>roseau</a:t>
            </a:r>
            <a:r>
              <a:rPr lang="en-US" sz="2400" dirty="0"/>
              <a:t> </a:t>
            </a:r>
            <a:r>
              <a:rPr lang="en-US" sz="2400" dirty="0" err="1"/>
              <a:t>magnétique</a:t>
            </a:r>
            <a:endParaRPr lang="en-GB" sz="2400"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269454"/>
            <a:ext cx="7848352"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err="1">
                <a:ea typeface="Open Sans" panose="020B0606030504020204" pitchFamily="34" charset="0"/>
                <a:cs typeface="Open Sans" panose="020B0606030504020204" pitchFamily="34" charset="0"/>
              </a:rPr>
              <a:t>Fenêtres</a:t>
            </a:r>
            <a:r>
              <a:rPr lang="en-US" sz="1800" kern="0" dirty="0">
                <a:ea typeface="Open Sans" panose="020B0606030504020204" pitchFamily="34" charset="0"/>
                <a:cs typeface="Open Sans" panose="020B0606030504020204" pitchFamily="34" charset="0"/>
              </a:rPr>
              <a:t> : </a:t>
            </a:r>
            <a:r>
              <a:rPr lang="en-US" sz="1800" kern="0" dirty="0" err="1">
                <a:solidFill>
                  <a:schemeClr val="tx1"/>
                </a:solidFill>
                <a:ea typeface="Open Sans" panose="020B0606030504020204" pitchFamily="34" charset="0"/>
                <a:cs typeface="Open Sans" panose="020B0606030504020204" pitchFamily="34" charset="0"/>
              </a:rPr>
              <a:t>réalisées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directement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réalisées</a:t>
            </a:r>
            <a:r>
              <a:rPr lang="en-US" sz="1800" kern="0" dirty="0">
                <a:solidFill>
                  <a:schemeClr val="tx1"/>
                </a:solidFill>
                <a:ea typeface="Open Sans" panose="020B0606030504020204" pitchFamily="34" charset="0"/>
                <a:cs typeface="Open Sans" panose="020B0606030504020204" pitchFamily="34" charset="0"/>
              </a:rPr>
              <a:t> avec un </a:t>
            </a:r>
            <a:r>
              <a:rPr lang="en-US" sz="1800" kern="0" dirty="0" err="1">
                <a:solidFill>
                  <a:schemeClr val="tx1"/>
                </a:solidFill>
                <a:ea typeface="Open Sans" panose="020B0606030504020204" pitchFamily="34" charset="0"/>
                <a:cs typeface="Open Sans" panose="020B0606030504020204" pitchFamily="34" charset="0"/>
              </a:rPr>
              <a:t>aimant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circulaire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spécial</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monté</a:t>
            </a:r>
            <a:r>
              <a:rPr lang="en-US" sz="1800" kern="0" dirty="0">
                <a:solidFill>
                  <a:schemeClr val="tx1"/>
                </a:solidFill>
                <a:ea typeface="Open Sans" panose="020B0606030504020204" pitchFamily="34" charset="0"/>
                <a:cs typeface="Open Sans" panose="020B0606030504020204" pitchFamily="34" charset="0"/>
              </a:rPr>
              <a:t> sur la tige de </a:t>
            </a:r>
            <a:r>
              <a:rPr lang="en-US" sz="1800" kern="0" dirty="0" err="1">
                <a:solidFill>
                  <a:schemeClr val="tx1"/>
                </a:solidFill>
                <a:ea typeface="Open Sans" panose="020B0606030504020204" pitchFamily="34" charset="0"/>
                <a:cs typeface="Open Sans" panose="020B0606030504020204" pitchFamily="34" charset="0"/>
              </a:rPr>
              <a:t>poussée</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l'écharpe</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fenêtre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ou</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indirectement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réalisées</a:t>
            </a:r>
            <a:r>
              <a:rPr lang="en-US" sz="1800" kern="0" dirty="0">
                <a:solidFill>
                  <a:schemeClr val="tx1"/>
                </a:solidFill>
                <a:ea typeface="Open Sans" panose="020B0606030504020204" pitchFamily="34" charset="0"/>
                <a:cs typeface="Open Sans" panose="020B0606030504020204" pitchFamily="34" charset="0"/>
              </a:rPr>
              <a:t> avec un </a:t>
            </a:r>
            <a:r>
              <a:rPr lang="en-US" sz="1800" kern="0" dirty="0" err="1">
                <a:solidFill>
                  <a:schemeClr val="tx1"/>
                </a:solidFill>
                <a:ea typeface="Open Sans" panose="020B0606030504020204" pitchFamily="34" charset="0"/>
                <a:cs typeface="Open Sans" panose="020B0606030504020204" pitchFamily="34" charset="0"/>
              </a:rPr>
              <a:t>boulon</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poussée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monté</a:t>
            </a:r>
            <a:r>
              <a:rPr lang="en-US" sz="1800" kern="0" dirty="0">
                <a:solidFill>
                  <a:schemeClr val="tx1"/>
                </a:solidFill>
                <a:ea typeface="Open Sans" panose="020B0606030504020204" pitchFamily="34" charset="0"/>
                <a:cs typeface="Open Sans" panose="020B0606030504020204" pitchFamily="34" charset="0"/>
              </a:rPr>
              <a:t> dans le cadre de la </a:t>
            </a:r>
            <a:r>
              <a:rPr lang="en-US" sz="1800" kern="0" dirty="0" err="1">
                <a:solidFill>
                  <a:schemeClr val="tx1"/>
                </a:solidFill>
                <a:ea typeface="Open Sans" panose="020B0606030504020204" pitchFamily="34" charset="0"/>
                <a:cs typeface="Open Sans" panose="020B0606030504020204" pitchFamily="34" charset="0"/>
              </a:rPr>
              <a:t>fenêtre</a:t>
            </a:r>
            <a:r>
              <a:rPr lang="en-US" sz="1800" kern="0" dirty="0">
                <a:solidFill>
                  <a:schemeClr val="tx1"/>
                </a:solidFill>
                <a:ea typeface="Open Sans" panose="020B0606030504020204" pitchFamily="34" charset="0"/>
                <a:cs typeface="Open Sans" panose="020B0606030504020204" pitchFamily="34" charset="0"/>
              </a:rPr>
              <a:t>) </a:t>
            </a:r>
          </a:p>
          <a:p>
            <a:pPr>
              <a:lnSpc>
                <a:spcPct val="150000"/>
              </a:lnSpc>
              <a:defRPr/>
            </a:pPr>
            <a:endParaRPr lang="en-US" sz="1200" kern="0" dirty="0">
              <a:ea typeface="Open Sans" panose="020B0606030504020204" pitchFamily="34" charset="0"/>
              <a:cs typeface="Open Sans" panose="020B0606030504020204" pitchFamily="34" charset="0"/>
            </a:endParaRPr>
          </a:p>
          <a:p>
            <a:pPr>
              <a:lnSpc>
                <a:spcPct val="150000"/>
              </a:lnSpc>
              <a:defRPr/>
            </a:pPr>
            <a:r>
              <a:rPr lang="en-US" sz="1800" kern="0" dirty="0">
                <a:ea typeface="Open Sans" panose="020B0606030504020204" pitchFamily="34" charset="0"/>
                <a:cs typeface="Open Sans" panose="020B0606030504020204" pitchFamily="34" charset="0"/>
              </a:rPr>
              <a:t>Surveillance des </a:t>
            </a:r>
            <a:r>
              <a:rPr lang="en-US" sz="1800" kern="0" dirty="0" err="1">
                <a:ea typeface="Open Sans" panose="020B0606030504020204" pitchFamily="34" charset="0"/>
                <a:cs typeface="Open Sans" panose="020B0606030504020204" pitchFamily="34" charset="0"/>
              </a:rPr>
              <a:t>panneaux</a:t>
            </a:r>
            <a:r>
              <a:rPr lang="en-US" sz="1800" kern="0" dirty="0">
                <a:ea typeface="Open Sans" panose="020B0606030504020204" pitchFamily="34" charset="0"/>
                <a:cs typeface="Open Sans" panose="020B0606030504020204" pitchFamily="34" charset="0"/>
              </a:rPr>
              <a:t> de </a:t>
            </a:r>
            <a:r>
              <a:rPr lang="en-US" sz="1800" kern="0" dirty="0" err="1">
                <a:ea typeface="Open Sans" panose="020B0606030504020204" pitchFamily="34" charset="0"/>
                <a:cs typeface="Open Sans" panose="020B0606030504020204" pitchFamily="34" charset="0"/>
              </a:rPr>
              <a:t>verre</a:t>
            </a:r>
            <a:r>
              <a:rPr lang="en-US" sz="1800" kern="0" dirty="0">
                <a:ea typeface="Open Sans" panose="020B0606030504020204" pitchFamily="34" charset="0"/>
                <a:cs typeface="Open Sans" panose="020B0606030504020204" pitchFamily="34" charset="0"/>
              </a:rPr>
              <a:t> par des </a:t>
            </a:r>
            <a:r>
              <a:rPr lang="en-US" sz="1800" kern="0" dirty="0" err="1">
                <a:ea typeface="Open Sans" panose="020B0606030504020204" pitchFamily="34" charset="0"/>
                <a:cs typeface="Open Sans" panose="020B0606030504020204" pitchFamily="34" charset="0"/>
              </a:rPr>
              <a:t>capteurs</a:t>
            </a:r>
            <a:r>
              <a:rPr lang="en-US" sz="1800" kern="0" dirty="0">
                <a:ea typeface="Open Sans" panose="020B0606030504020204" pitchFamily="34" charset="0"/>
                <a:cs typeface="Open Sans" panose="020B0606030504020204" pitchFamily="34" charset="0"/>
              </a:rPr>
              <a:t> de rupture de </a:t>
            </a:r>
            <a:r>
              <a:rPr lang="en-US" sz="1800" kern="0" dirty="0" err="1">
                <a:ea typeface="Open Sans" panose="020B0606030504020204" pitchFamily="34" charset="0"/>
                <a:cs typeface="Open Sans" panose="020B0606030504020204" pitchFamily="34" charset="0"/>
              </a:rPr>
              <a:t>verre</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passifs</a:t>
            </a:r>
            <a:r>
              <a:rPr lang="en-US" sz="1800" kern="0" dirty="0">
                <a:ea typeface="Open Sans" panose="020B0606030504020204" pitchFamily="34" charset="0"/>
                <a:cs typeface="Open Sans" panose="020B0606030504020204" pitchFamily="34" charset="0"/>
              </a:rPr>
              <a:t> : </a:t>
            </a:r>
            <a:r>
              <a:rPr lang="en-US" sz="1800" kern="0" dirty="0" err="1">
                <a:solidFill>
                  <a:schemeClr val="tx1"/>
                </a:solidFill>
                <a:ea typeface="Open Sans" panose="020B0606030504020204" pitchFamily="34" charset="0"/>
                <a:cs typeface="Open Sans" panose="020B0606030504020204" pitchFamily="34" charset="0"/>
              </a:rPr>
              <a:t>Utilisez</a:t>
            </a:r>
            <a:r>
              <a:rPr lang="en-US" sz="1800" kern="0" dirty="0">
                <a:solidFill>
                  <a:schemeClr val="tx1"/>
                </a:solidFill>
                <a:ea typeface="Open Sans" panose="020B0606030504020204" pitchFamily="34" charset="0"/>
                <a:cs typeface="Open Sans" panose="020B0606030504020204" pitchFamily="34" charset="0"/>
              </a:rPr>
              <a:t> un microphone </a:t>
            </a:r>
            <a:r>
              <a:rPr lang="en-US" sz="1800" kern="0" dirty="0" err="1">
                <a:solidFill>
                  <a:schemeClr val="tx1"/>
                </a:solidFill>
                <a:ea typeface="Open Sans" panose="020B0606030504020204" pitchFamily="34" charset="0"/>
                <a:cs typeface="Open Sans" panose="020B0606030504020204" pitchFamily="34" charset="0"/>
              </a:rPr>
              <a:t>piézoélectrique</a:t>
            </a:r>
            <a:r>
              <a:rPr lang="en-US" sz="1800" kern="0" dirty="0">
                <a:solidFill>
                  <a:schemeClr val="tx1"/>
                </a:solidFill>
                <a:ea typeface="Open Sans" panose="020B0606030504020204" pitchFamily="34" charset="0"/>
                <a:cs typeface="Open Sans" panose="020B0606030504020204" pitchFamily="34" charset="0"/>
              </a:rPr>
              <a:t> pour </a:t>
            </a:r>
            <a:r>
              <a:rPr lang="en-US" sz="1800" kern="0" dirty="0" err="1">
                <a:solidFill>
                  <a:schemeClr val="tx1"/>
                </a:solidFill>
                <a:ea typeface="Open Sans" panose="020B0606030504020204" pitchFamily="34" charset="0"/>
                <a:cs typeface="Open Sans" panose="020B0606030504020204" pitchFamily="34" charset="0"/>
              </a:rPr>
              <a:t>enregistrer</a:t>
            </a:r>
            <a:r>
              <a:rPr lang="en-US" sz="1800" kern="0" dirty="0">
                <a:solidFill>
                  <a:schemeClr val="tx1"/>
                </a:solidFill>
                <a:ea typeface="Open Sans" panose="020B0606030504020204" pitchFamily="34" charset="0"/>
                <a:cs typeface="Open Sans" panose="020B0606030504020204" pitchFamily="34" charset="0"/>
              </a:rPr>
              <a:t> les vibrations </a:t>
            </a:r>
            <a:r>
              <a:rPr lang="en-US" sz="1800" kern="0" dirty="0" err="1">
                <a:solidFill>
                  <a:schemeClr val="tx1"/>
                </a:solidFill>
                <a:ea typeface="Open Sans" panose="020B0606030504020204" pitchFamily="34" charset="0"/>
                <a:cs typeface="Open Sans" panose="020B0606030504020204" pitchFamily="34" charset="0"/>
              </a:rPr>
              <a:t>causées</a:t>
            </a:r>
            <a:r>
              <a:rPr lang="en-US" sz="1800" kern="0" dirty="0">
                <a:solidFill>
                  <a:schemeClr val="tx1"/>
                </a:solidFill>
                <a:ea typeface="Open Sans" panose="020B0606030504020204" pitchFamily="34" charset="0"/>
                <a:cs typeface="Open Sans" panose="020B0606030504020204" pitchFamily="34" charset="0"/>
              </a:rPr>
              <a:t> par des </a:t>
            </a:r>
            <a:r>
              <a:rPr lang="en-US" sz="1800" kern="0" dirty="0" err="1">
                <a:solidFill>
                  <a:schemeClr val="tx1"/>
                </a:solidFill>
                <a:ea typeface="Open Sans" panose="020B0606030504020204" pitchFamily="34" charset="0"/>
                <a:cs typeface="Open Sans" panose="020B0606030504020204" pitchFamily="34" charset="0"/>
              </a:rPr>
              <a:t>dommages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Plage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maximale</a:t>
            </a:r>
            <a:r>
              <a:rPr lang="en-US" sz="1800" kern="0" dirty="0">
                <a:solidFill>
                  <a:schemeClr val="tx1"/>
                </a:solidFill>
                <a:ea typeface="Open Sans" panose="020B0606030504020204" pitchFamily="34" charset="0"/>
                <a:cs typeface="Open Sans" panose="020B0606030504020204" pitchFamily="34" charset="0"/>
              </a:rPr>
              <a:t> : 2 m </a:t>
            </a:r>
          </a:p>
        </p:txBody>
      </p:sp>
      <p:sp>
        <p:nvSpPr>
          <p:cNvPr id="2" name="Rectangle 2">
            <a:extLst>
              <a:ext uri="{FF2B5EF4-FFF2-40B4-BE49-F238E27FC236}">
                <a16:creationId xmlns:a16="http://schemas.microsoft.com/office/drawing/2014/main" id="{25D6BDAB-622A-45B7-8743-0355E9EF1EE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graphicFrame>
        <p:nvGraphicFramePr>
          <p:cNvPr id="5" name="Object 4">
            <a:extLst>
              <a:ext uri="{FF2B5EF4-FFF2-40B4-BE49-F238E27FC236}">
                <a16:creationId xmlns:a16="http://schemas.microsoft.com/office/drawing/2014/main" id="{03E85244-E8AD-4216-BE3B-35B025CFFF30}"/>
              </a:ext>
            </a:extLst>
          </p:cNvPr>
          <p:cNvGraphicFramePr>
            <a:graphicFrameLocks noChangeAspect="1"/>
          </p:cNvGraphicFramePr>
          <p:nvPr/>
        </p:nvGraphicFramePr>
        <p:xfrm>
          <a:off x="1346880" y="5301208"/>
          <a:ext cx="6726034" cy="1112074"/>
        </p:xfrm>
        <a:graphic>
          <a:graphicData uri="http://schemas.openxmlformats.org/presentationml/2006/ole">
            <mc:AlternateContent xmlns:mc="http://schemas.openxmlformats.org/markup-compatibility/2006">
              <mc:Choice xmlns:v="urn:schemas-microsoft-com:vml" Requires="v">
                <p:oleObj r:id="rId3" imgW="9596537" imgH="1584505" progId="Visio.Drawing.15">
                  <p:embed/>
                </p:oleObj>
              </mc:Choice>
              <mc:Fallback>
                <p:oleObj r:id="rId3" imgW="9596537" imgH="1584505" progId="Visio.Drawing.15">
                  <p:embed/>
                  <p:pic>
                    <p:nvPicPr>
                      <p:cNvPr id="5" name="Object 4">
                        <a:extLst>
                          <a:ext uri="{FF2B5EF4-FFF2-40B4-BE49-F238E27FC236}">
                            <a16:creationId xmlns:a16="http://schemas.microsoft.com/office/drawing/2014/main" id="{03E85244-E8AD-4216-BE3B-35B025CFFF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6880" y="5301208"/>
                        <a:ext cx="6726034" cy="1112074"/>
                      </a:xfrm>
                      <a:prstGeom prst="rect">
                        <a:avLst/>
                      </a:prstGeom>
                      <a:noFill/>
                    </p:spPr>
                  </p:pic>
                </p:oleObj>
              </mc:Fallback>
            </mc:AlternateContent>
          </a:graphicData>
        </a:graphic>
      </p:graphicFrame>
    </p:spTree>
    <p:extLst>
      <p:ext uri="{BB962C8B-B14F-4D97-AF65-F5344CB8AC3E}">
        <p14:creationId xmlns:p14="http://schemas.microsoft.com/office/powerpoint/2010/main" val="254138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7200279" cy="719138"/>
          </a:xfrm>
        </p:spPr>
        <p:txBody>
          <a:bodyPr/>
          <a:lstStyle/>
          <a:p>
            <a:r>
              <a:rPr lang="en-US"/>
              <a:t>La protection périphérique et la surveillance de surface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1" y="1413470"/>
            <a:ext cx="7920360"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a:solidFill>
                  <a:schemeClr val="tx1"/>
                </a:solidFill>
                <a:ea typeface="Open Sans" panose="020B0606030504020204" pitchFamily="34" charset="0"/>
                <a:cs typeface="Open Sans" panose="020B0606030504020204" pitchFamily="34" charset="0"/>
              </a:rPr>
              <a:t>Surveillance de tous les points d'accès externes possibles en utilisant la surveillance de surface pour détecter : dommages à la surface, pénétration de/atteinte dans la zone de protection</a:t>
            </a:r>
          </a:p>
          <a:p>
            <a:pPr>
              <a:lnSpc>
                <a:spcPct val="150000"/>
              </a:lnSpc>
              <a:defRPr/>
            </a:pPr>
            <a:r>
              <a:rPr lang="en-US" sz="1800" kern="0">
                <a:ea typeface="Open Sans" panose="020B0606030504020204" pitchFamily="34" charset="0"/>
                <a:cs typeface="Open Sans" panose="020B0606030504020204" pitchFamily="34" charset="0"/>
              </a:rPr>
              <a:t>Surface surveillance avec détecteurs de vibrations :  </a:t>
            </a:r>
            <a:r>
              <a:rPr lang="en-US" sz="1800" kern="0">
                <a:solidFill>
                  <a:schemeClr val="tx1"/>
                </a:solidFill>
                <a:ea typeface="Open Sans" panose="020B0606030504020204" pitchFamily="34" charset="0"/>
                <a:cs typeface="Open Sans" panose="020B0606030504020204" pitchFamily="34" charset="0"/>
              </a:rPr>
              <a:t>évalue les vibrations causées lorsque les surfaces sont détruites. Les détecteurs sont collés ou vissés sur la surface surveillée. Le câblage est à quatre cœurs. Plage effective : 1,15m (verre) et 0,55m (acier et bois)</a:t>
            </a:r>
          </a:p>
          <a:p>
            <a:pPr>
              <a:lnSpc>
                <a:spcPct val="150000"/>
              </a:lnSpc>
              <a:defRPr/>
            </a:pPr>
            <a:endParaRPr lang="en-US" sz="1800" kern="0" dirty="0">
              <a:ea typeface="Open Sans" panose="020B0606030504020204" pitchFamily="34" charset="0"/>
              <a:cs typeface="Open Sans" panose="020B0606030504020204" pitchFamily="34" charset="0"/>
            </a:endParaRPr>
          </a:p>
          <a:p>
            <a:pPr>
              <a:lnSpc>
                <a:spcPct val="150000"/>
              </a:lnSpc>
              <a:defRPr/>
            </a:pPr>
            <a:endParaRPr lang="en-US" sz="18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000" kern="0" dirty="0">
              <a:ea typeface="Open Sans" panose="020B0606030504020204" pitchFamily="34" charset="0"/>
              <a:cs typeface="Open Sans" panose="020B0606030504020204" pitchFamily="34" charset="0"/>
            </a:endParaRPr>
          </a:p>
        </p:txBody>
      </p:sp>
      <p:pic>
        <p:nvPicPr>
          <p:cNvPr id="2" name="Picture 1">
            <a:extLst>
              <a:ext uri="{FF2B5EF4-FFF2-40B4-BE49-F238E27FC236}">
                <a16:creationId xmlns:a16="http://schemas.microsoft.com/office/drawing/2014/main" id="{17396312-4810-4648-8927-E7E54021A86F}"/>
              </a:ext>
            </a:extLst>
          </p:cNvPr>
          <p:cNvPicPr>
            <a:picLocks noChangeAspect="1"/>
          </p:cNvPicPr>
          <p:nvPr/>
        </p:nvPicPr>
        <p:blipFill>
          <a:blip r:embed="rId3"/>
          <a:stretch>
            <a:fillRect/>
          </a:stretch>
        </p:blipFill>
        <p:spPr>
          <a:xfrm>
            <a:off x="1084799" y="5085184"/>
            <a:ext cx="7550985" cy="1224136"/>
          </a:xfrm>
          <a:prstGeom prst="rect">
            <a:avLst/>
          </a:prstGeom>
        </p:spPr>
      </p:pic>
    </p:spTree>
    <p:extLst>
      <p:ext uri="{BB962C8B-B14F-4D97-AF65-F5344CB8AC3E}">
        <p14:creationId xmlns:p14="http://schemas.microsoft.com/office/powerpoint/2010/main" val="19768040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La surveillance </a:t>
            </a:r>
            <a:r>
              <a:rPr lang="en-US" dirty="0" err="1"/>
              <a:t>intérieure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340768"/>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1800" kern="0" dirty="0" err="1">
                <a:solidFill>
                  <a:schemeClr val="tx1"/>
                </a:solidFill>
                <a:ea typeface="Open Sans" panose="020B0606030504020204" pitchFamily="34" charset="0"/>
                <a:cs typeface="Open Sans" panose="020B0606030504020204" pitchFamily="34" charset="0"/>
              </a:rPr>
              <a:t>Contrôle</a:t>
            </a:r>
            <a:r>
              <a:rPr lang="en-US" sz="1800" kern="0" dirty="0">
                <a:solidFill>
                  <a:schemeClr val="tx1"/>
                </a:solidFill>
                <a:ea typeface="Open Sans" panose="020B0606030504020204" pitchFamily="34" charset="0"/>
                <a:cs typeface="Open Sans" panose="020B0606030504020204" pitchFamily="34" charset="0"/>
              </a:rPr>
              <a:t> les </a:t>
            </a:r>
            <a:r>
              <a:rPr lang="en-US" sz="1800" kern="0" dirty="0" err="1">
                <a:solidFill>
                  <a:schemeClr val="tx1"/>
                </a:solidFill>
                <a:ea typeface="Open Sans" panose="020B0606030504020204" pitchFamily="34" charset="0"/>
                <a:cs typeface="Open Sans" panose="020B0606030504020204" pitchFamily="34" charset="0"/>
              </a:rPr>
              <a:t>mouvements</a:t>
            </a:r>
            <a:r>
              <a:rPr lang="en-US" sz="1800" kern="0" dirty="0">
                <a:solidFill>
                  <a:schemeClr val="tx1"/>
                </a:solidFill>
                <a:ea typeface="Open Sans" panose="020B0606030504020204" pitchFamily="34" charset="0"/>
                <a:cs typeface="Open Sans" panose="020B0606030504020204" pitchFamily="34" charset="0"/>
              </a:rPr>
              <a:t> dans les </a:t>
            </a:r>
            <a:r>
              <a:rPr lang="en-US" sz="1800" kern="0" dirty="0" err="1">
                <a:solidFill>
                  <a:schemeClr val="tx1"/>
                </a:solidFill>
                <a:ea typeface="Open Sans" panose="020B0606030504020204" pitchFamily="34" charset="0"/>
                <a:cs typeface="Open Sans" panose="020B0606030504020204" pitchFamily="34" charset="0"/>
              </a:rPr>
              <a:t>pièces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fermées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ou</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l'ouverture</a:t>
            </a:r>
            <a:r>
              <a:rPr lang="en-US" sz="1800" kern="0" dirty="0">
                <a:solidFill>
                  <a:schemeClr val="tx1"/>
                </a:solidFill>
                <a:ea typeface="Open Sans" panose="020B0606030504020204" pitchFamily="34" charset="0"/>
                <a:cs typeface="Open Sans" panose="020B0606030504020204" pitchFamily="34" charset="0"/>
              </a:rPr>
              <a:t> de points </a:t>
            </a:r>
            <a:r>
              <a:rPr lang="en-US" sz="1800" kern="0" dirty="0" err="1">
                <a:solidFill>
                  <a:schemeClr val="tx1"/>
                </a:solidFill>
                <a:ea typeface="Open Sans" panose="020B0606030504020204" pitchFamily="34" charset="0"/>
                <a:cs typeface="Open Sans" panose="020B0606030504020204" pitchFamily="34" charset="0"/>
              </a:rPr>
              <a:t>d'accès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surveillés</a:t>
            </a:r>
            <a:r>
              <a:rPr lang="en-US" sz="1800" kern="0" dirty="0">
                <a:solidFill>
                  <a:schemeClr val="tx1"/>
                </a:solidFill>
                <a:ea typeface="Open Sans" panose="020B0606030504020204" pitchFamily="34" charset="0"/>
                <a:cs typeface="Open Sans" panose="020B0606030504020204" pitchFamily="34" charset="0"/>
              </a:rPr>
              <a:t> </a:t>
            </a:r>
          </a:p>
          <a:p>
            <a:pPr marL="0" indent="0">
              <a:lnSpc>
                <a:spcPct val="150000"/>
              </a:lnSpc>
              <a:buNone/>
              <a:defRPr/>
            </a:pPr>
            <a:endParaRPr lang="en-US" sz="1100" kern="0" dirty="0">
              <a:solidFill>
                <a:schemeClr val="tx1"/>
              </a:solidFill>
              <a:ea typeface="Open Sans" panose="020B0606030504020204" pitchFamily="34" charset="0"/>
              <a:cs typeface="Open Sans" panose="020B0606030504020204" pitchFamily="34" charset="0"/>
            </a:endParaRPr>
          </a:p>
          <a:p>
            <a:pPr marL="0" indent="0">
              <a:lnSpc>
                <a:spcPct val="150000"/>
              </a:lnSpc>
              <a:buNone/>
              <a:defRPr/>
            </a:pPr>
            <a:r>
              <a:rPr lang="en-US" sz="1800" kern="0" dirty="0" err="1">
                <a:ea typeface="Open Sans" panose="020B0606030504020204" pitchFamily="34" charset="0"/>
                <a:cs typeface="Open Sans" panose="020B0606030504020204" pitchFamily="34" charset="0"/>
              </a:rPr>
              <a:t>Méthodes</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d'opération</a:t>
            </a:r>
            <a:r>
              <a:rPr lang="en-US" sz="1800" kern="0" dirty="0">
                <a:ea typeface="Open Sans" panose="020B0606030504020204" pitchFamily="34" charset="0"/>
                <a:cs typeface="Open Sans" panose="020B0606030504020204" pitchFamily="34" charset="0"/>
              </a:rPr>
              <a:t> :</a:t>
            </a:r>
          </a:p>
          <a:p>
            <a:pPr marL="457200" indent="-457200">
              <a:buFont typeface="+mj-lt"/>
              <a:buAutoNum type="arabicPeriod"/>
            </a:pPr>
            <a:endParaRPr lang="en-US" sz="2000" kern="0" dirty="0">
              <a:ea typeface="Open Sans" panose="020B0606030504020204" pitchFamily="34" charset="0"/>
              <a:cs typeface="Open Sans" panose="020B0606030504020204" pitchFamily="34" charset="0"/>
            </a:endParaRPr>
          </a:p>
        </p:txBody>
      </p:sp>
      <p:sp>
        <p:nvSpPr>
          <p:cNvPr id="5" name="Content Placeholder 1">
            <a:extLst>
              <a:ext uri="{FF2B5EF4-FFF2-40B4-BE49-F238E27FC236}">
                <a16:creationId xmlns:a16="http://schemas.microsoft.com/office/drawing/2014/main" id="{DDD3323E-9647-4EC1-9F00-AECEE27CF238}"/>
              </a:ext>
            </a:extLst>
          </p:cNvPr>
          <p:cNvSpPr txBox="1">
            <a:spLocks/>
          </p:cNvSpPr>
          <p:nvPr/>
        </p:nvSpPr>
        <p:spPr>
          <a:xfrm>
            <a:off x="900112" y="2996952"/>
            <a:ext cx="3796632" cy="3023642"/>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GB" sz="1400" kern="0" dirty="0">
                <a:solidFill>
                  <a:schemeClr val="bg1">
                    <a:lumMod val="10000"/>
                  </a:schemeClr>
                </a:solidFill>
                <a:ea typeface="Open Sans" panose="020B0606030504020204" pitchFamily="34" charset="0"/>
                <a:cs typeface="Open Sans" panose="020B0606030504020204" pitchFamily="34" charset="0"/>
              </a:rPr>
              <a:t>Le </a:t>
            </a:r>
            <a:r>
              <a:rPr lang="en-GB" sz="1400" kern="0" dirty="0" err="1">
                <a:solidFill>
                  <a:schemeClr val="bg1">
                    <a:lumMod val="10000"/>
                  </a:schemeClr>
                </a:solidFill>
                <a:ea typeface="Open Sans" panose="020B0606030504020204" pitchFamily="34" charset="0"/>
                <a:cs typeface="Open Sans" panose="020B0606030504020204" pitchFamily="34" charset="0"/>
              </a:rPr>
              <a:t>détecteur</a:t>
            </a:r>
            <a:r>
              <a:rPr lang="en-GB" sz="1400" kern="0" dirty="0">
                <a:solidFill>
                  <a:schemeClr val="bg1">
                    <a:lumMod val="10000"/>
                  </a:schemeClr>
                </a:solidFill>
                <a:ea typeface="Open Sans" panose="020B0606030504020204" pitchFamily="34" charset="0"/>
                <a:cs typeface="Open Sans" panose="020B0606030504020204" pitchFamily="34" charset="0"/>
              </a:rPr>
              <a:t> dual</a:t>
            </a:r>
            <a:endParaRPr lang="es-ES" sz="14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r>
              <a:rPr lang="en-GB" sz="1400" kern="0" dirty="0">
                <a:solidFill>
                  <a:schemeClr val="bg1">
                    <a:lumMod val="10000"/>
                  </a:schemeClr>
                </a:solidFill>
                <a:ea typeface="Open Sans" panose="020B0606030504020204" pitchFamily="34" charset="0"/>
                <a:cs typeface="Open Sans" panose="020B0606030504020204" pitchFamily="34" charset="0"/>
              </a:rPr>
              <a:t>Les </a:t>
            </a:r>
            <a:r>
              <a:rPr lang="en-GB" sz="1400" kern="0" dirty="0" err="1">
                <a:solidFill>
                  <a:schemeClr val="bg1">
                    <a:lumMod val="10000"/>
                  </a:schemeClr>
                </a:solidFill>
                <a:ea typeface="Open Sans" panose="020B0606030504020204" pitchFamily="34" charset="0"/>
                <a:cs typeface="Open Sans" panose="020B0606030504020204" pitchFamily="34" charset="0"/>
              </a:rPr>
              <a:t>alarmes</a:t>
            </a:r>
            <a:r>
              <a:rPr lang="en-GB" sz="1400" kern="0" dirty="0">
                <a:solidFill>
                  <a:schemeClr val="bg1">
                    <a:lumMod val="10000"/>
                  </a:schemeClr>
                </a:solidFill>
                <a:ea typeface="Open Sans" panose="020B0606030504020204" pitchFamily="34" charset="0"/>
                <a:cs typeface="Open Sans" panose="020B0606030504020204" pitchFamily="34" charset="0"/>
              </a:rPr>
              <a:t> </a:t>
            </a:r>
            <a:r>
              <a:rPr lang="en-GB" sz="1400" kern="0" dirty="0" err="1">
                <a:solidFill>
                  <a:schemeClr val="bg1">
                    <a:lumMod val="10000"/>
                  </a:schemeClr>
                </a:solidFill>
                <a:ea typeface="Open Sans" panose="020B0606030504020204" pitchFamily="34" charset="0"/>
                <a:cs typeface="Open Sans" panose="020B0606030504020204" pitchFamily="34" charset="0"/>
              </a:rPr>
              <a:t>panique</a:t>
            </a:r>
            <a:endParaRPr lang="es-ES" sz="14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r>
              <a:rPr lang="en-GB" sz="1400" kern="0" dirty="0">
                <a:solidFill>
                  <a:schemeClr val="bg1">
                    <a:lumMod val="10000"/>
                  </a:schemeClr>
                </a:solidFill>
                <a:ea typeface="Open Sans" panose="020B0606030504020204" pitchFamily="34" charset="0"/>
                <a:cs typeface="Open Sans" panose="020B0606030504020204" pitchFamily="34" charset="0"/>
              </a:rPr>
              <a:t>Les </a:t>
            </a:r>
            <a:r>
              <a:rPr lang="en-GB" sz="1400" kern="0" dirty="0" err="1">
                <a:solidFill>
                  <a:schemeClr val="bg1">
                    <a:lumMod val="10000"/>
                  </a:schemeClr>
                </a:solidFill>
                <a:ea typeface="Open Sans" panose="020B0606030504020204" pitchFamily="34" charset="0"/>
                <a:cs typeface="Open Sans" panose="020B0606030504020204" pitchFamily="34" charset="0"/>
              </a:rPr>
              <a:t>serrures</a:t>
            </a:r>
            <a:r>
              <a:rPr lang="en-GB" sz="1400" kern="0" dirty="0">
                <a:solidFill>
                  <a:schemeClr val="bg1">
                    <a:lumMod val="10000"/>
                  </a:schemeClr>
                </a:solidFill>
                <a:ea typeface="Open Sans" panose="020B0606030504020204" pitchFamily="34" charset="0"/>
                <a:cs typeface="Open Sans" panose="020B0606030504020204" pitchFamily="34" charset="0"/>
              </a:rPr>
              <a:t> à contact </a:t>
            </a:r>
            <a:endParaRPr lang="es-ES" sz="14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r>
              <a:rPr lang="en-GB" sz="1400" kern="0" dirty="0" err="1">
                <a:solidFill>
                  <a:schemeClr val="bg1">
                    <a:lumMod val="10000"/>
                  </a:schemeClr>
                </a:solidFill>
                <a:ea typeface="Open Sans" panose="020B0606030504020204" pitchFamily="34" charset="0"/>
                <a:cs typeface="Open Sans" panose="020B0606030504020204" pitchFamily="34" charset="0"/>
              </a:rPr>
              <a:t>Détecteur</a:t>
            </a:r>
            <a:r>
              <a:rPr lang="en-GB" sz="1400" kern="0" dirty="0">
                <a:solidFill>
                  <a:schemeClr val="bg1">
                    <a:lumMod val="10000"/>
                  </a:schemeClr>
                </a:solidFill>
                <a:ea typeface="Open Sans" panose="020B0606030504020204" pitchFamily="34" charset="0"/>
                <a:cs typeface="Open Sans" panose="020B0606030504020204" pitchFamily="34" charset="0"/>
              </a:rPr>
              <a:t> de </a:t>
            </a:r>
            <a:r>
              <a:rPr lang="en-GB" sz="1400" kern="0" dirty="0" err="1">
                <a:solidFill>
                  <a:schemeClr val="bg1">
                    <a:lumMod val="10000"/>
                  </a:schemeClr>
                </a:solidFill>
                <a:ea typeface="Open Sans" panose="020B0606030504020204" pitchFamily="34" charset="0"/>
                <a:cs typeface="Open Sans" panose="020B0606030504020204" pitchFamily="34" charset="0"/>
              </a:rPr>
              <a:t>mouvement</a:t>
            </a:r>
            <a:r>
              <a:rPr lang="en-GB" sz="1400" kern="0" dirty="0">
                <a:solidFill>
                  <a:schemeClr val="bg1">
                    <a:lumMod val="10000"/>
                  </a:schemeClr>
                </a:solidFill>
                <a:ea typeface="Open Sans" panose="020B0606030504020204" pitchFamily="34" charset="0"/>
                <a:cs typeface="Open Sans" panose="020B0606030504020204" pitchFamily="34" charset="0"/>
              </a:rPr>
              <a:t> </a:t>
            </a:r>
            <a:r>
              <a:rPr lang="en-GB" sz="1400" kern="0" dirty="0" err="1">
                <a:solidFill>
                  <a:schemeClr val="bg1">
                    <a:lumMod val="10000"/>
                  </a:schemeClr>
                </a:solidFill>
                <a:ea typeface="Open Sans" panose="020B0606030504020204" pitchFamily="34" charset="0"/>
                <a:cs typeface="Open Sans" panose="020B0606030504020204" pitchFamily="34" charset="0"/>
              </a:rPr>
              <a:t>infrarouge</a:t>
            </a:r>
            <a:r>
              <a:rPr lang="en-GB" sz="1400" kern="0" dirty="0">
                <a:solidFill>
                  <a:schemeClr val="bg1">
                    <a:lumMod val="10000"/>
                  </a:schemeClr>
                </a:solidFill>
                <a:ea typeface="Open Sans" panose="020B0606030504020204" pitchFamily="34" charset="0"/>
                <a:cs typeface="Open Sans" panose="020B0606030504020204" pitchFamily="34" charset="0"/>
              </a:rPr>
              <a:t> </a:t>
            </a:r>
            <a:endParaRPr lang="es-ES" sz="14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r>
              <a:rPr lang="en-GB" sz="1400" kern="0" dirty="0">
                <a:solidFill>
                  <a:schemeClr val="bg1">
                    <a:lumMod val="10000"/>
                  </a:schemeClr>
                </a:solidFill>
                <a:ea typeface="Open Sans" panose="020B0606030504020204" pitchFamily="34" charset="0"/>
                <a:cs typeface="Open Sans" panose="020B0606030504020204" pitchFamily="34" charset="0"/>
              </a:rPr>
              <a:t>Les </a:t>
            </a:r>
            <a:r>
              <a:rPr lang="en-GB" sz="1400" kern="0" dirty="0" err="1">
                <a:solidFill>
                  <a:schemeClr val="bg1">
                    <a:lumMod val="10000"/>
                  </a:schemeClr>
                </a:solidFill>
                <a:ea typeface="Open Sans" panose="020B0606030504020204" pitchFamily="34" charset="0"/>
                <a:cs typeface="Open Sans" panose="020B0606030504020204" pitchFamily="34" charset="0"/>
              </a:rPr>
              <a:t>détecteurs</a:t>
            </a:r>
            <a:r>
              <a:rPr lang="en-GB" sz="1400" kern="0" dirty="0">
                <a:solidFill>
                  <a:schemeClr val="bg1">
                    <a:lumMod val="10000"/>
                  </a:schemeClr>
                </a:solidFill>
                <a:ea typeface="Open Sans" panose="020B0606030504020204" pitchFamily="34" charset="0"/>
                <a:cs typeface="Open Sans" panose="020B0606030504020204" pitchFamily="34" charset="0"/>
              </a:rPr>
              <a:t> de </a:t>
            </a:r>
            <a:r>
              <a:rPr lang="en-GB" sz="1400" kern="0" dirty="0" err="1">
                <a:solidFill>
                  <a:schemeClr val="bg1">
                    <a:lumMod val="10000"/>
                  </a:schemeClr>
                </a:solidFill>
                <a:ea typeface="Open Sans" panose="020B0606030504020204" pitchFamily="34" charset="0"/>
                <a:cs typeface="Open Sans" panose="020B0606030504020204" pitchFamily="34" charset="0"/>
              </a:rPr>
              <a:t>mouvement</a:t>
            </a:r>
            <a:r>
              <a:rPr lang="en-GB" sz="1400" kern="0" dirty="0">
                <a:solidFill>
                  <a:schemeClr val="bg1">
                    <a:lumMod val="10000"/>
                  </a:schemeClr>
                </a:solidFill>
                <a:ea typeface="Open Sans" panose="020B0606030504020204" pitchFamily="34" charset="0"/>
                <a:cs typeface="Open Sans" panose="020B0606030504020204" pitchFamily="34" charset="0"/>
              </a:rPr>
              <a:t> </a:t>
            </a:r>
            <a:r>
              <a:rPr lang="en-GB" sz="1400" kern="0" dirty="0" err="1">
                <a:solidFill>
                  <a:schemeClr val="bg1">
                    <a:lumMod val="10000"/>
                  </a:schemeClr>
                </a:solidFill>
                <a:ea typeface="Open Sans" panose="020B0606030504020204" pitchFamily="34" charset="0"/>
                <a:cs typeface="Open Sans" panose="020B0606030504020204" pitchFamily="34" charset="0"/>
              </a:rPr>
              <a:t>passifs</a:t>
            </a:r>
            <a:r>
              <a:rPr lang="en-GB" sz="1400" kern="0" dirty="0">
                <a:solidFill>
                  <a:schemeClr val="bg1">
                    <a:lumMod val="10000"/>
                  </a:schemeClr>
                </a:solidFill>
                <a:ea typeface="Open Sans" panose="020B0606030504020204" pitchFamily="34" charset="0"/>
                <a:cs typeface="Open Sans" panose="020B0606030504020204" pitchFamily="34" charset="0"/>
              </a:rPr>
              <a:t> à </a:t>
            </a:r>
            <a:r>
              <a:rPr lang="en-GB" sz="1400" kern="0" dirty="0" err="1">
                <a:solidFill>
                  <a:schemeClr val="bg1">
                    <a:lumMod val="10000"/>
                  </a:schemeClr>
                </a:solidFill>
                <a:ea typeface="Open Sans" panose="020B0606030504020204" pitchFamily="34" charset="0"/>
                <a:cs typeface="Open Sans" panose="020B0606030504020204" pitchFamily="34" charset="0"/>
              </a:rPr>
              <a:t>infrarouges</a:t>
            </a:r>
            <a:endParaRPr lang="es-ES" sz="14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r>
              <a:rPr lang="en-GB" sz="1400" kern="0" dirty="0" err="1">
                <a:solidFill>
                  <a:schemeClr val="bg1">
                    <a:lumMod val="10000"/>
                  </a:schemeClr>
                </a:solidFill>
                <a:ea typeface="Open Sans" panose="020B0606030504020204" pitchFamily="34" charset="0"/>
                <a:cs typeface="Open Sans" panose="020B0606030504020204" pitchFamily="34" charset="0"/>
              </a:rPr>
              <a:t>L'unité</a:t>
            </a:r>
            <a:r>
              <a:rPr lang="en-GB" sz="1400" kern="0" dirty="0">
                <a:solidFill>
                  <a:schemeClr val="bg1">
                    <a:lumMod val="10000"/>
                  </a:schemeClr>
                </a:solidFill>
                <a:ea typeface="Open Sans" panose="020B0606030504020204" pitchFamily="34" charset="0"/>
                <a:cs typeface="Open Sans" panose="020B0606030504020204" pitchFamily="34" charset="0"/>
              </a:rPr>
              <a:t> de commutation (à installer </a:t>
            </a:r>
            <a:r>
              <a:rPr lang="en-GB" sz="1400" kern="0" dirty="0" err="1">
                <a:solidFill>
                  <a:schemeClr val="bg1">
                    <a:lumMod val="10000"/>
                  </a:schemeClr>
                </a:solidFill>
                <a:ea typeface="Open Sans" panose="020B0606030504020204" pitchFamily="34" charset="0"/>
                <a:cs typeface="Open Sans" panose="020B0606030504020204" pitchFamily="34" charset="0"/>
              </a:rPr>
              <a:t>seulement</a:t>
            </a:r>
            <a:r>
              <a:rPr lang="en-GB" sz="1400" kern="0" dirty="0">
                <a:solidFill>
                  <a:schemeClr val="bg1">
                    <a:lumMod val="10000"/>
                  </a:schemeClr>
                </a:solidFill>
                <a:ea typeface="Open Sans" panose="020B0606030504020204" pitchFamily="34" charset="0"/>
                <a:cs typeface="Open Sans" panose="020B0606030504020204" pitchFamily="34" charset="0"/>
              </a:rPr>
              <a:t> dans la zone </a:t>
            </a:r>
            <a:r>
              <a:rPr lang="en-GB" sz="1400" kern="0" dirty="0" err="1">
                <a:solidFill>
                  <a:schemeClr val="bg1">
                    <a:lumMod val="10000"/>
                  </a:schemeClr>
                </a:solidFill>
                <a:ea typeface="Open Sans" panose="020B0606030504020204" pitchFamily="34" charset="0"/>
                <a:cs typeface="Open Sans" panose="020B0606030504020204" pitchFamily="34" charset="0"/>
              </a:rPr>
              <a:t>surveillée</a:t>
            </a:r>
            <a:r>
              <a:rPr lang="en-GB" sz="1400" kern="0" dirty="0">
                <a:solidFill>
                  <a:schemeClr val="bg1">
                    <a:lumMod val="10000"/>
                  </a:schemeClr>
                </a:solidFill>
                <a:ea typeface="Open Sans" panose="020B0606030504020204" pitchFamily="34" charset="0"/>
                <a:cs typeface="Open Sans" panose="020B0606030504020204" pitchFamily="34" charset="0"/>
              </a:rPr>
              <a:t>)</a:t>
            </a:r>
            <a:endParaRPr lang="es-ES" sz="14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endParaRPr lang="en-US" sz="14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1600" kern="0" dirty="0">
              <a:ea typeface="Open Sans" panose="020B0606030504020204" pitchFamily="34" charset="0"/>
              <a:cs typeface="Open Sans" panose="020B0606030504020204" pitchFamily="34" charset="0"/>
            </a:endParaRPr>
          </a:p>
        </p:txBody>
      </p:sp>
      <p:sp>
        <p:nvSpPr>
          <p:cNvPr id="6" name="Content Placeholder 1">
            <a:extLst>
              <a:ext uri="{FF2B5EF4-FFF2-40B4-BE49-F238E27FC236}">
                <a16:creationId xmlns:a16="http://schemas.microsoft.com/office/drawing/2014/main" id="{94A823A3-764A-455B-8332-57EE3A39A934}"/>
              </a:ext>
            </a:extLst>
          </p:cNvPr>
          <p:cNvSpPr txBox="1">
            <a:spLocks/>
          </p:cNvSpPr>
          <p:nvPr/>
        </p:nvSpPr>
        <p:spPr>
          <a:xfrm>
            <a:off x="4810877" y="2996952"/>
            <a:ext cx="3960440" cy="216024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GB" sz="1400" kern="0" dirty="0">
                <a:solidFill>
                  <a:schemeClr val="bg1">
                    <a:lumMod val="10000"/>
                  </a:schemeClr>
                </a:solidFill>
                <a:ea typeface="Open Sans" panose="020B0606030504020204" pitchFamily="34" charset="0"/>
                <a:cs typeface="Open Sans" panose="020B0606030504020204" pitchFamily="34" charset="0"/>
              </a:rPr>
              <a:t>Les </a:t>
            </a:r>
            <a:r>
              <a:rPr lang="en-GB" sz="1400" kern="0" dirty="0" err="1">
                <a:solidFill>
                  <a:schemeClr val="bg1">
                    <a:lumMod val="10000"/>
                  </a:schemeClr>
                </a:solidFill>
                <a:ea typeface="Open Sans" panose="020B0606030504020204" pitchFamily="34" charset="0"/>
                <a:cs typeface="Open Sans" panose="020B0606030504020204" pitchFamily="34" charset="0"/>
              </a:rPr>
              <a:t>éléments</a:t>
            </a:r>
            <a:r>
              <a:rPr lang="en-GB" sz="1400" kern="0" dirty="0">
                <a:solidFill>
                  <a:schemeClr val="bg1">
                    <a:lumMod val="10000"/>
                  </a:schemeClr>
                </a:solidFill>
                <a:ea typeface="Open Sans" panose="020B0606030504020204" pitchFamily="34" charset="0"/>
                <a:cs typeface="Open Sans" panose="020B0606030504020204" pitchFamily="34" charset="0"/>
              </a:rPr>
              <a:t> de </a:t>
            </a:r>
            <a:r>
              <a:rPr lang="en-GB" sz="1400" kern="0" dirty="0" err="1">
                <a:solidFill>
                  <a:schemeClr val="bg1">
                    <a:lumMod val="10000"/>
                  </a:schemeClr>
                </a:solidFill>
                <a:ea typeface="Open Sans" panose="020B0606030504020204" pitchFamily="34" charset="0"/>
                <a:cs typeface="Open Sans" panose="020B0606030504020204" pitchFamily="34" charset="0"/>
              </a:rPr>
              <a:t>verrouillage</a:t>
            </a:r>
            <a:r>
              <a:rPr lang="en-GB" sz="1400" kern="0" dirty="0">
                <a:solidFill>
                  <a:schemeClr val="bg1">
                    <a:lumMod val="10000"/>
                  </a:schemeClr>
                </a:solidFill>
                <a:ea typeface="Open Sans" panose="020B0606030504020204" pitchFamily="34" charset="0"/>
                <a:cs typeface="Open Sans" panose="020B0606030504020204" pitchFamily="34" charset="0"/>
              </a:rPr>
              <a:t> </a:t>
            </a:r>
            <a:endParaRPr lang="es-ES" sz="14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r>
              <a:rPr lang="en-GB" sz="1400" kern="0" dirty="0">
                <a:solidFill>
                  <a:schemeClr val="bg1">
                    <a:lumMod val="10000"/>
                  </a:schemeClr>
                </a:solidFill>
                <a:ea typeface="Open Sans" panose="020B0606030504020204" pitchFamily="34" charset="0"/>
                <a:cs typeface="Open Sans" panose="020B0606030504020204" pitchFamily="34" charset="0"/>
              </a:rPr>
              <a:t>Les </a:t>
            </a:r>
            <a:r>
              <a:rPr lang="en-GB" sz="1400" kern="0" dirty="0" err="1">
                <a:solidFill>
                  <a:schemeClr val="bg1">
                    <a:lumMod val="10000"/>
                  </a:schemeClr>
                </a:solidFill>
                <a:ea typeface="Open Sans" panose="020B0606030504020204" pitchFamily="34" charset="0"/>
                <a:cs typeface="Open Sans" panose="020B0606030504020204" pitchFamily="34" charset="0"/>
              </a:rPr>
              <a:t>serrures</a:t>
            </a:r>
            <a:r>
              <a:rPr lang="en-GB" sz="1400" kern="0" dirty="0">
                <a:solidFill>
                  <a:schemeClr val="bg1">
                    <a:lumMod val="10000"/>
                  </a:schemeClr>
                </a:solidFill>
                <a:ea typeface="Open Sans" panose="020B0606030504020204" pitchFamily="34" charset="0"/>
                <a:cs typeface="Open Sans" panose="020B0606030504020204" pitchFamily="34" charset="0"/>
              </a:rPr>
              <a:t> à </a:t>
            </a:r>
            <a:r>
              <a:rPr lang="en-GB" sz="1400" kern="0" dirty="0" err="1">
                <a:solidFill>
                  <a:schemeClr val="bg1">
                    <a:lumMod val="10000"/>
                  </a:schemeClr>
                </a:solidFill>
                <a:ea typeface="Open Sans" panose="020B0606030504020204" pitchFamily="34" charset="0"/>
                <a:cs typeface="Open Sans" panose="020B0606030504020204" pitchFamily="34" charset="0"/>
              </a:rPr>
              <a:t>clé</a:t>
            </a:r>
            <a:endParaRPr lang="es-ES" sz="14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r>
              <a:rPr lang="en-GB" sz="1400" kern="0" dirty="0">
                <a:solidFill>
                  <a:schemeClr val="bg1">
                    <a:lumMod val="10000"/>
                  </a:schemeClr>
                </a:solidFill>
                <a:ea typeface="Open Sans" panose="020B0606030504020204" pitchFamily="34" charset="0"/>
                <a:cs typeface="Open Sans" panose="020B0606030504020204" pitchFamily="34" charset="0"/>
              </a:rPr>
              <a:t>Les </a:t>
            </a:r>
            <a:r>
              <a:rPr lang="en-GB" sz="1400" kern="0" dirty="0" err="1">
                <a:solidFill>
                  <a:schemeClr val="bg1">
                    <a:lumMod val="10000"/>
                  </a:schemeClr>
                </a:solidFill>
                <a:ea typeface="Open Sans" panose="020B0606030504020204" pitchFamily="34" charset="0"/>
                <a:cs typeface="Open Sans" panose="020B0606030504020204" pitchFamily="34" charset="0"/>
              </a:rPr>
              <a:t>serrures</a:t>
            </a:r>
            <a:r>
              <a:rPr lang="en-GB" sz="1400" kern="0" dirty="0">
                <a:solidFill>
                  <a:schemeClr val="bg1">
                    <a:lumMod val="10000"/>
                  </a:schemeClr>
                </a:solidFill>
                <a:ea typeface="Open Sans" panose="020B0606030504020204" pitchFamily="34" charset="0"/>
                <a:cs typeface="Open Sans" panose="020B0606030504020204" pitchFamily="34" charset="0"/>
              </a:rPr>
              <a:t> de </a:t>
            </a:r>
            <a:r>
              <a:rPr lang="en-GB" sz="1400" kern="0" dirty="0" err="1">
                <a:solidFill>
                  <a:schemeClr val="bg1">
                    <a:lumMod val="10000"/>
                  </a:schemeClr>
                </a:solidFill>
                <a:ea typeface="Open Sans" panose="020B0606030504020204" pitchFamily="34" charset="0"/>
                <a:cs typeface="Open Sans" panose="020B0606030504020204" pitchFamily="34" charset="0"/>
              </a:rPr>
              <a:t>blocage</a:t>
            </a:r>
            <a:endParaRPr lang="en-GB" sz="14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r>
              <a:rPr lang="en-GB" sz="1400" kern="0" dirty="0">
                <a:solidFill>
                  <a:schemeClr val="bg1">
                    <a:lumMod val="10000"/>
                  </a:schemeClr>
                </a:solidFill>
                <a:ea typeface="Open Sans" panose="020B0606030504020204" pitchFamily="34" charset="0"/>
                <a:cs typeface="Open Sans" panose="020B0606030504020204" pitchFamily="34" charset="0"/>
              </a:rPr>
              <a:t>Les </a:t>
            </a:r>
            <a:r>
              <a:rPr lang="en-GB" sz="1400" kern="0" dirty="0" err="1">
                <a:solidFill>
                  <a:schemeClr val="bg1">
                    <a:lumMod val="10000"/>
                  </a:schemeClr>
                </a:solidFill>
                <a:ea typeface="Open Sans" panose="020B0606030504020204" pitchFamily="34" charset="0"/>
                <a:cs typeface="Open Sans" panose="020B0606030504020204" pitchFamily="34" charset="0"/>
              </a:rPr>
              <a:t>dispositifs</a:t>
            </a:r>
            <a:r>
              <a:rPr lang="en-GB" sz="1400" kern="0" dirty="0">
                <a:solidFill>
                  <a:schemeClr val="bg1">
                    <a:lumMod val="10000"/>
                  </a:schemeClr>
                </a:solidFill>
                <a:ea typeface="Open Sans" panose="020B0606030504020204" pitchFamily="34" charset="0"/>
                <a:cs typeface="Open Sans" panose="020B0606030504020204" pitchFamily="34" charset="0"/>
              </a:rPr>
              <a:t> </a:t>
            </a:r>
            <a:r>
              <a:rPr lang="en-GB" sz="1400" kern="0" dirty="0" err="1">
                <a:solidFill>
                  <a:schemeClr val="bg1">
                    <a:lumMod val="10000"/>
                  </a:schemeClr>
                </a:solidFill>
                <a:ea typeface="Open Sans" panose="020B0606030504020204" pitchFamily="34" charset="0"/>
                <a:cs typeface="Open Sans" panose="020B0606030504020204" pitchFamily="34" charset="0"/>
              </a:rPr>
              <a:t>d'armement</a:t>
            </a:r>
            <a:r>
              <a:rPr lang="en-GB" sz="1400" kern="0" dirty="0">
                <a:solidFill>
                  <a:schemeClr val="bg1">
                    <a:lumMod val="10000"/>
                  </a:schemeClr>
                </a:solidFill>
                <a:ea typeface="Open Sans" panose="020B0606030504020204" pitchFamily="34" charset="0"/>
                <a:cs typeface="Open Sans" panose="020B0606030504020204" pitchFamily="34" charset="0"/>
              </a:rPr>
              <a:t> de </a:t>
            </a:r>
            <a:r>
              <a:rPr lang="en-GB" sz="1400" kern="0" dirty="0" err="1">
                <a:solidFill>
                  <a:schemeClr val="bg1">
                    <a:lumMod val="10000"/>
                  </a:schemeClr>
                </a:solidFill>
                <a:ea typeface="Open Sans" panose="020B0606030504020204" pitchFamily="34" charset="0"/>
                <a:cs typeface="Open Sans" panose="020B0606030504020204" pitchFamily="34" charset="0"/>
              </a:rPr>
              <a:t>proximité</a:t>
            </a:r>
            <a:endParaRPr lang="es-ES" sz="14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endParaRPr lang="en-US" sz="14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16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1064737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Détecteurs de surveillance intérieure</a:t>
            </a:r>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340768"/>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err="1">
                <a:ea typeface="Open Sans" panose="020B0606030504020204" pitchFamily="34" charset="0"/>
                <a:cs typeface="Open Sans" panose="020B0606030504020204" pitchFamily="34" charset="0"/>
              </a:rPr>
              <a:t>Détecteurs</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passifs</a:t>
            </a:r>
            <a:r>
              <a:rPr lang="en-US" sz="1800" kern="0" dirty="0">
                <a:ea typeface="Open Sans" panose="020B0606030504020204" pitchFamily="34" charset="0"/>
                <a:cs typeface="Open Sans" panose="020B0606030504020204" pitchFamily="34" charset="0"/>
              </a:rPr>
              <a:t> de </a:t>
            </a:r>
            <a:r>
              <a:rPr lang="en-US" sz="1800" kern="0" dirty="0" err="1">
                <a:ea typeface="Open Sans" panose="020B0606030504020204" pitchFamily="34" charset="0"/>
                <a:cs typeface="Open Sans" panose="020B0606030504020204" pitchFamily="34" charset="0"/>
              </a:rPr>
              <a:t>mouvement</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infrarouge</a:t>
            </a:r>
            <a:r>
              <a:rPr lang="en-US" sz="1800" kern="0" dirty="0">
                <a:ea typeface="Open Sans" panose="020B0606030504020204" pitchFamily="34" charset="0"/>
                <a:cs typeface="Open Sans" panose="020B0606030504020204" pitchFamily="34" charset="0"/>
              </a:rPr>
              <a:t> : </a:t>
            </a:r>
            <a:r>
              <a:rPr lang="en-US" sz="1800" kern="0" dirty="0" err="1">
                <a:solidFill>
                  <a:schemeClr val="tx1"/>
                </a:solidFill>
                <a:ea typeface="Open Sans" panose="020B0606030504020204" pitchFamily="34" charset="0"/>
                <a:cs typeface="Open Sans" panose="020B0606030504020204" pitchFamily="34" charset="0"/>
              </a:rPr>
              <a:t>réagissent</a:t>
            </a:r>
            <a:r>
              <a:rPr lang="en-US" sz="1800" kern="0" dirty="0">
                <a:solidFill>
                  <a:schemeClr val="tx1"/>
                </a:solidFill>
                <a:ea typeface="Open Sans" panose="020B0606030504020204" pitchFamily="34" charset="0"/>
                <a:cs typeface="Open Sans" panose="020B0606030504020204" pitchFamily="34" charset="0"/>
              </a:rPr>
              <a:t> au </a:t>
            </a:r>
            <a:r>
              <a:rPr lang="en-US" sz="1800" kern="0" dirty="0" err="1">
                <a:solidFill>
                  <a:schemeClr val="tx1"/>
                </a:solidFill>
                <a:ea typeface="Open Sans" panose="020B0606030504020204" pitchFamily="34" charset="0"/>
                <a:cs typeface="Open Sans" panose="020B0606030504020204" pitchFamily="34" charset="0"/>
              </a:rPr>
              <a:t>mouvement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thermique</a:t>
            </a:r>
            <a:r>
              <a:rPr lang="en-US" sz="1800" kern="0" dirty="0">
                <a:solidFill>
                  <a:schemeClr val="tx1"/>
                </a:solidFill>
                <a:ea typeface="Open Sans" panose="020B0606030504020204" pitchFamily="34" charset="0"/>
                <a:cs typeface="Open Sans" panose="020B0606030504020204" pitchFamily="34" charset="0"/>
              </a:rPr>
              <a:t> via photodiodes</a:t>
            </a:r>
          </a:p>
          <a:p>
            <a:pPr marL="400050" lvl="1" indent="0">
              <a:lnSpc>
                <a:spcPct val="150000"/>
              </a:lnSpc>
              <a:buNone/>
              <a:defRPr/>
            </a:pPr>
            <a:r>
              <a:rPr lang="en-US" sz="1800" b="1" kern="0" dirty="0">
                <a:solidFill>
                  <a:schemeClr val="tx1"/>
                </a:solidFill>
                <a:ea typeface="Open Sans" panose="020B0606030504020204" pitchFamily="34" charset="0"/>
                <a:cs typeface="Open Sans" panose="020B0606030504020204" pitchFamily="34" charset="0"/>
              </a:rPr>
              <a:t>Si le </a:t>
            </a:r>
            <a:r>
              <a:rPr lang="en-US" sz="1800" b="1" kern="0" dirty="0" err="1">
                <a:solidFill>
                  <a:schemeClr val="tx1"/>
                </a:solidFill>
                <a:ea typeface="Open Sans" panose="020B0606030504020204" pitchFamily="34" charset="0"/>
                <a:cs typeface="Open Sans" panose="020B0606030504020204" pitchFamily="34" charset="0"/>
              </a:rPr>
              <a:t>rayonnement</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thermique</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d'une</a:t>
            </a:r>
            <a:r>
              <a:rPr lang="en-US" sz="1800" b="1" kern="0" dirty="0">
                <a:solidFill>
                  <a:schemeClr val="tx1"/>
                </a:solidFill>
                <a:ea typeface="Open Sans" panose="020B0606030504020204" pitchFamily="34" charset="0"/>
                <a:cs typeface="Open Sans" panose="020B0606030504020204" pitchFamily="34" charset="0"/>
              </a:rPr>
              <a:t> zone change dans un court laps de temps, le </a:t>
            </a:r>
            <a:r>
              <a:rPr lang="en-US" sz="1800" b="1" kern="0" dirty="0" err="1">
                <a:solidFill>
                  <a:schemeClr val="tx1"/>
                </a:solidFill>
                <a:ea typeface="Open Sans" panose="020B0606030504020204" pitchFamily="34" charset="0"/>
                <a:cs typeface="Open Sans" panose="020B0606030504020204" pitchFamily="34" charset="0"/>
              </a:rPr>
              <a:t>détecteur</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évalue</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cela</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comme</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une</a:t>
            </a:r>
            <a:r>
              <a:rPr lang="en-US" sz="1800" b="1" kern="0" dirty="0">
                <a:solidFill>
                  <a:schemeClr val="tx1"/>
                </a:solidFill>
                <a:ea typeface="Open Sans" panose="020B0606030504020204" pitchFamily="34" charset="0"/>
                <a:cs typeface="Open Sans" panose="020B0606030504020204" pitchFamily="34" charset="0"/>
              </a:rPr>
              <a:t> tentative </a:t>
            </a:r>
            <a:r>
              <a:rPr lang="en-US" sz="1800" b="1" kern="0" dirty="0" err="1">
                <a:solidFill>
                  <a:schemeClr val="tx1"/>
                </a:solidFill>
                <a:ea typeface="Open Sans" panose="020B0606030504020204" pitchFamily="34" charset="0"/>
                <a:cs typeface="Open Sans" panose="020B0606030504020204" pitchFamily="34" charset="0"/>
              </a:rPr>
              <a:t>d'arrêt</a:t>
            </a:r>
            <a:r>
              <a:rPr lang="en-US" sz="1800" b="1" kern="0" dirty="0">
                <a:solidFill>
                  <a:schemeClr val="tx1"/>
                </a:solidFill>
                <a:ea typeface="Open Sans" panose="020B0606030504020204" pitchFamily="34" charset="0"/>
                <a:cs typeface="Open Sans" panose="020B0606030504020204" pitchFamily="34" charset="0"/>
              </a:rPr>
              <a:t> Doit </a:t>
            </a:r>
            <a:r>
              <a:rPr lang="en-US" sz="1800" b="1" kern="0" dirty="0" err="1">
                <a:solidFill>
                  <a:schemeClr val="tx1"/>
                </a:solidFill>
                <a:ea typeface="Open Sans" panose="020B0606030504020204" pitchFamily="34" charset="0"/>
                <a:cs typeface="Open Sans" panose="020B0606030504020204" pitchFamily="34" charset="0"/>
              </a:rPr>
              <a:t>être</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connecté</a:t>
            </a:r>
            <a:r>
              <a:rPr lang="en-US" sz="1800" b="1" kern="0" dirty="0">
                <a:solidFill>
                  <a:schemeClr val="tx1"/>
                </a:solidFill>
                <a:ea typeface="Open Sans" panose="020B0606030504020204" pitchFamily="34" charset="0"/>
                <a:cs typeface="Open Sans" panose="020B0606030504020204" pitchFamily="34" charset="0"/>
              </a:rPr>
              <a:t> à </a:t>
            </a:r>
            <a:r>
              <a:rPr lang="en-US" sz="1800" b="1" kern="0" dirty="0" err="1">
                <a:solidFill>
                  <a:schemeClr val="tx1"/>
                </a:solidFill>
                <a:ea typeface="Open Sans" panose="020B0606030504020204" pitchFamily="34" charset="0"/>
                <a:cs typeface="Open Sans" panose="020B0606030504020204" pitchFamily="34" charset="0"/>
              </a:rPr>
              <a:t>l'alimentation</a:t>
            </a:r>
            <a:r>
              <a:rPr lang="en-US" sz="1800" b="1" kern="0" dirty="0">
                <a:solidFill>
                  <a:schemeClr val="tx1"/>
                </a:solidFill>
                <a:ea typeface="Open Sans" panose="020B0606030504020204" pitchFamily="34" charset="0"/>
                <a:cs typeface="Open Sans" panose="020B0606030504020204" pitchFamily="34" charset="0"/>
              </a:rPr>
              <a:t> des </a:t>
            </a:r>
            <a:r>
              <a:rPr lang="en-US" sz="1800" b="1" kern="0" dirty="0" err="1">
                <a:solidFill>
                  <a:schemeClr val="tx1"/>
                </a:solidFill>
                <a:ea typeface="Open Sans" panose="020B0606030504020204" pitchFamily="34" charset="0"/>
                <a:cs typeface="Open Sans" panose="020B0606030504020204" pitchFamily="34" charset="0"/>
              </a:rPr>
              <a:t>détecteurs</a:t>
            </a:r>
            <a:r>
              <a:rPr lang="en-US" sz="1800" b="1" kern="0" dirty="0">
                <a:solidFill>
                  <a:schemeClr val="tx1"/>
                </a:solidFill>
                <a:ea typeface="Open Sans" panose="020B0606030504020204" pitchFamily="34" charset="0"/>
                <a:cs typeface="Open Sans" panose="020B0606030504020204" pitchFamily="34" charset="0"/>
              </a:rPr>
              <a:t> sur </a:t>
            </a:r>
            <a:r>
              <a:rPr lang="en-US" sz="1800" b="1" kern="0" dirty="0" err="1">
                <a:solidFill>
                  <a:schemeClr val="tx1"/>
                </a:solidFill>
                <a:ea typeface="Open Sans" panose="020B0606030504020204" pitchFamily="34" charset="0"/>
                <a:cs typeface="Open Sans" panose="020B0606030504020204" pitchFamily="34" charset="0"/>
              </a:rPr>
              <a:t>l'unité</a:t>
            </a:r>
            <a:r>
              <a:rPr lang="en-US" sz="1800" b="1" kern="0" dirty="0">
                <a:solidFill>
                  <a:schemeClr val="tx1"/>
                </a:solidFill>
                <a:ea typeface="Open Sans" panose="020B0606030504020204" pitchFamily="34" charset="0"/>
                <a:cs typeface="Open Sans" panose="020B0606030504020204" pitchFamily="34" charset="0"/>
              </a:rPr>
              <a:t> de </a:t>
            </a:r>
            <a:r>
              <a:rPr lang="en-US" sz="1800" b="1" kern="0" dirty="0" err="1">
                <a:solidFill>
                  <a:schemeClr val="tx1"/>
                </a:solidFill>
                <a:ea typeface="Open Sans" panose="020B0606030504020204" pitchFamily="34" charset="0"/>
                <a:cs typeface="Open Sans" panose="020B0606030504020204" pitchFamily="34" charset="0"/>
              </a:rPr>
              <a:t>contrôle</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d'alarme</a:t>
            </a:r>
            <a:r>
              <a:rPr lang="en-US" sz="1800" b="1" kern="0" dirty="0">
                <a:solidFill>
                  <a:schemeClr val="tx1"/>
                </a:solidFill>
                <a:ea typeface="Open Sans" panose="020B0606030504020204" pitchFamily="34" charset="0"/>
                <a:cs typeface="Open Sans" panose="020B0606030504020204" pitchFamily="34" charset="0"/>
              </a:rPr>
              <a:t> anti-intrusion </a:t>
            </a:r>
          </a:p>
          <a:p>
            <a:pPr marL="400050" lvl="1" indent="0">
              <a:lnSpc>
                <a:spcPct val="150000"/>
              </a:lnSpc>
              <a:buNone/>
              <a:defRPr/>
            </a:pPr>
            <a:r>
              <a:rPr lang="en-US" sz="1800" b="1" kern="0" dirty="0">
                <a:solidFill>
                  <a:schemeClr val="tx1"/>
                </a:solidFill>
                <a:ea typeface="Open Sans" panose="020B0606030504020204" pitchFamily="34" charset="0"/>
                <a:cs typeface="Open Sans" panose="020B0606030504020204" pitchFamily="34" charset="0"/>
              </a:rPr>
              <a:t>Le contact de </a:t>
            </a:r>
            <a:r>
              <a:rPr lang="en-US" sz="1800" b="1" kern="0" dirty="0" err="1">
                <a:solidFill>
                  <a:schemeClr val="tx1"/>
                </a:solidFill>
                <a:ea typeface="Open Sans" panose="020B0606030504020204" pitchFamily="34" charset="0"/>
                <a:cs typeface="Open Sans" panose="020B0606030504020204" pitchFamily="34" charset="0"/>
              </a:rPr>
              <a:t>l'alarme</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est</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inclus</a:t>
            </a:r>
            <a:r>
              <a:rPr lang="en-US" sz="1800" b="1" kern="0" dirty="0">
                <a:solidFill>
                  <a:schemeClr val="tx1"/>
                </a:solidFill>
                <a:ea typeface="Open Sans" panose="020B0606030504020204" pitchFamily="34" charset="0"/>
                <a:cs typeface="Open Sans" panose="020B0606030504020204" pitchFamily="34" charset="0"/>
              </a:rPr>
              <a:t> dans la zone </a:t>
            </a:r>
            <a:r>
              <a:rPr lang="en-US" sz="1800" b="1" kern="0" dirty="0" err="1">
                <a:solidFill>
                  <a:schemeClr val="tx1"/>
                </a:solidFill>
                <a:ea typeface="Open Sans" panose="020B0606030504020204" pitchFamily="34" charset="0"/>
                <a:cs typeface="Open Sans" panose="020B0606030504020204" pitchFamily="34" charset="0"/>
              </a:rPr>
              <a:t>d'intrusion</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lorsque</a:t>
            </a:r>
            <a:r>
              <a:rPr lang="en-US" sz="1800" b="1" kern="0" dirty="0">
                <a:solidFill>
                  <a:schemeClr val="tx1"/>
                </a:solidFill>
                <a:ea typeface="Open Sans" panose="020B0606030504020204" pitchFamily="34" charset="0"/>
                <a:cs typeface="Open Sans" panose="020B0606030504020204" pitchFamily="34" charset="0"/>
              </a:rPr>
              <a:t> le contact du tampon </a:t>
            </a:r>
            <a:r>
              <a:rPr lang="en-US" sz="1800" b="1" kern="0" dirty="0" err="1">
                <a:solidFill>
                  <a:schemeClr val="tx1"/>
                </a:solidFill>
                <a:ea typeface="Open Sans" panose="020B0606030504020204" pitchFamily="34" charset="0"/>
                <a:cs typeface="Open Sans" panose="020B0606030504020204" pitchFamily="34" charset="0"/>
              </a:rPr>
              <a:t>est</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placé</a:t>
            </a:r>
            <a:r>
              <a:rPr lang="en-US" sz="1800" b="1" kern="0" dirty="0">
                <a:solidFill>
                  <a:schemeClr val="tx1"/>
                </a:solidFill>
                <a:ea typeface="Open Sans" panose="020B0606030504020204" pitchFamily="34" charset="0"/>
                <a:cs typeface="Open Sans" panose="020B0606030504020204" pitchFamily="34" charset="0"/>
              </a:rPr>
              <a:t> dans la zone de sabotage</a:t>
            </a:r>
          </a:p>
          <a:p>
            <a:pPr marL="400050" lvl="1" indent="0">
              <a:lnSpc>
                <a:spcPct val="150000"/>
              </a:lnSpc>
              <a:buNone/>
              <a:defRPr/>
            </a:pPr>
            <a:r>
              <a:rPr lang="en-GB" sz="1800" b="1" kern="0" dirty="0">
                <a:solidFill>
                  <a:schemeClr val="tx1"/>
                </a:solidFill>
                <a:ea typeface="Open Sans" panose="020B0606030504020204" pitchFamily="34" charset="0"/>
                <a:cs typeface="Open Sans" panose="020B0606030504020204" pitchFamily="34" charset="0"/>
              </a:rPr>
              <a:t>Le </a:t>
            </a:r>
            <a:r>
              <a:rPr lang="en-GB" sz="1800" b="1" kern="0" dirty="0" err="1">
                <a:solidFill>
                  <a:schemeClr val="tx1"/>
                </a:solidFill>
                <a:ea typeface="Open Sans" panose="020B0606030504020204" pitchFamily="34" charset="0"/>
                <a:cs typeface="Open Sans" panose="020B0606030504020204" pitchFamily="34" charset="0"/>
              </a:rPr>
              <a:t>signalement</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est</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effectué</a:t>
            </a:r>
            <a:r>
              <a:rPr lang="en-US" sz="1800" b="1" kern="0" dirty="0">
                <a:solidFill>
                  <a:schemeClr val="tx1"/>
                </a:solidFill>
                <a:ea typeface="Open Sans" panose="020B0606030504020204" pitchFamily="34" charset="0"/>
                <a:cs typeface="Open Sans" panose="020B0606030504020204" pitchFamily="34" charset="0"/>
              </a:rPr>
              <a:t> par un contact sans </a:t>
            </a:r>
            <a:r>
              <a:rPr lang="en-US" sz="1800" b="1" kern="0" dirty="0" err="1">
                <a:solidFill>
                  <a:schemeClr val="tx1"/>
                </a:solidFill>
                <a:ea typeface="Open Sans" panose="020B0606030504020204" pitchFamily="34" charset="0"/>
                <a:cs typeface="Open Sans" panose="020B0606030504020204" pitchFamily="34" charset="0"/>
              </a:rPr>
              <a:t>potentiel</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a:solidFill>
                  <a:srgbClr val="369226"/>
                </a:solidFill>
                <a:ea typeface="Open Sans" panose="020B0606030504020204" pitchFamily="34" charset="0"/>
                <a:cs typeface="Open Sans" panose="020B0606030504020204" pitchFamily="34" charset="0"/>
              </a:rPr>
              <a:t> </a:t>
            </a:r>
          </a:p>
          <a:p>
            <a:pPr marL="400050" lvl="1" indent="0">
              <a:lnSpc>
                <a:spcPct val="150000"/>
              </a:lnSpc>
              <a:buNone/>
              <a:defRPr/>
            </a:pPr>
            <a:r>
              <a:rPr lang="en-US" sz="1800" b="1" kern="0" dirty="0">
                <a:solidFill>
                  <a:schemeClr val="tx1"/>
                </a:solidFill>
                <a:ea typeface="Open Sans" panose="020B0606030504020204" pitchFamily="34" charset="0"/>
                <a:cs typeface="Open Sans" panose="020B0606030504020204" pitchFamily="34" charset="0"/>
              </a:rPr>
              <a:t>La </a:t>
            </a:r>
            <a:r>
              <a:rPr lang="en-US" sz="1800" b="1" kern="0" dirty="0" err="1">
                <a:solidFill>
                  <a:schemeClr val="tx1"/>
                </a:solidFill>
                <a:ea typeface="Open Sans" panose="020B0606030504020204" pitchFamily="34" charset="0"/>
                <a:cs typeface="Open Sans" panose="020B0606030504020204" pitchFamily="34" charset="0"/>
              </a:rPr>
              <a:t>connexion</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est</a:t>
            </a:r>
            <a:r>
              <a:rPr lang="en-US" sz="1800" b="1" kern="0" dirty="0">
                <a:solidFill>
                  <a:schemeClr val="tx1"/>
                </a:solidFill>
                <a:ea typeface="Open Sans" panose="020B0606030504020204" pitchFamily="34" charset="0"/>
                <a:cs typeface="Open Sans" panose="020B0606030504020204" pitchFamily="34" charset="0"/>
              </a:rPr>
              <a:t> 8 </a:t>
            </a:r>
            <a:r>
              <a:rPr lang="en-US" sz="1800" b="1" kern="0" dirty="0" err="1">
                <a:solidFill>
                  <a:schemeClr val="tx1"/>
                </a:solidFill>
                <a:ea typeface="Open Sans" panose="020B0606030504020204" pitchFamily="34" charset="0"/>
                <a:cs typeface="Open Sans" panose="020B0606030504020204" pitchFamily="34" charset="0"/>
              </a:rPr>
              <a:t>cœurs</a:t>
            </a:r>
            <a:r>
              <a:rPr lang="en-US" sz="1800" b="1" kern="0" dirty="0">
                <a:solidFill>
                  <a:schemeClr val="tx1"/>
                </a:solidFill>
                <a:ea typeface="Open Sans" panose="020B0606030504020204" pitchFamily="34" charset="0"/>
                <a:cs typeface="Open Sans" panose="020B0606030504020204" pitchFamily="34" charset="0"/>
              </a:rPr>
              <a:t> </a:t>
            </a:r>
            <a:r>
              <a:rPr lang="en-US" sz="1800" b="1" kern="0" dirty="0" err="1">
                <a:solidFill>
                  <a:schemeClr val="tx1"/>
                </a:solidFill>
                <a:ea typeface="Open Sans" panose="020B0606030504020204" pitchFamily="34" charset="0"/>
                <a:cs typeface="Open Sans" panose="020B0606030504020204" pitchFamily="34" charset="0"/>
              </a:rPr>
              <a:t>ou</a:t>
            </a:r>
            <a:r>
              <a:rPr lang="en-US" sz="1800" b="1" kern="0" dirty="0">
                <a:solidFill>
                  <a:schemeClr val="tx1"/>
                </a:solidFill>
                <a:ea typeface="Open Sans" panose="020B0606030504020204" pitchFamily="34" charset="0"/>
                <a:cs typeface="Open Sans" panose="020B0606030504020204" pitchFamily="34" charset="0"/>
              </a:rPr>
              <a:t> 10 </a:t>
            </a:r>
            <a:r>
              <a:rPr lang="en-US" sz="1800" b="1" kern="0" dirty="0" err="1">
                <a:solidFill>
                  <a:schemeClr val="tx1"/>
                </a:solidFill>
                <a:ea typeface="Open Sans" panose="020B0606030504020204" pitchFamily="34" charset="0"/>
                <a:cs typeface="Open Sans" panose="020B0606030504020204" pitchFamily="34" charset="0"/>
              </a:rPr>
              <a:t>cœurs</a:t>
            </a:r>
            <a:r>
              <a:rPr lang="en-US" sz="1800" b="1" kern="0" dirty="0">
                <a:solidFill>
                  <a:schemeClr val="tx1"/>
                </a:solidFill>
                <a:ea typeface="Open Sans" panose="020B0606030504020204" pitchFamily="34" charset="0"/>
                <a:cs typeface="Open Sans" panose="020B0606030504020204" pitchFamily="34" charset="0"/>
              </a:rPr>
              <a:t> pour le </a:t>
            </a:r>
            <a:r>
              <a:rPr lang="en-US" sz="1800" b="1" kern="0" dirty="0" err="1">
                <a:solidFill>
                  <a:schemeClr val="tx1"/>
                </a:solidFill>
                <a:ea typeface="Open Sans" panose="020B0606030504020204" pitchFamily="34" charset="0"/>
                <a:cs typeface="Open Sans" panose="020B0606030504020204" pitchFamily="34" charset="0"/>
              </a:rPr>
              <a:t>contrôle</a:t>
            </a:r>
            <a:r>
              <a:rPr lang="en-US" sz="1800" b="1" kern="0" dirty="0">
                <a:solidFill>
                  <a:schemeClr val="tx1"/>
                </a:solidFill>
                <a:ea typeface="Open Sans" panose="020B0606030504020204" pitchFamily="34" charset="0"/>
                <a:cs typeface="Open Sans" panose="020B0606030504020204" pitchFamily="34" charset="0"/>
              </a:rPr>
              <a:t> à distance</a:t>
            </a:r>
            <a:endParaRPr lang="en-US" sz="1800" b="1"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4334054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Détecteurs de surveillance intérieure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268760"/>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err="1">
                <a:ea typeface="Open Sans" panose="020B0606030504020204" pitchFamily="34" charset="0"/>
                <a:cs typeface="Open Sans" panose="020B0606030504020204" pitchFamily="34" charset="0"/>
              </a:rPr>
              <a:t>Détecteur</a:t>
            </a:r>
            <a:r>
              <a:rPr lang="en-US" sz="1800" kern="0" dirty="0">
                <a:ea typeface="Open Sans" panose="020B0606030504020204" pitchFamily="34" charset="0"/>
                <a:cs typeface="Open Sans" panose="020B0606030504020204" pitchFamily="34" charset="0"/>
              </a:rPr>
              <a:t> de </a:t>
            </a:r>
            <a:r>
              <a:rPr lang="en-US" sz="1800" kern="0" dirty="0" err="1">
                <a:ea typeface="Open Sans" panose="020B0606030504020204" pitchFamily="34" charset="0"/>
                <a:cs typeface="Open Sans" panose="020B0606030504020204" pitchFamily="34" charset="0"/>
              </a:rPr>
              <a:t>mouvement</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infrarouge</a:t>
            </a:r>
            <a:r>
              <a:rPr lang="en-US" sz="1800" kern="0" dirty="0">
                <a:ea typeface="Open Sans" panose="020B0606030504020204" pitchFamily="34" charset="0"/>
                <a:cs typeface="Open Sans" panose="020B0606030504020204" pitchFamily="34" charset="0"/>
              </a:rPr>
              <a:t> : </a:t>
            </a:r>
            <a:r>
              <a:rPr lang="en-US" sz="1800" kern="0" dirty="0" err="1">
                <a:solidFill>
                  <a:schemeClr val="tx1"/>
                </a:solidFill>
                <a:ea typeface="Open Sans" panose="020B0606030504020204" pitchFamily="34" charset="0"/>
                <a:cs typeface="Open Sans" panose="020B0606030504020204" pitchFamily="34" charset="0"/>
              </a:rPr>
              <a:t>équipé</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d'une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lentille</a:t>
            </a:r>
            <a:r>
              <a:rPr lang="en-US" sz="1800" kern="0" dirty="0">
                <a:solidFill>
                  <a:schemeClr val="tx1"/>
                </a:solidFill>
                <a:ea typeface="Open Sans" panose="020B0606030504020204" pitchFamily="34" charset="0"/>
                <a:cs typeface="Open Sans" panose="020B0606030504020204" pitchFamily="34" charset="0"/>
              </a:rPr>
              <a:t> longue </a:t>
            </a:r>
            <a:r>
              <a:rPr lang="en-US" sz="1800" kern="0" dirty="0" err="1">
                <a:solidFill>
                  <a:schemeClr val="tx1"/>
                </a:solidFill>
                <a:ea typeface="Open Sans" panose="020B0606030504020204" pitchFamily="34" charset="0"/>
                <a:cs typeface="Open Sans" panose="020B0606030504020204" pitchFamily="34" charset="0"/>
              </a:rPr>
              <a:t>portée</a:t>
            </a:r>
            <a:r>
              <a:rPr lang="en-US" sz="1800" kern="0" dirty="0">
                <a:solidFill>
                  <a:schemeClr val="tx1"/>
                </a:solidFill>
                <a:ea typeface="Open Sans" panose="020B0606030504020204" pitchFamily="34" charset="0"/>
                <a:cs typeface="Open Sans" panose="020B0606030504020204" pitchFamily="34" charset="0"/>
              </a:rPr>
              <a:t> et </a:t>
            </a:r>
            <a:r>
              <a:rPr lang="en-US" sz="1800" kern="0" dirty="0" err="1">
                <a:solidFill>
                  <a:schemeClr val="tx1"/>
                </a:solidFill>
                <a:ea typeface="Open Sans" panose="020B0606030504020204" pitchFamily="34" charset="0"/>
                <a:cs typeface="Open Sans" panose="020B0606030504020204" pitchFamily="34" charset="0"/>
              </a:rPr>
              <a:t>d'une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technologie</a:t>
            </a:r>
            <a:r>
              <a:rPr lang="en-US" sz="1800" kern="0" dirty="0">
                <a:solidFill>
                  <a:schemeClr val="tx1"/>
                </a:solidFill>
                <a:ea typeface="Open Sans" panose="020B0606030504020204" pitchFamily="34" charset="0"/>
                <a:cs typeface="Open Sans" panose="020B0606030504020204" pitchFamily="34" charset="0"/>
              </a:rPr>
              <a:t> anti-</a:t>
            </a:r>
            <a:r>
              <a:rPr lang="en-US" sz="1800" kern="0" dirty="0" err="1">
                <a:solidFill>
                  <a:schemeClr val="tx1"/>
                </a:solidFill>
                <a:ea typeface="Open Sans" panose="020B0606030504020204" pitchFamily="34" charset="0"/>
                <a:cs typeface="Open Sans" panose="020B0606030504020204" pitchFamily="34" charset="0"/>
              </a:rPr>
              <a:t>masquage</a:t>
            </a:r>
            <a:r>
              <a:rPr lang="en-US" sz="1800" kern="0" dirty="0">
                <a:solidFill>
                  <a:schemeClr val="tx1"/>
                </a:solidFill>
                <a:ea typeface="Open Sans" panose="020B0606030504020204" pitchFamily="34" charset="0"/>
                <a:cs typeface="Open Sans" panose="020B0606030504020204" pitchFamily="34" charset="0"/>
              </a:rPr>
              <a:t>. La zone de sabotage </a:t>
            </a:r>
            <a:r>
              <a:rPr lang="en-US" sz="1800" kern="0" dirty="0" err="1">
                <a:solidFill>
                  <a:schemeClr val="tx1"/>
                </a:solidFill>
                <a:ea typeface="Open Sans" panose="020B0606030504020204" pitchFamily="34" charset="0"/>
                <a:cs typeface="Open Sans" panose="020B0606030504020204" pitchFamily="34" charset="0"/>
              </a:rPr>
              <a:t>est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interrompue</a:t>
            </a:r>
            <a:r>
              <a:rPr lang="en-US" sz="1800" kern="0" dirty="0">
                <a:solidFill>
                  <a:schemeClr val="tx1"/>
                </a:solidFill>
                <a:ea typeface="Open Sans" panose="020B0606030504020204" pitchFamily="34" charset="0"/>
                <a:cs typeface="Open Sans" panose="020B0606030504020204" pitchFamily="34" charset="0"/>
              </a:rPr>
              <a:t> par un contact de suppression </a:t>
            </a:r>
            <a:r>
              <a:rPr lang="en-US" sz="1800" kern="0" dirty="0" err="1">
                <a:solidFill>
                  <a:schemeClr val="tx1"/>
                </a:solidFill>
                <a:ea typeface="Open Sans" panose="020B0606030504020204" pitchFamily="34" charset="0"/>
                <a:cs typeface="Open Sans" panose="020B0606030504020204" pitchFamily="34" charset="0"/>
              </a:rPr>
              <a:t>si</a:t>
            </a:r>
            <a:r>
              <a:rPr lang="en-US" sz="1800" kern="0" dirty="0">
                <a:solidFill>
                  <a:schemeClr val="tx1"/>
                </a:solidFill>
                <a:ea typeface="Open Sans" panose="020B0606030504020204" pitchFamily="34" charset="0"/>
                <a:cs typeface="Open Sans" panose="020B0606030504020204" pitchFamily="34" charset="0"/>
              </a:rPr>
              <a:t> le </a:t>
            </a:r>
            <a:r>
              <a:rPr lang="en-US" sz="1800" kern="0" dirty="0" err="1">
                <a:solidFill>
                  <a:schemeClr val="tx1"/>
                </a:solidFill>
                <a:ea typeface="Open Sans" panose="020B0606030504020204" pitchFamily="34" charset="0"/>
                <a:cs typeface="Open Sans" panose="020B0606030504020204" pitchFamily="34" charset="0"/>
              </a:rPr>
              <a:t>détecteur</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est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déconnecté</a:t>
            </a: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800" kern="0" dirty="0">
              <a:ea typeface="Open Sans" panose="020B0606030504020204" pitchFamily="34" charset="0"/>
              <a:cs typeface="Open Sans" panose="020B0606030504020204" pitchFamily="34" charset="0"/>
            </a:endParaRPr>
          </a:p>
          <a:p>
            <a:pPr>
              <a:lnSpc>
                <a:spcPct val="150000"/>
              </a:lnSpc>
              <a:defRPr/>
            </a:pPr>
            <a:r>
              <a:rPr lang="en-US" sz="1800" kern="0" dirty="0">
                <a:ea typeface="Open Sans" panose="020B0606030504020204" pitchFamily="34" charset="0"/>
                <a:cs typeface="Open Sans" panose="020B0606030504020204" pitchFamily="34" charset="0"/>
              </a:rPr>
              <a:t>Double </a:t>
            </a:r>
            <a:r>
              <a:rPr lang="en-US" sz="1800" kern="0" dirty="0" err="1">
                <a:ea typeface="Open Sans" panose="020B0606030504020204" pitchFamily="34" charset="0"/>
                <a:cs typeface="Open Sans" panose="020B0606030504020204" pitchFamily="34" charset="0"/>
              </a:rPr>
              <a:t>détecteur</a:t>
            </a:r>
            <a:r>
              <a:rPr lang="en-US" sz="1800" kern="0" dirty="0">
                <a:ea typeface="Open Sans" panose="020B0606030504020204" pitchFamily="34" charset="0"/>
                <a:cs typeface="Open Sans" panose="020B0606030504020204" pitchFamily="34" charset="0"/>
              </a:rPr>
              <a:t> : </a:t>
            </a:r>
            <a:r>
              <a:rPr lang="en-US" sz="1800" kern="0" dirty="0">
                <a:solidFill>
                  <a:schemeClr val="tx1"/>
                </a:solidFill>
                <a:ea typeface="Open Sans" panose="020B0606030504020204" pitchFamily="34" charset="0"/>
                <a:cs typeface="Open Sans" panose="020B0606030504020204" pitchFamily="34" charset="0"/>
              </a:rPr>
              <a:t>surveillance </a:t>
            </a:r>
            <a:r>
              <a:rPr lang="en-US" sz="1800" kern="0" dirty="0" err="1">
                <a:solidFill>
                  <a:schemeClr val="tx1"/>
                </a:solidFill>
                <a:ea typeface="Open Sans" panose="020B0606030504020204" pitchFamily="34" charset="0"/>
                <a:cs typeface="Open Sans" panose="020B0606030504020204" pitchFamily="34" charset="0"/>
              </a:rPr>
              <a:t>effectuée</a:t>
            </a:r>
            <a:r>
              <a:rPr lang="en-US" sz="1800" kern="0" dirty="0">
                <a:solidFill>
                  <a:schemeClr val="tx1"/>
                </a:solidFill>
                <a:ea typeface="Open Sans" panose="020B0606030504020204" pitchFamily="34" charset="0"/>
                <a:cs typeface="Open Sans" panose="020B0606030504020204" pitchFamily="34" charset="0"/>
              </a:rPr>
              <a:t> à </a:t>
            </a:r>
            <a:r>
              <a:rPr lang="en-US" sz="1800" kern="0" dirty="0" err="1">
                <a:solidFill>
                  <a:schemeClr val="tx1"/>
                </a:solidFill>
                <a:ea typeface="Open Sans" panose="020B0606030504020204" pitchFamily="34" charset="0"/>
                <a:cs typeface="Open Sans" panose="020B0606030504020204" pitchFamily="34" charset="0"/>
              </a:rPr>
              <a:t>l'aide</a:t>
            </a:r>
            <a:r>
              <a:rPr lang="en-US" sz="1800" kern="0" dirty="0">
                <a:solidFill>
                  <a:schemeClr val="tx1"/>
                </a:solidFill>
                <a:ea typeface="Open Sans" panose="020B0606030504020204" pitchFamily="34" charset="0"/>
                <a:cs typeface="Open Sans" panose="020B0606030504020204" pitchFamily="34" charset="0"/>
              </a:rPr>
              <a:t> d'un champ </a:t>
            </a:r>
            <a:r>
              <a:rPr lang="en-US" sz="1800" kern="0" dirty="0" err="1">
                <a:solidFill>
                  <a:schemeClr val="tx1"/>
                </a:solidFill>
                <a:ea typeface="Open Sans" panose="020B0606030504020204" pitchFamily="34" charset="0"/>
                <a:cs typeface="Open Sans" panose="020B0606030504020204" pitchFamily="34" charset="0"/>
              </a:rPr>
              <a:t>infrarouge</a:t>
            </a:r>
            <a:r>
              <a:rPr lang="en-US" sz="1800" kern="0" dirty="0">
                <a:solidFill>
                  <a:schemeClr val="tx1"/>
                </a:solidFill>
                <a:ea typeface="Open Sans" panose="020B0606030504020204" pitchFamily="34" charset="0"/>
                <a:cs typeface="Open Sans" panose="020B0606030504020204" pitchFamily="34" charset="0"/>
              </a:rPr>
              <a:t> et d'un champ </a:t>
            </a:r>
            <a:r>
              <a:rPr lang="en-US" sz="1800" kern="0" dirty="0" err="1">
                <a:solidFill>
                  <a:schemeClr val="tx1"/>
                </a:solidFill>
                <a:ea typeface="Open Sans" panose="020B0606030504020204" pitchFamily="34" charset="0"/>
                <a:cs typeface="Open Sans" panose="020B0606030504020204" pitchFamily="34" charset="0"/>
              </a:rPr>
              <a:t>électromagnétique</a:t>
            </a:r>
            <a:r>
              <a:rPr lang="en-US" sz="1800" kern="0" dirty="0">
                <a:solidFill>
                  <a:schemeClr val="tx1"/>
                </a:solidFill>
                <a:ea typeface="Open Sans" panose="020B0606030504020204" pitchFamily="34" charset="0"/>
                <a:cs typeface="Open Sans" panose="020B0606030504020204" pitchFamily="34" charset="0"/>
              </a:rPr>
              <a:t>. Sa zone de surveillance </a:t>
            </a:r>
            <a:r>
              <a:rPr lang="en-US" sz="1800" kern="0" dirty="0" err="1">
                <a:solidFill>
                  <a:schemeClr val="tx1"/>
                </a:solidFill>
                <a:ea typeface="Open Sans" panose="020B0606030504020204" pitchFamily="34" charset="0"/>
                <a:cs typeface="Open Sans" panose="020B0606030504020204" pitchFamily="34" charset="0"/>
              </a:rPr>
              <a:t>est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volumétrique</a:t>
            </a:r>
            <a:r>
              <a:rPr lang="en-US" sz="1800" kern="0" dirty="0">
                <a:solidFill>
                  <a:schemeClr val="tx1"/>
                </a:solidFill>
                <a:ea typeface="Open Sans" panose="020B0606030504020204" pitchFamily="34" charset="0"/>
                <a:cs typeface="Open Sans" panose="020B0606030504020204" pitchFamily="34" charset="0"/>
              </a:rPr>
              <a:t>. Ne </a:t>
            </a:r>
            <a:r>
              <a:rPr lang="en-US" sz="1800" kern="0" dirty="0" err="1">
                <a:solidFill>
                  <a:schemeClr val="tx1"/>
                </a:solidFill>
                <a:ea typeface="Open Sans" panose="020B0606030504020204" pitchFamily="34" charset="0"/>
                <a:cs typeface="Open Sans" panose="020B0606030504020204" pitchFamily="34" charset="0"/>
              </a:rPr>
              <a:t>signale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une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alarme</a:t>
            </a:r>
            <a:r>
              <a:rPr lang="en-US" sz="1800" kern="0" dirty="0">
                <a:solidFill>
                  <a:schemeClr val="tx1"/>
                </a:solidFill>
                <a:ea typeface="Open Sans" panose="020B0606030504020204" pitchFamily="34" charset="0"/>
                <a:cs typeface="Open Sans" panose="020B0606030504020204" pitchFamily="34" charset="0"/>
              </a:rPr>
              <a:t> que </a:t>
            </a:r>
            <a:r>
              <a:rPr lang="en-US" sz="1800" kern="0" dirty="0" err="1">
                <a:solidFill>
                  <a:schemeClr val="tx1"/>
                </a:solidFill>
                <a:ea typeface="Open Sans" panose="020B0606030504020204" pitchFamily="34" charset="0"/>
                <a:cs typeface="Open Sans" panose="020B0606030504020204" pitchFamily="34" charset="0"/>
              </a:rPr>
              <a:t>si</a:t>
            </a:r>
            <a:r>
              <a:rPr lang="en-US" sz="1800" kern="0" dirty="0">
                <a:solidFill>
                  <a:schemeClr val="tx1"/>
                </a:solidFill>
                <a:ea typeface="Open Sans" panose="020B0606030504020204" pitchFamily="34" charset="0"/>
                <a:cs typeface="Open Sans" panose="020B0606030504020204" pitchFamily="34" charset="0"/>
              </a:rPr>
              <a:t> les deux </a:t>
            </a:r>
            <a:r>
              <a:rPr lang="en-US" sz="1800" kern="0" dirty="0" err="1">
                <a:solidFill>
                  <a:schemeClr val="tx1"/>
                </a:solidFill>
                <a:ea typeface="Open Sans" panose="020B0606030504020204" pitchFamily="34" charset="0"/>
                <a:cs typeface="Open Sans" panose="020B0606030504020204" pitchFamily="34" charset="0"/>
              </a:rPr>
              <a:t>éléments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ont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détecté</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une</a:t>
            </a:r>
            <a:r>
              <a:rPr lang="en-US" sz="1800" kern="0" dirty="0">
                <a:solidFill>
                  <a:schemeClr val="tx1"/>
                </a:solidFill>
                <a:ea typeface="Open Sans" panose="020B0606030504020204" pitchFamily="34" charset="0"/>
                <a:cs typeface="Open Sans" panose="020B0606030504020204" pitchFamily="34" charset="0"/>
              </a:rPr>
              <a:t> tentative de rupture. </a:t>
            </a:r>
            <a:r>
              <a:rPr lang="en-GB" sz="1800" kern="0" dirty="0">
                <a:solidFill>
                  <a:schemeClr val="tx1"/>
                </a:solidFill>
                <a:ea typeface="Open Sans" panose="020B0606030504020204" pitchFamily="34" charset="0"/>
                <a:cs typeface="Open Sans" panose="020B0606030504020204" pitchFamily="34" charset="0"/>
              </a:rPr>
              <a:t>Les zones de Surveillance </a:t>
            </a:r>
            <a:r>
              <a:rPr lang="en-GB" sz="1800" kern="0" dirty="0" err="1">
                <a:solidFill>
                  <a:schemeClr val="tx1"/>
                </a:solidFill>
                <a:ea typeface="Open Sans" panose="020B0606030504020204" pitchFamily="34" charset="0"/>
                <a:cs typeface="Open Sans" panose="020B0606030504020204" pitchFamily="34" charset="0"/>
              </a:rPr>
              <a:t>peuvent</a:t>
            </a:r>
            <a:r>
              <a:rPr lang="en-GB" sz="1800" kern="0" dirty="0">
                <a:solidFill>
                  <a:schemeClr val="tx1"/>
                </a:solidFill>
                <a:ea typeface="Open Sans" panose="020B0606030504020204" pitchFamily="34" charset="0"/>
                <a:cs typeface="Open Sans" panose="020B0606030504020204" pitchFamily="34" charset="0"/>
              </a:rPr>
              <a:t> </a:t>
            </a:r>
            <a:r>
              <a:rPr lang="en-GB" sz="1800" kern="0" dirty="0" err="1">
                <a:solidFill>
                  <a:schemeClr val="tx1"/>
                </a:solidFill>
                <a:ea typeface="Open Sans" panose="020B0606030504020204" pitchFamily="34" charset="0"/>
                <a:cs typeface="Open Sans" panose="020B0606030504020204" pitchFamily="34" charset="0"/>
              </a:rPr>
              <a:t>être</a:t>
            </a:r>
            <a:r>
              <a:rPr lang="en-GB" sz="1800" kern="0" dirty="0">
                <a:solidFill>
                  <a:schemeClr val="tx1"/>
                </a:solidFill>
                <a:ea typeface="Open Sans" panose="020B0606030504020204" pitchFamily="34" charset="0"/>
                <a:cs typeface="Open Sans" panose="020B0606030504020204" pitchFamily="34" charset="0"/>
              </a:rPr>
              <a:t> </a:t>
            </a:r>
            <a:r>
              <a:rPr lang="en-GB" sz="1800" kern="0" dirty="0" err="1">
                <a:solidFill>
                  <a:schemeClr val="tx1"/>
                </a:solidFill>
                <a:ea typeface="Open Sans" panose="020B0606030504020204" pitchFamily="34" charset="0"/>
                <a:cs typeface="Open Sans" panose="020B0606030504020204" pitchFamily="34" charset="0"/>
              </a:rPr>
              <a:t>définies</a:t>
            </a:r>
            <a:r>
              <a:rPr lang="en-GB" sz="1800" kern="0" dirty="0">
                <a:solidFill>
                  <a:schemeClr val="tx1"/>
                </a:solidFill>
                <a:ea typeface="Open Sans" panose="020B0606030504020204" pitchFamily="34" charset="0"/>
                <a:cs typeface="Open Sans" panose="020B0606030504020204" pitchFamily="34" charset="0"/>
              </a:rPr>
              <a:t> </a:t>
            </a:r>
            <a:r>
              <a:rPr lang="en-GB" sz="1800" kern="0" dirty="0" err="1">
                <a:solidFill>
                  <a:schemeClr val="tx1"/>
                </a:solidFill>
                <a:ea typeface="Open Sans" panose="020B0606030504020204" pitchFamily="34" charset="0"/>
                <a:cs typeface="Open Sans" panose="020B0606030504020204" pitchFamily="34" charset="0"/>
              </a:rPr>
              <a:t>séparément</a:t>
            </a:r>
            <a:endParaRPr lang="en-US" sz="1800" kern="0" dirty="0">
              <a:solidFill>
                <a:schemeClr val="tx1"/>
              </a:solidFill>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0884609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Détecteurs de surveillance intérieure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340768"/>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a:ea typeface="Open Sans" panose="020B0606030504020204" pitchFamily="34" charset="0"/>
                <a:cs typeface="Open Sans" panose="020B0606030504020204" pitchFamily="34" charset="0"/>
              </a:rPr>
              <a:t>Alarme panique : </a:t>
            </a:r>
            <a:r>
              <a:rPr lang="en-US" sz="1800" kern="0">
                <a:solidFill>
                  <a:schemeClr val="tx1"/>
                </a:solidFill>
                <a:ea typeface="Open Sans" panose="020B0606030504020204" pitchFamily="34" charset="0"/>
                <a:cs typeface="Open Sans" panose="020B0606030504020204" pitchFamily="34" charset="0"/>
              </a:rPr>
              <a:t>contient un contact d'alarme qui est déclenché manuellement, pour interrompre la zone de panique, avec un bouton pousser. Le contact tampon intégré interrompt la zone de sabotage à l'ouverture du contact. La connexion est à six cœurs</a:t>
            </a:r>
          </a:p>
          <a:p>
            <a:pPr>
              <a:lnSpc>
                <a:spcPct val="150000"/>
              </a:lnSpc>
              <a:defRPr/>
            </a:pPr>
            <a:endParaRPr lang="en-US" sz="1800" kern="0" dirty="0">
              <a:ea typeface="Open Sans" panose="020B0606030504020204" pitchFamily="34" charset="0"/>
              <a:cs typeface="Open Sans" panose="020B0606030504020204" pitchFamily="34" charset="0"/>
            </a:endParaRPr>
          </a:p>
          <a:p>
            <a:pPr>
              <a:lnSpc>
                <a:spcPct val="150000"/>
              </a:lnSpc>
              <a:defRPr/>
            </a:pPr>
            <a:r>
              <a:rPr lang="en-US" sz="1800" kern="0">
                <a:ea typeface="Open Sans" panose="020B0606030504020204" pitchFamily="34" charset="0"/>
                <a:cs typeface="Open Sans" panose="020B0606030504020204" pitchFamily="34" charset="0"/>
              </a:rPr>
              <a:t>Verrous de contact : </a:t>
            </a:r>
            <a:r>
              <a:rPr lang="en-US" sz="1800" kern="0">
                <a:solidFill>
                  <a:schemeClr val="tx1"/>
                </a:solidFill>
                <a:ea typeface="Open Sans" panose="020B0606030504020204" pitchFamily="34" charset="0"/>
                <a:cs typeface="Open Sans" panose="020B0606030504020204" pitchFamily="34" charset="0"/>
              </a:rPr>
              <a:t>sert de dispositif de commutation à distance. Lorsqu'il est utilisé comme dispositif d'armement, un élément de verrouillage doit être inséré dans la porte d'accès pour éviter d'entrer accidentellement dans la zone armée. Le câble de connexion diffère selon la fonction. Maximum 12 cœurs</a:t>
            </a:r>
          </a:p>
        </p:txBody>
      </p:sp>
    </p:spTree>
    <p:extLst>
      <p:ext uri="{BB962C8B-B14F-4D97-AF65-F5344CB8AC3E}">
        <p14:creationId xmlns:p14="http://schemas.microsoft.com/office/powerpoint/2010/main" val="26544723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Détecteurs de surveillance intérieure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268760"/>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err="1">
                <a:ea typeface="Open Sans" panose="020B0606030504020204" pitchFamily="34" charset="0"/>
                <a:cs typeface="Open Sans" panose="020B0606030504020204" pitchFamily="34" charset="0"/>
              </a:rPr>
              <a:t>Unité</a:t>
            </a:r>
            <a:r>
              <a:rPr lang="en-US" sz="1800" kern="0" dirty="0">
                <a:ea typeface="Open Sans" panose="020B0606030504020204" pitchFamily="34" charset="0"/>
                <a:cs typeface="Open Sans" panose="020B0606030504020204" pitchFamily="34" charset="0"/>
              </a:rPr>
              <a:t> de commutation (pour </a:t>
            </a:r>
            <a:r>
              <a:rPr lang="en-US" sz="1800" kern="0" dirty="0" err="1">
                <a:ea typeface="Open Sans" panose="020B0606030504020204" pitchFamily="34" charset="0"/>
                <a:cs typeface="Open Sans" panose="020B0606030504020204" pitchFamily="34" charset="0"/>
              </a:rPr>
              <a:t>l'installation</a:t>
            </a:r>
            <a:r>
              <a:rPr lang="en-US" sz="1800" kern="0" dirty="0">
                <a:ea typeface="Open Sans" panose="020B0606030504020204" pitchFamily="34" charset="0"/>
                <a:cs typeface="Open Sans" panose="020B0606030504020204" pitchFamily="34" charset="0"/>
              </a:rPr>
              <a:t> </a:t>
            </a:r>
            <a:r>
              <a:rPr lang="en-US" sz="1800" kern="0" dirty="0" err="1">
                <a:ea typeface="Open Sans" panose="020B0606030504020204" pitchFamily="34" charset="0"/>
                <a:cs typeface="Open Sans" panose="020B0606030504020204" pitchFamily="34" charset="0"/>
              </a:rPr>
              <a:t>uniquement</a:t>
            </a:r>
            <a:r>
              <a:rPr lang="en-US" sz="1800" kern="0" dirty="0">
                <a:ea typeface="Open Sans" panose="020B0606030504020204" pitchFamily="34" charset="0"/>
                <a:cs typeface="Open Sans" panose="020B0606030504020204" pitchFamily="34" charset="0"/>
              </a:rPr>
              <a:t> dans la zone </a:t>
            </a:r>
            <a:r>
              <a:rPr lang="en-US" sz="1800" kern="0" dirty="0" err="1">
                <a:ea typeface="Open Sans" panose="020B0606030504020204" pitchFamily="34" charset="0"/>
                <a:cs typeface="Open Sans" panose="020B0606030504020204" pitchFamily="34" charset="0"/>
              </a:rPr>
              <a:t>surveillée</a:t>
            </a:r>
            <a:r>
              <a:rPr lang="en-US" sz="1800" kern="0" dirty="0">
                <a:ea typeface="Open Sans" panose="020B0606030504020204" pitchFamily="34" charset="0"/>
                <a:cs typeface="Open Sans" panose="020B0606030504020204" pitchFamily="34" charset="0"/>
              </a:rPr>
              <a:t>) : </a:t>
            </a:r>
            <a:r>
              <a:rPr lang="en-US" sz="1800" kern="0" dirty="0" err="1">
                <a:solidFill>
                  <a:schemeClr val="tx1"/>
                </a:solidFill>
                <a:ea typeface="Open Sans" panose="020B0606030504020204" pitchFamily="34" charset="0"/>
                <a:cs typeface="Open Sans" panose="020B0606030504020204" pitchFamily="34" charset="0"/>
              </a:rPr>
              <a:t>utilisée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principalement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comme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dispositif</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d'armement</a:t>
            </a:r>
            <a:r>
              <a:rPr lang="en-US" sz="1800" kern="0" dirty="0">
                <a:solidFill>
                  <a:schemeClr val="tx1"/>
                </a:solidFill>
                <a:ea typeface="Open Sans" panose="020B0606030504020204" pitchFamily="34" charset="0"/>
                <a:cs typeface="Open Sans" panose="020B0606030504020204" pitchFamily="34" charset="0"/>
              </a:rPr>
              <a:t> interne. Le contact à impulsion </a:t>
            </a:r>
            <a:r>
              <a:rPr lang="en-US" sz="1800" kern="0" dirty="0" err="1">
                <a:solidFill>
                  <a:schemeClr val="tx1"/>
                </a:solidFill>
                <a:ea typeface="Open Sans" panose="020B0606030504020204" pitchFamily="34" charset="0"/>
                <a:cs typeface="Open Sans" panose="020B0606030504020204" pitchFamily="34" charset="0"/>
              </a:rPr>
              <a:t>fourni</a:t>
            </a:r>
            <a:r>
              <a:rPr lang="en-US" sz="1800" kern="0" dirty="0">
                <a:solidFill>
                  <a:schemeClr val="tx1"/>
                </a:solidFill>
                <a:ea typeface="Open Sans" panose="020B0606030504020204" pitchFamily="34" charset="0"/>
                <a:cs typeface="Open Sans" panose="020B0606030504020204" pitchFamily="34" charset="0"/>
              </a:rPr>
              <a:t> se </a:t>
            </a:r>
            <a:r>
              <a:rPr lang="en-US" sz="1800" kern="0" dirty="0" err="1">
                <a:solidFill>
                  <a:schemeClr val="tx1"/>
                </a:solidFill>
                <a:ea typeface="Open Sans" panose="020B0606030504020204" pitchFamily="34" charset="0"/>
                <a:cs typeface="Open Sans" panose="020B0606030504020204" pitchFamily="34" charset="0"/>
              </a:rPr>
              <a:t>ferme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brièvement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lorsque</a:t>
            </a:r>
            <a:r>
              <a:rPr lang="en-US" sz="1800" kern="0" dirty="0">
                <a:solidFill>
                  <a:schemeClr val="tx1"/>
                </a:solidFill>
                <a:ea typeface="Open Sans" panose="020B0606030504020204" pitchFamily="34" charset="0"/>
                <a:cs typeface="Open Sans" panose="020B0606030504020204" pitchFamily="34" charset="0"/>
              </a:rPr>
              <a:t> le </a:t>
            </a:r>
            <a:r>
              <a:rPr lang="en-US" sz="1800" kern="0" dirty="0" err="1">
                <a:solidFill>
                  <a:schemeClr val="tx1"/>
                </a:solidFill>
                <a:ea typeface="Open Sans" panose="020B0606030504020204" pitchFamily="34" charset="0"/>
                <a:cs typeface="Open Sans" panose="020B0606030504020204" pitchFamily="34" charset="0"/>
              </a:rPr>
              <a:t>système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est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paramétré</a:t>
            </a:r>
            <a:r>
              <a:rPr lang="en-US" sz="1800" kern="0" dirty="0">
                <a:solidFill>
                  <a:schemeClr val="tx1"/>
                </a:solidFill>
                <a:ea typeface="Open Sans" panose="020B0606030504020204" pitchFamily="34" charset="0"/>
                <a:cs typeface="Open Sans" panose="020B0606030504020204" pitchFamily="34" charset="0"/>
              </a:rPr>
              <a:t> et </a:t>
            </a:r>
            <a:r>
              <a:rPr lang="en-US" sz="1800" kern="0" dirty="0" err="1">
                <a:solidFill>
                  <a:schemeClr val="tx1"/>
                </a:solidFill>
                <a:ea typeface="Open Sans" panose="020B0606030504020204" pitchFamily="34" charset="0"/>
                <a:cs typeface="Open Sans" panose="020B0606030504020204" pitchFamily="34" charset="0"/>
              </a:rPr>
              <a:t>désactivé</a:t>
            </a:r>
            <a:r>
              <a:rPr lang="en-US" sz="1800" kern="0" dirty="0">
                <a:solidFill>
                  <a:schemeClr val="tx1"/>
                </a:solidFill>
                <a:ea typeface="Open Sans" panose="020B0606030504020204" pitchFamily="34" charset="0"/>
                <a:cs typeface="Open Sans" panose="020B0606030504020204" pitchFamily="34" charset="0"/>
              </a:rPr>
              <a:t>. La </a:t>
            </a:r>
            <a:r>
              <a:rPr lang="en-US" sz="1800" kern="0" dirty="0" err="1">
                <a:solidFill>
                  <a:schemeClr val="tx1"/>
                </a:solidFill>
                <a:ea typeface="Open Sans" panose="020B0606030504020204" pitchFamily="34" charset="0"/>
                <a:cs typeface="Open Sans" panose="020B0606030504020204" pitchFamily="34" charset="0"/>
              </a:rPr>
              <a:t>connexion</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est</a:t>
            </a:r>
            <a:r>
              <a:rPr lang="en-US" sz="1800" kern="0" dirty="0">
                <a:solidFill>
                  <a:schemeClr val="tx1"/>
                </a:solidFill>
                <a:ea typeface="Open Sans" panose="020B0606030504020204" pitchFamily="34" charset="0"/>
                <a:cs typeface="Open Sans" panose="020B0606030504020204" pitchFamily="34" charset="0"/>
              </a:rPr>
              <a:t> 12 </a:t>
            </a:r>
            <a:r>
              <a:rPr lang="en-US" sz="1800" kern="0" dirty="0" err="1">
                <a:solidFill>
                  <a:schemeClr val="tx1"/>
                </a:solidFill>
                <a:ea typeface="Open Sans" panose="020B0606030504020204" pitchFamily="34" charset="0"/>
                <a:cs typeface="Open Sans" panose="020B0606030504020204" pitchFamily="34" charset="0"/>
              </a:rPr>
              <a:t>cœurs</a:t>
            </a: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800" kern="0" dirty="0">
              <a:ea typeface="Open Sans" panose="020B0606030504020204" pitchFamily="34" charset="0"/>
              <a:cs typeface="Open Sans" panose="020B0606030504020204" pitchFamily="34" charset="0"/>
            </a:endParaRPr>
          </a:p>
          <a:p>
            <a:pPr>
              <a:lnSpc>
                <a:spcPct val="150000"/>
              </a:lnSpc>
              <a:defRPr/>
            </a:pPr>
            <a:r>
              <a:rPr lang="en-US" sz="1800" kern="0" dirty="0" err="1">
                <a:ea typeface="Open Sans" panose="020B0606030504020204" pitchFamily="34" charset="0"/>
                <a:cs typeface="Open Sans" panose="020B0606030504020204" pitchFamily="34" charset="0"/>
              </a:rPr>
              <a:t>Élément</a:t>
            </a:r>
            <a:r>
              <a:rPr lang="en-US" sz="1800" kern="0" dirty="0">
                <a:ea typeface="Open Sans" panose="020B0606030504020204" pitchFamily="34" charset="0"/>
                <a:cs typeface="Open Sans" panose="020B0606030504020204" pitchFamily="34" charset="0"/>
              </a:rPr>
              <a:t> de </a:t>
            </a:r>
            <a:r>
              <a:rPr lang="en-US" sz="1800" kern="0" dirty="0" err="1">
                <a:ea typeface="Open Sans" panose="020B0606030504020204" pitchFamily="34" charset="0"/>
                <a:cs typeface="Open Sans" panose="020B0606030504020204" pitchFamily="34" charset="0"/>
              </a:rPr>
              <a:t>verrouillage</a:t>
            </a:r>
            <a:r>
              <a:rPr lang="en-US" sz="1800" kern="0" dirty="0">
                <a:ea typeface="Open Sans" panose="020B0606030504020204" pitchFamily="34" charset="0"/>
                <a:cs typeface="Open Sans" panose="020B0606030504020204" pitchFamily="34" charset="0"/>
              </a:rPr>
              <a:t> : </a:t>
            </a:r>
            <a:r>
              <a:rPr lang="en-US" sz="1800" kern="0" dirty="0" err="1">
                <a:solidFill>
                  <a:schemeClr val="tx1"/>
                </a:solidFill>
                <a:ea typeface="Open Sans" panose="020B0606030504020204" pitchFamily="34" charset="0"/>
                <a:cs typeface="Open Sans" panose="020B0606030504020204" pitchFamily="34" charset="0"/>
              </a:rPr>
              <a:t>utilisé</a:t>
            </a:r>
            <a:r>
              <a:rPr lang="en-US" sz="1800" kern="0" dirty="0">
                <a:solidFill>
                  <a:schemeClr val="tx1"/>
                </a:solidFill>
                <a:ea typeface="Open Sans" panose="020B0606030504020204" pitchFamily="34" charset="0"/>
                <a:cs typeface="Open Sans" panose="020B0606030504020204" pitchFamily="34" charset="0"/>
              </a:rPr>
              <a:t> pour </a:t>
            </a:r>
            <a:r>
              <a:rPr lang="en-US" sz="1800" kern="0" dirty="0" err="1">
                <a:solidFill>
                  <a:schemeClr val="tx1"/>
                </a:solidFill>
                <a:ea typeface="Open Sans" panose="020B0606030504020204" pitchFamily="34" charset="0"/>
                <a:cs typeface="Open Sans" panose="020B0606030504020204" pitchFamily="34" charset="0"/>
              </a:rPr>
              <a:t>garder</a:t>
            </a:r>
            <a:r>
              <a:rPr lang="en-US" sz="1800" kern="0" dirty="0">
                <a:solidFill>
                  <a:schemeClr val="tx1"/>
                </a:solidFill>
                <a:ea typeface="Open Sans" panose="020B0606030504020204" pitchFamily="34" charset="0"/>
                <a:cs typeface="Open Sans" panose="020B0606030504020204" pitchFamily="34" charset="0"/>
              </a:rPr>
              <a:t> les </a:t>
            </a:r>
            <a:r>
              <a:rPr lang="en-US" sz="1800" kern="0" dirty="0" err="1">
                <a:solidFill>
                  <a:schemeClr val="tx1"/>
                </a:solidFill>
                <a:ea typeface="Open Sans" panose="020B0606030504020204" pitchFamily="34" charset="0"/>
                <a:cs typeface="Open Sans" panose="020B0606030504020204" pitchFamily="34" charset="0"/>
              </a:rPr>
              <a:t>portes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fermées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lorsque</a:t>
            </a:r>
            <a:r>
              <a:rPr lang="en-US" sz="1800" kern="0" dirty="0">
                <a:solidFill>
                  <a:schemeClr val="tx1"/>
                </a:solidFill>
                <a:ea typeface="Open Sans" panose="020B0606030504020204" pitchFamily="34" charset="0"/>
                <a:cs typeface="Open Sans" panose="020B0606030504020204" pitchFamily="34" charset="0"/>
              </a:rPr>
              <a:t> le </a:t>
            </a:r>
            <a:r>
              <a:rPr lang="en-US" sz="1800" kern="0" dirty="0" err="1">
                <a:solidFill>
                  <a:schemeClr val="tx1"/>
                </a:solidFill>
                <a:ea typeface="Open Sans" panose="020B0606030504020204" pitchFamily="34" charset="0"/>
                <a:cs typeface="Open Sans" panose="020B0606030504020204" pitchFamily="34" charset="0"/>
              </a:rPr>
              <a:t>système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est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réglé</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L'élément</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verrouillage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est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contrôlé</a:t>
            </a:r>
            <a:r>
              <a:rPr lang="en-US" sz="1800" kern="0" dirty="0">
                <a:solidFill>
                  <a:schemeClr val="tx1"/>
                </a:solidFill>
                <a:ea typeface="Open Sans" panose="020B0606030504020204" pitchFamily="34" charset="0"/>
                <a:cs typeface="Open Sans" panose="020B0606030504020204" pitchFamily="34" charset="0"/>
              </a:rPr>
              <a:t> par le contact de commutation de </a:t>
            </a:r>
            <a:r>
              <a:rPr lang="en-US" sz="1800" kern="0" dirty="0" err="1">
                <a:solidFill>
                  <a:schemeClr val="tx1"/>
                </a:solidFill>
                <a:ea typeface="Open Sans" panose="020B0606030504020204" pitchFamily="34" charset="0"/>
                <a:cs typeface="Open Sans" panose="020B0606030504020204" pitchFamily="34" charset="0"/>
              </a:rPr>
              <a:t>boulon</a:t>
            </a:r>
            <a:r>
              <a:rPr lang="en-US" sz="1800" kern="0" dirty="0">
                <a:solidFill>
                  <a:schemeClr val="tx1"/>
                </a:solidFill>
                <a:ea typeface="Open Sans" panose="020B0606030504020204" pitchFamily="34" charset="0"/>
                <a:cs typeface="Open Sans" panose="020B0606030504020204" pitchFamily="34" charset="0"/>
              </a:rPr>
              <a:t> qui </a:t>
            </a:r>
            <a:r>
              <a:rPr lang="en-US" sz="1800" kern="0" dirty="0" err="1">
                <a:solidFill>
                  <a:schemeClr val="tx1"/>
                </a:solidFill>
                <a:ea typeface="Open Sans" panose="020B0606030504020204" pitchFamily="34" charset="0"/>
                <a:cs typeface="Open Sans" panose="020B0606030504020204" pitchFamily="34" charset="0"/>
              </a:rPr>
              <a:t>est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inséré</a:t>
            </a:r>
            <a:r>
              <a:rPr lang="en-US" sz="1800" kern="0" dirty="0">
                <a:solidFill>
                  <a:schemeClr val="tx1"/>
                </a:solidFill>
                <a:ea typeface="Open Sans" panose="020B0606030504020204" pitchFamily="34" charset="0"/>
                <a:cs typeface="Open Sans" panose="020B0606030504020204" pitchFamily="34" charset="0"/>
              </a:rPr>
              <a:t> dans la plaque de frappe de la </a:t>
            </a:r>
            <a:r>
              <a:rPr lang="en-US" sz="1800" kern="0" dirty="0" err="1">
                <a:solidFill>
                  <a:schemeClr val="tx1"/>
                </a:solidFill>
                <a:ea typeface="Open Sans" panose="020B0606030504020204" pitchFamily="34" charset="0"/>
                <a:cs typeface="Open Sans" panose="020B0606030504020204" pitchFamily="34" charset="0"/>
              </a:rPr>
              <a:t>porte</a:t>
            </a:r>
            <a:endParaRPr lang="en-US" sz="1800" kern="0" dirty="0">
              <a:solidFill>
                <a:schemeClr val="tx1"/>
              </a:solidFill>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7300129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Détecteurs de surveillance intérieure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268760"/>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a:ea typeface="Open Sans" panose="020B0606030504020204" pitchFamily="34" charset="0"/>
                <a:cs typeface="Open Sans" panose="020B0606030504020204" pitchFamily="34" charset="0"/>
              </a:rPr>
              <a:t>Verrouillage du boulon à clé : </a:t>
            </a:r>
            <a:r>
              <a:rPr lang="en-US" sz="1800" kern="0">
                <a:solidFill>
                  <a:schemeClr val="tx1"/>
                </a:solidFill>
                <a:ea typeface="Open Sans" panose="020B0606030504020204" pitchFamily="34" charset="0"/>
                <a:cs typeface="Open Sans" panose="020B0606030504020204" pitchFamily="34" charset="0"/>
              </a:rPr>
              <a:t>utilisé pour définir les systèmes de contrôle d'alarme anti-intrusion à faible risque. Intégrée à la porte d'accès en plus du verrou existant. La connexion est à six cœurs</a:t>
            </a:r>
          </a:p>
          <a:p>
            <a:pPr>
              <a:lnSpc>
                <a:spcPct val="150000"/>
              </a:lnSpc>
              <a:defRPr/>
            </a:pPr>
            <a:endParaRPr lang="en-US" sz="1100" kern="0" dirty="0">
              <a:ea typeface="Open Sans" panose="020B0606030504020204" pitchFamily="34" charset="0"/>
              <a:cs typeface="Open Sans" panose="020B0606030504020204" pitchFamily="34" charset="0"/>
            </a:endParaRPr>
          </a:p>
          <a:p>
            <a:pPr>
              <a:lnSpc>
                <a:spcPct val="150000"/>
              </a:lnSpc>
              <a:defRPr/>
            </a:pPr>
            <a:r>
              <a:rPr lang="en-US" sz="1800" kern="0">
                <a:ea typeface="Open Sans" panose="020B0606030504020204" pitchFamily="34" charset="0"/>
                <a:cs typeface="Open Sans" panose="020B0606030504020204" pitchFamily="34" charset="0"/>
              </a:rPr>
              <a:t>Verrous de blocage : </a:t>
            </a:r>
            <a:r>
              <a:rPr lang="en-US" sz="1800" kern="0">
                <a:solidFill>
                  <a:schemeClr val="tx1"/>
                </a:solidFill>
                <a:ea typeface="Open Sans" panose="020B0606030504020204" pitchFamily="34" charset="0"/>
                <a:cs typeface="Open Sans" panose="020B0606030504020204" pitchFamily="34" charset="0"/>
              </a:rPr>
              <a:t>utilisés pour définir les systèmes de contrôle d'alarme anti-intrusion. Il ne peut être verrouillé que si le système est prêt à l'armement. Installé dans la porte qui est utilisée pour quitter la zone de protection</a:t>
            </a:r>
          </a:p>
          <a:p>
            <a:pPr>
              <a:lnSpc>
                <a:spcPct val="150000"/>
              </a:lnSpc>
              <a:defRPr/>
            </a:pPr>
            <a:endParaRPr lang="en-US" sz="1100" kern="0" dirty="0">
              <a:ea typeface="Open Sans" panose="020B0606030504020204" pitchFamily="34" charset="0"/>
              <a:cs typeface="Open Sans" panose="020B0606030504020204" pitchFamily="34" charset="0"/>
            </a:endParaRPr>
          </a:p>
          <a:p>
            <a:pPr>
              <a:lnSpc>
                <a:spcPct val="150000"/>
              </a:lnSpc>
              <a:defRPr/>
            </a:pPr>
            <a:r>
              <a:rPr lang="en-US" sz="1800" kern="0">
                <a:ea typeface="Open Sans" panose="020B0606030504020204" pitchFamily="34" charset="0"/>
                <a:cs typeface="Open Sans" panose="020B0606030504020204" pitchFamily="34" charset="0"/>
              </a:rPr>
              <a:t> Dispositif d'armement de proximité : </a:t>
            </a:r>
            <a:r>
              <a:rPr lang="en-US" sz="1800" kern="0">
                <a:solidFill>
                  <a:schemeClr val="tx1"/>
                </a:solidFill>
                <a:ea typeface="Open Sans" panose="020B0606030504020204" pitchFamily="34" charset="0"/>
                <a:cs typeface="Open Sans" panose="020B0606030504020204" pitchFamily="34" charset="0"/>
              </a:rPr>
              <a:t> garantit une activation positive de la centrale d'alarme anti-intrusion. Verrou intelligent supplémentaire requis pour la classe de sécurité commerciale SG5 et SG6</a:t>
            </a:r>
          </a:p>
        </p:txBody>
      </p:sp>
    </p:spTree>
    <p:extLst>
      <p:ext uri="{BB962C8B-B14F-4D97-AF65-F5344CB8AC3E}">
        <p14:creationId xmlns:p14="http://schemas.microsoft.com/office/powerpoint/2010/main" val="19323349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La surveillance anti-effraction</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412776"/>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err="1">
                <a:solidFill>
                  <a:schemeClr val="tx1"/>
                </a:solidFill>
                <a:ea typeface="Open Sans" panose="020B0606030504020204" pitchFamily="34" charset="0"/>
                <a:cs typeface="Open Sans" panose="020B0606030504020204" pitchFamily="34" charset="0"/>
              </a:rPr>
              <a:t>Tenter</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d'arrêter</a:t>
            </a:r>
            <a:r>
              <a:rPr lang="en-US" sz="1800" kern="0" dirty="0">
                <a:solidFill>
                  <a:schemeClr val="tx1"/>
                </a:solidFill>
                <a:ea typeface="Open Sans" panose="020B0606030504020204" pitchFamily="34" charset="0"/>
                <a:cs typeface="Open Sans" panose="020B0606030504020204" pitchFamily="34" charset="0"/>
              </a:rPr>
              <a:t> un </a:t>
            </a:r>
            <a:r>
              <a:rPr lang="en-US" sz="1800" kern="0" dirty="0" err="1">
                <a:solidFill>
                  <a:schemeClr val="tx1"/>
                </a:solidFill>
                <a:ea typeface="Open Sans" panose="020B0606030504020204" pitchFamily="34" charset="0"/>
                <a:cs typeface="Open Sans" panose="020B0606030504020204" pitchFamily="34" charset="0"/>
              </a:rPr>
              <a:t>système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d'alarme</a:t>
            </a:r>
            <a:r>
              <a:rPr lang="en-US" sz="1800" kern="0" dirty="0">
                <a:solidFill>
                  <a:schemeClr val="tx1"/>
                </a:solidFill>
                <a:ea typeface="Open Sans" panose="020B0606030504020204" pitchFamily="34" charset="0"/>
                <a:cs typeface="Open Sans" panose="020B0606030504020204" pitchFamily="34" charset="0"/>
              </a:rPr>
              <a:t> anti-intrusion </a:t>
            </a:r>
            <a:r>
              <a:rPr lang="en-US" sz="1800" kern="0" dirty="0" err="1">
                <a:solidFill>
                  <a:schemeClr val="tx1"/>
                </a:solidFill>
                <a:ea typeface="Open Sans" panose="020B0606030504020204" pitchFamily="34" charset="0"/>
                <a:cs typeface="Open Sans" panose="020B0606030504020204" pitchFamily="34" charset="0"/>
              </a:rPr>
              <a:t>ou</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d'entraver</a:t>
            </a:r>
            <a:r>
              <a:rPr lang="en-US" sz="1800" kern="0" dirty="0">
                <a:solidFill>
                  <a:schemeClr val="tx1"/>
                </a:solidFill>
                <a:ea typeface="Open Sans" panose="020B0606030504020204" pitchFamily="34" charset="0"/>
                <a:cs typeface="Open Sans" panose="020B0606030504020204" pitchFamily="34" charset="0"/>
              </a:rPr>
              <a:t> son </a:t>
            </a:r>
            <a:r>
              <a:rPr lang="en-US" sz="1800" kern="0" dirty="0" err="1">
                <a:solidFill>
                  <a:schemeClr val="tx1"/>
                </a:solidFill>
                <a:ea typeface="Open Sans" panose="020B0606030504020204" pitchFamily="34" charset="0"/>
                <a:cs typeface="Open Sans" panose="020B0606030504020204" pitchFamily="34" charset="0"/>
              </a:rPr>
              <a:t>fonctionnement</a:t>
            </a:r>
            <a:r>
              <a:rPr lang="en-US" sz="1800" kern="0" dirty="0">
                <a:solidFill>
                  <a:schemeClr val="tx1"/>
                </a:solidFill>
                <a:ea typeface="Open Sans" panose="020B0606030504020204" pitchFamily="34" charset="0"/>
                <a:cs typeface="Open Sans" panose="020B0606030504020204" pitchFamily="34" charset="0"/>
              </a:rPr>
              <a:t> doit </a:t>
            </a:r>
            <a:r>
              <a:rPr lang="en-US" sz="1800" kern="0" dirty="0" err="1">
                <a:solidFill>
                  <a:schemeClr val="tx1"/>
                </a:solidFill>
                <a:ea typeface="Open Sans" panose="020B0606030504020204" pitchFamily="34" charset="0"/>
                <a:cs typeface="Open Sans" panose="020B0606030504020204" pitchFamily="34" charset="0"/>
              </a:rPr>
              <a:t>conduire</a:t>
            </a:r>
            <a:r>
              <a:rPr lang="en-US" sz="1800" kern="0" dirty="0">
                <a:solidFill>
                  <a:schemeClr val="tx1"/>
                </a:solidFill>
                <a:ea typeface="Open Sans" panose="020B0606030504020204" pitchFamily="34" charset="0"/>
                <a:cs typeface="Open Sans" panose="020B0606030504020204" pitchFamily="34" charset="0"/>
              </a:rPr>
              <a:t> à </a:t>
            </a:r>
            <a:r>
              <a:rPr lang="en-US" sz="1800" kern="0" dirty="0" err="1">
                <a:solidFill>
                  <a:schemeClr val="tx1"/>
                </a:solidFill>
                <a:ea typeface="Open Sans" panose="020B0606030504020204" pitchFamily="34" charset="0"/>
                <a:cs typeface="Open Sans" panose="020B0606030504020204" pitchFamily="34" charset="0"/>
              </a:rPr>
              <a:t>une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alarme</a:t>
            </a:r>
            <a:r>
              <a:rPr lang="en-US" sz="1800" kern="0" dirty="0">
                <a:solidFill>
                  <a:schemeClr val="tx1"/>
                </a:solidFill>
                <a:ea typeface="Open Sans" panose="020B0606030504020204" pitchFamily="34" charset="0"/>
                <a:cs typeface="Open Sans" panose="020B0606030504020204" pitchFamily="34" charset="0"/>
              </a:rPr>
              <a:t> de sabotage</a:t>
            </a: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Les </a:t>
            </a:r>
            <a:r>
              <a:rPr lang="en-US" sz="1800" kern="0" dirty="0" err="1">
                <a:solidFill>
                  <a:schemeClr val="tx1"/>
                </a:solidFill>
                <a:ea typeface="Open Sans" panose="020B0606030504020204" pitchFamily="34" charset="0"/>
                <a:cs typeface="Open Sans" panose="020B0606030504020204" pitchFamily="34" charset="0"/>
              </a:rPr>
              <a:t>câbles</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l'installation</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doivent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être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surveillés</a:t>
            </a: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Si un </a:t>
            </a:r>
            <a:r>
              <a:rPr lang="en-US" sz="1800" kern="0" dirty="0" err="1">
                <a:solidFill>
                  <a:schemeClr val="tx1"/>
                </a:solidFill>
                <a:ea typeface="Open Sans" panose="020B0606030504020204" pitchFamily="34" charset="0"/>
                <a:cs typeface="Open Sans" panose="020B0606030504020204" pitchFamily="34" charset="0"/>
              </a:rPr>
              <a:t>système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d'alarme</a:t>
            </a:r>
            <a:r>
              <a:rPr lang="en-US" sz="1800" kern="0" dirty="0">
                <a:solidFill>
                  <a:schemeClr val="tx1"/>
                </a:solidFill>
                <a:ea typeface="Open Sans" panose="020B0606030504020204" pitchFamily="34" charset="0"/>
                <a:cs typeface="Open Sans" panose="020B0606030504020204" pitchFamily="34" charset="0"/>
              </a:rPr>
              <a:t> intrusion </a:t>
            </a:r>
            <a:r>
              <a:rPr lang="en-US" sz="1800" kern="0" dirty="0" err="1">
                <a:solidFill>
                  <a:schemeClr val="tx1"/>
                </a:solidFill>
                <a:ea typeface="Open Sans" panose="020B0606030504020204" pitchFamily="34" charset="0"/>
                <a:cs typeface="Open Sans" panose="020B0606030504020204" pitchFamily="34" charset="0"/>
              </a:rPr>
              <a:t>est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en</a:t>
            </a:r>
            <a:r>
              <a:rPr lang="en-US" sz="1800" kern="0" dirty="0">
                <a:solidFill>
                  <a:schemeClr val="tx1"/>
                </a:solidFill>
                <a:ea typeface="Open Sans" panose="020B0606030504020204" pitchFamily="34" charset="0"/>
                <a:cs typeface="Open Sans" panose="020B0606030504020204" pitchFamily="34" charset="0"/>
              </a:rPr>
              <a:t> mode "</a:t>
            </a:r>
            <a:r>
              <a:rPr lang="en-US" sz="1800" kern="0" dirty="0" err="1">
                <a:solidFill>
                  <a:schemeClr val="tx1"/>
                </a:solidFill>
                <a:ea typeface="Open Sans" panose="020B0606030504020204" pitchFamily="34" charset="0"/>
                <a:cs typeface="Open Sans" panose="020B0606030504020204" pitchFamily="34" charset="0"/>
              </a:rPr>
              <a:t>activé</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une</a:t>
            </a:r>
            <a:r>
              <a:rPr lang="en-US" sz="1800" kern="0" dirty="0">
                <a:solidFill>
                  <a:schemeClr val="tx1"/>
                </a:solidFill>
                <a:ea typeface="Open Sans" panose="020B0606030504020204" pitchFamily="34" charset="0"/>
                <a:cs typeface="Open Sans" panose="020B0606030504020204" pitchFamily="34" charset="0"/>
              </a:rPr>
              <a:t> panne </a:t>
            </a:r>
            <a:r>
              <a:rPr lang="en-US" sz="1800" kern="0" dirty="0" err="1">
                <a:solidFill>
                  <a:schemeClr val="tx1"/>
                </a:solidFill>
                <a:ea typeface="Open Sans" panose="020B0606030504020204" pitchFamily="34" charset="0"/>
                <a:cs typeface="Open Sans" panose="020B0606030504020204" pitchFamily="34" charset="0"/>
              </a:rPr>
              <a:t>constatée</a:t>
            </a:r>
            <a:r>
              <a:rPr lang="en-US" sz="1800" kern="0" dirty="0">
                <a:solidFill>
                  <a:schemeClr val="tx1"/>
                </a:solidFill>
                <a:ea typeface="Open Sans" panose="020B0606030504020204" pitchFamily="34" charset="0"/>
                <a:cs typeface="Open Sans" panose="020B0606030504020204" pitchFamily="34" charset="0"/>
              </a:rPr>
              <a:t> dans le circuit de surveillance anti-effraction doit </a:t>
            </a:r>
            <a:r>
              <a:rPr lang="en-US" sz="1800" kern="0" dirty="0" err="1">
                <a:solidFill>
                  <a:schemeClr val="tx1"/>
                </a:solidFill>
                <a:ea typeface="Open Sans" panose="020B0606030504020204" pitchFamily="34" charset="0"/>
                <a:cs typeface="Open Sans" panose="020B0606030504020204" pitchFamily="34" charset="0"/>
              </a:rPr>
              <a:t>provoquer</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l'émission</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d'une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alarme</a:t>
            </a:r>
            <a:r>
              <a:rPr lang="en-US" sz="1800" kern="0" dirty="0">
                <a:solidFill>
                  <a:schemeClr val="tx1"/>
                </a:solidFill>
                <a:ea typeface="Open Sans" panose="020B0606030504020204" pitchFamily="34" charset="0"/>
                <a:cs typeface="Open Sans" panose="020B0606030504020204" pitchFamily="34" charset="0"/>
              </a:rPr>
              <a:t> intrusion</a:t>
            </a:r>
          </a:p>
        </p:txBody>
      </p:sp>
    </p:spTree>
    <p:extLst>
      <p:ext uri="{BB962C8B-B14F-4D97-AF65-F5344CB8AC3E}">
        <p14:creationId xmlns:p14="http://schemas.microsoft.com/office/powerpoint/2010/main" val="24606692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Groupes : Zones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19675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ea typeface="Open Sans" panose="020B0606030504020204" pitchFamily="34" charset="0"/>
                <a:cs typeface="Open Sans" panose="020B0606030504020204" pitchFamily="34" charset="0"/>
              </a:rPr>
              <a:t>Principe : </a:t>
            </a:r>
            <a:r>
              <a:rPr lang="en-US" sz="1800" dirty="0" err="1">
                <a:solidFill>
                  <a:schemeClr val="bg1">
                    <a:lumMod val="10000"/>
                  </a:schemeClr>
                </a:solidFill>
              </a:rPr>
              <a:t>basé</a:t>
            </a:r>
            <a:r>
              <a:rPr lang="en-US" sz="1800" dirty="0">
                <a:solidFill>
                  <a:schemeClr val="bg1">
                    <a:lumMod val="10000"/>
                  </a:schemeClr>
                </a:solidFill>
              </a:rPr>
              <a:t> sur un circuit qui </a:t>
            </a:r>
            <a:r>
              <a:rPr lang="en-US" sz="1800" dirty="0" err="1">
                <a:solidFill>
                  <a:schemeClr val="bg1">
                    <a:lumMod val="10000"/>
                  </a:schemeClr>
                </a:solidFill>
              </a:rPr>
              <a:t>est</a:t>
            </a:r>
            <a:r>
              <a:rPr lang="en-US" sz="1800" dirty="0">
                <a:solidFill>
                  <a:schemeClr val="bg1">
                    <a:lumMod val="10000"/>
                  </a:schemeClr>
                </a:solidFill>
              </a:rPr>
              <a:t> </a:t>
            </a:r>
            <a:r>
              <a:rPr lang="en-US" sz="1800" dirty="0" err="1">
                <a:solidFill>
                  <a:schemeClr val="bg1">
                    <a:lumMod val="10000"/>
                  </a:schemeClr>
                </a:solidFill>
              </a:rPr>
              <a:t>raccourci</a:t>
            </a:r>
            <a:r>
              <a:rPr lang="en-US" sz="1800" dirty="0">
                <a:solidFill>
                  <a:schemeClr val="bg1">
                    <a:lumMod val="10000"/>
                  </a:schemeClr>
                </a:solidFill>
              </a:rPr>
              <a:t> </a:t>
            </a:r>
            <a:r>
              <a:rPr lang="en-US" sz="1800" dirty="0" err="1">
                <a:solidFill>
                  <a:schemeClr val="bg1">
                    <a:lumMod val="10000"/>
                  </a:schemeClr>
                </a:solidFill>
              </a:rPr>
              <a:t>ou</a:t>
            </a:r>
            <a:r>
              <a:rPr lang="en-US" sz="1800" dirty="0">
                <a:solidFill>
                  <a:schemeClr val="bg1">
                    <a:lumMod val="10000"/>
                  </a:schemeClr>
                </a:solidFill>
              </a:rPr>
              <a:t> </a:t>
            </a:r>
            <a:r>
              <a:rPr lang="en-US" sz="1800" dirty="0" err="1">
                <a:solidFill>
                  <a:schemeClr val="bg1">
                    <a:lumMod val="10000"/>
                  </a:schemeClr>
                </a:solidFill>
              </a:rPr>
              <a:t>interrompu</a:t>
            </a:r>
            <a:r>
              <a:rPr lang="en-US" sz="1800" dirty="0">
                <a:solidFill>
                  <a:schemeClr val="bg1">
                    <a:lumMod val="10000"/>
                  </a:schemeClr>
                </a:solidFill>
              </a:rPr>
              <a:t> par les contacts </a:t>
            </a:r>
            <a:r>
              <a:rPr lang="en-US" sz="1800" dirty="0" err="1">
                <a:solidFill>
                  <a:schemeClr val="bg1">
                    <a:lumMod val="10000"/>
                  </a:schemeClr>
                </a:solidFill>
              </a:rPr>
              <a:t>d'alarme</a:t>
            </a:r>
            <a:r>
              <a:rPr lang="en-US" sz="1800" dirty="0">
                <a:solidFill>
                  <a:schemeClr val="bg1">
                    <a:lumMod val="10000"/>
                  </a:schemeClr>
                </a:solidFill>
              </a:rPr>
              <a:t> des </a:t>
            </a:r>
            <a:r>
              <a:rPr lang="en-US" sz="1800" dirty="0" err="1">
                <a:solidFill>
                  <a:schemeClr val="bg1">
                    <a:lumMod val="10000"/>
                  </a:schemeClr>
                </a:solidFill>
              </a:rPr>
              <a:t>détecteurs</a:t>
            </a:r>
            <a:endParaRPr lang="es-ES" sz="1800" dirty="0">
              <a:solidFill>
                <a:schemeClr val="bg1">
                  <a:lumMod val="10000"/>
                </a:schemeClr>
              </a:solidFill>
            </a:endParaRPr>
          </a:p>
          <a:p>
            <a:pPr>
              <a:lnSpc>
                <a:spcPct val="150000"/>
              </a:lnSpc>
              <a:defRPr/>
            </a:pPr>
            <a:endParaRPr lang="en-US" sz="11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r>
              <a:rPr lang="en-US" sz="1800" kern="0" dirty="0" err="1">
                <a:solidFill>
                  <a:schemeClr val="bg1">
                    <a:lumMod val="10000"/>
                  </a:schemeClr>
                </a:solidFill>
                <a:ea typeface="Open Sans" panose="020B0606030504020204" pitchFamily="34" charset="0"/>
                <a:cs typeface="Open Sans" panose="020B0606030504020204" pitchFamily="34" charset="0"/>
              </a:rPr>
              <a:t>L'unité</a:t>
            </a:r>
            <a:r>
              <a:rPr lang="en-US" sz="1800" kern="0" dirty="0">
                <a:solidFill>
                  <a:schemeClr val="bg1">
                    <a:lumMod val="10000"/>
                  </a:schemeClr>
                </a:solidFill>
                <a:ea typeface="Open Sans" panose="020B0606030504020204" pitchFamily="34" charset="0"/>
                <a:cs typeface="Open Sans" panose="020B0606030504020204" pitchFamily="34" charset="0"/>
              </a:rPr>
              <a:t> de </a:t>
            </a:r>
            <a:r>
              <a:rPr lang="en-US" sz="1800" kern="0" dirty="0" err="1">
                <a:solidFill>
                  <a:schemeClr val="bg1">
                    <a:lumMod val="10000"/>
                  </a:schemeClr>
                </a:solidFill>
                <a:ea typeface="Open Sans" panose="020B0606030504020204" pitchFamily="34" charset="0"/>
                <a:cs typeface="Open Sans" panose="020B0606030504020204" pitchFamily="34" charset="0"/>
              </a:rPr>
              <a:t>contrôle</a:t>
            </a:r>
            <a:r>
              <a:rPr lang="en-US" sz="1800" kern="0" dirty="0">
                <a:solidFill>
                  <a:schemeClr val="bg1">
                    <a:lumMod val="10000"/>
                  </a:schemeClr>
                </a:solidFill>
                <a:ea typeface="Open Sans" panose="020B0606030504020204" pitchFamily="34" charset="0"/>
                <a:cs typeface="Open Sans" panose="020B0606030504020204" pitchFamily="34" charset="0"/>
              </a:rPr>
              <a:t> </a:t>
            </a:r>
            <a:r>
              <a:rPr lang="en-US" sz="1800" kern="0" dirty="0" err="1">
                <a:solidFill>
                  <a:schemeClr val="bg1">
                    <a:lumMod val="10000"/>
                  </a:schemeClr>
                </a:solidFill>
                <a:ea typeface="Open Sans" panose="020B0606030504020204" pitchFamily="34" charset="0"/>
                <a:cs typeface="Open Sans" panose="020B0606030504020204" pitchFamily="34" charset="0"/>
              </a:rPr>
              <a:t>d'alarme</a:t>
            </a:r>
            <a:r>
              <a:rPr lang="en-US" sz="1800" kern="0" dirty="0">
                <a:solidFill>
                  <a:schemeClr val="bg1">
                    <a:lumMod val="10000"/>
                  </a:schemeClr>
                </a:solidFill>
                <a:ea typeface="Open Sans" panose="020B0606030504020204" pitchFamily="34" charset="0"/>
                <a:cs typeface="Open Sans" panose="020B0606030504020204" pitchFamily="34" charset="0"/>
              </a:rPr>
              <a:t> intrusion </a:t>
            </a:r>
            <a:r>
              <a:rPr lang="en-US" sz="1800" kern="0" dirty="0" err="1">
                <a:solidFill>
                  <a:schemeClr val="bg1">
                    <a:lumMod val="10000"/>
                  </a:schemeClr>
                </a:solidFill>
                <a:ea typeface="Open Sans" panose="020B0606030504020204" pitchFamily="34" charset="0"/>
                <a:cs typeface="Open Sans" panose="020B0606030504020204" pitchFamily="34" charset="0"/>
              </a:rPr>
              <a:t>enregistre</a:t>
            </a:r>
            <a:r>
              <a:rPr lang="en-US" sz="1800" kern="0" dirty="0">
                <a:solidFill>
                  <a:schemeClr val="bg1">
                    <a:lumMod val="10000"/>
                  </a:schemeClr>
                </a:solidFill>
                <a:ea typeface="Open Sans" panose="020B0606030504020204" pitchFamily="34" charset="0"/>
                <a:cs typeface="Open Sans" panose="020B0606030504020204" pitchFamily="34" charset="0"/>
              </a:rPr>
              <a:t> </a:t>
            </a:r>
            <a:r>
              <a:rPr lang="en-US" sz="1800" kern="0" dirty="0" err="1">
                <a:solidFill>
                  <a:schemeClr val="bg1">
                    <a:lumMod val="10000"/>
                  </a:schemeClr>
                </a:solidFill>
                <a:ea typeface="Open Sans" panose="020B0606030504020204" pitchFamily="34" charset="0"/>
                <a:cs typeface="Open Sans" panose="020B0606030504020204" pitchFamily="34" charset="0"/>
              </a:rPr>
              <a:t>ces</a:t>
            </a:r>
            <a:r>
              <a:rPr lang="en-US" sz="1800" kern="0" dirty="0">
                <a:solidFill>
                  <a:schemeClr val="bg1">
                    <a:lumMod val="10000"/>
                  </a:schemeClr>
                </a:solidFill>
                <a:ea typeface="Open Sans" panose="020B0606030504020204" pitchFamily="34" charset="0"/>
                <a:cs typeface="Open Sans" panose="020B0606030504020204" pitchFamily="34" charset="0"/>
              </a:rPr>
              <a:t> courts-circuits </a:t>
            </a:r>
            <a:r>
              <a:rPr lang="en-US" sz="1800" kern="0" dirty="0" err="1">
                <a:solidFill>
                  <a:schemeClr val="bg1">
                    <a:lumMod val="10000"/>
                  </a:schemeClr>
                </a:solidFill>
                <a:ea typeface="Open Sans" panose="020B0606030504020204" pitchFamily="34" charset="0"/>
                <a:cs typeface="Open Sans" panose="020B0606030504020204" pitchFamily="34" charset="0"/>
              </a:rPr>
              <a:t>ou</a:t>
            </a:r>
            <a:r>
              <a:rPr lang="en-US" sz="1800" kern="0" dirty="0">
                <a:solidFill>
                  <a:schemeClr val="bg1">
                    <a:lumMod val="10000"/>
                  </a:schemeClr>
                </a:solidFill>
                <a:ea typeface="Open Sans" panose="020B0606030504020204" pitchFamily="34" charset="0"/>
                <a:cs typeface="Open Sans" panose="020B0606030504020204" pitchFamily="34" charset="0"/>
              </a:rPr>
              <a:t> </a:t>
            </a:r>
            <a:r>
              <a:rPr lang="en-US" sz="1800" kern="0" dirty="0" err="1">
                <a:solidFill>
                  <a:schemeClr val="bg1">
                    <a:lumMod val="10000"/>
                  </a:schemeClr>
                </a:solidFill>
                <a:ea typeface="Open Sans" panose="020B0606030504020204" pitchFamily="34" charset="0"/>
                <a:cs typeface="Open Sans" panose="020B0606030504020204" pitchFamily="34" charset="0"/>
              </a:rPr>
              <a:t>ces</a:t>
            </a:r>
            <a:r>
              <a:rPr lang="en-US" sz="1800" kern="0" dirty="0">
                <a:solidFill>
                  <a:schemeClr val="bg1">
                    <a:lumMod val="10000"/>
                  </a:schemeClr>
                </a:solidFill>
                <a:ea typeface="Open Sans" panose="020B0606030504020204" pitchFamily="34" charset="0"/>
                <a:cs typeface="Open Sans" panose="020B0606030504020204" pitchFamily="34" charset="0"/>
              </a:rPr>
              <a:t> </a:t>
            </a:r>
            <a:r>
              <a:rPr lang="en-US" sz="1800" kern="0" dirty="0" err="1">
                <a:solidFill>
                  <a:schemeClr val="bg1">
                    <a:lumMod val="10000"/>
                  </a:schemeClr>
                </a:solidFill>
                <a:ea typeface="Open Sans" panose="020B0606030504020204" pitchFamily="34" charset="0"/>
                <a:cs typeface="Open Sans" panose="020B0606030504020204" pitchFamily="34" charset="0"/>
              </a:rPr>
              <a:t>coupures</a:t>
            </a:r>
            <a:r>
              <a:rPr lang="en-US" sz="1800" kern="0" dirty="0">
                <a:solidFill>
                  <a:schemeClr val="bg1">
                    <a:lumMod val="10000"/>
                  </a:schemeClr>
                </a:solidFill>
                <a:ea typeface="Open Sans" panose="020B0606030504020204" pitchFamily="34" charset="0"/>
                <a:cs typeface="Open Sans" panose="020B0606030504020204" pitchFamily="34" charset="0"/>
              </a:rPr>
              <a:t> </a:t>
            </a:r>
            <a:r>
              <a:rPr lang="en-US" sz="1800" kern="0" dirty="0" err="1">
                <a:solidFill>
                  <a:schemeClr val="bg1">
                    <a:lumMod val="10000"/>
                  </a:schemeClr>
                </a:solidFill>
                <a:ea typeface="Open Sans" panose="020B0606030504020204" pitchFamily="34" charset="0"/>
                <a:cs typeface="Open Sans" panose="020B0606030504020204" pitchFamily="34" charset="0"/>
              </a:rPr>
              <a:t>en</a:t>
            </a:r>
            <a:r>
              <a:rPr lang="en-US" sz="1800" kern="0" dirty="0">
                <a:solidFill>
                  <a:schemeClr val="bg1">
                    <a:lumMod val="10000"/>
                  </a:schemeClr>
                </a:solidFill>
                <a:ea typeface="Open Sans" panose="020B0606030504020204" pitchFamily="34" charset="0"/>
                <a:cs typeface="Open Sans" panose="020B0606030504020204" pitchFamily="34" charset="0"/>
              </a:rPr>
              <a:t> </a:t>
            </a:r>
            <a:r>
              <a:rPr lang="en-US" sz="1800" kern="0" dirty="0" err="1">
                <a:solidFill>
                  <a:schemeClr val="bg1">
                    <a:lumMod val="10000"/>
                  </a:schemeClr>
                </a:solidFill>
                <a:ea typeface="Open Sans" panose="020B0606030504020204" pitchFamily="34" charset="0"/>
                <a:cs typeface="Open Sans" panose="020B0606030504020204" pitchFamily="34" charset="0"/>
              </a:rPr>
              <a:t>réaliser</a:t>
            </a:r>
            <a:r>
              <a:rPr lang="en-US" sz="1800" kern="0" dirty="0">
                <a:solidFill>
                  <a:schemeClr val="bg1">
                    <a:lumMod val="10000"/>
                  </a:schemeClr>
                </a:solidFill>
                <a:ea typeface="Open Sans" panose="020B0606030504020204" pitchFamily="34" charset="0"/>
                <a:cs typeface="Open Sans" panose="020B0606030504020204" pitchFamily="34" charset="0"/>
              </a:rPr>
              <a:t> des </a:t>
            </a:r>
            <a:r>
              <a:rPr lang="en-US" sz="1800" kern="0" dirty="0" err="1">
                <a:solidFill>
                  <a:schemeClr val="bg1">
                    <a:lumMod val="10000"/>
                  </a:schemeClr>
                </a:solidFill>
                <a:ea typeface="Open Sans" panose="020B0606030504020204" pitchFamily="34" charset="0"/>
                <a:cs typeface="Open Sans" panose="020B0606030504020204" pitchFamily="34" charset="0"/>
              </a:rPr>
              <a:t>mesures</a:t>
            </a:r>
            <a:r>
              <a:rPr lang="en-US" sz="1800" kern="0" dirty="0">
                <a:solidFill>
                  <a:schemeClr val="bg1">
                    <a:lumMod val="10000"/>
                  </a:schemeClr>
                </a:solidFill>
                <a:ea typeface="Open Sans" panose="020B0606030504020204" pitchFamily="34" charset="0"/>
                <a:cs typeface="Open Sans" panose="020B0606030504020204" pitchFamily="34" charset="0"/>
              </a:rPr>
              <a:t> de tension et de courant, et </a:t>
            </a:r>
            <a:r>
              <a:rPr lang="en-US" sz="1800" kern="0" dirty="0" err="1">
                <a:solidFill>
                  <a:schemeClr val="bg1">
                    <a:lumMod val="10000"/>
                  </a:schemeClr>
                </a:solidFill>
                <a:ea typeface="Open Sans" panose="020B0606030504020204" pitchFamily="34" charset="0"/>
                <a:cs typeface="Open Sans" panose="020B0606030504020204" pitchFamily="34" charset="0"/>
              </a:rPr>
              <a:t>déclenche</a:t>
            </a:r>
            <a:r>
              <a:rPr lang="en-US" sz="1800" kern="0" dirty="0">
                <a:solidFill>
                  <a:schemeClr val="bg1">
                    <a:lumMod val="10000"/>
                  </a:schemeClr>
                </a:solidFill>
                <a:ea typeface="Open Sans" panose="020B0606030504020204" pitchFamily="34" charset="0"/>
                <a:cs typeface="Open Sans" panose="020B0606030504020204" pitchFamily="34" charset="0"/>
              </a:rPr>
              <a:t> les </a:t>
            </a:r>
            <a:r>
              <a:rPr lang="en-US" sz="1800" kern="0" dirty="0" err="1">
                <a:solidFill>
                  <a:schemeClr val="bg1">
                    <a:lumMod val="10000"/>
                  </a:schemeClr>
                </a:solidFill>
                <a:ea typeface="Open Sans" panose="020B0606030504020204" pitchFamily="34" charset="0"/>
                <a:cs typeface="Open Sans" panose="020B0606030504020204" pitchFamily="34" charset="0"/>
              </a:rPr>
              <a:t>mesures</a:t>
            </a:r>
            <a:r>
              <a:rPr lang="en-US" sz="1800" kern="0" dirty="0">
                <a:solidFill>
                  <a:schemeClr val="bg1">
                    <a:lumMod val="10000"/>
                  </a:schemeClr>
                </a:solidFill>
                <a:ea typeface="Open Sans" panose="020B0606030504020204" pitchFamily="34" charset="0"/>
                <a:cs typeface="Open Sans" panose="020B0606030504020204" pitchFamily="34" charset="0"/>
              </a:rPr>
              <a:t> </a:t>
            </a:r>
            <a:r>
              <a:rPr lang="en-US" sz="1800" kern="0" dirty="0" err="1">
                <a:solidFill>
                  <a:schemeClr val="bg1">
                    <a:lumMod val="10000"/>
                  </a:schemeClr>
                </a:solidFill>
                <a:ea typeface="Open Sans" panose="020B0606030504020204" pitchFamily="34" charset="0"/>
                <a:cs typeface="Open Sans" panose="020B0606030504020204" pitchFamily="34" charset="0"/>
              </a:rPr>
              <a:t>appropriées</a:t>
            </a:r>
            <a:endParaRPr lang="en-US" sz="18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endParaRPr lang="en-GB" sz="1100" dirty="0"/>
          </a:p>
          <a:p>
            <a:pPr>
              <a:lnSpc>
                <a:spcPct val="150000"/>
              </a:lnSpc>
              <a:defRPr/>
            </a:pPr>
            <a:r>
              <a:rPr lang="en-GB" sz="1800" dirty="0"/>
              <a:t>circuits </a:t>
            </a:r>
            <a:r>
              <a:rPr lang="en-GB" sz="1800" dirty="0" err="1"/>
              <a:t>primaires</a:t>
            </a:r>
            <a:r>
              <a:rPr lang="en-GB" sz="1800" dirty="0">
                <a:solidFill>
                  <a:schemeClr val="bg1">
                    <a:lumMod val="10000"/>
                  </a:schemeClr>
                </a:solidFill>
              </a:rPr>
              <a:t>: </a:t>
            </a:r>
            <a:r>
              <a:rPr lang="en-GB" sz="1800" dirty="0" err="1">
                <a:solidFill>
                  <a:schemeClr val="bg1">
                    <a:lumMod val="10000"/>
                  </a:schemeClr>
                </a:solidFill>
              </a:rPr>
              <a:t>Câbles</a:t>
            </a:r>
            <a:r>
              <a:rPr lang="en-GB" sz="1800" dirty="0">
                <a:solidFill>
                  <a:schemeClr val="bg1">
                    <a:lumMod val="10000"/>
                  </a:schemeClr>
                </a:solidFill>
              </a:rPr>
              <a:t> qui </a:t>
            </a:r>
            <a:r>
              <a:rPr lang="en-GB" sz="1800" dirty="0" err="1">
                <a:solidFill>
                  <a:schemeClr val="bg1">
                    <a:lumMod val="10000"/>
                  </a:schemeClr>
                </a:solidFill>
              </a:rPr>
              <a:t>sont</a:t>
            </a:r>
            <a:r>
              <a:rPr lang="en-GB" sz="1800" dirty="0">
                <a:solidFill>
                  <a:schemeClr val="bg1">
                    <a:lumMod val="10000"/>
                  </a:schemeClr>
                </a:solidFill>
              </a:rPr>
              <a:t> </a:t>
            </a:r>
            <a:r>
              <a:rPr lang="en-GB" sz="1800" dirty="0" err="1">
                <a:solidFill>
                  <a:schemeClr val="bg1">
                    <a:lumMod val="10000"/>
                  </a:schemeClr>
                </a:solidFill>
              </a:rPr>
              <a:t>surveillés</a:t>
            </a:r>
            <a:r>
              <a:rPr lang="en-GB" sz="1800" dirty="0">
                <a:solidFill>
                  <a:schemeClr val="bg1">
                    <a:lumMod val="10000"/>
                  </a:schemeClr>
                </a:solidFill>
              </a:rPr>
              <a:t> pour les courts-circuits et les interruptions</a:t>
            </a:r>
          </a:p>
          <a:p>
            <a:pPr>
              <a:defRPr/>
            </a:pPr>
            <a:r>
              <a:rPr lang="en-GB" sz="1800" dirty="0"/>
              <a:t>Circuits </a:t>
            </a:r>
            <a:r>
              <a:rPr lang="en-GB" sz="1800" dirty="0" err="1"/>
              <a:t>secondaires</a:t>
            </a:r>
            <a:r>
              <a:rPr lang="en-GB" sz="1800" dirty="0"/>
              <a:t> : </a:t>
            </a:r>
            <a:r>
              <a:rPr lang="en-GB" sz="1800" dirty="0">
                <a:solidFill>
                  <a:schemeClr val="bg1">
                    <a:lumMod val="10000"/>
                  </a:schemeClr>
                </a:solidFill>
              </a:rPr>
              <a:t> </a:t>
            </a:r>
            <a:r>
              <a:rPr lang="en-GB" sz="1800" dirty="0" err="1">
                <a:solidFill>
                  <a:schemeClr val="bg1">
                    <a:lumMod val="10000"/>
                  </a:schemeClr>
                </a:solidFill>
              </a:rPr>
              <a:t>Câbles</a:t>
            </a:r>
            <a:r>
              <a:rPr lang="en-GB" sz="1800" dirty="0">
                <a:solidFill>
                  <a:schemeClr val="bg1">
                    <a:lumMod val="10000"/>
                  </a:schemeClr>
                </a:solidFill>
              </a:rPr>
              <a:t> non </a:t>
            </a:r>
            <a:r>
              <a:rPr lang="en-GB" sz="1800" dirty="0" err="1">
                <a:solidFill>
                  <a:schemeClr val="bg1">
                    <a:lumMod val="10000"/>
                  </a:schemeClr>
                </a:solidFill>
              </a:rPr>
              <a:t>surveillés</a:t>
            </a:r>
            <a:r>
              <a:rPr lang="en-GB" sz="1800" dirty="0">
                <a:solidFill>
                  <a:schemeClr val="bg1">
                    <a:lumMod val="10000"/>
                  </a:schemeClr>
                </a:solidFill>
              </a:rPr>
              <a:t> </a:t>
            </a:r>
            <a:r>
              <a:rPr lang="en-GB" sz="1800" dirty="0"/>
              <a:t> </a:t>
            </a:r>
          </a:p>
          <a:p>
            <a:pPr>
              <a:lnSpc>
                <a:spcPct val="150000"/>
              </a:lnSpc>
              <a:defRPr/>
            </a:pPr>
            <a:endParaRPr lang="en-US" sz="18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0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9309412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Zones : Circuits </a:t>
            </a:r>
            <a:r>
              <a:rPr lang="en-US" dirty="0" err="1"/>
              <a:t>secondaires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268760"/>
            <a:ext cx="7848352"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a:ea typeface="Open Sans" panose="020B0606030504020204" pitchFamily="34" charset="0"/>
                <a:cs typeface="Open Sans" panose="020B0606030504020204" pitchFamily="34" charset="0"/>
              </a:rPr>
              <a:t> Circuits en boucle fermée : </a:t>
            </a:r>
            <a:r>
              <a:rPr lang="en-US" sz="1800" kern="0">
                <a:solidFill>
                  <a:schemeClr val="tx1"/>
                </a:solidFill>
                <a:ea typeface="Open Sans" panose="020B0606030504020204" pitchFamily="34" charset="0"/>
                <a:cs typeface="Open Sans" panose="020B0606030504020204" pitchFamily="34" charset="0"/>
              </a:rPr>
              <a:t> Si au moins un des contacts est ouvert, la circulation du courant est interrompue et entraîne l'envoi d'un signal. </a:t>
            </a:r>
          </a:p>
          <a:p>
            <a:pPr>
              <a:lnSpc>
                <a:spcPct val="150000"/>
              </a:lnSpc>
              <a:defRPr/>
            </a:pPr>
            <a:endParaRPr lang="en-US" sz="1800" kern="0" dirty="0">
              <a:ea typeface="Open Sans" panose="020B0606030504020204" pitchFamily="34" charset="0"/>
              <a:cs typeface="Open Sans" panose="020B0606030504020204" pitchFamily="34" charset="0"/>
            </a:endParaRPr>
          </a:p>
          <a:p>
            <a:pPr>
              <a:lnSpc>
                <a:spcPct val="150000"/>
              </a:lnSpc>
              <a:defRPr/>
            </a:pPr>
            <a:endParaRPr lang="en-US" sz="1800" kern="0" dirty="0">
              <a:ea typeface="Open Sans" panose="020B0606030504020204" pitchFamily="34" charset="0"/>
              <a:cs typeface="Open Sans" panose="020B0606030504020204" pitchFamily="34" charset="0"/>
            </a:endParaRPr>
          </a:p>
          <a:p>
            <a:pPr>
              <a:lnSpc>
                <a:spcPct val="150000"/>
              </a:lnSpc>
              <a:defRPr/>
            </a:pPr>
            <a:endParaRPr lang="en-US" sz="1800" kern="0" dirty="0">
              <a:ea typeface="Open Sans" panose="020B0606030504020204" pitchFamily="34" charset="0"/>
              <a:cs typeface="Open Sans" panose="020B0606030504020204" pitchFamily="34" charset="0"/>
            </a:endParaRPr>
          </a:p>
          <a:p>
            <a:pPr>
              <a:lnSpc>
                <a:spcPct val="150000"/>
              </a:lnSpc>
              <a:defRPr/>
            </a:pPr>
            <a:r>
              <a:rPr lang="en-US" sz="1800" kern="0">
                <a:ea typeface="Open Sans" panose="020B0606030504020204" pitchFamily="34" charset="0"/>
                <a:cs typeface="Open Sans" panose="020B0606030504020204" pitchFamily="34" charset="0"/>
              </a:rPr>
              <a:t> Circuits en boucle ouverte : </a:t>
            </a:r>
            <a:r>
              <a:rPr lang="en-US" sz="1800" kern="0">
                <a:solidFill>
                  <a:schemeClr val="tx1"/>
                </a:solidFill>
                <a:ea typeface="Open Sans" panose="020B0606030504020204" pitchFamily="34" charset="0"/>
                <a:cs typeface="Open Sans" panose="020B0606030504020204" pitchFamily="34" charset="0"/>
              </a:rPr>
              <a:t> Si au moins un contact est fermé, il n'y a pas de passage de courant et entraîne l'envoi d'un signal. </a:t>
            </a:r>
            <a:endParaRPr lang="en-US" sz="18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000" kern="0" dirty="0">
              <a:ea typeface="Open Sans" panose="020B0606030504020204" pitchFamily="34" charset="0"/>
              <a:cs typeface="Open Sans" panose="020B0606030504020204" pitchFamily="34" charset="0"/>
            </a:endParaRPr>
          </a:p>
        </p:txBody>
      </p:sp>
      <p:sp>
        <p:nvSpPr>
          <p:cNvPr id="2" name="Rectangle 2">
            <a:extLst>
              <a:ext uri="{FF2B5EF4-FFF2-40B4-BE49-F238E27FC236}">
                <a16:creationId xmlns:a16="http://schemas.microsoft.com/office/drawing/2014/main" id="{3FFF31D7-978B-4390-90B2-28978A3E677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graphicFrame>
        <p:nvGraphicFramePr>
          <p:cNvPr id="4" name="Object 3">
            <a:extLst>
              <a:ext uri="{FF2B5EF4-FFF2-40B4-BE49-F238E27FC236}">
                <a16:creationId xmlns:a16="http://schemas.microsoft.com/office/drawing/2014/main" id="{851AEA4F-38D5-4047-906E-96124641A5E9}"/>
              </a:ext>
            </a:extLst>
          </p:cNvPr>
          <p:cNvGraphicFramePr>
            <a:graphicFrameLocks noChangeAspect="1"/>
          </p:cNvGraphicFramePr>
          <p:nvPr/>
        </p:nvGraphicFramePr>
        <p:xfrm>
          <a:off x="1994941" y="2731219"/>
          <a:ext cx="5783426" cy="1122452"/>
        </p:xfrm>
        <a:graphic>
          <a:graphicData uri="http://schemas.openxmlformats.org/presentationml/2006/ole">
            <mc:AlternateContent xmlns:mc="http://schemas.openxmlformats.org/markup-compatibility/2006">
              <mc:Choice xmlns:v="urn:schemas-microsoft-com:vml" Requires="v">
                <p:oleObj r:id="rId3" imgW="7813084" imgH="1521023" progId="Visio.Drawing.15">
                  <p:embed/>
                </p:oleObj>
              </mc:Choice>
              <mc:Fallback>
                <p:oleObj r:id="rId3" imgW="7813084" imgH="1521023" progId="Visio.Drawing.15">
                  <p:embed/>
                  <p:pic>
                    <p:nvPicPr>
                      <p:cNvPr id="4" name="Object 3">
                        <a:extLst>
                          <a:ext uri="{FF2B5EF4-FFF2-40B4-BE49-F238E27FC236}">
                            <a16:creationId xmlns:a16="http://schemas.microsoft.com/office/drawing/2014/main" id="{851AEA4F-38D5-4047-906E-96124641A5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4941" y="2731219"/>
                        <a:ext cx="5783426" cy="1122452"/>
                      </a:xfrm>
                      <a:prstGeom prst="rect">
                        <a:avLst/>
                      </a:prstGeom>
                      <a:noFill/>
                    </p:spPr>
                  </p:pic>
                </p:oleObj>
              </mc:Fallback>
            </mc:AlternateContent>
          </a:graphicData>
        </a:graphic>
      </p:graphicFrame>
      <p:sp>
        <p:nvSpPr>
          <p:cNvPr id="5" name="Rectangle 4">
            <a:extLst>
              <a:ext uri="{FF2B5EF4-FFF2-40B4-BE49-F238E27FC236}">
                <a16:creationId xmlns:a16="http://schemas.microsoft.com/office/drawing/2014/main" id="{5C6BEC51-CA06-43EC-B3B7-4B8FBFF0B428}"/>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graphicFrame>
        <p:nvGraphicFramePr>
          <p:cNvPr id="6" name="Object 5">
            <a:extLst>
              <a:ext uri="{FF2B5EF4-FFF2-40B4-BE49-F238E27FC236}">
                <a16:creationId xmlns:a16="http://schemas.microsoft.com/office/drawing/2014/main" id="{7DC1F6C2-10BD-4A2C-8F2C-ECF7965EBCEB}"/>
              </a:ext>
            </a:extLst>
          </p:cNvPr>
          <p:cNvGraphicFramePr>
            <a:graphicFrameLocks noChangeAspect="1"/>
          </p:cNvGraphicFramePr>
          <p:nvPr/>
        </p:nvGraphicFramePr>
        <p:xfrm>
          <a:off x="2005637" y="5236249"/>
          <a:ext cx="6212436" cy="1122452"/>
        </p:xfrm>
        <a:graphic>
          <a:graphicData uri="http://schemas.openxmlformats.org/presentationml/2006/ole">
            <mc:AlternateContent xmlns:mc="http://schemas.openxmlformats.org/markup-compatibility/2006">
              <mc:Choice xmlns:v="urn:schemas-microsoft-com:vml" Requires="v">
                <p:oleObj r:id="rId5" imgW="8483245" imgH="1530144" progId="Visio.Drawing.15">
                  <p:embed/>
                </p:oleObj>
              </mc:Choice>
              <mc:Fallback>
                <p:oleObj r:id="rId5" imgW="8483245" imgH="1530144" progId="Visio.Drawing.15">
                  <p:embed/>
                  <p:pic>
                    <p:nvPicPr>
                      <p:cNvPr id="6" name="Object 5">
                        <a:extLst>
                          <a:ext uri="{FF2B5EF4-FFF2-40B4-BE49-F238E27FC236}">
                            <a16:creationId xmlns:a16="http://schemas.microsoft.com/office/drawing/2014/main" id="{7DC1F6C2-10BD-4A2C-8F2C-ECF7965EBCE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05637" y="5236249"/>
                        <a:ext cx="6212436" cy="1122452"/>
                      </a:xfrm>
                      <a:prstGeom prst="rect">
                        <a:avLst/>
                      </a:prstGeom>
                      <a:noFill/>
                    </p:spPr>
                  </p:pic>
                </p:oleObj>
              </mc:Fallback>
            </mc:AlternateContent>
          </a:graphicData>
        </a:graphic>
      </p:graphicFrame>
    </p:spTree>
    <p:extLst>
      <p:ext uri="{BB962C8B-B14F-4D97-AF65-F5344CB8AC3E}">
        <p14:creationId xmlns:p14="http://schemas.microsoft.com/office/powerpoint/2010/main" val="20092829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Zones : Circuits primaires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err="1">
                <a:solidFill>
                  <a:schemeClr val="tx1"/>
                </a:solidFill>
                <a:ea typeface="Open Sans" panose="020B0606030504020204" pitchFamily="34" charset="0"/>
                <a:cs typeface="Open Sans" panose="020B0606030504020204" pitchFamily="34" charset="0"/>
              </a:rPr>
              <a:t>Lors</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leur</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fonctionnement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habituel</a:t>
            </a:r>
            <a:r>
              <a:rPr lang="en-US" sz="1800" kern="0" dirty="0">
                <a:solidFill>
                  <a:schemeClr val="tx1"/>
                </a:solidFill>
                <a:ea typeface="Open Sans" panose="020B0606030504020204" pitchFamily="34" charset="0"/>
                <a:cs typeface="Open Sans" panose="020B0606030504020204" pitchFamily="34" charset="0"/>
              </a:rPr>
              <a:t>, un certain </a:t>
            </a:r>
            <a:r>
              <a:rPr lang="en-US" sz="1800" kern="0" dirty="0" err="1">
                <a:solidFill>
                  <a:schemeClr val="tx1"/>
                </a:solidFill>
                <a:ea typeface="Open Sans" panose="020B0606030504020204" pitchFamily="34" charset="0"/>
                <a:cs typeface="Open Sans" panose="020B0606030504020204" pitchFamily="34" charset="0"/>
              </a:rPr>
              <a:t>niveau</a:t>
            </a:r>
            <a:r>
              <a:rPr lang="en-US" sz="1800" kern="0" dirty="0">
                <a:solidFill>
                  <a:schemeClr val="tx1"/>
                </a:solidFill>
                <a:ea typeface="Open Sans" panose="020B0606030504020204" pitchFamily="34" charset="0"/>
                <a:cs typeface="Open Sans" panose="020B0606030504020204" pitchFamily="34" charset="0"/>
              </a:rPr>
              <a:t> de courant </a:t>
            </a:r>
            <a:r>
              <a:rPr lang="en-US" sz="1800" kern="0" dirty="0" err="1">
                <a:solidFill>
                  <a:schemeClr val="tx1"/>
                </a:solidFill>
                <a:ea typeface="Open Sans" panose="020B0606030504020204" pitchFamily="34" charset="0"/>
                <a:cs typeface="Open Sans" panose="020B0606030504020204" pitchFamily="34" charset="0"/>
              </a:rPr>
              <a:t>est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défini</a:t>
            </a:r>
            <a:endParaRPr lang="en-US" sz="18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1800" kern="0" dirty="0" err="1">
                <a:solidFill>
                  <a:schemeClr val="tx1"/>
                </a:solidFill>
                <a:ea typeface="Open Sans" panose="020B0606030504020204" pitchFamily="34" charset="0"/>
                <a:cs typeface="Open Sans" panose="020B0606030504020204" pitchFamily="34" charset="0"/>
              </a:rPr>
              <a:t>En</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cas</a:t>
            </a:r>
            <a:r>
              <a:rPr lang="en-US" sz="1800" kern="0" dirty="0">
                <a:solidFill>
                  <a:schemeClr val="tx1"/>
                </a:solidFill>
                <a:ea typeface="Open Sans" panose="020B0606030504020204" pitchFamily="34" charset="0"/>
                <a:cs typeface="Open Sans" panose="020B0606030504020204" pitchFamily="34" charset="0"/>
              </a:rPr>
              <a:t> de perturbation, il </a:t>
            </a:r>
            <a:r>
              <a:rPr lang="en-US" sz="1800" kern="0" dirty="0" err="1">
                <a:solidFill>
                  <a:schemeClr val="tx1"/>
                </a:solidFill>
                <a:ea typeface="Open Sans" panose="020B0606030504020204" pitchFamily="34" charset="0"/>
                <a:cs typeface="Open Sans" panose="020B0606030504020204" pitchFamily="34" charset="0"/>
              </a:rPr>
              <a:t>n'y</a:t>
            </a:r>
            <a:r>
              <a:rPr lang="en-US" sz="1800" kern="0" dirty="0">
                <a:solidFill>
                  <a:schemeClr val="tx1"/>
                </a:solidFill>
                <a:ea typeface="Open Sans" panose="020B0606030504020204" pitchFamily="34" charset="0"/>
                <a:cs typeface="Open Sans" panose="020B0606030504020204" pitchFamily="34" charset="0"/>
              </a:rPr>
              <a:t> a pas de flux de courant </a:t>
            </a:r>
            <a:r>
              <a:rPr lang="en-US" sz="1800" kern="0" dirty="0" err="1">
                <a:solidFill>
                  <a:schemeClr val="tx1"/>
                </a:solidFill>
                <a:ea typeface="Open Sans" panose="020B0606030504020204" pitchFamily="34" charset="0"/>
                <a:cs typeface="Open Sans" panose="020B0606030504020204" pitchFamily="34" charset="0"/>
              </a:rPr>
              <a:t>alors</a:t>
            </a:r>
            <a:r>
              <a:rPr lang="en-US" sz="1800" kern="0" dirty="0">
                <a:solidFill>
                  <a:schemeClr val="tx1"/>
                </a:solidFill>
                <a:ea typeface="Open Sans" panose="020B0606030504020204" pitchFamily="34" charset="0"/>
                <a:cs typeface="Open Sans" panose="020B0606030504020204" pitchFamily="34" charset="0"/>
              </a:rPr>
              <a:t> que le </a:t>
            </a:r>
            <a:r>
              <a:rPr lang="en-US" sz="1800" kern="0" dirty="0" err="1">
                <a:solidFill>
                  <a:schemeClr val="tx1"/>
                </a:solidFill>
                <a:ea typeface="Open Sans" panose="020B0606030504020204" pitchFamily="34" charset="0"/>
                <a:cs typeface="Open Sans" panose="020B0606030504020204" pitchFamily="34" charset="0"/>
              </a:rPr>
              <a:t>débit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augmente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significativement</a:t>
            </a:r>
            <a:r>
              <a:rPr lang="en-US" sz="1800" kern="0" dirty="0">
                <a:solidFill>
                  <a:schemeClr val="tx1"/>
                </a:solidFill>
                <a:ea typeface="Open Sans" panose="020B0606030504020204" pitchFamily="34" charset="0"/>
                <a:cs typeface="Open Sans" panose="020B0606030504020204" pitchFamily="34" charset="0"/>
              </a:rPr>
              <a:t> pour un court-circuit</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Les deux situations </a:t>
            </a:r>
            <a:r>
              <a:rPr lang="en-US" sz="1800" kern="0" dirty="0" err="1">
                <a:solidFill>
                  <a:schemeClr val="tx1"/>
                </a:solidFill>
                <a:ea typeface="Open Sans" panose="020B0606030504020204" pitchFamily="34" charset="0"/>
                <a:cs typeface="Open Sans" panose="020B0606030504020204" pitchFamily="34" charset="0"/>
              </a:rPr>
              <a:t>aboutissent</a:t>
            </a:r>
            <a:r>
              <a:rPr lang="en-US" sz="1800" kern="0" dirty="0">
                <a:solidFill>
                  <a:schemeClr val="tx1"/>
                </a:solidFill>
                <a:ea typeface="Open Sans" panose="020B0606030504020204" pitchFamily="34" charset="0"/>
                <a:cs typeface="Open Sans" panose="020B0606030504020204" pitchFamily="34" charset="0"/>
              </a:rPr>
              <a:t> à </a:t>
            </a:r>
            <a:r>
              <a:rPr lang="en-US" sz="1800" kern="0" dirty="0" err="1">
                <a:solidFill>
                  <a:schemeClr val="tx1"/>
                </a:solidFill>
                <a:ea typeface="Open Sans" panose="020B0606030504020204" pitchFamily="34" charset="0"/>
                <a:cs typeface="Open Sans" panose="020B0606030504020204" pitchFamily="34" charset="0"/>
              </a:rPr>
              <a:t>l'envoi</a:t>
            </a:r>
            <a:r>
              <a:rPr lang="en-US" sz="1800" kern="0" dirty="0">
                <a:solidFill>
                  <a:schemeClr val="tx1"/>
                </a:solidFill>
                <a:ea typeface="Open Sans" panose="020B0606030504020204" pitchFamily="34" charset="0"/>
                <a:cs typeface="Open Sans" panose="020B0606030504020204" pitchFamily="34" charset="0"/>
              </a:rPr>
              <a:t> d'un signal</a:t>
            </a:r>
          </a:p>
          <a:p>
            <a:pPr>
              <a:lnSpc>
                <a:spcPct val="150000"/>
              </a:lnSpc>
              <a:defRPr/>
            </a:pPr>
            <a:endParaRPr lang="en-US" sz="18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000" kern="0" dirty="0">
              <a:ea typeface="Open Sans" panose="020B0606030504020204" pitchFamily="34" charset="0"/>
              <a:cs typeface="Open Sans" panose="020B0606030504020204" pitchFamily="34" charset="0"/>
            </a:endParaRPr>
          </a:p>
        </p:txBody>
      </p:sp>
      <p:graphicFrame>
        <p:nvGraphicFramePr>
          <p:cNvPr id="4" name="Object 3">
            <a:extLst>
              <a:ext uri="{FF2B5EF4-FFF2-40B4-BE49-F238E27FC236}">
                <a16:creationId xmlns:a16="http://schemas.microsoft.com/office/drawing/2014/main" id="{742CAB2C-4180-46C8-87AA-C74559E63401}"/>
              </a:ext>
            </a:extLst>
          </p:cNvPr>
          <p:cNvGraphicFramePr>
            <a:graphicFrameLocks noChangeAspect="1"/>
          </p:cNvGraphicFramePr>
          <p:nvPr/>
        </p:nvGraphicFramePr>
        <p:xfrm>
          <a:off x="1043608" y="4293096"/>
          <a:ext cx="8303920" cy="1656531"/>
        </p:xfrm>
        <a:graphic>
          <a:graphicData uri="http://schemas.openxmlformats.org/presentationml/2006/ole">
            <mc:AlternateContent xmlns:mc="http://schemas.openxmlformats.org/markup-compatibility/2006">
              <mc:Choice xmlns:v="urn:schemas-microsoft-com:vml" Requires="v">
                <p:oleObj r:id="rId3" imgW="9487941" imgH="1892066" progId="Visio.Drawing.15">
                  <p:embed/>
                </p:oleObj>
              </mc:Choice>
              <mc:Fallback>
                <p:oleObj r:id="rId3" imgW="9487941" imgH="1892066" progId="Visio.Drawing.15">
                  <p:embed/>
                  <p:pic>
                    <p:nvPicPr>
                      <p:cNvPr id="4" name="Object 3">
                        <a:extLst>
                          <a:ext uri="{FF2B5EF4-FFF2-40B4-BE49-F238E27FC236}">
                            <a16:creationId xmlns:a16="http://schemas.microsoft.com/office/drawing/2014/main" id="{742CAB2C-4180-46C8-87AA-C74559E634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8" y="4293096"/>
                        <a:ext cx="8303920" cy="1656531"/>
                      </a:xfrm>
                      <a:prstGeom prst="rect">
                        <a:avLst/>
                      </a:prstGeom>
                      <a:noFill/>
                    </p:spPr>
                  </p:pic>
                </p:oleObj>
              </mc:Fallback>
            </mc:AlternateContent>
          </a:graphicData>
        </a:graphic>
      </p:graphicFrame>
    </p:spTree>
    <p:extLst>
      <p:ext uri="{BB962C8B-B14F-4D97-AF65-F5344CB8AC3E}">
        <p14:creationId xmlns:p14="http://schemas.microsoft.com/office/powerpoint/2010/main" val="19760623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les zones de sabotage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19675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a:solidFill>
                  <a:schemeClr val="tx1"/>
                </a:solidFill>
                <a:ea typeface="Open Sans" panose="020B0606030504020204" pitchFamily="34" charset="0"/>
                <a:cs typeface="Open Sans" panose="020B0606030504020204" pitchFamily="34" charset="0"/>
              </a:rPr>
              <a:t>Avoir une résistance à l’EOL de 2,7 kΩ en tant que circuits principaux</a:t>
            </a:r>
          </a:p>
          <a:p>
            <a:pPr>
              <a:lnSpc>
                <a:spcPct val="150000"/>
              </a:lnSpc>
              <a:defRPr/>
            </a:pPr>
            <a:r>
              <a:rPr lang="en-US" sz="1800" kern="0">
                <a:solidFill>
                  <a:schemeClr val="tx1"/>
                </a:solidFill>
                <a:ea typeface="Open Sans" panose="020B0606030504020204" pitchFamily="34" charset="0"/>
                <a:cs typeface="Open Sans" panose="020B0606030504020204" pitchFamily="34" charset="0"/>
              </a:rPr>
              <a:t>Tous les contacts anti-effraction (contacts de logement) des détecteurs et les boîtiers de raccordement sont inclus dans la zone de sabotage</a:t>
            </a:r>
          </a:p>
          <a:p>
            <a:pPr>
              <a:lnSpc>
                <a:spcPct val="150000"/>
              </a:lnSpc>
              <a:defRPr/>
            </a:pPr>
            <a:r>
              <a:rPr lang="en-US" sz="1800" kern="0">
                <a:solidFill>
                  <a:schemeClr val="tx1"/>
                </a:solidFill>
                <a:ea typeface="Open Sans" panose="020B0606030504020204" pitchFamily="34" charset="0"/>
                <a:cs typeface="Open Sans" panose="020B0606030504020204" pitchFamily="34" charset="0"/>
              </a:rPr>
              <a:t> Une zone peut comprendre un maximum de 20 appareils</a:t>
            </a:r>
          </a:p>
          <a:p>
            <a:pPr>
              <a:lnSpc>
                <a:spcPct val="150000"/>
              </a:lnSpc>
              <a:defRPr/>
            </a:pPr>
            <a:endParaRPr lang="en-US" sz="18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000" kern="0" dirty="0">
              <a:ea typeface="Open Sans" panose="020B0606030504020204" pitchFamily="34" charset="0"/>
              <a:cs typeface="Open Sans" panose="020B0606030504020204" pitchFamily="34" charset="0"/>
            </a:endParaRPr>
          </a:p>
        </p:txBody>
      </p:sp>
      <p:graphicFrame>
        <p:nvGraphicFramePr>
          <p:cNvPr id="4" name="Object 3">
            <a:extLst>
              <a:ext uri="{FF2B5EF4-FFF2-40B4-BE49-F238E27FC236}">
                <a16:creationId xmlns:a16="http://schemas.microsoft.com/office/drawing/2014/main" id="{B778D37D-67B7-46BE-8F0E-EE1360D7FB92}"/>
              </a:ext>
            </a:extLst>
          </p:cNvPr>
          <p:cNvGraphicFramePr>
            <a:graphicFrameLocks noChangeAspect="1"/>
          </p:cNvGraphicFramePr>
          <p:nvPr/>
        </p:nvGraphicFramePr>
        <p:xfrm>
          <a:off x="1187625" y="4004717"/>
          <a:ext cx="7344816" cy="1375324"/>
        </p:xfrm>
        <a:graphic>
          <a:graphicData uri="http://schemas.openxmlformats.org/presentationml/2006/ole">
            <mc:AlternateContent xmlns:mc="http://schemas.openxmlformats.org/markup-compatibility/2006">
              <mc:Choice xmlns:v="urn:schemas-microsoft-com:vml" Requires="v">
                <p:oleObj r:id="rId3" imgW="8410726" imgH="1566263" progId="Visio.Drawing.15">
                  <p:embed/>
                </p:oleObj>
              </mc:Choice>
              <mc:Fallback>
                <p:oleObj r:id="rId3" imgW="8410726" imgH="1566263" progId="Visio.Drawing.15">
                  <p:embed/>
                  <p:pic>
                    <p:nvPicPr>
                      <p:cNvPr id="4" name="Object 3">
                        <a:extLst>
                          <a:ext uri="{FF2B5EF4-FFF2-40B4-BE49-F238E27FC236}">
                            <a16:creationId xmlns:a16="http://schemas.microsoft.com/office/drawing/2014/main" id="{B778D37D-67B7-46BE-8F0E-EE1360D7FB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5" y="4004717"/>
                        <a:ext cx="7344816" cy="1375324"/>
                      </a:xfrm>
                      <a:prstGeom prst="rect">
                        <a:avLst/>
                      </a:prstGeom>
                      <a:noFill/>
                    </p:spPr>
                  </p:pic>
                </p:oleObj>
              </mc:Fallback>
            </mc:AlternateContent>
          </a:graphicData>
        </a:graphic>
      </p:graphicFrame>
    </p:spTree>
    <p:extLst>
      <p:ext uri="{BB962C8B-B14F-4D97-AF65-F5344CB8AC3E}">
        <p14:creationId xmlns:p14="http://schemas.microsoft.com/office/powerpoint/2010/main" val="12371483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Les zones de verrouillage </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412776"/>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err="1">
                <a:solidFill>
                  <a:schemeClr val="tx1"/>
                </a:solidFill>
                <a:ea typeface="Open Sans" panose="020B0606030504020204" pitchFamily="34" charset="0"/>
                <a:cs typeface="Open Sans" panose="020B0606030504020204" pitchFamily="34" charset="0"/>
              </a:rPr>
              <a:t>Sont</a:t>
            </a:r>
            <a:r>
              <a:rPr lang="en-US" sz="1800" kern="0" dirty="0">
                <a:solidFill>
                  <a:schemeClr val="tx1"/>
                </a:solidFill>
                <a:ea typeface="Open Sans" panose="020B0606030504020204" pitchFamily="34" charset="0"/>
                <a:cs typeface="Open Sans" panose="020B0606030504020204" pitchFamily="34" charset="0"/>
              </a:rPr>
              <a:t> des circuits </a:t>
            </a:r>
            <a:r>
              <a:rPr lang="en-US" sz="1800" kern="0" dirty="0" err="1">
                <a:solidFill>
                  <a:schemeClr val="tx1"/>
                </a:solidFill>
                <a:ea typeface="Open Sans" panose="020B0606030504020204" pitchFamily="34" charset="0"/>
                <a:cs typeface="Open Sans" panose="020B0606030504020204" pitchFamily="34" charset="0"/>
              </a:rPr>
              <a:t>secondaires</a:t>
            </a:r>
            <a:r>
              <a:rPr lang="en-US" sz="1800" kern="0" dirty="0">
                <a:solidFill>
                  <a:schemeClr val="tx1"/>
                </a:solidFill>
                <a:ea typeface="Open Sans" panose="020B0606030504020204" pitchFamily="34" charset="0"/>
                <a:cs typeface="Open Sans" panose="020B0606030504020204" pitchFamily="34" charset="0"/>
              </a:rPr>
              <a:t> sans </a:t>
            </a:r>
            <a:r>
              <a:rPr lang="en-US" sz="1800" kern="0" dirty="0" err="1">
                <a:solidFill>
                  <a:schemeClr val="tx1"/>
                </a:solidFill>
                <a:ea typeface="Open Sans" panose="020B0606030504020204" pitchFamily="34" charset="0"/>
                <a:cs typeface="Open Sans" panose="020B0606030504020204" pitchFamily="34" charset="0"/>
              </a:rPr>
              <a:t>résistances</a:t>
            </a:r>
            <a:r>
              <a:rPr lang="en-US" sz="1800" kern="0" dirty="0">
                <a:solidFill>
                  <a:schemeClr val="tx1"/>
                </a:solidFill>
                <a:ea typeface="Open Sans" panose="020B0606030504020204" pitchFamily="34" charset="0"/>
                <a:cs typeface="Open Sans" panose="020B0606030504020204" pitchFamily="34" charset="0"/>
              </a:rPr>
              <a:t> EOL</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Les contacts </a:t>
            </a:r>
            <a:r>
              <a:rPr lang="en-US" sz="1800" kern="0" dirty="0" err="1">
                <a:solidFill>
                  <a:schemeClr val="tx1"/>
                </a:solidFill>
                <a:ea typeface="Open Sans" panose="020B0606030504020204" pitchFamily="34" charset="0"/>
                <a:cs typeface="Open Sans" panose="020B0606030504020204" pitchFamily="34" charset="0"/>
              </a:rPr>
              <a:t>normalement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ouverts</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tous</a:t>
            </a:r>
            <a:r>
              <a:rPr lang="en-US" sz="1800" kern="0" dirty="0">
                <a:solidFill>
                  <a:schemeClr val="tx1"/>
                </a:solidFill>
                <a:ea typeface="Open Sans" panose="020B0606030504020204" pitchFamily="34" charset="0"/>
                <a:cs typeface="Open Sans" panose="020B0606030504020204" pitchFamily="34" charset="0"/>
              </a:rPr>
              <a:t> les contacts de la </a:t>
            </a:r>
            <a:r>
              <a:rPr lang="en-US" sz="1800" kern="0" dirty="0" err="1">
                <a:solidFill>
                  <a:schemeClr val="tx1"/>
                </a:solidFill>
                <a:ea typeface="Open Sans" panose="020B0606030504020204" pitchFamily="34" charset="0"/>
                <a:cs typeface="Open Sans" panose="020B0606030504020204" pitchFamily="34" charset="0"/>
              </a:rPr>
              <a:t>gâche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sont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inclus</a:t>
            </a:r>
            <a:r>
              <a:rPr lang="en-US" sz="1800" kern="0" dirty="0">
                <a:solidFill>
                  <a:schemeClr val="tx1"/>
                </a:solidFill>
                <a:ea typeface="Open Sans" panose="020B0606030504020204" pitchFamily="34" charset="0"/>
                <a:cs typeface="Open Sans" panose="020B0606030504020204" pitchFamily="34" charset="0"/>
              </a:rPr>
              <a:t> dans la zone</a:t>
            </a:r>
          </a:p>
          <a:p>
            <a:pPr>
              <a:lnSpc>
                <a:spcPct val="150000"/>
              </a:lnSpc>
              <a:defRPr/>
            </a:pPr>
            <a:r>
              <a:rPr lang="en-US" sz="1800" kern="0" dirty="0" err="1">
                <a:solidFill>
                  <a:schemeClr val="tx1"/>
                </a:solidFill>
                <a:ea typeface="Open Sans" panose="020B0606030504020204" pitchFamily="34" charset="0"/>
                <a:cs typeface="Open Sans" panose="020B0606030504020204" pitchFamily="34" charset="0"/>
              </a:rPr>
              <a:t>Lors</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l'utilisation</a:t>
            </a:r>
            <a:r>
              <a:rPr lang="en-US" sz="1800" kern="0" dirty="0">
                <a:solidFill>
                  <a:schemeClr val="tx1"/>
                </a:solidFill>
                <a:ea typeface="Open Sans" panose="020B0606030504020204" pitchFamily="34" charset="0"/>
                <a:cs typeface="Open Sans" panose="020B0606030504020204" pitchFamily="34" charset="0"/>
              </a:rPr>
              <a:t> des </a:t>
            </a:r>
            <a:r>
              <a:rPr lang="en-US" sz="1800" kern="0" dirty="0" err="1">
                <a:solidFill>
                  <a:schemeClr val="tx1"/>
                </a:solidFill>
                <a:ea typeface="Open Sans" panose="020B0606030504020204" pitchFamily="34" charset="0"/>
                <a:cs typeface="Open Sans" panose="020B0606030504020204" pitchFamily="34" charset="0"/>
              </a:rPr>
              <a:t>éléments</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verrouillage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l'état</a:t>
            </a:r>
            <a:r>
              <a:rPr lang="en-US" sz="1800" kern="0" dirty="0">
                <a:solidFill>
                  <a:schemeClr val="tx1"/>
                </a:solidFill>
                <a:ea typeface="Open Sans" panose="020B0606030504020204" pitchFamily="34" charset="0"/>
                <a:cs typeface="Open Sans" panose="020B0606030504020204" pitchFamily="34" charset="0"/>
              </a:rPr>
              <a:t> de </a:t>
            </a:r>
            <a:r>
              <a:rPr lang="en-US" sz="1800" kern="0" dirty="0" err="1">
                <a:solidFill>
                  <a:schemeClr val="tx1"/>
                </a:solidFill>
                <a:ea typeface="Open Sans" panose="020B0606030504020204" pitchFamily="34" charset="0"/>
                <a:cs typeface="Open Sans" panose="020B0606030504020204" pitchFamily="34" charset="0"/>
              </a:rPr>
              <a:t>l'élément</a:t>
            </a:r>
            <a:r>
              <a:rPr lang="en-US" sz="1800" kern="0" dirty="0">
                <a:solidFill>
                  <a:schemeClr val="tx1"/>
                </a:solidFill>
                <a:ea typeface="Open Sans" panose="020B0606030504020204" pitchFamily="34" charset="0"/>
                <a:cs typeface="Open Sans" panose="020B0606030504020204" pitchFamily="34" charset="0"/>
              </a:rPr>
              <a:t> doit </a:t>
            </a:r>
            <a:r>
              <a:rPr lang="en-US" sz="1800" kern="0" dirty="0" err="1">
                <a:solidFill>
                  <a:schemeClr val="tx1"/>
                </a:solidFill>
                <a:ea typeface="Open Sans" panose="020B0606030504020204" pitchFamily="34" charset="0"/>
                <a:cs typeface="Open Sans" panose="020B0606030504020204" pitchFamily="34" charset="0"/>
              </a:rPr>
              <a:t>être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surveillé</a:t>
            </a:r>
            <a:r>
              <a:rPr lang="en-US" sz="1800" kern="0" dirty="0">
                <a:solidFill>
                  <a:schemeClr val="tx1"/>
                </a:solidFill>
                <a:ea typeface="Open Sans" panose="020B0606030504020204" pitchFamily="34" charset="0"/>
                <a:cs typeface="Open Sans" panose="020B0606030504020204" pitchFamily="34" charset="0"/>
              </a:rPr>
              <a:t> et </a:t>
            </a:r>
            <a:r>
              <a:rPr lang="en-US" sz="1800" kern="0" dirty="0" err="1">
                <a:solidFill>
                  <a:schemeClr val="tx1"/>
                </a:solidFill>
                <a:ea typeface="Open Sans" panose="020B0606030504020204" pitchFamily="34" charset="0"/>
                <a:cs typeface="Open Sans" panose="020B0606030504020204" pitchFamily="34" charset="0"/>
              </a:rPr>
              <a:t>inclus</a:t>
            </a:r>
            <a:r>
              <a:rPr lang="en-US" sz="1800" kern="0" dirty="0">
                <a:solidFill>
                  <a:schemeClr val="tx1"/>
                </a:solidFill>
                <a:ea typeface="Open Sans" panose="020B0606030504020204" pitchFamily="34" charset="0"/>
                <a:cs typeface="Open Sans" panose="020B0606030504020204" pitchFamily="34" charset="0"/>
              </a:rPr>
              <a:t> dans la zone</a:t>
            </a:r>
          </a:p>
          <a:p>
            <a:pPr>
              <a:lnSpc>
                <a:spcPct val="150000"/>
              </a:lnSpc>
              <a:defRPr/>
            </a:pPr>
            <a:endParaRPr lang="en-US" sz="18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000" kern="0" dirty="0">
              <a:ea typeface="Open Sans" panose="020B0606030504020204" pitchFamily="34" charset="0"/>
              <a:cs typeface="Open Sans" panose="020B0606030504020204" pitchFamily="34" charset="0"/>
            </a:endParaRPr>
          </a:p>
        </p:txBody>
      </p:sp>
      <p:graphicFrame>
        <p:nvGraphicFramePr>
          <p:cNvPr id="4" name="Object 3">
            <a:extLst>
              <a:ext uri="{FF2B5EF4-FFF2-40B4-BE49-F238E27FC236}">
                <a16:creationId xmlns:a16="http://schemas.microsoft.com/office/drawing/2014/main" id="{0F240D53-2DB5-44C2-9FED-CD4B8984832B}"/>
              </a:ext>
            </a:extLst>
          </p:cNvPr>
          <p:cNvGraphicFramePr>
            <a:graphicFrameLocks noChangeAspect="1"/>
          </p:cNvGraphicFramePr>
          <p:nvPr/>
        </p:nvGraphicFramePr>
        <p:xfrm>
          <a:off x="1037663" y="4365104"/>
          <a:ext cx="7501242" cy="1404615"/>
        </p:xfrm>
        <a:graphic>
          <a:graphicData uri="http://schemas.openxmlformats.org/presentationml/2006/ole">
            <mc:AlternateContent xmlns:mc="http://schemas.openxmlformats.org/markup-compatibility/2006">
              <mc:Choice xmlns:v="urn:schemas-microsoft-com:vml" Requires="v">
                <p:oleObj r:id="rId3" imgW="8139236" imgH="1521023" progId="Visio.Drawing.15">
                  <p:embed/>
                </p:oleObj>
              </mc:Choice>
              <mc:Fallback>
                <p:oleObj r:id="rId3" imgW="8139236" imgH="1521023" progId="Visio.Drawing.15">
                  <p:embed/>
                  <p:pic>
                    <p:nvPicPr>
                      <p:cNvPr id="4" name="Object 3">
                        <a:extLst>
                          <a:ext uri="{FF2B5EF4-FFF2-40B4-BE49-F238E27FC236}">
                            <a16:creationId xmlns:a16="http://schemas.microsoft.com/office/drawing/2014/main" id="{0F240D53-2DB5-44C2-9FED-CD4B898483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7663" y="4365104"/>
                        <a:ext cx="7501242" cy="1404615"/>
                      </a:xfrm>
                      <a:prstGeom prst="rect">
                        <a:avLst/>
                      </a:prstGeom>
                      <a:noFill/>
                    </p:spPr>
                  </p:pic>
                </p:oleObj>
              </mc:Fallback>
            </mc:AlternateContent>
          </a:graphicData>
        </a:graphic>
      </p:graphicFrame>
    </p:spTree>
    <p:extLst>
      <p:ext uri="{BB962C8B-B14F-4D97-AF65-F5344CB8AC3E}">
        <p14:creationId xmlns:p14="http://schemas.microsoft.com/office/powerpoint/2010/main" val="32596825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Les zones activées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3" y="134146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err="1">
                <a:solidFill>
                  <a:schemeClr val="tx1"/>
                </a:solidFill>
                <a:ea typeface="Open Sans" panose="020B0606030504020204" pitchFamily="34" charset="0"/>
                <a:cs typeface="Open Sans" panose="020B0606030504020204" pitchFamily="34" charset="0"/>
              </a:rPr>
              <a:t>Implémenté</a:t>
            </a:r>
            <a:r>
              <a:rPr lang="en-US" sz="1800" kern="0" dirty="0">
                <a:solidFill>
                  <a:schemeClr val="tx1"/>
                </a:solidFill>
                <a:ea typeface="Open Sans" panose="020B0606030504020204" pitchFamily="34" charset="0"/>
                <a:cs typeface="Open Sans" panose="020B0606030504020204" pitchFamily="34" charset="0"/>
              </a:rPr>
              <a:t> avec </a:t>
            </a:r>
            <a:r>
              <a:rPr lang="en-US" sz="1800" kern="0" dirty="0" err="1">
                <a:solidFill>
                  <a:schemeClr val="tx1"/>
                </a:solidFill>
                <a:ea typeface="Open Sans" panose="020B0606030504020204" pitchFamily="34" charset="0"/>
                <a:cs typeface="Open Sans" panose="020B0606030504020204" pitchFamily="34" charset="0"/>
              </a:rPr>
              <a:t>une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résistance</a:t>
            </a:r>
            <a:r>
              <a:rPr lang="en-US" sz="1800" kern="0" dirty="0">
                <a:solidFill>
                  <a:schemeClr val="tx1"/>
                </a:solidFill>
                <a:ea typeface="Open Sans" panose="020B0606030504020204" pitchFamily="34" charset="0"/>
                <a:cs typeface="Open Sans" panose="020B0606030504020204" pitchFamily="34" charset="0"/>
              </a:rPr>
              <a:t> à </a:t>
            </a:r>
            <a:r>
              <a:rPr lang="en-US" sz="1800" kern="0" dirty="0" err="1">
                <a:solidFill>
                  <a:schemeClr val="tx1"/>
                </a:solidFill>
                <a:ea typeface="Open Sans" panose="020B0606030504020204" pitchFamily="34" charset="0"/>
                <a:cs typeface="Open Sans" panose="020B0606030504020204" pitchFamily="34" charset="0"/>
              </a:rPr>
              <a:t>l'EOL</a:t>
            </a:r>
            <a:r>
              <a:rPr lang="en-US" sz="1800" kern="0" dirty="0">
                <a:solidFill>
                  <a:schemeClr val="tx1"/>
                </a:solidFill>
                <a:ea typeface="Open Sans" panose="020B0606030504020204" pitchFamily="34" charset="0"/>
                <a:cs typeface="Open Sans" panose="020B0606030504020204" pitchFamily="34" charset="0"/>
              </a:rPr>
              <a:t> de 2,7kΩ </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Un court-circuit </a:t>
            </a:r>
            <a:r>
              <a:rPr lang="en-US" sz="1800" kern="0" dirty="0" err="1">
                <a:solidFill>
                  <a:schemeClr val="tx1"/>
                </a:solidFill>
                <a:ea typeface="Open Sans" panose="020B0606030504020204" pitchFamily="34" charset="0"/>
                <a:cs typeface="Open Sans" panose="020B0606030504020204" pitchFamily="34" charset="0"/>
              </a:rPr>
              <a:t>ou</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une</a:t>
            </a:r>
            <a:r>
              <a:rPr lang="en-US" sz="1800" kern="0" dirty="0">
                <a:solidFill>
                  <a:schemeClr val="tx1"/>
                </a:solidFill>
                <a:ea typeface="Open Sans" panose="020B0606030504020204" pitchFamily="34" charset="0"/>
                <a:cs typeface="Open Sans" panose="020B0606030504020204" pitchFamily="34" charset="0"/>
              </a:rPr>
              <a:t> interruption conduit au </a:t>
            </a:r>
            <a:r>
              <a:rPr lang="en-US" sz="1800" kern="0" dirty="0" err="1">
                <a:solidFill>
                  <a:schemeClr val="tx1"/>
                </a:solidFill>
                <a:ea typeface="Open Sans" panose="020B0606030504020204" pitchFamily="34" charset="0"/>
                <a:cs typeface="Open Sans" panose="020B0606030504020204" pitchFamily="34" charset="0"/>
              </a:rPr>
              <a:t>renforcement</a:t>
            </a:r>
            <a:r>
              <a:rPr lang="en-US" sz="1800" kern="0" dirty="0">
                <a:solidFill>
                  <a:schemeClr val="tx1"/>
                </a:solidFill>
                <a:ea typeface="Open Sans" panose="020B0606030504020204" pitchFamily="34" charset="0"/>
                <a:cs typeface="Open Sans" panose="020B0606030504020204" pitchFamily="34" charset="0"/>
              </a:rPr>
              <a:t> du </a:t>
            </a:r>
            <a:r>
              <a:rPr lang="en-US" sz="1800" kern="0" dirty="0" err="1">
                <a:solidFill>
                  <a:schemeClr val="tx1"/>
                </a:solidFill>
                <a:ea typeface="Open Sans" panose="020B0606030504020204" pitchFamily="34" charset="0"/>
                <a:cs typeface="Open Sans" panose="020B0606030504020204" pitchFamily="34" charset="0"/>
              </a:rPr>
              <a:t>système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d'alarme</a:t>
            </a:r>
            <a:r>
              <a:rPr lang="en-US" sz="1800" kern="0" dirty="0">
                <a:solidFill>
                  <a:schemeClr val="tx1"/>
                </a:solidFill>
                <a:ea typeface="Open Sans" panose="020B0606030504020204" pitchFamily="34" charset="0"/>
                <a:cs typeface="Open Sans" panose="020B0606030504020204" pitchFamily="34" charset="0"/>
              </a:rPr>
              <a:t> anti-intrusion</a:t>
            </a:r>
          </a:p>
          <a:p>
            <a:pPr>
              <a:lnSpc>
                <a:spcPct val="150000"/>
              </a:lnSpc>
              <a:defRPr/>
            </a:pPr>
            <a:endParaRPr lang="en-US" sz="700" kern="0" dirty="0">
              <a:solidFill>
                <a:schemeClr val="tx1"/>
              </a:solidFill>
              <a:ea typeface="Open Sans" panose="020B0606030504020204" pitchFamily="34" charset="0"/>
              <a:cs typeface="Open Sans" panose="020B0606030504020204" pitchFamily="34" charset="0"/>
            </a:endParaRPr>
          </a:p>
          <a:p>
            <a:pPr marL="0" indent="0">
              <a:lnSpc>
                <a:spcPct val="150000"/>
              </a:lnSpc>
              <a:buNone/>
              <a:defRPr/>
            </a:pPr>
            <a:endParaRPr lang="en-US" sz="1800" kern="0" dirty="0">
              <a:ea typeface="Open Sans" panose="020B0606030504020204" pitchFamily="34" charset="0"/>
              <a:cs typeface="Open Sans" panose="020B0606030504020204" pitchFamily="34" charset="0"/>
            </a:endParaRPr>
          </a:p>
          <a:p>
            <a:pPr marL="0" indent="0">
              <a:lnSpc>
                <a:spcPct val="150000"/>
              </a:lnSpc>
              <a:buNone/>
              <a:defRPr/>
            </a:pPr>
            <a:endParaRPr lang="en-US" sz="1800" kern="0" dirty="0">
              <a:ea typeface="Open Sans" panose="020B0606030504020204" pitchFamily="34" charset="0"/>
              <a:cs typeface="Open Sans" panose="020B0606030504020204" pitchFamily="34" charset="0"/>
            </a:endParaRPr>
          </a:p>
          <a:p>
            <a:pPr>
              <a:lnSpc>
                <a:spcPct val="150000"/>
              </a:lnSpc>
              <a:defRPr/>
            </a:pPr>
            <a:r>
              <a:rPr lang="en-US" sz="1800" kern="0" dirty="0" err="1">
                <a:solidFill>
                  <a:schemeClr val="tx1"/>
                </a:solidFill>
                <a:ea typeface="Open Sans" panose="020B0606030504020204" pitchFamily="34" charset="0"/>
                <a:cs typeface="Open Sans" panose="020B0606030504020204" pitchFamily="34" charset="0"/>
              </a:rPr>
              <a:t>Alternativement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une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résistance</a:t>
            </a:r>
            <a:r>
              <a:rPr lang="en-US" sz="1800" kern="0" dirty="0">
                <a:solidFill>
                  <a:schemeClr val="tx1"/>
                </a:solidFill>
                <a:ea typeface="Open Sans" panose="020B0606030504020204" pitchFamily="34" charset="0"/>
                <a:cs typeface="Open Sans" panose="020B0606030504020204" pitchFamily="34" charset="0"/>
              </a:rPr>
              <a:t> de 560 Ω </a:t>
            </a:r>
            <a:r>
              <a:rPr lang="en-US" sz="1800" kern="0" dirty="0" err="1">
                <a:solidFill>
                  <a:schemeClr val="tx1"/>
                </a:solidFill>
                <a:ea typeface="Open Sans" panose="020B0606030504020204" pitchFamily="34" charset="0"/>
                <a:cs typeface="Open Sans" panose="020B0606030504020204" pitchFamily="34" charset="0"/>
              </a:rPr>
              <a:t>peut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être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ajoutée</a:t>
            </a:r>
            <a:r>
              <a:rPr lang="en-US" sz="1800" kern="0" dirty="0">
                <a:solidFill>
                  <a:schemeClr val="tx1"/>
                </a:solidFill>
                <a:ea typeface="Open Sans" panose="020B0606030504020204" pitchFamily="34" charset="0"/>
                <a:cs typeface="Open Sans" panose="020B0606030504020204" pitchFamily="34" charset="0"/>
              </a:rPr>
              <a:t> dans la </a:t>
            </a:r>
            <a:r>
              <a:rPr lang="en-US" sz="1800" kern="0" dirty="0" err="1">
                <a:solidFill>
                  <a:schemeClr val="tx1"/>
                </a:solidFill>
                <a:ea typeface="Open Sans" panose="020B0606030504020204" pitchFamily="34" charset="0"/>
                <a:cs typeface="Open Sans" panose="020B0606030504020204" pitchFamily="34" charset="0"/>
              </a:rPr>
              <a:t>série</a:t>
            </a:r>
            <a:r>
              <a:rPr lang="en-US" sz="1800" kern="0" dirty="0">
                <a:solidFill>
                  <a:schemeClr val="tx1"/>
                </a:solidFill>
                <a:ea typeface="Open Sans" panose="020B0606030504020204" pitchFamily="34" charset="0"/>
                <a:cs typeface="Open Sans" panose="020B0606030504020204" pitchFamily="34" charset="0"/>
              </a:rPr>
              <a:t> A court-circuit </a:t>
            </a:r>
            <a:r>
              <a:rPr lang="en-US" sz="1800" kern="0" dirty="0" err="1">
                <a:solidFill>
                  <a:schemeClr val="tx1"/>
                </a:solidFill>
                <a:ea typeface="Open Sans" panose="020B0606030504020204" pitchFamily="34" charset="0"/>
                <a:cs typeface="Open Sans" panose="020B0606030504020204" pitchFamily="34" charset="0"/>
              </a:rPr>
              <a:t>ou</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une</a:t>
            </a:r>
            <a:r>
              <a:rPr lang="en-US" sz="1800" kern="0" dirty="0">
                <a:solidFill>
                  <a:schemeClr val="tx1"/>
                </a:solidFill>
                <a:ea typeface="Open Sans" panose="020B0606030504020204" pitchFamily="34" charset="0"/>
                <a:cs typeface="Open Sans" panose="020B0606030504020204" pitchFamily="34" charset="0"/>
              </a:rPr>
              <a:t> perturbation conduit à </a:t>
            </a:r>
            <a:r>
              <a:rPr lang="en-US" sz="1800" kern="0" dirty="0" err="1">
                <a:solidFill>
                  <a:schemeClr val="tx1"/>
                </a:solidFill>
                <a:ea typeface="Open Sans" panose="020B0606030504020204" pitchFamily="34" charset="0"/>
                <a:cs typeface="Open Sans" panose="020B0606030504020204" pitchFamily="34" charset="0"/>
              </a:rPr>
              <a:t>une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alarme</a:t>
            </a:r>
            <a:r>
              <a:rPr lang="en-US" sz="1800" kern="0" dirty="0">
                <a:solidFill>
                  <a:schemeClr val="tx1"/>
                </a:solidFill>
                <a:ea typeface="Open Sans" panose="020B0606030504020204" pitchFamily="34" charset="0"/>
                <a:cs typeface="Open Sans" panose="020B0606030504020204" pitchFamily="34" charset="0"/>
              </a:rPr>
              <a:t> de sabotage</a:t>
            </a:r>
          </a:p>
          <a:p>
            <a:pPr>
              <a:lnSpc>
                <a:spcPct val="150000"/>
              </a:lnSpc>
              <a:defRPr/>
            </a:pPr>
            <a:endParaRPr lang="en-US" sz="18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000" kern="0" dirty="0">
              <a:ea typeface="Open Sans" panose="020B0606030504020204" pitchFamily="34" charset="0"/>
              <a:cs typeface="Open Sans" panose="020B0606030504020204" pitchFamily="34" charset="0"/>
            </a:endParaRPr>
          </a:p>
        </p:txBody>
      </p:sp>
      <p:pic>
        <p:nvPicPr>
          <p:cNvPr id="2" name="Picture 1">
            <a:extLst>
              <a:ext uri="{FF2B5EF4-FFF2-40B4-BE49-F238E27FC236}">
                <a16:creationId xmlns:a16="http://schemas.microsoft.com/office/drawing/2014/main" id="{2F0A9E7A-7C4F-4181-8A0A-C4C7715DAC52}"/>
              </a:ext>
            </a:extLst>
          </p:cNvPr>
          <p:cNvPicPr>
            <a:picLocks noChangeAspect="1"/>
          </p:cNvPicPr>
          <p:nvPr/>
        </p:nvPicPr>
        <p:blipFill>
          <a:blip r:embed="rId3"/>
          <a:stretch>
            <a:fillRect/>
          </a:stretch>
        </p:blipFill>
        <p:spPr>
          <a:xfrm>
            <a:off x="1776762" y="2806929"/>
            <a:ext cx="6551128" cy="982111"/>
          </a:xfrm>
          <a:prstGeom prst="rect">
            <a:avLst/>
          </a:prstGeom>
        </p:spPr>
      </p:pic>
      <p:graphicFrame>
        <p:nvGraphicFramePr>
          <p:cNvPr id="5" name="Object 4">
            <a:extLst>
              <a:ext uri="{FF2B5EF4-FFF2-40B4-BE49-F238E27FC236}">
                <a16:creationId xmlns:a16="http://schemas.microsoft.com/office/drawing/2014/main" id="{9235F612-FC3F-485E-B9B3-7CE683E0B6F0}"/>
              </a:ext>
            </a:extLst>
          </p:cNvPr>
          <p:cNvGraphicFramePr>
            <a:graphicFrameLocks noChangeAspect="1"/>
          </p:cNvGraphicFramePr>
          <p:nvPr/>
        </p:nvGraphicFramePr>
        <p:xfrm>
          <a:off x="1776762" y="5443293"/>
          <a:ext cx="6449571" cy="794019"/>
        </p:xfrm>
        <a:graphic>
          <a:graphicData uri="http://schemas.openxmlformats.org/presentationml/2006/ole">
            <mc:AlternateContent xmlns:mc="http://schemas.openxmlformats.org/markup-compatibility/2006">
              <mc:Choice xmlns:v="urn:schemas-microsoft-com:vml" Requires="v">
                <p:oleObj r:id="rId4" imgW="9759795" imgH="1186099" progId="Visio.Drawing.15">
                  <p:embed/>
                </p:oleObj>
              </mc:Choice>
              <mc:Fallback>
                <p:oleObj r:id="rId4" imgW="9759795" imgH="1186099" progId="Visio.Drawing.15">
                  <p:embed/>
                  <p:pic>
                    <p:nvPicPr>
                      <p:cNvPr id="5" name="Object 4">
                        <a:extLst>
                          <a:ext uri="{FF2B5EF4-FFF2-40B4-BE49-F238E27FC236}">
                            <a16:creationId xmlns:a16="http://schemas.microsoft.com/office/drawing/2014/main" id="{9235F612-FC3F-485E-B9B3-7CE683E0B6F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76762" y="5443293"/>
                        <a:ext cx="6449571" cy="794019"/>
                      </a:xfrm>
                      <a:prstGeom prst="rect">
                        <a:avLst/>
                      </a:prstGeom>
                      <a:noFill/>
                    </p:spPr>
                  </p:pic>
                </p:oleObj>
              </mc:Fallback>
            </mc:AlternateContent>
          </a:graphicData>
        </a:graphic>
      </p:graphicFrame>
    </p:spTree>
    <p:extLst>
      <p:ext uri="{BB962C8B-B14F-4D97-AF65-F5344CB8AC3E}">
        <p14:creationId xmlns:p14="http://schemas.microsoft.com/office/powerpoint/2010/main" val="28231611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Les zones de panique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3" y="1412776"/>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err="1">
                <a:solidFill>
                  <a:schemeClr val="tx1"/>
                </a:solidFill>
                <a:ea typeface="Open Sans" panose="020B0606030504020204" pitchFamily="34" charset="0"/>
                <a:cs typeface="Open Sans" panose="020B0606030504020204" pitchFamily="34" charset="0"/>
              </a:rPr>
              <a:t>Implémenté</a:t>
            </a:r>
            <a:r>
              <a:rPr lang="en-US" sz="2000" kern="0" dirty="0">
                <a:solidFill>
                  <a:schemeClr val="tx1"/>
                </a:solidFill>
                <a:ea typeface="Open Sans" panose="020B0606030504020204" pitchFamily="34" charset="0"/>
                <a:cs typeface="Open Sans" panose="020B0606030504020204" pitchFamily="34" charset="0"/>
              </a:rPr>
              <a:t> avec </a:t>
            </a:r>
            <a:r>
              <a:rPr lang="en-US" sz="2000" kern="0" dirty="0" err="1">
                <a:solidFill>
                  <a:schemeClr val="tx1"/>
                </a:solidFill>
                <a:ea typeface="Open Sans" panose="020B0606030504020204" pitchFamily="34" charset="0"/>
                <a:cs typeface="Open Sans" panose="020B0606030504020204" pitchFamily="34" charset="0"/>
              </a:rPr>
              <a:t>une</a:t>
            </a:r>
            <a:r>
              <a:rPr lang="en-US" sz="2000" kern="0" dirty="0">
                <a:solidFill>
                  <a:schemeClr val="tx1"/>
                </a:solidFill>
                <a:ea typeface="Open Sans" panose="020B0606030504020204" pitchFamily="34" charset="0"/>
                <a:cs typeface="Open Sans" panose="020B0606030504020204" pitchFamily="34" charset="0"/>
              </a:rPr>
              <a:t> </a:t>
            </a:r>
            <a:r>
              <a:rPr lang="en-US" sz="2000" kern="0" dirty="0" err="1">
                <a:solidFill>
                  <a:schemeClr val="tx1"/>
                </a:solidFill>
                <a:ea typeface="Open Sans" panose="020B0606030504020204" pitchFamily="34" charset="0"/>
                <a:cs typeface="Open Sans" panose="020B0606030504020204" pitchFamily="34" charset="0"/>
              </a:rPr>
              <a:t>résistance</a:t>
            </a:r>
            <a:r>
              <a:rPr lang="en-US" sz="2000" kern="0" dirty="0">
                <a:solidFill>
                  <a:schemeClr val="tx1"/>
                </a:solidFill>
                <a:ea typeface="Open Sans" panose="020B0606030504020204" pitchFamily="34" charset="0"/>
                <a:cs typeface="Open Sans" panose="020B0606030504020204" pitchFamily="34" charset="0"/>
              </a:rPr>
              <a:t> à </a:t>
            </a:r>
            <a:r>
              <a:rPr lang="en-US" sz="2000" kern="0" dirty="0" err="1">
                <a:solidFill>
                  <a:schemeClr val="tx1"/>
                </a:solidFill>
                <a:ea typeface="Open Sans" panose="020B0606030504020204" pitchFamily="34" charset="0"/>
                <a:cs typeface="Open Sans" panose="020B0606030504020204" pitchFamily="34" charset="0"/>
              </a:rPr>
              <a:t>l’EOL</a:t>
            </a:r>
            <a:r>
              <a:rPr lang="en-US" sz="2000" kern="0" dirty="0">
                <a:solidFill>
                  <a:schemeClr val="tx1"/>
                </a:solidFill>
                <a:ea typeface="Open Sans" panose="020B0606030504020204" pitchFamily="34" charset="0"/>
                <a:cs typeface="Open Sans" panose="020B0606030504020204" pitchFamily="34" charset="0"/>
              </a:rPr>
              <a:t> de 2,7 </a:t>
            </a:r>
            <a:r>
              <a:rPr lang="en-US" sz="2000" kern="0" dirty="0" err="1">
                <a:solidFill>
                  <a:schemeClr val="tx1"/>
                </a:solidFill>
                <a:ea typeface="Open Sans" panose="020B0606030504020204" pitchFamily="34" charset="0"/>
                <a:cs typeface="Open Sans" panose="020B0606030504020204" pitchFamily="34" charset="0"/>
              </a:rPr>
              <a:t>kΩ</a:t>
            </a:r>
            <a:endParaRPr lang="en-US" sz="20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La perturbation </a:t>
            </a:r>
            <a:r>
              <a:rPr lang="en-US" sz="2000" kern="0" dirty="0" err="1">
                <a:solidFill>
                  <a:schemeClr val="tx1"/>
                </a:solidFill>
                <a:ea typeface="Open Sans" panose="020B0606030504020204" pitchFamily="34" charset="0"/>
                <a:cs typeface="Open Sans" panose="020B0606030504020204" pitchFamily="34" charset="0"/>
              </a:rPr>
              <a:t>d'une</a:t>
            </a:r>
            <a:r>
              <a:rPr lang="en-US" sz="2000" kern="0" dirty="0">
                <a:solidFill>
                  <a:schemeClr val="tx1"/>
                </a:solidFill>
                <a:ea typeface="Open Sans" panose="020B0606030504020204" pitchFamily="34" charset="0"/>
                <a:cs typeface="Open Sans" panose="020B0606030504020204" pitchFamily="34" charset="0"/>
              </a:rPr>
              <a:t> zone de </a:t>
            </a:r>
            <a:r>
              <a:rPr lang="en-US" sz="2000" kern="0" dirty="0" err="1">
                <a:solidFill>
                  <a:schemeClr val="tx1"/>
                </a:solidFill>
                <a:ea typeface="Open Sans" panose="020B0606030504020204" pitchFamily="34" charset="0"/>
                <a:cs typeface="Open Sans" panose="020B0606030504020204" pitchFamily="34" charset="0"/>
              </a:rPr>
              <a:t>panique</a:t>
            </a:r>
            <a:r>
              <a:rPr lang="en-US" sz="2000" kern="0" dirty="0">
                <a:solidFill>
                  <a:schemeClr val="tx1"/>
                </a:solidFill>
                <a:ea typeface="Open Sans" panose="020B0606030504020204" pitchFamily="34" charset="0"/>
                <a:cs typeface="Open Sans" panose="020B0606030504020204" pitchFamily="34" charset="0"/>
              </a:rPr>
              <a:t> </a:t>
            </a:r>
            <a:r>
              <a:rPr lang="en-US" sz="2000" kern="0" dirty="0" err="1">
                <a:solidFill>
                  <a:schemeClr val="tx1"/>
                </a:solidFill>
                <a:ea typeface="Open Sans" panose="020B0606030504020204" pitchFamily="34" charset="0"/>
                <a:cs typeface="Open Sans" panose="020B0606030504020204" pitchFamily="34" charset="0"/>
              </a:rPr>
              <a:t>entraîne</a:t>
            </a:r>
            <a:r>
              <a:rPr lang="en-US" sz="2000" kern="0" dirty="0">
                <a:solidFill>
                  <a:schemeClr val="tx1"/>
                </a:solidFill>
                <a:ea typeface="Open Sans" panose="020B0606030504020204" pitchFamily="34" charset="0"/>
                <a:cs typeface="Open Sans" panose="020B0606030504020204" pitchFamily="34" charset="0"/>
              </a:rPr>
              <a:t> </a:t>
            </a:r>
            <a:r>
              <a:rPr lang="en-US" sz="2000" kern="0" dirty="0" err="1">
                <a:solidFill>
                  <a:schemeClr val="tx1"/>
                </a:solidFill>
                <a:ea typeface="Open Sans" panose="020B0606030504020204" pitchFamily="34" charset="0"/>
                <a:cs typeface="Open Sans" panose="020B0606030504020204" pitchFamily="34" charset="0"/>
              </a:rPr>
              <a:t>toujours</a:t>
            </a:r>
            <a:r>
              <a:rPr lang="en-US" sz="2000" kern="0" dirty="0">
                <a:solidFill>
                  <a:schemeClr val="tx1"/>
                </a:solidFill>
                <a:ea typeface="Open Sans" panose="020B0606030504020204" pitchFamily="34" charset="0"/>
                <a:cs typeface="Open Sans" panose="020B0606030504020204" pitchFamily="34" charset="0"/>
              </a:rPr>
              <a:t> le </a:t>
            </a:r>
            <a:r>
              <a:rPr lang="en-US" sz="2000" kern="0" dirty="0" err="1">
                <a:solidFill>
                  <a:schemeClr val="tx1"/>
                </a:solidFill>
                <a:ea typeface="Open Sans" panose="020B0606030504020204" pitchFamily="34" charset="0"/>
                <a:cs typeface="Open Sans" panose="020B0606030504020204" pitchFamily="34" charset="0"/>
              </a:rPr>
              <a:t>déclenchement</a:t>
            </a:r>
            <a:r>
              <a:rPr lang="en-US" sz="2000" kern="0" dirty="0">
                <a:solidFill>
                  <a:schemeClr val="tx1"/>
                </a:solidFill>
                <a:ea typeface="Open Sans" panose="020B0606030504020204" pitchFamily="34" charset="0"/>
                <a:cs typeface="Open Sans" panose="020B0606030504020204" pitchFamily="34" charset="0"/>
              </a:rPr>
              <a:t> </a:t>
            </a:r>
            <a:r>
              <a:rPr lang="en-US" sz="2000" kern="0" dirty="0" err="1">
                <a:solidFill>
                  <a:schemeClr val="tx1"/>
                </a:solidFill>
                <a:ea typeface="Open Sans" panose="020B0606030504020204" pitchFamily="34" charset="0"/>
                <a:cs typeface="Open Sans" panose="020B0606030504020204" pitchFamily="34" charset="0"/>
              </a:rPr>
              <a:t>d'une</a:t>
            </a:r>
            <a:r>
              <a:rPr lang="en-US" sz="2000" kern="0" dirty="0">
                <a:solidFill>
                  <a:schemeClr val="tx1"/>
                </a:solidFill>
                <a:ea typeface="Open Sans" panose="020B0606030504020204" pitchFamily="34" charset="0"/>
                <a:cs typeface="Open Sans" panose="020B0606030504020204" pitchFamily="34" charset="0"/>
              </a:rPr>
              <a:t> </a:t>
            </a:r>
            <a:r>
              <a:rPr lang="en-US" sz="2000" kern="0" dirty="0" err="1">
                <a:solidFill>
                  <a:schemeClr val="tx1"/>
                </a:solidFill>
                <a:ea typeface="Open Sans" panose="020B0606030504020204" pitchFamily="34" charset="0"/>
                <a:cs typeface="Open Sans" panose="020B0606030504020204" pitchFamily="34" charset="0"/>
              </a:rPr>
              <a:t>alarme</a:t>
            </a:r>
            <a:r>
              <a:rPr lang="en-US" sz="2000" kern="0" dirty="0">
                <a:solidFill>
                  <a:schemeClr val="tx1"/>
                </a:solidFill>
                <a:ea typeface="Open Sans" panose="020B0606030504020204" pitchFamily="34" charset="0"/>
                <a:cs typeface="Open Sans" panose="020B0606030504020204" pitchFamily="34" charset="0"/>
              </a:rPr>
              <a:t> à distance</a:t>
            </a: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graphicFrame>
        <p:nvGraphicFramePr>
          <p:cNvPr id="4" name="Object 3">
            <a:extLst>
              <a:ext uri="{FF2B5EF4-FFF2-40B4-BE49-F238E27FC236}">
                <a16:creationId xmlns:a16="http://schemas.microsoft.com/office/drawing/2014/main" id="{85B0F89C-98E0-4711-A394-97D77674A2E3}"/>
              </a:ext>
            </a:extLst>
          </p:cNvPr>
          <p:cNvGraphicFramePr>
            <a:graphicFrameLocks noChangeAspect="1"/>
          </p:cNvGraphicFramePr>
          <p:nvPr/>
        </p:nvGraphicFramePr>
        <p:xfrm>
          <a:off x="1072751" y="3573016"/>
          <a:ext cx="6874200" cy="1512168"/>
        </p:xfrm>
        <a:graphic>
          <a:graphicData uri="http://schemas.openxmlformats.org/presentationml/2006/ole">
            <mc:AlternateContent xmlns:mc="http://schemas.openxmlformats.org/markup-compatibility/2006">
              <mc:Choice xmlns:v="urn:schemas-microsoft-com:vml" Requires="v">
                <p:oleObj r:id="rId3" imgW="8410726" imgH="1846826" progId="Visio.Drawing.15">
                  <p:embed/>
                </p:oleObj>
              </mc:Choice>
              <mc:Fallback>
                <p:oleObj r:id="rId3" imgW="8410726" imgH="1846826" progId="Visio.Drawing.15">
                  <p:embed/>
                  <p:pic>
                    <p:nvPicPr>
                      <p:cNvPr id="4" name="Object 3">
                        <a:extLst>
                          <a:ext uri="{FF2B5EF4-FFF2-40B4-BE49-F238E27FC236}">
                            <a16:creationId xmlns:a16="http://schemas.microsoft.com/office/drawing/2014/main" id="{85B0F89C-98E0-4711-A394-97D77674A2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2751" y="3573016"/>
                        <a:ext cx="6874200" cy="1512168"/>
                      </a:xfrm>
                      <a:prstGeom prst="rect">
                        <a:avLst/>
                      </a:prstGeom>
                      <a:noFill/>
                    </p:spPr>
                  </p:pic>
                </p:oleObj>
              </mc:Fallback>
            </mc:AlternateContent>
          </a:graphicData>
        </a:graphic>
      </p:graphicFrame>
    </p:spTree>
    <p:extLst>
      <p:ext uri="{BB962C8B-B14F-4D97-AF65-F5344CB8AC3E}">
        <p14:creationId xmlns:p14="http://schemas.microsoft.com/office/powerpoint/2010/main" val="39464494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Les signaux d'alarme locaux externes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340768"/>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Un court-circuit </a:t>
            </a:r>
            <a:r>
              <a:rPr lang="en-US" sz="1800" kern="0" dirty="0" err="1">
                <a:solidFill>
                  <a:schemeClr val="tx1"/>
                </a:solidFill>
                <a:ea typeface="Open Sans" panose="020B0606030504020204" pitchFamily="34" charset="0"/>
                <a:cs typeface="Open Sans" panose="020B0606030504020204" pitchFamily="34" charset="0"/>
              </a:rPr>
              <a:t>ou</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une</a:t>
            </a:r>
            <a:r>
              <a:rPr lang="en-US" sz="1800" kern="0" dirty="0">
                <a:solidFill>
                  <a:schemeClr val="tx1"/>
                </a:solidFill>
                <a:ea typeface="Open Sans" panose="020B0606030504020204" pitchFamily="34" charset="0"/>
                <a:cs typeface="Open Sans" panose="020B0606030504020204" pitchFamily="34" charset="0"/>
              </a:rPr>
              <a:t> perturbation des </a:t>
            </a:r>
            <a:r>
              <a:rPr lang="en-US" sz="1800" kern="0" dirty="0" err="1">
                <a:solidFill>
                  <a:schemeClr val="tx1"/>
                </a:solidFill>
                <a:ea typeface="Open Sans" panose="020B0606030504020204" pitchFamily="34" charset="0"/>
                <a:cs typeface="Open Sans" panose="020B0606030504020204" pitchFamily="34" charset="0"/>
              </a:rPr>
              <a:t>câbles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d'alimentation</a:t>
            </a:r>
            <a:r>
              <a:rPr lang="en-US" sz="1800" kern="0" dirty="0">
                <a:solidFill>
                  <a:schemeClr val="tx1"/>
                </a:solidFill>
                <a:ea typeface="Open Sans" panose="020B0606030504020204" pitchFamily="34" charset="0"/>
                <a:cs typeface="Open Sans" panose="020B0606030504020204" pitchFamily="34" charset="0"/>
              </a:rPr>
              <a:t> des </a:t>
            </a:r>
            <a:r>
              <a:rPr lang="en-GB" sz="1800" kern="0" dirty="0">
                <a:solidFill>
                  <a:schemeClr val="tx1"/>
                </a:solidFill>
                <a:ea typeface="Open Sans" panose="020B0606030504020204" pitchFamily="34" charset="0"/>
                <a:cs typeface="Open Sans" panose="020B0606030504020204" pitchFamily="34" charset="0"/>
              </a:rPr>
              <a:t> </a:t>
            </a:r>
            <a:r>
              <a:rPr lang="en-GB" sz="1800" kern="0" dirty="0" err="1">
                <a:solidFill>
                  <a:schemeClr val="tx1"/>
                </a:solidFill>
                <a:ea typeface="Open Sans" panose="020B0606030504020204" pitchFamily="34" charset="0"/>
                <a:cs typeface="Open Sans" panose="020B0606030504020204" pitchFamily="34" charset="0"/>
              </a:rPr>
              <a:t>dispositifs</a:t>
            </a:r>
            <a:r>
              <a:rPr lang="en-GB" sz="1800" kern="0" dirty="0">
                <a:solidFill>
                  <a:schemeClr val="tx1"/>
                </a:solidFill>
                <a:ea typeface="Open Sans" panose="020B0606030504020204" pitchFamily="34" charset="0"/>
                <a:cs typeface="Open Sans" panose="020B0606030504020204" pitchFamily="34" charset="0"/>
              </a:rPr>
              <a:t> de signalisation</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n'est</a:t>
            </a:r>
            <a:r>
              <a:rPr lang="en-US" sz="1800" kern="0" dirty="0">
                <a:solidFill>
                  <a:schemeClr val="tx1"/>
                </a:solidFill>
                <a:ea typeface="Open Sans" panose="020B0606030504020204" pitchFamily="34" charset="0"/>
                <a:cs typeface="Open Sans" panose="020B0606030504020204" pitchFamily="34" charset="0"/>
              </a:rPr>
              <a:t> pas </a:t>
            </a:r>
            <a:r>
              <a:rPr lang="en-US" sz="1800" kern="0" dirty="0" err="1">
                <a:solidFill>
                  <a:schemeClr val="tx1"/>
                </a:solidFill>
                <a:ea typeface="Open Sans" panose="020B0606030504020204" pitchFamily="34" charset="0"/>
                <a:cs typeface="Open Sans" panose="020B0606030504020204" pitchFamily="34" charset="0"/>
              </a:rPr>
              <a:t>surveillé</a:t>
            </a:r>
            <a:r>
              <a:rPr lang="en-US" sz="1800" kern="0" dirty="0">
                <a:ea typeface="Open Sans" panose="020B0606030504020204" pitchFamily="34" charset="0"/>
                <a:cs typeface="Open Sans" panose="020B0606030504020204" pitchFamily="34" charset="0"/>
              </a:rPr>
              <a:t>.</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 Les circuits </a:t>
            </a:r>
            <a:r>
              <a:rPr lang="en-US" sz="1800" kern="0" dirty="0" err="1">
                <a:solidFill>
                  <a:schemeClr val="tx1"/>
                </a:solidFill>
                <a:ea typeface="Open Sans" panose="020B0606030504020204" pitchFamily="34" charset="0"/>
                <a:cs typeface="Open Sans" panose="020B0606030504020204" pitchFamily="34" charset="0"/>
              </a:rPr>
              <a:t>d'alarme</a:t>
            </a:r>
            <a:r>
              <a:rPr lang="en-US" sz="1800" kern="0" dirty="0">
                <a:solidFill>
                  <a:schemeClr val="tx1"/>
                </a:solidFill>
                <a:ea typeface="Open Sans" panose="020B0606030504020204" pitchFamily="34" charset="0"/>
                <a:cs typeface="Open Sans" panose="020B0606030504020204" pitchFamily="34" charset="0"/>
              </a:rPr>
              <a:t> pour les </a:t>
            </a:r>
            <a:r>
              <a:rPr lang="en-US" sz="1800" kern="0" dirty="0" err="1">
                <a:solidFill>
                  <a:schemeClr val="tx1"/>
                </a:solidFill>
                <a:ea typeface="Open Sans" panose="020B0606030504020204" pitchFamily="34" charset="0"/>
                <a:cs typeface="Open Sans" panose="020B0606030504020204" pitchFamily="34" charset="0"/>
              </a:rPr>
              <a:t>dispositifs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externes</a:t>
            </a:r>
            <a:r>
              <a:rPr lang="en-US" sz="1800" kern="0" dirty="0">
                <a:solidFill>
                  <a:schemeClr val="tx1"/>
                </a:solidFill>
                <a:ea typeface="Open Sans" panose="020B0606030504020204" pitchFamily="34" charset="0"/>
                <a:cs typeface="Open Sans" panose="020B0606030504020204" pitchFamily="34" charset="0"/>
              </a:rPr>
              <a:t> </a:t>
            </a:r>
            <a:r>
              <a:rPr sz="2400" dirty="0"/>
              <a:t> </a:t>
            </a:r>
            <a:r>
              <a:rPr lang="en-GB" sz="1800" kern="0" dirty="0">
                <a:solidFill>
                  <a:schemeClr val="tx1"/>
                </a:solidFill>
                <a:ea typeface="Open Sans" panose="020B0606030504020204" pitchFamily="34" charset="0"/>
                <a:cs typeface="Open Sans" panose="020B0606030504020204" pitchFamily="34" charset="0"/>
              </a:rPr>
              <a:t> de signalisation </a:t>
            </a:r>
            <a:r>
              <a:rPr sz="2400" dirty="0"/>
              <a:t> </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doivent</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être</a:t>
            </a:r>
            <a:r>
              <a:rPr lang="en-US" sz="1800" kern="0" dirty="0">
                <a:solidFill>
                  <a:schemeClr val="tx1"/>
                </a:solidFill>
                <a:ea typeface="Open Sans" panose="020B0606030504020204" pitchFamily="34" charset="0"/>
                <a:cs typeface="Open Sans" panose="020B0606030504020204" pitchFamily="34" charset="0"/>
              </a:rPr>
              <a:t> mis </a:t>
            </a:r>
            <a:r>
              <a:rPr lang="en-US" sz="1800" kern="0" dirty="0" err="1">
                <a:solidFill>
                  <a:schemeClr val="tx1"/>
                </a:solidFill>
                <a:ea typeface="Open Sans" panose="020B0606030504020204" pitchFamily="34" charset="0"/>
                <a:cs typeface="Open Sans" panose="020B0606030504020204" pitchFamily="34" charset="0"/>
              </a:rPr>
              <a:t>en</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œuvre</a:t>
            </a:r>
            <a:r>
              <a:rPr lang="en-US" sz="1800" kern="0" dirty="0">
                <a:solidFill>
                  <a:schemeClr val="tx1"/>
                </a:solidFill>
                <a:ea typeface="Open Sans" panose="020B0606030504020204" pitchFamily="34" charset="0"/>
                <a:cs typeface="Open Sans" panose="020B0606030504020204" pitchFamily="34" charset="0"/>
              </a:rPr>
              <a:t> avec </a:t>
            </a:r>
            <a:r>
              <a:rPr lang="en-US" sz="1800" kern="0" dirty="0" err="1">
                <a:solidFill>
                  <a:schemeClr val="tx1"/>
                </a:solidFill>
                <a:ea typeface="Open Sans" panose="020B0606030504020204" pitchFamily="34" charset="0"/>
                <a:cs typeface="Open Sans" panose="020B0606030504020204" pitchFamily="34" charset="0"/>
              </a:rPr>
              <a:t>une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résistance</a:t>
            </a:r>
            <a:r>
              <a:rPr lang="en-US" sz="1800" kern="0" dirty="0">
                <a:solidFill>
                  <a:schemeClr val="tx1"/>
                </a:solidFill>
                <a:ea typeface="Open Sans" panose="020B0606030504020204" pitchFamily="34" charset="0"/>
                <a:cs typeface="Open Sans" panose="020B0606030504020204" pitchFamily="34" charset="0"/>
              </a:rPr>
              <a:t> EOL de 1 </a:t>
            </a:r>
            <a:r>
              <a:rPr lang="en-US" sz="1800" kern="0" dirty="0" err="1">
                <a:solidFill>
                  <a:schemeClr val="tx1"/>
                </a:solidFill>
                <a:ea typeface="Open Sans" panose="020B0606030504020204" pitchFamily="34" charset="0"/>
                <a:cs typeface="Open Sans" panose="020B0606030504020204" pitchFamily="34" charset="0"/>
              </a:rPr>
              <a:t>kΩ</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chacun</a:t>
            </a:r>
            <a:r>
              <a:rPr lang="en-US" sz="1800" kern="0" dirty="0">
                <a:solidFill>
                  <a:schemeClr val="tx1"/>
                </a:solidFill>
                <a:ea typeface="Open Sans" panose="020B0606030504020204" pitchFamily="34" charset="0"/>
                <a:cs typeface="Open Sans" panose="020B0606030504020204" pitchFamily="34" charset="0"/>
              </a:rPr>
              <a:t> </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Un court-circuit </a:t>
            </a:r>
            <a:r>
              <a:rPr lang="en-US" sz="1800" kern="0" dirty="0" err="1">
                <a:solidFill>
                  <a:schemeClr val="tx1"/>
                </a:solidFill>
                <a:ea typeface="Open Sans" panose="020B0606030504020204" pitchFamily="34" charset="0"/>
                <a:cs typeface="Open Sans" panose="020B0606030504020204" pitchFamily="34" charset="0"/>
              </a:rPr>
              <a:t>ou</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une</a:t>
            </a:r>
            <a:r>
              <a:rPr lang="en-US" sz="1800" kern="0" dirty="0">
                <a:solidFill>
                  <a:schemeClr val="tx1"/>
                </a:solidFill>
                <a:ea typeface="Open Sans" panose="020B0606030504020204" pitchFamily="34" charset="0"/>
                <a:cs typeface="Open Sans" panose="020B0606030504020204" pitchFamily="34" charset="0"/>
              </a:rPr>
              <a:t> perturbation du circuit de </a:t>
            </a:r>
            <a:r>
              <a:rPr lang="en-US" sz="1800" kern="0" dirty="0" err="1">
                <a:solidFill>
                  <a:schemeClr val="tx1"/>
                </a:solidFill>
                <a:ea typeface="Open Sans" panose="020B0606030504020204" pitchFamily="34" charset="0"/>
                <a:cs typeface="Open Sans" panose="020B0606030504020204" pitchFamily="34" charset="0"/>
              </a:rPr>
              <a:t>l'alarme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provoque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l'émission</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d'une</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alarme</a:t>
            </a:r>
            <a:r>
              <a:rPr lang="en-US" sz="1800" kern="0" dirty="0">
                <a:solidFill>
                  <a:schemeClr val="tx1"/>
                </a:solidFill>
                <a:ea typeface="Open Sans" panose="020B0606030504020204" pitchFamily="34" charset="0"/>
                <a:cs typeface="Open Sans" panose="020B0606030504020204" pitchFamily="34" charset="0"/>
              </a:rPr>
              <a:t> de sabotage</a:t>
            </a:r>
          </a:p>
          <a:p>
            <a:pPr>
              <a:lnSpc>
                <a:spcPct val="150000"/>
              </a:lnSpc>
              <a:defRPr/>
            </a:pPr>
            <a:endParaRPr lang="en-US" sz="18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000" kern="0" dirty="0">
              <a:ea typeface="Open Sans" panose="020B0606030504020204" pitchFamily="34" charset="0"/>
              <a:cs typeface="Open Sans" panose="020B0606030504020204" pitchFamily="34" charset="0"/>
            </a:endParaRPr>
          </a:p>
        </p:txBody>
      </p:sp>
      <p:sp>
        <p:nvSpPr>
          <p:cNvPr id="2" name="Rectangle 2">
            <a:extLst>
              <a:ext uri="{FF2B5EF4-FFF2-40B4-BE49-F238E27FC236}">
                <a16:creationId xmlns:a16="http://schemas.microsoft.com/office/drawing/2014/main" id="{EC837228-871E-4CA3-8105-9C421CD40DB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graphicFrame>
        <p:nvGraphicFramePr>
          <p:cNvPr id="6" name="Object 5">
            <a:extLst>
              <a:ext uri="{FF2B5EF4-FFF2-40B4-BE49-F238E27FC236}">
                <a16:creationId xmlns:a16="http://schemas.microsoft.com/office/drawing/2014/main" id="{EA2F855D-86AD-4082-ABCA-D8A9B5C5E2AC}"/>
              </a:ext>
            </a:extLst>
          </p:cNvPr>
          <p:cNvGraphicFramePr>
            <a:graphicFrameLocks noChangeAspect="1"/>
          </p:cNvGraphicFramePr>
          <p:nvPr/>
        </p:nvGraphicFramePr>
        <p:xfrm>
          <a:off x="1262371" y="5013176"/>
          <a:ext cx="7051826" cy="1224136"/>
        </p:xfrm>
        <a:graphic>
          <a:graphicData uri="http://schemas.openxmlformats.org/presentationml/2006/ole">
            <mc:AlternateContent xmlns:mc="http://schemas.openxmlformats.org/markup-compatibility/2006">
              <mc:Choice xmlns:v="urn:schemas-microsoft-com:vml" Requires="v">
                <p:oleObj r:id="rId3" imgW="8881552" imgH="1521023" progId="Visio.Drawing.15">
                  <p:embed/>
                </p:oleObj>
              </mc:Choice>
              <mc:Fallback>
                <p:oleObj r:id="rId3" imgW="8881552" imgH="1521023" progId="Visio.Drawing.15">
                  <p:embed/>
                  <p:pic>
                    <p:nvPicPr>
                      <p:cNvPr id="6" name="Object 5">
                        <a:extLst>
                          <a:ext uri="{FF2B5EF4-FFF2-40B4-BE49-F238E27FC236}">
                            <a16:creationId xmlns:a16="http://schemas.microsoft.com/office/drawing/2014/main" id="{EA2F855D-86AD-4082-ABCA-D8A9B5C5E2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2371" y="5013176"/>
                        <a:ext cx="7051826" cy="1224136"/>
                      </a:xfrm>
                      <a:prstGeom prst="rect">
                        <a:avLst/>
                      </a:prstGeom>
                      <a:noFill/>
                    </p:spPr>
                  </p:pic>
                </p:oleObj>
              </mc:Fallback>
            </mc:AlternateContent>
          </a:graphicData>
        </a:graphic>
      </p:graphicFrame>
    </p:spTree>
    <p:extLst>
      <p:ext uri="{BB962C8B-B14F-4D97-AF65-F5344CB8AC3E}">
        <p14:creationId xmlns:p14="http://schemas.microsoft.com/office/powerpoint/2010/main" val="20128103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a:t>Les signaux d'alarme locaux internes</a:t>
            </a:r>
            <a:br>
              <a:rPr lang="en-GB" dirty="0"/>
            </a:b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 Un court-circuit </a:t>
            </a:r>
            <a:r>
              <a:rPr lang="en-US" sz="1800" kern="0" dirty="0" err="1">
                <a:solidFill>
                  <a:schemeClr val="tx1"/>
                </a:solidFill>
                <a:ea typeface="Open Sans" panose="020B0606030504020204" pitchFamily="34" charset="0"/>
                <a:cs typeface="Open Sans" panose="020B0606030504020204" pitchFamily="34" charset="0"/>
              </a:rPr>
              <a:t>ou</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une</a:t>
            </a:r>
            <a:r>
              <a:rPr lang="en-US" sz="1800" kern="0" dirty="0">
                <a:solidFill>
                  <a:schemeClr val="tx1"/>
                </a:solidFill>
                <a:ea typeface="Open Sans" panose="020B0606030504020204" pitchFamily="34" charset="0"/>
                <a:cs typeface="Open Sans" panose="020B0606030504020204" pitchFamily="34" charset="0"/>
              </a:rPr>
              <a:t> rupture des </a:t>
            </a:r>
            <a:r>
              <a:rPr lang="en-US" sz="1800" kern="0" dirty="0" err="1">
                <a:solidFill>
                  <a:schemeClr val="tx1"/>
                </a:solidFill>
                <a:ea typeface="Open Sans" panose="020B0606030504020204" pitchFamily="34" charset="0"/>
                <a:cs typeface="Open Sans" panose="020B0606030504020204" pitchFamily="34" charset="0"/>
              </a:rPr>
              <a:t>câbles</a:t>
            </a:r>
            <a:r>
              <a:rPr lang="en-US" sz="1800" kern="0" dirty="0">
                <a:solidFill>
                  <a:schemeClr val="tx1"/>
                </a:solidFill>
                <a:ea typeface="Open Sans" panose="020B0606030504020204" pitchFamily="34" charset="0"/>
                <a:cs typeface="Open Sans" panose="020B0606030504020204" pitchFamily="34" charset="0"/>
              </a:rPr>
              <a:t> </a:t>
            </a:r>
            <a:r>
              <a:rPr lang="en-US" sz="1800" kern="0" dirty="0" err="1">
                <a:solidFill>
                  <a:schemeClr val="tx1"/>
                </a:solidFill>
                <a:ea typeface="Open Sans" panose="020B0606030504020204" pitchFamily="34" charset="0"/>
                <a:cs typeface="Open Sans" panose="020B0606030504020204" pitchFamily="34" charset="0"/>
              </a:rPr>
              <a:t>d'alimentation</a:t>
            </a:r>
            <a:r>
              <a:rPr lang="en-US" sz="1800" kern="0" dirty="0">
                <a:solidFill>
                  <a:schemeClr val="tx1"/>
                </a:solidFill>
                <a:ea typeface="Open Sans" panose="020B0606030504020204" pitchFamily="34" charset="0"/>
                <a:cs typeface="Open Sans" panose="020B0606030504020204" pitchFamily="34" charset="0"/>
              </a:rPr>
              <a:t> des </a:t>
            </a:r>
            <a:r>
              <a:rPr sz="2400" dirty="0"/>
              <a:t> </a:t>
            </a:r>
            <a:r>
              <a:rPr lang="en-GB" sz="1800" kern="0" dirty="0">
                <a:solidFill>
                  <a:schemeClr val="tx1"/>
                </a:solidFill>
                <a:ea typeface="Open Sans" panose="020B0606030504020204" pitchFamily="34" charset="0"/>
                <a:cs typeface="Open Sans" panose="020B0606030504020204" pitchFamily="34" charset="0"/>
              </a:rPr>
              <a:t> </a:t>
            </a:r>
            <a:r>
              <a:rPr lang="en-GB" sz="1800" kern="0" dirty="0" err="1">
                <a:solidFill>
                  <a:schemeClr val="tx1"/>
                </a:solidFill>
                <a:ea typeface="Open Sans" panose="020B0606030504020204" pitchFamily="34" charset="0"/>
                <a:cs typeface="Open Sans" panose="020B0606030504020204" pitchFamily="34" charset="0"/>
              </a:rPr>
              <a:t>appareils</a:t>
            </a:r>
            <a:r>
              <a:rPr lang="en-GB" sz="1800" kern="0" dirty="0">
                <a:solidFill>
                  <a:schemeClr val="tx1"/>
                </a:solidFill>
                <a:ea typeface="Open Sans" panose="020B0606030504020204" pitchFamily="34" charset="0"/>
                <a:cs typeface="Open Sans" panose="020B0606030504020204" pitchFamily="34" charset="0"/>
              </a:rPr>
              <a:t> de signalisation </a:t>
            </a:r>
            <a:r>
              <a:rPr sz="2400" dirty="0"/>
              <a:t> </a:t>
            </a:r>
            <a:r>
              <a:rPr lang="en-US" sz="1800" kern="0" dirty="0">
                <a:solidFill>
                  <a:schemeClr val="tx1"/>
                </a:solidFill>
                <a:ea typeface="Open Sans" panose="020B0606030504020204" pitchFamily="34" charset="0"/>
                <a:cs typeface="Open Sans" panose="020B0606030504020204" pitchFamily="34" charset="0"/>
              </a:rPr>
              <a:t> ne </a:t>
            </a:r>
            <a:r>
              <a:rPr lang="en-US" sz="1800" kern="0" dirty="0" err="1">
                <a:solidFill>
                  <a:schemeClr val="tx1"/>
                </a:solidFill>
                <a:ea typeface="Open Sans" panose="020B0606030504020204" pitchFamily="34" charset="0"/>
                <a:cs typeface="Open Sans" panose="020B0606030504020204" pitchFamily="34" charset="0"/>
              </a:rPr>
              <a:t>sont</a:t>
            </a:r>
            <a:r>
              <a:rPr lang="en-US" sz="1800" kern="0" dirty="0">
                <a:solidFill>
                  <a:schemeClr val="tx1"/>
                </a:solidFill>
                <a:ea typeface="Open Sans" panose="020B0606030504020204" pitchFamily="34" charset="0"/>
                <a:cs typeface="Open Sans" panose="020B0606030504020204" pitchFamily="34" charset="0"/>
              </a:rPr>
              <a:t> pas </a:t>
            </a:r>
            <a:r>
              <a:rPr lang="en-US" sz="1800" kern="0" dirty="0" err="1">
                <a:solidFill>
                  <a:schemeClr val="tx1"/>
                </a:solidFill>
                <a:ea typeface="Open Sans" panose="020B0606030504020204" pitchFamily="34" charset="0"/>
                <a:cs typeface="Open Sans" panose="020B0606030504020204" pitchFamily="34" charset="0"/>
              </a:rPr>
              <a:t>surveillés</a:t>
            </a:r>
            <a:r>
              <a:rPr lang="en-US" sz="1800" kern="0" dirty="0">
                <a:solidFill>
                  <a:schemeClr val="tx1"/>
                </a:solidFill>
                <a:ea typeface="Open Sans" panose="020B0606030504020204" pitchFamily="34" charset="0"/>
                <a:cs typeface="Open Sans" panose="020B0606030504020204" pitchFamily="34" charset="0"/>
              </a:rPr>
              <a:t> </a:t>
            </a:r>
          </a:p>
        </p:txBody>
      </p:sp>
      <p:graphicFrame>
        <p:nvGraphicFramePr>
          <p:cNvPr id="4" name="Object 3">
            <a:extLst>
              <a:ext uri="{FF2B5EF4-FFF2-40B4-BE49-F238E27FC236}">
                <a16:creationId xmlns:a16="http://schemas.microsoft.com/office/drawing/2014/main" id="{EA9D31DB-86A4-47C1-AA2D-42AD5E4FB741}"/>
              </a:ext>
            </a:extLst>
          </p:cNvPr>
          <p:cNvGraphicFramePr>
            <a:graphicFrameLocks noChangeAspect="1"/>
          </p:cNvGraphicFramePr>
          <p:nvPr/>
        </p:nvGraphicFramePr>
        <p:xfrm>
          <a:off x="1103313" y="3068960"/>
          <a:ext cx="6937373" cy="1204268"/>
        </p:xfrm>
        <a:graphic>
          <a:graphicData uri="http://schemas.openxmlformats.org/presentationml/2006/ole">
            <mc:AlternateContent xmlns:mc="http://schemas.openxmlformats.org/markup-compatibility/2006">
              <mc:Choice xmlns:v="urn:schemas-microsoft-com:vml" Requires="v">
                <p:oleObj r:id="rId3" imgW="8781702" imgH="1521023" progId="Visio.Drawing.15">
                  <p:embed/>
                </p:oleObj>
              </mc:Choice>
              <mc:Fallback>
                <p:oleObj r:id="rId3" imgW="8781702" imgH="1521023" progId="Visio.Drawing.15">
                  <p:embed/>
                  <p:pic>
                    <p:nvPicPr>
                      <p:cNvPr id="4" name="Object 3">
                        <a:extLst>
                          <a:ext uri="{FF2B5EF4-FFF2-40B4-BE49-F238E27FC236}">
                            <a16:creationId xmlns:a16="http://schemas.microsoft.com/office/drawing/2014/main" id="{EA9D31DB-86A4-47C1-AA2D-42AD5E4FB7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3313" y="3068960"/>
                        <a:ext cx="6937373" cy="1204268"/>
                      </a:xfrm>
                      <a:prstGeom prst="rect">
                        <a:avLst/>
                      </a:prstGeom>
                      <a:noFill/>
                    </p:spPr>
                  </p:pic>
                </p:oleObj>
              </mc:Fallback>
            </mc:AlternateContent>
          </a:graphicData>
        </a:graphic>
      </p:graphicFrame>
    </p:spTree>
    <p:extLst>
      <p:ext uri="{BB962C8B-B14F-4D97-AF65-F5344CB8AC3E}">
        <p14:creationId xmlns:p14="http://schemas.microsoft.com/office/powerpoint/2010/main" val="21172602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 val="f47fad2980124742eb3a1b2ef6477a9279f5fc26"/>
  <p:tag name="ISPRING_RESOURCE_PATHS_HASH_PRESENTER" val="afe921d51fb26fdb5fa66f1b85c65c336fff"/>
</p:tagLst>
</file>

<file path=ppt/theme/theme1.xml><?xml version="1.0" encoding="utf-8"?>
<a:theme xmlns:a="http://schemas.openxmlformats.org/drawingml/2006/main" name="Training 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2" id="{FBEFB063-18B4-47A3-AFC2-88D58203559B}" vid="{76D4A2F0-3A75-437D-877A-8CC66E725EBE}"/>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7240</TotalTime>
  <Words>11763</Words>
  <Application>Microsoft Office PowerPoint</Application>
  <PresentationFormat>On-screen Show (4:3)</PresentationFormat>
  <Paragraphs>781</Paragraphs>
  <Slides>47</Slides>
  <Notes>47</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47</vt:i4>
      </vt:variant>
    </vt:vector>
  </HeadingPairs>
  <TitlesOfParts>
    <vt:vector size="54" baseType="lpstr">
      <vt:lpstr>Arial</vt:lpstr>
      <vt:lpstr>Calibri</vt:lpstr>
      <vt:lpstr>Gotham Light</vt:lpstr>
      <vt:lpstr>Gotham Medium</vt:lpstr>
      <vt:lpstr>Wingdings</vt:lpstr>
      <vt:lpstr>Training 2</vt:lpstr>
      <vt:lpstr>Microsoft Visio Drawing</vt:lpstr>
      <vt:lpstr>COURS AVANCÉ KNX Annex informative</vt:lpstr>
      <vt:lpstr>Principes de base</vt:lpstr>
      <vt:lpstr>Principes de base</vt:lpstr>
      <vt:lpstr>KNX et les technologies d'alarme intrusion</vt:lpstr>
      <vt:lpstr>Structure d'un système d'alarme VdS</vt:lpstr>
      <vt:lpstr>L'unité de contrôle d'alarme KNX</vt:lpstr>
      <vt:lpstr>L'unité de contrôle d'alarme KNX certifiée VdS</vt:lpstr>
      <vt:lpstr>Les fonctions de surveillance avec KNX</vt:lpstr>
      <vt:lpstr>Installation et topologie</vt:lpstr>
      <vt:lpstr>Conception du projet : Exemple</vt:lpstr>
      <vt:lpstr>Conception du projet : Exemple</vt:lpstr>
      <vt:lpstr>La source de courant</vt:lpstr>
      <vt:lpstr>Les entrées binaires</vt:lpstr>
      <vt:lpstr>Les entrées binaires</vt:lpstr>
      <vt:lpstr>Les sorties binaires</vt:lpstr>
      <vt:lpstr>Les capteurs</vt:lpstr>
      <vt:lpstr>Le terminal de zone KNX</vt:lpstr>
      <vt:lpstr>Le terminal de zone KNX</vt:lpstr>
      <vt:lpstr>PowerPoint Presentation</vt:lpstr>
      <vt:lpstr>Les capteurs</vt:lpstr>
      <vt:lpstr>Capteurs par principes physiques</vt:lpstr>
      <vt:lpstr>L'unité de contrôle d'alarme intrusion</vt:lpstr>
      <vt:lpstr>Les alarmes</vt:lpstr>
      <vt:lpstr>Paramétrer / armer le système</vt:lpstr>
      <vt:lpstr>Paramétrer / armer le système</vt:lpstr>
      <vt:lpstr>Les alarmes panique</vt:lpstr>
      <vt:lpstr>La surveillance des ouvertures et du verrouillage</vt:lpstr>
      <vt:lpstr>Types de contacts en roseau magnétique</vt:lpstr>
      <vt:lpstr>Types de contacts en roseau magnétique</vt:lpstr>
      <vt:lpstr>Types de contacts en roseau magnétique</vt:lpstr>
      <vt:lpstr>La protection périphérique et la surveillance de surface</vt:lpstr>
      <vt:lpstr>La surveillance intérieure</vt:lpstr>
      <vt:lpstr>Détecteurs de surveillance intérieure</vt:lpstr>
      <vt:lpstr>Détecteurs de surveillance intérieure</vt:lpstr>
      <vt:lpstr>Détecteurs de surveillance intérieure</vt:lpstr>
      <vt:lpstr>Détecteurs de surveillance intérieure</vt:lpstr>
      <vt:lpstr>Détecteurs de surveillance intérieure</vt:lpstr>
      <vt:lpstr>La surveillance anti-effraction</vt:lpstr>
      <vt:lpstr>Groupes : Zones</vt:lpstr>
      <vt:lpstr>Zones : Circuits secondaires</vt:lpstr>
      <vt:lpstr>Zones : Circuits primaires</vt:lpstr>
      <vt:lpstr>les zones de sabotage</vt:lpstr>
      <vt:lpstr>Les zones de verrouillage </vt:lpstr>
      <vt:lpstr>Les zones activées</vt:lpstr>
      <vt:lpstr>Les zones de panique</vt:lpstr>
      <vt:lpstr>Les signaux d'alarme locaux externes</vt:lpstr>
      <vt:lpstr>Les signaux d'alarme locaux internes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arguments</dc:title>
  <dc:creator>KNX Association;R. Hernandez</dc:creator>
  <cp:lastModifiedBy>Ufuk Unal</cp:lastModifiedBy>
  <cp:revision>349</cp:revision>
  <dcterms:created xsi:type="dcterms:W3CDTF">2012-09-10T07:59:43Z</dcterms:created>
  <dcterms:modified xsi:type="dcterms:W3CDTF">2023-04-07T15:08:12Z</dcterms:modified>
</cp:coreProperties>
</file>