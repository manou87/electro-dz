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38"/>
  </p:notesMasterIdLst>
  <p:handoutMasterIdLst>
    <p:handoutMasterId r:id="rId39"/>
  </p:handoutMasterIdLst>
  <p:sldIdLst>
    <p:sldId id="256" r:id="rId2"/>
    <p:sldId id="325" r:id="rId3"/>
    <p:sldId id="341" r:id="rId4"/>
    <p:sldId id="342" r:id="rId5"/>
    <p:sldId id="343" r:id="rId6"/>
    <p:sldId id="344" r:id="rId7"/>
    <p:sldId id="353" r:id="rId8"/>
    <p:sldId id="354" r:id="rId9"/>
    <p:sldId id="359" r:id="rId10"/>
    <p:sldId id="355" r:id="rId11"/>
    <p:sldId id="345" r:id="rId12"/>
    <p:sldId id="346" r:id="rId13"/>
    <p:sldId id="360" r:id="rId14"/>
    <p:sldId id="347" r:id="rId15"/>
    <p:sldId id="361" r:id="rId16"/>
    <p:sldId id="349" r:id="rId17"/>
    <p:sldId id="350" r:id="rId18"/>
    <p:sldId id="351" r:id="rId19"/>
    <p:sldId id="358" r:id="rId20"/>
    <p:sldId id="352" r:id="rId21"/>
    <p:sldId id="362" r:id="rId22"/>
    <p:sldId id="363" r:id="rId23"/>
    <p:sldId id="364" r:id="rId24"/>
    <p:sldId id="365" r:id="rId25"/>
    <p:sldId id="357" r:id="rId26"/>
    <p:sldId id="326" r:id="rId27"/>
    <p:sldId id="366" r:id="rId28"/>
    <p:sldId id="327" r:id="rId29"/>
    <p:sldId id="328" r:id="rId30"/>
    <p:sldId id="367" r:id="rId31"/>
    <p:sldId id="368" r:id="rId32"/>
    <p:sldId id="329" r:id="rId33"/>
    <p:sldId id="369" r:id="rId34"/>
    <p:sldId id="370" r:id="rId35"/>
    <p:sldId id="372" r:id="rId36"/>
    <p:sldId id="371" r:id="rId37"/>
  </p:sldIdLst>
  <p:sldSz cx="9144000" cy="6858000" type="screen4x3"/>
  <p:notesSz cx="6858000" cy="9144000"/>
  <p:custDataLst>
    <p:tags r:id="rId40"/>
  </p:custDataLst>
  <p:defaultTextStyle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F45F3-6013-4D77-A6E3-12008A8C58CF}" v="1" dt="2023-04-11T08:50:31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72829" autoAdjust="0"/>
  </p:normalViewPr>
  <p:slideViewPr>
    <p:cSldViewPr>
      <p:cViewPr varScale="1">
        <p:scale>
          <a:sx n="66" d="100"/>
          <a:sy n="66" d="100"/>
        </p:scale>
        <p:origin x="1858" y="45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628F45F3-6013-4D77-A6E3-12008A8C58CF}"/>
    <pc:docChg chg="modSld">
      <pc:chgData name="Ufuk Unal" userId="d77f72b3-53d7-4cb7-8425-5a8f29447216" providerId="ADAL" clId="{628F45F3-6013-4D77-A6E3-12008A8C58CF}" dt="2023-04-11T08:50:51.627" v="2" actId="404"/>
      <pc:docMkLst>
        <pc:docMk/>
      </pc:docMkLst>
      <pc:sldChg chg="modSp mod">
        <pc:chgData name="Ufuk Unal" userId="d77f72b3-53d7-4cb7-8425-5a8f29447216" providerId="ADAL" clId="{628F45F3-6013-4D77-A6E3-12008A8C58CF}" dt="2023-04-11T08:50:20.269" v="0" actId="404"/>
        <pc:sldMkLst>
          <pc:docMk/>
          <pc:sldMk cId="2684641891" sldId="344"/>
        </pc:sldMkLst>
        <pc:spChg chg="mod">
          <ac:chgData name="Ufuk Unal" userId="d77f72b3-53d7-4cb7-8425-5a8f29447216" providerId="ADAL" clId="{628F45F3-6013-4D77-A6E3-12008A8C58CF}" dt="2023-04-11T08:50:20.269" v="0" actId="404"/>
          <ac:spMkLst>
            <pc:docMk/>
            <pc:sldMk cId="2684641891" sldId="344"/>
            <ac:spMk id="9" creationId="{0A5586CE-EB4A-496E-9B62-001E25693E4A}"/>
          </ac:spMkLst>
        </pc:spChg>
      </pc:sldChg>
      <pc:sldChg chg="modSp">
        <pc:chgData name="Ufuk Unal" userId="d77f72b3-53d7-4cb7-8425-5a8f29447216" providerId="ADAL" clId="{628F45F3-6013-4D77-A6E3-12008A8C58CF}" dt="2023-04-11T08:50:31.357" v="1" actId="14100"/>
        <pc:sldMkLst>
          <pc:docMk/>
          <pc:sldMk cId="4104435945" sldId="346"/>
        </pc:sldMkLst>
        <pc:graphicFrameChg chg="mod">
          <ac:chgData name="Ufuk Unal" userId="d77f72b3-53d7-4cb7-8425-5a8f29447216" providerId="ADAL" clId="{628F45F3-6013-4D77-A6E3-12008A8C58CF}" dt="2023-04-11T08:50:31.357" v="1" actId="14100"/>
          <ac:graphicFrameMkLst>
            <pc:docMk/>
            <pc:sldMk cId="4104435945" sldId="346"/>
            <ac:graphicFrameMk id="4" creationId="{C2F53FF0-75C2-4225-B8DA-6084054C8B14}"/>
          </ac:graphicFrameMkLst>
        </pc:graphicFrameChg>
      </pc:sldChg>
      <pc:sldChg chg="modSp mod">
        <pc:chgData name="Ufuk Unal" userId="d77f72b3-53d7-4cb7-8425-5a8f29447216" providerId="ADAL" clId="{628F45F3-6013-4D77-A6E3-12008A8C58CF}" dt="2023-04-11T08:50:51.627" v="2" actId="404"/>
        <pc:sldMkLst>
          <pc:docMk/>
          <pc:sldMk cId="2830932289" sldId="367"/>
        </pc:sldMkLst>
        <pc:spChg chg="mod">
          <ac:chgData name="Ufuk Unal" userId="d77f72b3-53d7-4cb7-8425-5a8f29447216" providerId="ADAL" clId="{628F45F3-6013-4D77-A6E3-12008A8C58CF}" dt="2023-04-11T08:50:51.627" v="2" actId="404"/>
          <ac:spMkLst>
            <pc:docMk/>
            <pc:sldMk cId="2830932289" sldId="367"/>
            <ac:spMk id="11" creationId="{A70DA22D-FFCC-1492-AE1F-9D17B804DBC1}"/>
          </ac:spMkLst>
        </pc:spChg>
      </pc:sldChg>
    </pc:docChg>
  </pc:docChgLst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  <pc:spChg chg="del">
          <ac:chgData name="Ufuk Unal" userId="d77f72b3-53d7-4cb7-8425-5a8f29447216" providerId="ADAL" clId="{B0DF57DB-BE44-48D9-A5E9-05DDE94F5005}" dt="2023-03-14T09:40:47.278" v="0" actId="478"/>
          <ac:spMkLst>
            <pc:docMk/>
            <pc:sldMk cId="2459807384" sldId="256"/>
            <ac:spMk id="5" creationId="{1D73F070-14E5-431D-9BB5-D0DFC46463AA}"/>
          </ac:spMkLst>
        </pc:spChg>
        <pc:spChg chg="mod">
          <ac:chgData name="Ufuk Unal" userId="d77f72b3-53d7-4cb7-8425-5a8f29447216" providerId="ADAL" clId="{B0DF57DB-BE44-48D9-A5E9-05DDE94F5005}" dt="2023-03-14T09:40:49.424" v="2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  <pc:spChg chg="mod">
          <ac:chgData name="Ufuk Unal" userId="d77f72b3-53d7-4cb7-8425-5a8f29447216" providerId="ADAL" clId="{B0DF57DB-BE44-48D9-A5E9-05DDE94F5005}" dt="2023-03-14T09:42:40.900" v="18" actId="20577"/>
          <ac:spMkLst>
            <pc:docMk/>
            <pc:sldMk cId="1374603204" sldId="341"/>
            <ac:spMk id="8" creationId="{9F2C7172-BF0D-4756-AB0D-E9B70C83CC4C}"/>
          </ac:spMkLst>
        </pc:spChg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  <pc:spChg chg="mod">
          <ac:chgData name="Ufuk Unal" userId="d77f72b3-53d7-4cb7-8425-5a8f29447216" providerId="ADAL" clId="{B0DF57DB-BE44-48D9-A5E9-05DDE94F5005}" dt="2023-03-14T09:44:48.693" v="25" actId="20577"/>
          <ac:spMkLst>
            <pc:docMk/>
            <pc:sldMk cId="2684641891" sldId="344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  <pc:spChg chg="mod">
          <ac:chgData name="Ufuk Unal" userId="d77f72b3-53d7-4cb7-8425-5a8f29447216" providerId="ADAL" clId="{B0DF57DB-BE44-48D9-A5E9-05DDE94F5005}" dt="2023-03-14T10:07:55.220" v="48" actId="6549"/>
          <ac:spMkLst>
            <pc:docMk/>
            <pc:sldMk cId="3798046907" sldId="357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  <pc:spChg chg="del">
            <ac:chgData name="Ufuk Unal" userId="d77f72b3-53d7-4cb7-8425-5a8f29447216" providerId="ADAL" clId="{B0DF57DB-BE44-48D9-A5E9-05DDE94F5005}" dt="2023-03-14T09:41:05.076" v="3" actId="478"/>
            <ac:spMkLst>
              <pc:docMk/>
              <pc:sldMasterMk cId="100049181" sldId="2147483782"/>
              <pc:sldLayoutMk cId="2489093777" sldId="2147483783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11.04.2023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t>Cliquez pour 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974181A-B52E-4AEA-801A-5F0AC153D34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41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9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1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8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63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27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12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11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58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81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00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72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64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24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78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06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93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91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34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53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54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4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28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47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454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517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026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388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178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331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358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83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Smart home and building solutions.</a:t>
            </a:r>
          </a:p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</a:lvl2pPr>
            <a:lvl3pPr marL="914400" indent="0">
              <a:buNone/>
            </a:lvl3pPr>
            <a:lvl4pPr marL="1371600" indent="0">
              <a:buNone/>
            </a:lvl4pPr>
            <a:lvl5pPr marL="1828800" indent="0">
              <a:buNone/>
            </a:lvl5pPr>
          </a:lstStyle>
          <a:p>
            <a:pPr lvl="0"/>
            <a:r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t>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t>Cliquez pour modifier le style du titre principal</a:t>
            </a:r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t>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t>Cliquez pour modifier le style du titre principal</a:t>
            </a:r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t>Cliquez pour modifier le style du titre principal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t>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Smart home and building solutions.</a:t>
            </a:r>
          </a:p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package" Target="../embeddings/Microsoft_Visio_Drawing.vsdx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package" Target="../embeddings/Microsoft_Visio_Drawing1.vsdx"/><Relationship Id="rId5" Type="http://schemas.openxmlformats.org/officeDocument/2006/relationships/image" Target="../media/image13.jpeg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jpg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2.gif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AVANCÉ KNX</a:t>
            </a:r>
            <a:endParaRPr sz="2400" b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pPr>
              <a:defRPr sz="2400"/>
            </a:pPr>
            <a:r>
              <a:t>Systèmes de visualisation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Informations générales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Représentation des fonctions en format graphique, à la fois en tant qu'éléments d'exploitation à distance et en tant qu'éléments d'affichage</a:t>
            </a:r>
          </a:p>
          <a:p>
            <a:pPr marL="0" indent="0">
              <a:lnSpc>
                <a:spcPct val="150000"/>
              </a:lnSpc>
              <a:buNone/>
            </a:pPr>
            <a:endParaRPr sz="20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Exigences pour un affichage central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Avoir le statut collectif des fonctions ou des appareils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Être informé de toute alarme ou de tout défaut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Avoir des données opérationnelles affichées indépendamment des plates-formes matérielles/logicielles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Canaux de communication indépendants de l'environnement</a:t>
            </a:r>
          </a:p>
          <a:p>
            <a:pPr marL="0" indent="0">
              <a:lnSpc>
                <a:spcPct val="150000"/>
              </a:lnSpc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sz="20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0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Termes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6016" y="3302300"/>
            <a:ext cx="7776344" cy="33646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Type de point de données : 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Détermine le format des informations à afficher. Inclut Non seulement la valeur, comprend son interprétation ultérieure</a:t>
            </a:r>
          </a:p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Point de process : 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Interface entre les informations à afficher ou à sélectionner et leur représentation graphique</a:t>
            </a: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9F2C7172-BF0D-4756-AB0D-E9B70C83CC4C}"/>
              </a:ext>
            </a:extLst>
          </p:cNvPr>
          <p:cNvSpPr txBox="1">
            <a:spLocks/>
          </p:cNvSpPr>
          <p:nvPr/>
        </p:nvSpPr>
        <p:spPr>
          <a:xfrm>
            <a:off x="35496" y="1706852"/>
            <a:ext cx="4391968" cy="15954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Visualisation :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 Représentation des états (observation) et "Contrôle" la sélection des états (opération)</a:t>
            </a:r>
          </a:p>
        </p:txBody>
      </p:sp>
      <p:pic>
        <p:nvPicPr>
          <p:cNvPr id="4" name="Imagen 3" descr="Captura de pantalla de computadora  Descripción generada automáticamente">
            <a:extLst>
              <a:ext uri="{FF2B5EF4-FFF2-40B4-BE49-F238E27FC236}">
                <a16:creationId xmlns:a16="http://schemas.microsoft.com/office/drawing/2014/main" id="{12E3180A-B919-BDB5-FE15-90BA91519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591571"/>
            <a:ext cx="3717570" cy="2710729"/>
          </a:xfrm>
          <a:prstGeom prst="rect">
            <a:avLst/>
          </a:prstGeom>
        </p:spPr>
      </p:pic>
      <p:pic>
        <p:nvPicPr>
          <p:cNvPr id="11" name="Imagen 10" descr="Una pantalla de un celular  Descripción generada automáticamente">
            <a:extLst>
              <a:ext uri="{FF2B5EF4-FFF2-40B4-BE49-F238E27FC236}">
                <a16:creationId xmlns:a16="http://schemas.microsoft.com/office/drawing/2014/main" id="{103B94D3-5BAD-0D0E-B7B4-AAD26A59E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636912"/>
            <a:ext cx="1267969" cy="21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0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Termes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5758532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rPr sz="2000"/>
              <a:t>Images statiques</a:t>
            </a:r>
            <a:r>
              <a:rPr sz="2400"/>
              <a:t>: </a:t>
            </a:r>
            <a:r>
              <a:rPr sz="2000">
                <a:solidFill>
                  <a:schemeClr val="tx1"/>
                </a:solidFill>
              </a:rPr>
              <a:t>Aide visuelle est utilisée comme images statiques d'arrière-plan</a:t>
            </a:r>
          </a:p>
          <a:p>
            <a:pPr>
              <a:lnSpc>
                <a:spcPct val="150000"/>
              </a:lnSpc>
            </a:pPr>
            <a:endParaRPr sz="20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Éléments d'image dynamiques : </a:t>
            </a:r>
            <a:r>
              <a:rPr>
                <a:solidFill>
                  <a:schemeClr val="tx1"/>
                </a:solidFill>
              </a:rPr>
              <a:t>utilisés pour afficher les informations / états requis. </a:t>
            </a:r>
          </a:p>
          <a:p>
            <a:pPr marL="400050" lvl="1" indent="0">
              <a:lnSpc>
                <a:spcPct val="150000"/>
              </a:lnSpc>
              <a:buNone/>
              <a:defRPr sz="2000" b="1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Un point de processus doit être assigné à chaque variable</a:t>
            </a:r>
          </a:p>
          <a:p>
            <a:pPr>
              <a:lnSpc>
                <a:spcPct val="150000"/>
              </a:lnSpc>
            </a:pPr>
            <a:endParaRPr sz="20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n 6" descr="Imagen que contiene edificio, tabla, brócoli, luz  Descripción generada automáticamente">
            <a:extLst>
              <a:ext uri="{FF2B5EF4-FFF2-40B4-BE49-F238E27FC236}">
                <a16:creationId xmlns:a16="http://schemas.microsoft.com/office/drawing/2014/main" id="{6D866435-9326-B669-EFF7-9E01217A8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454" y="1294468"/>
            <a:ext cx="2867815" cy="1630476"/>
          </a:xfrm>
          <a:prstGeom prst="rect">
            <a:avLst/>
          </a:prstGeom>
        </p:spPr>
      </p:pic>
      <p:pic>
        <p:nvPicPr>
          <p:cNvPr id="10" name="Imagen 9" descr="Tabla  Descripción generada automáticamente">
            <a:extLst>
              <a:ext uri="{FF2B5EF4-FFF2-40B4-BE49-F238E27FC236}">
                <a16:creationId xmlns:a16="http://schemas.microsoft.com/office/drawing/2014/main" id="{FC3B0105-C5B0-35C5-C6A1-8EA54DF7DB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455" y="2863384"/>
            <a:ext cx="2867814" cy="1769851"/>
          </a:xfrm>
          <a:prstGeom prst="rect">
            <a:avLst/>
          </a:prstGeom>
        </p:spPr>
      </p:pic>
      <p:pic>
        <p:nvPicPr>
          <p:cNvPr id="12" name="Imagen 11" descr="Diagrama, Mapa  Descripción generada automáticamente">
            <a:extLst>
              <a:ext uri="{FF2B5EF4-FFF2-40B4-BE49-F238E27FC236}">
                <a16:creationId xmlns:a16="http://schemas.microsoft.com/office/drawing/2014/main" id="{4504EA8A-8F40-1E54-E31A-C3A173F273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455" y="4621236"/>
            <a:ext cx="2867814" cy="161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6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7056263" cy="719138"/>
          </a:xfrm>
        </p:spPr>
        <p:txBody>
          <a:bodyPr/>
          <a:lstStyle/>
          <a:p>
            <a:r>
              <a:t>Transfert des Données de Conception du Projet KNX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3BA81E-1AC5-4D6C-B9D5-43F34E78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00" y="2132856"/>
            <a:ext cx="7153894" cy="41044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A7CA1F-274B-4245-9589-E1F659BD7852}"/>
              </a:ext>
            </a:extLst>
          </p:cNvPr>
          <p:cNvSpPr/>
          <p:nvPr/>
        </p:nvSpPr>
        <p:spPr>
          <a:xfrm>
            <a:off x="4969025" y="1508767"/>
            <a:ext cx="33473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Conception Structurée du Projet</a:t>
            </a:r>
            <a:endParaRPr sz="2000" b="1"/>
          </a:p>
        </p:txBody>
      </p:sp>
    </p:spTree>
    <p:extLst>
      <p:ext uri="{BB962C8B-B14F-4D97-AF65-F5344CB8AC3E}">
        <p14:creationId xmlns:p14="http://schemas.microsoft.com/office/powerpoint/2010/main" val="241650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Remarques sur la supervision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6016" y="1484784"/>
            <a:ext cx="576012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160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rPr sz="1400" dirty="0"/>
              <a:t>Remarques pour </a:t>
            </a:r>
            <a:r>
              <a:rPr sz="1400" dirty="0" err="1"/>
              <a:t>l'enregistrement</a:t>
            </a:r>
            <a:r>
              <a:rPr sz="1400" dirty="0"/>
              <a:t> de </a:t>
            </a:r>
            <a:r>
              <a:rPr sz="1400" dirty="0" err="1"/>
              <a:t>statuts</a:t>
            </a:r>
            <a:r>
              <a:rPr sz="1400" dirty="0"/>
              <a:t> avec la Supervision</a:t>
            </a:r>
          </a:p>
          <a:p>
            <a:pPr>
              <a:lnSpc>
                <a:spcPct val="15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rPr sz="1200" dirty="0"/>
              <a:t>Les </a:t>
            </a:r>
            <a:r>
              <a:rPr sz="1200" dirty="0" err="1"/>
              <a:t>états</a:t>
            </a:r>
            <a:r>
              <a:rPr sz="1200" dirty="0"/>
              <a:t> </a:t>
            </a:r>
            <a:r>
              <a:rPr sz="1200" dirty="0" err="1"/>
              <a:t>sont</a:t>
            </a:r>
            <a:r>
              <a:rPr sz="1200" dirty="0"/>
              <a:t> </a:t>
            </a:r>
            <a:r>
              <a:rPr sz="1200" dirty="0" err="1"/>
              <a:t>détectés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écoutant</a:t>
            </a:r>
            <a:r>
              <a:rPr sz="1200" dirty="0"/>
              <a:t> les </a:t>
            </a:r>
            <a:r>
              <a:rPr sz="1200" dirty="0" err="1"/>
              <a:t>télégrammes</a:t>
            </a:r>
            <a:r>
              <a:rPr sz="1200" dirty="0"/>
              <a:t> de bus</a:t>
            </a:r>
          </a:p>
          <a:p>
            <a:pPr>
              <a:lnSpc>
                <a:spcPct val="15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rPr sz="1200" dirty="0"/>
              <a:t>Si le </a:t>
            </a:r>
            <a:r>
              <a:rPr sz="1200" dirty="0" err="1"/>
              <a:t>statut</a:t>
            </a:r>
            <a:r>
              <a:rPr sz="1200" dirty="0"/>
              <a:t> </a:t>
            </a:r>
            <a:r>
              <a:rPr sz="1200" dirty="0" err="1"/>
              <a:t>n'est</a:t>
            </a:r>
            <a:r>
              <a:rPr sz="1200" dirty="0"/>
              <a:t> pas </a:t>
            </a:r>
            <a:r>
              <a:rPr sz="1200" dirty="0" err="1"/>
              <a:t>transmis</a:t>
            </a:r>
            <a:r>
              <a:rPr sz="1200" dirty="0"/>
              <a:t> </a:t>
            </a:r>
            <a:r>
              <a:rPr sz="1200" dirty="0" err="1"/>
              <a:t>lors</a:t>
            </a:r>
            <a:r>
              <a:rPr sz="1200" dirty="0"/>
              <a:t> du </a:t>
            </a:r>
            <a:r>
              <a:rPr sz="1200" dirty="0" err="1"/>
              <a:t>changement</a:t>
            </a:r>
            <a:r>
              <a:rPr sz="1200" dirty="0"/>
              <a:t>, il doit </a:t>
            </a:r>
            <a:r>
              <a:rPr sz="1200" dirty="0" err="1"/>
              <a:t>être</a:t>
            </a:r>
            <a:r>
              <a:rPr sz="1200" dirty="0"/>
              <a:t> </a:t>
            </a:r>
            <a:r>
              <a:rPr sz="1200" dirty="0" err="1"/>
              <a:t>lu</a:t>
            </a:r>
            <a:r>
              <a:rPr sz="1200" dirty="0"/>
              <a:t> </a:t>
            </a:r>
            <a:r>
              <a:rPr sz="1200" dirty="0" err="1"/>
              <a:t>cycliquement</a:t>
            </a:r>
            <a:endParaRPr sz="1200" dirty="0"/>
          </a:p>
          <a:p>
            <a:pPr>
              <a:lnSpc>
                <a:spcPct val="15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rPr sz="1200" dirty="0" err="1"/>
              <a:t>L'indicateur</a:t>
            </a:r>
            <a:r>
              <a:rPr sz="1200" dirty="0"/>
              <a:t> de lecture doit </a:t>
            </a:r>
            <a:r>
              <a:rPr sz="1200" dirty="0" err="1"/>
              <a:t>être</a:t>
            </a:r>
            <a:r>
              <a:rPr sz="1200" dirty="0"/>
              <a:t> </a:t>
            </a:r>
            <a:r>
              <a:rPr sz="1200" dirty="0" err="1"/>
              <a:t>défini</a:t>
            </a:r>
            <a:r>
              <a:rPr sz="1200" dirty="0"/>
              <a:t> dans le </a:t>
            </a:r>
            <a:r>
              <a:rPr sz="1200" dirty="0" err="1"/>
              <a:t>statut</a:t>
            </a:r>
            <a:r>
              <a:rPr sz="1200" dirty="0"/>
              <a:t> pour </a:t>
            </a:r>
            <a:r>
              <a:rPr sz="1200" dirty="0" err="1"/>
              <a:t>répondre</a:t>
            </a:r>
            <a:r>
              <a:rPr sz="1200" dirty="0"/>
              <a:t> aux </a:t>
            </a:r>
            <a:r>
              <a:rPr sz="1200" dirty="0" err="1"/>
              <a:t>demandes</a:t>
            </a:r>
            <a:r>
              <a:rPr sz="1200" dirty="0"/>
              <a:t> de lecture</a:t>
            </a:r>
          </a:p>
          <a:p>
            <a:pPr marL="0" indent="0">
              <a:lnSpc>
                <a:spcPct val="15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sz="1400" dirty="0"/>
              <a:t>Remarques pour le </a:t>
            </a:r>
            <a:r>
              <a:rPr sz="1400" dirty="0" err="1"/>
              <a:t>Démarrage</a:t>
            </a:r>
            <a:r>
              <a:rPr sz="1400" dirty="0"/>
              <a:t> de la </a:t>
            </a:r>
            <a:r>
              <a:rPr sz="1400" dirty="0" err="1"/>
              <a:t>Visualisation</a:t>
            </a:r>
            <a:endParaRPr sz="1400" dirty="0"/>
          </a:p>
          <a:p>
            <a:pPr>
              <a:lnSpc>
                <a:spcPct val="15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sz="1200" dirty="0"/>
              <a:t>Après un </a:t>
            </a:r>
            <a:r>
              <a:rPr sz="1200" dirty="0" err="1"/>
              <a:t>redémarrage</a:t>
            </a:r>
            <a:r>
              <a:rPr sz="1200" dirty="0"/>
              <a:t>, les </a:t>
            </a:r>
            <a:r>
              <a:rPr sz="1200" dirty="0" err="1"/>
              <a:t>états</a:t>
            </a:r>
            <a:r>
              <a:rPr sz="1200" dirty="0"/>
              <a:t> de </a:t>
            </a:r>
            <a:r>
              <a:rPr sz="1200" dirty="0" err="1"/>
              <a:t>l'appareil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cours</a:t>
            </a:r>
            <a:r>
              <a:rPr sz="1200" dirty="0"/>
              <a:t> </a:t>
            </a:r>
            <a:r>
              <a:rPr sz="1200" dirty="0" err="1"/>
              <a:t>doivent</a:t>
            </a:r>
            <a:r>
              <a:rPr sz="1200" dirty="0"/>
              <a:t> </a:t>
            </a:r>
            <a:r>
              <a:rPr sz="1200" dirty="0" err="1"/>
              <a:t>être</a:t>
            </a:r>
            <a:r>
              <a:rPr sz="1200" dirty="0"/>
              <a:t> </a:t>
            </a:r>
            <a:r>
              <a:rPr sz="1200" dirty="0" err="1"/>
              <a:t>demandés</a:t>
            </a:r>
            <a:r>
              <a:rPr sz="1200" dirty="0"/>
              <a:t> (activation de « </a:t>
            </a:r>
            <a:r>
              <a:rPr sz="1200" dirty="0" err="1"/>
              <a:t>adresse</a:t>
            </a:r>
            <a:r>
              <a:rPr sz="1200" dirty="0"/>
              <a:t> du </a:t>
            </a:r>
            <a:r>
              <a:rPr sz="1200" dirty="0" err="1"/>
              <a:t>groupe</a:t>
            </a:r>
            <a:r>
              <a:rPr sz="1200" dirty="0"/>
              <a:t> </a:t>
            </a:r>
            <a:r>
              <a:rPr sz="1200" dirty="0" err="1"/>
              <a:t>d'envoi</a:t>
            </a:r>
            <a:r>
              <a:rPr sz="1200" dirty="0"/>
              <a:t>»)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sz="1200" dirty="0"/>
              <a:t>Important : </a:t>
            </a:r>
            <a:r>
              <a:rPr sz="1200" dirty="0">
                <a:solidFill>
                  <a:schemeClr val="tx1"/>
                </a:solidFill>
              </a:rPr>
              <a:t>Une </a:t>
            </a:r>
            <a:r>
              <a:rPr sz="1200" dirty="0" err="1">
                <a:solidFill>
                  <a:schemeClr val="tx1"/>
                </a:solidFill>
              </a:rPr>
              <a:t>adresse</a:t>
            </a:r>
            <a:r>
              <a:rPr sz="1200" dirty="0">
                <a:solidFill>
                  <a:schemeClr val="tx1"/>
                </a:solidFill>
              </a:rPr>
              <a:t> centrale </a:t>
            </a:r>
            <a:r>
              <a:rPr sz="1200" dirty="0" err="1">
                <a:solidFill>
                  <a:schemeClr val="tx1"/>
                </a:solidFill>
              </a:rPr>
              <a:t>ou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utilisée</a:t>
            </a:r>
            <a:r>
              <a:rPr sz="1200" dirty="0">
                <a:solidFill>
                  <a:schemeClr val="tx1"/>
                </a:solidFill>
              </a:rPr>
              <a:t> par </a:t>
            </a:r>
            <a:r>
              <a:rPr sz="1200" dirty="0" err="1">
                <a:solidFill>
                  <a:schemeClr val="tx1"/>
                </a:solidFill>
              </a:rPr>
              <a:t>plusieurs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appareils</a:t>
            </a:r>
            <a:r>
              <a:rPr sz="1200" dirty="0">
                <a:solidFill>
                  <a:schemeClr val="tx1"/>
                </a:solidFill>
              </a:rPr>
              <a:t> ne </a:t>
            </a:r>
            <a:r>
              <a:rPr sz="1200" dirty="0" err="1">
                <a:solidFill>
                  <a:schemeClr val="tx1"/>
                </a:solidFill>
              </a:rPr>
              <a:t>peut</a:t>
            </a:r>
            <a:r>
              <a:rPr sz="1200" dirty="0">
                <a:solidFill>
                  <a:schemeClr val="tx1"/>
                </a:solidFill>
              </a:rPr>
              <a:t> jamais </a:t>
            </a:r>
            <a:r>
              <a:rPr sz="1200" dirty="0" err="1">
                <a:solidFill>
                  <a:schemeClr val="tx1"/>
                </a:solidFill>
              </a:rPr>
              <a:t>être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implémentée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en</a:t>
            </a:r>
            <a:r>
              <a:rPr sz="1200" dirty="0">
                <a:solidFill>
                  <a:schemeClr val="tx1"/>
                </a:solidFill>
              </a:rPr>
              <a:t> tant </a:t>
            </a:r>
            <a:r>
              <a:rPr sz="1200" dirty="0" err="1">
                <a:solidFill>
                  <a:schemeClr val="tx1"/>
                </a:solidFill>
              </a:rPr>
              <a:t>qu'adresse</a:t>
            </a:r>
            <a:r>
              <a:rPr sz="1200" dirty="0">
                <a:solidFill>
                  <a:schemeClr val="tx1"/>
                </a:solidFill>
              </a:rPr>
              <a:t> de </a:t>
            </a:r>
            <a:r>
              <a:rPr sz="1200" dirty="0" err="1">
                <a:solidFill>
                  <a:schemeClr val="tx1"/>
                </a:solidFill>
              </a:rPr>
              <a:t>groupe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d'envoi</a:t>
            </a:r>
            <a:r>
              <a:rPr sz="1200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sz="1200" dirty="0"/>
              <a:t>La </a:t>
            </a:r>
            <a:r>
              <a:rPr sz="1200" dirty="0" err="1"/>
              <a:t>réponse</a:t>
            </a:r>
            <a:r>
              <a:rPr sz="1200" dirty="0"/>
              <a:t> </a:t>
            </a:r>
            <a:r>
              <a:rPr sz="1200" dirty="0" err="1"/>
              <a:t>d'une</a:t>
            </a:r>
            <a:r>
              <a:rPr sz="1200" dirty="0"/>
              <a:t> </a:t>
            </a:r>
            <a:r>
              <a:rPr sz="1200" dirty="0" err="1"/>
              <a:t>demande</a:t>
            </a:r>
            <a:r>
              <a:rPr sz="1200" dirty="0"/>
              <a:t> de lecture sera </a:t>
            </a:r>
            <a:r>
              <a:rPr sz="1200" dirty="0" err="1"/>
              <a:t>interprétée</a:t>
            </a:r>
            <a:r>
              <a:rPr sz="1200" dirty="0"/>
              <a:t> </a:t>
            </a:r>
            <a:r>
              <a:rPr sz="1200" dirty="0" err="1"/>
              <a:t>comme</a:t>
            </a:r>
            <a:r>
              <a:rPr sz="1200" dirty="0"/>
              <a:t> un </a:t>
            </a:r>
            <a:r>
              <a:rPr sz="1200" dirty="0" err="1"/>
              <a:t>télégramme</a:t>
            </a:r>
            <a:r>
              <a:rPr sz="1200" dirty="0"/>
              <a:t> </a:t>
            </a:r>
            <a:r>
              <a:rPr sz="1200" dirty="0" err="1"/>
              <a:t>d'écriture</a:t>
            </a:r>
            <a:r>
              <a:rPr sz="1200" dirty="0"/>
              <a:t> normal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sz="1400" kern="0" dirty="0"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sz="1400" kern="0" dirty="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1600" kern="0" dirty="0"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39A1312-8AD4-6DB4-6915-FB65FD07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984" y="32849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0D66B9AA-98FB-234D-16C6-5CFEB5D47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575577"/>
              </p:ext>
            </p:extLst>
          </p:nvPr>
        </p:nvGraphicFramePr>
        <p:xfrm>
          <a:off x="5076056" y="2204863"/>
          <a:ext cx="4067944" cy="2517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400833" imgH="2666944" progId="Word.Picture.8">
                  <p:embed/>
                </p:oleObj>
              </mc:Choice>
              <mc:Fallback>
                <p:oleObj name="Picture" r:id="rId3" imgW="4400833" imgH="266694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D66B9AA-98FB-234D-16C6-5CFEB5D475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2204863"/>
                        <a:ext cx="4067944" cy="2517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464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Types de Communication par Bus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Démarrage du programme : </a:t>
            </a:r>
            <a:r>
              <a:rPr>
                <a:solidFill>
                  <a:schemeClr val="tx1"/>
                </a:solidFill>
              </a:rPr>
              <a:t>Au démarrage, tous les groupes doivent être lus. Les drapeaux en lecture ne peuvent être définis qu'une seule fois par adresse de groupe </a:t>
            </a:r>
            <a:b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F2CD8-B984-4F09-9111-7583F693C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739774"/>
            <a:ext cx="6743770" cy="36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8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Types de Communication par Bus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Opération normale : </a:t>
            </a:r>
            <a:r>
              <a:rPr>
                <a:solidFill>
                  <a:schemeClr val="tx1"/>
                </a:solidFill>
              </a:rPr>
              <a:t>Mise à jour de l'image du processus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  <a:defRPr sz="1800" b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écoute permanente dans le bus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  <a:defRPr sz="1800" b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Miroir et lecture après transmission (cette méthode devient obsolète avec les objets d'état de réponse automatique)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  <a:defRPr sz="1800" b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relecture cyclique : garder les informations d'état aussi actuelles que possible est uniquement utilisé. Méthodes:</a:t>
            </a:r>
          </a:p>
          <a:p>
            <a:pPr lvl="2">
              <a:lnSpc>
                <a:spcPct val="150000"/>
              </a:lnSpc>
              <a:defRPr sz="1800" b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Transmission automatique du statut après changement</a:t>
            </a:r>
          </a:p>
          <a:p>
            <a:pPr lvl="2">
              <a:lnSpc>
                <a:spcPct val="150000"/>
              </a:lnSpc>
              <a:defRPr sz="1800" b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Mise à jour cyclique du statut</a:t>
            </a:r>
          </a:p>
          <a:p>
            <a:pPr lvl="1">
              <a:lnSpc>
                <a:spcPct val="150000"/>
              </a:lnSpc>
            </a:pPr>
            <a:endParaRPr sz="16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9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Types de Communication par Bus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846D620-844B-4851-BC59-837E14563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651986"/>
              </p:ext>
            </p:extLst>
          </p:nvPr>
        </p:nvGraphicFramePr>
        <p:xfrm>
          <a:off x="934317" y="1484784"/>
          <a:ext cx="5578475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399757" imgH="1963714" progId="Visio.Drawing.15">
                  <p:embed/>
                </p:oleObj>
              </mc:Choice>
              <mc:Fallback>
                <p:oleObj r:id="rId3" imgW="8399757" imgH="1963714" progId="Visio.Drawing.15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846D620-844B-4851-BC59-837E14563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17" y="1484784"/>
                        <a:ext cx="5578475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senden_und_zurücklesen">
            <a:extLst>
              <a:ext uri="{FF2B5EF4-FFF2-40B4-BE49-F238E27FC236}">
                <a16:creationId xmlns:a16="http://schemas.microsoft.com/office/drawing/2014/main" id="{861E7ECC-72B2-48CF-9DC7-E9E85C95EC7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62" y="2915538"/>
            <a:ext cx="5574030" cy="58547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8E77F4-C8EE-41F4-9A31-5D78161DB281}"/>
              </a:ext>
            </a:extLst>
          </p:cNvPr>
          <p:cNvSpPr/>
          <p:nvPr/>
        </p:nvSpPr>
        <p:spPr>
          <a:xfrm>
            <a:off x="6874977" y="1857598"/>
            <a:ext cx="180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Visualisation - Relecture après envoi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D868814-F2EE-4387-88A9-C55E722B91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048431"/>
              </p:ext>
            </p:extLst>
          </p:nvPr>
        </p:nvGraphicFramePr>
        <p:xfrm>
          <a:off x="934317" y="3789040"/>
          <a:ext cx="5578475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399757" imgH="1963714" progId="Visio.Drawing.15">
                  <p:embed/>
                </p:oleObj>
              </mc:Choice>
              <mc:Fallback>
                <p:oleObj r:id="rId6" imgW="8399757" imgH="1963714" progId="Visio.Drawing.15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D868814-F2EE-4387-88A9-C55E722B91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17" y="3789040"/>
                        <a:ext cx="5578475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senden_zyklisch">
            <a:extLst>
              <a:ext uri="{FF2B5EF4-FFF2-40B4-BE49-F238E27FC236}">
                <a16:creationId xmlns:a16="http://schemas.microsoft.com/office/drawing/2014/main" id="{ED9D9959-2A5B-424D-97EB-C31BEC4678E6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77" y="5229200"/>
            <a:ext cx="5575300" cy="996315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1D4993A-CB19-4796-B035-B8D1C4F37FB3}"/>
              </a:ext>
            </a:extLst>
          </p:cNvPr>
          <p:cNvSpPr/>
          <p:nvPr/>
        </p:nvSpPr>
        <p:spPr>
          <a:xfrm>
            <a:off x="6876256" y="4437112"/>
            <a:ext cx="180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Visualisation : Lecture cyclique</a:t>
            </a:r>
          </a:p>
        </p:txBody>
      </p:sp>
    </p:spTree>
    <p:extLst>
      <p:ext uri="{BB962C8B-B14F-4D97-AF65-F5344CB8AC3E}">
        <p14:creationId xmlns:p14="http://schemas.microsoft.com/office/powerpoint/2010/main" val="1502931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Types de Communication par Bus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Modes d'enregistrement des données : </a:t>
            </a:r>
            <a:r>
              <a:rPr>
                <a:solidFill>
                  <a:schemeClr val="tx1"/>
                </a:solidFill>
              </a:rPr>
              <a:t>Opérations de suivi des données pour analyser et prendre des décisions</a:t>
            </a: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714BFF-CA5D-47CA-9BFA-4906C6E56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326427"/>
            <a:ext cx="6359605" cy="398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99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t>Connexion à la supervision 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Connexion directe </a:t>
            </a:r>
            <a:r>
              <a:rPr>
                <a:solidFill>
                  <a:schemeClr val="tx1"/>
                </a:solidFill>
              </a:rPr>
              <a:t>via l'interface matérielle</a:t>
            </a:r>
          </a:p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Connexion indirecte 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via la passerelle (Hardware) ou le serveur (Software, p. ex. OPC):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  <a:latin typeface="Arial" charset="0"/>
              </a:defRPr>
            </a:pPr>
            <a:r>
              <a:t>Connexion via Passerelle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  <a:latin typeface="Arial" charset="0"/>
              </a:defRPr>
            </a:pPr>
            <a:r>
              <a:t>Connexion via le Serveur OPC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  <a:latin typeface="Arial" charset="0"/>
              </a:defRPr>
            </a:pPr>
            <a:r>
              <a:t>Serveur Web et HTML - L'accès au bus peut être :</a:t>
            </a:r>
          </a:p>
          <a:p>
            <a:pPr marL="1200150" lvl="2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charset="0"/>
              </a:defRPr>
            </a:pPr>
            <a:r>
              <a:t>local via un serveur web intégré dans un participant KNX</a:t>
            </a:r>
          </a:p>
          <a:p>
            <a:pPr marL="1200150" lvl="2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charset="0"/>
              </a:defRPr>
            </a:pPr>
            <a:r>
              <a:t>distribué via les services KNXnet/IP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sz="2000" b="1">
              <a:solidFill>
                <a:schemeClr val="tx1"/>
              </a:solidFill>
              <a:latin typeface="Arial" charset="0"/>
            </a:endParaRP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8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Concept de fonctionnement du serveur OPC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992368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Programme logiciel pour le transfert de données, sauvegarde intermédiaire (mise en mémoire tampon de l'image du processus) et, si nécessaire, de conversion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L'image du processus est stockée en mémoire et est toujours à jour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2F53FF0-75C2-4225-B8DA-6084054C8B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183334"/>
              </p:ext>
            </p:extLst>
          </p:nvPr>
        </p:nvGraphicFramePr>
        <p:xfrm>
          <a:off x="2195736" y="3482074"/>
          <a:ext cx="5833848" cy="2789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658237" imgH="4152800" progId="Visio.Drawing.15">
                  <p:embed/>
                </p:oleObj>
              </mc:Choice>
              <mc:Fallback>
                <p:oleObj r:id="rId3" imgW="8658237" imgH="4152800" progId="Visio.Drawing.15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2F53FF0-75C2-4225-B8DA-6084054C8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482074"/>
                        <a:ext cx="5833848" cy="27890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4435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Accès au Bus via le serveur KNXnet/IP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179512" y="1484784"/>
            <a:ext cx="79203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Accès au réseau KNX indépendant de localisation via Ethernet :</a:t>
            </a:r>
          </a:p>
          <a:p>
            <a:pPr>
              <a:lnSpc>
                <a:spcPct val="150000"/>
              </a:lnSpc>
              <a:defRPr sz="16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Routage : 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Communication via adresse IP multicast. Adresse KNX Multicast 224.0.23.12.  Ne peut pas être utilisé via Internet</a:t>
            </a:r>
          </a:p>
          <a:p>
            <a:pPr>
              <a:lnSpc>
                <a:spcPct val="150000"/>
              </a:lnSpc>
            </a:pPr>
            <a:endParaRPr sz="8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  Descripción generada automáticamente">
            <a:extLst>
              <a:ext uri="{FF2B5EF4-FFF2-40B4-BE49-F238E27FC236}">
                <a16:creationId xmlns:a16="http://schemas.microsoft.com/office/drawing/2014/main" id="{7A0D0F06-DCF1-8BE8-7D91-E3132164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780928"/>
            <a:ext cx="6789160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54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Accès au Bus via le serveur KNXnet/IP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79203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Accès au réseau KNX indépendant de localisation via Ethernet :</a:t>
            </a:r>
          </a:p>
          <a:p>
            <a:pPr>
              <a:lnSpc>
                <a:spcPct val="150000"/>
              </a:lnSpc>
              <a:defRPr sz="16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Tunnelling: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 accès direct illimité via passerelle IP. Les tables filtrantes sont ignorées; les télégrammes sont ''tunnelés'' à travers la table de filtrage du routeur. Avantage : les tables de filtre ne doivent pas nécessairement correspondre. Inconvénient : une seule ligne est adressée. Convient à un accès à distance via Internet</a:t>
            </a:r>
            <a:endParaRPr sz="16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  Descripción generada automáticamente">
            <a:extLst>
              <a:ext uri="{FF2B5EF4-FFF2-40B4-BE49-F238E27FC236}">
                <a16:creationId xmlns:a16="http://schemas.microsoft.com/office/drawing/2014/main" id="{65F52BFE-E5AF-8615-A800-D3349D177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7" y="3140968"/>
            <a:ext cx="5787555" cy="308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24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Accès au Bus via le serveur KNXnet/IP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9203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Accès au réseau KNX indépendant de localisation via Ethernet :</a:t>
            </a:r>
          </a:p>
          <a:p>
            <a:pPr>
              <a:lnSpc>
                <a:spcPct val="150000"/>
              </a:lnSpc>
            </a:pPr>
            <a:endParaRPr sz="8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 sz="18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Serveur objet: 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accès tunnel mais uniquement pour la communication de groupe. Utilisé pour les grandes distances lors de l'accès à distance. Il devrait être utilisé si le temps de réponse ping est &gt; 1 000 ms</a:t>
            </a:r>
            <a:endParaRPr sz="18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48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Exportation des Données du Projet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Données : </a:t>
            </a:r>
            <a:r>
              <a:rPr>
                <a:solidFill>
                  <a:schemeClr val="tx1"/>
                </a:solidFill>
              </a:rPr>
              <a:t>Adresses du groupe + format de point de données + comm. les indicateurs (flags)</a:t>
            </a: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Imagen 3" descr="Interfaz de usuario gráfica, Aplicación, Word  Descripción generada automáticamente">
            <a:extLst>
              <a:ext uri="{FF2B5EF4-FFF2-40B4-BE49-F238E27FC236}">
                <a16:creationId xmlns:a16="http://schemas.microsoft.com/office/drawing/2014/main" id="{E34478D0-3B08-28E5-87C8-EFAA34C49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074525"/>
            <a:ext cx="5580380" cy="2794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151123-E42B-4741-92CC-FF3E2E62A7F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212976"/>
            <a:ext cx="4857580" cy="26470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80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1" y="765646"/>
            <a:ext cx="6696223" cy="719138"/>
          </a:xfrm>
        </p:spPr>
        <p:txBody>
          <a:bodyPr/>
          <a:lstStyle/>
          <a:p>
            <a:r>
              <a:t>Exportation des Données du Projet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E22FC7-A3AB-4A90-88F2-767455547538}"/>
              </a:ext>
            </a:extLst>
          </p:cNvPr>
          <p:cNvSpPr/>
          <p:nvPr/>
        </p:nvSpPr>
        <p:spPr>
          <a:xfrm>
            <a:off x="5968973" y="6012418"/>
            <a:ext cx="2621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b="1"/>
            </a:pPr>
            <a:r>
              <a:t>Exportation de groupe dans ETS6 </a:t>
            </a:r>
          </a:p>
        </p:txBody>
      </p:sp>
      <p:pic>
        <p:nvPicPr>
          <p:cNvPr id="5" name="Imagen 4" descr="Interfaz de usuario gráfica, Texto, Aplicación, Correo electrónico  Descripción generada automáticamente">
            <a:extLst>
              <a:ext uri="{FF2B5EF4-FFF2-40B4-BE49-F238E27FC236}">
                <a16:creationId xmlns:a16="http://schemas.microsoft.com/office/drawing/2014/main" id="{DF0A9CD4-12E3-1360-A917-65AC45B06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05915"/>
            <a:ext cx="5580380" cy="3646170"/>
          </a:xfrm>
          <a:prstGeom prst="rect">
            <a:avLst/>
          </a:prstGeom>
        </p:spPr>
      </p:pic>
      <p:pic>
        <p:nvPicPr>
          <p:cNvPr id="6" name="Imagen 5" descr="Texto  Descripción generada automáticamente">
            <a:extLst>
              <a:ext uri="{FF2B5EF4-FFF2-40B4-BE49-F238E27FC236}">
                <a16:creationId xmlns:a16="http://schemas.microsoft.com/office/drawing/2014/main" id="{72DD4C33-EA91-259B-B421-4D70A4B79F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348880"/>
            <a:ext cx="3962400" cy="343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45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7200279" cy="719138"/>
          </a:xfrm>
        </p:spPr>
        <p:txBody>
          <a:bodyPr/>
          <a:lstStyle/>
          <a:p>
            <a:r>
              <a:t>Point d'Accès Physique dans le Système de Bus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1795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>
                <a:solidFill>
                  <a:schemeClr val="tx1"/>
                </a:solidFill>
              </a:rPr>
              <a:t>Si le système de bus se compose de plusieurs </a:t>
            </a:r>
            <a:r>
              <a:t>lignes</a:t>
            </a:r>
            <a:r>
              <a:rPr>
                <a:solidFill>
                  <a:schemeClr val="tx1"/>
                </a:solidFill>
              </a:rPr>
              <a:t>, la S</a:t>
            </a:r>
            <a:r>
              <a:rPr>
                <a:solidFill>
                  <a:schemeClr val="tx1"/>
                </a:solidFill>
                <a:ea typeface="Open Sans" panose="020B0606030504020204" pitchFamily="34" charset="0"/>
              </a:rPr>
              <a:t>supervision doit être connectée à la </a:t>
            </a:r>
            <a:r>
              <a:rPr>
                <a:ea typeface="Open Sans" panose="020B0606030504020204" pitchFamily="34" charset="0"/>
              </a:rPr>
              <a:t>ligne principale</a:t>
            </a:r>
            <a:r>
              <a:rPr>
                <a:solidFill>
                  <a:schemeClr val="tx1"/>
                </a:solidFill>
                <a:ea typeface="Open Sans" panose="020B0606030504020204" pitchFamily="34" charset="0"/>
              </a:rPr>
              <a:t> pour permettre un accès optimal</a:t>
            </a:r>
          </a:p>
          <a:p>
            <a:pPr marL="457200" indent="-457200">
              <a:buFont typeface="+mj-lt"/>
              <a:buAutoNum type="arabicPeriod"/>
            </a:pPr>
            <a:endParaRPr sz="18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9CF938-6334-4DD5-8084-AE9723D71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037" y="2564904"/>
            <a:ext cx="6224236" cy="342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65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1" y="765646"/>
            <a:ext cx="7200279" cy="719138"/>
          </a:xfrm>
        </p:spPr>
        <p:txBody>
          <a:bodyPr/>
          <a:lstStyle/>
          <a:p>
            <a:r>
              <a:t>Point d'Accès Physique dans le Système de Bus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 b="0">
                <a:solidFill>
                  <a:schemeClr val="tx1"/>
                </a:solidFill>
                <a:latin typeface="Arial" charset="0"/>
              </a:defRPr>
            </a:pPr>
            <a:r>
              <a:t>Scénario avec une visualisation centrale dans une grande installation</a:t>
            </a:r>
            <a:endParaRPr sz="2400" b="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Imagen que contiene Diagrama  Descripción generada automáticamente">
            <a:extLst>
              <a:ext uri="{FF2B5EF4-FFF2-40B4-BE49-F238E27FC236}">
                <a16:creationId xmlns:a16="http://schemas.microsoft.com/office/drawing/2014/main" id="{00AB2D4C-1394-CDD0-990E-8E9301995B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00" y="2098278"/>
            <a:ext cx="7985540" cy="394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19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880" y="1008122"/>
            <a:ext cx="6696223" cy="358676"/>
          </a:xfrm>
        </p:spPr>
        <p:txBody>
          <a:bodyPr/>
          <a:lstStyle/>
          <a:p>
            <a:r>
              <a:t>Télégrammes envoyés à travers les Lignes/Zones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Les informations pertinentes pour la supervision à travers les lignes ou les zones dépendent du comportement du coupleur</a:t>
            </a:r>
          </a:p>
          <a:p>
            <a:pPr>
              <a:defRPr sz="2000"/>
            </a:pPr>
            <a:r>
              <a:t>Activation de la Table des Filtres</a:t>
            </a:r>
          </a:p>
          <a:p>
            <a:pPr>
              <a:defRPr sz="2000"/>
            </a:pPr>
            <a:r>
              <a:t>Utilisation de routeurs IP au lieu de Coupleurs de Ligne</a:t>
            </a:r>
            <a:endParaRPr sz="2000"/>
          </a:p>
          <a:p>
            <a:pPr>
              <a:defRPr sz="2000"/>
            </a:pPr>
            <a:r>
              <a:t>Correction de la Table de Filtres à l'aide de Dispositifs Factices</a:t>
            </a:r>
          </a:p>
          <a:p>
            <a:pPr marL="0" indent="0">
              <a:lnSpc>
                <a:spcPct val="150000"/>
              </a:lnSpc>
              <a:buNone/>
            </a:pPr>
            <a:endParaRPr sz="2000"/>
          </a:p>
          <a:p>
            <a:pPr marL="0" indent="0">
              <a:lnSpc>
                <a:spcPct val="150000"/>
              </a:lnSpc>
              <a:buNone/>
            </a:pPr>
            <a:endParaRPr sz="20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A96523-2074-4533-B9DF-A0F697887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961428"/>
            <a:ext cx="3371469" cy="2059860"/>
          </a:xfrm>
          <a:prstGeom prst="rect">
            <a:avLst/>
          </a:prstGeom>
        </p:spPr>
      </p:pic>
      <p:pic>
        <p:nvPicPr>
          <p:cNvPr id="5" name="Picture 4" descr="dummy_obj">
            <a:extLst>
              <a:ext uri="{FF2B5EF4-FFF2-40B4-BE49-F238E27FC236}">
                <a16:creationId xmlns:a16="http://schemas.microsoft.com/office/drawing/2014/main" id="{FB58D864-24CD-483A-BCCA-32E4C90343C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961428"/>
            <a:ext cx="4104456" cy="205986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3E085E-7647-42ED-B04F-EA0F43B54334}"/>
              </a:ext>
            </a:extLst>
          </p:cNvPr>
          <p:cNvSpPr/>
          <p:nvPr/>
        </p:nvSpPr>
        <p:spPr>
          <a:xfrm>
            <a:off x="3347864" y="6021288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Paramètres et objets d'une application fictive</a:t>
            </a:r>
          </a:p>
        </p:txBody>
      </p:sp>
    </p:spTree>
    <p:extLst>
      <p:ext uri="{BB962C8B-B14F-4D97-AF65-F5344CB8AC3E}">
        <p14:creationId xmlns:p14="http://schemas.microsoft.com/office/powerpoint/2010/main" val="3243177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t>Utilisation de routeurs IP au lieu de Coupleurs TP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 b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La ligne réseau est OK, mais peut-être encore un problème avec les tampons du coupleurs</a:t>
            </a: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Imagen 5" descr="Diagrama  Descripción generada automáticamente">
            <a:extLst>
              <a:ext uri="{FF2B5EF4-FFF2-40B4-BE49-F238E27FC236}">
                <a16:creationId xmlns:a16="http://schemas.microsoft.com/office/drawing/2014/main" id="{545A5FDD-82C9-C922-7F74-7EB84F4DB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21" y="1988840"/>
            <a:ext cx="7667311" cy="407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52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t>Utilisation de routeurs IP au lieu de Coupleurs TP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 b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Solution pour des installations KNX très importante en utilisant le logiciel BMS</a:t>
            </a: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  Descripción generada automáticamente">
            <a:extLst>
              <a:ext uri="{FF2B5EF4-FFF2-40B4-BE49-F238E27FC236}">
                <a16:creationId xmlns:a16="http://schemas.microsoft.com/office/drawing/2014/main" id="{5E504B56-2989-BD43-63C0-AC10429C9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81" y="2276871"/>
            <a:ext cx="7325711" cy="39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4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t>Utilisation d'Interfaces IP au lieu de Coupleurs TP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23528" y="1412776"/>
            <a:ext cx="86409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 b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Solution pour la supervision multi-sites à l'aide de logiciels BMS et d'interfaces IP au lieu de routeurs IP</a:t>
            </a: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Imagen 3" descr="Diagrama, Esquemático  Descripción generada automáticamente">
            <a:extLst>
              <a:ext uri="{FF2B5EF4-FFF2-40B4-BE49-F238E27FC236}">
                <a16:creationId xmlns:a16="http://schemas.microsoft.com/office/drawing/2014/main" id="{0732BE38-3750-BB87-65CC-1B62538FFA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6"/>
          <a:stretch/>
        </p:blipFill>
        <p:spPr bwMode="auto">
          <a:xfrm>
            <a:off x="885740" y="2348880"/>
            <a:ext cx="7516535" cy="39442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8671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t>Utilisation des interfaces IP et Coupleurs TP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23528" y="1412776"/>
            <a:ext cx="86409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 b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Solution pour les anciennes installations KNX TP à l'aide de logiciels BMS et d'interfaces IP</a:t>
            </a:r>
          </a:p>
          <a:p>
            <a:pPr>
              <a:lnSpc>
                <a:spcPct val="150000"/>
              </a:lnSpc>
            </a:pPr>
            <a:endParaRPr sz="20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, Esquemático  Descripción generada automáticamente">
            <a:extLst>
              <a:ext uri="{FF2B5EF4-FFF2-40B4-BE49-F238E27FC236}">
                <a16:creationId xmlns:a16="http://schemas.microsoft.com/office/drawing/2014/main" id="{D1F936EB-AEB6-FB05-E9F9-749553B688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51" y="2996952"/>
            <a:ext cx="7083653" cy="3240360"/>
          </a:xfrm>
          <a:prstGeom prst="rect">
            <a:avLst/>
          </a:prstGeom>
        </p:spPr>
      </p:pic>
      <p:pic>
        <p:nvPicPr>
          <p:cNvPr id="5" name="Imagen 4" descr="Imagen que contiene Diagrama  Descripción generada automáticamente">
            <a:extLst>
              <a:ext uri="{FF2B5EF4-FFF2-40B4-BE49-F238E27FC236}">
                <a16:creationId xmlns:a16="http://schemas.microsoft.com/office/drawing/2014/main" id="{2EC006B7-C781-69C3-1EFB-0AAEAB94B0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916832"/>
            <a:ext cx="3794503" cy="1872208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DBC4CA0-115A-0074-411F-16A2161B07B7}"/>
              </a:ext>
            </a:extLst>
          </p:cNvPr>
          <p:cNvCxnSpPr/>
          <p:nvPr/>
        </p:nvCxnSpPr>
        <p:spPr>
          <a:xfrm>
            <a:off x="2987824" y="3068960"/>
            <a:ext cx="1440160" cy="864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972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137" y="1052736"/>
            <a:ext cx="6696223" cy="432048"/>
          </a:xfrm>
        </p:spPr>
        <p:txBody>
          <a:bodyPr/>
          <a:lstStyle/>
          <a:p>
            <a:r>
              <a:t>Types de supervision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632328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Périphérique KNX avec logiciel de visualisation intégré : </a:t>
            </a:r>
            <a:r>
              <a:rPr>
                <a:solidFill>
                  <a:schemeClr val="tx1"/>
                </a:solidFill>
              </a:rPr>
              <a:t>Comme un panneau tactile avec un KNX BCU embarqué configurable </a:t>
            </a:r>
          </a:p>
          <a:p>
            <a:pPr>
              <a:lnSpc>
                <a:spcPct val="150000"/>
              </a:lnSpc>
            </a:pPr>
            <a:endParaRPr sz="10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Appareil mobile</a:t>
            </a:r>
            <a:r>
              <a:rPr>
                <a:solidFill>
                  <a:schemeClr val="tx1"/>
                </a:solidFill>
              </a:rPr>
              <a:t>: Comme un smartphone ou une tablette, avec le logiciel installé. Habituellement, la connexion est faite via WiFi en utilisant un routeur/interface KNXnet/IP</a:t>
            </a:r>
          </a:p>
          <a:p>
            <a:pPr>
              <a:lnSpc>
                <a:spcPct val="150000"/>
              </a:lnSpc>
            </a:pPr>
            <a:endParaRPr sz="10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Supervision client/serveur :  </a:t>
            </a:r>
            <a:r>
              <a:rPr>
                <a:solidFill>
                  <a:schemeClr val="tx1"/>
                </a:solidFill>
              </a:rPr>
              <a:t>Le logiciel s'exécute sur un périphérique central en tant que serveur et peut être accédé par d'autres appareils en tant que clients</a:t>
            </a: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46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t>Participant KNX avec logiciel intégré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7128792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t>C'est généralement une unité d'affichage ou un panneau tactile, avec un contrôleur KNX intégré, pour se connecter au bus et surveiller et contrôler l'installation de KNX. </a:t>
            </a:r>
          </a:p>
          <a:p>
            <a:pPr>
              <a:lnSpc>
                <a:spcPct val="15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>
                <a:ea typeface="Open Sans" panose="020B0606030504020204" pitchFamily="34" charset="0"/>
              </a:rPr>
              <a:t>Configuré et commandé avec </a:t>
            </a:r>
            <a:r>
              <a:t>KNX ''S-mode'' par ETS, parfois en utilisant des applications DCA ou des plug-ins. </a:t>
            </a:r>
            <a:endParaRPr sz="1600" kern="0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 descr="Interfaz de usuario gráfica, Aplicación  Descripción generada automáticamente">
            <a:extLst>
              <a:ext uri="{FF2B5EF4-FFF2-40B4-BE49-F238E27FC236}">
                <a16:creationId xmlns:a16="http://schemas.microsoft.com/office/drawing/2014/main" id="{FD80A7E0-E500-AEFB-07BC-D796F9C66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3717032"/>
            <a:ext cx="6342530" cy="2417783"/>
          </a:xfrm>
          <a:prstGeom prst="rect">
            <a:avLst/>
          </a:prstGeom>
        </p:spPr>
      </p:pic>
      <p:pic>
        <p:nvPicPr>
          <p:cNvPr id="4" name="Imagen 3" descr="Interfaz de usuario gráfica, Aplicación  Descripción generada automáticamente">
            <a:extLst>
              <a:ext uri="{FF2B5EF4-FFF2-40B4-BE49-F238E27FC236}">
                <a16:creationId xmlns:a16="http://schemas.microsoft.com/office/drawing/2014/main" id="{936C1FF8-D6A2-425A-1426-ECBA15767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296" y="1063397"/>
            <a:ext cx="1727200" cy="986790"/>
          </a:xfrm>
          <a:prstGeom prst="rect">
            <a:avLst/>
          </a:prstGeom>
        </p:spPr>
      </p:pic>
      <p:pic>
        <p:nvPicPr>
          <p:cNvPr id="5" name="Imagen 4" descr="Captura de pantalla de un celular  Descripción generada automáticamente">
            <a:extLst>
              <a:ext uri="{FF2B5EF4-FFF2-40B4-BE49-F238E27FC236}">
                <a16:creationId xmlns:a16="http://schemas.microsoft.com/office/drawing/2014/main" id="{87F82D1C-AA9E-3599-0A80-B83E50006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95" y="4204485"/>
            <a:ext cx="2595032" cy="1600779"/>
          </a:xfrm>
          <a:prstGeom prst="rect">
            <a:avLst/>
          </a:prstGeom>
        </p:spPr>
      </p:pic>
      <p:pic>
        <p:nvPicPr>
          <p:cNvPr id="6" name="Imagen 5" descr="Imagen de la pantalla de un celular con letras  Descripción generada automáticamente con confianza media">
            <a:extLst>
              <a:ext uri="{FF2B5EF4-FFF2-40B4-BE49-F238E27FC236}">
                <a16:creationId xmlns:a16="http://schemas.microsoft.com/office/drawing/2014/main" id="{2E2A77A1-7C8B-44BF-3BF7-9E1A48C94C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713" y="2078955"/>
            <a:ext cx="1048385" cy="1990725"/>
          </a:xfrm>
          <a:prstGeom prst="rect">
            <a:avLst/>
          </a:prstGeom>
        </p:spPr>
      </p:pic>
      <p:pic>
        <p:nvPicPr>
          <p:cNvPr id="8" name="Imagen 7" descr="Interfaz de usuario gráfica, Aplicación  Descripción generada automáticamente">
            <a:extLst>
              <a:ext uri="{FF2B5EF4-FFF2-40B4-BE49-F238E27FC236}">
                <a16:creationId xmlns:a16="http://schemas.microsoft.com/office/drawing/2014/main" id="{48C17F5B-A454-321A-BB1C-4C9B3882DFA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15188" r="69618" b="19526"/>
          <a:stretch/>
        </p:blipFill>
        <p:spPr bwMode="auto">
          <a:xfrm>
            <a:off x="7070265" y="2146131"/>
            <a:ext cx="920574" cy="17442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3250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t>Participant KNX avec logiciel intégré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7128792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16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Écran tactile avec accès smartphone/tablette supplémentaire</a:t>
            </a:r>
          </a:p>
          <a:p>
            <a:pPr>
              <a:lnSpc>
                <a:spcPct val="150000"/>
              </a:lnSpc>
              <a:defRPr sz="16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Autoriser l'accès local ou sécurisé à distance à l'appareil</a:t>
            </a:r>
          </a:p>
          <a:p>
            <a:pPr>
              <a:lnSpc>
                <a:spcPct val="150000"/>
              </a:lnSpc>
              <a:defRPr sz="16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Aucune configuration réseau n'est nécessaire</a:t>
            </a:r>
          </a:p>
        </p:txBody>
      </p:sp>
      <p:pic>
        <p:nvPicPr>
          <p:cNvPr id="7" name="Imagen 6" descr="Interfaz de usuario gráfica  Descripción generada automáticamente">
            <a:extLst>
              <a:ext uri="{FF2B5EF4-FFF2-40B4-BE49-F238E27FC236}">
                <a16:creationId xmlns:a16="http://schemas.microsoft.com/office/drawing/2014/main" id="{0FBBA57D-1262-4CAA-BF05-734FDF1F9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945" y="3405187"/>
            <a:ext cx="1202055" cy="2543175"/>
          </a:xfrm>
          <a:prstGeom prst="rect">
            <a:avLst/>
          </a:prstGeom>
        </p:spPr>
      </p:pic>
      <p:pic>
        <p:nvPicPr>
          <p:cNvPr id="10" name="Imagen 9" descr="Pantalla de un celular en la mano  Descripción generada automáticamente">
            <a:extLst>
              <a:ext uri="{FF2B5EF4-FFF2-40B4-BE49-F238E27FC236}">
                <a16:creationId xmlns:a16="http://schemas.microsoft.com/office/drawing/2014/main" id="{C1DF0060-DD33-8D97-1334-11DD51AC5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757" y="3429000"/>
            <a:ext cx="14128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50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888" y="736034"/>
            <a:ext cx="6696223" cy="719138"/>
          </a:xfrm>
        </p:spPr>
        <p:txBody>
          <a:bodyPr/>
          <a:lstStyle/>
          <a:p>
            <a:r>
              <a:t>Logiciel de visualisation sur appareil mobile 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Appareil mobile, généralement équipé d'un adaptateur WiFi et d'une application de visualisation accédant aux données via KNXnet/IP</a:t>
            </a: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2E1937-93F7-4CDE-88E0-EAF35F39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733080"/>
            <a:ext cx="6264696" cy="3617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D986A6-9EEE-4A10-8078-89BDF778C35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525" y="4324497"/>
            <a:ext cx="1287195" cy="1942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1DAFF-A710-4BB8-821F-B9E643F1A8EE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33" y="4329919"/>
            <a:ext cx="1287195" cy="1942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C35AD-9F7B-4F57-8A46-221230E11BC7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542" y="4324497"/>
            <a:ext cx="1883866" cy="19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27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386" y="698284"/>
            <a:ext cx="6696223" cy="719138"/>
          </a:xfrm>
        </p:spPr>
        <p:txBody>
          <a:bodyPr/>
          <a:lstStyle/>
          <a:p>
            <a:r>
              <a:t>Configuration d'un logiciel de visualisation mobile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1" y="1556792"/>
            <a:ext cx="3095825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18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Utilisation du logiciel de configuration externe</a:t>
            </a:r>
          </a:p>
          <a:p>
            <a:pPr>
              <a:lnSpc>
                <a:spcPct val="150000"/>
              </a:lnSpc>
            </a:pPr>
            <a:endParaRPr sz="18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sz="1800" kern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 sz="1800"/>
            </a:pPr>
            <a:r>
              <a:t>Utilisation du configurateur intégré de l'application</a:t>
            </a:r>
            <a:endParaRPr sz="18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5556E-783A-4B3D-8C11-434D08DA873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484784"/>
            <a:ext cx="2715984" cy="1968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A08C27-320D-46D2-9A1A-E526E5CFC27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1494943"/>
            <a:ext cx="1327061" cy="1958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7F149-BD05-4464-BC4A-AD03FD53FE6E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857" y="3933056"/>
            <a:ext cx="1180465" cy="1770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0DCE82-5C62-40FE-8E3B-1F8930D1703E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226" y="3933056"/>
            <a:ext cx="1180465" cy="17703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6172F-A877-4245-BC51-A3F02ABBA417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596" y="3933056"/>
            <a:ext cx="1181100" cy="17710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20BF9A-BA3F-4D93-A2DF-82F625691953}"/>
              </a:ext>
            </a:extLst>
          </p:cNvPr>
          <p:cNvSpPr/>
          <p:nvPr/>
        </p:nvSpPr>
        <p:spPr>
          <a:xfrm>
            <a:off x="5004048" y="3429000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Outil de configuration et aperçu</a:t>
            </a:r>
            <a:endParaRPr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03B113-0E75-43F3-B935-77AA9EE1DD0F}"/>
              </a:ext>
            </a:extLst>
          </p:cNvPr>
          <p:cNvSpPr/>
          <p:nvPr/>
        </p:nvSpPr>
        <p:spPr>
          <a:xfrm>
            <a:off x="4503901" y="5733256"/>
            <a:ext cx="41005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 b="1"/>
            </a:pPr>
            <a:r>
              <a:t>Configurateur intégré. Ajout manuel des adresses de groupe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4063430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t>Serveurs Web et contrôleurs Logiques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484784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Appareils embarqués, généralement pour l'installation des rails DIN.</a:t>
            </a:r>
          </a:p>
          <a:p>
            <a:pPr>
              <a:lnSpc>
                <a:spcPct val="150000"/>
              </a:lnSpc>
              <a:defRPr sz="200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Non limité à la supervision: </a:t>
            </a: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2771" name="Imagen 303" descr="Interfaz de usuario gráfica, Texto  Descripción generada automáticamente">
            <a:extLst>
              <a:ext uri="{FF2B5EF4-FFF2-40B4-BE49-F238E27FC236}">
                <a16:creationId xmlns:a16="http://schemas.microsoft.com/office/drawing/2014/main" id="{EC5616EE-BFC6-1D19-0446-48AAE41C9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858" y="3301869"/>
            <a:ext cx="1857375" cy="223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0" name="Imagen 304" descr="Imagen que contiene Gráfico de embudo  Descripción generada automáticamente">
            <a:extLst>
              <a:ext uri="{FF2B5EF4-FFF2-40B4-BE49-F238E27FC236}">
                <a16:creationId xmlns:a16="http://schemas.microsoft.com/office/drawing/2014/main" id="{56FE9D14-BD57-3C29-FFAB-9AA94DDCB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5" r="19727"/>
          <a:stretch>
            <a:fillRect/>
          </a:stretch>
        </p:blipFill>
        <p:spPr bwMode="auto">
          <a:xfrm>
            <a:off x="6883152" y="2176897"/>
            <a:ext cx="185737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" name="Imagen 305" descr="Texto, Código QR  Descripción generada automáticamente">
            <a:extLst>
              <a:ext uri="{FF2B5EF4-FFF2-40B4-BE49-F238E27FC236}">
                <a16:creationId xmlns:a16="http://schemas.microsoft.com/office/drawing/2014/main" id="{61ED44CE-0C25-CDE5-EAF8-4990785F9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892" y="3965865"/>
            <a:ext cx="16002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7A23B33A-DC75-6B44-8E32-341573C71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3CD725-4C48-019B-D037-19A76EFB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8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0DA22D-FFCC-1492-AE1F-9D17B804DBC1}"/>
              </a:ext>
            </a:extLst>
          </p:cNvPr>
          <p:cNvSpPr txBox="1"/>
          <p:nvPr/>
        </p:nvSpPr>
        <p:spPr>
          <a:xfrm>
            <a:off x="35495" y="2492896"/>
            <a:ext cx="5328593" cy="3259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300"/>
              </a:spcBef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 err="1"/>
              <a:t>Autoriser</a:t>
            </a:r>
            <a:r>
              <a:rPr sz="1200" dirty="0"/>
              <a:t> la configuration des </a:t>
            </a:r>
            <a:r>
              <a:rPr sz="1200" dirty="0" err="1"/>
              <a:t>alarmes</a:t>
            </a:r>
            <a:r>
              <a:rPr sz="1200" dirty="0"/>
              <a:t>, des </a:t>
            </a:r>
            <a:r>
              <a:rPr sz="1200" dirty="0" err="1"/>
              <a:t>scènes</a:t>
            </a:r>
            <a:r>
              <a:rPr sz="1200" dirty="0"/>
              <a:t>, des macros et des </a:t>
            </a:r>
            <a:r>
              <a:rPr sz="1200" dirty="0" err="1"/>
              <a:t>horaires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 err="1"/>
              <a:t>Permettre</a:t>
            </a:r>
            <a:r>
              <a:rPr sz="1200" dirty="0"/>
              <a:t> </a:t>
            </a:r>
            <a:r>
              <a:rPr sz="1200" dirty="0" err="1"/>
              <a:t>l'enregistrement</a:t>
            </a:r>
            <a:r>
              <a:rPr sz="1200" dirty="0"/>
              <a:t> des </a:t>
            </a:r>
            <a:r>
              <a:rPr sz="1200" dirty="0" err="1"/>
              <a:t>données</a:t>
            </a:r>
            <a:r>
              <a:rPr sz="1200" dirty="0"/>
              <a:t> pour </a:t>
            </a:r>
            <a:r>
              <a:rPr sz="1200" dirty="0" err="1"/>
              <a:t>leur</a:t>
            </a:r>
            <a:r>
              <a:rPr sz="1200" dirty="0"/>
              <a:t> </a:t>
            </a:r>
            <a:r>
              <a:rPr sz="1200" dirty="0" err="1"/>
              <a:t>représentation</a:t>
            </a:r>
            <a:r>
              <a:rPr sz="1200" dirty="0"/>
              <a:t> </a:t>
            </a:r>
            <a:r>
              <a:rPr sz="1200" dirty="0" err="1"/>
              <a:t>graphique</a:t>
            </a:r>
            <a:r>
              <a:rPr sz="1200" dirty="0"/>
              <a:t>.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 err="1"/>
              <a:t>Peut</a:t>
            </a:r>
            <a:r>
              <a:rPr sz="1200" dirty="0"/>
              <a:t> </a:t>
            </a:r>
            <a:r>
              <a:rPr sz="1200" dirty="0" err="1"/>
              <a:t>être</a:t>
            </a:r>
            <a:r>
              <a:rPr sz="1200" dirty="0"/>
              <a:t> </a:t>
            </a:r>
            <a:r>
              <a:rPr sz="1200" dirty="0" err="1"/>
              <a:t>utilisé</a:t>
            </a:r>
            <a:r>
              <a:rPr sz="1200" dirty="0"/>
              <a:t> </a:t>
            </a:r>
            <a:r>
              <a:rPr sz="1200" dirty="0" err="1"/>
              <a:t>comme</a:t>
            </a:r>
            <a:r>
              <a:rPr sz="1200" dirty="0"/>
              <a:t> </a:t>
            </a:r>
            <a:r>
              <a:rPr sz="1200" dirty="0" err="1"/>
              <a:t>routeur</a:t>
            </a:r>
            <a:r>
              <a:rPr sz="1200" dirty="0"/>
              <a:t> IP et </a:t>
            </a:r>
            <a:r>
              <a:rPr sz="1200" dirty="0" err="1"/>
              <a:t>coupleur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  <a:defRPr sz="1400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/>
              <a:t>C</a:t>
            </a:r>
            <a:r>
              <a:rPr sz="1200" dirty="0">
                <a:effectLst/>
              </a:rPr>
              <a:t>onnection tunneling 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/>
              <a:t>Configuration de </a:t>
            </a:r>
            <a:r>
              <a:rPr sz="1200" dirty="0" err="1"/>
              <a:t>l’accès</a:t>
            </a:r>
            <a:r>
              <a:rPr sz="1200" dirty="0"/>
              <a:t> VPN </a:t>
            </a:r>
            <a:r>
              <a:rPr sz="1200" dirty="0" err="1"/>
              <a:t>sécurisé</a:t>
            </a:r>
            <a:r>
              <a:rPr sz="1200" dirty="0"/>
              <a:t> à </a:t>
            </a:r>
            <a:r>
              <a:rPr sz="1200" dirty="0" err="1"/>
              <a:t>l’installation</a:t>
            </a:r>
            <a:r>
              <a:rPr sz="1200" dirty="0"/>
              <a:t> via </a:t>
            </a:r>
            <a:r>
              <a:rPr sz="1200" dirty="0" err="1"/>
              <a:t>l’appareil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 err="1"/>
              <a:t>Inclure</a:t>
            </a:r>
            <a:r>
              <a:rPr sz="1200" dirty="0"/>
              <a:t> un </a:t>
            </a:r>
            <a:r>
              <a:rPr sz="1200" dirty="0" err="1"/>
              <a:t>moteur</a:t>
            </a:r>
            <a:r>
              <a:rPr sz="1200" dirty="0"/>
              <a:t> de </a:t>
            </a:r>
            <a:r>
              <a:rPr sz="1200" dirty="0" err="1"/>
              <a:t>logique</a:t>
            </a:r>
            <a:r>
              <a:rPr sz="1200" dirty="0"/>
              <a:t> et un </a:t>
            </a:r>
            <a:r>
              <a:rPr sz="1200" dirty="0" err="1"/>
              <a:t>moteur</a:t>
            </a:r>
            <a:r>
              <a:rPr sz="1200" dirty="0"/>
              <a:t> de script pour des configurations plus complexes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 err="1"/>
              <a:t>Contrôle</a:t>
            </a:r>
            <a:r>
              <a:rPr sz="1200" dirty="0"/>
              <a:t> vocal et </a:t>
            </a:r>
            <a:r>
              <a:rPr sz="1200" dirty="0" err="1"/>
              <a:t>intégration</a:t>
            </a:r>
            <a:r>
              <a:rPr sz="1200" dirty="0"/>
              <a:t> avec des assistants </a:t>
            </a:r>
            <a:r>
              <a:rPr sz="1200" dirty="0" err="1"/>
              <a:t>intelligents</a:t>
            </a:r>
            <a:r>
              <a:rPr sz="1200" dirty="0"/>
              <a:t> </a:t>
            </a:r>
            <a:r>
              <a:rPr sz="1200" dirty="0" err="1"/>
              <a:t>comme</a:t>
            </a:r>
            <a:r>
              <a:rPr sz="1200" dirty="0"/>
              <a:t> Alexa </a:t>
            </a:r>
            <a:r>
              <a:rPr sz="1200" dirty="0" err="1"/>
              <a:t>ou</a:t>
            </a:r>
            <a:r>
              <a:rPr sz="1200" dirty="0"/>
              <a:t> Google Home.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 err="1"/>
              <a:t>Intégration</a:t>
            </a:r>
            <a:r>
              <a:rPr sz="1200" dirty="0"/>
              <a:t> avec des </a:t>
            </a:r>
            <a:r>
              <a:rPr sz="1200" dirty="0" err="1"/>
              <a:t>systèmes</a:t>
            </a:r>
            <a:r>
              <a:rPr sz="1200" dirty="0"/>
              <a:t> </a:t>
            </a:r>
            <a:r>
              <a:rPr sz="1200" dirty="0" err="1"/>
              <a:t>sonores</a:t>
            </a:r>
            <a:r>
              <a:rPr sz="1200" dirty="0"/>
              <a:t> </a:t>
            </a:r>
            <a:r>
              <a:rPr sz="1200" dirty="0" err="1"/>
              <a:t>comme</a:t>
            </a:r>
            <a:r>
              <a:rPr sz="1200" dirty="0"/>
              <a:t> Sonos®.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300"/>
              </a:spcAft>
              <a:buFont typeface="Symbol" panose="05050102010706020507" pitchFamily="18" charset="2"/>
              <a:buBlip>
                <a:blip r:embed="rId6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sz="1200" dirty="0" err="1"/>
              <a:t>Intégration</a:t>
            </a:r>
            <a:r>
              <a:rPr sz="1200" dirty="0"/>
              <a:t> </a:t>
            </a:r>
            <a:r>
              <a:rPr sz="1200" dirty="0" err="1"/>
              <a:t>directe</a:t>
            </a:r>
            <a:r>
              <a:rPr sz="1200" dirty="0"/>
              <a:t> de KNX avec </a:t>
            </a:r>
            <a:r>
              <a:rPr sz="1200" dirty="0" err="1"/>
              <a:t>d'autres</a:t>
            </a:r>
            <a:r>
              <a:rPr sz="1200" dirty="0"/>
              <a:t> bus de terrain et avec </a:t>
            </a:r>
            <a:r>
              <a:rPr sz="1200" dirty="0" err="1"/>
              <a:t>d'autres</a:t>
            </a:r>
            <a:r>
              <a:rPr sz="1200" dirty="0"/>
              <a:t> </a:t>
            </a:r>
            <a:r>
              <a:rPr sz="1200" dirty="0" err="1"/>
              <a:t>protocoles</a:t>
            </a:r>
            <a:r>
              <a:rPr sz="1200" dirty="0"/>
              <a:t> </a:t>
            </a:r>
            <a:r>
              <a:rPr sz="1200" dirty="0" err="1"/>
              <a:t>tels</a:t>
            </a:r>
            <a:r>
              <a:rPr sz="1200" dirty="0"/>
              <a:t> que Modbus RTU, Modbus TCP, BACnet IP, MQTT, LORA, Zigbee, etc.</a:t>
            </a:r>
            <a:endParaRPr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932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t>Serveurs Web et contrôleurs Logiques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914400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Configuration faite via le web. Assistant parfois aussi disponible</a:t>
            </a:r>
          </a:p>
          <a:p>
            <a:pPr marL="457200" indent="-457200">
              <a:buFont typeface="+mj-lt"/>
              <a:buAutoNum type="arabicPeriod"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23B33A-DC75-6B44-8E32-341573C71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3CD725-4C48-019B-D037-19A76EFB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8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6A21029C-9EDA-75E8-3FA0-332420A86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244411"/>
            <a:ext cx="5580380" cy="3053715"/>
          </a:xfrm>
          <a:prstGeom prst="rect">
            <a:avLst/>
          </a:prstGeom>
        </p:spPr>
      </p:pic>
      <p:pic>
        <p:nvPicPr>
          <p:cNvPr id="5" name="Imagen 4" descr="Interfaz de usuario gráfica  Descripción generada automáticamente">
            <a:extLst>
              <a:ext uri="{FF2B5EF4-FFF2-40B4-BE49-F238E27FC236}">
                <a16:creationId xmlns:a16="http://schemas.microsoft.com/office/drawing/2014/main" id="{3DBCE4AA-3A78-F358-19C7-7895A495D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724" y="3212976"/>
            <a:ext cx="5094764" cy="297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289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052736"/>
            <a:ext cx="6696223" cy="266924"/>
          </a:xfrm>
        </p:spPr>
        <p:txBody>
          <a:bodyPr/>
          <a:lstStyle/>
          <a:p>
            <a:r>
              <a:t>Supervision basée sur Client/Serveur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Unités centrales avec la possibilité d'y accéder par plusieurs utilisateurs et dans de nombreux cas avec des privilèges différents</a:t>
            </a:r>
          </a:p>
          <a:p>
            <a:pPr marL="0" indent="0">
              <a:lnSpc>
                <a:spcPct val="150000"/>
              </a:lnSpc>
              <a:buNone/>
            </a:pPr>
            <a:endParaRPr sz="14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Modèles: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logiciel autonome, installé sur un PC avec accès au bus et aux autres clients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Ordinateur compact avec un logiciel de visualisation intégré et librement configurable et une interface KNX sur le bus </a:t>
            </a:r>
          </a:p>
          <a:p>
            <a:pPr marL="0" indent="0">
              <a:buNone/>
            </a:pPr>
            <a:endParaRPr sz="1800" kern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La configuration peut différer d'un fabricant à l'autre</a:t>
            </a:r>
          </a:p>
        </p:txBody>
      </p:sp>
    </p:spTree>
    <p:extLst>
      <p:ext uri="{BB962C8B-B14F-4D97-AF65-F5344CB8AC3E}">
        <p14:creationId xmlns:p14="http://schemas.microsoft.com/office/powerpoint/2010/main" val="1976804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  Descripción generada automáticamente">
            <a:extLst>
              <a:ext uri="{FF2B5EF4-FFF2-40B4-BE49-F238E27FC236}">
                <a16:creationId xmlns:a16="http://schemas.microsoft.com/office/drawing/2014/main" id="{5FC957C7-A689-4ED3-EFBF-218C2B1090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" r="3733"/>
          <a:stretch/>
        </p:blipFill>
        <p:spPr bwMode="auto">
          <a:xfrm>
            <a:off x="179512" y="2492896"/>
            <a:ext cx="8834860" cy="37810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6C8626DE-F5E6-CCD5-378E-5B4842D0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</p:spPr>
        <p:txBody>
          <a:bodyPr wrap="square" anchor="ctr">
            <a:normAutofit/>
          </a:bodyPr>
          <a:lstStyle/>
          <a:p>
            <a:r>
              <a:t>Supervision basée sur Client/Serveur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DF27B7-11A0-2434-6FCB-A3E4A3F977C3}"/>
              </a:ext>
            </a:extLst>
          </p:cNvPr>
          <p:cNvSpPr txBox="1"/>
          <p:nvPr/>
        </p:nvSpPr>
        <p:spPr>
          <a:xfrm>
            <a:off x="179512" y="1548854"/>
            <a:ext cx="7704856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defRPr sz="18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Pour les grands projets, généralement en tant que client d'un BMS.</a:t>
            </a:r>
          </a:p>
          <a:p>
            <a:pPr marL="0" indent="0">
              <a:lnSpc>
                <a:spcPct val="150000"/>
              </a:lnSpc>
              <a:buNone/>
              <a:defRPr sz="18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Autoriser différents niveaux de visualisation (central, partiel, par utilisateur,…)</a:t>
            </a:r>
          </a:p>
        </p:txBody>
      </p:sp>
    </p:spTree>
    <p:extLst>
      <p:ext uri="{BB962C8B-B14F-4D97-AF65-F5344CB8AC3E}">
        <p14:creationId xmlns:p14="http://schemas.microsoft.com/office/powerpoint/2010/main" val="1006181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4C310BE-DC3F-211E-173E-7D249BA0BE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Nouvelles interfaces utilisateur. Contrôle vocal et assistants intelligents</a:t>
            </a:r>
          </a:p>
        </p:txBody>
      </p:sp>
      <p:pic>
        <p:nvPicPr>
          <p:cNvPr id="4" name="Marcador de contenido 3" descr="Interfaz de usuario gráfica, Aplicación  Descripción generada automáticamente">
            <a:extLst>
              <a:ext uri="{FF2B5EF4-FFF2-40B4-BE49-F238E27FC236}">
                <a16:creationId xmlns:a16="http://schemas.microsoft.com/office/drawing/2014/main" id="{9A8AEBFA-4514-0D63-3FFA-0B4DF5739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8" y="2593938"/>
            <a:ext cx="5573952" cy="2635262"/>
          </a:xfrm>
          <a:prstGeom prst="rect">
            <a:avLst/>
          </a:prstGeom>
        </p:spPr>
      </p:pic>
      <p:pic>
        <p:nvPicPr>
          <p:cNvPr id="34820" name="Imagen 4096" descr="Imagen de la pantalla de un celular con letras  Descripción generada automáticamente con confianza media">
            <a:extLst>
              <a:ext uri="{FF2B5EF4-FFF2-40B4-BE49-F238E27FC236}">
                <a16:creationId xmlns:a16="http://schemas.microsoft.com/office/drawing/2014/main" id="{DBF5EFE7-AD44-02F5-E551-AE829A40E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5" t="8363" r="19948" b="12608"/>
          <a:stretch>
            <a:fillRect/>
          </a:stretch>
        </p:blipFill>
        <p:spPr bwMode="auto">
          <a:xfrm>
            <a:off x="5980137" y="2003011"/>
            <a:ext cx="140017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19" name="Picture 14" descr="Imagen que contiene pequeño, monitor, microondas, medidor  Descripción generada automáticamente">
            <a:extLst>
              <a:ext uri="{FF2B5EF4-FFF2-40B4-BE49-F238E27FC236}">
                <a16:creationId xmlns:a16="http://schemas.microsoft.com/office/drawing/2014/main" id="{F5C30E4A-603A-10B7-B708-B7A7877E3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2" r="4155"/>
          <a:stretch>
            <a:fillRect/>
          </a:stretch>
        </p:blipFill>
        <p:spPr bwMode="auto">
          <a:xfrm>
            <a:off x="6503582" y="4230440"/>
            <a:ext cx="120967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18" name="Imagen 316" descr="Texto, Pizarra  Descripción generada automáticamente">
            <a:extLst>
              <a:ext uri="{FF2B5EF4-FFF2-40B4-BE49-F238E27FC236}">
                <a16:creationId xmlns:a16="http://schemas.microsoft.com/office/drawing/2014/main" id="{8B036F0E-D3F6-E397-5BAC-E5735BD32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5" t="7178" r="10526"/>
          <a:stretch>
            <a:fillRect/>
          </a:stretch>
        </p:blipFill>
        <p:spPr bwMode="auto">
          <a:xfrm>
            <a:off x="7380312" y="1988906"/>
            <a:ext cx="16287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17" name="Imagen 319" descr="Imagen que contiene firmar, calle, oscuro, lado  Descripción generada automáticamente">
            <a:extLst>
              <a:ext uri="{FF2B5EF4-FFF2-40B4-BE49-F238E27FC236}">
                <a16:creationId xmlns:a16="http://schemas.microsoft.com/office/drawing/2014/main" id="{D322CAAB-DB98-9E2A-912B-83A929199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71" t="12482" r="39919" b="13591"/>
          <a:stretch>
            <a:fillRect/>
          </a:stretch>
        </p:blipFill>
        <p:spPr bwMode="auto">
          <a:xfrm>
            <a:off x="7956376" y="4306987"/>
            <a:ext cx="96202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FDA5EF16-1FA8-C6B6-7DB1-17C03FA21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A962E8-7508-E677-6D1C-E5CB28BBE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5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4942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4C310BE-DC3F-211E-173E-7D249BA0BE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Configurer un Assistant Intelligent pour une installation KNX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A5EF16-1FA8-C6B6-7DB1-17C03FA21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A962E8-7508-E677-6D1C-E5CB28BBE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5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37890" name="Imagen 4099" descr="Interfaz de usuario gráfica, Texto, Aplicación, Sitio web  Descripción generada automáticamente">
            <a:extLst>
              <a:ext uri="{FF2B5EF4-FFF2-40B4-BE49-F238E27FC236}">
                <a16:creationId xmlns:a16="http://schemas.microsoft.com/office/drawing/2014/main" id="{4F2E7993-0CC6-3E3F-22A0-CECA243A5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03715"/>
            <a:ext cx="3719771" cy="189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89" name="Imagen 4100" descr="Interfaz de usuario gráfica, Aplicación  Descripción generada automáticamente">
            <a:extLst>
              <a:ext uri="{FF2B5EF4-FFF2-40B4-BE49-F238E27FC236}">
                <a16:creationId xmlns:a16="http://schemas.microsoft.com/office/drawing/2014/main" id="{DFD31B34-5C34-123C-76A6-C2545D817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73659"/>
            <a:ext cx="6102499" cy="298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AA041F8-C884-D324-A200-DC00593D7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490FC1F-8311-D868-B878-AE278B781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430B282-4D13-9285-1C1E-62E752681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29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3266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A051941-D8CE-293F-7CAA-3E2B4E94AE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Comparaison entre les assistants intelligents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57A8F2E-A96A-B810-032E-E333EE99D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498528"/>
              </p:ext>
            </p:extLst>
          </p:nvPr>
        </p:nvGraphicFramePr>
        <p:xfrm>
          <a:off x="2837475" y="1600204"/>
          <a:ext cx="3606733" cy="4525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1143">
                  <a:extLst>
                    <a:ext uri="{9D8B030D-6E8A-4147-A177-3AD203B41FA5}">
                      <a16:colId xmlns:a16="http://schemas.microsoft.com/office/drawing/2014/main" val="1036064050"/>
                    </a:ext>
                  </a:extLst>
                </a:gridCol>
                <a:gridCol w="2355590">
                  <a:extLst>
                    <a:ext uri="{9D8B030D-6E8A-4147-A177-3AD203B41FA5}">
                      <a16:colId xmlns:a16="http://schemas.microsoft.com/office/drawing/2014/main" val="2946360121"/>
                    </a:ext>
                  </a:extLst>
                </a:gridCol>
              </a:tblGrid>
              <a:tr h="6031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defRPr sz="800">
                          <a:effectLst/>
                        </a:defRPr>
                      </a:pPr>
                      <a:r>
                        <a:t>Service de contrôle vocal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rowSpan="2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defRPr sz="900">
                          <a:effectLst/>
                        </a:defRPr>
                      </a:pPr>
                      <a:r>
                        <a:t> 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356544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Éclairages ON/OFF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68470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Variation d'éclairage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69469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Eclairage RGB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38135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Interrupteurs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872981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Prises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0604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Thermostats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39606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Haut-parleurs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91633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Aspirateurs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607480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Télévision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8663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Caméras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56320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Verrous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4061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Volet / Bso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056444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Capteurs de température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85583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Vanne thermostatique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9254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Capteurs d'humidité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720261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Contacts magnétiques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36375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Capteurs de fumée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43731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Capteurs CO</a:t>
                      </a:r>
                      <a:r>
                        <a:rPr baseline="-25000"/>
                        <a:t>2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91631"/>
                  </a:ext>
                </a:extLst>
              </a:tr>
              <a:tr h="21371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defRPr sz="800">
                          <a:effectLst/>
                        </a:defRPr>
                      </a:pPr>
                      <a:r>
                        <a:t>Capteurs de fuite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348141"/>
                  </a:ext>
                </a:extLst>
              </a:tr>
              <a:tr h="213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700">
                          <a:effectLst/>
                        </a:defRPr>
                      </a:pPr>
                      <a:r>
                        <a:t>v* : contrôle vocal uniquement </a:t>
                      </a:r>
                      <a:endParaRPr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848239"/>
                  </a:ext>
                </a:extLst>
              </a:tr>
            </a:tbl>
          </a:graphicData>
        </a:graphic>
      </p:graphicFrame>
      <p:pic>
        <p:nvPicPr>
          <p:cNvPr id="5" name="Imagen 4" descr="Imagen que contiene Tabla  Descripción generada automáticamente">
            <a:extLst>
              <a:ext uri="{FF2B5EF4-FFF2-40B4-BE49-F238E27FC236}">
                <a16:creationId xmlns:a16="http://schemas.microsoft.com/office/drawing/2014/main" id="{801DA6BF-6ACC-D2F4-310D-82F7FD116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615160"/>
            <a:ext cx="1944216" cy="429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019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7233</TotalTime>
  <Words>1520</Words>
  <Application>Microsoft Office PowerPoint</Application>
  <PresentationFormat>On-screen Show (4:3)</PresentationFormat>
  <Paragraphs>202</Paragraphs>
  <Slides>36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Gotham Light</vt:lpstr>
      <vt:lpstr>Gotham Medium</vt:lpstr>
      <vt:lpstr>Symbol</vt:lpstr>
      <vt:lpstr>Wingdings</vt:lpstr>
      <vt:lpstr>Training 2</vt:lpstr>
      <vt:lpstr>Picture</vt:lpstr>
      <vt:lpstr>Microsoft Visio Drawing</vt:lpstr>
      <vt:lpstr>COURS AVANCÉ KNX</vt:lpstr>
      <vt:lpstr>Informations générales</vt:lpstr>
      <vt:lpstr>Termes</vt:lpstr>
      <vt:lpstr>Termes</vt:lpstr>
      <vt:lpstr>Transfert des Données de Conception du Projet KNX</vt:lpstr>
      <vt:lpstr>Remarques sur la supervision</vt:lpstr>
      <vt:lpstr>Types de Communication par Bus</vt:lpstr>
      <vt:lpstr>Types de Communication par Bus</vt:lpstr>
      <vt:lpstr>Types de Communication par Bus</vt:lpstr>
      <vt:lpstr>Types de Communication par Bus</vt:lpstr>
      <vt:lpstr>Connexion à la supervision </vt:lpstr>
      <vt:lpstr>Concept de fonctionnement du serveur OPC</vt:lpstr>
      <vt:lpstr>Accès au Bus via le serveur KNXnet/IP</vt:lpstr>
      <vt:lpstr>Accès au Bus via le serveur KNXnet/IP</vt:lpstr>
      <vt:lpstr>Accès au Bus via le serveur KNXnet/IP</vt:lpstr>
      <vt:lpstr>Exportation des Données du Projet</vt:lpstr>
      <vt:lpstr>Exportation des Données du Projet</vt:lpstr>
      <vt:lpstr>Point d'Accès Physique dans le Système de Bus</vt:lpstr>
      <vt:lpstr>Point d'Accès Physique dans le Système de Bus</vt:lpstr>
      <vt:lpstr>Télégrammes envoyés à travers les Lignes/Zones</vt:lpstr>
      <vt:lpstr>Utilisation de routeurs IP au lieu de Coupleurs TP</vt:lpstr>
      <vt:lpstr>Utilisation de routeurs IP au lieu de Coupleurs TP</vt:lpstr>
      <vt:lpstr>Utilisation d'Interfaces IP au lieu de Coupleurs TP</vt:lpstr>
      <vt:lpstr>Utilisation des interfaces IP et Coupleurs TP</vt:lpstr>
      <vt:lpstr>Types de supervision</vt:lpstr>
      <vt:lpstr>Participant KNX avec logiciel intégré</vt:lpstr>
      <vt:lpstr>Participant KNX avec logiciel intégré</vt:lpstr>
      <vt:lpstr>Logiciel de visualisation sur appareil mobile </vt:lpstr>
      <vt:lpstr>Configuration d'un logiciel de visualisation mobile</vt:lpstr>
      <vt:lpstr>Serveurs Web et contrôleurs Logiques</vt:lpstr>
      <vt:lpstr>Serveurs Web et contrôleurs Logiques</vt:lpstr>
      <vt:lpstr>Supervision basée sur Client/Serveur</vt:lpstr>
      <vt:lpstr>Supervision basée sur Client/Serveur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343</cp:revision>
  <dcterms:created xsi:type="dcterms:W3CDTF">2012-09-10T07:59:43Z</dcterms:created>
  <dcterms:modified xsi:type="dcterms:W3CDTF">2023-04-11T08:50:58Z</dcterms:modified>
</cp:coreProperties>
</file>