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47"/>
  </p:notesMasterIdLst>
  <p:handoutMasterIdLst>
    <p:handoutMasterId r:id="rId48"/>
  </p:handoutMasterIdLst>
  <p:sldIdLst>
    <p:sldId id="256" r:id="rId2"/>
    <p:sldId id="283" r:id="rId3"/>
    <p:sldId id="284" r:id="rId4"/>
    <p:sldId id="285" r:id="rId5"/>
    <p:sldId id="286" r:id="rId6"/>
    <p:sldId id="287" r:id="rId7"/>
    <p:sldId id="290" r:id="rId8"/>
    <p:sldId id="291" r:id="rId9"/>
    <p:sldId id="293" r:id="rId10"/>
    <p:sldId id="292" r:id="rId11"/>
    <p:sldId id="294" r:id="rId12"/>
    <p:sldId id="289" r:id="rId13"/>
    <p:sldId id="295" r:id="rId14"/>
    <p:sldId id="296" r:id="rId15"/>
    <p:sldId id="297" r:id="rId16"/>
    <p:sldId id="298" r:id="rId17"/>
    <p:sldId id="314" r:id="rId18"/>
    <p:sldId id="299" r:id="rId19"/>
    <p:sldId id="318" r:id="rId20"/>
    <p:sldId id="321" r:id="rId21"/>
    <p:sldId id="327" r:id="rId22"/>
    <p:sldId id="328" r:id="rId23"/>
    <p:sldId id="326" r:id="rId24"/>
    <p:sldId id="319" r:id="rId25"/>
    <p:sldId id="320" r:id="rId26"/>
    <p:sldId id="329" r:id="rId27"/>
    <p:sldId id="300" r:id="rId28"/>
    <p:sldId id="330" r:id="rId29"/>
    <p:sldId id="331" r:id="rId30"/>
    <p:sldId id="301" r:id="rId31"/>
    <p:sldId id="302" r:id="rId32"/>
    <p:sldId id="303" r:id="rId33"/>
    <p:sldId id="304" r:id="rId34"/>
    <p:sldId id="315" r:id="rId35"/>
    <p:sldId id="305" r:id="rId36"/>
    <p:sldId id="316" r:id="rId37"/>
    <p:sldId id="317" r:id="rId38"/>
    <p:sldId id="306" r:id="rId39"/>
    <p:sldId id="307" r:id="rId40"/>
    <p:sldId id="308" r:id="rId41"/>
    <p:sldId id="309" r:id="rId42"/>
    <p:sldId id="310" r:id="rId43"/>
    <p:sldId id="311" r:id="rId44"/>
    <p:sldId id="312" r:id="rId45"/>
    <p:sldId id="313" r:id="rId46"/>
  </p:sldIdLst>
  <p:sldSz cx="9144000" cy="6858000" type="screen4x3"/>
  <p:notesSz cx="6858000" cy="9144000"/>
  <p:custDataLst>
    <p:tags r:id="rId4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grand nombre de fonctions dans les systèmes de contrôle des bâtiments ne peuvent pas être attribuées à une seule circonstance. Les fonctions ou les états des appareils ou des circuits sont souvent rendus dépendants de plusieurs conditions.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L'opération logique des divers facteurs de déclenchement peut être mise en œuvre de diverses manières dans un système KNX. Différentes solutions peuvent conduire à l'objectif en fonction du type et du nombre de conditions requises.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composants KNX disponibles sur le marché auprès de différents fabricants offrent une gamme de variantes qui permettent de réaliser des opérations logiques fréquemment demandées. Les objets de groupe et le paramétrage de ces appareils utilisent les principes de base de la technologie numérique.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fonctions de base des opérations logiques et certains éléments composés sont expliqués dans une annexe à la fin du chapitre.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Connexion Logique des Objets de Groupe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Actionneur de Commutation (Sortie Binaire) avec Fonction Logique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plupart des fabricants de composants KNX disposent déjà d'objets logiques dans l'application standard de leurs actionneurs de commutation (sorties binaires).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Etant donné que différentes fonctions logiques sont disponibles en fonction du fabricant et du produit, aucune déclaration générale ne peut être faite. Les processus fonctionnels sur deux actionneurs de commutation de fabricants différents sont pris comme base dans les explications suivantes.</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Objet de groupe - Commutation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groupe " Commutation " d'un actionneur de commutation se comporte de la même manière qu'une fonction OR pour toutes les adresses de groupe affectées, la dernière adresse de groupe envoyée déterminant l'état de la sortie.</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95664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b="1" kern="1200">
                <a:solidFill>
                  <a:schemeClr val="tx1"/>
                </a:solidFill>
                <a:effectLst/>
                <a:latin typeface="Arial" charset="0"/>
                <a:ea typeface="+mn-ea"/>
                <a:cs typeface="+mn-cs"/>
              </a:rPr>
              <a:t>Objet de groupe - Logique</a:t>
            </a:r>
            <a:endParaRPr lang="es-ES" sz="1400" b="1"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Une opération logique peut être activée séparément pour chaque sortie disponible.</a:t>
            </a:r>
            <a:endParaRPr lang="es-ES" sz="1400"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Une ou deux opérations logiques des objets de groupe sont activées en fonction du produit et du fabricant.</a:t>
            </a:r>
            <a:endParaRPr lang="es-ES" sz="1400"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Des fonctions logiques supplémentaires peuvent être activées dans les applications par " logique étendue ".</a:t>
            </a: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Figure 1 : Fenêtre de paramétrage (extrait) par ex. Actionneur de commutation 4 sorties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Par la fonction </a:t>
            </a:r>
            <a:r>
              <a:rPr lang="en-GB" sz="1200" i="1" kern="1200">
                <a:solidFill>
                  <a:schemeClr val="tx1"/>
                </a:solidFill>
                <a:effectLst/>
                <a:latin typeface="Arial" charset="0"/>
                <a:ea typeface="+mn-ea"/>
                <a:cs typeface="+mn-cs"/>
              </a:rPr>
              <a:t>Fonctionnement logique/Logique</a:t>
            </a:r>
            <a:r>
              <a:rPr lang="en-GB" sz="1200" kern="1200">
                <a:solidFill>
                  <a:schemeClr val="tx1"/>
                </a:solidFill>
                <a:effectLst/>
                <a:latin typeface="Arial" charset="0"/>
                <a:ea typeface="+mn-ea"/>
                <a:cs typeface="+mn-cs"/>
              </a:rPr>
              <a:t>, il est possible de lier la commutation de la sortie à des conditions particulières. Les options suivantes peuvent être sélectionnées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AND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XOR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Gate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1049350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Deux objets logiques sont disponibles : le </a:t>
            </a:r>
            <a:r>
              <a:rPr lang="en-GB" sz="1200" i="1" kern="1200">
                <a:solidFill>
                  <a:schemeClr val="tx1"/>
                </a:solidFill>
                <a:effectLst/>
                <a:latin typeface="Arial" charset="0"/>
                <a:ea typeface="+mn-ea"/>
                <a:cs typeface="+mn-cs"/>
              </a:rPr>
              <a:t>Commutation</a:t>
            </a:r>
            <a:r>
              <a:rPr lang="en-GB" sz="1200" kern="1200">
                <a:solidFill>
                  <a:schemeClr val="tx1"/>
                </a:solidFill>
                <a:effectLst/>
                <a:latin typeface="Arial" charset="0"/>
                <a:ea typeface="+mn-ea"/>
                <a:cs typeface="+mn-cs"/>
              </a:rPr>
              <a:t> groupe objet est d'abord évalué avec l'opération </a:t>
            </a:r>
            <a:r>
              <a:rPr lang="en-GB" sz="1200" i="1" kern="1200">
                <a:solidFill>
                  <a:schemeClr val="tx1"/>
                </a:solidFill>
                <a:effectLst/>
                <a:latin typeface="Arial" charset="0"/>
                <a:ea typeface="+mn-ea"/>
                <a:cs typeface="+mn-cs"/>
              </a:rPr>
              <a:t>Logique 1</a:t>
            </a:r>
            <a:r>
              <a:rPr lang="en-GB" sz="1200" kern="1200">
                <a:solidFill>
                  <a:schemeClr val="tx1"/>
                </a:solidFill>
                <a:effectLst/>
                <a:latin typeface="Arial" charset="0"/>
                <a:ea typeface="+mn-ea"/>
                <a:cs typeface="+mn-cs"/>
              </a:rPr>
              <a:t> groupe d'objet. Le résultat est lié à l'opération </a:t>
            </a:r>
            <a:r>
              <a:rPr lang="en-GB" sz="1200" i="1" kern="1200">
                <a:solidFill>
                  <a:schemeClr val="tx1"/>
                </a:solidFill>
                <a:effectLst/>
                <a:latin typeface="Arial" charset="0"/>
                <a:ea typeface="+mn-ea"/>
                <a:cs typeface="+mn-cs"/>
              </a:rPr>
              <a:t>Logic 2</a:t>
            </a:r>
            <a:r>
              <a:rPr lang="en-GB" sz="1200" kern="1200">
                <a:solidFill>
                  <a:schemeClr val="tx1"/>
                </a:solidFill>
                <a:effectLst/>
                <a:latin typeface="Arial" charset="0"/>
                <a:ea typeface="+mn-ea"/>
                <a:cs typeface="+mn-cs"/>
              </a:rPr>
              <a:t> groupe d'objets.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L'activation de la fonction logique signifie que l'objet de commutation du canal respectif (sortie) interagit avec les objets logiques du canal associé (sortie).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1453651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Fonction OR avec temporisation ACTIVÉ/DÉSACTIVÉ</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objet logique peut être activé pour le contact de commutation correspondant. Les opérations logiques suivantes sont disponibles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AND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XOR</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 : Fenêtre du paramètre pour le fonctionnement logique (extrait) par exemple actionneur 8 sorties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plus de l'activation de l'opération logique, la temporisation ACTIVÉE/DÉSACTIVÉE peut également être utilisée.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Plusieurs alternatives peuvent être sélectionnées ici sur lesquelles les temporisations ont un effet. </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 : Fenêtre du paramètre pour le délai ON/OFF (extrait) par exemple le commutateur 8 sorties</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à noter que la temporisation ACTIVÉE/DÉSACTIVÉE n'affecte pas l'objet logique.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donc possible de commuter des circuits pour des applications spécifiques directement (via des objets logiques) et avec une temporisation (via des objets de commutation).</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3523845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Organigramme de la fonction OR</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 : Diagramme de flux de la fonction OR</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1: L'actionneur suit les signaux ON et OFF qui sont actifs dans l'objet commutateur.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2: L'actionneur suit les signaux ON et OFF qui sont actifs dans l'objet logique.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Case 3: Si les signaux de l'objet switch et de l'objet logique se croisent, la sortie est allumée par le premier signal ON et éteinte par le dernier signal OFF envoyé.</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405812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Fonction OR avec temporisation ACTIVÉE et DÉSACTIVÉE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a:t>
            </a:r>
            <a:r>
              <a:rPr lang="en-GB" sz="1200" kern="1200">
                <a:solidFill>
                  <a:schemeClr val="tx1"/>
                </a:solidFill>
                <a:effectLst/>
                <a:latin typeface="Arial" charset="0"/>
                <a:ea typeface="+mn-ea"/>
                <a:cs typeface="+mn-cs"/>
              </a:rPr>
              <a:t>: La fonction OR avec un délai ON et OFF réagit différemment en fonction du fabricant. Un organigramme d'un produit, par exemple un actionneur de commutation octuple, est présenté à titre d'exemple.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temporisations ACTIVÉS et DÉSACTIVÉS sont configurées sur l'objet de commutation.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logique fonctionne sans temporisation.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 : Diagramme de la fonction OR avec retard ON et OFF</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1 : La sortie s'active une fois la temporisation ON écoulée. La période DÉSACTIVÉE commence lorsque la commande DÉSACTIVÉE a été envoyée et la sortie s'éteint une fois qu'elle s'est écoulée.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2 : comme l'objet logique fonctionne sans délai, la sortie est commutée directement par les signaux ON et OFF de l'objet logique.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3: Si l'objet logique reçoit une commande ON alors que le délai ON de l'objet switch est actif, la sortie est activée. Si l'objet commutateur et l'objet logique reçoivent un signal OFF la sortie est éteinte une fois que le délai OFF est écoulé.</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Si l'objet logique ne reçoit un signal OFF qu'une fois que le délai OFF de l'objet switch est écoulé, la sortie est éteinte par ce signal OFF (non affiché).</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3625093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Fonction AND</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AND active permet de basculer un circuit en fonction d'une ou plusieurs conditions. Les fonctions de temporisation (selon le fabricant et le produit) telles que les retards ON, OFF et ON/OFF peuvent également être paramétrées.</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a:t>
            </a:r>
            <a:r>
              <a:rPr lang="en-GB" sz="1200" kern="1200">
                <a:solidFill>
                  <a:schemeClr val="tx1"/>
                </a:solidFill>
                <a:effectLst/>
                <a:latin typeface="Arial" charset="0"/>
                <a:ea typeface="+mn-ea"/>
                <a:cs typeface="+mn-cs"/>
              </a:rPr>
              <a:t> : Lors de l'utilisation d'une fonction ET, il convient de s'assurer qu'une condition ET qui a été causée par une variable physique (par exemple la température ou la luminosité) n'est pas réinitialisée par une opération manuelle (par exemple " Centrale OFF"). Ce problème peut également être résolu par l'envoi cyclique d'un signal.</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3569570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Fonction AND sans temporisation</a:t>
            </a:r>
          </a:p>
          <a:p>
            <a:pPr lvl="0"/>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7 : Diagramme fluide de la fonction ET sans délai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1 : Le signal ON dans l'objet de commutation définit un marqueur. La sortie n'est activée que lorsque l'objet logique reçoit un '1'. Si un '0' est envoyé à l'objet logique, la sortie est désactivée.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Cas 2 : Le signal ON dans l'objet logique définit un marqueur. La sortie n'est activée que lorsque l'objet de commutation reçoit un '1'. Si un '0' est envoyé à l'objet logique, la sortie est désactivée. Si l'objet de commutation reçoit un '0' comme donnée utile avant l'objet logique, la condition AND n'est plus remplie et la sortie est désactivée.</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2893803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Fonction AND avec temporisation ACTIVÉE et Hors Temporisation DÉACTIVÉE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la fonction AND dépendant du fabricant et du produit, il est à noter qu'une fonction de temporisation activée n'influence que l'objet de commutation et/ou l'objet de luminaires d'escaliers, en fonction du paramétrage.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L'objet logique fonctionne sans temporisation.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temporisations ACTIVÉES et DÉSACTIVÉES et leur influence sur l'objet de commutation sont définies dans la fenêtre de paramétrage suivante de l'actionneur de commutation octuple qui a été sélectionné à titre d'exemple.</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Des portes logiques simples peuvent être implémentées avec la fonction logique. Les objets suivants sont disponibles comme objets d'entrée par voie : – Objet interrupteur voie X – Objet éclairage escalier voie X – Objet logique A Voie X. La sortie de la fonction logique ne peut être traitée qu'en interne dans l'actionneur de commutation ; cela signifie que le résultat logique est acheminé vers le relais du canal respectif et non envoyé sur le bus.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objets d'entrée " Changer d'objet " et " Objet de luminaires d'escaliers " sont toujours reliés entre eux par une fonction OR pour la fonction logique de base. La sortie de cette porte OR mène à une porte librement configurable : ET, OR, XOR. Le schéma suivant montre une opération logique avec une fonction AND.</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9 : Diagramme en flux de la fonction ET de l'actionneur 8 sorties</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125256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Illustration 10 : Diagramme en flux de la fonction ET de l'actionneur à 8 canaux</a:t>
            </a:r>
            <a:endParaRPr lang="es-ES" sz="1200" b="1" kern="1200" dirty="0">
              <a:solidFill>
                <a:schemeClr val="tx1"/>
              </a:solidFill>
              <a:effectLst/>
              <a:latin typeface="Arial" charset="0"/>
              <a:ea typeface="+mn-ea"/>
              <a:cs typeface="+mn-cs"/>
            </a:endParaRPr>
          </a:p>
          <a:p>
            <a:endParaRPr lang="en-GB" sz="1200" b="0" kern="1200" dirty="0">
              <a:solidFill>
                <a:schemeClr val="tx1"/>
              </a:solidFill>
              <a:effectLst/>
              <a:latin typeface="Arial" charset="0"/>
              <a:ea typeface="+mn-ea"/>
              <a:cs typeface="+mn-cs"/>
            </a:endParaRPr>
          </a:p>
          <a:p>
            <a:r>
              <a:rPr lang="en-GB" sz="1200" b="0" kern="1200">
                <a:solidFill>
                  <a:schemeClr val="tx1"/>
                </a:solidFill>
                <a:effectLst/>
                <a:latin typeface="Arial" charset="0"/>
                <a:ea typeface="+mn-ea"/>
                <a:cs typeface="+mn-cs"/>
              </a:rPr>
              <a:t>Cas 1: Un signal ON a été envoyé à l'objet logique. L'objet de commutation reçoit également un ' 1 ' comme données utiles. La sortie est activée une fois la temporisation ON réglée (t</a:t>
            </a:r>
            <a:r>
              <a:rPr lang="en-GB" sz="1200" b="0" kern="1200" baseline="-25000">
                <a:solidFill>
                  <a:schemeClr val="tx1"/>
                </a:solidFill>
                <a:effectLst/>
                <a:latin typeface="Arial" charset="0"/>
                <a:ea typeface="+mn-ea"/>
                <a:cs typeface="+mn-cs"/>
              </a:rPr>
              <a:t>e</a:t>
            </a:r>
            <a:r>
              <a:rPr lang="en-GB" sz="1200" b="0" kern="1200">
                <a:solidFill>
                  <a:schemeClr val="tx1"/>
                </a:solidFill>
                <a:effectLst/>
                <a:latin typeface="Arial" charset="0"/>
                <a:ea typeface="+mn-ea"/>
                <a:cs typeface="+mn-cs"/>
              </a:rPr>
              <a:t>) écoulée. Un '0' dans l'objet switch démarre le délai OFF (t</a:t>
            </a:r>
            <a:r>
              <a:rPr lang="en-GB" sz="1200" b="0" kern="1200" baseline="-25000">
                <a:solidFill>
                  <a:schemeClr val="tx1"/>
                </a:solidFill>
                <a:effectLst/>
                <a:latin typeface="Arial" charset="0"/>
                <a:ea typeface="+mn-ea"/>
                <a:cs typeface="+mn-cs"/>
              </a:rPr>
              <a:t>a</a:t>
            </a:r>
            <a:r>
              <a:rPr lang="en-GB" sz="1200" b="0" kern="1200">
                <a:solidFill>
                  <a:schemeClr val="tx1"/>
                </a:solidFill>
                <a:effectLst/>
                <a:latin typeface="Arial" charset="0"/>
                <a:ea typeface="+mn-ea"/>
                <a:cs typeface="+mn-cs"/>
              </a:rPr>
              <a:t>). La sortie s'éteint une fois la temporisation écoulée.</a:t>
            </a:r>
            <a:endParaRPr lang="es-ES" sz="1200" b="1" kern="1200" dirty="0">
              <a:solidFill>
                <a:schemeClr val="tx1"/>
              </a:solidFill>
              <a:effectLst/>
              <a:latin typeface="Arial" charset="0"/>
              <a:ea typeface="+mn-ea"/>
              <a:cs typeface="+mn-cs"/>
            </a:endParaRPr>
          </a:p>
          <a:p>
            <a:r>
              <a:rPr lang="en-GB" sz="1200" b="0" kern="1200">
                <a:solidFill>
                  <a:schemeClr val="tx1"/>
                </a:solidFill>
                <a:effectLst/>
                <a:latin typeface="Arial" charset="0"/>
                <a:ea typeface="+mn-ea"/>
                <a:cs typeface="+mn-cs"/>
              </a:rPr>
              <a:t>Cas 2: Un «1» est envoyé à l'objet switch sous forme de données utiles. Si un ' 1 ' est envoyé à l'objet logique pendant la période ACTIVÉE réglée, la sortie est activée dès que la temporisation ACTIVÉE de l'objet de commutation est écoulé. Un '0' dans l'objet switch démarre le délai OFF (t</a:t>
            </a:r>
            <a:r>
              <a:rPr lang="en-GB" sz="1200" b="0" kern="1200" baseline="-25000">
                <a:solidFill>
                  <a:schemeClr val="tx1"/>
                </a:solidFill>
                <a:effectLst/>
                <a:latin typeface="Arial" charset="0"/>
                <a:ea typeface="+mn-ea"/>
                <a:cs typeface="+mn-cs"/>
              </a:rPr>
              <a:t>a</a:t>
            </a:r>
            <a:r>
              <a:rPr lang="en-GB" sz="1200" b="0" kern="1200">
                <a:solidFill>
                  <a:schemeClr val="tx1"/>
                </a:solidFill>
                <a:effectLst/>
                <a:latin typeface="Arial" charset="0"/>
                <a:ea typeface="+mn-ea"/>
                <a:cs typeface="+mn-cs"/>
              </a:rPr>
              <a:t>). Si l'objet logique reçoit un ' 0 ' pendant la DÉSACTIVATION de la temporisation, la sortie est désactivée directement.</a:t>
            </a:r>
            <a:endParaRPr lang="es-ES" sz="1200" b="1" kern="1200" dirty="0">
              <a:solidFill>
                <a:schemeClr val="tx1"/>
              </a:solidFill>
              <a:effectLst/>
              <a:latin typeface="Arial" charset="0"/>
              <a:ea typeface="+mn-ea"/>
              <a:cs typeface="+mn-cs"/>
            </a:endParaRPr>
          </a:p>
          <a:p>
            <a:r>
              <a:rPr lang="en-GB" sz="1200" b="0" kern="1200">
                <a:solidFill>
                  <a:schemeClr val="tx1"/>
                </a:solidFill>
                <a:effectLst/>
                <a:latin typeface="Arial" charset="0"/>
                <a:ea typeface="+mn-ea"/>
                <a:cs typeface="+mn-cs"/>
              </a:rPr>
              <a:t>Résumé : Pour utiliser ON et OFF les retards complètement, l'objet logique doit recevoir un '1' comme signal utile avant l'objet commutateur et ne peut être désactivé par un '0' qu'une fois que le délai OFF s'est écoulé (t</a:t>
            </a:r>
            <a:r>
              <a:rPr lang="en-GB" sz="1200" b="0" kern="1200" baseline="-25000">
                <a:solidFill>
                  <a:schemeClr val="tx1"/>
                </a:solidFill>
                <a:effectLst/>
                <a:latin typeface="Arial" charset="0"/>
                <a:ea typeface="+mn-ea"/>
                <a:cs typeface="+mn-cs"/>
              </a:rPr>
              <a:t>a</a:t>
            </a:r>
            <a:r>
              <a:rPr lang="en-GB" sz="1200" b="0" kern="1200">
                <a:solidFill>
                  <a:schemeClr val="tx1"/>
                </a:solidFill>
                <a:effectLst/>
                <a:latin typeface="Arial" charset="0"/>
                <a:ea typeface="+mn-ea"/>
                <a:cs typeface="+mn-cs"/>
              </a:rPr>
              <a:t>).</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1416833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Logique Étendue (Commande Directe des Relais)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D'autres dépendances et modèles de comportement des actionneurs de commutation peuvent être configurés, par exemple via " Logique Étendue " en fonction du fabricant et du produit. Les options sont illustrées par l'exemple d'un actionneur de commutation octuple.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Avec le paramétrage "Extended Logic", jusqu'à trois objets logiques peuvent être reliés à des portes différentes qui influencent ensuite la sortie du relais (ligne de paramètres: « Temps 1 Sortie»  « Relais de contrôle directement»). En outre, il est possible d'activer les " Fonctions Gate " et " Filtres " pour les processus techniques.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11 : Paramètres pour « Logique étendue » (contrôle directement le relais) – actionneur de commutation 8 sorties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l'utilisation de la fonction " Logique Étendue ", les objets logiques des canaux respectifs sont interrogés en fonction du paramétrage des portes logiques possibles (par ex. fonction AND) et le résultat est transmis " en interne " à la sortie relais (Canal de Sortie Logique X). L'objet de commutation standard de la sortie correspondante (canal) n'a plus de fonction (toujours affiché).</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Figure 12 : Groupe d'objets pour "Extended Logic" (commande relais directement) – actionneur 8 sorties</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3122885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Logique Étendue (Sortie Logique Objet)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Avec le paramétrage " Logique Étendue ", jusqu'à trois objets logiques sont utilisés pour combiner les adresses de groupe affectées aux objets du groupe en une nouvelle adresse de groupe.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13 : Paramètres pour "Extended Logic" (sortie logique objet) - actionneur 8 sorties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Différentes fonctions de porte peuvent être utilisées et connectées entre elles. Le résultat de la fonction de porte est ensuite envoyé en tant qu'adresse de groupe sur le bus via l'objet de groupe « Sortie logique » (ligne de paramètre : « Sortie temps 1 » </a:t>
            </a:r>
            <a:r>
              <a:rPr lang="en-GB" sz="1200" kern="1200">
                <a:solidFill>
                  <a:schemeClr val="tx1"/>
                </a:solidFill>
                <a:effectLst/>
                <a:latin typeface="Arial" charset="0"/>
                <a:ea typeface="+mn-ea"/>
                <a:cs typeface="+mn-cs"/>
                <a:sym typeface="Wingdings" panose="05000000000000000000" pitchFamily="2" charset="2"/>
              </a:rPr>
              <a:t></a:t>
            </a:r>
            <a:r>
              <a:rPr lang="en-GB" sz="1200" kern="1200">
                <a:solidFill>
                  <a:schemeClr val="tx1"/>
                </a:solidFill>
                <a:effectLst/>
                <a:latin typeface="Arial" charset="0"/>
                <a:ea typeface="+mn-ea"/>
                <a:cs typeface="+mn-cs"/>
              </a:rPr>
              <a:t> « Sortie logique objet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les processus techniques, il est possible d'activer les " Fonctions de Porte " et les " Filtres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commutation standard de la sortie correspondante (canal) n'a plus de fonction (toujours affiché).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14 : Groupes d'objets pour "Extended Logic" (sortie logique objet) - actionneur 8 sorties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3431308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Connexion Logique des Adresses de Groupe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de nombreuses fonctions du bâtiment, il existe une variété de tâches qui sont définies par diverses adresses de groupe et doivent être reliées entre elles. Il peut également être nécessaire de combiner plusieurs adresses de groupe en une nouvelle adresse de groupe en raison du nombre limité d'associations dans un objet de groupe.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D'autres applications doivent être capables d'adresser plusieurs objets avec différentes largeurs de bits (1 octet, 8 octets) en même temps avec une adresse transmise.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outre, diverses applications ont des fonctions limitées dans le temps qui doivent être rendues possibles par le filtrage des adresses de groupe.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3722145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Module Logique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modules logiques disponibles auprès de différents fabricants offrent une gamme de paramètres pour la gestion des opérations logiques mentionnées ci-dessus.</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Situations Problématiques</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Temps de Transfert des Télégrammes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l'utilisation d'objets de réponse d'état, il convient de noter que des problèmes peuvent être causés par les temps de transfert des télégrammes. Les télégrammes peuvent ne plus arriver en même temps en raison du réglage de l'heure, de sorte que le résultat logique à la porte peut être incorrect.</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Envoi Cyclique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L'envoi cyclique de capteurs peut avoir de graves conséquences s'ils sont guidés par des opérations logiques qui ne peuvent alors pas effectuer eux-mêmes l'envoi cyclique. A titre d'exemple, une fonction de déclenchement d'alarme doit être désactivée ou activée via une porte de la même manière qu'un circuit de surveillance. Si une fonction AND est définie pour cette entrée, une alarme passe exactement une fois à l'autre entrée. Les entrées sont cependant parfois réglées pour l'envoi cyclique afin de compenser d'éventuelles erreurs de transmission dues à des répétitions.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important de savoir ici que contrairement aux portes PLC, les modules de portes logiques KNX peuvent également émettre de manière cyclique (c'est-à-dire fonctionner pratiquement uniquement comme convertisseurs transparents).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572757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400" b="1" kern="1200">
                <a:solidFill>
                  <a:schemeClr val="tx1"/>
                </a:solidFill>
                <a:effectLst/>
                <a:latin typeface="Arial" charset="0"/>
                <a:ea typeface="+mn-ea"/>
                <a:cs typeface="+mn-cs"/>
              </a:rPr>
              <a:t>Réglages des Paramètres Disponibles des Modules Logiques</a:t>
            </a:r>
            <a:endParaRPr lang="es-ES" sz="14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Chaque installation KNX a ses propres exigences.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possibilités d'application sur un module logique sont présentées à titre d'exemple.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module logique offre des fonctions qui ne sont pas possibles uniquement avec des capteurs et des actionneurs. En exécutant trois fonctions différentes en même temps (par ex. logique, valeurs seuils et scènes), toutes les fonctions supplémentaires peuvent généralement être exécutées dans de petites installations KNX avec un module logique.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module logique, par exemple, met à disposition différentes fonctions dans un appareil pour des opérations logiques spéciales entre capteurs et actionneurs. Les 12 fonctions possibles peuvent être vues dans la vue d'ensemble des paramètres.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100" b="1" kern="1200">
                <a:solidFill>
                  <a:schemeClr val="tx1"/>
                </a:solidFill>
                <a:effectLst/>
                <a:latin typeface="Arial" charset="0"/>
                <a:ea typeface="+mn-ea"/>
                <a:cs typeface="+mn-cs"/>
              </a:rPr>
              <a:t>Illustration 15 : Fenêtre de paramétrage du "Logic Module" (extrait)</a:t>
            </a:r>
            <a:endParaRPr lang="es-ES" sz="11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113648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400" b="1" kern="1200">
                <a:solidFill>
                  <a:schemeClr val="tx1"/>
                </a:solidFill>
                <a:effectLst/>
                <a:latin typeface="Arial" charset="0"/>
                <a:ea typeface="+mn-ea"/>
                <a:cs typeface="+mn-cs"/>
              </a:rPr>
              <a:t>Réglages des Paramètres Disponibles des Modules Logiques</a:t>
            </a:r>
            <a:endParaRPr lang="es-ES" sz="14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qui suit s'applique à toutes les fenêtres de paramètres et fonctions du module logique sélectionné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Comportement des entrées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Après réception d'un télégramme, toutes les entrées mémorisent d'abord les valeurs afin de les mettre à disposition (par ex. pour les fonctions logiques) pour un traitement ultérieur. Lorsqu'un nouveau télégramme atteint l'entrée, les valeurs sont écrasées en conséquence.</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Objets désactivés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objets désactivés bloquent toujours la fonction dès réception d'un télégramme ACTIVÉ sur l'objet de groupe " xx Désactivé xx ". Dès réception d'un télégramme DÉSACTIVÉ sur l'objet de groupe " xx Désactivé xx ", la fonction est activée.</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Temporisation d'envoi</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temporisation d'envoi indique combien de temps le module logique attend (en fonction de la condition d'envoi paramétrée) avant d'envoyer une nouvelle valeur sous forme de télégramme de sortie.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Envoi cyclique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Certaines fonctions du module logique permettent l'envoi cyclique d'une valeur de sortie. Le cycle réglé est ensuite maintenu jusqu'à ce qu'une valeur de sortie change. Lorsqu'une valeur est modifiée, la sortie est immédiatement envoyée et le cycle d'envoi suivant est lancé.</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Types de données et types de points de données (DPT)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Différents types de données peuvent être sélectionnés pour certaines fonctions du module logique. Le type de point de données (DPT - Norme d'Interfonctionnement) est appliqué le cas échéant.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247633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Convertisseur de Format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Convertisseur de format </a:t>
            </a:r>
            <a:r>
              <a:rPr lang="en-GB" sz="1200" kern="1200">
                <a:solidFill>
                  <a:schemeClr val="tx1"/>
                </a:solidFill>
                <a:effectLst/>
                <a:latin typeface="Arial" charset="0"/>
                <a:ea typeface="+mn-ea"/>
                <a:cs typeface="+mn-cs"/>
              </a:rPr>
              <a:t>est sélectionné comme fonction dans le paramètre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une ligne apparaît dans la fenêtre de paramétrage ETS. La fonction est toujours précédée du nom de la ligne pour laquelle le convertisseur de format a été sélectionné (par ex. A - Convertisseur de Format).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données (par ex. valeurs de 1 octet) peuvent être converties dans un autre format (par ex. 8 x 1 octet) par le convertisseur de format. </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16 : Paramètres pour la fonction « Convertisseur de format » </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a:t>
            </a:r>
            <a:r>
              <a:rPr lang="en-GB" sz="1200" i="1" kern="1200">
                <a:solidFill>
                  <a:schemeClr val="tx1"/>
                </a:solidFill>
                <a:effectLst/>
                <a:latin typeface="Arial" charset="0"/>
                <a:ea typeface="+mn-ea"/>
                <a:cs typeface="+mn-cs"/>
              </a:rPr>
              <a:t>Format Converter </a:t>
            </a:r>
            <a:r>
              <a:rPr lang="en-GB" sz="1200" kern="1200">
                <a:solidFill>
                  <a:schemeClr val="tx1"/>
                </a:solidFill>
                <a:effectLst/>
                <a:latin typeface="Arial" charset="0"/>
                <a:ea typeface="+mn-ea"/>
                <a:cs typeface="+mn-cs"/>
              </a:rPr>
              <a:t>décompose un télégramme d'entrée en plusieurs télégrammes de sortie d'un format différent ou génère un télégramme de sortie à partir de plusieurs télégrammes d'entrée d'un autre format. Cela signifie que les télégrammes sont décomposés ou rassemblés au niveau du format. Aucun type de point de données spécifique (DTP) ne peut donc être affecté aux objets d'entrée et de sortie. Une affectation entre l'objet et un type de point de données (DTP) survient en raison du contexte du projet ETS dans lequel cette fonction est utilisée.</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17 : Objets de groupe (extrait) de ‘Convertisseur de format’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cas de coupure de la tension du bus ou de reprogrammation du module logique, les valeurs d'entrée ne sont pas enregistrées.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4095016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Portes Logiques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fonction </a:t>
            </a:r>
            <a:r>
              <a:rPr lang="en-GB" sz="1200" i="1" kern="1200">
                <a:solidFill>
                  <a:schemeClr val="tx1"/>
                </a:solidFill>
                <a:effectLst/>
                <a:latin typeface="Arial" charset="0"/>
                <a:ea typeface="+mn-ea"/>
                <a:cs typeface="+mn-cs"/>
              </a:rPr>
              <a:t>Logique </a:t>
            </a:r>
            <a:r>
              <a:rPr lang="en-GB" sz="1200" kern="1200">
                <a:solidFill>
                  <a:schemeClr val="tx1"/>
                </a:solidFill>
                <a:effectLst/>
                <a:latin typeface="Arial" charset="0"/>
                <a:ea typeface="+mn-ea"/>
                <a:cs typeface="+mn-cs"/>
              </a:rPr>
              <a:t>est sélectionnée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 3 lignes supplémentaires apparaissent dans la fenêtre de paramétrage ETS. La fonction est toujours précédée du nom de la ligne pour laquelle la porte logique a été sélectionnée (par ex. A - Entrées logiques 1 à 4).</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Des portes logiques peuvent être utilisées pour traiter logiquement des états de l'installation KNX qui sont rapportés par télégramme. Une sortie, par exemple, ne peut être envoyée à partir d'une fonction AND que si l'entrée pour crépuscule = 1 et l'entrée pour mouvement = 1. Une modification des signaux d'entrée entraîne l'envoi de la sortie (en fonction du paramétrage). Les valeurs d'entrée sont sauvegardées en cas de coupure de tension du bus (si configuré). Si le module logique est reprogrammé, les valeurs d'entrée enregistrées sont toujours effacées.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18: Paramètres (extrait) de ‘Logic (Gate) Entrées/Sorties’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483162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Indication de la valeur Min/Max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fonction </a:t>
            </a:r>
            <a:r>
              <a:rPr lang="en-GB" sz="1200" i="1" kern="1200">
                <a:solidFill>
                  <a:schemeClr val="tx1"/>
                </a:solidFill>
                <a:effectLst/>
                <a:latin typeface="Arial" charset="0"/>
                <a:ea typeface="+mn-ea"/>
                <a:cs typeface="+mn-cs"/>
              </a:rPr>
              <a:t>Min/Max-Value Indication</a:t>
            </a:r>
            <a:r>
              <a:rPr lang="en-GB" sz="1200" kern="1200">
                <a:solidFill>
                  <a:schemeClr val="tx1"/>
                </a:solidFill>
                <a:effectLst/>
                <a:latin typeface="Arial" charset="0"/>
                <a:ea typeface="+mn-ea"/>
                <a:cs typeface="+mn-cs"/>
              </a:rPr>
              <a:t> est sélectionnée dans la fenêtre </a:t>
            </a:r>
            <a:r>
              <a:rPr lang="en-GB" sz="1200" i="1" kern="1200">
                <a:solidFill>
                  <a:schemeClr val="tx1"/>
                </a:solidFill>
                <a:effectLst/>
                <a:latin typeface="Arial" charset="0"/>
                <a:ea typeface="+mn-ea"/>
                <a:cs typeface="+mn-cs"/>
              </a:rPr>
              <a:t>Générale</a:t>
            </a:r>
            <a:r>
              <a:rPr lang="en-GB" sz="1200" kern="1200">
                <a:solidFill>
                  <a:schemeClr val="tx1"/>
                </a:solidFill>
                <a:effectLst/>
                <a:latin typeface="Arial" charset="0"/>
                <a:ea typeface="+mn-ea"/>
                <a:cs typeface="+mn-cs"/>
              </a:rPr>
              <a:t> , la ligne apparaît dans la fenêtre de paramètre ETS qui porte le nom de la fonction sélectionnée (e. A – Min/Max-Value Indication). Avec l'affichage de la valeur min/max, la plus grande valeur de température par exemple est déterminée à partir de 2 télégrammes envoyés. Cette valeur de différentes sondes peut ensuite être transmise à un régulateur de température en tant que valeur de mesure.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19 : Paramètres (extrait) de l'indication « Min/Max-Value Indication »</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3245976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Détection de la Valeur Seuil</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Valeurs seuils </a:t>
            </a:r>
            <a:r>
              <a:rPr lang="en-GB" sz="1200" kern="1200">
                <a:solidFill>
                  <a:schemeClr val="tx1"/>
                </a:solidFill>
                <a:effectLst/>
                <a:latin typeface="Arial" charset="0"/>
                <a:ea typeface="+mn-ea"/>
                <a:cs typeface="+mn-cs"/>
              </a:rPr>
              <a:t>est sélectionné en fonction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2 lignes apparaissent dans la fenêtre de paramétrage ETS. La fonction est toujours précédée du nom de la ligne pour laquelle les valeurs seuils ont été sélectionnées (par ex. A - Valeur Seuil 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est utilisée pour détecter si une valeur dépasse ou tombe en dessous d'une valeur de seuil définie. La température d'un entrepôt frigorifique peut par exemple être surveillée pour une valeur maximale et un message peut être envoyé lorsqu'elle est dépassée.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20 : Paramètres (extrait) de la valeur de seuil</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Chaque fonction de valeur seuil met à disposition 2 valeurs seuils indépendantes qui peuvent être paramétrées dans les lignes Valeur Seuil 1 (ou 2). Les types de points de données disponibles pour la sélection sont indiqués dans le diagramme.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3625816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Scènes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Scènes</a:t>
            </a:r>
            <a:r>
              <a:rPr lang="en-GB" sz="1200" kern="1200">
                <a:solidFill>
                  <a:schemeClr val="tx1"/>
                </a:solidFill>
                <a:effectLst/>
                <a:latin typeface="Arial" charset="0"/>
                <a:ea typeface="+mn-ea"/>
                <a:cs typeface="+mn-cs"/>
              </a:rPr>
              <a:t> est sélectionnée comme fonction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 d'autres lignes apparaissent dans la fenêtre du paramétrage ETS. La fonction est toujours précédée du nom de la ligne pour laquelle les scènes ont été sélectionnées (par exemple A - Scènes Communes).</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21 : Paramètres (extrait) de « Scènes Communes »</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Les scènes sont utilisées pour récupérer les réglages par défaut. Il y a par exemple 6 objets de groupe disponibles comme sorties. Le type de données est défini une fois pour chaque édition. Des valeurs différentes peuvent alors être attribuées à ces sorties dans chaque scène.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22 : Paramètres (extrait) des « Scène Outputs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scène pour une soirée agréable au coin du feu peut être définie dans un salon. Si cette scène est récupérée via un télégramme de bus, les valeurs préréglées pour la scène sont envoyées sur le bus aux actionneurs sous forme de télégrammes. Il est ainsi possible d'allumer une lampe standard, de réduire l'éclairage du plafond à 10 % et d'abaisser la consigne de chauffage à 19 °C, par exemple.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23 : Paramètres (extrait) de la « Scène 1 »</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1108310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Comparateur de Température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Comparateur de température </a:t>
            </a:r>
            <a:r>
              <a:rPr lang="en-GB" sz="1200" kern="1200">
                <a:solidFill>
                  <a:schemeClr val="tx1"/>
                </a:solidFill>
                <a:effectLst/>
                <a:latin typeface="Arial" charset="0"/>
                <a:ea typeface="+mn-ea"/>
                <a:cs typeface="+mn-cs"/>
              </a:rPr>
              <a:t>est sélectionné comme fonction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une ligne apparaît dans la fenêtre des paramètres ETS avec la fonction sélectionnée, par ex. A – Comparateur de température.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2 valeurs de température différentes peuvent être comparées avec l'évaluateur de température. Différents télégrammes peuvent être envoyés en fonction du résultat.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24 : Paramètres (extrait) du « Comparateur de température »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9814121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Porte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Porte/Filtre</a:t>
            </a:r>
            <a:r>
              <a:rPr lang="en-GB" sz="1200" kern="1200">
                <a:solidFill>
                  <a:schemeClr val="tx1"/>
                </a:solidFill>
                <a:effectLst/>
                <a:latin typeface="Arial" charset="0"/>
                <a:ea typeface="+mn-ea"/>
                <a:cs typeface="+mn-cs"/>
              </a:rPr>
              <a:t> est sélectionné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2 lignes apparaissent dans la fenêtre des paramètres ETS, chacune avec une porte/filtre.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de filtrage permet de filtrer les télégrammes. Les télégrammes peuvent être acheminés ou bloqués à l'aide d'une porte en fonction d'une condition définie.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Remarque : Les fonctions porte/filtre opèrent au niveau du format des télégrammes (ex. 1 bit,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1 octet, 2 octets) et non sur les types de points de données (type EIS). Une affectation entre l'objet et un type de point de données n'est effectuée qu'en raison du contexte du projet ETS dans lequel cette fonction est utilisée.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25 : Paramètres (extrait) de « Gate/Filter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2806684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Luminaires d'Escaliers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fonction </a:t>
            </a:r>
            <a:r>
              <a:rPr lang="en-GB" sz="1200" i="1" kern="1200">
                <a:solidFill>
                  <a:schemeClr val="tx1"/>
                </a:solidFill>
                <a:effectLst/>
                <a:latin typeface="Arial" charset="0"/>
                <a:ea typeface="+mn-ea"/>
                <a:cs typeface="+mn-cs"/>
              </a:rPr>
              <a:t>Escalier Lumière</a:t>
            </a:r>
            <a:r>
              <a:rPr lang="en-GB" sz="1200" kern="1200">
                <a:solidFill>
                  <a:schemeClr val="tx1"/>
                </a:solidFill>
                <a:effectLst/>
                <a:latin typeface="Arial" charset="0"/>
                <a:ea typeface="+mn-ea"/>
                <a:cs typeface="+mn-cs"/>
              </a:rPr>
              <a:t> est sélectionnée dans la fenêtre </a:t>
            </a:r>
            <a:r>
              <a:rPr lang="en-GB" sz="1200" i="1" kern="1200">
                <a:solidFill>
                  <a:schemeClr val="tx1"/>
                </a:solidFill>
                <a:effectLst/>
                <a:latin typeface="Arial" charset="0"/>
                <a:ea typeface="+mn-ea"/>
                <a:cs typeface="+mn-cs"/>
              </a:rPr>
              <a:t>Générale</a:t>
            </a:r>
            <a:r>
              <a:rPr lang="en-GB" sz="1200" kern="1200">
                <a:solidFill>
                  <a:schemeClr val="tx1"/>
                </a:solidFill>
                <a:effectLst/>
                <a:latin typeface="Arial" charset="0"/>
                <a:ea typeface="+mn-ea"/>
                <a:cs typeface="+mn-cs"/>
              </a:rPr>
              <a:t> , une ligne apparaît dans la fenêtre de paramètre ETS dans laquelle 2 lumières configurables sont disponibles.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de luminaires d'escaliers reflète une minuterie de luminaires d'escaliers. Dès réception d'un télégramme ACTIVÉ, la temporisation est déclenchée. Un télégramme DÉSACTIVÉ est envoyé à l'objet de groupe à l'entrée une fois la temporisation écoulée.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26 : Paramètres (extrait) pour ‘Lumière d'escalier’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1904159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Multiplicateur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Multiplicateur</a:t>
            </a:r>
            <a:r>
              <a:rPr lang="en-GB" sz="1200" kern="1200">
                <a:solidFill>
                  <a:schemeClr val="tx1"/>
                </a:solidFill>
                <a:effectLst/>
                <a:latin typeface="Arial" charset="0"/>
                <a:ea typeface="+mn-ea"/>
                <a:cs typeface="+mn-cs"/>
              </a:rPr>
              <a:t> est sélectionné dans la fenêtre de paramètres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2 lignes apparaissent dans la fenêtre de paramètres ETS.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multiplicateur peut être utilisé pour transmettre plusieurs télégrammes à la sortie dès réception d'un télégramme à l'entrée. Les télégrammes de sortie peuvent être quatre télégrammes de 1 bit et/ou quatre télégrammes de 1 octet.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27 : Paramètres (extrait) des « Sorties du multiplicateur 1 bit »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Avec le paramètre </a:t>
            </a:r>
            <a:r>
              <a:rPr lang="en-GB" sz="1200" i="1" kern="1200">
                <a:solidFill>
                  <a:schemeClr val="tx1"/>
                </a:solidFill>
                <a:effectLst/>
                <a:latin typeface="Arial" charset="0"/>
                <a:ea typeface="+mn-ea"/>
                <a:cs typeface="+mn-cs"/>
              </a:rPr>
              <a:t>Réaction de la sortie 1-Byte x</a:t>
            </a:r>
            <a:r>
              <a:rPr lang="en-GB" sz="1200" kern="1200">
                <a:solidFill>
                  <a:schemeClr val="tx1"/>
                </a:solidFill>
                <a:effectLst/>
                <a:latin typeface="Arial" charset="0"/>
                <a:ea typeface="+mn-ea"/>
                <a:cs typeface="+mn-cs"/>
              </a:rPr>
              <a:t>, il est défini comment une sortie binaire du multiplicateur doit se comporter. L'option télégramme d'entrée correspond à la fonction du multiplicateur simple. Les sorties peuvent aussi être inversées ou ne réagir qu'à un télégramme. Par exemple, l'option </a:t>
            </a:r>
            <a:r>
              <a:rPr lang="en-GB" sz="1200" i="1" kern="1200">
                <a:solidFill>
                  <a:schemeClr val="tx1"/>
                </a:solidFill>
                <a:effectLst/>
                <a:latin typeface="Arial" charset="0"/>
                <a:ea typeface="+mn-ea"/>
                <a:cs typeface="+mn-cs"/>
              </a:rPr>
              <a:t>envoyer si ON </a:t>
            </a:r>
            <a:r>
              <a:rPr lang="en-GB" sz="1200" kern="1200">
                <a:solidFill>
                  <a:schemeClr val="tx1"/>
                </a:solidFill>
                <a:effectLst/>
                <a:latin typeface="Arial" charset="0"/>
                <a:ea typeface="+mn-ea"/>
                <a:cs typeface="+mn-cs"/>
              </a:rPr>
              <a:t>provoque l'envoi d'un télégramme à l'entrée alors qu'un télégramme OFF ne provoque aucune réaction à la sortie.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28 : Paramètres (extrait) de « Multiplicateur de sorties de 1 octet»</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objets de groupe (exemple} montrent qu'une adresse d'entrée de 1 bit peut envoyer quatre adresses de sortie de 1 bit et une adresse de sortie de 1 octet sur le bus.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29 : Objets de groupe (extrait) de 'Multiplicateur (Entrées/Sorties)'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1615870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Valeur de Commutation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'Basculer la valeur' </a:t>
            </a:r>
            <a:r>
              <a:rPr lang="en-GB" sz="1200" kern="1200">
                <a:solidFill>
                  <a:schemeClr val="tx1"/>
                </a:solidFill>
                <a:effectLst/>
                <a:latin typeface="Arial" charset="0"/>
                <a:ea typeface="+mn-ea"/>
                <a:cs typeface="+mn-cs"/>
              </a:rPr>
              <a:t>est sélectionné comme fonction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une ligne apparaît dans la fenêtre de paramétrage ETS avec le nom de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Cette fonction permet d'envoyer une valeur de consigne préréglée en réaction à un télégramme d'entrée de 1 bit. Il est donc possible par exemple de prédéfinir une consigne pour la température ambiante lorsque vous êtes présent (par ex. 20 °C) et lorsque vous êtes absent (par ex. 18 °C).</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30 : Paramètres (extrait) de « Toggle Value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1524754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Compteur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fonction </a:t>
            </a:r>
            <a:r>
              <a:rPr lang="en-GB" sz="1200" i="1" kern="1200">
                <a:solidFill>
                  <a:schemeClr val="tx1"/>
                </a:solidFill>
                <a:effectLst/>
                <a:latin typeface="Arial" charset="0"/>
                <a:ea typeface="+mn-ea"/>
                <a:cs typeface="+mn-cs"/>
              </a:rPr>
              <a:t>Compteur</a:t>
            </a:r>
            <a:r>
              <a:rPr lang="en-GB" sz="1200" kern="1200">
                <a:solidFill>
                  <a:schemeClr val="tx1"/>
                </a:solidFill>
                <a:effectLst/>
                <a:latin typeface="Arial" charset="0"/>
                <a:ea typeface="+mn-ea"/>
                <a:cs typeface="+mn-cs"/>
              </a:rPr>
              <a:t> est sélectionnée dans la fenêtre </a:t>
            </a:r>
            <a:r>
              <a:rPr lang="en-GB" sz="1200" i="1" kern="1200">
                <a:solidFill>
                  <a:schemeClr val="tx1"/>
                </a:solidFill>
                <a:effectLst/>
                <a:latin typeface="Arial" charset="0"/>
                <a:ea typeface="+mn-ea"/>
                <a:cs typeface="+mn-cs"/>
              </a:rPr>
              <a:t>Générale</a:t>
            </a:r>
            <a:r>
              <a:rPr lang="en-GB" sz="1200" kern="1200">
                <a:solidFill>
                  <a:schemeClr val="tx1"/>
                </a:solidFill>
                <a:effectLst/>
                <a:latin typeface="Arial" charset="0"/>
                <a:ea typeface="+mn-ea"/>
                <a:cs typeface="+mn-cs"/>
              </a:rPr>
              <a:t> , une ligne apparaît dans la fenêtre de paramètre ETS avec le nom de la fonction sélectionnée.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compteur est un compteur de télégrammes. Les télégrammes d'adresse de groupe des capteurs et actionneurs peuvent ainsi être comptés. Le compteur peut enregistrer un télégramme toutes les 30 ms au maximum (correspond à 33 Hz).</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31 : Paramètres (extrait) de « Compteur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22603161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Temps de temporisation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t>
            </a:r>
            <a:r>
              <a:rPr lang="en-GB" sz="1200" i="1" kern="1200">
                <a:solidFill>
                  <a:schemeClr val="tx1"/>
                </a:solidFill>
                <a:effectLst/>
                <a:latin typeface="Arial" charset="0"/>
                <a:ea typeface="+mn-ea"/>
                <a:cs typeface="+mn-cs"/>
              </a:rPr>
              <a:t>le délai</a:t>
            </a:r>
            <a:r>
              <a:rPr lang="en-GB" sz="1200" kern="1200">
                <a:solidFill>
                  <a:schemeClr val="tx1"/>
                </a:solidFill>
                <a:effectLst/>
                <a:latin typeface="Arial" charset="0"/>
                <a:ea typeface="+mn-ea"/>
                <a:cs typeface="+mn-cs"/>
              </a:rPr>
              <a:t> a été sélectionné comme fonction dans la fenêtre </a:t>
            </a:r>
            <a:r>
              <a:rPr lang="en-GB" sz="1200" i="1" kern="1200">
                <a:solidFill>
                  <a:schemeClr val="tx1"/>
                </a:solidFill>
                <a:effectLst/>
                <a:latin typeface="Arial" charset="0"/>
                <a:ea typeface="+mn-ea"/>
                <a:cs typeface="+mn-cs"/>
              </a:rPr>
              <a:t>Général</a:t>
            </a:r>
            <a:r>
              <a:rPr lang="en-GB" sz="1200" kern="1200">
                <a:solidFill>
                  <a:schemeClr val="tx1"/>
                </a:solidFill>
                <a:effectLst/>
                <a:latin typeface="Arial" charset="0"/>
                <a:ea typeface="+mn-ea"/>
                <a:cs typeface="+mn-cs"/>
              </a:rPr>
              <a:t> , deux lignes apparaissent dans la fenêtre de paramètre ETS sur laquelle 2 délais par ligne peuvent être utilisés.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temps de temporisation peut être utilisée pour les télégrammes de 1 bit comme temporisation ACTIVÉE et/ou DÉSACTIVÉE. Pour tous les autres types de données, il est utilisé comme délai d'envoi des télégrammes. Cette temporisation du télégramme provoque le démarrage de la temporisation lorsqu'un télégramme arrive à l'entrée et que le télégramme n'est transmis qu'une fois la période écoulée. Si un autre télégramme avec une valeur différente arrive pendant la temporisation, cette nouvelle valeur est transmise à la fin de la période de temporisation.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32: Paramètres (extrait) de ‘Timer 1 + 2 (3 + 4)’</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365419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Connexion Logique Étendue des Adresses de Groupe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diverses opérations logiques sont nécessaires pour les fonctions techniques du bâtiment, il est recommandé d'utiliser des unités d'application. Différents fabricants proposent des versions d'appareils correspondantes avec un éventail de fonctions différent.</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Unité d'Application (Exemple)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33 : Unité d'application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conception du projet et la mise en service des fonctions logiques d'une unité d'application s'effectuent principalement directement dans ETS.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L'affectation des paramètres s'effectue dans un diagramme logique graphique qui s'ouvre par exemple via le bouton " Paramètres... ". C'est là que les fonctions logiques, les entrées et sorties ainsi que les connexions sont créées et que les paramètres des fonctions sont édités.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lvl="0"/>
            <a:r>
              <a:rPr lang="en-GB" sz="1400" b="1" kern="1200">
                <a:solidFill>
                  <a:schemeClr val="tx1"/>
                </a:solidFill>
                <a:effectLst/>
                <a:latin typeface="Arial" charset="0"/>
                <a:ea typeface="+mn-ea"/>
                <a:cs typeface="+mn-cs"/>
              </a:rPr>
              <a:t>Conception Graphique du projet dans un Diagramme Logique </a:t>
            </a:r>
            <a:endParaRPr lang="es-ES" sz="1400" b="1"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L'interface utilisateur graphique pour le paramétrage de l'unité d'application présentée dans l'exemple utilise diverses fonctions de base et interfaces ETS. Il est directement intégré dans le programme ETS et peut donc être utilisé dans l'environnement ETS habituel.</a:t>
            </a:r>
            <a:endParaRPr lang="es-ES" sz="1400"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Les modules fonction nécessaires sont glissés par glisser-déposer sur la surface d'édition et les connexions nécessaires sont reliées entre elles par un clic gauche de la souris.</a:t>
            </a:r>
            <a:endParaRPr lang="es-ES" sz="1400"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Cliquer avec le bouton droit de la souris sur un module ouvre l'édition des paramètres.</a:t>
            </a:r>
          </a:p>
          <a:p>
            <a:endParaRPr lang="en-GB" sz="1400" kern="1200" dirty="0">
              <a:solidFill>
                <a:schemeClr val="tx1"/>
              </a:solidFill>
              <a:effectLst/>
              <a:latin typeface="Arial" charset="0"/>
              <a:ea typeface="+mn-ea"/>
              <a:cs typeface="+mn-cs"/>
            </a:endParaRPr>
          </a:p>
          <a:p>
            <a:endParaRPr lang="en-GB" sz="1400" kern="1200" dirty="0">
              <a:solidFill>
                <a:schemeClr val="tx1"/>
              </a:solidFill>
              <a:effectLst/>
              <a:latin typeface="Arial" charset="0"/>
              <a:ea typeface="+mn-ea"/>
              <a:cs typeface="+mn-cs"/>
            </a:endParaRPr>
          </a:p>
          <a:p>
            <a:r>
              <a:rPr lang="en-GB" sz="1400" b="1" kern="1200">
                <a:solidFill>
                  <a:schemeClr val="tx1"/>
                </a:solidFill>
                <a:effectLst/>
                <a:latin typeface="Arial" charset="0"/>
                <a:ea typeface="+mn-ea"/>
                <a:cs typeface="+mn-cs"/>
              </a:rPr>
              <a:t>Illustration 34 : Interface utilisateur graphique</a:t>
            </a:r>
            <a:endParaRPr lang="es-ES" sz="1400" b="1" kern="1200" dirty="0">
              <a:solidFill>
                <a:schemeClr val="tx1"/>
              </a:solidFill>
              <a:effectLst/>
              <a:latin typeface="Arial" charset="0"/>
              <a:ea typeface="+mn-ea"/>
              <a:cs typeface="+mn-cs"/>
            </a:endParaRPr>
          </a:p>
          <a:p>
            <a:r>
              <a:rPr lang="en-GB" sz="1400" kern="1200">
                <a:solidFill>
                  <a:schemeClr val="tx1"/>
                </a:solidFill>
                <a:effectLst/>
                <a:latin typeface="Arial" charset="0"/>
                <a:ea typeface="+mn-ea"/>
                <a:cs typeface="+mn-cs"/>
              </a:rPr>
              <a:t>La configuration des fonctions logiques s'effectue dans le module ' Conception du Projet ' de l'ETS et est représentée dans un diagramme logique graphique basé sur DIN 40900.</a:t>
            </a: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1977076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Tâches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tâches suivantes sont recommandées pour les explications précédentes.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tâches peuvent être adaptées en fonction des composants KNX disponibles.</a:t>
            </a:r>
            <a:endParaRPr lang="es-ES" sz="1200" kern="1200" dirty="0">
              <a:solidFill>
                <a:schemeClr val="tx1"/>
              </a:solidFill>
              <a:effectLst/>
              <a:latin typeface="Arial" charset="0"/>
              <a:ea typeface="+mn-ea"/>
              <a:cs typeface="+mn-cs"/>
            </a:endParaRPr>
          </a:p>
          <a:p>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3605614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kern="1200">
                <a:solidFill>
                  <a:schemeClr val="tx1"/>
                </a:solidFill>
                <a:effectLst/>
                <a:latin typeface="Arial" charset="0"/>
                <a:ea typeface="+mn-ea"/>
                <a:cs typeface="+mn-cs"/>
              </a:rPr>
              <a:t>La fonction OR sans temporisation ou avec temporisation ACTIVÉE et ACTIVÉE</a:t>
            </a:r>
          </a:p>
          <a:p>
            <a:r>
              <a:rPr lang="en-US" sz="1400" kern="1200">
                <a:solidFill>
                  <a:schemeClr val="tx1"/>
                </a:solidFill>
                <a:effectLst/>
                <a:latin typeface="Arial" charset="0"/>
                <a:ea typeface="+mn-ea"/>
                <a:cs typeface="+mn-cs"/>
              </a:rPr>
              <a:t>Configurez un actionneur de commutation x sorties et activez la fonction OR dans les paramètres du canal x. Envoyez les adresses de groupe nécessaires au commutateur ou à l'objet logique avec un capteur de commutation.</a:t>
            </a:r>
          </a:p>
          <a:p>
            <a:r>
              <a:rPr lang="en-US" sz="1400" kern="1200">
                <a:solidFill>
                  <a:schemeClr val="tx1"/>
                </a:solidFill>
                <a:effectLst/>
                <a:latin typeface="Arial" charset="0"/>
                <a:ea typeface="+mn-ea"/>
                <a:cs typeface="+mn-cs"/>
              </a:rPr>
              <a:t>Testez le fonctionnement des processus suivants : </a:t>
            </a:r>
          </a:p>
          <a:p>
            <a:pPr marL="285750" indent="-285750">
              <a:buFont typeface="Arial" panose="020B0604020202020204" pitchFamily="34" charset="0"/>
              <a:buChar char="•"/>
            </a:pPr>
            <a:r>
              <a:rPr lang="en-US" sz="1400" kern="1200">
                <a:solidFill>
                  <a:schemeClr val="tx1"/>
                </a:solidFill>
                <a:effectLst/>
                <a:latin typeface="Arial" charset="0"/>
                <a:ea typeface="+mn-ea"/>
                <a:cs typeface="+mn-cs"/>
              </a:rPr>
              <a:t>Fonction OR sans temporisation</a:t>
            </a:r>
          </a:p>
          <a:p>
            <a:pPr marL="285750" indent="-285750">
              <a:buFont typeface="Arial" panose="020B0604020202020204" pitchFamily="34" charset="0"/>
              <a:buChar char="•"/>
            </a:pPr>
            <a:r>
              <a:rPr lang="en-US" sz="1400" kern="1200">
                <a:solidFill>
                  <a:schemeClr val="tx1"/>
                </a:solidFill>
                <a:effectLst/>
                <a:latin typeface="Arial" charset="0"/>
                <a:ea typeface="+mn-ea"/>
                <a:cs typeface="+mn-cs"/>
              </a:rPr>
              <a:t>Fonction OR avec temporisation ACTIVÉE et/ou ACTIVÉE </a:t>
            </a:r>
          </a:p>
          <a:p>
            <a:r>
              <a:rPr lang="en-US" sz="1400" kern="1200">
                <a:solidFill>
                  <a:schemeClr val="tx1"/>
                </a:solidFill>
                <a:effectLst/>
                <a:latin typeface="Arial" charset="0"/>
                <a:ea typeface="+mn-ea"/>
                <a:cs typeface="+mn-cs"/>
              </a:rPr>
              <a:t>Familiarisez-vous avec les organigrammes du chapitre sur la fonction OR (cas 1 et cas 2).</a:t>
            </a: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34480130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Exemple : Climatisation automatique de pièce avec activation (fonction AND)</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Attribuez à un capteur de commutation la tâche de commutation d'un climatiseur individuel par l'intermédiaire d'un actionneur de commutation.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pièce est équipée d'un thermostat d'ambiance avec commande à deux niveaux et possibilité de bus. En alternative, un thermostat d'ambiance conventionnel peut être doté d'une entrée binaire pour le bus.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Affectez les paramètres de manière à ce que le thermostat règle la température ambiante via l'objet de commutation et que le capteur de commutation active ou désactive la boucle fermée via l'objet logique (fonction AND).</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Créez les adresses de groupe nécessaires en tant que groupes principaux et intermédiaires.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Créez les sous-groupes requis, par ex.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35 = Thermostat pour chambre froide xx</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36 = Commuter la sonde pour chambre froide xx</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et lier ces adresses aux objets correspondants.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Transférez les informations modifiées dans les appareils et testez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Configurez une fonction centrale DÉSACTIVÉE et étendez-la aux appareils de climatisation.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Reliez l'adresse centrale du groupe DÉSACTIVÉ avec l'objet du commutateur et testez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Reliez l'adresse du Groupe central DÉSACTIVÉ à l'objet logique et tester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Résumé</a:t>
            </a:r>
            <a:r>
              <a:rPr lang="en-GB" sz="1200" kern="1200">
                <a:solidFill>
                  <a:schemeClr val="tx1"/>
                </a:solidFill>
                <a:effectLst/>
                <a:latin typeface="Arial" charset="0"/>
                <a:ea typeface="+mn-ea"/>
                <a:cs typeface="+mn-cs"/>
              </a:rPr>
              <a:t>: Si les adresses de groupe avec la valeur '1' qui ont été générées par des processus physiques ne peuvent pas être réinitialisées par une commande centrale 'OFF', l'adresse de groupe est envoyée de manière cyclique.</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27103177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Exemple : Climatisation automatique de pièce avec activation (fonction AND)</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Attribuez à un capteur de commutation la tâche de commutation d'un climatiseur individuel par l'intermédiaire d'un actionneur de commutation.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pièce est équipée d'un thermostat d'ambiance avec commande à deux niveaux et possibilité de bus. En alternative, un thermostat d'ambiance conventionnel peut être doté d'une entrée binaire pour le bus.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Affectez les paramètres de manière à ce que le thermostat règle la température ambiante via l'objet de commutation et que le capteur de commutation active ou désactive la boucle fermée via l'objet logique (fonction AND).</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Créez les adresses de groupe nécessaires en tant que groupes principaux et intermédiaires.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Créez les sous-groupes requis, par ex.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35 = Thermostat pour chambre froide xx</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36 = Commuter la sonde pour chambre froide xx</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et lier ces adresses aux objets correspondants.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Transférez les informations modifiées dans les appareils et testez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Configurez une fonction centrale DÉSACTIVÉE et étendez-la aux appareils de climatisation.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Reliez l'adresse centrale du groupe DÉSACTIVÉ avec l'objet du commutateur et testez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Reliez l'adresse du Groupe central DÉSACTIVÉ à l'objet logique et tester la fonction.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Résumé</a:t>
            </a:r>
            <a:r>
              <a:rPr lang="en-GB" sz="1200" kern="1200">
                <a:solidFill>
                  <a:schemeClr val="tx1"/>
                </a:solidFill>
                <a:effectLst/>
                <a:latin typeface="Arial" charset="0"/>
                <a:ea typeface="+mn-ea"/>
                <a:cs typeface="+mn-cs"/>
              </a:rPr>
              <a:t>: Si les adresses de groupe avec la valeur '1' qui ont été générées par des processus physiques ne peuvent pas être réinitialisées par une commande centrale 'OFF', l'adresse de groupe est envoyée de manière cyclique.</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16959809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Fonction AND sans temporisation et avec temporisation ACTIVÉE/DÉSACTIVÉE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Configurez un actionneur de commutateur quadruple et activez la fonction AND dans les paramètres du canal. </a:t>
            </a:r>
            <a:endParaRPr lang="es-ES" sz="1200" kern="1200" dirty="0">
              <a:solidFill>
                <a:schemeClr val="tx1"/>
              </a:solidFill>
              <a:effectLst/>
              <a:latin typeface="Arial" charset="0"/>
              <a:ea typeface="+mn-ea"/>
              <a:cs typeface="+mn-cs"/>
            </a:endParaRPr>
          </a:p>
          <a:p>
            <a:r>
              <a:rPr lang="en-GB" sz="1200" b="0" kern="1200">
                <a:solidFill>
                  <a:schemeClr val="tx1"/>
                </a:solidFill>
                <a:effectLst/>
                <a:latin typeface="Arial" charset="0"/>
                <a:ea typeface="+mn-ea"/>
                <a:cs typeface="+mn-cs"/>
              </a:rPr>
              <a:t>Testez le fonctionnement des séquences suivantes :</a:t>
            </a:r>
            <a:endParaRPr lang="es-ES" sz="1200" b="1"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AND sans temporisation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AND avec temporisation ACTIVÉE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 AND avec temporisation ACTIVÉE et Hors Temporisation DÉACTIVÉE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Familiarisez-vous avec les organigrammes de la section décrivant la fonction AND (Cas 1, Cas 2, Cas 3).</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2502390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Liaison d'adresses de groupe (1) - Module Logique ou Actionneur de Commutation " Logique Étendue "</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KNX est utilisé dans un bâtiment scolaire pour les fonctions de signalisation et de surveillance. Les ajouts suivants devraient accroître la sécurité du bâtiment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message ' Fenêtre ouverte ' doit être étendu à un signal d'alarme (protection contre le danger) à un moment donné de la journée et transmis au responsable technique (gardien).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L'adresse de groupe pour le message ' Fenêtre ouverte ' est par exemple liée dans un module logique comme adresse d'entrée à une deuxième adresse de groupe pour ' Durée de l'alarme ' en utilisant une fonction AND pour former une nouvelle adresse de groupe de sortie ' ALARME - Fenêtre ouverte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36</a:t>
            </a:fld>
            <a:endParaRPr lang="en-US"/>
          </a:p>
        </p:txBody>
      </p:sp>
    </p:spTree>
    <p:extLst>
      <p:ext uri="{BB962C8B-B14F-4D97-AF65-F5344CB8AC3E}">
        <p14:creationId xmlns:p14="http://schemas.microsoft.com/office/powerpoint/2010/main" val="604300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Adresses des Groupes de Liaison (2) - Conception Graphique du Projet (Module d'Application)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salle de classe doit être chauffée pendant les cours si le régulateur de température envoie le signal " Chauffage ACTIVÉ ", si les deux fenêtres de la salle sont fermées et si la salle est occupée. L'heure de la leçon est signalée par une entrée binaire (ou minuterie), chacune des deux fenêtres est surveillée par un contact de fenêtre et l'utilisation de la classe est enregistrée par un détecteur de mouvement. Aucun des capteurs ne fonctionne en logique inversée.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Nombre d'entrées utilisées: 5</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Entrée 1 : Chauffage activé </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Entrée 2 : minuterie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Entrées 3 et 4 : contacts de fenêtre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Entrée 5 : Détecteur de mouvement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Porte logique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L'adresse de groupe de la sortie commande l'actionneur de chauffage.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Testez la fonction.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37</a:t>
            </a:fld>
            <a:endParaRPr lang="en-US"/>
          </a:p>
        </p:txBody>
      </p:sp>
    </p:spTree>
    <p:extLst>
      <p:ext uri="{BB962C8B-B14F-4D97-AF65-F5344CB8AC3E}">
        <p14:creationId xmlns:p14="http://schemas.microsoft.com/office/powerpoint/2010/main" val="32434812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38</a:t>
            </a:fld>
            <a:endParaRPr lang="en-US"/>
          </a:p>
        </p:txBody>
      </p:sp>
    </p:spTree>
    <p:extLst>
      <p:ext uri="{BB962C8B-B14F-4D97-AF65-F5344CB8AC3E}">
        <p14:creationId xmlns:p14="http://schemas.microsoft.com/office/powerpoint/2010/main" val="23730888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Opérations Logiques (Annexe)</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Fonctions et Éléments de Base</a:t>
            </a: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Fonction AND (Conjonction) et Élément AND (AND)</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phrase «Si le temps est beau demain et que mon frère a le temps, nous allons voir» contient une fonction </a:t>
            </a:r>
            <a:r>
              <a:rPr lang="en-GB" sz="1200" i="1" kern="1200">
                <a:solidFill>
                  <a:schemeClr val="tx1"/>
                </a:solidFill>
                <a:effectLst/>
                <a:latin typeface="Arial" charset="0"/>
                <a:ea typeface="+mn-ea"/>
                <a:cs typeface="+mn-cs"/>
              </a:rPr>
              <a:t>ET . </a:t>
            </a:r>
            <a:r>
              <a:rPr lang="en-GB" sz="1200" kern="1200">
                <a:solidFill>
                  <a:schemeClr val="tx1"/>
                </a:solidFill>
                <a:effectLst/>
                <a:latin typeface="Arial" charset="0"/>
                <a:ea typeface="+mn-ea"/>
                <a:cs typeface="+mn-cs"/>
              </a:rPr>
              <a:t>La déclaration A (beau temps) </a:t>
            </a:r>
            <a:r>
              <a:rPr lang="en-GB" sz="1200" i="1" kern="1200">
                <a:solidFill>
                  <a:schemeClr val="tx1"/>
                </a:solidFill>
                <a:effectLst/>
                <a:latin typeface="Arial" charset="0"/>
                <a:ea typeface="+mn-ea"/>
                <a:cs typeface="+mn-cs"/>
              </a:rPr>
              <a:t> et </a:t>
            </a:r>
            <a:r>
              <a:rPr lang="en-GB" sz="1200" kern="1200">
                <a:solidFill>
                  <a:schemeClr val="tx1"/>
                </a:solidFill>
                <a:effectLst/>
                <a:latin typeface="Arial" charset="0"/>
                <a:ea typeface="+mn-ea"/>
                <a:cs typeface="+mn-cs"/>
              </a:rPr>
              <a:t> la déclaration B (mon frère a le temps) doivent s'appliquer, c'est-à-dire être vraies pour que la déclaration X (aller naviguer) soit vraie. Cette connexion peut être représentée dans une table de vérité. Un état ' 1 ' signifie « vrai » ou « applicable ». L'état ' 0 ' signifie « faux » ou « non applicable ». Quatre cas (combinaisons) sont possibles. Les cas peuvent suivre n'importe quel ordre en principe mais doivent correspondre à un schéma spécifique.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35: Tableau de vérité et schéma de circuit d'une fonction AND et d'un élément AND</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circuit électronique dans lequel seul un état « 1 » est présent à la sortie X lorsque « 1 » états sont présents à l'entrée A </a:t>
            </a:r>
            <a:r>
              <a:rPr lang="en-GB" sz="1200" i="1" kern="1200">
                <a:solidFill>
                  <a:schemeClr val="tx1"/>
                </a:solidFill>
                <a:effectLst/>
                <a:latin typeface="Arial" charset="0"/>
                <a:ea typeface="+mn-ea"/>
                <a:cs typeface="+mn-cs"/>
              </a:rPr>
              <a:t>et</a:t>
            </a:r>
            <a:r>
              <a:rPr lang="en-GB" sz="1200" kern="1200">
                <a:solidFill>
                  <a:schemeClr val="tx1"/>
                </a:solidFill>
                <a:effectLst/>
                <a:latin typeface="Arial" charset="0"/>
                <a:ea typeface="+mn-ea"/>
                <a:cs typeface="+mn-cs"/>
              </a:rPr>
              <a:t> à l'entrée B, est appelé </a:t>
            </a:r>
            <a:r>
              <a:rPr lang="en-GB" sz="1200" i="1" kern="1200">
                <a:solidFill>
                  <a:schemeClr val="tx1"/>
                </a:solidFill>
                <a:effectLst/>
                <a:latin typeface="Arial" charset="0"/>
                <a:ea typeface="+mn-ea"/>
                <a:cs typeface="+mn-cs"/>
              </a:rPr>
              <a:t>AND</a:t>
            </a:r>
            <a:r>
              <a:rPr lang="en-GB" sz="1200" kern="1200">
                <a:solidFill>
                  <a:schemeClr val="tx1"/>
                </a:solidFill>
                <a:effectLst/>
                <a:latin typeface="Arial" charset="0"/>
                <a:ea typeface="+mn-ea"/>
                <a:cs typeface="+mn-cs"/>
              </a:rPr>
              <a:t>, un élément</a:t>
            </a:r>
            <a:r>
              <a:rPr lang="en-GB" sz="1200" i="1" kern="1200">
                <a:solidFill>
                  <a:schemeClr val="tx1"/>
                </a:solidFill>
                <a:effectLst/>
                <a:latin typeface="Arial" charset="0"/>
                <a:ea typeface="+mn-ea"/>
                <a:cs typeface="+mn-cs"/>
              </a:rPr>
              <a:t> AND</a:t>
            </a:r>
            <a:r>
              <a:rPr lang="en-GB" sz="1200" kern="1200">
                <a:solidFill>
                  <a:schemeClr val="tx1"/>
                </a:solidFill>
                <a:effectLst/>
                <a:latin typeface="Arial" charset="0"/>
                <a:ea typeface="+mn-ea"/>
                <a:cs typeface="+mn-cs"/>
              </a:rPr>
              <a:t> ou une </a:t>
            </a:r>
            <a:r>
              <a:rPr lang="en-GB" sz="1200" i="1" kern="1200">
                <a:solidFill>
                  <a:schemeClr val="tx1"/>
                </a:solidFill>
                <a:effectLst/>
                <a:latin typeface="Arial" charset="0"/>
                <a:ea typeface="+mn-ea"/>
                <a:cs typeface="+mn-cs"/>
              </a:rPr>
              <a:t>porte logique AND </a:t>
            </a:r>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élément AND peut être implémenté par un schéma de circuit. Aujourd'hui, les circuits intégrés à semi-conducteurs sont presque exclusivement utilisés.</a:t>
            </a:r>
          </a:p>
          <a:p>
            <a:endParaRPr lang="en-GB"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Tout circuit qui remplit la table de vérité d'une fonction AND est un élément AND.</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AND peut être exprimée mathématiquement à l'aide de l'algèbre logique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X = A ^ B</a:t>
            </a:r>
            <a:r>
              <a:rPr lang="en-GB" sz="1200" kern="1200">
                <a:solidFill>
                  <a:schemeClr val="tx1"/>
                </a:solidFill>
                <a:effectLst/>
                <a:latin typeface="Arial" charset="0"/>
                <a:ea typeface="+mn-ea"/>
                <a:cs typeface="+mn-cs"/>
              </a:rPr>
              <a:t>  	Symbole pour la fonction ET (standardisé).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diagramme montre le symbole graphique d'un élément AND à deux entrées. Les désignations des entrées et des sorties peuvent être librement sélectionnées. I1, I2 est souvent utilisé pour les entrées et O pour les sorties.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36: Symbole graphique de l'élément AND avec 2 entrées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1" kern="1200">
                <a:solidFill>
                  <a:schemeClr val="tx1"/>
                </a:solidFill>
                <a:effectLst/>
                <a:latin typeface="Arial" charset="0"/>
                <a:ea typeface="+mn-ea"/>
                <a:cs typeface="+mn-cs"/>
              </a:rPr>
              <a:t>L'état ' 1 ' n'est présent à la sortie d'un élément AND que s'il existe également un état ' 1 ' à toutes les entrées.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39</a:t>
            </a:fld>
            <a:endParaRPr lang="en-US"/>
          </a:p>
        </p:txBody>
      </p:sp>
    </p:spTree>
    <p:extLst>
      <p:ext uri="{BB962C8B-B14F-4D97-AF65-F5344CB8AC3E}">
        <p14:creationId xmlns:p14="http://schemas.microsoft.com/office/powerpoint/2010/main" val="9004465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Opérations Logiques (Annexe)</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Fonctions et Éléments de Base</a:t>
            </a: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Fonction OR (Disjonction) et Élément OR (OR)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phrase « Si j'hérite d'un peu d'argent ou si je gagne à la loterie, je ferai le tour du monde » mène à une fonction OR. Le tour du monde sera effectué si l'énoncé A (héritage) ou l'énoncé B (gain à la loterie) ou les deux relevés deviennent vrais. On pourrait se demander si le voyage se ferait aussi si les deux déclarations se réalisaient. Le mode d'expression grammaticale n'est pas assez précis ici. Pour une fonction OR, le tour du monde devrait également être effectué si A et B deviennent vrais. La table de vérité du diagramme 2.3 indique la connexion (état ' 1 ' = « vrai », état ' 0 ' = « faux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circuit électronique dans lequel un état ' 1 ' est toujours présent à la sortie X s'il y a un état ' 1 ' à l'entrée A ou à l'entrée B ou aux deux entrées est appelé un élément OR.</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37 : Tableau de vérité et circuit d'une fonction OR et d'un élément OR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Le circuit représenté n'est utilisé qu'à des fins de clarification. Aujourd'hui, les éléments OR sont presque exclusivement configurés en circuits intégrés à semi-conducteurs.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1" kern="1200">
                <a:solidFill>
                  <a:schemeClr val="tx1"/>
                </a:solidFill>
                <a:effectLst/>
                <a:latin typeface="Arial" charset="0"/>
                <a:ea typeface="+mn-ea"/>
                <a:cs typeface="+mn-cs"/>
              </a:rPr>
              <a:t>Tout circuit qui remplit la table de vérité d'une fonction OR est un élément OR.</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OR peut également être exprimée mathématiquement à l'aide de l'algèbre logique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 = A v B v = Symbole pour la fonction OR (normalisé).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informations dans le symbole graphique standardisé 1 signifie que le nombre d'états '1' aux entrées doit être 1 s'il doit y avoir un '1' à la sortie.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38 : Symbole graphique de l'élément OR avec 2 entrées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désignations des entrées et des sorties peuvent être librement sélectionnées. I1, I2 est souvent utilisé pour les entrées et O pour les sorties.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L'état ' 1 ' est toujours présent à la sortie d'un élément OR s'il y a un état ' 1 ' sur au moins une des entrées.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40</a:t>
            </a:fld>
            <a:endParaRPr lang="en-US"/>
          </a:p>
        </p:txBody>
      </p:sp>
    </p:spTree>
    <p:extLst>
      <p:ext uri="{BB962C8B-B14F-4D97-AF65-F5344CB8AC3E}">
        <p14:creationId xmlns:p14="http://schemas.microsoft.com/office/powerpoint/2010/main" val="33299626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Opérations Logiques (Annexe)</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Fonctions et Éléments de Base</a:t>
            </a: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Négation et élément NOT (NOT)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phrase « Si ma belle-mère vient me voir, je n'irai pas au théâtre ce soir » est une négation. Si l'énoncé A (belle-mère vient me voir) est vrai, l'énoncé X (n'irai pas au théâtre ce soir) ne l'est pas. Si l'énoncé A n'est pas vrai, l'énoncé X est vrai et je vais au théâtre. La table de vérité associé (diagramme) n'a que 2 cas.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circuit électronique dans lequel l'état en </a:t>
            </a:r>
            <a:r>
              <a:rPr lang="en-GB" sz="1200" b="1" kern="1200">
                <a:solidFill>
                  <a:schemeClr val="tx1"/>
                </a:solidFill>
                <a:effectLst/>
                <a:latin typeface="Arial" charset="0"/>
                <a:ea typeface="+mn-ea"/>
                <a:cs typeface="+mn-cs"/>
              </a:rPr>
              <a:t>entrée A </a:t>
            </a:r>
            <a:r>
              <a:rPr lang="en-GB" sz="1200" kern="1200">
                <a:solidFill>
                  <a:schemeClr val="tx1"/>
                </a:solidFill>
                <a:effectLst/>
                <a:latin typeface="Arial" charset="0"/>
                <a:ea typeface="+mn-ea"/>
                <a:cs typeface="+mn-cs"/>
              </a:rPr>
              <a:t>est toujours opposé à l'état en</a:t>
            </a:r>
            <a:r>
              <a:rPr lang="en-GB" sz="1200" b="1" kern="1200">
                <a:solidFill>
                  <a:schemeClr val="tx1"/>
                </a:solidFill>
                <a:effectLst/>
                <a:latin typeface="Arial" charset="0"/>
                <a:ea typeface="+mn-ea"/>
                <a:cs typeface="+mn-cs"/>
              </a:rPr>
              <a:t> sortie</a:t>
            </a:r>
            <a:r>
              <a:rPr lang="en-GB" sz="120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X</a:t>
            </a:r>
            <a:r>
              <a:rPr lang="en-GB" sz="1200" kern="1200">
                <a:solidFill>
                  <a:schemeClr val="tx1"/>
                </a:solidFill>
                <a:effectLst/>
                <a:latin typeface="Arial" charset="0"/>
                <a:ea typeface="+mn-ea"/>
                <a:cs typeface="+mn-cs"/>
              </a:rPr>
              <a:t>, est appelé élément NOT, NOT ou inverseur (négateur).</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39: Tableau de vérité, circuit et symbole graphique (standardisé) d'une négation ou d'un élément NON</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élément NOT peut être structuré selon le schéma de circuit. Il faut encore une fois noter que les éléments NOT sont généralement configurés dans la technologie des semi-conducteurs.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Tout circuit qui rencontre la table de vérité d'une négation est un élément NOT.</a:t>
            </a:r>
            <a:endParaRPr lang="es-ES" sz="11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négation peut aussi être exprimée mathématiquement à l'aide de l'algèbre logique.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 = non A</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ligne traduite est le symbole de la négation.</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L'état à la sortie d'un élément NOT est toujours le contraire de l'état à l'entrée.</a:t>
            </a:r>
            <a:endParaRPr lang="es-ES" sz="11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41</a:t>
            </a:fld>
            <a:endParaRPr lang="en-US"/>
          </a:p>
        </p:txBody>
      </p:sp>
    </p:spTree>
    <p:extLst>
      <p:ext uri="{BB962C8B-B14F-4D97-AF65-F5344CB8AC3E}">
        <p14:creationId xmlns:p14="http://schemas.microsoft.com/office/powerpoint/2010/main" val="617233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Éléments Composés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Élément NAND (NAND)</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un élément AND est combiné avec un élément NON conformément au diagramme, tous les états de sortie X de l'élément AND sont annulés.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colonne X indique la fonction AND.</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 est seulement ' 1 ', si A = 1 et B = 1 (Cas 4).</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 est cependant aussi l'entrée de l'élément NOT.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un ' 0 ' se trouve à l'entrée X de l'élément NOT, sortie Z = 1. Si un ' 1 ' se trouve à l'entrée X de l'élément NOT, sortie Z = 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colonne Z indique une fonction AND annulée. La désignation NAND est formée de l'expression anglaise NOT AND.</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40 : Origine de la fonction NAND avec tableau de vérité du circuit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éléments NAND sont très fréquemment utilisés. Des symboles graphiques uniques ont été développés pour eux.</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41 : Table de vérité et symbole graphique de l'élément NAND avec 2 entrées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symbole graphique est produit à partir du symbole de l'élément AND avec un cercle à la sortie. Ce cercle indique la négation de la sortie.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phrase suivante s'applique au fonctionnement logique de l'élément NAND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Un état ' 1 ' est présent à la sortie d'un élément NAND si un état ' 1 ' n'est pas présent à toutes les entrées.</a:t>
            </a:r>
            <a:endParaRPr lang="es-ES" sz="11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NAND peut être représentée comme suit en utilisant l'algèbre logique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Z = non (A ^ B)</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longue ligne au-dessus de la fonction AND de A et B indique que la fonction AND complète a été annulée.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42</a:t>
            </a:fld>
            <a:endParaRPr lang="en-US"/>
          </a:p>
        </p:txBody>
      </p:sp>
    </p:spTree>
    <p:extLst>
      <p:ext uri="{BB962C8B-B14F-4D97-AF65-F5344CB8AC3E}">
        <p14:creationId xmlns:p14="http://schemas.microsoft.com/office/powerpoint/2010/main" val="33866733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Éléments Composés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Élément NOR (NOR)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table de vérité (diagramme) s'applique à la combinaison d'un élément OR avec un élément NOT. Une fonction OR est d'abord formée à partir des variables d'entrée A et B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 = A v B</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 est simultanément l'entrée de l'élément NOT. Tous les états de la sortie X apparaissent comme nuls dans la colonne Z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(sortie X = 0  Z = 1, sortie X = 1  Z = 0).</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42: Origine d'un élément NOR avec tableau de vérité du circuit et symbole graphique (standardisé)</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Z indique la fonction OR annulée. La désignation NOR est formée de l'expression anglaise NOT OR (NICHT-ODER). Il n'y a pas d'équivalent en allemand pour NOR.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éléments NOR sont utilisés aussi fréquemment que les éléments NAND. Il existe donc un symbole graphique séparé (diagramme) pour les éléments NOR. Le symbole est produit à partir du symbole de l'élément OR. La négation est représentée par un cercle à la sortie.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phrase suivante s'applique au fonctionnement logique de l'élément NOR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Un état ' 1 ' ne se trouve à la sortie d'un élément NOR que si l'état ' 1 ' n'est présent sur aucune entrée.</a:t>
            </a:r>
            <a:endParaRPr lang="es-ES" sz="11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L'équation algébrique suivante s'applique à la fonction NOR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Z = non (</a:t>
            </a:r>
            <a:r>
              <a:rPr lang="en-GB" sz="1200" b="1" kern="1200">
                <a:solidFill>
                  <a:schemeClr val="tx1"/>
                </a:solidFill>
                <a:effectLst/>
                <a:latin typeface="Arial" charset="0"/>
                <a:ea typeface="+mn-ea"/>
                <a:cs typeface="+mn-cs"/>
              </a:rPr>
              <a:t> </a:t>
            </a:r>
            <a:r>
              <a:rPr lang="en-GB" sz="1200" b="0" kern="1200">
                <a:solidFill>
                  <a:schemeClr val="tx1"/>
                </a:solidFill>
                <a:effectLst/>
                <a:latin typeface="Arial" charset="0"/>
                <a:ea typeface="+mn-ea"/>
                <a:cs typeface="+mn-cs"/>
              </a:rPr>
              <a:t>A v B)</a:t>
            </a:r>
            <a:endParaRPr lang="es-ES" sz="1200" b="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43</a:t>
            </a:fld>
            <a:endParaRPr lang="en-US"/>
          </a:p>
        </p:txBody>
      </p:sp>
    </p:spTree>
    <p:extLst>
      <p:ext uri="{BB962C8B-B14F-4D97-AF65-F5344CB8AC3E}">
        <p14:creationId xmlns:p14="http://schemas.microsoft.com/office/powerpoint/2010/main" val="10468695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Éléments Composés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Élément EQUIVALENCE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circuit logique est souvent nécessaire dans lequel un état ' 1 ' est toujours présent à la sortie si les deux états d'entrée sont identiques, c'est-à-dire s'ils sont tous les deux ' 0 ' ou ' 1 '. Ce type de circuit est appelé EQUIVALENCE (équivalence = valeur égale). Il est configuré à partir d'éléments de base.</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43 : Symbole graphique de l'élément EQUIVALENCE avec table de vérité</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éléments EQUIVALENCE ont aussi leur propre symbole graphique. Le diagramme 2.9 montre le symbole et la table de vérité.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L'état ' 1 ' est toujours présent à la sortie d'un élément EQUIVALENCE si les entrées ont des états identiques.</a:t>
            </a:r>
            <a:endParaRPr lang="es-ES" sz="11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L'équation algébrique de la fonction EQUIVALENCE a le format suivant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Z =</a:t>
            </a:r>
            <a:r>
              <a:rPr lang="es-ES"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(A</a:t>
            </a:r>
            <a:r>
              <a:rPr lang="es-ES"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a:t>
            </a:r>
            <a:r>
              <a:rPr lang="es-ES"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B)</a:t>
            </a:r>
            <a:r>
              <a:rPr lang="es-ES"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v (non A ^</a:t>
            </a:r>
            <a:r>
              <a:rPr lang="es-ES" sz="1200" b="0" kern="1200">
                <a:solidFill>
                  <a:schemeClr val="tx1"/>
                </a:solidFill>
                <a:effectLst/>
                <a:latin typeface="Arial" charset="0"/>
                <a:ea typeface="+mn-ea"/>
                <a:cs typeface="+mn-cs"/>
              </a:rPr>
              <a:t> </a:t>
            </a:r>
            <a:r>
              <a:rPr lang="es-ES" sz="1200" b="1" kern="1200">
                <a:solidFill>
                  <a:schemeClr val="tx1"/>
                </a:solidFill>
                <a:effectLst/>
                <a:latin typeface="Arial" charset="0"/>
                <a:ea typeface="+mn-ea"/>
                <a:cs typeface="+mn-cs"/>
              </a:rPr>
              <a:t>non </a:t>
            </a:r>
            <a:r>
              <a:rPr lang="en-GB" sz="1200" b="1" kern="1200">
                <a:solidFill>
                  <a:schemeClr val="tx1"/>
                </a:solidFill>
                <a:effectLst/>
                <a:latin typeface="Arial" charset="0"/>
                <a:ea typeface="+mn-ea"/>
                <a:cs typeface="+mn-cs"/>
              </a:rPr>
              <a:t>B)</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44</a:t>
            </a:fld>
            <a:endParaRPr lang="en-US"/>
          </a:p>
        </p:txBody>
      </p:sp>
    </p:spTree>
    <p:extLst>
      <p:ext uri="{BB962C8B-B14F-4D97-AF65-F5344CB8AC3E}">
        <p14:creationId xmlns:p14="http://schemas.microsoft.com/office/powerpoint/2010/main" val="7007514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Éléments Composés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Élément EXCLUSIVE OR (XOR)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sortie de l'élément EQUIVALENCE est annulée par la connexion en série d'un élément NOT, un élément est créé qui a toujours l'état ' 1 ' à la sortie si les états des entrées sont différents.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type d'élément est appelé EXCLUSIVE OR (= valeur inégale). Le nom suggère que cet élément est un élément OR, auquel cas il n'est pas possible d'avoir un état ' 1 ' à la sortie si les deux entrées ont un état ' 1 ' (cas 4). La désignation XOR a été formée à partir de l'expression anglaise EXCLUSIVE OR.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44 : Origine d'un élément OU EXCLUSIVE avec table de vérité et symbole graphique (standardisé)</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L'état ' 1 ' est alors toujours présent à la sortie d'un élément EXCLUSIVE OR si les deux entrées ont des états différents.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équation algébrique pour EXCLUSIVE OR peut être tirée du circuit dans le Schéma 6.10 dans le format suivant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X</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(A</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B)</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v</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(non A</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a:t>
            </a:r>
            <a:r>
              <a:rPr lang="es-ES" sz="1200" kern="1200">
                <a:solidFill>
                  <a:schemeClr val="tx1"/>
                </a:solidFill>
                <a:effectLst/>
                <a:latin typeface="Arial" charset="0"/>
                <a:ea typeface="+mn-ea"/>
                <a:cs typeface="+mn-cs"/>
              </a:rPr>
              <a:t> non </a:t>
            </a:r>
            <a:r>
              <a:rPr lang="en-GB" sz="1200" kern="1200">
                <a:solidFill>
                  <a:schemeClr val="tx1"/>
                </a:solidFill>
                <a:effectLst/>
                <a:latin typeface="Arial" charset="0"/>
                <a:ea typeface="+mn-ea"/>
                <a:cs typeface="+mn-cs"/>
              </a:rPr>
              <a:t>B)</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Cette expression n'est pas entièrement annulée puisque l'élément NOT est connecté en série. L'équation suivante est produite pour EXCLUSIVE OR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Z =</a:t>
            </a:r>
            <a:r>
              <a:rPr lang="es-ES" sz="1200" kern="1200">
                <a:solidFill>
                  <a:schemeClr val="tx1"/>
                </a:solidFill>
                <a:effectLst/>
                <a:latin typeface="Arial" charset="0"/>
                <a:ea typeface="+mn-ea"/>
                <a:cs typeface="+mn-cs"/>
              </a:rPr>
              <a:t> non( </a:t>
            </a:r>
            <a:r>
              <a:rPr lang="en-GB" sz="1200" kern="1200">
                <a:solidFill>
                  <a:schemeClr val="tx1"/>
                </a:solidFill>
                <a:effectLst/>
                <a:latin typeface="Arial" charset="0"/>
                <a:ea typeface="+mn-ea"/>
                <a:cs typeface="+mn-cs"/>
              </a:rPr>
              <a:t>(A</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B)</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v</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(non A</a:t>
            </a:r>
            <a:r>
              <a:rPr lang="es-ES" sz="12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 non B)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45</a:t>
            </a:fld>
            <a:endParaRPr lang="en-US"/>
          </a:p>
        </p:txBody>
      </p:sp>
    </p:spTree>
    <p:extLst>
      <p:ext uri="{BB962C8B-B14F-4D97-AF65-F5344CB8AC3E}">
        <p14:creationId xmlns:p14="http://schemas.microsoft.com/office/powerpoint/2010/main" val="3777343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15.emf"/><Relationship Id="rId4" Type="http://schemas.openxmlformats.org/officeDocument/2006/relationships/package" Target="../embeddings/Microsoft_Visio_Drawing3.vsdx"/></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0.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0.xml"/><Relationship Id="rId5" Type="http://schemas.openxmlformats.org/officeDocument/2006/relationships/image" Target="../media/image37.emf"/><Relationship Id="rId4" Type="http://schemas.openxmlformats.org/officeDocument/2006/relationships/package" Target="../embeddings/Microsoft_Visio_Drawing6.vsdx"/></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notesSlide" Target="../notesSlides/notesSlide39.xml"/><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emf"/></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10.xml"/><Relationship Id="rId5" Type="http://schemas.openxmlformats.org/officeDocument/2006/relationships/image" Target="../media/image42.emf"/><Relationship Id="rId4" Type="http://schemas.openxmlformats.org/officeDocument/2006/relationships/package" Target="../embeddings/Microsoft_Visio_Drawing8.vsdx"/></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45.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image" Target="../media/image46.emf"/></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Visio_Drawing11.vsdx"/><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47.emf"/></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Visio_Drawing12.vsdx"/><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4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a:t>COURS AVANCÉ KNX</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GB" sz="2400" dirty="0" err="1"/>
              <a:t>Opérations</a:t>
            </a:r>
            <a:r>
              <a:rPr lang="en-GB" sz="2400" dirty="0"/>
              <a:t> </a:t>
            </a:r>
            <a:r>
              <a:rPr lang="en-GB" sz="2400" dirty="0" err="1"/>
              <a:t>Logiques</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sz="2400"/>
              <a:t>Connexion Logique des Objets de Groupe</a:t>
            </a:r>
            <a:endParaRPr lang="en-GB" sz="2400" dirty="0"/>
          </a:p>
        </p:txBody>
      </p:sp>
      <p:sp>
        <p:nvSpPr>
          <p:cNvPr id="5" name="Content Placeholder 1">
            <a:extLst>
              <a:ext uri="{FF2B5EF4-FFF2-40B4-BE49-F238E27FC236}">
                <a16:creationId xmlns:a16="http://schemas.microsoft.com/office/drawing/2014/main" id="{F208AD4A-49EC-4480-AA77-B67D151DDF87}"/>
              </a:ext>
            </a:extLst>
          </p:cNvPr>
          <p:cNvSpPr txBox="1">
            <a:spLocks/>
          </p:cNvSpPr>
          <p:nvPr/>
        </p:nvSpPr>
        <p:spPr>
          <a:xfrm>
            <a:off x="900112" y="1412776"/>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a:ea typeface="Open Sans" panose="020B0606030504020204" pitchFamily="34" charset="0"/>
                <a:cs typeface="Open Sans" panose="020B0606030504020204" pitchFamily="34" charset="0"/>
              </a:rPr>
              <a:t>Actionneur de Commutation (Sortie Binaire) avec Fonction Logique</a:t>
            </a:r>
          </a:p>
          <a:p>
            <a:pPr lvl="1">
              <a:lnSpc>
                <a:spcPct val="150000"/>
              </a:lnSpc>
              <a:buFont typeface="Wingdings" panose="05000000000000000000" pitchFamily="2" charset="2"/>
              <a:buChar char="§"/>
              <a:defRPr/>
            </a:pPr>
            <a:r>
              <a:rPr lang="en-US" sz="2000" b="1" kern="0">
                <a:solidFill>
                  <a:schemeClr val="bg1">
                    <a:lumMod val="10000"/>
                  </a:schemeClr>
                </a:solidFill>
                <a:ea typeface="Open Sans" panose="020B0606030504020204" pitchFamily="34" charset="0"/>
                <a:cs typeface="Open Sans" panose="020B0606030504020204" pitchFamily="34" charset="0"/>
              </a:rPr>
              <a:t>Objet de groupe – Commutateur : similaire à la fonction OU</a:t>
            </a:r>
          </a:p>
          <a:p>
            <a:pPr lvl="1">
              <a:lnSpc>
                <a:spcPct val="150000"/>
              </a:lnSpc>
              <a:buFont typeface="Wingdings" panose="05000000000000000000" pitchFamily="2" charset="2"/>
              <a:buChar char="§"/>
              <a:defRPr/>
            </a:pPr>
            <a:r>
              <a:rPr lang="en-US" sz="2000" b="1" kern="0">
                <a:solidFill>
                  <a:schemeClr val="bg1">
                    <a:lumMod val="10000"/>
                  </a:schemeClr>
                </a:solidFill>
                <a:ea typeface="Open Sans" panose="020B0606030504020204" pitchFamily="34" charset="0"/>
                <a:cs typeface="Open Sans" panose="020B0606030504020204" pitchFamily="34" charset="0"/>
              </a:rPr>
              <a:t>Groupe objet – Logique</a:t>
            </a:r>
          </a:p>
          <a:p>
            <a:pPr lvl="1">
              <a:lnSpc>
                <a:spcPct val="150000"/>
              </a:lnSpc>
              <a:buFont typeface="Wingdings" panose="05000000000000000000" pitchFamily="2" charset="2"/>
              <a:buChar char="§"/>
              <a:defRPr/>
            </a:pPr>
            <a:r>
              <a:rPr lang="en-US" sz="2000" b="1" kern="0">
                <a:solidFill>
                  <a:schemeClr val="bg1">
                    <a:lumMod val="10000"/>
                  </a:schemeClr>
                </a:solidFill>
                <a:ea typeface="Open Sans" panose="020B0606030504020204" pitchFamily="34" charset="0"/>
                <a:cs typeface="Open Sans" panose="020B0606030504020204" pitchFamily="34" charset="0"/>
              </a:rPr>
              <a:t>Fonction OR avec temporisation ACTIVÉ/DÉSACTIVÉ</a:t>
            </a:r>
          </a:p>
          <a:p>
            <a:pPr lvl="1">
              <a:lnSpc>
                <a:spcPct val="150000"/>
              </a:lnSpc>
              <a:buFont typeface="Wingdings" panose="05000000000000000000" pitchFamily="2" charset="2"/>
              <a:buChar char="§"/>
              <a:defRPr/>
            </a:pPr>
            <a:r>
              <a:rPr lang="en-US" sz="2000" b="1" kern="0">
                <a:solidFill>
                  <a:schemeClr val="bg1">
                    <a:lumMod val="10000"/>
                  </a:schemeClr>
                </a:solidFill>
                <a:ea typeface="Open Sans" panose="020B0606030504020204" pitchFamily="34" charset="0"/>
                <a:cs typeface="Open Sans" panose="020B0606030504020204" pitchFamily="34" charset="0"/>
              </a:rPr>
              <a:t>Fonction AND</a:t>
            </a:r>
          </a:p>
          <a:p>
            <a:pPr lvl="1">
              <a:lnSpc>
                <a:spcPct val="150000"/>
              </a:lnSpc>
              <a:buFont typeface="Wingdings" panose="05000000000000000000" pitchFamily="2" charset="2"/>
              <a:buChar char="§"/>
              <a:defRPr/>
            </a:pPr>
            <a:r>
              <a:rPr lang="en-US" sz="2000" b="1" kern="0">
                <a:solidFill>
                  <a:schemeClr val="bg1">
                    <a:lumMod val="10000"/>
                  </a:schemeClr>
                </a:solidFill>
                <a:ea typeface="Open Sans" panose="020B0606030504020204" pitchFamily="34" charset="0"/>
                <a:cs typeface="Open Sans" panose="020B0606030504020204" pitchFamily="34" charset="0"/>
              </a:rPr>
              <a:t>Logique Étendue (Commande Directe des Relais)</a:t>
            </a:r>
          </a:p>
          <a:p>
            <a:pPr lvl="1">
              <a:lnSpc>
                <a:spcPct val="150000"/>
              </a:lnSpc>
              <a:buFont typeface="Wingdings" panose="05000000000000000000" pitchFamily="2" charset="2"/>
              <a:buChar char="§"/>
              <a:defRPr/>
            </a:pPr>
            <a:r>
              <a:rPr lang="en-US" sz="2000" b="1" kern="0">
                <a:solidFill>
                  <a:schemeClr val="bg1">
                    <a:lumMod val="10000"/>
                  </a:schemeClr>
                </a:solidFill>
                <a:ea typeface="Open Sans" panose="020B0606030504020204" pitchFamily="34" charset="0"/>
                <a:cs typeface="Open Sans" panose="020B0606030504020204" pitchFamily="34" charset="0"/>
              </a:rPr>
              <a:t>Logique Étendue (Sortie Logique Objet)</a:t>
            </a:r>
          </a:p>
          <a:p>
            <a:pPr>
              <a:lnSpc>
                <a:spcPct val="150000"/>
              </a:lnSpc>
              <a:defRPr/>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88438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Objet de groupe - Logique</a:t>
            </a:r>
            <a:endParaRPr lang="en-GB" dirty="0"/>
          </a:p>
        </p:txBody>
      </p:sp>
      <p:sp>
        <p:nvSpPr>
          <p:cNvPr id="4" name="Rectangle 3">
            <a:extLst>
              <a:ext uri="{FF2B5EF4-FFF2-40B4-BE49-F238E27FC236}">
                <a16:creationId xmlns:a16="http://schemas.microsoft.com/office/drawing/2014/main" id="{C2E30ADE-4EF6-44DC-A591-382F6152B952}"/>
              </a:ext>
            </a:extLst>
          </p:cNvPr>
          <p:cNvSpPr/>
          <p:nvPr/>
        </p:nvSpPr>
        <p:spPr>
          <a:xfrm>
            <a:off x="900112" y="1374457"/>
            <a:ext cx="7704335" cy="1622495"/>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Une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opération</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logique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peut</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être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activée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séparément</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pour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chaque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sortie</a:t>
            </a:r>
          </a:p>
          <a:p>
            <a:pPr marL="342900" indent="-342900" eaLnBrk="0" hangingPunct="0">
              <a:lnSpc>
                <a:spcPct val="150000"/>
              </a:lnSpc>
              <a:spcBef>
                <a:spcPct val="20000"/>
              </a:spcBef>
              <a:buClr>
                <a:srgbClr val="369226"/>
              </a:buClr>
              <a:buFont typeface="Wingdings" pitchFamily="2" charset="2"/>
              <a:buChar char="§"/>
              <a:defRPr/>
            </a:pP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Une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ou</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deux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opérations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logiques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sont</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activées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en</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fonction</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du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produit</a:t>
            </a:r>
            <a:endParaRPr lang="en-GB" sz="1600"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Des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fonctions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logiques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supplémentaires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peuvent</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être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activées</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via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une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logique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r>
              <a:rPr lang="en-GB" sz="1600" b="1" kern="0" dirty="0" err="1">
                <a:solidFill>
                  <a:schemeClr val="bg1">
                    <a:lumMod val="10000"/>
                  </a:schemeClr>
                </a:solidFill>
                <a:latin typeface="+mn-lt"/>
                <a:ea typeface="Open Sans" panose="020B0606030504020204" pitchFamily="34" charset="0"/>
                <a:cs typeface="Open Sans" panose="020B0606030504020204" pitchFamily="34" charset="0"/>
              </a:rPr>
              <a:t>étendue</a:t>
            </a:r>
            <a:r>
              <a:rPr lang="en-GB" sz="1600" b="1" kern="0" dirty="0">
                <a:solidFill>
                  <a:schemeClr val="bg1">
                    <a:lumMod val="10000"/>
                  </a:schemeClr>
                </a:solidFill>
                <a:latin typeface="+mn-lt"/>
                <a:ea typeface="Open Sans" panose="020B0606030504020204" pitchFamily="34" charset="0"/>
                <a:cs typeface="Open Sans" panose="020B0606030504020204" pitchFamily="34" charset="0"/>
              </a:rPr>
              <a:t> »</a:t>
            </a:r>
            <a:endParaRPr lang="es-ES" sz="1600" b="1" kern="0" dirty="0">
              <a:solidFill>
                <a:schemeClr val="bg1">
                  <a:lumMod val="10000"/>
                </a:schemeClr>
              </a:solidFill>
              <a:latin typeface="+mn-lt"/>
              <a:ea typeface="Open Sans" panose="020B0606030504020204" pitchFamily="34" charset="0"/>
              <a:cs typeface="Open Sans" panose="020B0606030504020204" pitchFamily="34" charset="0"/>
            </a:endParaRPr>
          </a:p>
        </p:txBody>
      </p:sp>
      <p:graphicFrame>
        <p:nvGraphicFramePr>
          <p:cNvPr id="6" name="Object 5">
            <a:extLst>
              <a:ext uri="{FF2B5EF4-FFF2-40B4-BE49-F238E27FC236}">
                <a16:creationId xmlns:a16="http://schemas.microsoft.com/office/drawing/2014/main" id="{4756ACCA-E787-4CE6-A7D2-3932F575F519}"/>
              </a:ext>
            </a:extLst>
          </p:cNvPr>
          <p:cNvGraphicFramePr>
            <a:graphicFrameLocks noChangeAspect="1"/>
          </p:cNvGraphicFramePr>
          <p:nvPr/>
        </p:nvGraphicFramePr>
        <p:xfrm>
          <a:off x="1547664" y="3140968"/>
          <a:ext cx="6029598" cy="3647958"/>
        </p:xfrm>
        <a:graphic>
          <a:graphicData uri="http://schemas.openxmlformats.org/presentationml/2006/ole">
            <mc:AlternateContent xmlns:mc="http://schemas.openxmlformats.org/markup-compatibility/2006">
              <mc:Choice xmlns:v="urn:schemas-microsoft-com:vml" Requires="v">
                <p:oleObj r:id="rId3" imgW="8799327" imgH="5338492" progId="Visio.Drawing.15">
                  <p:embed/>
                </p:oleObj>
              </mc:Choice>
              <mc:Fallback>
                <p:oleObj r:id="rId3" imgW="8799327" imgH="5338492" progId="Visio.Drawing.15">
                  <p:embed/>
                  <p:pic>
                    <p:nvPicPr>
                      <p:cNvPr id="6" name="Object 5">
                        <a:extLst>
                          <a:ext uri="{FF2B5EF4-FFF2-40B4-BE49-F238E27FC236}">
                            <a16:creationId xmlns:a16="http://schemas.microsoft.com/office/drawing/2014/main" id="{4756ACCA-E787-4CE6-A7D2-3932F575F5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140968"/>
                        <a:ext cx="6029598" cy="3647958"/>
                      </a:xfrm>
                      <a:prstGeom prst="rect">
                        <a:avLst/>
                      </a:prstGeom>
                      <a:noFill/>
                    </p:spPr>
                  </p:pic>
                </p:oleObj>
              </mc:Fallback>
            </mc:AlternateContent>
          </a:graphicData>
        </a:graphic>
      </p:graphicFrame>
    </p:spTree>
    <p:extLst>
      <p:ext uri="{BB962C8B-B14F-4D97-AF65-F5344CB8AC3E}">
        <p14:creationId xmlns:p14="http://schemas.microsoft.com/office/powerpoint/2010/main" val="281331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Objet de groupe - Logique</a:t>
            </a:r>
            <a:endParaRPr lang="en-GB" dirty="0"/>
          </a:p>
        </p:txBody>
      </p:sp>
      <p:graphicFrame>
        <p:nvGraphicFramePr>
          <p:cNvPr id="4" name="Object 3">
            <a:extLst>
              <a:ext uri="{FF2B5EF4-FFF2-40B4-BE49-F238E27FC236}">
                <a16:creationId xmlns:a16="http://schemas.microsoft.com/office/drawing/2014/main" id="{7341EE2F-F0D1-46F7-B220-52F323E944F5}"/>
              </a:ext>
            </a:extLst>
          </p:cNvPr>
          <p:cNvGraphicFramePr>
            <a:graphicFrameLocks noChangeAspect="1"/>
          </p:cNvGraphicFramePr>
          <p:nvPr/>
        </p:nvGraphicFramePr>
        <p:xfrm>
          <a:off x="1153471" y="3390365"/>
          <a:ext cx="7274139" cy="2016224"/>
        </p:xfrm>
        <a:graphic>
          <a:graphicData uri="http://schemas.openxmlformats.org/presentationml/2006/ole">
            <mc:AlternateContent xmlns:mc="http://schemas.openxmlformats.org/markup-compatibility/2006">
              <mc:Choice xmlns:v="urn:schemas-microsoft-com:vml" Requires="v">
                <p:oleObj r:id="rId3" imgW="7234687" imgH="2014793" progId="Visio.Drawing.15">
                  <p:embed/>
                </p:oleObj>
              </mc:Choice>
              <mc:Fallback>
                <p:oleObj r:id="rId3" imgW="7234687" imgH="2014793" progId="Visio.Drawing.15">
                  <p:embed/>
                  <p:pic>
                    <p:nvPicPr>
                      <p:cNvPr id="4" name="Object 3">
                        <a:extLst>
                          <a:ext uri="{FF2B5EF4-FFF2-40B4-BE49-F238E27FC236}">
                            <a16:creationId xmlns:a16="http://schemas.microsoft.com/office/drawing/2014/main" id="{7341EE2F-F0D1-46F7-B220-52F323E944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471" y="3390365"/>
                        <a:ext cx="7274139" cy="2016224"/>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12E0CB3D-C197-417F-AD1B-477891C29323}"/>
              </a:ext>
            </a:extLst>
          </p:cNvPr>
          <p:cNvSpPr/>
          <p:nvPr/>
        </p:nvSpPr>
        <p:spPr>
          <a:xfrm>
            <a:off x="926405" y="5661248"/>
            <a:ext cx="7728272" cy="369332"/>
          </a:xfrm>
          <a:prstGeom prst="rect">
            <a:avLst/>
          </a:prstGeom>
        </p:spPr>
        <p:txBody>
          <a:bodyPr wrap="square">
            <a:spAutoFit/>
          </a:bodyPr>
          <a:lstStyle/>
          <a:p>
            <a:r>
              <a:rPr lang="en-US" b="1" dirty="0" err="1"/>
              <a:t>Schéma</a:t>
            </a:r>
            <a:r>
              <a:rPr lang="en-US" b="1" dirty="0"/>
              <a:t> </a:t>
            </a:r>
            <a:r>
              <a:rPr lang="en-US" b="1" dirty="0" err="1"/>
              <a:t>fonctionnel</a:t>
            </a:r>
            <a:r>
              <a:rPr lang="en-US" b="1" dirty="0"/>
              <a:t> des </a:t>
            </a:r>
            <a:r>
              <a:rPr lang="en-US" b="1" dirty="0" err="1"/>
              <a:t>opérations</a:t>
            </a:r>
            <a:r>
              <a:rPr lang="en-US" b="1" dirty="0"/>
              <a:t> </a:t>
            </a:r>
            <a:r>
              <a:rPr lang="en-US" b="1" dirty="0" err="1"/>
              <a:t>logiques</a:t>
            </a:r>
            <a:r>
              <a:rPr lang="en-US" b="1" dirty="0"/>
              <a:t>, p. ex. </a:t>
            </a:r>
            <a:r>
              <a:rPr lang="en-US" b="1" dirty="0" err="1"/>
              <a:t>actionneur</a:t>
            </a:r>
            <a:r>
              <a:rPr lang="en-US" b="1" dirty="0"/>
              <a:t> de commutation quadruple</a:t>
            </a:r>
            <a:endParaRPr lang="es-ES" b="1" dirty="0"/>
          </a:p>
        </p:txBody>
      </p:sp>
      <p:sp>
        <p:nvSpPr>
          <p:cNvPr id="6" name="Rectangle 5">
            <a:extLst>
              <a:ext uri="{FF2B5EF4-FFF2-40B4-BE49-F238E27FC236}">
                <a16:creationId xmlns:a16="http://schemas.microsoft.com/office/drawing/2014/main" id="{956AD94C-741C-4089-A932-CF4CB6FEFE30}"/>
              </a:ext>
            </a:extLst>
          </p:cNvPr>
          <p:cNvSpPr/>
          <p:nvPr/>
        </p:nvSpPr>
        <p:spPr>
          <a:xfrm>
            <a:off x="2213123" y="2141527"/>
            <a:ext cx="2902645" cy="927433"/>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US" b="1" kern="0" dirty="0" err="1">
                <a:solidFill>
                  <a:srgbClr val="369226"/>
                </a:solidFill>
                <a:latin typeface="+mn-lt"/>
                <a:ea typeface="Open Sans" panose="020B0606030504020204" pitchFamily="34" charset="0"/>
                <a:cs typeface="Open Sans" panose="020B0606030504020204" pitchFamily="34" charset="0"/>
              </a:rPr>
              <a:t>fonction</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a:solidFill>
                  <a:schemeClr val="bg1">
                    <a:lumMod val="10000"/>
                  </a:schemeClr>
                </a:solidFill>
                <a:latin typeface="+mn-lt"/>
                <a:ea typeface="Open Sans" panose="020B0606030504020204" pitchFamily="34" charset="0"/>
                <a:cs typeface="Open Sans" panose="020B0606030504020204" pitchFamily="34" charset="0"/>
              </a:rPr>
              <a:t>ET</a:t>
            </a:r>
          </a:p>
          <a:p>
            <a:pPr marL="342900" indent="-342900" eaLnBrk="0" hangingPunct="0">
              <a:lnSpc>
                <a:spcPct val="150000"/>
              </a:lnSpc>
              <a:spcBef>
                <a:spcPct val="20000"/>
              </a:spcBef>
              <a:buClr>
                <a:srgbClr val="369226"/>
              </a:buClr>
              <a:buFont typeface="Wingdings" pitchFamily="2" charset="2"/>
              <a:buChar char="§"/>
              <a:defRPr/>
            </a:pPr>
            <a:r>
              <a:rPr lang="en-US" b="1" kern="0" dirty="0" err="1">
                <a:solidFill>
                  <a:srgbClr val="369226"/>
                </a:solidFill>
                <a:latin typeface="+mn-lt"/>
                <a:ea typeface="Open Sans" panose="020B0606030504020204" pitchFamily="34" charset="0"/>
                <a:cs typeface="Open Sans" panose="020B0606030504020204" pitchFamily="34" charset="0"/>
              </a:rPr>
              <a:t>fonction</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a:solidFill>
                  <a:schemeClr val="bg1">
                    <a:lumMod val="10000"/>
                  </a:schemeClr>
                </a:solidFill>
                <a:latin typeface="+mn-lt"/>
                <a:ea typeface="Open Sans" panose="020B0606030504020204" pitchFamily="34" charset="0"/>
                <a:cs typeface="Open Sans" panose="020B0606030504020204" pitchFamily="34" charset="0"/>
              </a:rPr>
              <a:t>OU </a:t>
            </a:r>
          </a:p>
        </p:txBody>
      </p:sp>
      <p:sp>
        <p:nvSpPr>
          <p:cNvPr id="7" name="Rectangle 6">
            <a:extLst>
              <a:ext uri="{FF2B5EF4-FFF2-40B4-BE49-F238E27FC236}">
                <a16:creationId xmlns:a16="http://schemas.microsoft.com/office/drawing/2014/main" id="{AC28B726-59E3-471F-9C72-ABE3C3D6A8A5}"/>
              </a:ext>
            </a:extLst>
          </p:cNvPr>
          <p:cNvSpPr/>
          <p:nvPr/>
        </p:nvSpPr>
        <p:spPr>
          <a:xfrm>
            <a:off x="4405659" y="2141526"/>
            <a:ext cx="2902645" cy="927433"/>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US" b="1" kern="0">
                <a:solidFill>
                  <a:srgbClr val="369226"/>
                </a:solidFill>
                <a:latin typeface="+mn-lt"/>
                <a:ea typeface="Open Sans" panose="020B0606030504020204" pitchFamily="34" charset="0"/>
                <a:cs typeface="Open Sans" panose="020B0606030504020204" pitchFamily="34" charset="0"/>
              </a:rPr>
              <a:t>fonction XOR</a:t>
            </a:r>
            <a:r>
              <a:rPr lang="en-US" b="1" kern="0">
                <a:solidFill>
                  <a:schemeClr val="bg1">
                    <a:lumMod val="10000"/>
                  </a:schemeClr>
                </a:solidFill>
                <a:latin typeface="+mn-lt"/>
                <a:ea typeface="Open Sans" panose="020B0606030504020204" pitchFamily="34" charset="0"/>
                <a:cs typeface="Open Sans" panose="020B0606030504020204" pitchFamily="34" charset="0"/>
              </a:rPr>
              <a:t> </a:t>
            </a:r>
          </a:p>
          <a:p>
            <a:pPr marL="342900" indent="-342900" eaLnBrk="0" hangingPunct="0">
              <a:lnSpc>
                <a:spcPct val="150000"/>
              </a:lnSpc>
              <a:spcBef>
                <a:spcPct val="20000"/>
              </a:spcBef>
              <a:buClr>
                <a:srgbClr val="369226"/>
              </a:buClr>
              <a:buFont typeface="Wingdings" pitchFamily="2" charset="2"/>
              <a:buChar char="§"/>
              <a:defRPr/>
            </a:pPr>
            <a:r>
              <a:rPr lang="en-US" b="1" kern="0">
                <a:solidFill>
                  <a:srgbClr val="369226"/>
                </a:solidFill>
                <a:latin typeface="+mn-lt"/>
                <a:ea typeface="Open Sans" panose="020B0606030504020204" pitchFamily="34" charset="0"/>
                <a:cs typeface="Open Sans" panose="020B0606030504020204" pitchFamily="34" charset="0"/>
              </a:rPr>
              <a:t>Fonction</a:t>
            </a:r>
            <a:r>
              <a:rPr lang="en-US" b="1" kern="0">
                <a:solidFill>
                  <a:schemeClr val="bg1">
                    <a:lumMod val="10000"/>
                  </a:schemeClr>
                </a:solidFill>
                <a:latin typeface="+mn-lt"/>
                <a:ea typeface="Open Sans" panose="020B0606030504020204" pitchFamily="34" charset="0"/>
                <a:cs typeface="Open Sans" panose="020B0606030504020204" pitchFamily="34" charset="0"/>
              </a:rPr>
              <a:t> de la porte</a:t>
            </a:r>
          </a:p>
        </p:txBody>
      </p:sp>
      <p:sp>
        <p:nvSpPr>
          <p:cNvPr id="8" name="Rectangle 7">
            <a:extLst>
              <a:ext uri="{FF2B5EF4-FFF2-40B4-BE49-F238E27FC236}">
                <a16:creationId xmlns:a16="http://schemas.microsoft.com/office/drawing/2014/main" id="{094A708F-9356-4A6E-96C9-FB5F2949319C}"/>
              </a:ext>
            </a:extLst>
          </p:cNvPr>
          <p:cNvSpPr/>
          <p:nvPr/>
        </p:nvSpPr>
        <p:spPr>
          <a:xfrm>
            <a:off x="926405" y="1340768"/>
            <a:ext cx="7894067" cy="707886"/>
          </a:xfrm>
          <a:prstGeom prst="rect">
            <a:avLst/>
          </a:prstGeom>
        </p:spPr>
        <p:txBody>
          <a:bodyPr wrap="square">
            <a:spAutoFit/>
          </a:bodyPr>
          <a:lstStyle/>
          <a:p>
            <a:r>
              <a:rPr lang="en-US" sz="2000" b="1" dirty="0" err="1"/>
              <a:t>Possibilité</a:t>
            </a:r>
            <a:r>
              <a:rPr lang="en-US" sz="2000" b="1" dirty="0"/>
              <a:t> de </a:t>
            </a:r>
            <a:r>
              <a:rPr lang="en-US" sz="2000" b="1" dirty="0" err="1"/>
              <a:t>lier</a:t>
            </a:r>
            <a:r>
              <a:rPr lang="en-US" sz="2000" b="1" dirty="0"/>
              <a:t> le </a:t>
            </a:r>
            <a:r>
              <a:rPr lang="en-US" sz="2000" b="1" dirty="0" err="1"/>
              <a:t>changement</a:t>
            </a:r>
            <a:r>
              <a:rPr lang="en-US" sz="2000" b="1" dirty="0"/>
              <a:t> de sortie avec des conditions </a:t>
            </a:r>
            <a:r>
              <a:rPr lang="en-US" sz="2000" b="1" dirty="0" err="1"/>
              <a:t>spécifiques</a:t>
            </a:r>
            <a:r>
              <a:rPr lang="en-US" sz="2000" b="1" dirty="0"/>
              <a:t>:</a:t>
            </a:r>
            <a:endParaRPr lang="es-ES" sz="2000" b="1" dirty="0"/>
          </a:p>
        </p:txBody>
      </p:sp>
    </p:spTree>
    <p:extLst>
      <p:ext uri="{BB962C8B-B14F-4D97-AF65-F5344CB8AC3E}">
        <p14:creationId xmlns:p14="http://schemas.microsoft.com/office/powerpoint/2010/main" val="3307170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05606"/>
            <a:ext cx="6696223" cy="719138"/>
          </a:xfrm>
        </p:spPr>
        <p:txBody>
          <a:bodyPr/>
          <a:lstStyle/>
          <a:p>
            <a:r>
              <a:rPr lang="en-US" sz="2400" dirty="0" err="1"/>
              <a:t>Fonction</a:t>
            </a:r>
            <a:r>
              <a:rPr lang="en-US" sz="2400" dirty="0"/>
              <a:t> OR avec </a:t>
            </a:r>
            <a:r>
              <a:rPr lang="en-US" sz="2400" dirty="0" err="1"/>
              <a:t>temporisation</a:t>
            </a:r>
            <a:r>
              <a:rPr lang="en-US" sz="2400" dirty="0"/>
              <a:t> ACTIVÉ/DÉSACTIVÉ</a:t>
            </a:r>
            <a:endParaRPr lang="en-GB" sz="2400" dirty="0"/>
          </a:p>
        </p:txBody>
      </p:sp>
      <p:pic>
        <p:nvPicPr>
          <p:cNvPr id="2" name="Picture 1">
            <a:extLst>
              <a:ext uri="{FF2B5EF4-FFF2-40B4-BE49-F238E27FC236}">
                <a16:creationId xmlns:a16="http://schemas.microsoft.com/office/drawing/2014/main" id="{DE024628-BE5E-484B-BF03-1C2A48D8D112}"/>
              </a:ext>
            </a:extLst>
          </p:cNvPr>
          <p:cNvPicPr>
            <a:picLocks noChangeAspect="1"/>
          </p:cNvPicPr>
          <p:nvPr/>
        </p:nvPicPr>
        <p:blipFill>
          <a:blip r:embed="rId3"/>
          <a:stretch>
            <a:fillRect/>
          </a:stretch>
        </p:blipFill>
        <p:spPr>
          <a:xfrm>
            <a:off x="905843" y="1484784"/>
            <a:ext cx="5389414" cy="2382011"/>
          </a:xfrm>
          <a:prstGeom prst="rect">
            <a:avLst/>
          </a:prstGeom>
          <a:ln>
            <a:solidFill>
              <a:schemeClr val="accent1"/>
            </a:solidFill>
          </a:ln>
        </p:spPr>
      </p:pic>
      <p:pic>
        <p:nvPicPr>
          <p:cNvPr id="4" name="Picture 3">
            <a:extLst>
              <a:ext uri="{FF2B5EF4-FFF2-40B4-BE49-F238E27FC236}">
                <a16:creationId xmlns:a16="http://schemas.microsoft.com/office/drawing/2014/main" id="{930A63B6-49CD-4D71-9760-482E14E38AE3}"/>
              </a:ext>
            </a:extLst>
          </p:cNvPr>
          <p:cNvPicPr>
            <a:picLocks noChangeAspect="1"/>
          </p:cNvPicPr>
          <p:nvPr/>
        </p:nvPicPr>
        <p:blipFill>
          <a:blip r:embed="rId4"/>
          <a:stretch>
            <a:fillRect/>
          </a:stretch>
        </p:blipFill>
        <p:spPr>
          <a:xfrm>
            <a:off x="912689" y="4094722"/>
            <a:ext cx="5389414" cy="1787478"/>
          </a:xfrm>
          <a:prstGeom prst="rect">
            <a:avLst/>
          </a:prstGeom>
          <a:ln>
            <a:solidFill>
              <a:schemeClr val="accent1"/>
            </a:solidFill>
          </a:ln>
        </p:spPr>
      </p:pic>
      <p:sp>
        <p:nvSpPr>
          <p:cNvPr id="6" name="Rectangle 5">
            <a:extLst>
              <a:ext uri="{FF2B5EF4-FFF2-40B4-BE49-F238E27FC236}">
                <a16:creationId xmlns:a16="http://schemas.microsoft.com/office/drawing/2014/main" id="{F7ED5B49-3825-4A51-A42C-FAFF5456EB7D}"/>
              </a:ext>
            </a:extLst>
          </p:cNvPr>
          <p:cNvSpPr/>
          <p:nvPr/>
        </p:nvSpPr>
        <p:spPr>
          <a:xfrm>
            <a:off x="6516216" y="1375104"/>
            <a:ext cx="2376264" cy="1869230"/>
          </a:xfrm>
          <a:prstGeom prst="rect">
            <a:avLst/>
          </a:prstGeom>
        </p:spPr>
        <p:txBody>
          <a:bodyPr wrap="square">
            <a:spAutoFit/>
          </a:bodyPr>
          <a:lstStyle/>
          <a:p>
            <a:pPr eaLnBrk="0" hangingPunct="0">
              <a:lnSpc>
                <a:spcPct val="150000"/>
              </a:lnSpc>
              <a:spcBef>
                <a:spcPct val="20000"/>
              </a:spcBef>
              <a:buClr>
                <a:srgbClr val="369226"/>
              </a:buClr>
              <a:defRPr/>
            </a:pPr>
            <a:r>
              <a:rPr lang="en-US" b="1" kern="0" dirty="0" err="1">
                <a:latin typeface="+mn-lt"/>
                <a:ea typeface="Open Sans" panose="020B0606030504020204" pitchFamily="34" charset="0"/>
                <a:cs typeface="Open Sans" panose="020B0606030504020204" pitchFamily="34" charset="0"/>
              </a:rPr>
              <a:t>Opérations</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Logiques</a:t>
            </a:r>
            <a:r>
              <a:rPr lang="en-US" b="1" kern="0" dirty="0">
                <a:latin typeface="+mn-lt"/>
                <a:ea typeface="Open Sans" panose="020B0606030504020204" pitchFamily="34" charset="0"/>
                <a:cs typeface="Open Sans" panose="020B0606030504020204" pitchFamily="34" charset="0"/>
              </a:rPr>
              <a:t>:</a:t>
            </a:r>
          </a:p>
          <a:p>
            <a:pPr marL="342900" indent="-342900" eaLnBrk="0" hangingPunct="0">
              <a:lnSpc>
                <a:spcPct val="150000"/>
              </a:lnSpc>
              <a:spcBef>
                <a:spcPct val="20000"/>
              </a:spcBef>
              <a:buClr>
                <a:srgbClr val="369226"/>
              </a:buClr>
              <a:buFont typeface="Wingdings" pitchFamily="2" charset="2"/>
              <a:buChar char="§"/>
              <a:defRPr/>
            </a:pPr>
            <a:r>
              <a:rPr dirty="0" err="1"/>
              <a:t>fonction</a:t>
            </a:r>
            <a:r>
              <a:rPr dirty="0"/>
              <a:t> ET</a:t>
            </a:r>
          </a:p>
          <a:p>
            <a:pPr marL="342900" indent="-342900" eaLnBrk="0" hangingPunct="0">
              <a:lnSpc>
                <a:spcPct val="150000"/>
              </a:lnSpc>
              <a:spcBef>
                <a:spcPct val="20000"/>
              </a:spcBef>
              <a:buClr>
                <a:srgbClr val="369226"/>
              </a:buClr>
              <a:buFont typeface="Wingdings" pitchFamily="2" charset="2"/>
              <a:buChar char="§"/>
              <a:defRPr/>
            </a:pP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fonction</a:t>
            </a:r>
            <a:r>
              <a:rPr lang="en-US" b="1" kern="0" dirty="0">
                <a:solidFill>
                  <a:schemeClr val="bg1">
                    <a:lumMod val="10000"/>
                  </a:schemeClr>
                </a:solidFill>
                <a:latin typeface="+mn-lt"/>
                <a:ea typeface="Open Sans" panose="020B0606030504020204" pitchFamily="34" charset="0"/>
                <a:cs typeface="Open Sans" panose="020B0606030504020204" pitchFamily="34" charset="0"/>
              </a:rPr>
              <a:t> OU</a:t>
            </a:r>
          </a:p>
          <a:p>
            <a:pPr marL="342900" indent="-342900" eaLnBrk="0" hangingPunct="0">
              <a:lnSpc>
                <a:spcPct val="150000"/>
              </a:lnSpc>
              <a:spcBef>
                <a:spcPct val="20000"/>
              </a:spcBef>
              <a:buClr>
                <a:srgbClr val="369226"/>
              </a:buClr>
              <a:buFont typeface="Wingdings" pitchFamily="2" charset="2"/>
              <a:buChar char="§"/>
              <a:defRPr/>
            </a:pPr>
            <a:r>
              <a:rPr lang="en-US" b="1" kern="0" dirty="0" err="1">
                <a:solidFill>
                  <a:srgbClr val="369226"/>
                </a:solidFill>
                <a:latin typeface="+mn-lt"/>
                <a:ea typeface="Open Sans" panose="020B0606030504020204" pitchFamily="34" charset="0"/>
                <a:cs typeface="Open Sans" panose="020B0606030504020204" pitchFamily="34" charset="0"/>
              </a:rPr>
              <a:t>fonction</a:t>
            </a:r>
            <a:r>
              <a:rPr lang="en-US" b="1" kern="0" dirty="0">
                <a:solidFill>
                  <a:srgbClr val="369226"/>
                </a:solidFill>
                <a:latin typeface="+mn-lt"/>
                <a:ea typeface="Open Sans" panose="020B0606030504020204" pitchFamily="34" charset="0"/>
                <a:cs typeface="Open Sans" panose="020B0606030504020204" pitchFamily="34" charset="0"/>
              </a:rPr>
              <a:t> XOR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p>
        </p:txBody>
      </p:sp>
      <p:sp>
        <p:nvSpPr>
          <p:cNvPr id="7" name="Rectangle 6">
            <a:extLst>
              <a:ext uri="{FF2B5EF4-FFF2-40B4-BE49-F238E27FC236}">
                <a16:creationId xmlns:a16="http://schemas.microsoft.com/office/drawing/2014/main" id="{FA452E9C-303E-4C4E-9DFD-00C2594A45E4}"/>
              </a:ext>
            </a:extLst>
          </p:cNvPr>
          <p:cNvSpPr/>
          <p:nvPr/>
        </p:nvSpPr>
        <p:spPr>
          <a:xfrm>
            <a:off x="6516216" y="4005064"/>
            <a:ext cx="2376264" cy="872034"/>
          </a:xfrm>
          <a:prstGeom prst="rect">
            <a:avLst/>
          </a:prstGeom>
        </p:spPr>
        <p:txBody>
          <a:bodyPr wrap="square">
            <a:spAutoFit/>
          </a:bodyPr>
          <a:lstStyle/>
          <a:p>
            <a:pPr eaLnBrk="0" hangingPunct="0">
              <a:lnSpc>
                <a:spcPct val="150000"/>
              </a:lnSpc>
              <a:spcBef>
                <a:spcPct val="20000"/>
              </a:spcBef>
              <a:buClr>
                <a:srgbClr val="369226"/>
              </a:buClr>
              <a:defRPr/>
            </a:pPr>
            <a:r>
              <a:rPr lang="en-US" b="1" kern="0" dirty="0" err="1">
                <a:latin typeface="+mn-lt"/>
                <a:ea typeface="Open Sans" panose="020B0606030504020204" pitchFamily="34" charset="0"/>
                <a:cs typeface="Open Sans" panose="020B0606030504020204" pitchFamily="34" charset="0"/>
              </a:rPr>
              <a:t>Délais</a:t>
            </a:r>
            <a:r>
              <a:rPr lang="en-US" b="1" kern="0" dirty="0">
                <a:latin typeface="+mn-lt"/>
                <a:ea typeface="Open Sans" panose="020B0606030504020204" pitchFamily="34" charset="0"/>
                <a:cs typeface="Open Sans" panose="020B0606030504020204" pitchFamily="34" charset="0"/>
              </a:rPr>
              <a:t> ON/OFF </a:t>
            </a:r>
            <a:r>
              <a:rPr lang="en-US" b="1" kern="0" dirty="0" err="1">
                <a:latin typeface="+mn-lt"/>
                <a:ea typeface="Open Sans" panose="020B0606030504020204" pitchFamily="34" charset="0"/>
                <a:cs typeface="Open Sans" panose="020B0606030504020204" pitchFamily="34" charset="0"/>
              </a:rPr>
              <a:t>alternatifs</a:t>
            </a:r>
            <a:endParaRPr lang="en-US" b="1" kern="0"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93711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Organigramme de la fonction OR</a:t>
            </a:r>
          </a:p>
        </p:txBody>
      </p:sp>
      <p:pic>
        <p:nvPicPr>
          <p:cNvPr id="2" name="Picture 1">
            <a:extLst>
              <a:ext uri="{FF2B5EF4-FFF2-40B4-BE49-F238E27FC236}">
                <a16:creationId xmlns:a16="http://schemas.microsoft.com/office/drawing/2014/main" id="{FCD033B6-BE7D-4D27-9EF7-B6C13381B11D}"/>
              </a:ext>
            </a:extLst>
          </p:cNvPr>
          <p:cNvPicPr>
            <a:picLocks noChangeAspect="1"/>
          </p:cNvPicPr>
          <p:nvPr/>
        </p:nvPicPr>
        <p:blipFill>
          <a:blip r:embed="rId3"/>
          <a:stretch>
            <a:fillRect/>
          </a:stretch>
        </p:blipFill>
        <p:spPr>
          <a:xfrm>
            <a:off x="1331640" y="1484784"/>
            <a:ext cx="6837387" cy="4655491"/>
          </a:xfrm>
          <a:prstGeom prst="rect">
            <a:avLst/>
          </a:prstGeom>
        </p:spPr>
      </p:pic>
    </p:spTree>
    <p:extLst>
      <p:ext uri="{BB962C8B-B14F-4D97-AF65-F5344CB8AC3E}">
        <p14:creationId xmlns:p14="http://schemas.microsoft.com/office/powerpoint/2010/main" val="3418363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27584" y="405606"/>
            <a:ext cx="6696223" cy="719138"/>
          </a:xfrm>
        </p:spPr>
        <p:txBody>
          <a:bodyPr/>
          <a:lstStyle/>
          <a:p>
            <a:r>
              <a:rPr lang="en-US" sz="2400" dirty="0" err="1"/>
              <a:t>Fonction</a:t>
            </a:r>
            <a:r>
              <a:rPr lang="en-US" sz="2400" dirty="0"/>
              <a:t> OR avec </a:t>
            </a:r>
            <a:r>
              <a:rPr lang="en-US" sz="2400" dirty="0" err="1"/>
              <a:t>temporisation</a:t>
            </a:r>
            <a:r>
              <a:rPr lang="en-US" sz="2400" dirty="0"/>
              <a:t> ACTIVÉE et DÉSACTIVÉE</a:t>
            </a:r>
          </a:p>
        </p:txBody>
      </p:sp>
      <p:pic>
        <p:nvPicPr>
          <p:cNvPr id="4" name="Picture 3">
            <a:extLst>
              <a:ext uri="{FF2B5EF4-FFF2-40B4-BE49-F238E27FC236}">
                <a16:creationId xmlns:a16="http://schemas.microsoft.com/office/drawing/2014/main" id="{F2915172-63A8-4507-874A-6C67E8B851BB}"/>
              </a:ext>
            </a:extLst>
          </p:cNvPr>
          <p:cNvPicPr>
            <a:picLocks noChangeAspect="1"/>
          </p:cNvPicPr>
          <p:nvPr/>
        </p:nvPicPr>
        <p:blipFill>
          <a:blip r:embed="rId3"/>
          <a:stretch>
            <a:fillRect/>
          </a:stretch>
        </p:blipFill>
        <p:spPr>
          <a:xfrm>
            <a:off x="1403648" y="2520750"/>
            <a:ext cx="6856947" cy="3931629"/>
          </a:xfrm>
          <a:prstGeom prst="rect">
            <a:avLst/>
          </a:prstGeom>
        </p:spPr>
      </p:pic>
      <p:sp>
        <p:nvSpPr>
          <p:cNvPr id="5" name="Rectangle 4">
            <a:extLst>
              <a:ext uri="{FF2B5EF4-FFF2-40B4-BE49-F238E27FC236}">
                <a16:creationId xmlns:a16="http://schemas.microsoft.com/office/drawing/2014/main" id="{338496D7-41A6-44C5-8FD4-D7BF623EB000}"/>
              </a:ext>
            </a:extLst>
          </p:cNvPr>
          <p:cNvSpPr/>
          <p:nvPr/>
        </p:nvSpPr>
        <p:spPr>
          <a:xfrm>
            <a:off x="902394" y="1412776"/>
            <a:ext cx="7558037" cy="958660"/>
          </a:xfrm>
          <a:prstGeom prst="rect">
            <a:avLst/>
          </a:prstGeom>
        </p:spPr>
        <p:txBody>
          <a:bodyPr wrap="square">
            <a:spAutoFit/>
          </a:bodyPr>
          <a:lstStyle/>
          <a:p>
            <a:pPr>
              <a:lnSpc>
                <a:spcPct val="150000"/>
              </a:lnSpc>
            </a:pPr>
            <a:r>
              <a:rPr lang="en-US" sz="2000" b="1"/>
              <a:t>La fonction OR avec un délai ON et OFF réagit différemment </a:t>
            </a:r>
            <a:r>
              <a:rPr lang="en-US" sz="2000" b="1">
                <a:solidFill>
                  <a:srgbClr val="369226"/>
                </a:solidFill>
              </a:rPr>
              <a:t>en fonction du fabricant</a:t>
            </a:r>
            <a:endParaRPr lang="es-ES" sz="2000" b="1" dirty="0">
              <a:solidFill>
                <a:srgbClr val="369226"/>
              </a:solidFill>
            </a:endParaRPr>
          </a:p>
        </p:txBody>
      </p:sp>
    </p:spTree>
    <p:extLst>
      <p:ext uri="{BB962C8B-B14F-4D97-AF65-F5344CB8AC3E}">
        <p14:creationId xmlns:p14="http://schemas.microsoft.com/office/powerpoint/2010/main" val="635901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err="1"/>
              <a:t>Fonction</a:t>
            </a:r>
            <a:r>
              <a:rPr lang="en-US" dirty="0"/>
              <a:t> AND</a:t>
            </a:r>
          </a:p>
        </p:txBody>
      </p:sp>
      <p:sp>
        <p:nvSpPr>
          <p:cNvPr id="4" name="Rectangle 3">
            <a:extLst>
              <a:ext uri="{FF2B5EF4-FFF2-40B4-BE49-F238E27FC236}">
                <a16:creationId xmlns:a16="http://schemas.microsoft.com/office/drawing/2014/main" id="{B07D3F50-1454-40B5-A0A3-7EE14F805312}"/>
              </a:ext>
            </a:extLst>
          </p:cNvPr>
          <p:cNvSpPr/>
          <p:nvPr/>
        </p:nvSpPr>
        <p:spPr>
          <a:xfrm>
            <a:off x="900112" y="1412776"/>
            <a:ext cx="7704336" cy="4479624"/>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Il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permet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de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basculer</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un circuit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en</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fonction</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d'une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ou</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plusieurs</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conditions</a:t>
            </a:r>
          </a:p>
          <a:p>
            <a:pPr eaLnBrk="0" hangingPunct="0">
              <a:lnSpc>
                <a:spcPct val="150000"/>
              </a:lnSpc>
              <a:spcBef>
                <a:spcPct val="20000"/>
              </a:spcBef>
              <a:buClr>
                <a:srgbClr val="369226"/>
              </a:buClr>
              <a:defRPr/>
            </a:pPr>
            <a:endParaRPr lang="en-US" sz="1200"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Les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fonctions</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de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chronométrage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dépendantes</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du fabricant et du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produit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peuvent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également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être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paramétrées</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p>
          <a:p>
            <a:pPr eaLnBrk="0" hangingPunct="0">
              <a:lnSpc>
                <a:spcPct val="150000"/>
              </a:lnSpc>
              <a:spcBef>
                <a:spcPct val="20000"/>
              </a:spcBef>
              <a:buClr>
                <a:srgbClr val="369226"/>
              </a:buClr>
              <a:defRPr/>
            </a:pPr>
            <a:endParaRPr lang="en-US" sz="1200"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Lorsque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a:solidFill>
                  <a:schemeClr val="bg1">
                    <a:lumMod val="10000"/>
                  </a:schemeClr>
                </a:solidFill>
                <a:ea typeface="Open Sans" panose="020B0606030504020204" pitchFamily="34" charset="0"/>
                <a:cs typeface="Open Sans" panose="020B0606030504020204" pitchFamily="34" charset="0"/>
              </a:rPr>
              <a:t>la condition ET </a:t>
            </a:r>
            <a:r>
              <a:rPr lang="en-US" sz="2000" b="1" kern="0" dirty="0" err="1">
                <a:solidFill>
                  <a:schemeClr val="bg1">
                    <a:lumMod val="10000"/>
                  </a:schemeClr>
                </a:solidFill>
                <a:ea typeface="Open Sans" panose="020B0606030504020204" pitchFamily="34" charset="0"/>
                <a:cs typeface="Open Sans" panose="020B0606030504020204" pitchFamily="34" charset="0"/>
              </a:rPr>
              <a:t>est</a:t>
            </a:r>
            <a:r>
              <a:rPr lang="en-US" sz="2000" b="1" kern="0" dirty="0">
                <a:solidFill>
                  <a:schemeClr val="bg1">
                    <a:lumMod val="10000"/>
                  </a:schemeClr>
                </a:solidFill>
                <a:ea typeface="Open Sans" panose="020B0606030504020204" pitchFamily="34" charset="0"/>
                <a:cs typeface="Open Sans" panose="020B0606030504020204" pitchFamily="34" charset="0"/>
              </a:rPr>
              <a:t> </a:t>
            </a:r>
            <a:r>
              <a:rPr lang="en-US" sz="2000" b="1" kern="0" dirty="0" err="1">
                <a:solidFill>
                  <a:schemeClr val="bg1">
                    <a:lumMod val="10000"/>
                  </a:schemeClr>
                </a:solidFill>
                <a:ea typeface="Open Sans" panose="020B0606030504020204" pitchFamily="34" charset="0"/>
                <a:cs typeface="Open Sans" panose="020B0606030504020204" pitchFamily="34" charset="0"/>
              </a:rPr>
              <a:t>activée</a:t>
            </a:r>
            <a:r>
              <a:rPr lang="en-US" sz="2000" b="1" kern="0" dirty="0">
                <a:solidFill>
                  <a:schemeClr val="bg1">
                    <a:lumMod val="10000"/>
                  </a:schemeClr>
                </a:solidFill>
                <a:ea typeface="Open Sans" panose="020B0606030504020204" pitchFamily="34" charset="0"/>
                <a:cs typeface="Open Sans" panose="020B0606030504020204" pitchFamily="34" charset="0"/>
              </a:rPr>
              <a:t> </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par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une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variable physique, il faut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s'assurer</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qu'elle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n'est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pas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réinitialisée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par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une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opération</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manuelle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Ce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problème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peut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également</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être</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résolu</a:t>
            </a:r>
            <a:r>
              <a:rPr lang="en-US" sz="2000" b="1" kern="0" dirty="0">
                <a:solidFill>
                  <a:schemeClr val="bg1">
                    <a:lumMod val="10000"/>
                  </a:schemeClr>
                </a:solidFill>
                <a:latin typeface="+mn-lt"/>
                <a:ea typeface="Open Sans" panose="020B0606030504020204" pitchFamily="34" charset="0"/>
                <a:cs typeface="Open Sans" panose="020B0606030504020204" pitchFamily="34" charset="0"/>
              </a:rPr>
              <a:t> par </a:t>
            </a:r>
            <a:r>
              <a:rPr lang="en-US" sz="2000" b="1" kern="0" dirty="0" err="1">
                <a:solidFill>
                  <a:schemeClr val="bg1">
                    <a:lumMod val="10000"/>
                  </a:schemeClr>
                </a:solidFill>
                <a:latin typeface="+mn-lt"/>
                <a:ea typeface="Open Sans" panose="020B0606030504020204" pitchFamily="34" charset="0"/>
                <a:cs typeface="Open Sans" panose="020B0606030504020204" pitchFamily="34" charset="0"/>
              </a:rPr>
              <a:t>l'</a:t>
            </a:r>
            <a:r>
              <a:rPr lang="en-US" sz="2000" b="1" kern="0" dirty="0" err="1">
                <a:solidFill>
                  <a:srgbClr val="369226"/>
                </a:solidFill>
                <a:latin typeface="+mn-lt"/>
                <a:ea typeface="Open Sans" panose="020B0606030504020204" pitchFamily="34" charset="0"/>
                <a:cs typeface="Open Sans" panose="020B0606030504020204" pitchFamily="34" charset="0"/>
              </a:rPr>
              <a:t>envoi</a:t>
            </a:r>
            <a:r>
              <a:rPr lang="en-US" sz="2000" b="1" kern="0" dirty="0">
                <a:solidFill>
                  <a:srgbClr val="369226"/>
                </a:solidFill>
                <a:latin typeface="+mn-lt"/>
                <a:ea typeface="Open Sans" panose="020B0606030504020204" pitchFamily="34" charset="0"/>
                <a:cs typeface="Open Sans" panose="020B0606030504020204" pitchFamily="34" charset="0"/>
              </a:rPr>
              <a:t> </a:t>
            </a:r>
            <a:r>
              <a:rPr lang="en-US" sz="2000" b="1" kern="0" dirty="0" err="1">
                <a:solidFill>
                  <a:srgbClr val="369226"/>
                </a:solidFill>
                <a:latin typeface="+mn-lt"/>
                <a:ea typeface="Open Sans" panose="020B0606030504020204" pitchFamily="34" charset="0"/>
                <a:cs typeface="Open Sans" panose="020B0606030504020204" pitchFamily="34" charset="0"/>
              </a:rPr>
              <a:t>cyclique</a:t>
            </a:r>
            <a:r>
              <a:rPr lang="en-US" sz="2000" b="1" kern="0" dirty="0">
                <a:solidFill>
                  <a:srgbClr val="369226"/>
                </a:solidFill>
                <a:latin typeface="+mn-lt"/>
                <a:ea typeface="Open Sans" panose="020B0606030504020204" pitchFamily="34" charset="0"/>
                <a:cs typeface="Open Sans" panose="020B0606030504020204" pitchFamily="34" charset="0"/>
              </a:rPr>
              <a:t> d'un signal</a:t>
            </a:r>
          </a:p>
        </p:txBody>
      </p:sp>
    </p:spTree>
    <p:extLst>
      <p:ext uri="{BB962C8B-B14F-4D97-AF65-F5344CB8AC3E}">
        <p14:creationId xmlns:p14="http://schemas.microsoft.com/office/powerpoint/2010/main" val="1848969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Fonction ET </a:t>
            </a:r>
            <a:r>
              <a:rPr lang="en-GB"/>
              <a:t>sans délai</a:t>
            </a:r>
            <a:endParaRPr lang="en-US" dirty="0"/>
          </a:p>
        </p:txBody>
      </p:sp>
      <p:pic>
        <p:nvPicPr>
          <p:cNvPr id="2" name="Picture 1">
            <a:extLst>
              <a:ext uri="{FF2B5EF4-FFF2-40B4-BE49-F238E27FC236}">
                <a16:creationId xmlns:a16="http://schemas.microsoft.com/office/drawing/2014/main" id="{052F7A78-C668-4A0F-8D7B-6F04A0857564}"/>
              </a:ext>
            </a:extLst>
          </p:cNvPr>
          <p:cNvPicPr>
            <a:picLocks noChangeAspect="1"/>
          </p:cNvPicPr>
          <p:nvPr/>
        </p:nvPicPr>
        <p:blipFill>
          <a:blip r:embed="rId3"/>
          <a:stretch>
            <a:fillRect/>
          </a:stretch>
        </p:blipFill>
        <p:spPr>
          <a:xfrm>
            <a:off x="1115615" y="1556792"/>
            <a:ext cx="6950043" cy="4032448"/>
          </a:xfrm>
          <a:prstGeom prst="rect">
            <a:avLst/>
          </a:prstGeom>
        </p:spPr>
      </p:pic>
    </p:spTree>
    <p:extLst>
      <p:ext uri="{BB962C8B-B14F-4D97-AF65-F5344CB8AC3E}">
        <p14:creationId xmlns:p14="http://schemas.microsoft.com/office/powerpoint/2010/main" val="364363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05606"/>
            <a:ext cx="6696223" cy="719138"/>
          </a:xfrm>
        </p:spPr>
        <p:txBody>
          <a:bodyPr/>
          <a:lstStyle/>
          <a:p>
            <a:r>
              <a:rPr lang="en-US" sz="2400" dirty="0" err="1"/>
              <a:t>Fonction</a:t>
            </a:r>
            <a:r>
              <a:rPr lang="en-US" sz="2400" dirty="0"/>
              <a:t> AND avec </a:t>
            </a:r>
            <a:r>
              <a:rPr lang="en-US" sz="2400" dirty="0" err="1"/>
              <a:t>temporisation</a:t>
            </a:r>
            <a:r>
              <a:rPr lang="en-US" sz="2400" dirty="0"/>
              <a:t> ACTIVÉE et Hors </a:t>
            </a:r>
            <a:r>
              <a:rPr lang="en-US" sz="2400" dirty="0" err="1"/>
              <a:t>Temporisation</a:t>
            </a:r>
            <a:r>
              <a:rPr lang="en-US" sz="2400" dirty="0"/>
              <a:t> DÉACTIVÉE</a:t>
            </a:r>
          </a:p>
        </p:txBody>
      </p:sp>
      <p:pic>
        <p:nvPicPr>
          <p:cNvPr id="4" name="Picture 3">
            <a:extLst>
              <a:ext uri="{FF2B5EF4-FFF2-40B4-BE49-F238E27FC236}">
                <a16:creationId xmlns:a16="http://schemas.microsoft.com/office/drawing/2014/main" id="{24595F8A-288A-42ED-9161-80A812BC26D3}"/>
              </a:ext>
            </a:extLst>
          </p:cNvPr>
          <p:cNvPicPr>
            <a:picLocks noChangeAspect="1"/>
          </p:cNvPicPr>
          <p:nvPr/>
        </p:nvPicPr>
        <p:blipFill>
          <a:blip r:embed="rId3"/>
          <a:stretch>
            <a:fillRect/>
          </a:stretch>
        </p:blipFill>
        <p:spPr>
          <a:xfrm>
            <a:off x="900139" y="1413636"/>
            <a:ext cx="5184030" cy="2141600"/>
          </a:xfrm>
          <a:prstGeom prst="rect">
            <a:avLst/>
          </a:prstGeom>
        </p:spPr>
      </p:pic>
      <p:sp>
        <p:nvSpPr>
          <p:cNvPr id="5" name="Rectangle 4">
            <a:extLst>
              <a:ext uri="{FF2B5EF4-FFF2-40B4-BE49-F238E27FC236}">
                <a16:creationId xmlns:a16="http://schemas.microsoft.com/office/drawing/2014/main" id="{9F79AF07-8CAA-4A71-BCE8-03CC0E627767}"/>
              </a:ext>
            </a:extLst>
          </p:cNvPr>
          <p:cNvSpPr/>
          <p:nvPr/>
        </p:nvSpPr>
        <p:spPr>
          <a:xfrm>
            <a:off x="6444208" y="1413636"/>
            <a:ext cx="2088232" cy="2062103"/>
          </a:xfrm>
          <a:prstGeom prst="rect">
            <a:avLst/>
          </a:prstGeom>
        </p:spPr>
        <p:txBody>
          <a:bodyPr wrap="square">
            <a:spAutoFit/>
          </a:bodyPr>
          <a:lstStyle/>
          <a:p>
            <a:r>
              <a:rPr lang="en-US" sz="1600" b="1" dirty="0" err="1"/>
              <a:t>Paramètre</a:t>
            </a:r>
            <a:r>
              <a:rPr lang="en-US" sz="1600" b="1" dirty="0"/>
              <a:t> pour </a:t>
            </a:r>
            <a:r>
              <a:rPr lang="en-US" sz="1600" b="1" dirty="0" err="1"/>
              <a:t>l'effet</a:t>
            </a:r>
            <a:r>
              <a:rPr lang="en-US" sz="1600" b="1" dirty="0"/>
              <a:t> de </a:t>
            </a:r>
            <a:r>
              <a:rPr lang="en-US" sz="1600" b="1" dirty="0" err="1"/>
              <a:t>temporisation</a:t>
            </a:r>
            <a:r>
              <a:rPr lang="en-US" sz="1600" b="1" dirty="0"/>
              <a:t> ACTIVÉ/DÉSACTIVÉ (extrait) par ex. </a:t>
            </a:r>
            <a:r>
              <a:rPr lang="en-US" sz="1600" b="1" dirty="0" err="1"/>
              <a:t>actionneur</a:t>
            </a:r>
            <a:r>
              <a:rPr lang="en-US" sz="1600" b="1" dirty="0"/>
              <a:t> de commutation octuple </a:t>
            </a:r>
            <a:endParaRPr lang="es-ES" sz="1600" b="1" dirty="0"/>
          </a:p>
        </p:txBody>
      </p:sp>
      <p:pic>
        <p:nvPicPr>
          <p:cNvPr id="6" name="Picture 5">
            <a:extLst>
              <a:ext uri="{FF2B5EF4-FFF2-40B4-BE49-F238E27FC236}">
                <a16:creationId xmlns:a16="http://schemas.microsoft.com/office/drawing/2014/main" id="{45B75C64-F457-4FF9-ABE4-AAA5979FF4A1}"/>
              </a:ext>
            </a:extLst>
          </p:cNvPr>
          <p:cNvPicPr>
            <a:picLocks noChangeAspect="1"/>
          </p:cNvPicPr>
          <p:nvPr/>
        </p:nvPicPr>
        <p:blipFill>
          <a:blip r:embed="rId4"/>
          <a:stretch>
            <a:fillRect/>
          </a:stretch>
        </p:blipFill>
        <p:spPr>
          <a:xfrm>
            <a:off x="909266" y="3933056"/>
            <a:ext cx="6922441" cy="2008217"/>
          </a:xfrm>
          <a:prstGeom prst="rect">
            <a:avLst/>
          </a:prstGeom>
        </p:spPr>
      </p:pic>
      <p:sp>
        <p:nvSpPr>
          <p:cNvPr id="7" name="Rectangle 6">
            <a:extLst>
              <a:ext uri="{FF2B5EF4-FFF2-40B4-BE49-F238E27FC236}">
                <a16:creationId xmlns:a16="http://schemas.microsoft.com/office/drawing/2014/main" id="{09385FDA-A558-4C06-882F-46CB57584736}"/>
              </a:ext>
            </a:extLst>
          </p:cNvPr>
          <p:cNvSpPr/>
          <p:nvPr/>
        </p:nvSpPr>
        <p:spPr>
          <a:xfrm>
            <a:off x="539552" y="6012418"/>
            <a:ext cx="8334672" cy="369332"/>
          </a:xfrm>
          <a:prstGeom prst="rect">
            <a:avLst/>
          </a:prstGeom>
        </p:spPr>
        <p:txBody>
          <a:bodyPr wrap="square">
            <a:spAutoFit/>
          </a:bodyPr>
          <a:lstStyle/>
          <a:p>
            <a:r>
              <a:rPr lang="en-US" b="1" dirty="0"/>
              <a:t>Organigramme de la </a:t>
            </a:r>
            <a:r>
              <a:rPr lang="en-US" b="1" dirty="0" err="1"/>
              <a:t>fonction</a:t>
            </a:r>
            <a:r>
              <a:rPr lang="en-US" b="1" dirty="0"/>
              <a:t> AND de </a:t>
            </a:r>
            <a:r>
              <a:rPr lang="en-US" b="1" dirty="0" err="1"/>
              <a:t>l'actionneur</a:t>
            </a:r>
            <a:r>
              <a:rPr lang="en-US" b="1" dirty="0"/>
              <a:t> de </a:t>
            </a:r>
            <a:r>
              <a:rPr lang="en-US" b="1" dirty="0" err="1"/>
              <a:t>l'interrupteur</a:t>
            </a:r>
            <a:r>
              <a:rPr lang="en-US" b="1" dirty="0"/>
              <a:t> octuple</a:t>
            </a:r>
            <a:endParaRPr lang="es-ES" b="1" dirty="0"/>
          </a:p>
        </p:txBody>
      </p:sp>
    </p:spTree>
    <p:extLst>
      <p:ext uri="{BB962C8B-B14F-4D97-AF65-F5344CB8AC3E}">
        <p14:creationId xmlns:p14="http://schemas.microsoft.com/office/powerpoint/2010/main" val="4145528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sz="2000"/>
              <a:t>Fonction AND avec temporisation ACTIVÉE et Hors Temporisation DÉACTIVÉE</a:t>
            </a:r>
          </a:p>
        </p:txBody>
      </p:sp>
      <p:graphicFrame>
        <p:nvGraphicFramePr>
          <p:cNvPr id="8" name="Object 7">
            <a:extLst>
              <a:ext uri="{FF2B5EF4-FFF2-40B4-BE49-F238E27FC236}">
                <a16:creationId xmlns:a16="http://schemas.microsoft.com/office/drawing/2014/main" id="{0743BEAA-CB7B-4CE4-B109-17BF3FF15529}"/>
              </a:ext>
            </a:extLst>
          </p:cNvPr>
          <p:cNvGraphicFramePr>
            <a:graphicFrameLocks noChangeAspect="1"/>
          </p:cNvGraphicFramePr>
          <p:nvPr/>
        </p:nvGraphicFramePr>
        <p:xfrm>
          <a:off x="900113" y="1484784"/>
          <a:ext cx="7672065" cy="3888432"/>
        </p:xfrm>
        <a:graphic>
          <a:graphicData uri="http://schemas.openxmlformats.org/presentationml/2006/ole">
            <mc:AlternateContent xmlns:mc="http://schemas.openxmlformats.org/markup-compatibility/2006">
              <mc:Choice xmlns:v="urn:schemas-microsoft-com:vml" Requires="v">
                <p:oleObj r:id="rId3" imgW="7884160" imgH="4005789" progId="Visio.Drawing.15">
                  <p:embed/>
                </p:oleObj>
              </mc:Choice>
              <mc:Fallback>
                <p:oleObj r:id="rId3" imgW="7884160" imgH="4005789" progId="Visio.Drawing.15">
                  <p:embed/>
                  <p:pic>
                    <p:nvPicPr>
                      <p:cNvPr id="8" name="Object 7">
                        <a:extLst>
                          <a:ext uri="{FF2B5EF4-FFF2-40B4-BE49-F238E27FC236}">
                            <a16:creationId xmlns:a16="http://schemas.microsoft.com/office/drawing/2014/main" id="{0743BEAA-CB7B-4CE4-B109-17BF3FF155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484784"/>
                        <a:ext cx="7672065" cy="3888432"/>
                      </a:xfrm>
                      <a:prstGeom prst="rect">
                        <a:avLst/>
                      </a:prstGeom>
                      <a:noFill/>
                    </p:spPr>
                  </p:pic>
                </p:oleObj>
              </mc:Fallback>
            </mc:AlternateContent>
          </a:graphicData>
        </a:graphic>
      </p:graphicFrame>
    </p:spTree>
    <p:extLst>
      <p:ext uri="{BB962C8B-B14F-4D97-AF65-F5344CB8AC3E}">
        <p14:creationId xmlns:p14="http://schemas.microsoft.com/office/powerpoint/2010/main" val="1253165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04664"/>
            <a:ext cx="6696223" cy="719138"/>
          </a:xfrm>
        </p:spPr>
        <p:txBody>
          <a:bodyPr/>
          <a:lstStyle/>
          <a:p>
            <a:r>
              <a:rPr lang="en-US" sz="2400" dirty="0" err="1"/>
              <a:t>Logique</a:t>
            </a:r>
            <a:r>
              <a:rPr lang="en-US" sz="2400" dirty="0"/>
              <a:t> </a:t>
            </a:r>
            <a:r>
              <a:rPr lang="en-US" sz="2400" dirty="0" err="1"/>
              <a:t>Étendue</a:t>
            </a:r>
            <a:r>
              <a:rPr lang="en-US" sz="2400" dirty="0"/>
              <a:t> (</a:t>
            </a:r>
            <a:r>
              <a:rPr lang="en-US" sz="2400" dirty="0" err="1"/>
              <a:t>Commande</a:t>
            </a:r>
            <a:r>
              <a:rPr lang="en-US" sz="2400" dirty="0"/>
              <a:t> </a:t>
            </a:r>
            <a:r>
              <a:rPr lang="en-US" sz="2400" dirty="0" err="1"/>
              <a:t>Directe</a:t>
            </a:r>
            <a:r>
              <a:rPr lang="en-US" sz="2400" dirty="0"/>
              <a:t> des </a:t>
            </a:r>
            <a:r>
              <a:rPr lang="en-US" sz="2400" dirty="0" err="1"/>
              <a:t>Relais</a:t>
            </a:r>
            <a:r>
              <a:rPr lang="en-US" sz="2400" dirty="0"/>
              <a:t>)</a:t>
            </a:r>
            <a:endParaRPr lang="en-GB" sz="2400" dirty="0"/>
          </a:p>
        </p:txBody>
      </p:sp>
      <p:sp>
        <p:nvSpPr>
          <p:cNvPr id="2" name="Rectangle 1">
            <a:extLst>
              <a:ext uri="{FF2B5EF4-FFF2-40B4-BE49-F238E27FC236}">
                <a16:creationId xmlns:a16="http://schemas.microsoft.com/office/drawing/2014/main" id="{B943BB5D-7499-4EE8-8797-CE51631E45C3}"/>
              </a:ext>
            </a:extLst>
          </p:cNvPr>
          <p:cNvSpPr/>
          <p:nvPr/>
        </p:nvSpPr>
        <p:spPr>
          <a:xfrm>
            <a:off x="909836" y="1412776"/>
            <a:ext cx="7550596" cy="785343"/>
          </a:xfrm>
          <a:prstGeom prst="rect">
            <a:avLst/>
          </a:prstGeom>
        </p:spPr>
        <p:txBody>
          <a:bodyPr wrap="square">
            <a:spAutoFit/>
          </a:bodyPr>
          <a:lstStyle/>
          <a:p>
            <a:pPr>
              <a:lnSpc>
                <a:spcPct val="150000"/>
              </a:lnSpc>
            </a:pPr>
            <a:r>
              <a:rPr lang="en-US" sz="1600" b="1" dirty="0"/>
              <a:t>Avec le </a:t>
            </a:r>
            <a:r>
              <a:rPr lang="en-US" sz="1600" b="1" dirty="0" err="1"/>
              <a:t>réglage</a:t>
            </a:r>
            <a:r>
              <a:rPr lang="en-US" sz="1600" b="1" dirty="0"/>
              <a:t> « </a:t>
            </a:r>
            <a:r>
              <a:rPr lang="en-US" sz="1600" b="1" dirty="0" err="1"/>
              <a:t>Logique</a:t>
            </a:r>
            <a:r>
              <a:rPr lang="en-US" sz="1600" b="1" dirty="0"/>
              <a:t> </a:t>
            </a:r>
            <a:r>
              <a:rPr lang="en-US" sz="1600" b="1" dirty="0" err="1"/>
              <a:t>étendue</a:t>
            </a:r>
            <a:r>
              <a:rPr lang="en-US" sz="1600" b="1" dirty="0"/>
              <a:t> », </a:t>
            </a:r>
            <a:r>
              <a:rPr lang="en-US" sz="1600" b="1" dirty="0" err="1"/>
              <a:t>jusqu'à</a:t>
            </a:r>
            <a:r>
              <a:rPr lang="en-US" sz="1600" b="1" dirty="0"/>
              <a:t> trois </a:t>
            </a:r>
            <a:r>
              <a:rPr lang="en-US" sz="1600" b="1" dirty="0" err="1"/>
              <a:t>objets</a:t>
            </a:r>
            <a:r>
              <a:rPr lang="en-US" sz="1600" b="1" dirty="0"/>
              <a:t> </a:t>
            </a:r>
            <a:r>
              <a:rPr lang="en-US" sz="1600" b="1" dirty="0" err="1"/>
              <a:t>logiques</a:t>
            </a:r>
            <a:r>
              <a:rPr lang="en-US" sz="1600" b="1" dirty="0"/>
              <a:t> </a:t>
            </a:r>
            <a:r>
              <a:rPr lang="en-US" sz="1600" b="1" dirty="0" err="1"/>
              <a:t>peuvent</a:t>
            </a:r>
            <a:r>
              <a:rPr lang="en-US" sz="1600" b="1" dirty="0"/>
              <a:t> </a:t>
            </a:r>
            <a:r>
              <a:rPr lang="en-US" sz="1600" b="1" dirty="0" err="1"/>
              <a:t>être</a:t>
            </a:r>
            <a:r>
              <a:rPr lang="en-US" sz="1600" b="1" dirty="0"/>
              <a:t> </a:t>
            </a:r>
            <a:r>
              <a:rPr lang="en-US" sz="1600" b="1" dirty="0" err="1"/>
              <a:t>liés</a:t>
            </a:r>
            <a:r>
              <a:rPr lang="en-US" sz="1600" b="1" dirty="0"/>
              <a:t> à </a:t>
            </a:r>
            <a:r>
              <a:rPr lang="en-US" sz="1600" b="1" dirty="0" err="1"/>
              <a:t>différentes</a:t>
            </a:r>
            <a:r>
              <a:rPr lang="en-US" sz="1600" b="1" dirty="0"/>
              <a:t> </a:t>
            </a:r>
            <a:r>
              <a:rPr lang="en-US" sz="1600" b="1" dirty="0" err="1"/>
              <a:t>portes</a:t>
            </a:r>
            <a:r>
              <a:rPr lang="en-US" sz="1600" b="1" dirty="0"/>
              <a:t> qui </a:t>
            </a:r>
            <a:r>
              <a:rPr lang="en-US" sz="1600" b="1" dirty="0" err="1"/>
              <a:t>influencent</a:t>
            </a:r>
            <a:r>
              <a:rPr lang="en-US" sz="1600" b="1" dirty="0"/>
              <a:t> </a:t>
            </a:r>
            <a:r>
              <a:rPr lang="en-US" sz="1600" b="1" dirty="0" err="1"/>
              <a:t>ensuite</a:t>
            </a:r>
            <a:r>
              <a:rPr lang="en-US" sz="1600" b="1" dirty="0"/>
              <a:t> la sortie du </a:t>
            </a:r>
            <a:r>
              <a:rPr lang="en-US" sz="1600" b="1" dirty="0" err="1"/>
              <a:t>relais</a:t>
            </a:r>
            <a:r>
              <a:rPr lang="en-US" sz="1600" b="1" dirty="0"/>
              <a:t> </a:t>
            </a:r>
            <a:endParaRPr lang="es-ES" sz="1600" b="1" dirty="0"/>
          </a:p>
        </p:txBody>
      </p:sp>
      <p:pic>
        <p:nvPicPr>
          <p:cNvPr id="4" name="Picture 3">
            <a:extLst>
              <a:ext uri="{FF2B5EF4-FFF2-40B4-BE49-F238E27FC236}">
                <a16:creationId xmlns:a16="http://schemas.microsoft.com/office/drawing/2014/main" id="{F6BA60A7-D4D2-428D-9F4D-89E1B4E9CD19}"/>
              </a:ext>
            </a:extLst>
          </p:cNvPr>
          <p:cNvPicPr>
            <a:picLocks noChangeAspect="1"/>
          </p:cNvPicPr>
          <p:nvPr/>
        </p:nvPicPr>
        <p:blipFill>
          <a:blip r:embed="rId3"/>
          <a:stretch>
            <a:fillRect/>
          </a:stretch>
        </p:blipFill>
        <p:spPr>
          <a:xfrm>
            <a:off x="1691680" y="2355313"/>
            <a:ext cx="5578323" cy="2505673"/>
          </a:xfrm>
          <a:prstGeom prst="rect">
            <a:avLst/>
          </a:prstGeom>
        </p:spPr>
      </p:pic>
      <p:graphicFrame>
        <p:nvGraphicFramePr>
          <p:cNvPr id="6" name="Object 5">
            <a:extLst>
              <a:ext uri="{FF2B5EF4-FFF2-40B4-BE49-F238E27FC236}">
                <a16:creationId xmlns:a16="http://schemas.microsoft.com/office/drawing/2014/main" id="{78A887F2-1057-4E90-BE8B-69A4D627B707}"/>
              </a:ext>
            </a:extLst>
          </p:cNvPr>
          <p:cNvGraphicFramePr>
            <a:graphicFrameLocks noChangeAspect="1"/>
          </p:cNvGraphicFramePr>
          <p:nvPr/>
        </p:nvGraphicFramePr>
        <p:xfrm>
          <a:off x="1798561" y="5157192"/>
          <a:ext cx="5562600" cy="1096963"/>
        </p:xfrm>
        <a:graphic>
          <a:graphicData uri="http://schemas.openxmlformats.org/presentationml/2006/ole">
            <mc:AlternateContent xmlns:mc="http://schemas.openxmlformats.org/markup-compatibility/2006">
              <mc:Choice xmlns:v="urn:schemas-microsoft-com:vml" Requires="v">
                <p:oleObj r:id="rId4" imgW="6010119" imgH="1185308" progId="Visio.Drawing.15">
                  <p:embed/>
                </p:oleObj>
              </mc:Choice>
              <mc:Fallback>
                <p:oleObj r:id="rId4" imgW="6010119" imgH="1185308" progId="Visio.Drawing.15">
                  <p:embed/>
                  <p:pic>
                    <p:nvPicPr>
                      <p:cNvPr id="6" name="Object 5">
                        <a:extLst>
                          <a:ext uri="{FF2B5EF4-FFF2-40B4-BE49-F238E27FC236}">
                            <a16:creationId xmlns:a16="http://schemas.microsoft.com/office/drawing/2014/main" id="{78A887F2-1057-4E90-BE8B-69A4D627B7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8561" y="5157192"/>
                        <a:ext cx="5562600" cy="1096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02915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6696223" cy="719138"/>
          </a:xfrm>
        </p:spPr>
        <p:txBody>
          <a:bodyPr/>
          <a:lstStyle/>
          <a:p>
            <a:r>
              <a:rPr lang="en-US" sz="2400" dirty="0" err="1"/>
              <a:t>Logique</a:t>
            </a:r>
            <a:r>
              <a:rPr lang="en-US" sz="2400" dirty="0"/>
              <a:t> </a:t>
            </a:r>
            <a:r>
              <a:rPr lang="en-US" sz="2400" dirty="0" err="1"/>
              <a:t>Étendue</a:t>
            </a:r>
            <a:r>
              <a:rPr lang="en-US" sz="2400" dirty="0"/>
              <a:t> (Sortie </a:t>
            </a:r>
            <a:r>
              <a:rPr lang="en-US" sz="2400" dirty="0" err="1"/>
              <a:t>Logique</a:t>
            </a:r>
            <a:r>
              <a:rPr lang="en-US" sz="2400" dirty="0"/>
              <a:t> </a:t>
            </a:r>
            <a:r>
              <a:rPr lang="en-US" sz="2400" dirty="0" err="1"/>
              <a:t>Objet</a:t>
            </a:r>
            <a:r>
              <a:rPr lang="en-US" sz="2400" dirty="0"/>
              <a:t>)</a:t>
            </a:r>
            <a:endParaRPr lang="en-GB" sz="2400" dirty="0"/>
          </a:p>
        </p:txBody>
      </p:sp>
      <p:sp>
        <p:nvSpPr>
          <p:cNvPr id="2" name="Rectangle 1">
            <a:extLst>
              <a:ext uri="{FF2B5EF4-FFF2-40B4-BE49-F238E27FC236}">
                <a16:creationId xmlns:a16="http://schemas.microsoft.com/office/drawing/2014/main" id="{0DA84F8E-B86D-437E-953B-5B590011356E}"/>
              </a:ext>
            </a:extLst>
          </p:cNvPr>
          <p:cNvSpPr/>
          <p:nvPr/>
        </p:nvSpPr>
        <p:spPr>
          <a:xfrm>
            <a:off x="873288" y="1196752"/>
            <a:ext cx="7731160" cy="1154675"/>
          </a:xfrm>
          <a:prstGeom prst="rect">
            <a:avLst/>
          </a:prstGeom>
        </p:spPr>
        <p:txBody>
          <a:bodyPr wrap="square">
            <a:spAutoFit/>
          </a:bodyPr>
          <a:lstStyle/>
          <a:p>
            <a:pPr>
              <a:lnSpc>
                <a:spcPct val="150000"/>
              </a:lnSpc>
            </a:pPr>
            <a:r>
              <a:rPr lang="en-US" sz="1600" b="1" dirty="0"/>
              <a:t>Avec « Extended Logic », </a:t>
            </a:r>
            <a:r>
              <a:rPr lang="en-US" sz="1600" b="1" dirty="0" err="1"/>
              <a:t>jusqu'à</a:t>
            </a:r>
            <a:r>
              <a:rPr lang="en-US" sz="1600" b="1" dirty="0"/>
              <a:t> trois </a:t>
            </a:r>
            <a:r>
              <a:rPr lang="en-US" sz="1600" b="1" dirty="0" err="1"/>
              <a:t>objets</a:t>
            </a:r>
            <a:r>
              <a:rPr lang="en-US" sz="1600" b="1" dirty="0"/>
              <a:t> </a:t>
            </a:r>
            <a:r>
              <a:rPr lang="en-US" sz="1600" b="1" dirty="0" err="1"/>
              <a:t>logiques</a:t>
            </a:r>
            <a:r>
              <a:rPr lang="en-US" sz="1600" b="1" dirty="0"/>
              <a:t> </a:t>
            </a:r>
            <a:r>
              <a:rPr lang="en-US" sz="1600" b="1" dirty="0" err="1"/>
              <a:t>sont</a:t>
            </a:r>
            <a:r>
              <a:rPr lang="en-US" sz="1600" b="1" dirty="0"/>
              <a:t> </a:t>
            </a:r>
            <a:r>
              <a:rPr lang="en-US" sz="1600" b="1" dirty="0" err="1"/>
              <a:t>utilisés</a:t>
            </a:r>
            <a:r>
              <a:rPr lang="en-US" sz="1600" b="1" dirty="0"/>
              <a:t> pour combiner les </a:t>
            </a:r>
            <a:r>
              <a:rPr lang="en-US" sz="1600" b="1" dirty="0" err="1"/>
              <a:t>adresses</a:t>
            </a:r>
            <a:r>
              <a:rPr lang="en-US" sz="1600" b="1" dirty="0"/>
              <a:t> de </a:t>
            </a:r>
            <a:r>
              <a:rPr lang="en-US" sz="1600" b="1" dirty="0" err="1"/>
              <a:t>groupe</a:t>
            </a:r>
            <a:r>
              <a:rPr lang="en-US" sz="1600" b="1" dirty="0"/>
              <a:t> </a:t>
            </a:r>
            <a:r>
              <a:rPr lang="en-US" sz="1600" b="1" dirty="0" err="1"/>
              <a:t>attribuées</a:t>
            </a:r>
            <a:r>
              <a:rPr lang="en-US" sz="1600" b="1" dirty="0"/>
              <a:t> au </a:t>
            </a:r>
            <a:r>
              <a:rPr lang="en-US" sz="1600" b="1" dirty="0" err="1"/>
              <a:t>groupe</a:t>
            </a:r>
            <a:r>
              <a:rPr lang="en-US" sz="1600" b="1" dirty="0"/>
              <a:t> dans </a:t>
            </a:r>
            <a:r>
              <a:rPr lang="en-US" sz="1600" b="1" dirty="0" err="1"/>
              <a:t>une</a:t>
            </a:r>
            <a:r>
              <a:rPr lang="en-US" sz="1600" b="1" dirty="0"/>
              <a:t> nouvelle </a:t>
            </a:r>
            <a:r>
              <a:rPr lang="en-US" sz="1600" b="1" dirty="0" err="1"/>
              <a:t>adresse</a:t>
            </a:r>
            <a:r>
              <a:rPr lang="en-US" sz="1600" b="1" dirty="0"/>
              <a:t> de </a:t>
            </a:r>
            <a:r>
              <a:rPr lang="en-US" sz="1600" b="1" dirty="0" err="1"/>
              <a:t>groupe</a:t>
            </a:r>
            <a:endParaRPr lang="en-US" sz="1600" b="1" dirty="0"/>
          </a:p>
        </p:txBody>
      </p:sp>
      <p:pic>
        <p:nvPicPr>
          <p:cNvPr id="4" name="Picture 3">
            <a:extLst>
              <a:ext uri="{FF2B5EF4-FFF2-40B4-BE49-F238E27FC236}">
                <a16:creationId xmlns:a16="http://schemas.microsoft.com/office/drawing/2014/main" id="{B7CE305A-A825-4363-88ED-31F911073596}"/>
              </a:ext>
            </a:extLst>
          </p:cNvPr>
          <p:cNvPicPr>
            <a:picLocks noChangeAspect="1"/>
          </p:cNvPicPr>
          <p:nvPr/>
        </p:nvPicPr>
        <p:blipFill>
          <a:blip r:embed="rId3"/>
          <a:stretch>
            <a:fillRect/>
          </a:stretch>
        </p:blipFill>
        <p:spPr>
          <a:xfrm>
            <a:off x="1782838" y="2464152"/>
            <a:ext cx="5578323" cy="2597121"/>
          </a:xfrm>
          <a:prstGeom prst="rect">
            <a:avLst/>
          </a:prstGeom>
        </p:spPr>
      </p:pic>
      <p:pic>
        <p:nvPicPr>
          <p:cNvPr id="5" name="Picture 4">
            <a:extLst>
              <a:ext uri="{FF2B5EF4-FFF2-40B4-BE49-F238E27FC236}">
                <a16:creationId xmlns:a16="http://schemas.microsoft.com/office/drawing/2014/main" id="{E9BC334A-CA4D-4A7B-A5AC-43B8CF26D146}"/>
              </a:ext>
            </a:extLst>
          </p:cNvPr>
          <p:cNvPicPr>
            <a:picLocks noChangeAspect="1"/>
          </p:cNvPicPr>
          <p:nvPr/>
        </p:nvPicPr>
        <p:blipFill>
          <a:blip r:embed="rId4"/>
          <a:stretch>
            <a:fillRect/>
          </a:stretch>
        </p:blipFill>
        <p:spPr>
          <a:xfrm>
            <a:off x="2000056" y="5240615"/>
            <a:ext cx="5143888" cy="1141135"/>
          </a:xfrm>
          <a:prstGeom prst="rect">
            <a:avLst/>
          </a:prstGeom>
        </p:spPr>
      </p:pic>
    </p:spTree>
    <p:extLst>
      <p:ext uri="{BB962C8B-B14F-4D97-AF65-F5344CB8AC3E}">
        <p14:creationId xmlns:p14="http://schemas.microsoft.com/office/powerpoint/2010/main" val="1515294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056263" cy="719138"/>
          </a:xfrm>
        </p:spPr>
        <p:txBody>
          <a:bodyPr/>
          <a:lstStyle/>
          <a:p>
            <a:r>
              <a:rPr lang="en-US" sz="2400"/>
              <a:t>Connexion Logique des Adresses de Groupe</a:t>
            </a:r>
          </a:p>
        </p:txBody>
      </p:sp>
      <p:sp>
        <p:nvSpPr>
          <p:cNvPr id="2" name="Rectangle 1">
            <a:extLst>
              <a:ext uri="{FF2B5EF4-FFF2-40B4-BE49-F238E27FC236}">
                <a16:creationId xmlns:a16="http://schemas.microsoft.com/office/drawing/2014/main" id="{563AA988-E7FB-4B5F-9578-049F48595BF5}"/>
              </a:ext>
            </a:extLst>
          </p:cNvPr>
          <p:cNvSpPr/>
          <p:nvPr/>
        </p:nvSpPr>
        <p:spPr>
          <a:xfrm>
            <a:off x="900113" y="1484784"/>
            <a:ext cx="7416303" cy="4106765"/>
          </a:xfrm>
          <a:prstGeom prst="rect">
            <a:avLst/>
          </a:prstGeom>
        </p:spPr>
        <p:txBody>
          <a:bodyPr wrap="square">
            <a:spAutoFit/>
          </a:bodyPr>
          <a:lstStyle/>
          <a:p>
            <a:pPr eaLnBrk="0" hangingPunct="0">
              <a:lnSpc>
                <a:spcPct val="150000"/>
              </a:lnSpc>
              <a:spcBef>
                <a:spcPct val="20000"/>
              </a:spcBef>
              <a:buClr>
                <a:srgbClr val="369226"/>
              </a:buClr>
              <a:defRPr/>
            </a:pPr>
            <a:r>
              <a:rPr lang="en-US" b="1" kern="0" dirty="0" err="1">
                <a:solidFill>
                  <a:srgbClr val="369226"/>
                </a:solidFill>
                <a:latin typeface="+mn-lt"/>
                <a:ea typeface="Open Sans" panose="020B0606030504020204" pitchFamily="34" charset="0"/>
                <a:cs typeface="Open Sans" panose="020B0606030504020204" pitchFamily="34" charset="0"/>
              </a:rPr>
              <a:t>Utilisé</a:t>
            </a:r>
            <a:r>
              <a:rPr lang="en-US" b="1" kern="0" dirty="0">
                <a:solidFill>
                  <a:srgbClr val="369226"/>
                </a:solidFill>
                <a:latin typeface="+mn-lt"/>
                <a:ea typeface="Open Sans" panose="020B0606030504020204" pitchFamily="34" charset="0"/>
                <a:cs typeface="Open Sans" panose="020B0606030504020204" pitchFamily="34" charset="0"/>
              </a:rPr>
              <a:t> pour :</a:t>
            </a:r>
          </a:p>
          <a:p>
            <a:pPr marL="342900" indent="-342900" eaLnBrk="0" hangingPunct="0">
              <a:lnSpc>
                <a:spcPct val="150000"/>
              </a:lnSpc>
              <a:spcBef>
                <a:spcPct val="20000"/>
              </a:spcBef>
              <a:buClr>
                <a:srgbClr val="369226"/>
              </a:buClr>
              <a:buFont typeface="Wingdings" pitchFamily="2" charset="2"/>
              <a:buChar char="§"/>
              <a:defRPr/>
            </a:pPr>
            <a:r>
              <a:rPr lang="en-US" b="1" kern="0" dirty="0" err="1">
                <a:latin typeface="+mn-lt"/>
                <a:ea typeface="Open Sans" panose="020B0606030504020204" pitchFamily="34" charset="0"/>
                <a:cs typeface="Open Sans" panose="020B0606030504020204" pitchFamily="34" charset="0"/>
              </a:rPr>
              <a:t>Tâches</a:t>
            </a:r>
            <a:r>
              <a:rPr lang="en-US" b="1" kern="0" dirty="0">
                <a:latin typeface="+mn-lt"/>
                <a:ea typeface="Open Sans" panose="020B0606030504020204" pitchFamily="34" charset="0"/>
                <a:cs typeface="Open Sans" panose="020B0606030504020204" pitchFamily="34" charset="0"/>
              </a:rPr>
              <a:t> qui </a:t>
            </a:r>
            <a:r>
              <a:rPr lang="en-US" b="1" kern="0" dirty="0" err="1">
                <a:latin typeface="+mn-lt"/>
                <a:ea typeface="Open Sans" panose="020B0606030504020204" pitchFamily="34" charset="0"/>
                <a:cs typeface="Open Sans" panose="020B0606030504020204" pitchFamily="34" charset="0"/>
              </a:rPr>
              <a:t>sont</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définies</a:t>
            </a:r>
            <a:r>
              <a:rPr lang="en-US" b="1" kern="0" dirty="0">
                <a:latin typeface="+mn-lt"/>
                <a:ea typeface="Open Sans" panose="020B0606030504020204" pitchFamily="34" charset="0"/>
                <a:cs typeface="Open Sans" panose="020B0606030504020204" pitchFamily="34" charset="0"/>
              </a:rPr>
              <a:t> par </a:t>
            </a:r>
            <a:r>
              <a:rPr lang="en-US" b="1" kern="0" dirty="0" err="1">
                <a:latin typeface="+mn-lt"/>
                <a:ea typeface="Open Sans" panose="020B0606030504020204" pitchFamily="34" charset="0"/>
                <a:cs typeface="Open Sans" panose="020B0606030504020204" pitchFamily="34" charset="0"/>
              </a:rPr>
              <a:t>différentes</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adresses</a:t>
            </a:r>
            <a:r>
              <a:rPr lang="en-US" b="1" kern="0" dirty="0">
                <a:latin typeface="+mn-lt"/>
                <a:ea typeface="Open Sans" panose="020B0606030504020204" pitchFamily="34" charset="0"/>
                <a:cs typeface="Open Sans" panose="020B0606030504020204" pitchFamily="34" charset="0"/>
              </a:rPr>
              <a:t> de </a:t>
            </a:r>
            <a:r>
              <a:rPr lang="en-US" b="1" kern="0" dirty="0" err="1">
                <a:latin typeface="+mn-lt"/>
                <a:ea typeface="Open Sans" panose="020B0606030504020204" pitchFamily="34" charset="0"/>
                <a:cs typeface="Open Sans" panose="020B0606030504020204" pitchFamily="34" charset="0"/>
              </a:rPr>
              <a:t>groupe</a:t>
            </a:r>
            <a:r>
              <a:rPr lang="en-US" b="1" kern="0" dirty="0">
                <a:latin typeface="+mn-lt"/>
                <a:ea typeface="Open Sans" panose="020B0606030504020204" pitchFamily="34" charset="0"/>
                <a:cs typeface="Open Sans" panose="020B0606030504020204" pitchFamily="34" charset="0"/>
              </a:rPr>
              <a:t> et </a:t>
            </a:r>
            <a:r>
              <a:rPr lang="en-US" b="1" kern="0" dirty="0" err="1">
                <a:latin typeface="+mn-lt"/>
                <a:ea typeface="Open Sans" panose="020B0606030504020204" pitchFamily="34" charset="0"/>
                <a:cs typeface="Open Sans" panose="020B0606030504020204" pitchFamily="34" charset="0"/>
              </a:rPr>
              <a:t>doivent</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être</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liées</a:t>
            </a:r>
            <a:r>
              <a:rPr lang="en-US" b="1" kern="0" dirty="0">
                <a:latin typeface="+mn-lt"/>
                <a:ea typeface="Open Sans" panose="020B0606030504020204" pitchFamily="34" charset="0"/>
                <a:cs typeface="Open Sans" panose="020B0606030504020204" pitchFamily="34" charset="0"/>
              </a:rPr>
              <a:t> entre </a:t>
            </a:r>
            <a:r>
              <a:rPr lang="en-US" b="1" kern="0" dirty="0" err="1">
                <a:latin typeface="+mn-lt"/>
                <a:ea typeface="Open Sans" panose="020B0606030504020204" pitchFamily="34" charset="0"/>
                <a:cs typeface="Open Sans" panose="020B0606030504020204" pitchFamily="34" charset="0"/>
              </a:rPr>
              <a:t>elles</a:t>
            </a:r>
            <a:r>
              <a:rPr lang="en-US" b="1" kern="0" dirty="0">
                <a:latin typeface="+mn-lt"/>
                <a:ea typeface="Open Sans" panose="020B0606030504020204" pitchFamily="34" charset="0"/>
                <a:cs typeface="Open Sans" panose="020B0606030504020204" pitchFamily="34" charset="0"/>
              </a:rPr>
              <a:t> </a:t>
            </a:r>
          </a:p>
          <a:p>
            <a:pPr marL="342900" indent="-342900" eaLnBrk="0" hangingPunct="0">
              <a:lnSpc>
                <a:spcPct val="150000"/>
              </a:lnSpc>
              <a:spcBef>
                <a:spcPct val="20000"/>
              </a:spcBef>
              <a:buClr>
                <a:srgbClr val="369226"/>
              </a:buClr>
              <a:buFont typeface="Wingdings" pitchFamily="2" charset="2"/>
              <a:buChar char="§"/>
              <a:defRPr/>
            </a:pPr>
            <a:endParaRPr lang="en-US" sz="1100" b="1" kern="0" dirty="0">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b="1" kern="0" dirty="0">
                <a:latin typeface="+mn-lt"/>
                <a:ea typeface="Open Sans" panose="020B0606030504020204" pitchFamily="34" charset="0"/>
                <a:cs typeface="Open Sans" panose="020B0606030504020204" pitchFamily="34" charset="0"/>
              </a:rPr>
              <a:t>Pour combiner </a:t>
            </a:r>
            <a:r>
              <a:rPr lang="en-US" b="1" kern="0" dirty="0" err="1">
                <a:latin typeface="+mn-lt"/>
                <a:ea typeface="Open Sans" panose="020B0606030504020204" pitchFamily="34" charset="0"/>
                <a:cs typeface="Open Sans" panose="020B0606030504020204" pitchFamily="34" charset="0"/>
              </a:rPr>
              <a:t>plusieurs</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adresses</a:t>
            </a:r>
            <a:r>
              <a:rPr lang="en-US" b="1" kern="0" dirty="0">
                <a:latin typeface="+mn-lt"/>
                <a:ea typeface="Open Sans" panose="020B0606030504020204" pitchFamily="34" charset="0"/>
                <a:cs typeface="Open Sans" panose="020B0606030504020204" pitchFamily="34" charset="0"/>
              </a:rPr>
              <a:t> de </a:t>
            </a:r>
            <a:r>
              <a:rPr lang="en-US" b="1" kern="0" dirty="0" err="1">
                <a:latin typeface="+mn-lt"/>
                <a:ea typeface="Open Sans" panose="020B0606030504020204" pitchFamily="34" charset="0"/>
                <a:cs typeface="Open Sans" panose="020B0606030504020204" pitchFamily="34" charset="0"/>
              </a:rPr>
              <a:t>groupe</a:t>
            </a:r>
            <a:r>
              <a:rPr lang="en-US" b="1" kern="0" dirty="0">
                <a:latin typeface="+mn-lt"/>
                <a:ea typeface="Open Sans" panose="020B0606030504020204" pitchFamily="34" charset="0"/>
                <a:cs typeface="Open Sans" panose="020B0606030504020204" pitchFamily="34" charset="0"/>
              </a:rPr>
              <a:t> dans </a:t>
            </a:r>
            <a:r>
              <a:rPr lang="en-US" b="1" kern="0" dirty="0" err="1">
                <a:latin typeface="+mn-lt"/>
                <a:ea typeface="Open Sans" panose="020B0606030504020204" pitchFamily="34" charset="0"/>
                <a:cs typeface="Open Sans" panose="020B0606030504020204" pitchFamily="34" charset="0"/>
              </a:rPr>
              <a:t>une</a:t>
            </a:r>
            <a:r>
              <a:rPr lang="en-US" b="1" kern="0" dirty="0">
                <a:latin typeface="+mn-lt"/>
                <a:ea typeface="Open Sans" panose="020B0606030504020204" pitchFamily="34" charset="0"/>
                <a:cs typeface="Open Sans" panose="020B0606030504020204" pitchFamily="34" charset="0"/>
              </a:rPr>
              <a:t> nouvelle </a:t>
            </a:r>
            <a:r>
              <a:rPr lang="en-US" b="1" kern="0" dirty="0" err="1">
                <a:latin typeface="+mn-lt"/>
                <a:ea typeface="Open Sans" panose="020B0606030504020204" pitchFamily="34" charset="0"/>
                <a:cs typeface="Open Sans" panose="020B0606030504020204" pitchFamily="34" charset="0"/>
              </a:rPr>
              <a:t>adresse</a:t>
            </a:r>
            <a:r>
              <a:rPr lang="en-US" b="1" kern="0" dirty="0">
                <a:latin typeface="+mn-lt"/>
                <a:ea typeface="Open Sans" panose="020B0606030504020204" pitchFamily="34" charset="0"/>
                <a:cs typeface="Open Sans" panose="020B0606030504020204" pitchFamily="34" charset="0"/>
              </a:rPr>
              <a:t> de </a:t>
            </a:r>
            <a:r>
              <a:rPr lang="en-US" b="1" kern="0" dirty="0" err="1">
                <a:latin typeface="+mn-lt"/>
                <a:ea typeface="Open Sans" panose="020B0606030504020204" pitchFamily="34" charset="0"/>
                <a:cs typeface="Open Sans" panose="020B0606030504020204" pitchFamily="34" charset="0"/>
              </a:rPr>
              <a:t>groupe</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en</a:t>
            </a:r>
            <a:r>
              <a:rPr lang="en-US" b="1" kern="0" dirty="0">
                <a:latin typeface="+mn-lt"/>
                <a:ea typeface="Open Sans" panose="020B0606030504020204" pitchFamily="34" charset="0"/>
                <a:cs typeface="Open Sans" panose="020B0606030504020204" pitchFamily="34" charset="0"/>
              </a:rPr>
              <a:t> raison </a:t>
            </a:r>
            <a:r>
              <a:rPr lang="en-US" b="1" dirty="0"/>
              <a:t>des associations </a:t>
            </a:r>
            <a:r>
              <a:rPr lang="en-US" b="1" dirty="0" err="1"/>
              <a:t>limitées</a:t>
            </a:r>
            <a:r>
              <a:rPr lang="en-US" b="1" dirty="0"/>
              <a:t> dans un </a:t>
            </a:r>
            <a:r>
              <a:rPr lang="en-US" b="1" dirty="0" err="1"/>
              <a:t>objet</a:t>
            </a:r>
            <a:r>
              <a:rPr lang="en-US" b="1" dirty="0"/>
              <a:t> de </a:t>
            </a:r>
            <a:r>
              <a:rPr lang="en-US" b="1" dirty="0" err="1"/>
              <a:t>groupe</a:t>
            </a:r>
            <a:endParaRPr lang="en-US" b="1" dirty="0"/>
          </a:p>
          <a:p>
            <a:pPr marL="342900" indent="-342900" eaLnBrk="0" hangingPunct="0">
              <a:lnSpc>
                <a:spcPct val="150000"/>
              </a:lnSpc>
              <a:spcBef>
                <a:spcPct val="20000"/>
              </a:spcBef>
              <a:buClr>
                <a:srgbClr val="369226"/>
              </a:buClr>
              <a:buFont typeface="Wingdings" pitchFamily="2" charset="2"/>
              <a:buChar char="§"/>
              <a:defRPr/>
            </a:pPr>
            <a:endParaRPr lang="en-US" sz="1100" b="1" dirty="0"/>
          </a:p>
          <a:p>
            <a:pPr marL="342900" indent="-342900" eaLnBrk="0" hangingPunct="0">
              <a:lnSpc>
                <a:spcPct val="150000"/>
              </a:lnSpc>
              <a:spcBef>
                <a:spcPct val="20000"/>
              </a:spcBef>
              <a:buClr>
                <a:srgbClr val="369226"/>
              </a:buClr>
              <a:buFont typeface="Wingdings" pitchFamily="2" charset="2"/>
              <a:buChar char="§"/>
              <a:defRPr/>
            </a:pPr>
            <a:r>
              <a:rPr lang="en-US" b="1" dirty="0"/>
              <a:t>Pour </a:t>
            </a:r>
            <a:r>
              <a:rPr lang="en-US" b="1" dirty="0" err="1"/>
              <a:t>traiter</a:t>
            </a:r>
            <a:r>
              <a:rPr lang="en-US" b="1" dirty="0"/>
              <a:t> </a:t>
            </a:r>
            <a:r>
              <a:rPr lang="en-US" b="1" dirty="0" err="1"/>
              <a:t>plusieurs</a:t>
            </a:r>
            <a:r>
              <a:rPr lang="en-US" b="1" dirty="0"/>
              <a:t> </a:t>
            </a:r>
            <a:r>
              <a:rPr lang="en-US" b="1" dirty="0" err="1"/>
              <a:t>objets</a:t>
            </a:r>
            <a:r>
              <a:rPr lang="en-US" b="1" dirty="0"/>
              <a:t> avec </a:t>
            </a:r>
            <a:r>
              <a:rPr lang="en-US" b="1" dirty="0" err="1"/>
              <a:t>différentes</a:t>
            </a:r>
            <a:r>
              <a:rPr lang="en-US" b="1" dirty="0"/>
              <a:t> </a:t>
            </a:r>
            <a:r>
              <a:rPr lang="en-US" b="1" dirty="0" err="1"/>
              <a:t>largeurs</a:t>
            </a:r>
            <a:r>
              <a:rPr lang="en-US" b="1" dirty="0"/>
              <a:t> de bits (1 bit, 8 bits) </a:t>
            </a:r>
            <a:r>
              <a:rPr lang="en-US" b="1" dirty="0" err="1"/>
              <a:t>en</a:t>
            </a:r>
            <a:r>
              <a:rPr lang="en-US" b="1" dirty="0"/>
              <a:t> </a:t>
            </a:r>
            <a:r>
              <a:rPr lang="en-US" b="1" dirty="0" err="1"/>
              <a:t>même</a:t>
            </a:r>
            <a:r>
              <a:rPr lang="en-US" b="1" dirty="0"/>
              <a:t> temps avec </a:t>
            </a:r>
            <a:r>
              <a:rPr lang="en-US" b="1" dirty="0" err="1"/>
              <a:t>une</a:t>
            </a:r>
            <a:r>
              <a:rPr lang="en-US" b="1" dirty="0"/>
              <a:t> </a:t>
            </a:r>
            <a:r>
              <a:rPr lang="en-US" b="1" dirty="0" err="1"/>
              <a:t>adresse</a:t>
            </a:r>
            <a:r>
              <a:rPr lang="en-US" b="1" dirty="0"/>
              <a:t> </a:t>
            </a:r>
            <a:r>
              <a:rPr lang="en-US" b="1" dirty="0" err="1"/>
              <a:t>transmise</a:t>
            </a:r>
            <a:endParaRPr lang="en-US" b="1" dirty="0"/>
          </a:p>
        </p:txBody>
      </p:sp>
    </p:spTree>
    <p:extLst>
      <p:ext uri="{BB962C8B-B14F-4D97-AF65-F5344CB8AC3E}">
        <p14:creationId xmlns:p14="http://schemas.microsoft.com/office/powerpoint/2010/main" val="1832221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Module Logique</a:t>
            </a:r>
            <a:endParaRPr lang="en-GB" dirty="0"/>
          </a:p>
        </p:txBody>
      </p:sp>
      <p:sp>
        <p:nvSpPr>
          <p:cNvPr id="2" name="Rectangle 1">
            <a:extLst>
              <a:ext uri="{FF2B5EF4-FFF2-40B4-BE49-F238E27FC236}">
                <a16:creationId xmlns:a16="http://schemas.microsoft.com/office/drawing/2014/main" id="{A404B2F9-D1A3-4371-8D79-1D536230CB46}"/>
              </a:ext>
            </a:extLst>
          </p:cNvPr>
          <p:cNvSpPr/>
          <p:nvPr/>
        </p:nvSpPr>
        <p:spPr>
          <a:xfrm>
            <a:off x="933822" y="1556792"/>
            <a:ext cx="7526610" cy="4639219"/>
          </a:xfrm>
          <a:prstGeom prst="rect">
            <a:avLst/>
          </a:prstGeom>
        </p:spPr>
        <p:txBody>
          <a:bodyPr wrap="square">
            <a:spAutoFit/>
          </a:bodyPr>
          <a:lstStyle/>
          <a:p>
            <a:r>
              <a:rPr lang="en-US" b="1" dirty="0">
                <a:solidFill>
                  <a:srgbClr val="369226"/>
                </a:solidFill>
              </a:rPr>
              <a:t>Situations </a:t>
            </a:r>
            <a:r>
              <a:rPr lang="en-US" b="1" dirty="0" err="1">
                <a:solidFill>
                  <a:srgbClr val="369226"/>
                </a:solidFill>
              </a:rPr>
              <a:t>Problématiques</a:t>
            </a:r>
            <a:endParaRPr lang="en-US" b="1" dirty="0">
              <a:solidFill>
                <a:srgbClr val="369226"/>
              </a:solidFill>
            </a:endParaRP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Temps de </a:t>
            </a:r>
            <a:r>
              <a:rPr lang="en-US" b="1" kern="0" dirty="0" err="1">
                <a:solidFill>
                  <a:srgbClr val="369226"/>
                </a:solidFill>
                <a:latin typeface="+mn-lt"/>
                <a:ea typeface="Open Sans" panose="020B0606030504020204" pitchFamily="34" charset="0"/>
                <a:cs typeface="Open Sans" panose="020B0606030504020204" pitchFamily="34" charset="0"/>
              </a:rPr>
              <a:t>transfert</a:t>
            </a:r>
            <a:r>
              <a:rPr lang="en-US" b="1" kern="0" dirty="0">
                <a:solidFill>
                  <a:srgbClr val="369226"/>
                </a:solidFill>
                <a:latin typeface="+mn-lt"/>
                <a:ea typeface="Open Sans" panose="020B0606030504020204" pitchFamily="34" charset="0"/>
                <a:cs typeface="Open Sans" panose="020B0606030504020204" pitchFamily="34" charset="0"/>
              </a:rPr>
              <a:t> des </a:t>
            </a:r>
            <a:r>
              <a:rPr lang="en-US" b="1" kern="0" dirty="0" err="1">
                <a:solidFill>
                  <a:srgbClr val="369226"/>
                </a:solidFill>
                <a:latin typeface="+mn-lt"/>
                <a:ea typeface="Open Sans" panose="020B0606030504020204" pitchFamily="34" charset="0"/>
                <a:cs typeface="Open Sans" panose="020B0606030504020204" pitchFamily="34" charset="0"/>
              </a:rPr>
              <a:t>télégrammes</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En</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utilisant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des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objets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de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réponse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d'état, les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télégrammes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peuvent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ne pas arriver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en</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même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temps, de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sorte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que le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résultat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logique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à la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porte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peut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être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incorrect</a:t>
            </a:r>
          </a:p>
          <a:p>
            <a:pPr marL="342900" indent="-342900" eaLnBrk="0" hangingPunct="0">
              <a:lnSpc>
                <a:spcPct val="150000"/>
              </a:lnSpc>
              <a:spcBef>
                <a:spcPct val="20000"/>
              </a:spcBef>
              <a:buClr>
                <a:srgbClr val="369226"/>
              </a:buClr>
              <a:buFont typeface="Wingdings" pitchFamily="2" charset="2"/>
              <a:buChar char="§"/>
              <a:defRPr/>
            </a:pPr>
            <a:endParaRPr lang="en-US" b="1" kern="0" dirty="0">
              <a:solidFill>
                <a:schemeClr val="bg1">
                  <a:lumMod val="10000"/>
                </a:schemeClr>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b="1" kern="0" dirty="0">
                <a:solidFill>
                  <a:srgbClr val="369226"/>
                </a:solidFill>
                <a:latin typeface="+mn-lt"/>
                <a:ea typeface="Open Sans" panose="020B0606030504020204" pitchFamily="34" charset="0"/>
                <a:cs typeface="Open Sans" panose="020B0606030504020204" pitchFamily="34" charset="0"/>
              </a:rPr>
              <a:t>Envoi </a:t>
            </a:r>
            <a:r>
              <a:rPr lang="en-US" b="1" kern="0" dirty="0" err="1">
                <a:solidFill>
                  <a:srgbClr val="369226"/>
                </a:solidFill>
                <a:latin typeface="+mn-lt"/>
                <a:ea typeface="Open Sans" panose="020B0606030504020204" pitchFamily="34" charset="0"/>
                <a:cs typeface="Open Sans" panose="020B0606030504020204" pitchFamily="34" charset="0"/>
              </a:rPr>
              <a:t>cyclique</a:t>
            </a:r>
            <a:r>
              <a:rPr lang="en-US" b="1" kern="0" dirty="0">
                <a:solidFill>
                  <a:srgbClr val="369226"/>
                </a:solidFill>
                <a:latin typeface="+mn-lt"/>
                <a:ea typeface="Open Sans" panose="020B0606030504020204" pitchFamily="34" charset="0"/>
                <a:cs typeface="Open Sans" panose="020B0606030504020204" pitchFamily="34" charset="0"/>
              </a:rPr>
              <a:t> :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L'envoi</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cyclique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de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capteurs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peut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générer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un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résultat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erroné</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s'ils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sont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pilotés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par des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opérations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logiques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qui ne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peuvent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alors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pas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effectuer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eux-mêmes</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l'envoi</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cyclique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Note : Les modules de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porte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logique</a:t>
            </a:r>
            <a:r>
              <a:rPr lang="en-US" b="1" kern="0" dirty="0">
                <a:solidFill>
                  <a:schemeClr val="bg1">
                    <a:lumMod val="10000"/>
                  </a:schemeClr>
                </a:solidFill>
                <a:latin typeface="+mn-lt"/>
                <a:ea typeface="Open Sans" panose="020B0606030504020204" pitchFamily="34" charset="0"/>
                <a:cs typeface="Open Sans" panose="020B0606030504020204" pitchFamily="34" charset="0"/>
              </a:rPr>
              <a:t> KNX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peuvent</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envoyer</a:t>
            </a:r>
            <a:r>
              <a:rPr lang="en-US" b="1" kern="0" dirty="0">
                <a:solidFill>
                  <a:schemeClr val="bg1">
                    <a:lumMod val="10000"/>
                  </a:schemeClr>
                </a:solidFill>
                <a:latin typeface="+mn-lt"/>
                <a:ea typeface="Open Sans" panose="020B0606030504020204" pitchFamily="34" charset="0"/>
                <a:cs typeface="Open Sans" panose="020B0606030504020204" pitchFamily="34" charset="0"/>
              </a:rPr>
              <a:t> </a:t>
            </a:r>
            <a:r>
              <a:rPr lang="en-US" b="1" kern="0" dirty="0" err="1">
                <a:solidFill>
                  <a:schemeClr val="bg1">
                    <a:lumMod val="10000"/>
                  </a:schemeClr>
                </a:solidFill>
                <a:latin typeface="+mn-lt"/>
                <a:ea typeface="Open Sans" panose="020B0606030504020204" pitchFamily="34" charset="0"/>
                <a:cs typeface="Open Sans" panose="020B0606030504020204" pitchFamily="34" charset="0"/>
              </a:rPr>
              <a:t>cycliquement</a:t>
            </a:r>
            <a:endParaRPr lang="en-US" b="1" dirty="0"/>
          </a:p>
        </p:txBody>
      </p:sp>
    </p:spTree>
    <p:extLst>
      <p:ext uri="{BB962C8B-B14F-4D97-AF65-F5344CB8AC3E}">
        <p14:creationId xmlns:p14="http://schemas.microsoft.com/office/powerpoint/2010/main" val="218057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err="1"/>
              <a:t>Réglages</a:t>
            </a:r>
            <a:r>
              <a:rPr lang="en-US" dirty="0"/>
              <a:t> des </a:t>
            </a:r>
            <a:r>
              <a:rPr lang="en-US" dirty="0" err="1"/>
              <a:t>Paramètres</a:t>
            </a:r>
            <a:r>
              <a:rPr lang="en-US" dirty="0"/>
              <a:t> </a:t>
            </a:r>
            <a:r>
              <a:rPr lang="en-US" dirty="0" err="1"/>
              <a:t>Disponibles</a:t>
            </a:r>
            <a:r>
              <a:rPr lang="en-US" dirty="0"/>
              <a:t> des Modules </a:t>
            </a:r>
            <a:r>
              <a:rPr lang="en-US" dirty="0" err="1"/>
              <a:t>Logiques</a:t>
            </a:r>
            <a:endParaRPr lang="en-GB" dirty="0"/>
          </a:p>
        </p:txBody>
      </p:sp>
      <p:graphicFrame>
        <p:nvGraphicFramePr>
          <p:cNvPr id="4" name="Object 3">
            <a:extLst>
              <a:ext uri="{FF2B5EF4-FFF2-40B4-BE49-F238E27FC236}">
                <a16:creationId xmlns:a16="http://schemas.microsoft.com/office/drawing/2014/main" id="{7BF881C1-269A-48A2-BE43-E253CD7DE0BB}"/>
              </a:ext>
            </a:extLst>
          </p:cNvPr>
          <p:cNvGraphicFramePr>
            <a:graphicFrameLocks noChangeAspect="1"/>
          </p:cNvGraphicFramePr>
          <p:nvPr/>
        </p:nvGraphicFramePr>
        <p:xfrm>
          <a:off x="1359545" y="3260016"/>
          <a:ext cx="6424909" cy="2905288"/>
        </p:xfrm>
        <a:graphic>
          <a:graphicData uri="http://schemas.openxmlformats.org/presentationml/2006/ole">
            <mc:AlternateContent xmlns:mc="http://schemas.openxmlformats.org/markup-compatibility/2006">
              <mc:Choice xmlns:v="urn:schemas-microsoft-com:vml" Requires="v">
                <p:oleObj r:id="rId3" imgW="7296030" imgH="3295678" progId="Visio.Drawing.15">
                  <p:embed/>
                </p:oleObj>
              </mc:Choice>
              <mc:Fallback>
                <p:oleObj r:id="rId3" imgW="7296030" imgH="3295678" progId="Visio.Drawing.15">
                  <p:embed/>
                  <p:pic>
                    <p:nvPicPr>
                      <p:cNvPr id="4" name="Object 3">
                        <a:extLst>
                          <a:ext uri="{FF2B5EF4-FFF2-40B4-BE49-F238E27FC236}">
                            <a16:creationId xmlns:a16="http://schemas.microsoft.com/office/drawing/2014/main" id="{7BF881C1-269A-48A2-BE43-E253CD7DE0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45" y="3260016"/>
                        <a:ext cx="6424909" cy="2905288"/>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380C158C-6EC6-4FE2-9D8D-F5564ADF44F8}"/>
              </a:ext>
            </a:extLst>
          </p:cNvPr>
          <p:cNvSpPr/>
          <p:nvPr/>
        </p:nvSpPr>
        <p:spPr>
          <a:xfrm>
            <a:off x="900113" y="1412776"/>
            <a:ext cx="7560319" cy="1631216"/>
          </a:xfrm>
          <a:prstGeom prst="rect">
            <a:avLst/>
          </a:prstGeom>
        </p:spPr>
        <p:txBody>
          <a:bodyPr wrap="square">
            <a:spAutoFit/>
          </a:bodyPr>
          <a:lstStyle/>
          <a:p>
            <a:r>
              <a:rPr lang="en-US" sz="2000" b="1" dirty="0" err="1"/>
              <a:t>Chaque</a:t>
            </a:r>
            <a:r>
              <a:rPr lang="en-US" sz="2000" b="1" dirty="0"/>
              <a:t> installation de KNX a </a:t>
            </a:r>
            <a:r>
              <a:rPr lang="en-US" sz="2000" b="1" dirty="0" err="1"/>
              <a:t>ses</a:t>
            </a:r>
            <a:r>
              <a:rPr lang="en-US" sz="2000" b="1" dirty="0"/>
              <a:t> </a:t>
            </a:r>
            <a:r>
              <a:rPr lang="en-US" sz="2000" b="1" dirty="0" err="1"/>
              <a:t>propres</a:t>
            </a:r>
            <a:r>
              <a:rPr lang="en-US" sz="2000" b="1" dirty="0"/>
              <a:t> exigences</a:t>
            </a:r>
          </a:p>
          <a:p>
            <a:endParaRPr lang="en-US" sz="2000" b="1" dirty="0"/>
          </a:p>
          <a:p>
            <a:r>
              <a:rPr lang="en-US" sz="2000" b="1" dirty="0"/>
              <a:t>Le module </a:t>
            </a:r>
            <a:r>
              <a:rPr lang="en-US" sz="2000" b="1" dirty="0" err="1"/>
              <a:t>logique</a:t>
            </a:r>
            <a:r>
              <a:rPr lang="en-US" sz="2000" b="1" dirty="0"/>
              <a:t> </a:t>
            </a:r>
            <a:r>
              <a:rPr lang="en-US" sz="2000" b="1" dirty="0" err="1"/>
              <a:t>offre</a:t>
            </a:r>
            <a:r>
              <a:rPr lang="en-US" sz="2000" b="1" dirty="0"/>
              <a:t> des </a:t>
            </a:r>
            <a:r>
              <a:rPr lang="en-US" sz="2000" b="1" dirty="0" err="1"/>
              <a:t>fonctions</a:t>
            </a:r>
            <a:r>
              <a:rPr lang="en-US" sz="2000" b="1" dirty="0"/>
              <a:t> qui ne </a:t>
            </a:r>
            <a:r>
              <a:rPr lang="en-US" sz="2000" b="1" dirty="0" err="1"/>
              <a:t>sont</a:t>
            </a:r>
            <a:r>
              <a:rPr lang="en-US" sz="2000" b="1" dirty="0"/>
              <a:t> pas </a:t>
            </a:r>
            <a:r>
              <a:rPr lang="en-US" sz="2000" b="1" dirty="0" err="1"/>
              <a:t>possibles</a:t>
            </a:r>
            <a:r>
              <a:rPr lang="en-US" sz="2000" b="1" dirty="0"/>
              <a:t> avec des </a:t>
            </a:r>
            <a:r>
              <a:rPr lang="en-US" sz="2000" b="1" dirty="0" err="1"/>
              <a:t>capteurs</a:t>
            </a:r>
            <a:r>
              <a:rPr lang="en-US" sz="2000" b="1" dirty="0"/>
              <a:t> et des </a:t>
            </a:r>
            <a:r>
              <a:rPr lang="en-US" sz="2000" b="1" dirty="0" err="1"/>
              <a:t>actionneurs</a:t>
            </a:r>
            <a:r>
              <a:rPr lang="en-US" sz="2000" b="1" dirty="0"/>
              <a:t> </a:t>
            </a:r>
            <a:r>
              <a:rPr lang="en-US" sz="2000" b="1" dirty="0" err="1"/>
              <a:t>seuls</a:t>
            </a:r>
            <a:r>
              <a:rPr lang="en-US" sz="2000" b="1" dirty="0"/>
              <a:t> : </a:t>
            </a:r>
            <a:r>
              <a:rPr lang="en-US" sz="2000" b="1" dirty="0" err="1"/>
              <a:t>valeurs</a:t>
            </a:r>
            <a:r>
              <a:rPr lang="en-US" sz="2000" b="1" dirty="0"/>
              <a:t> </a:t>
            </a:r>
            <a:r>
              <a:rPr lang="en-US" sz="2000" b="1" dirty="0" err="1"/>
              <a:t>seuils</a:t>
            </a:r>
            <a:r>
              <a:rPr lang="en-US" sz="2000" b="1" dirty="0"/>
              <a:t> et </a:t>
            </a:r>
            <a:r>
              <a:rPr lang="en-US" sz="2000" b="1" dirty="0" err="1"/>
              <a:t>scènes</a:t>
            </a:r>
            <a:r>
              <a:rPr lang="en-US" sz="2000" b="1" dirty="0"/>
              <a:t>…</a:t>
            </a:r>
          </a:p>
          <a:p>
            <a:endParaRPr lang="en-US" sz="2000" b="1" dirty="0"/>
          </a:p>
        </p:txBody>
      </p:sp>
    </p:spTree>
    <p:extLst>
      <p:ext uri="{BB962C8B-B14F-4D97-AF65-F5344CB8AC3E}">
        <p14:creationId xmlns:p14="http://schemas.microsoft.com/office/powerpoint/2010/main" val="108544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72121" y="260648"/>
            <a:ext cx="6624215" cy="719138"/>
          </a:xfrm>
        </p:spPr>
        <p:txBody>
          <a:bodyPr/>
          <a:lstStyle/>
          <a:p>
            <a:r>
              <a:rPr lang="en-US" dirty="0" err="1"/>
              <a:t>Réglages</a:t>
            </a:r>
            <a:r>
              <a:rPr lang="en-US" dirty="0"/>
              <a:t> des </a:t>
            </a:r>
            <a:r>
              <a:rPr lang="en-US" dirty="0" err="1"/>
              <a:t>Paramètres</a:t>
            </a:r>
            <a:r>
              <a:rPr lang="en-US" dirty="0"/>
              <a:t> </a:t>
            </a:r>
            <a:r>
              <a:rPr lang="en-US" dirty="0" err="1"/>
              <a:t>Disponibles</a:t>
            </a:r>
            <a:r>
              <a:rPr lang="en-US" dirty="0"/>
              <a:t> des Modules </a:t>
            </a:r>
            <a:r>
              <a:rPr lang="en-US" dirty="0" err="1"/>
              <a:t>Logiques</a:t>
            </a:r>
            <a:endParaRPr lang="en-GB" dirty="0"/>
          </a:p>
        </p:txBody>
      </p:sp>
      <p:sp>
        <p:nvSpPr>
          <p:cNvPr id="5" name="Rectangle 4">
            <a:extLst>
              <a:ext uri="{FF2B5EF4-FFF2-40B4-BE49-F238E27FC236}">
                <a16:creationId xmlns:a16="http://schemas.microsoft.com/office/drawing/2014/main" id="{380C158C-6EC6-4FE2-9D8D-F5564ADF44F8}"/>
              </a:ext>
            </a:extLst>
          </p:cNvPr>
          <p:cNvSpPr/>
          <p:nvPr/>
        </p:nvSpPr>
        <p:spPr>
          <a:xfrm>
            <a:off x="900113" y="1412776"/>
            <a:ext cx="7848351" cy="5154744"/>
          </a:xfrm>
          <a:prstGeom prst="rect">
            <a:avLst/>
          </a:prstGeom>
        </p:spPr>
        <p:txBody>
          <a:bodyPr wrap="square">
            <a:spAutoFit/>
          </a:bodyPr>
          <a:lstStyle/>
          <a:p>
            <a:pPr marL="342900" indent="-342900" eaLnBrk="0" hangingPunct="0">
              <a:lnSpc>
                <a:spcPct val="150000"/>
              </a:lnSpc>
              <a:spcBef>
                <a:spcPct val="20000"/>
              </a:spcBef>
              <a:buClr>
                <a:srgbClr val="369226"/>
              </a:buClr>
              <a:buFont typeface="Wingdings" pitchFamily="2" charset="2"/>
              <a:buChar char="§"/>
              <a:defRPr/>
            </a:pPr>
            <a:r>
              <a:rPr lang="en-GB" sz="1600" b="1">
                <a:solidFill>
                  <a:srgbClr val="369226"/>
                </a:solidFill>
              </a:rPr>
              <a:t>Comportement des entrées : </a:t>
            </a:r>
            <a:r>
              <a:rPr lang="en-GB" sz="1600" b="1"/>
              <a:t>Lorsqu'un nouveau télégramme atteint l'entrée, les valeurs sont d'abord enregistrées puis écrasées en conséquence</a:t>
            </a:r>
          </a:p>
          <a:p>
            <a:pPr marL="342900" indent="-342900" eaLnBrk="0" hangingPunct="0">
              <a:lnSpc>
                <a:spcPct val="150000"/>
              </a:lnSpc>
              <a:spcBef>
                <a:spcPct val="20000"/>
              </a:spcBef>
              <a:buClr>
                <a:srgbClr val="369226"/>
              </a:buClr>
              <a:buFont typeface="Wingdings" pitchFamily="2" charset="2"/>
              <a:buChar char="§"/>
              <a:defRPr/>
            </a:pPr>
            <a:endParaRPr lang="en-GB" sz="300" b="1" dirty="0"/>
          </a:p>
          <a:p>
            <a:pPr marL="342900" indent="-342900" eaLnBrk="0" hangingPunct="0">
              <a:lnSpc>
                <a:spcPct val="150000"/>
              </a:lnSpc>
              <a:spcBef>
                <a:spcPct val="20000"/>
              </a:spcBef>
              <a:buClr>
                <a:srgbClr val="369226"/>
              </a:buClr>
              <a:buFont typeface="Wingdings" pitchFamily="2" charset="2"/>
              <a:buChar char="§"/>
              <a:defRPr/>
            </a:pPr>
            <a:r>
              <a:rPr lang="en-US" sz="1600" b="1">
                <a:solidFill>
                  <a:srgbClr val="369226"/>
                </a:solidFill>
              </a:rPr>
              <a:t>Désactiver les objets : </a:t>
            </a:r>
            <a:r>
              <a:rPr lang="en-US" sz="1600" b="1"/>
              <a:t>Bloquer/activer la fonction sur réception d'un télégramme ON/OFF sur l'objet de groupe « xx Désactiver xx »</a:t>
            </a:r>
          </a:p>
          <a:p>
            <a:pPr marL="342900" indent="-342900" eaLnBrk="0" hangingPunct="0">
              <a:lnSpc>
                <a:spcPct val="150000"/>
              </a:lnSpc>
              <a:spcBef>
                <a:spcPct val="20000"/>
              </a:spcBef>
              <a:buClr>
                <a:srgbClr val="369226"/>
              </a:buClr>
              <a:buFont typeface="Wingdings" pitchFamily="2" charset="2"/>
              <a:buChar char="§"/>
              <a:defRPr/>
            </a:pPr>
            <a:endParaRPr lang="en-US" sz="300" b="1" dirty="0"/>
          </a:p>
          <a:p>
            <a:pPr marL="342900" indent="-342900" eaLnBrk="0" hangingPunct="0">
              <a:lnSpc>
                <a:spcPct val="150000"/>
              </a:lnSpc>
              <a:spcBef>
                <a:spcPct val="20000"/>
              </a:spcBef>
              <a:buClr>
                <a:srgbClr val="369226"/>
              </a:buClr>
              <a:buFont typeface="Wingdings" pitchFamily="2" charset="2"/>
              <a:buChar char="§"/>
              <a:defRPr/>
            </a:pPr>
            <a:r>
              <a:rPr lang="en-US" sz="1600" b="1" kern="0">
                <a:solidFill>
                  <a:srgbClr val="369226"/>
                </a:solidFill>
                <a:latin typeface="+mn-lt"/>
                <a:ea typeface="Open Sans" panose="020B0606030504020204" pitchFamily="34" charset="0"/>
                <a:cs typeface="Open Sans" panose="020B0606030504020204" pitchFamily="34" charset="0"/>
              </a:rPr>
              <a:t>Délai d'envoi : </a:t>
            </a:r>
            <a:r>
              <a:rPr lang="en-US" sz="1600" b="1" kern="0">
                <a:latin typeface="+mn-lt"/>
                <a:ea typeface="Open Sans" panose="020B0606030504020204" pitchFamily="34" charset="0"/>
                <a:cs typeface="Open Sans" panose="020B0606030504020204" pitchFamily="34" charset="0"/>
              </a:rPr>
              <a:t>Indique combien de temps le module logique attend avant d'envoyer une nouvelle valeur sous forme de télégramme de sortie</a:t>
            </a:r>
          </a:p>
          <a:p>
            <a:pPr marL="342900" indent="-342900" eaLnBrk="0" hangingPunct="0">
              <a:lnSpc>
                <a:spcPct val="150000"/>
              </a:lnSpc>
              <a:spcBef>
                <a:spcPct val="20000"/>
              </a:spcBef>
              <a:buClr>
                <a:srgbClr val="369226"/>
              </a:buClr>
              <a:buFont typeface="Wingdings" pitchFamily="2" charset="2"/>
              <a:buChar char="§"/>
              <a:defRPr/>
            </a:pPr>
            <a:endParaRPr lang="en-US" sz="300" b="1" kern="0" dirty="0">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1600" b="1" kern="0">
                <a:solidFill>
                  <a:srgbClr val="369226"/>
                </a:solidFill>
                <a:latin typeface="+mn-lt"/>
                <a:ea typeface="Open Sans" panose="020B0606030504020204" pitchFamily="34" charset="0"/>
                <a:cs typeface="Open Sans" panose="020B0606030504020204" pitchFamily="34" charset="0"/>
              </a:rPr>
              <a:t>Envoi cyclique : </a:t>
            </a:r>
            <a:r>
              <a:rPr lang="en-US" sz="1600" b="1" kern="0">
                <a:latin typeface="+mn-lt"/>
                <a:ea typeface="Open Sans" panose="020B0606030504020204" pitchFamily="34" charset="0"/>
                <a:cs typeface="Open Sans" panose="020B0606030504020204" pitchFamily="34" charset="0"/>
              </a:rPr>
              <a:t>Le cycle est maintenu jusqu'à ce qu'une sortie change. Puis il est immédiatement envoyé et le prochain cycle d'envoi est démarré.</a:t>
            </a:r>
          </a:p>
          <a:p>
            <a:pPr marL="342900" indent="-342900" eaLnBrk="0" hangingPunct="0">
              <a:lnSpc>
                <a:spcPct val="150000"/>
              </a:lnSpc>
              <a:spcBef>
                <a:spcPct val="20000"/>
              </a:spcBef>
              <a:buClr>
                <a:srgbClr val="369226"/>
              </a:buClr>
              <a:buFont typeface="Wingdings" pitchFamily="2" charset="2"/>
              <a:buChar char="§"/>
              <a:defRPr/>
            </a:pPr>
            <a:endParaRPr lang="en-US" sz="300" b="1" kern="0" dirty="0">
              <a:solidFill>
                <a:srgbClr val="369226"/>
              </a:solidFill>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itchFamily="2" charset="2"/>
              <a:buChar char="§"/>
              <a:defRPr/>
            </a:pPr>
            <a:r>
              <a:rPr lang="en-US" sz="1600" b="1" kern="0">
                <a:solidFill>
                  <a:srgbClr val="369226"/>
                </a:solidFill>
                <a:latin typeface="+mn-lt"/>
                <a:ea typeface="Open Sans" panose="020B0606030504020204" pitchFamily="34" charset="0"/>
                <a:cs typeface="Open Sans" panose="020B0606030504020204" pitchFamily="34" charset="0"/>
              </a:rPr>
              <a:t>Types de données et types de points de données (DPT) : </a:t>
            </a:r>
            <a:r>
              <a:rPr lang="en-US" sz="1600" b="1" kern="0">
                <a:latin typeface="+mn-lt"/>
                <a:ea typeface="Open Sans" panose="020B0606030504020204" pitchFamily="34" charset="0"/>
                <a:cs typeface="Open Sans" panose="020B0606030504020204" pitchFamily="34" charset="0"/>
              </a:rPr>
              <a:t>Différents types de données peuvent être sélectionnés pour certaines fonctions du module logique</a:t>
            </a:r>
          </a:p>
        </p:txBody>
      </p:sp>
    </p:spTree>
    <p:extLst>
      <p:ext uri="{BB962C8B-B14F-4D97-AF65-F5344CB8AC3E}">
        <p14:creationId xmlns:p14="http://schemas.microsoft.com/office/powerpoint/2010/main" val="517083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Convertisseur de Format</a:t>
            </a:r>
          </a:p>
        </p:txBody>
      </p:sp>
      <p:graphicFrame>
        <p:nvGraphicFramePr>
          <p:cNvPr id="4" name="Object 3">
            <a:extLst>
              <a:ext uri="{FF2B5EF4-FFF2-40B4-BE49-F238E27FC236}">
                <a16:creationId xmlns:a16="http://schemas.microsoft.com/office/drawing/2014/main" id="{30285CD3-646C-402E-BA77-591F31CAB5E0}"/>
              </a:ext>
            </a:extLst>
          </p:cNvPr>
          <p:cNvGraphicFramePr>
            <a:graphicFrameLocks noChangeAspect="1"/>
          </p:cNvGraphicFramePr>
          <p:nvPr/>
        </p:nvGraphicFramePr>
        <p:xfrm>
          <a:off x="1043608" y="1424637"/>
          <a:ext cx="4598683" cy="1792818"/>
        </p:xfrm>
        <a:graphic>
          <a:graphicData uri="http://schemas.openxmlformats.org/presentationml/2006/ole">
            <mc:AlternateContent xmlns:mc="http://schemas.openxmlformats.org/markup-compatibility/2006">
              <mc:Choice xmlns:v="urn:schemas-microsoft-com:vml" Requires="v">
                <p:oleObj r:id="rId3" imgW="9351417" imgH="3639602" progId="Visio.Drawing.15">
                  <p:embed/>
                </p:oleObj>
              </mc:Choice>
              <mc:Fallback>
                <p:oleObj r:id="rId3" imgW="9351417" imgH="3639602" progId="Visio.Drawing.15">
                  <p:embed/>
                  <p:pic>
                    <p:nvPicPr>
                      <p:cNvPr id="4" name="Object 3">
                        <a:extLst>
                          <a:ext uri="{FF2B5EF4-FFF2-40B4-BE49-F238E27FC236}">
                            <a16:creationId xmlns:a16="http://schemas.microsoft.com/office/drawing/2014/main" id="{30285CD3-646C-402E-BA77-591F31CAB5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424637"/>
                        <a:ext cx="4598683" cy="1792818"/>
                      </a:xfrm>
                      <a:prstGeom prst="rect">
                        <a:avLst/>
                      </a:prstGeom>
                      <a:noFill/>
                      <a:ln>
                        <a:solidFill>
                          <a:schemeClr val="accent1"/>
                        </a:solidFill>
                      </a:ln>
                    </p:spPr>
                  </p:pic>
                </p:oleObj>
              </mc:Fallback>
            </mc:AlternateContent>
          </a:graphicData>
        </a:graphic>
      </p:graphicFrame>
      <p:pic>
        <p:nvPicPr>
          <p:cNvPr id="5" name="Picture 4">
            <a:extLst>
              <a:ext uri="{FF2B5EF4-FFF2-40B4-BE49-F238E27FC236}">
                <a16:creationId xmlns:a16="http://schemas.microsoft.com/office/drawing/2014/main" id="{210384ED-F878-4288-AC7D-DDA3FC6153EA}"/>
              </a:ext>
            </a:extLst>
          </p:cNvPr>
          <p:cNvPicPr>
            <a:picLocks noChangeAspect="1"/>
          </p:cNvPicPr>
          <p:nvPr/>
        </p:nvPicPr>
        <p:blipFill>
          <a:blip r:embed="rId5"/>
          <a:stretch>
            <a:fillRect/>
          </a:stretch>
        </p:blipFill>
        <p:spPr>
          <a:xfrm>
            <a:off x="1075584" y="4989436"/>
            <a:ext cx="6961568" cy="1392314"/>
          </a:xfrm>
          <a:prstGeom prst="rect">
            <a:avLst/>
          </a:prstGeom>
          <a:ln>
            <a:solidFill>
              <a:schemeClr val="accent1"/>
            </a:solidFill>
          </a:ln>
        </p:spPr>
      </p:pic>
      <p:sp>
        <p:nvSpPr>
          <p:cNvPr id="7" name="Rectangle 6">
            <a:extLst>
              <a:ext uri="{FF2B5EF4-FFF2-40B4-BE49-F238E27FC236}">
                <a16:creationId xmlns:a16="http://schemas.microsoft.com/office/drawing/2014/main" id="{4D307B3A-8C37-498D-AE30-CBFCD0E2859B}"/>
              </a:ext>
            </a:extLst>
          </p:cNvPr>
          <p:cNvSpPr/>
          <p:nvPr/>
        </p:nvSpPr>
        <p:spPr>
          <a:xfrm>
            <a:off x="5868144" y="1412776"/>
            <a:ext cx="2592288" cy="1200329"/>
          </a:xfrm>
          <a:prstGeom prst="rect">
            <a:avLst/>
          </a:prstGeom>
        </p:spPr>
        <p:txBody>
          <a:bodyPr wrap="square">
            <a:spAutoFit/>
          </a:bodyPr>
          <a:lstStyle/>
          <a:p>
            <a:r>
              <a:rPr lang="en-GB" b="1" dirty="0" err="1"/>
              <a:t>Paramètres</a:t>
            </a:r>
            <a:r>
              <a:rPr lang="en-GB" b="1" dirty="0"/>
              <a:t> pour la </a:t>
            </a:r>
            <a:r>
              <a:rPr lang="en-GB" b="1" dirty="0" err="1"/>
              <a:t>fonction</a:t>
            </a:r>
            <a:r>
              <a:rPr lang="en-GB" b="1" dirty="0"/>
              <a:t> " </a:t>
            </a:r>
            <a:r>
              <a:rPr lang="en-GB" b="1" dirty="0" err="1"/>
              <a:t>Convertisseur</a:t>
            </a:r>
            <a:r>
              <a:rPr lang="en-GB" b="1" dirty="0"/>
              <a:t> de Format " </a:t>
            </a:r>
          </a:p>
        </p:txBody>
      </p:sp>
      <p:sp>
        <p:nvSpPr>
          <p:cNvPr id="8" name="Rectangle 7">
            <a:extLst>
              <a:ext uri="{FF2B5EF4-FFF2-40B4-BE49-F238E27FC236}">
                <a16:creationId xmlns:a16="http://schemas.microsoft.com/office/drawing/2014/main" id="{19A7AB23-5484-4440-8B0E-5582A0C62408}"/>
              </a:ext>
            </a:extLst>
          </p:cNvPr>
          <p:cNvSpPr/>
          <p:nvPr/>
        </p:nvSpPr>
        <p:spPr>
          <a:xfrm>
            <a:off x="900113" y="3429000"/>
            <a:ext cx="7722862" cy="1287532"/>
          </a:xfrm>
          <a:prstGeom prst="rect">
            <a:avLst/>
          </a:prstGeom>
        </p:spPr>
        <p:txBody>
          <a:bodyPr wrap="square">
            <a:spAutoFit/>
          </a:bodyPr>
          <a:lstStyle/>
          <a:p>
            <a:pPr>
              <a:lnSpc>
                <a:spcPct val="150000"/>
              </a:lnSpc>
            </a:pPr>
            <a:r>
              <a:rPr lang="en-US" b="1" dirty="0"/>
              <a:t>Il </a:t>
            </a:r>
            <a:r>
              <a:rPr lang="en-US" b="1" dirty="0" err="1"/>
              <a:t>décompose</a:t>
            </a:r>
            <a:r>
              <a:rPr lang="en-US" b="1" dirty="0"/>
              <a:t> un </a:t>
            </a:r>
            <a:r>
              <a:rPr lang="en-US" b="1" dirty="0" err="1"/>
              <a:t>télégramme</a:t>
            </a:r>
            <a:r>
              <a:rPr lang="en-US" b="1" dirty="0"/>
              <a:t> </a:t>
            </a:r>
            <a:r>
              <a:rPr lang="en-US" b="1" dirty="0" err="1"/>
              <a:t>d'entrée</a:t>
            </a:r>
            <a:r>
              <a:rPr lang="en-US" b="1" dirty="0"/>
              <a:t> </a:t>
            </a:r>
            <a:r>
              <a:rPr lang="en-US" b="1" dirty="0" err="1"/>
              <a:t>en</a:t>
            </a:r>
            <a:r>
              <a:rPr lang="en-US" b="1" dirty="0"/>
              <a:t> </a:t>
            </a:r>
            <a:r>
              <a:rPr lang="en-US" b="1" dirty="0" err="1"/>
              <a:t>plusieurs</a:t>
            </a:r>
            <a:r>
              <a:rPr lang="en-US" b="1" dirty="0"/>
              <a:t> </a:t>
            </a:r>
            <a:r>
              <a:rPr lang="en-US" b="1" dirty="0" err="1"/>
              <a:t>télégrammes</a:t>
            </a:r>
            <a:r>
              <a:rPr lang="en-US" b="1" dirty="0"/>
              <a:t> de sortie d'un format </a:t>
            </a:r>
            <a:r>
              <a:rPr lang="en-US" b="1" dirty="0" err="1"/>
              <a:t>différent</a:t>
            </a:r>
            <a:r>
              <a:rPr lang="en-US" b="1" dirty="0"/>
              <a:t> </a:t>
            </a:r>
            <a:r>
              <a:rPr lang="en-US" b="1" dirty="0" err="1"/>
              <a:t>ou</a:t>
            </a:r>
            <a:r>
              <a:rPr lang="en-US" b="1" dirty="0"/>
              <a:t> </a:t>
            </a:r>
            <a:r>
              <a:rPr lang="en-US" b="1" dirty="0" err="1"/>
              <a:t>génère</a:t>
            </a:r>
            <a:r>
              <a:rPr lang="en-US" b="1" dirty="0"/>
              <a:t> un </a:t>
            </a:r>
            <a:r>
              <a:rPr lang="en-US" b="1" dirty="0" err="1"/>
              <a:t>télégramme</a:t>
            </a:r>
            <a:r>
              <a:rPr lang="en-US" b="1" dirty="0"/>
              <a:t> de sortie à </a:t>
            </a:r>
            <a:r>
              <a:rPr lang="en-US" b="1" dirty="0" err="1"/>
              <a:t>partir</a:t>
            </a:r>
            <a:r>
              <a:rPr lang="en-US" b="1" dirty="0"/>
              <a:t> de </a:t>
            </a:r>
            <a:r>
              <a:rPr lang="en-US" b="1" dirty="0" err="1"/>
              <a:t>plusieurs</a:t>
            </a:r>
            <a:r>
              <a:rPr lang="en-US" b="1" dirty="0"/>
              <a:t> </a:t>
            </a:r>
            <a:r>
              <a:rPr lang="en-US" b="1" dirty="0" err="1"/>
              <a:t>télégrammes</a:t>
            </a:r>
            <a:r>
              <a:rPr lang="en-US" b="1" dirty="0"/>
              <a:t> </a:t>
            </a:r>
            <a:r>
              <a:rPr lang="en-US" b="1" dirty="0" err="1"/>
              <a:t>d'entrée</a:t>
            </a:r>
            <a:r>
              <a:rPr lang="en-US" b="1" dirty="0"/>
              <a:t> d'un </a:t>
            </a:r>
            <a:r>
              <a:rPr lang="en-US" b="1" dirty="0" err="1"/>
              <a:t>autre</a:t>
            </a:r>
            <a:r>
              <a:rPr lang="en-US" b="1" dirty="0"/>
              <a:t> format</a:t>
            </a:r>
            <a:endParaRPr lang="es-ES" b="1" dirty="0"/>
          </a:p>
        </p:txBody>
      </p:sp>
    </p:spTree>
    <p:extLst>
      <p:ext uri="{BB962C8B-B14F-4D97-AF65-F5344CB8AC3E}">
        <p14:creationId xmlns:p14="http://schemas.microsoft.com/office/powerpoint/2010/main" val="3231880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Portes Logiques</a:t>
            </a:r>
            <a:endParaRPr lang="en-GB" dirty="0"/>
          </a:p>
        </p:txBody>
      </p:sp>
      <p:sp>
        <p:nvSpPr>
          <p:cNvPr id="2" name="Rectangle 1">
            <a:extLst>
              <a:ext uri="{FF2B5EF4-FFF2-40B4-BE49-F238E27FC236}">
                <a16:creationId xmlns:a16="http://schemas.microsoft.com/office/drawing/2014/main" id="{46DD7D2C-3636-4710-9593-270E3240E055}"/>
              </a:ext>
            </a:extLst>
          </p:cNvPr>
          <p:cNvSpPr/>
          <p:nvPr/>
        </p:nvSpPr>
        <p:spPr>
          <a:xfrm>
            <a:off x="900112" y="1628800"/>
            <a:ext cx="7632328" cy="958660"/>
          </a:xfrm>
          <a:prstGeom prst="rect">
            <a:avLst/>
          </a:prstGeom>
        </p:spPr>
        <p:txBody>
          <a:bodyPr wrap="square">
            <a:spAutoFit/>
          </a:bodyPr>
          <a:lstStyle/>
          <a:p>
            <a:pPr>
              <a:lnSpc>
                <a:spcPct val="150000"/>
              </a:lnSpc>
            </a:pPr>
            <a:r>
              <a:rPr lang="en-US" sz="2000" b="1"/>
              <a:t>Utilisé pour traiter logiquement les états de l'installation KNX qui sont signalés via des télégrammes </a:t>
            </a:r>
            <a:endParaRPr lang="es-ES" sz="2000" b="1" dirty="0"/>
          </a:p>
        </p:txBody>
      </p:sp>
      <p:pic>
        <p:nvPicPr>
          <p:cNvPr id="4" name="Picture 3">
            <a:extLst>
              <a:ext uri="{FF2B5EF4-FFF2-40B4-BE49-F238E27FC236}">
                <a16:creationId xmlns:a16="http://schemas.microsoft.com/office/drawing/2014/main" id="{3E348F3F-4C28-4767-B22E-763A61B8C67A}"/>
              </a:ext>
            </a:extLst>
          </p:cNvPr>
          <p:cNvPicPr>
            <a:picLocks noChangeAspect="1"/>
          </p:cNvPicPr>
          <p:nvPr/>
        </p:nvPicPr>
        <p:blipFill>
          <a:blip r:embed="rId3"/>
          <a:stretch>
            <a:fillRect/>
          </a:stretch>
        </p:blipFill>
        <p:spPr>
          <a:xfrm>
            <a:off x="1176501" y="3010212"/>
            <a:ext cx="7079549" cy="2520657"/>
          </a:xfrm>
          <a:prstGeom prst="rect">
            <a:avLst/>
          </a:prstGeom>
          <a:ln>
            <a:solidFill>
              <a:schemeClr val="accent1"/>
            </a:solidFill>
          </a:ln>
        </p:spPr>
      </p:pic>
    </p:spTree>
    <p:extLst>
      <p:ext uri="{BB962C8B-B14F-4D97-AF65-F5344CB8AC3E}">
        <p14:creationId xmlns:p14="http://schemas.microsoft.com/office/powerpoint/2010/main" val="132123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Indication de la valeur Min/Max</a:t>
            </a:r>
            <a:endParaRPr lang="en-GB" dirty="0"/>
          </a:p>
        </p:txBody>
      </p:sp>
      <p:sp>
        <p:nvSpPr>
          <p:cNvPr id="2" name="Rectangle 1">
            <a:extLst>
              <a:ext uri="{FF2B5EF4-FFF2-40B4-BE49-F238E27FC236}">
                <a16:creationId xmlns:a16="http://schemas.microsoft.com/office/drawing/2014/main" id="{BF9C909C-745E-4BA6-B1BB-89CC7B35D7DB}"/>
              </a:ext>
            </a:extLst>
          </p:cNvPr>
          <p:cNvSpPr/>
          <p:nvPr/>
        </p:nvSpPr>
        <p:spPr>
          <a:xfrm>
            <a:off x="886858" y="1628800"/>
            <a:ext cx="7501565" cy="958660"/>
          </a:xfrm>
          <a:prstGeom prst="rect">
            <a:avLst/>
          </a:prstGeom>
        </p:spPr>
        <p:txBody>
          <a:bodyPr wrap="square">
            <a:spAutoFit/>
          </a:bodyPr>
          <a:lstStyle/>
          <a:p>
            <a:pPr>
              <a:lnSpc>
                <a:spcPct val="150000"/>
              </a:lnSpc>
            </a:pPr>
            <a:r>
              <a:rPr lang="en-US" sz="2000" b="1"/>
              <a:t>Avec l'indication de la valeur min/max, la plus grande valeur est déterminée à partir de 2 télégrammes envoyés </a:t>
            </a:r>
            <a:endParaRPr lang="es-ES" sz="2000" b="1" dirty="0"/>
          </a:p>
        </p:txBody>
      </p:sp>
      <p:pic>
        <p:nvPicPr>
          <p:cNvPr id="4" name="Picture 3">
            <a:extLst>
              <a:ext uri="{FF2B5EF4-FFF2-40B4-BE49-F238E27FC236}">
                <a16:creationId xmlns:a16="http://schemas.microsoft.com/office/drawing/2014/main" id="{D76FEC21-34BA-4428-9472-E0BCDB8C528C}"/>
              </a:ext>
            </a:extLst>
          </p:cNvPr>
          <p:cNvPicPr>
            <a:picLocks noChangeAspect="1"/>
          </p:cNvPicPr>
          <p:nvPr/>
        </p:nvPicPr>
        <p:blipFill>
          <a:blip r:embed="rId3"/>
          <a:stretch>
            <a:fillRect/>
          </a:stretch>
        </p:blipFill>
        <p:spPr>
          <a:xfrm>
            <a:off x="1163680" y="2840919"/>
            <a:ext cx="6816639" cy="2392211"/>
          </a:xfrm>
          <a:prstGeom prst="rect">
            <a:avLst/>
          </a:prstGeom>
          <a:ln>
            <a:solidFill>
              <a:schemeClr val="accent1"/>
            </a:solidFill>
          </a:ln>
        </p:spPr>
      </p:pic>
    </p:spTree>
    <p:extLst>
      <p:ext uri="{BB962C8B-B14F-4D97-AF65-F5344CB8AC3E}">
        <p14:creationId xmlns:p14="http://schemas.microsoft.com/office/powerpoint/2010/main" val="201655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Détection de la Valeur Seuil</a:t>
            </a:r>
            <a:endParaRPr lang="en-GB" dirty="0"/>
          </a:p>
        </p:txBody>
      </p:sp>
      <p:sp>
        <p:nvSpPr>
          <p:cNvPr id="2" name="Rectangle 1">
            <a:extLst>
              <a:ext uri="{FF2B5EF4-FFF2-40B4-BE49-F238E27FC236}">
                <a16:creationId xmlns:a16="http://schemas.microsoft.com/office/drawing/2014/main" id="{BF9C909C-745E-4BA6-B1BB-89CC7B35D7DB}"/>
              </a:ext>
            </a:extLst>
          </p:cNvPr>
          <p:cNvSpPr/>
          <p:nvPr/>
        </p:nvSpPr>
        <p:spPr>
          <a:xfrm>
            <a:off x="886858" y="1628800"/>
            <a:ext cx="7501565" cy="958660"/>
          </a:xfrm>
          <a:prstGeom prst="rect">
            <a:avLst/>
          </a:prstGeom>
        </p:spPr>
        <p:txBody>
          <a:bodyPr wrap="square">
            <a:spAutoFit/>
          </a:bodyPr>
          <a:lstStyle/>
          <a:p>
            <a:pPr>
              <a:lnSpc>
                <a:spcPct val="150000"/>
              </a:lnSpc>
            </a:pPr>
            <a:r>
              <a:rPr lang="en-US" sz="2000" b="1" dirty="0" err="1"/>
              <a:t>Utilisé</a:t>
            </a:r>
            <a:r>
              <a:rPr lang="en-US" sz="2000" b="1" dirty="0"/>
              <a:t> pour </a:t>
            </a:r>
            <a:r>
              <a:rPr lang="en-US" sz="2000" b="1" dirty="0" err="1"/>
              <a:t>détecter</a:t>
            </a:r>
            <a:r>
              <a:rPr lang="en-US" sz="2000" b="1" dirty="0"/>
              <a:t> </a:t>
            </a:r>
            <a:r>
              <a:rPr lang="en-US" sz="2000" b="1" dirty="0" err="1"/>
              <a:t>si</a:t>
            </a:r>
            <a:r>
              <a:rPr lang="en-US" sz="2000" b="1" dirty="0"/>
              <a:t> </a:t>
            </a:r>
            <a:r>
              <a:rPr lang="en-US" sz="2000" b="1" dirty="0" err="1"/>
              <a:t>une</a:t>
            </a:r>
            <a:r>
              <a:rPr lang="en-US" sz="2000" b="1" dirty="0"/>
              <a:t> </a:t>
            </a:r>
            <a:r>
              <a:rPr lang="en-US" sz="2000" b="1" dirty="0" err="1"/>
              <a:t>valeur</a:t>
            </a:r>
            <a:r>
              <a:rPr lang="en-US" sz="2000" b="1" dirty="0"/>
              <a:t> </a:t>
            </a:r>
            <a:r>
              <a:rPr lang="en-US" sz="2000" b="1" dirty="0" err="1"/>
              <a:t>dépasse</a:t>
            </a:r>
            <a:r>
              <a:rPr lang="en-US" sz="2000" b="1" dirty="0"/>
              <a:t>/</a:t>
            </a:r>
            <a:r>
              <a:rPr lang="en-US" sz="2000" b="1" dirty="0" err="1"/>
              <a:t>tombe</a:t>
            </a:r>
            <a:r>
              <a:rPr lang="en-US" sz="2000" b="1" dirty="0"/>
              <a:t> </a:t>
            </a:r>
            <a:r>
              <a:rPr lang="en-US" sz="2000" b="1" dirty="0" err="1"/>
              <a:t>en</a:t>
            </a:r>
            <a:r>
              <a:rPr lang="en-US" sz="2000" b="1" dirty="0"/>
              <a:t> dessous </a:t>
            </a:r>
            <a:r>
              <a:rPr lang="en-US" sz="2000" b="1" dirty="0" err="1"/>
              <a:t>d'une</a:t>
            </a:r>
            <a:r>
              <a:rPr lang="en-US" sz="2000" b="1" dirty="0"/>
              <a:t> </a:t>
            </a:r>
            <a:r>
              <a:rPr lang="en-US" sz="2000" b="1" dirty="0" err="1"/>
              <a:t>valeur</a:t>
            </a:r>
            <a:r>
              <a:rPr lang="en-US" sz="2000" b="1" dirty="0"/>
              <a:t> </a:t>
            </a:r>
            <a:r>
              <a:rPr lang="en-US" sz="2000" b="1" dirty="0" err="1"/>
              <a:t>seuil</a:t>
            </a:r>
            <a:r>
              <a:rPr lang="en-US" sz="2000" b="1" dirty="0"/>
              <a:t> </a:t>
            </a:r>
            <a:r>
              <a:rPr lang="en-US" sz="2000" b="1" dirty="0" err="1"/>
              <a:t>définie</a:t>
            </a:r>
            <a:endParaRPr lang="es-ES" sz="2000" b="1" dirty="0"/>
          </a:p>
        </p:txBody>
      </p:sp>
      <p:pic>
        <p:nvPicPr>
          <p:cNvPr id="5" name="Picture 4">
            <a:extLst>
              <a:ext uri="{FF2B5EF4-FFF2-40B4-BE49-F238E27FC236}">
                <a16:creationId xmlns:a16="http://schemas.microsoft.com/office/drawing/2014/main" id="{B8392E65-4D3D-4EA7-B314-911ACBED56CC}"/>
              </a:ext>
            </a:extLst>
          </p:cNvPr>
          <p:cNvPicPr>
            <a:picLocks noChangeAspect="1"/>
          </p:cNvPicPr>
          <p:nvPr/>
        </p:nvPicPr>
        <p:blipFill>
          <a:blip r:embed="rId3"/>
          <a:stretch>
            <a:fillRect/>
          </a:stretch>
        </p:blipFill>
        <p:spPr>
          <a:xfrm>
            <a:off x="1331640" y="2924944"/>
            <a:ext cx="6892686" cy="2952328"/>
          </a:xfrm>
          <a:prstGeom prst="rect">
            <a:avLst/>
          </a:prstGeom>
          <a:ln>
            <a:solidFill>
              <a:schemeClr val="accent1"/>
            </a:solidFill>
          </a:ln>
        </p:spPr>
      </p:pic>
    </p:spTree>
    <p:extLst>
      <p:ext uri="{BB962C8B-B14F-4D97-AF65-F5344CB8AC3E}">
        <p14:creationId xmlns:p14="http://schemas.microsoft.com/office/powerpoint/2010/main" val="953657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Scènes</a:t>
            </a:r>
            <a:endParaRPr lang="en-GB" dirty="0"/>
          </a:p>
        </p:txBody>
      </p:sp>
      <p:sp>
        <p:nvSpPr>
          <p:cNvPr id="2" name="Rectangle 1">
            <a:extLst>
              <a:ext uri="{FF2B5EF4-FFF2-40B4-BE49-F238E27FC236}">
                <a16:creationId xmlns:a16="http://schemas.microsoft.com/office/drawing/2014/main" id="{BF9C909C-745E-4BA6-B1BB-89CC7B35D7DB}"/>
              </a:ext>
            </a:extLst>
          </p:cNvPr>
          <p:cNvSpPr/>
          <p:nvPr/>
        </p:nvSpPr>
        <p:spPr>
          <a:xfrm>
            <a:off x="936104" y="1377906"/>
            <a:ext cx="7789598" cy="1287532"/>
          </a:xfrm>
          <a:prstGeom prst="rect">
            <a:avLst/>
          </a:prstGeom>
        </p:spPr>
        <p:txBody>
          <a:bodyPr wrap="square">
            <a:spAutoFit/>
          </a:bodyPr>
          <a:lstStyle/>
          <a:p>
            <a:pPr>
              <a:lnSpc>
                <a:spcPct val="150000"/>
              </a:lnSpc>
            </a:pPr>
            <a:r>
              <a:rPr lang="en-US" b="1"/>
              <a:t>Utilisé pour récupérer les paramètres par défaut. Le type de données est défini une fois pour chaque édition. Des valeurs différentes peuvent alors être attribuées à ces sorties dans chaque scène</a:t>
            </a:r>
            <a:endParaRPr lang="es-ES" b="1" dirty="0"/>
          </a:p>
        </p:txBody>
      </p:sp>
      <p:pic>
        <p:nvPicPr>
          <p:cNvPr id="4" name="Picture 3">
            <a:extLst>
              <a:ext uri="{FF2B5EF4-FFF2-40B4-BE49-F238E27FC236}">
                <a16:creationId xmlns:a16="http://schemas.microsoft.com/office/drawing/2014/main" id="{11BF5876-DFD2-4565-A500-AE738A6D4F6D}"/>
              </a:ext>
            </a:extLst>
          </p:cNvPr>
          <p:cNvPicPr>
            <a:picLocks noChangeAspect="1"/>
          </p:cNvPicPr>
          <p:nvPr/>
        </p:nvPicPr>
        <p:blipFill>
          <a:blip r:embed="rId3"/>
          <a:stretch>
            <a:fillRect/>
          </a:stretch>
        </p:blipFill>
        <p:spPr>
          <a:xfrm>
            <a:off x="982816" y="2852936"/>
            <a:ext cx="3705018" cy="1164487"/>
          </a:xfrm>
          <a:prstGeom prst="rect">
            <a:avLst/>
          </a:prstGeom>
          <a:ln>
            <a:solidFill>
              <a:schemeClr val="accent1"/>
            </a:solidFill>
          </a:ln>
        </p:spPr>
      </p:pic>
      <p:pic>
        <p:nvPicPr>
          <p:cNvPr id="6" name="Picture 5">
            <a:extLst>
              <a:ext uri="{FF2B5EF4-FFF2-40B4-BE49-F238E27FC236}">
                <a16:creationId xmlns:a16="http://schemas.microsoft.com/office/drawing/2014/main" id="{36D084F0-223D-4E50-A9CE-D8FF804B2CA8}"/>
              </a:ext>
            </a:extLst>
          </p:cNvPr>
          <p:cNvPicPr>
            <a:picLocks noChangeAspect="1"/>
          </p:cNvPicPr>
          <p:nvPr/>
        </p:nvPicPr>
        <p:blipFill>
          <a:blip r:embed="rId4"/>
          <a:stretch>
            <a:fillRect/>
          </a:stretch>
        </p:blipFill>
        <p:spPr>
          <a:xfrm>
            <a:off x="4978474" y="2852937"/>
            <a:ext cx="3708637" cy="1164486"/>
          </a:xfrm>
          <a:prstGeom prst="rect">
            <a:avLst/>
          </a:prstGeom>
          <a:ln>
            <a:solidFill>
              <a:schemeClr val="accent1"/>
            </a:solidFill>
          </a:ln>
        </p:spPr>
      </p:pic>
      <p:pic>
        <p:nvPicPr>
          <p:cNvPr id="7" name="Picture 6">
            <a:extLst>
              <a:ext uri="{FF2B5EF4-FFF2-40B4-BE49-F238E27FC236}">
                <a16:creationId xmlns:a16="http://schemas.microsoft.com/office/drawing/2014/main" id="{54556918-6C92-445E-BE98-6272598BACEF}"/>
              </a:ext>
            </a:extLst>
          </p:cNvPr>
          <p:cNvPicPr>
            <a:picLocks noChangeAspect="1"/>
          </p:cNvPicPr>
          <p:nvPr/>
        </p:nvPicPr>
        <p:blipFill>
          <a:blip r:embed="rId5"/>
          <a:stretch>
            <a:fillRect/>
          </a:stretch>
        </p:blipFill>
        <p:spPr>
          <a:xfrm>
            <a:off x="982816" y="4910104"/>
            <a:ext cx="3705018" cy="1023796"/>
          </a:xfrm>
          <a:prstGeom prst="rect">
            <a:avLst/>
          </a:prstGeom>
          <a:ln>
            <a:solidFill>
              <a:schemeClr val="accent1"/>
            </a:solidFill>
          </a:ln>
        </p:spPr>
      </p:pic>
      <p:sp>
        <p:nvSpPr>
          <p:cNvPr id="8" name="Rectangle 7">
            <a:extLst>
              <a:ext uri="{FF2B5EF4-FFF2-40B4-BE49-F238E27FC236}">
                <a16:creationId xmlns:a16="http://schemas.microsoft.com/office/drawing/2014/main" id="{5A52EA69-C209-4617-A9F3-461931791996}"/>
              </a:ext>
            </a:extLst>
          </p:cNvPr>
          <p:cNvSpPr/>
          <p:nvPr/>
        </p:nvSpPr>
        <p:spPr>
          <a:xfrm>
            <a:off x="936104" y="5949280"/>
            <a:ext cx="4211960" cy="369754"/>
          </a:xfrm>
          <a:prstGeom prst="rect">
            <a:avLst/>
          </a:prstGeom>
        </p:spPr>
        <p:txBody>
          <a:bodyPr wrap="square">
            <a:spAutoFit/>
          </a:bodyPr>
          <a:lstStyle/>
          <a:p>
            <a:r>
              <a:rPr lang="en-US" b="1" dirty="0" err="1"/>
              <a:t>Paramètres</a:t>
            </a:r>
            <a:r>
              <a:rPr lang="en-US" b="1" dirty="0"/>
              <a:t> (extrait) de la ' </a:t>
            </a:r>
            <a:r>
              <a:rPr lang="en-US" b="1" dirty="0" err="1"/>
              <a:t>Scène</a:t>
            </a:r>
            <a:r>
              <a:rPr lang="en-US" b="1" dirty="0"/>
              <a:t> 1 '</a:t>
            </a:r>
          </a:p>
        </p:txBody>
      </p:sp>
      <p:sp>
        <p:nvSpPr>
          <p:cNvPr id="9" name="Rectangle 8">
            <a:extLst>
              <a:ext uri="{FF2B5EF4-FFF2-40B4-BE49-F238E27FC236}">
                <a16:creationId xmlns:a16="http://schemas.microsoft.com/office/drawing/2014/main" id="{B57FBAA8-91E7-49C4-8625-A2D4CE8C5E77}"/>
              </a:ext>
            </a:extLst>
          </p:cNvPr>
          <p:cNvSpPr/>
          <p:nvPr/>
        </p:nvSpPr>
        <p:spPr>
          <a:xfrm>
            <a:off x="4945688" y="4018712"/>
            <a:ext cx="3805685" cy="646331"/>
          </a:xfrm>
          <a:prstGeom prst="rect">
            <a:avLst/>
          </a:prstGeom>
        </p:spPr>
        <p:txBody>
          <a:bodyPr wrap="square">
            <a:spAutoFit/>
          </a:bodyPr>
          <a:lstStyle/>
          <a:p>
            <a:r>
              <a:rPr lang="en-US" b="1"/>
              <a:t>Paramètres (extrait) de ' Sorties de Scène '</a:t>
            </a:r>
          </a:p>
        </p:txBody>
      </p:sp>
      <p:sp>
        <p:nvSpPr>
          <p:cNvPr id="10" name="Rectangle 9">
            <a:extLst>
              <a:ext uri="{FF2B5EF4-FFF2-40B4-BE49-F238E27FC236}">
                <a16:creationId xmlns:a16="http://schemas.microsoft.com/office/drawing/2014/main" id="{9F581335-681D-4979-BE94-C9CAC05CA722}"/>
              </a:ext>
            </a:extLst>
          </p:cNvPr>
          <p:cNvSpPr/>
          <p:nvPr/>
        </p:nvSpPr>
        <p:spPr>
          <a:xfrm>
            <a:off x="963400" y="4018712"/>
            <a:ext cx="3705018" cy="646331"/>
          </a:xfrm>
          <a:prstGeom prst="rect">
            <a:avLst/>
          </a:prstGeom>
        </p:spPr>
        <p:txBody>
          <a:bodyPr wrap="square">
            <a:spAutoFit/>
          </a:bodyPr>
          <a:lstStyle/>
          <a:p>
            <a:pPr lvl="0" eaLnBrk="0" hangingPunct="0">
              <a:spcBef>
                <a:spcPct val="30000"/>
              </a:spcBef>
              <a:defRPr/>
            </a:pPr>
            <a:r>
              <a:rPr lang="en-GB" b="1"/>
              <a:t>Paramètres (extrait) de ' Scènes Communes '</a:t>
            </a:r>
            <a:endParaRPr lang="es-ES" b="1" dirty="0"/>
          </a:p>
        </p:txBody>
      </p:sp>
    </p:spTree>
    <p:extLst>
      <p:ext uri="{BB962C8B-B14F-4D97-AF65-F5344CB8AC3E}">
        <p14:creationId xmlns:p14="http://schemas.microsoft.com/office/powerpoint/2010/main" val="95268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Comparateur de Température</a:t>
            </a:r>
            <a:endParaRPr lang="en-GB" dirty="0"/>
          </a:p>
        </p:txBody>
      </p:sp>
      <p:sp>
        <p:nvSpPr>
          <p:cNvPr id="4" name="Rectangle 3">
            <a:extLst>
              <a:ext uri="{FF2B5EF4-FFF2-40B4-BE49-F238E27FC236}">
                <a16:creationId xmlns:a16="http://schemas.microsoft.com/office/drawing/2014/main" id="{160BC1FD-D06F-4B70-90E2-C6E7FE0B63BF}"/>
              </a:ext>
            </a:extLst>
          </p:cNvPr>
          <p:cNvSpPr/>
          <p:nvPr/>
        </p:nvSpPr>
        <p:spPr>
          <a:xfrm>
            <a:off x="886858" y="1412776"/>
            <a:ext cx="7789598" cy="1449115"/>
          </a:xfrm>
          <a:prstGeom prst="rect">
            <a:avLst/>
          </a:prstGeom>
        </p:spPr>
        <p:txBody>
          <a:bodyPr wrap="square">
            <a:spAutoFit/>
          </a:bodyPr>
          <a:lstStyle/>
          <a:p>
            <a:pPr>
              <a:lnSpc>
                <a:spcPct val="150000"/>
              </a:lnSpc>
            </a:pPr>
            <a:r>
              <a:rPr lang="en-US" b="1"/>
              <a:t>2 valeurs de température différentes peuvent être comparées avec l'évaluateur de température</a:t>
            </a:r>
          </a:p>
          <a:p>
            <a:pPr>
              <a:lnSpc>
                <a:spcPct val="150000"/>
              </a:lnSpc>
            </a:pPr>
            <a:endParaRPr lang="en-US" sz="700" b="1" dirty="0"/>
          </a:p>
          <a:p>
            <a:pPr>
              <a:lnSpc>
                <a:spcPct val="150000"/>
              </a:lnSpc>
            </a:pPr>
            <a:r>
              <a:rPr lang="en-US" b="1"/>
              <a:t>Différents télégrammes peuvent être envoyés en fonction du résultat</a:t>
            </a:r>
          </a:p>
        </p:txBody>
      </p:sp>
      <p:pic>
        <p:nvPicPr>
          <p:cNvPr id="2" name="Picture 1">
            <a:extLst>
              <a:ext uri="{FF2B5EF4-FFF2-40B4-BE49-F238E27FC236}">
                <a16:creationId xmlns:a16="http://schemas.microsoft.com/office/drawing/2014/main" id="{1EAE3828-1942-44AA-977A-D8F38652BB04}"/>
              </a:ext>
            </a:extLst>
          </p:cNvPr>
          <p:cNvPicPr>
            <a:picLocks noChangeAspect="1"/>
          </p:cNvPicPr>
          <p:nvPr/>
        </p:nvPicPr>
        <p:blipFill>
          <a:blip r:embed="rId3"/>
          <a:stretch>
            <a:fillRect/>
          </a:stretch>
        </p:blipFill>
        <p:spPr>
          <a:xfrm>
            <a:off x="1163102" y="3573016"/>
            <a:ext cx="6464174" cy="2592288"/>
          </a:xfrm>
          <a:prstGeom prst="rect">
            <a:avLst/>
          </a:prstGeom>
          <a:ln>
            <a:solidFill>
              <a:schemeClr val="accent1"/>
            </a:solidFill>
          </a:ln>
        </p:spPr>
      </p:pic>
    </p:spTree>
    <p:extLst>
      <p:ext uri="{BB962C8B-B14F-4D97-AF65-F5344CB8AC3E}">
        <p14:creationId xmlns:p14="http://schemas.microsoft.com/office/powerpoint/2010/main" val="692779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Porte</a:t>
            </a:r>
            <a:endParaRPr lang="en-GB" dirty="0"/>
          </a:p>
        </p:txBody>
      </p:sp>
      <p:pic>
        <p:nvPicPr>
          <p:cNvPr id="2" name="Picture 1">
            <a:extLst>
              <a:ext uri="{FF2B5EF4-FFF2-40B4-BE49-F238E27FC236}">
                <a16:creationId xmlns:a16="http://schemas.microsoft.com/office/drawing/2014/main" id="{D8DC9373-246F-495C-BD61-F56FACE48315}"/>
              </a:ext>
            </a:extLst>
          </p:cNvPr>
          <p:cNvPicPr>
            <a:picLocks noChangeAspect="1"/>
          </p:cNvPicPr>
          <p:nvPr/>
        </p:nvPicPr>
        <p:blipFill>
          <a:blip r:embed="rId3"/>
          <a:stretch>
            <a:fillRect/>
          </a:stretch>
        </p:blipFill>
        <p:spPr>
          <a:xfrm>
            <a:off x="1259755" y="3429000"/>
            <a:ext cx="7043803" cy="2707462"/>
          </a:xfrm>
          <a:prstGeom prst="rect">
            <a:avLst/>
          </a:prstGeom>
          <a:ln>
            <a:solidFill>
              <a:schemeClr val="accent1"/>
            </a:solidFill>
          </a:ln>
        </p:spPr>
      </p:pic>
      <p:sp>
        <p:nvSpPr>
          <p:cNvPr id="4" name="Rectangle 3">
            <a:extLst>
              <a:ext uri="{FF2B5EF4-FFF2-40B4-BE49-F238E27FC236}">
                <a16:creationId xmlns:a16="http://schemas.microsoft.com/office/drawing/2014/main" id="{615415F9-C59A-4C33-BE64-3AF2BB039130}"/>
              </a:ext>
            </a:extLst>
          </p:cNvPr>
          <p:cNvSpPr/>
          <p:nvPr/>
        </p:nvSpPr>
        <p:spPr>
          <a:xfrm>
            <a:off x="886858" y="1340768"/>
            <a:ext cx="7789598" cy="1604991"/>
          </a:xfrm>
          <a:prstGeom prst="rect">
            <a:avLst/>
          </a:prstGeom>
        </p:spPr>
        <p:txBody>
          <a:bodyPr wrap="square">
            <a:spAutoFit/>
          </a:bodyPr>
          <a:lstStyle/>
          <a:p>
            <a:pPr>
              <a:lnSpc>
                <a:spcPct val="150000"/>
              </a:lnSpc>
            </a:pPr>
            <a:r>
              <a:rPr lang="en-US" sz="2000" b="1" dirty="0"/>
              <a:t>La </a:t>
            </a:r>
            <a:r>
              <a:rPr lang="en-US" sz="2000" b="1" dirty="0" err="1"/>
              <a:t>fonction</a:t>
            </a:r>
            <a:r>
              <a:rPr lang="en-US" sz="2000" b="1" dirty="0"/>
              <a:t> de </a:t>
            </a:r>
            <a:r>
              <a:rPr lang="en-US" sz="2000" b="1" dirty="0" err="1"/>
              <a:t>filtrage</a:t>
            </a:r>
            <a:r>
              <a:rPr lang="en-US" sz="2000" b="1" dirty="0"/>
              <a:t> </a:t>
            </a:r>
            <a:r>
              <a:rPr lang="en-US" sz="2000" b="1" dirty="0" err="1"/>
              <a:t>permet</a:t>
            </a:r>
            <a:r>
              <a:rPr lang="en-US" sz="2000" b="1" dirty="0"/>
              <a:t> de </a:t>
            </a:r>
            <a:r>
              <a:rPr lang="en-US" sz="2000" b="1" dirty="0" err="1"/>
              <a:t>filtrer</a:t>
            </a:r>
            <a:r>
              <a:rPr lang="en-US" sz="2000" b="1" dirty="0"/>
              <a:t> les </a:t>
            </a:r>
            <a:r>
              <a:rPr lang="en-US" sz="2000" b="1" dirty="0" err="1"/>
              <a:t>télégrammes</a:t>
            </a:r>
            <a:endParaRPr lang="en-US" sz="2000" b="1" dirty="0"/>
          </a:p>
          <a:p>
            <a:pPr>
              <a:lnSpc>
                <a:spcPct val="150000"/>
              </a:lnSpc>
            </a:pPr>
            <a:endParaRPr lang="en-US" sz="800" b="1" dirty="0"/>
          </a:p>
          <a:p>
            <a:pPr>
              <a:lnSpc>
                <a:spcPct val="150000"/>
              </a:lnSpc>
            </a:pPr>
            <a:r>
              <a:rPr lang="en-US" sz="2000" b="1" dirty="0"/>
              <a:t>Les </a:t>
            </a:r>
            <a:r>
              <a:rPr lang="en-US" sz="2000" b="1" dirty="0" err="1"/>
              <a:t>télégrammes</a:t>
            </a:r>
            <a:r>
              <a:rPr lang="en-US" sz="2000" b="1" dirty="0"/>
              <a:t> </a:t>
            </a:r>
            <a:r>
              <a:rPr lang="en-US" sz="2000" b="1" dirty="0" err="1"/>
              <a:t>peuvent</a:t>
            </a:r>
            <a:r>
              <a:rPr lang="en-US" sz="2000" b="1" dirty="0"/>
              <a:t> </a:t>
            </a:r>
            <a:r>
              <a:rPr lang="en-US" sz="2000" b="1" dirty="0" err="1"/>
              <a:t>être</a:t>
            </a:r>
            <a:r>
              <a:rPr lang="en-US" sz="2000" b="1" dirty="0"/>
              <a:t> </a:t>
            </a:r>
            <a:r>
              <a:rPr lang="en-US" sz="2000" b="1" dirty="0" err="1"/>
              <a:t>acheminés</a:t>
            </a:r>
            <a:r>
              <a:rPr lang="en-US" sz="2000" b="1" dirty="0"/>
              <a:t> </a:t>
            </a:r>
            <a:r>
              <a:rPr lang="en-US" sz="2000" b="1" dirty="0" err="1"/>
              <a:t>ou</a:t>
            </a:r>
            <a:r>
              <a:rPr lang="en-US" sz="2000" b="1" dirty="0"/>
              <a:t> </a:t>
            </a:r>
            <a:r>
              <a:rPr lang="en-US" sz="2000" b="1" dirty="0" err="1"/>
              <a:t>bloqués</a:t>
            </a:r>
            <a:r>
              <a:rPr lang="en-US" sz="2000" b="1" dirty="0"/>
              <a:t> à </a:t>
            </a:r>
            <a:r>
              <a:rPr lang="en-US" sz="2000" b="1" dirty="0" err="1"/>
              <a:t>l'aide</a:t>
            </a:r>
            <a:r>
              <a:rPr lang="en-US" sz="2000" b="1" dirty="0"/>
              <a:t> </a:t>
            </a:r>
            <a:r>
              <a:rPr lang="en-US" sz="2000" b="1" dirty="0" err="1"/>
              <a:t>d'une</a:t>
            </a:r>
            <a:r>
              <a:rPr lang="en-US" sz="2000" b="1" dirty="0"/>
              <a:t> </a:t>
            </a:r>
            <a:r>
              <a:rPr lang="en-US" sz="2000" b="1" dirty="0" err="1"/>
              <a:t>porte</a:t>
            </a:r>
            <a:r>
              <a:rPr lang="en-US" sz="2000" b="1" dirty="0"/>
              <a:t> </a:t>
            </a:r>
            <a:r>
              <a:rPr lang="en-US" sz="2000" b="1" dirty="0" err="1"/>
              <a:t>en</a:t>
            </a:r>
            <a:r>
              <a:rPr lang="en-US" sz="2000" b="1" dirty="0"/>
              <a:t> </a:t>
            </a:r>
            <a:r>
              <a:rPr lang="en-US" sz="2000" b="1" dirty="0" err="1"/>
              <a:t>fonction</a:t>
            </a:r>
            <a:r>
              <a:rPr lang="en-US" sz="2000" b="1" dirty="0"/>
              <a:t> </a:t>
            </a:r>
            <a:r>
              <a:rPr lang="en-US" sz="2000" b="1" dirty="0" err="1"/>
              <a:t>d'une</a:t>
            </a:r>
            <a:r>
              <a:rPr lang="en-US" sz="2000" b="1" dirty="0"/>
              <a:t> condition </a:t>
            </a:r>
            <a:r>
              <a:rPr lang="en-US" sz="2000" b="1" dirty="0" err="1"/>
              <a:t>définie</a:t>
            </a:r>
            <a:endParaRPr lang="en-US" sz="2000" b="1" dirty="0"/>
          </a:p>
        </p:txBody>
      </p:sp>
    </p:spTree>
    <p:extLst>
      <p:ext uri="{BB962C8B-B14F-4D97-AF65-F5344CB8AC3E}">
        <p14:creationId xmlns:p14="http://schemas.microsoft.com/office/powerpoint/2010/main" val="2080618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Luminaires d'Escaliers</a:t>
            </a:r>
            <a:endParaRPr lang="en-GB" dirty="0"/>
          </a:p>
        </p:txBody>
      </p:sp>
      <p:sp>
        <p:nvSpPr>
          <p:cNvPr id="4" name="Rectangle 3">
            <a:extLst>
              <a:ext uri="{FF2B5EF4-FFF2-40B4-BE49-F238E27FC236}">
                <a16:creationId xmlns:a16="http://schemas.microsoft.com/office/drawing/2014/main" id="{8C5628D4-31B2-4EAD-B7B7-C20273958540}"/>
              </a:ext>
            </a:extLst>
          </p:cNvPr>
          <p:cNvSpPr/>
          <p:nvPr/>
        </p:nvSpPr>
        <p:spPr>
          <a:xfrm>
            <a:off x="886858" y="1340768"/>
            <a:ext cx="7933614" cy="2118529"/>
          </a:xfrm>
          <a:prstGeom prst="rect">
            <a:avLst/>
          </a:prstGeom>
        </p:spPr>
        <p:txBody>
          <a:bodyPr wrap="square">
            <a:spAutoFit/>
          </a:bodyPr>
          <a:lstStyle/>
          <a:p>
            <a:r>
              <a:rPr lang="en-US" b="1"/>
              <a:t>La fonction de luminaires d'escaliers reflète une minuterie de luminaires d'escaliers</a:t>
            </a:r>
          </a:p>
          <a:p>
            <a:endParaRPr lang="en-US" b="1" dirty="0"/>
          </a:p>
          <a:p>
            <a:pPr>
              <a:lnSpc>
                <a:spcPct val="150000"/>
              </a:lnSpc>
            </a:pPr>
            <a:r>
              <a:rPr lang="en-US" b="1"/>
              <a:t>Dès réception d'un télégramme ACTIVÉ, la temporisation est déclenchée. Un télégramme DÉSACTIVÉ est envoyé à l'objet de groupe à l'entrée une fois la temporisation écoulée</a:t>
            </a:r>
          </a:p>
        </p:txBody>
      </p:sp>
      <p:pic>
        <p:nvPicPr>
          <p:cNvPr id="2" name="Picture 1">
            <a:extLst>
              <a:ext uri="{FF2B5EF4-FFF2-40B4-BE49-F238E27FC236}">
                <a16:creationId xmlns:a16="http://schemas.microsoft.com/office/drawing/2014/main" id="{DE76F25E-21A9-4A0A-9A9F-EB956D92460F}"/>
              </a:ext>
            </a:extLst>
          </p:cNvPr>
          <p:cNvPicPr>
            <a:picLocks noChangeAspect="1"/>
          </p:cNvPicPr>
          <p:nvPr/>
        </p:nvPicPr>
        <p:blipFill>
          <a:blip r:embed="rId3"/>
          <a:stretch>
            <a:fillRect/>
          </a:stretch>
        </p:blipFill>
        <p:spPr>
          <a:xfrm>
            <a:off x="1691680" y="3789040"/>
            <a:ext cx="6029052" cy="2592710"/>
          </a:xfrm>
          <a:prstGeom prst="rect">
            <a:avLst/>
          </a:prstGeom>
          <a:ln>
            <a:solidFill>
              <a:schemeClr val="accent1"/>
            </a:solidFill>
          </a:ln>
        </p:spPr>
      </p:pic>
    </p:spTree>
    <p:extLst>
      <p:ext uri="{BB962C8B-B14F-4D97-AF65-F5344CB8AC3E}">
        <p14:creationId xmlns:p14="http://schemas.microsoft.com/office/powerpoint/2010/main" val="1514632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Multiplicateur</a:t>
            </a:r>
            <a:endParaRPr lang="en-GB" dirty="0"/>
          </a:p>
        </p:txBody>
      </p:sp>
      <p:sp>
        <p:nvSpPr>
          <p:cNvPr id="4" name="Rectangle 3">
            <a:extLst>
              <a:ext uri="{FF2B5EF4-FFF2-40B4-BE49-F238E27FC236}">
                <a16:creationId xmlns:a16="http://schemas.microsoft.com/office/drawing/2014/main" id="{6F47B4F3-FE40-4980-B4A4-EF7EE3714253}"/>
              </a:ext>
            </a:extLst>
          </p:cNvPr>
          <p:cNvSpPr/>
          <p:nvPr/>
        </p:nvSpPr>
        <p:spPr>
          <a:xfrm>
            <a:off x="886858" y="1340768"/>
            <a:ext cx="7717590" cy="958660"/>
          </a:xfrm>
          <a:prstGeom prst="rect">
            <a:avLst/>
          </a:prstGeom>
        </p:spPr>
        <p:txBody>
          <a:bodyPr wrap="square">
            <a:spAutoFit/>
          </a:bodyPr>
          <a:lstStyle/>
          <a:p>
            <a:pPr>
              <a:lnSpc>
                <a:spcPct val="150000"/>
              </a:lnSpc>
            </a:pPr>
            <a:r>
              <a:rPr lang="en-US" sz="2000" b="1" dirty="0" err="1"/>
              <a:t>Permet</a:t>
            </a:r>
            <a:r>
              <a:rPr lang="en-US" sz="2000" b="1" dirty="0"/>
              <a:t> de </a:t>
            </a:r>
            <a:r>
              <a:rPr lang="en-US" sz="2000" b="1" dirty="0" err="1"/>
              <a:t>transmettre</a:t>
            </a:r>
            <a:r>
              <a:rPr lang="en-US" sz="2000" b="1" dirty="0"/>
              <a:t> </a:t>
            </a:r>
            <a:r>
              <a:rPr lang="en-US" sz="2000" b="1" dirty="0" err="1"/>
              <a:t>plusieurs</a:t>
            </a:r>
            <a:r>
              <a:rPr lang="en-US" sz="2000" b="1" dirty="0"/>
              <a:t> </a:t>
            </a:r>
            <a:r>
              <a:rPr lang="en-US" sz="2000" b="1" dirty="0" err="1"/>
              <a:t>télégrammes</a:t>
            </a:r>
            <a:r>
              <a:rPr lang="en-US" sz="2000" b="1" dirty="0"/>
              <a:t> </a:t>
            </a:r>
            <a:r>
              <a:rPr lang="en-US" sz="2000" b="1" dirty="0" err="1"/>
              <a:t>en</a:t>
            </a:r>
            <a:r>
              <a:rPr lang="en-US" sz="2000" b="1" dirty="0"/>
              <a:t> sortie sur </a:t>
            </a:r>
            <a:r>
              <a:rPr lang="en-US" sz="2000" b="1" dirty="0" err="1"/>
              <a:t>réception</a:t>
            </a:r>
            <a:r>
              <a:rPr lang="en-US" sz="2000" b="1" dirty="0"/>
              <a:t> d'un </a:t>
            </a:r>
            <a:r>
              <a:rPr lang="en-US" sz="2000" b="1" dirty="0" err="1"/>
              <a:t>télégramme</a:t>
            </a:r>
            <a:r>
              <a:rPr lang="en-US" sz="2000" b="1" dirty="0"/>
              <a:t> </a:t>
            </a:r>
            <a:r>
              <a:rPr lang="en-US" sz="2000" b="1" dirty="0" err="1"/>
              <a:t>en</a:t>
            </a:r>
            <a:r>
              <a:rPr lang="en-US" sz="2000" b="1" dirty="0"/>
              <a:t> entrée</a:t>
            </a:r>
          </a:p>
        </p:txBody>
      </p:sp>
      <p:pic>
        <p:nvPicPr>
          <p:cNvPr id="2" name="Picture 1">
            <a:extLst>
              <a:ext uri="{FF2B5EF4-FFF2-40B4-BE49-F238E27FC236}">
                <a16:creationId xmlns:a16="http://schemas.microsoft.com/office/drawing/2014/main" id="{5DAB79B5-971C-49EC-9C65-D2B541BAD27C}"/>
              </a:ext>
            </a:extLst>
          </p:cNvPr>
          <p:cNvPicPr>
            <a:picLocks noChangeAspect="1"/>
          </p:cNvPicPr>
          <p:nvPr/>
        </p:nvPicPr>
        <p:blipFill>
          <a:blip r:embed="rId3"/>
          <a:stretch>
            <a:fillRect/>
          </a:stretch>
        </p:blipFill>
        <p:spPr>
          <a:xfrm>
            <a:off x="1043607" y="2731990"/>
            <a:ext cx="3608719" cy="1260879"/>
          </a:xfrm>
          <a:prstGeom prst="rect">
            <a:avLst/>
          </a:prstGeom>
          <a:ln>
            <a:solidFill>
              <a:schemeClr val="accent1"/>
            </a:solidFill>
          </a:ln>
        </p:spPr>
      </p:pic>
      <p:pic>
        <p:nvPicPr>
          <p:cNvPr id="5" name="Picture 4">
            <a:extLst>
              <a:ext uri="{FF2B5EF4-FFF2-40B4-BE49-F238E27FC236}">
                <a16:creationId xmlns:a16="http://schemas.microsoft.com/office/drawing/2014/main" id="{20237359-28E8-431E-BD82-DE00DF23CAC7}"/>
              </a:ext>
            </a:extLst>
          </p:cNvPr>
          <p:cNvPicPr/>
          <p:nvPr/>
        </p:nvPicPr>
        <p:blipFill>
          <a:blip r:embed="rId4"/>
          <a:stretch>
            <a:fillRect/>
          </a:stretch>
        </p:blipFill>
        <p:spPr>
          <a:xfrm>
            <a:off x="4932039" y="2731990"/>
            <a:ext cx="3608719" cy="1260879"/>
          </a:xfrm>
          <a:prstGeom prst="rect">
            <a:avLst/>
          </a:prstGeom>
          <a:ln>
            <a:solidFill>
              <a:schemeClr val="accent1"/>
            </a:solidFill>
          </a:ln>
        </p:spPr>
      </p:pic>
      <p:sp>
        <p:nvSpPr>
          <p:cNvPr id="6" name="Rectangle 5">
            <a:extLst>
              <a:ext uri="{FF2B5EF4-FFF2-40B4-BE49-F238E27FC236}">
                <a16:creationId xmlns:a16="http://schemas.microsoft.com/office/drawing/2014/main" id="{64A8790C-2748-49A3-B91C-3065E1C448DE}"/>
              </a:ext>
            </a:extLst>
          </p:cNvPr>
          <p:cNvSpPr/>
          <p:nvPr/>
        </p:nvSpPr>
        <p:spPr>
          <a:xfrm>
            <a:off x="923246" y="4006805"/>
            <a:ext cx="3864778" cy="646331"/>
          </a:xfrm>
          <a:prstGeom prst="rect">
            <a:avLst/>
          </a:prstGeom>
        </p:spPr>
        <p:txBody>
          <a:bodyPr wrap="square">
            <a:spAutoFit/>
          </a:bodyPr>
          <a:lstStyle/>
          <a:p>
            <a:pPr lvl="0" eaLnBrk="0" hangingPunct="0">
              <a:spcBef>
                <a:spcPct val="30000"/>
              </a:spcBef>
              <a:defRPr/>
            </a:pPr>
            <a:r>
              <a:rPr lang="en-GB" b="1"/>
              <a:t>Paramètres (extrait) des ' Sorties 1 bit de Multiplicateur ' </a:t>
            </a:r>
            <a:endParaRPr lang="es-ES" b="1" dirty="0"/>
          </a:p>
        </p:txBody>
      </p:sp>
      <p:sp>
        <p:nvSpPr>
          <p:cNvPr id="7" name="Rectangle 6">
            <a:extLst>
              <a:ext uri="{FF2B5EF4-FFF2-40B4-BE49-F238E27FC236}">
                <a16:creationId xmlns:a16="http://schemas.microsoft.com/office/drawing/2014/main" id="{E9DF3832-A195-4B19-BC62-701DAD174409}"/>
              </a:ext>
            </a:extLst>
          </p:cNvPr>
          <p:cNvSpPr/>
          <p:nvPr/>
        </p:nvSpPr>
        <p:spPr>
          <a:xfrm>
            <a:off x="4806869" y="3992869"/>
            <a:ext cx="3864778" cy="646331"/>
          </a:xfrm>
          <a:prstGeom prst="rect">
            <a:avLst/>
          </a:prstGeom>
        </p:spPr>
        <p:txBody>
          <a:bodyPr wrap="square">
            <a:spAutoFit/>
          </a:bodyPr>
          <a:lstStyle/>
          <a:p>
            <a:r>
              <a:rPr lang="en-US" b="1"/>
              <a:t>Paramètres (extrait) des ' Sorties 1 octet de Multiplicateur '</a:t>
            </a:r>
          </a:p>
        </p:txBody>
      </p:sp>
      <p:pic>
        <p:nvPicPr>
          <p:cNvPr id="8" name="Picture 7">
            <a:extLst>
              <a:ext uri="{FF2B5EF4-FFF2-40B4-BE49-F238E27FC236}">
                <a16:creationId xmlns:a16="http://schemas.microsoft.com/office/drawing/2014/main" id="{D970CAA1-D60E-497F-9C7F-C3702A6143A4}"/>
              </a:ext>
            </a:extLst>
          </p:cNvPr>
          <p:cNvPicPr>
            <a:picLocks noChangeAspect="1"/>
          </p:cNvPicPr>
          <p:nvPr/>
        </p:nvPicPr>
        <p:blipFill>
          <a:blip r:embed="rId5"/>
          <a:stretch>
            <a:fillRect/>
          </a:stretch>
        </p:blipFill>
        <p:spPr>
          <a:xfrm>
            <a:off x="1043607" y="4797420"/>
            <a:ext cx="4698780" cy="1175979"/>
          </a:xfrm>
          <a:prstGeom prst="rect">
            <a:avLst/>
          </a:prstGeom>
          <a:ln>
            <a:solidFill>
              <a:schemeClr val="accent1"/>
            </a:solidFill>
          </a:ln>
        </p:spPr>
      </p:pic>
      <p:sp>
        <p:nvSpPr>
          <p:cNvPr id="9" name="Rectangle 8">
            <a:extLst>
              <a:ext uri="{FF2B5EF4-FFF2-40B4-BE49-F238E27FC236}">
                <a16:creationId xmlns:a16="http://schemas.microsoft.com/office/drawing/2014/main" id="{305CDE20-85CE-435E-A38D-5DEB1BA33333}"/>
              </a:ext>
            </a:extLst>
          </p:cNvPr>
          <p:cNvSpPr/>
          <p:nvPr/>
        </p:nvSpPr>
        <p:spPr>
          <a:xfrm>
            <a:off x="912454" y="6095037"/>
            <a:ext cx="6971914" cy="646331"/>
          </a:xfrm>
          <a:prstGeom prst="rect">
            <a:avLst/>
          </a:prstGeom>
        </p:spPr>
        <p:txBody>
          <a:bodyPr wrap="square">
            <a:spAutoFit/>
          </a:bodyPr>
          <a:lstStyle/>
          <a:p>
            <a:r>
              <a:rPr lang="en-US" b="1" dirty="0" err="1"/>
              <a:t>Objets</a:t>
            </a:r>
            <a:r>
              <a:rPr lang="en-US" b="1" dirty="0"/>
              <a:t> de </a:t>
            </a:r>
            <a:r>
              <a:rPr lang="en-US" b="1" dirty="0" err="1"/>
              <a:t>groupe</a:t>
            </a:r>
            <a:r>
              <a:rPr lang="en-US" b="1" dirty="0"/>
              <a:t> (extrait) du ' </a:t>
            </a:r>
            <a:r>
              <a:rPr lang="en-US" b="1" dirty="0" err="1"/>
              <a:t>Multiplicateur</a:t>
            </a:r>
            <a:r>
              <a:rPr lang="en-US" b="1" dirty="0"/>
              <a:t> (Entrées/Sorties) '</a:t>
            </a:r>
          </a:p>
        </p:txBody>
      </p:sp>
    </p:spTree>
    <p:extLst>
      <p:ext uri="{BB962C8B-B14F-4D97-AF65-F5344CB8AC3E}">
        <p14:creationId xmlns:p14="http://schemas.microsoft.com/office/powerpoint/2010/main" val="1832718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Valeur de Commutation</a:t>
            </a:r>
            <a:endParaRPr lang="en-GB" dirty="0"/>
          </a:p>
        </p:txBody>
      </p:sp>
      <p:sp>
        <p:nvSpPr>
          <p:cNvPr id="4" name="Rectangle 3">
            <a:extLst>
              <a:ext uri="{FF2B5EF4-FFF2-40B4-BE49-F238E27FC236}">
                <a16:creationId xmlns:a16="http://schemas.microsoft.com/office/drawing/2014/main" id="{DC9D0001-C92A-4E46-B17E-A4E5AA2C3703}"/>
              </a:ext>
            </a:extLst>
          </p:cNvPr>
          <p:cNvSpPr/>
          <p:nvPr/>
        </p:nvSpPr>
        <p:spPr>
          <a:xfrm>
            <a:off x="886858" y="1628800"/>
            <a:ext cx="7717590" cy="958660"/>
          </a:xfrm>
          <a:prstGeom prst="rect">
            <a:avLst/>
          </a:prstGeom>
        </p:spPr>
        <p:txBody>
          <a:bodyPr wrap="square">
            <a:spAutoFit/>
          </a:bodyPr>
          <a:lstStyle/>
          <a:p>
            <a:pPr>
              <a:lnSpc>
                <a:spcPct val="150000"/>
              </a:lnSpc>
            </a:pPr>
            <a:r>
              <a:rPr lang="en-US" sz="2000" b="1"/>
              <a:t>Cette fonction permet d'envoyer une valeur de consigne préréglée en réaction à un télégramme d'entrée de 1 bit</a:t>
            </a:r>
          </a:p>
        </p:txBody>
      </p:sp>
      <p:pic>
        <p:nvPicPr>
          <p:cNvPr id="2" name="Picture 1">
            <a:extLst>
              <a:ext uri="{FF2B5EF4-FFF2-40B4-BE49-F238E27FC236}">
                <a16:creationId xmlns:a16="http://schemas.microsoft.com/office/drawing/2014/main" id="{30C95D01-2DF9-4251-A49A-5B9BA99ED3AB}"/>
              </a:ext>
            </a:extLst>
          </p:cNvPr>
          <p:cNvPicPr>
            <a:picLocks noChangeAspect="1"/>
          </p:cNvPicPr>
          <p:nvPr/>
        </p:nvPicPr>
        <p:blipFill>
          <a:blip r:embed="rId3"/>
          <a:stretch>
            <a:fillRect/>
          </a:stretch>
        </p:blipFill>
        <p:spPr>
          <a:xfrm>
            <a:off x="1169708" y="3202244"/>
            <a:ext cx="6804584" cy="2136593"/>
          </a:xfrm>
          <a:prstGeom prst="rect">
            <a:avLst/>
          </a:prstGeom>
          <a:ln>
            <a:solidFill>
              <a:schemeClr val="accent1"/>
            </a:solidFill>
          </a:ln>
        </p:spPr>
      </p:pic>
    </p:spTree>
    <p:extLst>
      <p:ext uri="{BB962C8B-B14F-4D97-AF65-F5344CB8AC3E}">
        <p14:creationId xmlns:p14="http://schemas.microsoft.com/office/powerpoint/2010/main" val="2898031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Compteur</a:t>
            </a:r>
            <a:endParaRPr lang="en-GB" dirty="0"/>
          </a:p>
        </p:txBody>
      </p:sp>
      <p:sp>
        <p:nvSpPr>
          <p:cNvPr id="4" name="Rectangle 3">
            <a:extLst>
              <a:ext uri="{FF2B5EF4-FFF2-40B4-BE49-F238E27FC236}">
                <a16:creationId xmlns:a16="http://schemas.microsoft.com/office/drawing/2014/main" id="{40F623BD-DD69-4974-8D12-4D22094497A9}"/>
              </a:ext>
            </a:extLst>
          </p:cNvPr>
          <p:cNvSpPr/>
          <p:nvPr/>
        </p:nvSpPr>
        <p:spPr>
          <a:xfrm>
            <a:off x="886858" y="1412776"/>
            <a:ext cx="7717590" cy="2441694"/>
          </a:xfrm>
          <a:prstGeom prst="rect">
            <a:avLst/>
          </a:prstGeom>
        </p:spPr>
        <p:txBody>
          <a:bodyPr wrap="square">
            <a:spAutoFit/>
          </a:bodyPr>
          <a:lstStyle/>
          <a:p>
            <a:pPr>
              <a:lnSpc>
                <a:spcPct val="150000"/>
              </a:lnSpc>
            </a:pPr>
            <a:r>
              <a:rPr lang="en-US" b="1" dirty="0"/>
              <a:t>Le </a:t>
            </a:r>
            <a:r>
              <a:rPr lang="en-US" b="1" dirty="0" err="1"/>
              <a:t>compteur</a:t>
            </a:r>
            <a:r>
              <a:rPr lang="en-US" b="1" dirty="0"/>
              <a:t> </a:t>
            </a:r>
            <a:r>
              <a:rPr lang="en-US" b="1" dirty="0" err="1"/>
              <a:t>est</a:t>
            </a:r>
            <a:r>
              <a:rPr lang="en-US" b="1" dirty="0"/>
              <a:t> un </a:t>
            </a:r>
            <a:r>
              <a:rPr lang="en-US" b="1" dirty="0" err="1"/>
              <a:t>compteur</a:t>
            </a:r>
            <a:r>
              <a:rPr lang="en-US" b="1" dirty="0"/>
              <a:t> de </a:t>
            </a:r>
            <a:r>
              <a:rPr lang="en-US" b="1" dirty="0" err="1"/>
              <a:t>télégrammes</a:t>
            </a:r>
            <a:endParaRPr lang="en-US" b="1" dirty="0"/>
          </a:p>
          <a:p>
            <a:pPr>
              <a:lnSpc>
                <a:spcPct val="150000"/>
              </a:lnSpc>
            </a:pPr>
            <a:endParaRPr lang="en-US" sz="700" b="1" dirty="0"/>
          </a:p>
          <a:p>
            <a:pPr>
              <a:lnSpc>
                <a:spcPct val="150000"/>
              </a:lnSpc>
            </a:pPr>
            <a:r>
              <a:rPr lang="en-US" b="1" dirty="0"/>
              <a:t>Les </a:t>
            </a:r>
            <a:r>
              <a:rPr lang="en-US" b="1" dirty="0" err="1"/>
              <a:t>télégrammes</a:t>
            </a:r>
            <a:r>
              <a:rPr lang="en-US" b="1" dirty="0"/>
              <a:t> </a:t>
            </a:r>
            <a:r>
              <a:rPr lang="en-US" b="1" dirty="0" err="1"/>
              <a:t>d'adresse</a:t>
            </a:r>
            <a:r>
              <a:rPr lang="en-US" b="1" dirty="0"/>
              <a:t> de </a:t>
            </a:r>
            <a:r>
              <a:rPr lang="en-US" b="1" dirty="0" err="1"/>
              <a:t>groupe</a:t>
            </a:r>
            <a:r>
              <a:rPr lang="en-US" b="1" dirty="0"/>
              <a:t> des </a:t>
            </a:r>
            <a:r>
              <a:rPr lang="en-US" b="1" dirty="0" err="1"/>
              <a:t>capteurs</a:t>
            </a:r>
            <a:r>
              <a:rPr lang="en-US" b="1" dirty="0"/>
              <a:t> et </a:t>
            </a:r>
            <a:r>
              <a:rPr lang="en-US" b="1" dirty="0" err="1"/>
              <a:t>actionneurs</a:t>
            </a:r>
            <a:r>
              <a:rPr lang="en-US" b="1" dirty="0"/>
              <a:t> </a:t>
            </a:r>
            <a:r>
              <a:rPr lang="en-US" b="1" dirty="0" err="1"/>
              <a:t>peuvent</a:t>
            </a:r>
            <a:r>
              <a:rPr lang="en-US" b="1" dirty="0"/>
              <a:t> </a:t>
            </a:r>
            <a:r>
              <a:rPr lang="en-US" b="1" dirty="0" err="1"/>
              <a:t>ainsi</a:t>
            </a:r>
            <a:r>
              <a:rPr lang="en-US" b="1" dirty="0"/>
              <a:t> </a:t>
            </a:r>
            <a:r>
              <a:rPr lang="en-US" b="1" dirty="0" err="1"/>
              <a:t>être</a:t>
            </a:r>
            <a:r>
              <a:rPr lang="en-US" b="1" dirty="0"/>
              <a:t> </a:t>
            </a:r>
            <a:r>
              <a:rPr lang="en-US" b="1" dirty="0" err="1"/>
              <a:t>comptés</a:t>
            </a:r>
            <a:endParaRPr lang="en-US" b="1" dirty="0"/>
          </a:p>
          <a:p>
            <a:pPr>
              <a:lnSpc>
                <a:spcPct val="150000"/>
              </a:lnSpc>
            </a:pPr>
            <a:endParaRPr lang="en-US" sz="700" b="1" dirty="0"/>
          </a:p>
          <a:p>
            <a:pPr>
              <a:lnSpc>
                <a:spcPct val="150000"/>
              </a:lnSpc>
            </a:pPr>
            <a:r>
              <a:rPr lang="en-US" b="1" dirty="0"/>
              <a:t>Il </a:t>
            </a:r>
            <a:r>
              <a:rPr lang="en-US" b="1" dirty="0" err="1"/>
              <a:t>peut</a:t>
            </a:r>
            <a:r>
              <a:rPr lang="en-US" b="1" dirty="0"/>
              <a:t> </a:t>
            </a:r>
            <a:r>
              <a:rPr lang="en-US" b="1" dirty="0" err="1"/>
              <a:t>enregistrer</a:t>
            </a:r>
            <a:r>
              <a:rPr lang="en-US" b="1" dirty="0"/>
              <a:t> un </a:t>
            </a:r>
            <a:r>
              <a:rPr lang="en-US" b="1" dirty="0" err="1"/>
              <a:t>télégramme</a:t>
            </a:r>
            <a:r>
              <a:rPr lang="en-US" b="1" dirty="0"/>
              <a:t> max. </a:t>
            </a:r>
            <a:r>
              <a:rPr lang="en-US" b="1" dirty="0" err="1"/>
              <a:t>tous</a:t>
            </a:r>
            <a:r>
              <a:rPr lang="en-US" b="1" dirty="0"/>
              <a:t> les 30 ms (= 33 Hz)</a:t>
            </a:r>
          </a:p>
          <a:p>
            <a:pPr>
              <a:lnSpc>
                <a:spcPct val="150000"/>
              </a:lnSpc>
            </a:pPr>
            <a:endParaRPr lang="en-US" b="1" dirty="0"/>
          </a:p>
        </p:txBody>
      </p:sp>
      <p:pic>
        <p:nvPicPr>
          <p:cNvPr id="2" name="Picture 1">
            <a:extLst>
              <a:ext uri="{FF2B5EF4-FFF2-40B4-BE49-F238E27FC236}">
                <a16:creationId xmlns:a16="http://schemas.microsoft.com/office/drawing/2014/main" id="{633285B9-94C7-4C5A-9347-8C0A91122F97}"/>
              </a:ext>
            </a:extLst>
          </p:cNvPr>
          <p:cNvPicPr>
            <a:picLocks noChangeAspect="1"/>
          </p:cNvPicPr>
          <p:nvPr/>
        </p:nvPicPr>
        <p:blipFill>
          <a:blip r:embed="rId3"/>
          <a:stretch>
            <a:fillRect/>
          </a:stretch>
        </p:blipFill>
        <p:spPr>
          <a:xfrm>
            <a:off x="1188629" y="4283931"/>
            <a:ext cx="6766741" cy="1890538"/>
          </a:xfrm>
          <a:prstGeom prst="rect">
            <a:avLst/>
          </a:prstGeom>
          <a:ln>
            <a:solidFill>
              <a:schemeClr val="accent1"/>
            </a:solidFill>
          </a:ln>
        </p:spPr>
      </p:pic>
    </p:spTree>
    <p:extLst>
      <p:ext uri="{BB962C8B-B14F-4D97-AF65-F5344CB8AC3E}">
        <p14:creationId xmlns:p14="http://schemas.microsoft.com/office/powerpoint/2010/main" val="3807185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Temps de temporisation</a:t>
            </a:r>
            <a:endParaRPr lang="en-GB" dirty="0"/>
          </a:p>
        </p:txBody>
      </p:sp>
      <p:sp>
        <p:nvSpPr>
          <p:cNvPr id="4" name="Rectangle 3">
            <a:extLst>
              <a:ext uri="{FF2B5EF4-FFF2-40B4-BE49-F238E27FC236}">
                <a16:creationId xmlns:a16="http://schemas.microsoft.com/office/drawing/2014/main" id="{A4B4C6B6-D10A-4093-BB2D-4AF70CAAB99A}"/>
              </a:ext>
            </a:extLst>
          </p:cNvPr>
          <p:cNvSpPr/>
          <p:nvPr/>
        </p:nvSpPr>
        <p:spPr>
          <a:xfrm>
            <a:off x="886858" y="1268760"/>
            <a:ext cx="7933614" cy="2118529"/>
          </a:xfrm>
          <a:prstGeom prst="rect">
            <a:avLst/>
          </a:prstGeom>
        </p:spPr>
        <p:txBody>
          <a:bodyPr wrap="square">
            <a:spAutoFit/>
          </a:bodyPr>
          <a:lstStyle/>
          <a:p>
            <a:pPr>
              <a:lnSpc>
                <a:spcPct val="150000"/>
              </a:lnSpc>
            </a:pPr>
            <a:r>
              <a:rPr lang="en-US" b="1" dirty="0"/>
              <a:t>Il </a:t>
            </a:r>
            <a:r>
              <a:rPr lang="en-US" b="1" dirty="0" err="1"/>
              <a:t>provoque</a:t>
            </a:r>
            <a:r>
              <a:rPr lang="en-US" b="1" dirty="0"/>
              <a:t> le retard de </a:t>
            </a:r>
            <a:r>
              <a:rPr lang="en-US" b="1" dirty="0" err="1"/>
              <a:t>démarrage</a:t>
            </a:r>
            <a:r>
              <a:rPr lang="en-US" b="1" dirty="0"/>
              <a:t> </a:t>
            </a:r>
            <a:r>
              <a:rPr lang="en-US" b="1" dirty="0" err="1"/>
              <a:t>lorsqu'un</a:t>
            </a:r>
            <a:r>
              <a:rPr lang="en-US" b="1" dirty="0"/>
              <a:t> </a:t>
            </a:r>
            <a:r>
              <a:rPr lang="en-US" b="1" dirty="0" err="1"/>
              <a:t>télégramme</a:t>
            </a:r>
            <a:r>
              <a:rPr lang="en-US" b="1" dirty="0"/>
              <a:t> arrive à </a:t>
            </a:r>
            <a:r>
              <a:rPr lang="en-US" b="1" dirty="0" err="1"/>
              <a:t>l'entrée</a:t>
            </a:r>
            <a:r>
              <a:rPr lang="en-US" b="1" dirty="0"/>
              <a:t> et </a:t>
            </a:r>
            <a:r>
              <a:rPr lang="en-US" b="1" dirty="0" err="1"/>
              <a:t>n'est</a:t>
            </a:r>
            <a:r>
              <a:rPr lang="en-US" b="1" dirty="0"/>
              <a:t> </a:t>
            </a:r>
            <a:r>
              <a:rPr lang="en-US" b="1" dirty="0" err="1"/>
              <a:t>transmis</a:t>
            </a:r>
            <a:r>
              <a:rPr lang="en-US" b="1" dirty="0"/>
              <a:t> </a:t>
            </a:r>
            <a:r>
              <a:rPr lang="en-US" b="1" dirty="0" err="1"/>
              <a:t>qu'une</a:t>
            </a:r>
            <a:r>
              <a:rPr lang="en-US" b="1" dirty="0"/>
              <a:t> </a:t>
            </a:r>
            <a:r>
              <a:rPr lang="en-US" b="1" dirty="0" err="1"/>
              <a:t>fois</a:t>
            </a:r>
            <a:r>
              <a:rPr lang="en-US" b="1" dirty="0"/>
              <a:t> la </a:t>
            </a:r>
            <a:r>
              <a:rPr lang="en-US" b="1" dirty="0" err="1"/>
              <a:t>période</a:t>
            </a:r>
            <a:r>
              <a:rPr lang="en-US" b="1" dirty="0"/>
              <a:t> </a:t>
            </a:r>
            <a:r>
              <a:rPr lang="en-US" b="1" dirty="0" err="1"/>
              <a:t>écoulée</a:t>
            </a:r>
            <a:r>
              <a:rPr lang="en-US" b="1" dirty="0"/>
              <a:t>.</a:t>
            </a:r>
          </a:p>
          <a:p>
            <a:pPr>
              <a:lnSpc>
                <a:spcPct val="150000"/>
              </a:lnSpc>
            </a:pPr>
            <a:r>
              <a:rPr lang="en-US" b="1" dirty="0"/>
              <a:t>Si un </a:t>
            </a:r>
            <a:r>
              <a:rPr lang="en-US" b="1" dirty="0" err="1"/>
              <a:t>autre</a:t>
            </a:r>
            <a:r>
              <a:rPr lang="en-US" b="1" dirty="0"/>
              <a:t> </a:t>
            </a:r>
            <a:r>
              <a:rPr lang="en-US" b="1" dirty="0" err="1"/>
              <a:t>télégramme</a:t>
            </a:r>
            <a:r>
              <a:rPr lang="en-US" b="1" dirty="0"/>
              <a:t> avec </a:t>
            </a:r>
            <a:r>
              <a:rPr lang="en-US" b="1" dirty="0" err="1"/>
              <a:t>une</a:t>
            </a:r>
            <a:r>
              <a:rPr lang="en-US" b="1" dirty="0"/>
              <a:t> </a:t>
            </a:r>
            <a:r>
              <a:rPr lang="en-US" b="1" dirty="0" err="1"/>
              <a:t>valeur</a:t>
            </a:r>
            <a:r>
              <a:rPr lang="en-US" b="1" dirty="0"/>
              <a:t> </a:t>
            </a:r>
            <a:r>
              <a:rPr lang="en-US" b="1" dirty="0" err="1"/>
              <a:t>différente</a:t>
            </a:r>
            <a:r>
              <a:rPr lang="en-US" b="1" dirty="0"/>
              <a:t> arrive pendant la </a:t>
            </a:r>
            <a:r>
              <a:rPr lang="en-US" b="1" dirty="0" err="1"/>
              <a:t>temporisation</a:t>
            </a:r>
            <a:r>
              <a:rPr lang="en-US" b="1" dirty="0"/>
              <a:t>, </a:t>
            </a:r>
            <a:r>
              <a:rPr lang="en-US" b="1" dirty="0" err="1"/>
              <a:t>cette</a:t>
            </a:r>
            <a:r>
              <a:rPr lang="en-US" b="1" dirty="0"/>
              <a:t> nouvelle </a:t>
            </a:r>
            <a:r>
              <a:rPr lang="en-US" b="1" dirty="0" err="1"/>
              <a:t>valeur</a:t>
            </a:r>
            <a:r>
              <a:rPr lang="en-US" b="1" dirty="0"/>
              <a:t> </a:t>
            </a:r>
            <a:r>
              <a:rPr lang="en-US" b="1" dirty="0" err="1"/>
              <a:t>est</a:t>
            </a:r>
            <a:r>
              <a:rPr lang="en-US" b="1" dirty="0"/>
              <a:t> </a:t>
            </a:r>
            <a:r>
              <a:rPr lang="en-US" b="1" dirty="0" err="1"/>
              <a:t>transmise</a:t>
            </a:r>
            <a:r>
              <a:rPr lang="en-US" b="1" dirty="0"/>
              <a:t> à la fin de la </a:t>
            </a:r>
            <a:r>
              <a:rPr lang="en-US" b="1" dirty="0" err="1"/>
              <a:t>période</a:t>
            </a:r>
            <a:r>
              <a:rPr lang="en-US" b="1" dirty="0"/>
              <a:t> de </a:t>
            </a:r>
            <a:r>
              <a:rPr lang="en-US" b="1" dirty="0" err="1"/>
              <a:t>temporisation</a:t>
            </a:r>
            <a:endParaRPr lang="en-US" b="1" dirty="0"/>
          </a:p>
        </p:txBody>
      </p:sp>
      <p:pic>
        <p:nvPicPr>
          <p:cNvPr id="2" name="Picture 1">
            <a:extLst>
              <a:ext uri="{FF2B5EF4-FFF2-40B4-BE49-F238E27FC236}">
                <a16:creationId xmlns:a16="http://schemas.microsoft.com/office/drawing/2014/main" id="{CF942838-396D-4C62-963C-A03CCCDDBB97}"/>
              </a:ext>
            </a:extLst>
          </p:cNvPr>
          <p:cNvPicPr>
            <a:picLocks noChangeAspect="1"/>
          </p:cNvPicPr>
          <p:nvPr/>
        </p:nvPicPr>
        <p:blipFill>
          <a:blip r:embed="rId3"/>
          <a:stretch>
            <a:fillRect/>
          </a:stretch>
        </p:blipFill>
        <p:spPr>
          <a:xfrm>
            <a:off x="1619672" y="3729973"/>
            <a:ext cx="6162971" cy="2645773"/>
          </a:xfrm>
          <a:prstGeom prst="rect">
            <a:avLst/>
          </a:prstGeom>
          <a:ln>
            <a:solidFill>
              <a:schemeClr val="accent1"/>
            </a:solidFill>
          </a:ln>
        </p:spPr>
      </p:pic>
    </p:spTree>
    <p:extLst>
      <p:ext uri="{BB962C8B-B14F-4D97-AF65-F5344CB8AC3E}">
        <p14:creationId xmlns:p14="http://schemas.microsoft.com/office/powerpoint/2010/main" val="1331737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a:t>Connexion Logique Étendue des Adresses de Groupe</a:t>
            </a:r>
            <a:endParaRPr lang="en-GB" dirty="0"/>
          </a:p>
        </p:txBody>
      </p:sp>
      <p:pic>
        <p:nvPicPr>
          <p:cNvPr id="4" name="Picture 3">
            <a:extLst>
              <a:ext uri="{FF2B5EF4-FFF2-40B4-BE49-F238E27FC236}">
                <a16:creationId xmlns:a16="http://schemas.microsoft.com/office/drawing/2014/main" id="{37F5AF70-E75D-4A09-ADB0-B0FB59B9D03D}"/>
              </a:ext>
            </a:extLst>
          </p:cNvPr>
          <p:cNvPicPr/>
          <p:nvPr/>
        </p:nvPicPr>
        <p:blipFill>
          <a:blip r:embed="rId3"/>
          <a:stretch>
            <a:fillRect/>
          </a:stretch>
        </p:blipFill>
        <p:spPr>
          <a:xfrm>
            <a:off x="976883" y="1646098"/>
            <a:ext cx="2370981" cy="2358966"/>
          </a:xfrm>
          <a:prstGeom prst="rect">
            <a:avLst/>
          </a:prstGeom>
        </p:spPr>
      </p:pic>
      <p:sp>
        <p:nvSpPr>
          <p:cNvPr id="2" name="Rectangle 1">
            <a:extLst>
              <a:ext uri="{FF2B5EF4-FFF2-40B4-BE49-F238E27FC236}">
                <a16:creationId xmlns:a16="http://schemas.microsoft.com/office/drawing/2014/main" id="{F4BF97A6-B105-47E6-A298-51B74E39A0ED}"/>
              </a:ext>
            </a:extLst>
          </p:cNvPr>
          <p:cNvSpPr/>
          <p:nvPr/>
        </p:nvSpPr>
        <p:spPr>
          <a:xfrm>
            <a:off x="3519165" y="1565364"/>
            <a:ext cx="4680520" cy="923330"/>
          </a:xfrm>
          <a:prstGeom prst="rect">
            <a:avLst/>
          </a:prstGeom>
        </p:spPr>
        <p:txBody>
          <a:bodyPr wrap="square">
            <a:spAutoFit/>
          </a:bodyPr>
          <a:lstStyle/>
          <a:p>
            <a:r>
              <a:rPr lang="en-US" b="1"/>
              <a:t>Si plusieurs opérations logiques sont nécessaires, l'utilisation des unités d'application est recommandée</a:t>
            </a:r>
          </a:p>
        </p:txBody>
      </p:sp>
      <p:sp>
        <p:nvSpPr>
          <p:cNvPr id="5" name="Rectangle 4">
            <a:extLst>
              <a:ext uri="{FF2B5EF4-FFF2-40B4-BE49-F238E27FC236}">
                <a16:creationId xmlns:a16="http://schemas.microsoft.com/office/drawing/2014/main" id="{01A67FF2-1350-4D87-95AD-BEC7DA154365}"/>
              </a:ext>
            </a:extLst>
          </p:cNvPr>
          <p:cNvSpPr/>
          <p:nvPr/>
        </p:nvSpPr>
        <p:spPr>
          <a:xfrm>
            <a:off x="976883" y="4797152"/>
            <a:ext cx="2807891" cy="1477328"/>
          </a:xfrm>
          <a:prstGeom prst="rect">
            <a:avLst/>
          </a:prstGeom>
        </p:spPr>
        <p:txBody>
          <a:bodyPr wrap="square">
            <a:spAutoFit/>
          </a:bodyPr>
          <a:lstStyle/>
          <a:p>
            <a:r>
              <a:rPr lang="en-US" b="1" dirty="0" err="1"/>
              <a:t>L'affectation</a:t>
            </a:r>
            <a:r>
              <a:rPr lang="en-US" b="1" dirty="0"/>
              <a:t> des </a:t>
            </a:r>
            <a:r>
              <a:rPr lang="en-US" b="1" dirty="0" err="1"/>
              <a:t>paramètres</a:t>
            </a:r>
            <a:r>
              <a:rPr lang="en-US" b="1" dirty="0"/>
              <a:t> </a:t>
            </a:r>
            <a:r>
              <a:rPr lang="en-US" b="1" dirty="0" err="1"/>
              <a:t>est</a:t>
            </a:r>
            <a:r>
              <a:rPr lang="en-US" b="1" dirty="0"/>
              <a:t> </a:t>
            </a:r>
            <a:r>
              <a:rPr lang="en-US" b="1" dirty="0" err="1"/>
              <a:t>effectuée</a:t>
            </a:r>
            <a:r>
              <a:rPr lang="en-US" b="1" dirty="0"/>
              <a:t> dans un </a:t>
            </a:r>
            <a:r>
              <a:rPr lang="en-US" b="1" dirty="0" err="1"/>
              <a:t>diagramme</a:t>
            </a:r>
            <a:r>
              <a:rPr lang="en-US" b="1" dirty="0"/>
              <a:t> </a:t>
            </a:r>
            <a:r>
              <a:rPr lang="en-US" b="1" dirty="0" err="1"/>
              <a:t>logique</a:t>
            </a:r>
            <a:r>
              <a:rPr lang="en-US" b="1" dirty="0"/>
              <a:t> </a:t>
            </a:r>
            <a:r>
              <a:rPr lang="en-US" b="1" dirty="0" err="1"/>
              <a:t>graphique</a:t>
            </a:r>
            <a:endParaRPr lang="en-US" b="1" dirty="0"/>
          </a:p>
        </p:txBody>
      </p:sp>
      <p:graphicFrame>
        <p:nvGraphicFramePr>
          <p:cNvPr id="6" name="Object 5">
            <a:extLst>
              <a:ext uri="{FF2B5EF4-FFF2-40B4-BE49-F238E27FC236}">
                <a16:creationId xmlns:a16="http://schemas.microsoft.com/office/drawing/2014/main" id="{B48A1C51-611A-4D63-9086-D9899FEA2CEF}"/>
              </a:ext>
            </a:extLst>
          </p:cNvPr>
          <p:cNvGraphicFramePr>
            <a:graphicFrameLocks noChangeAspect="1"/>
          </p:cNvGraphicFramePr>
          <p:nvPr/>
        </p:nvGraphicFramePr>
        <p:xfrm>
          <a:off x="3784774" y="2933077"/>
          <a:ext cx="4854853" cy="3448251"/>
        </p:xfrm>
        <a:graphic>
          <a:graphicData uri="http://schemas.openxmlformats.org/presentationml/2006/ole">
            <mc:AlternateContent xmlns:mc="http://schemas.openxmlformats.org/markup-compatibility/2006">
              <mc:Choice xmlns:v="urn:schemas-microsoft-com:vml" Requires="v">
                <p:oleObj r:id="rId4" imgW="9037416" imgH="6905725" progId="Visio.Drawing.15">
                  <p:embed/>
                </p:oleObj>
              </mc:Choice>
              <mc:Fallback>
                <p:oleObj r:id="rId4" imgW="9037416" imgH="6905725" progId="Visio.Drawing.15">
                  <p:embed/>
                  <p:pic>
                    <p:nvPicPr>
                      <p:cNvPr id="6" name="Object 5">
                        <a:extLst>
                          <a:ext uri="{FF2B5EF4-FFF2-40B4-BE49-F238E27FC236}">
                            <a16:creationId xmlns:a16="http://schemas.microsoft.com/office/drawing/2014/main" id="{B48A1C51-611A-4D63-9086-D9899FEA2C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4774" y="2933077"/>
                        <a:ext cx="4854853" cy="3448251"/>
                      </a:xfrm>
                      <a:prstGeom prst="rect">
                        <a:avLst/>
                      </a:prstGeom>
                      <a:noFill/>
                    </p:spPr>
                  </p:pic>
                </p:oleObj>
              </mc:Fallback>
            </mc:AlternateContent>
          </a:graphicData>
        </a:graphic>
      </p:graphicFrame>
    </p:spTree>
    <p:extLst>
      <p:ext uri="{BB962C8B-B14F-4D97-AF65-F5344CB8AC3E}">
        <p14:creationId xmlns:p14="http://schemas.microsoft.com/office/powerpoint/2010/main" val="2613481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1194144-824C-4621-8BEC-57AF7F49FA00}"/>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a:solidFill>
                  <a:srgbClr val="0C4B9D"/>
                </a:solidFill>
                <a:latin typeface="+mj-lt"/>
                <a:ea typeface="+mj-ea"/>
                <a:cs typeface="+mj-cs"/>
              </a:rPr>
              <a:t>Tâches : Lier les objets de l'actionneur</a:t>
            </a:r>
          </a:p>
        </p:txBody>
      </p:sp>
      <p:sp>
        <p:nvSpPr>
          <p:cNvPr id="8" name="Rectangle 7">
            <a:extLst>
              <a:ext uri="{FF2B5EF4-FFF2-40B4-BE49-F238E27FC236}">
                <a16:creationId xmlns:a16="http://schemas.microsoft.com/office/drawing/2014/main" id="{1B2B9F35-0ACE-4DCA-A90A-08EB1B66BE6B}"/>
              </a:ext>
            </a:extLst>
          </p:cNvPr>
          <p:cNvSpPr/>
          <p:nvPr/>
        </p:nvSpPr>
        <p:spPr>
          <a:xfrm>
            <a:off x="1115616" y="3502749"/>
            <a:ext cx="5598368" cy="646331"/>
          </a:xfrm>
          <a:prstGeom prst="rect">
            <a:avLst/>
          </a:prstGeom>
        </p:spPr>
        <p:txBody>
          <a:bodyPr wrap="square">
            <a:spAutoFit/>
          </a:bodyPr>
          <a:lstStyle/>
          <a:p>
            <a:r>
              <a:rPr lang="en-US" b="1"/>
              <a:t>Les tâches peuvent être adaptées en fonction des composants KNX disponibles.</a:t>
            </a:r>
          </a:p>
        </p:txBody>
      </p:sp>
    </p:spTree>
    <p:extLst>
      <p:ext uri="{BB962C8B-B14F-4D97-AF65-F5344CB8AC3E}">
        <p14:creationId xmlns:p14="http://schemas.microsoft.com/office/powerpoint/2010/main" val="3058139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05606"/>
            <a:ext cx="6696223" cy="719138"/>
          </a:xfrm>
        </p:spPr>
        <p:txBody>
          <a:bodyPr/>
          <a:lstStyle/>
          <a:p>
            <a:r>
              <a:rPr lang="en-US" sz="2000" dirty="0"/>
              <a:t>La </a:t>
            </a:r>
            <a:r>
              <a:rPr lang="en-US" sz="2000" dirty="0" err="1"/>
              <a:t>fonction</a:t>
            </a:r>
            <a:r>
              <a:rPr lang="en-US" sz="2000" dirty="0"/>
              <a:t> OR sans </a:t>
            </a:r>
            <a:r>
              <a:rPr lang="en-US" sz="2000" dirty="0" err="1"/>
              <a:t>temporisation</a:t>
            </a:r>
            <a:r>
              <a:rPr lang="en-US" sz="2000" dirty="0"/>
              <a:t> </a:t>
            </a:r>
            <a:r>
              <a:rPr lang="en-US" sz="2000" dirty="0" err="1"/>
              <a:t>ou</a:t>
            </a:r>
            <a:r>
              <a:rPr lang="en-US" sz="2000" dirty="0"/>
              <a:t> avec </a:t>
            </a:r>
            <a:r>
              <a:rPr lang="en-US" sz="2000" dirty="0" err="1"/>
              <a:t>temporisation</a:t>
            </a:r>
            <a:r>
              <a:rPr lang="en-US" sz="2000" dirty="0"/>
              <a:t> ACTIVÉE et ACTIVÉE</a:t>
            </a:r>
            <a:endParaRPr lang="en-GB" sz="2000" dirty="0"/>
          </a:p>
        </p:txBody>
      </p:sp>
      <p:sp>
        <p:nvSpPr>
          <p:cNvPr id="2" name="Rectangle 1">
            <a:extLst>
              <a:ext uri="{FF2B5EF4-FFF2-40B4-BE49-F238E27FC236}">
                <a16:creationId xmlns:a16="http://schemas.microsoft.com/office/drawing/2014/main" id="{D8A6A5D3-C56D-45FF-9907-E9103D93C6AD}"/>
              </a:ext>
            </a:extLst>
          </p:cNvPr>
          <p:cNvSpPr/>
          <p:nvPr/>
        </p:nvSpPr>
        <p:spPr>
          <a:xfrm>
            <a:off x="900113" y="1398926"/>
            <a:ext cx="7560319" cy="4190314"/>
          </a:xfrm>
          <a:prstGeom prst="rect">
            <a:avLst/>
          </a:prstGeom>
        </p:spPr>
        <p:txBody>
          <a:bodyPr wrap="square">
            <a:spAutoFit/>
          </a:bodyPr>
          <a:lstStyle/>
          <a:p>
            <a:pPr>
              <a:lnSpc>
                <a:spcPct val="150000"/>
              </a:lnSpc>
            </a:pPr>
            <a:r>
              <a:rPr lang="en-US" b="1" dirty="0" err="1"/>
              <a:t>Configurez</a:t>
            </a:r>
            <a:r>
              <a:rPr lang="en-US" b="1" dirty="0"/>
              <a:t> un </a:t>
            </a:r>
            <a:r>
              <a:rPr lang="en-US" b="1" dirty="0" err="1"/>
              <a:t>actionneur</a:t>
            </a:r>
            <a:r>
              <a:rPr lang="en-US" b="1" dirty="0"/>
              <a:t> de commutation x sorties et </a:t>
            </a:r>
            <a:r>
              <a:rPr lang="en-US" b="1" dirty="0" err="1"/>
              <a:t>activez</a:t>
            </a:r>
            <a:r>
              <a:rPr lang="en-US" b="1" dirty="0"/>
              <a:t> la </a:t>
            </a:r>
            <a:r>
              <a:rPr lang="en-US" b="1" dirty="0" err="1"/>
              <a:t>fonction</a:t>
            </a:r>
            <a:r>
              <a:rPr lang="en-US" b="1" dirty="0"/>
              <a:t> OR dans les </a:t>
            </a:r>
            <a:r>
              <a:rPr lang="en-US" b="1" dirty="0" err="1"/>
              <a:t>paramètres</a:t>
            </a:r>
            <a:r>
              <a:rPr lang="en-US" b="1" dirty="0"/>
              <a:t> du canal x. </a:t>
            </a:r>
            <a:r>
              <a:rPr lang="en-US" b="1" dirty="0" err="1"/>
              <a:t>Envoyez</a:t>
            </a:r>
            <a:r>
              <a:rPr lang="en-US" b="1" dirty="0"/>
              <a:t> les </a:t>
            </a:r>
            <a:r>
              <a:rPr lang="en-US" b="1" dirty="0" err="1"/>
              <a:t>adresses</a:t>
            </a:r>
            <a:r>
              <a:rPr lang="en-US" b="1" dirty="0"/>
              <a:t> de </a:t>
            </a:r>
            <a:r>
              <a:rPr lang="en-US" b="1" dirty="0" err="1"/>
              <a:t>groupe</a:t>
            </a:r>
            <a:r>
              <a:rPr lang="en-US" b="1" dirty="0"/>
              <a:t> </a:t>
            </a:r>
            <a:r>
              <a:rPr lang="en-US" b="1" dirty="0" err="1"/>
              <a:t>nécessaires</a:t>
            </a:r>
            <a:r>
              <a:rPr lang="en-US" b="1" dirty="0"/>
              <a:t> au </a:t>
            </a:r>
            <a:r>
              <a:rPr lang="en-US" b="1" dirty="0" err="1"/>
              <a:t>commutateur</a:t>
            </a:r>
            <a:r>
              <a:rPr lang="en-US" b="1" dirty="0"/>
              <a:t> </a:t>
            </a:r>
            <a:r>
              <a:rPr lang="en-US" b="1" dirty="0" err="1"/>
              <a:t>ou</a:t>
            </a:r>
            <a:r>
              <a:rPr lang="en-US" b="1" dirty="0"/>
              <a:t> à </a:t>
            </a:r>
            <a:r>
              <a:rPr lang="en-US" b="1" dirty="0" err="1"/>
              <a:t>l'objet</a:t>
            </a:r>
            <a:r>
              <a:rPr lang="en-US" b="1" dirty="0"/>
              <a:t> </a:t>
            </a:r>
            <a:r>
              <a:rPr lang="en-US" b="1" dirty="0" err="1"/>
              <a:t>logique</a:t>
            </a:r>
            <a:r>
              <a:rPr lang="en-US" b="1" dirty="0"/>
              <a:t> avec un </a:t>
            </a:r>
            <a:r>
              <a:rPr lang="en-US" b="1" dirty="0" err="1"/>
              <a:t>capteur</a:t>
            </a:r>
            <a:r>
              <a:rPr lang="en-US" b="1" dirty="0"/>
              <a:t> de commutation</a:t>
            </a:r>
          </a:p>
          <a:p>
            <a:pPr>
              <a:lnSpc>
                <a:spcPct val="150000"/>
              </a:lnSpc>
            </a:pPr>
            <a:endParaRPr lang="en-US" sz="700" b="1" dirty="0"/>
          </a:p>
          <a:p>
            <a:pPr>
              <a:lnSpc>
                <a:spcPct val="150000"/>
              </a:lnSpc>
            </a:pPr>
            <a:r>
              <a:rPr lang="en-US" b="1" dirty="0" err="1"/>
              <a:t>Testez</a:t>
            </a:r>
            <a:r>
              <a:rPr lang="en-US" b="1" dirty="0"/>
              <a:t> le </a:t>
            </a:r>
            <a:r>
              <a:rPr lang="en-US" b="1" dirty="0" err="1"/>
              <a:t>fonctionnement</a:t>
            </a:r>
            <a:r>
              <a:rPr lang="en-US" b="1" dirty="0"/>
              <a:t> des </a:t>
            </a:r>
            <a:r>
              <a:rPr lang="en-US" b="1" dirty="0" err="1"/>
              <a:t>processus</a:t>
            </a:r>
            <a:r>
              <a:rPr lang="en-US" b="1" dirty="0"/>
              <a:t> </a:t>
            </a:r>
            <a:r>
              <a:rPr lang="en-US" b="1" dirty="0" err="1"/>
              <a:t>suivants</a:t>
            </a:r>
            <a:r>
              <a:rPr lang="en-US" b="1" dirty="0"/>
              <a:t> : </a:t>
            </a:r>
          </a:p>
          <a:p>
            <a:pPr marL="342900" indent="-342900">
              <a:lnSpc>
                <a:spcPct val="150000"/>
              </a:lnSpc>
              <a:buFont typeface="Wingdings" panose="05000000000000000000" pitchFamily="2" charset="2"/>
              <a:buChar char="§"/>
            </a:pPr>
            <a:r>
              <a:rPr lang="en-US" b="1" dirty="0" err="1"/>
              <a:t>Fonction</a:t>
            </a:r>
            <a:r>
              <a:rPr lang="en-US" b="1" dirty="0"/>
              <a:t> OR sans </a:t>
            </a:r>
            <a:r>
              <a:rPr lang="en-US" b="1" dirty="0" err="1"/>
              <a:t>temporisation</a:t>
            </a:r>
            <a:endParaRPr lang="en-US" b="1" dirty="0"/>
          </a:p>
          <a:p>
            <a:pPr marL="342900" indent="-342900">
              <a:lnSpc>
                <a:spcPct val="150000"/>
              </a:lnSpc>
              <a:buFont typeface="Wingdings" panose="05000000000000000000" pitchFamily="2" charset="2"/>
              <a:buChar char="§"/>
            </a:pPr>
            <a:r>
              <a:rPr lang="en-US" b="1" dirty="0" err="1"/>
              <a:t>Fonction</a:t>
            </a:r>
            <a:r>
              <a:rPr lang="en-US" b="1" dirty="0"/>
              <a:t> OR avec </a:t>
            </a:r>
            <a:r>
              <a:rPr lang="en-US" b="1" dirty="0" err="1"/>
              <a:t>temporisation</a:t>
            </a:r>
            <a:r>
              <a:rPr lang="en-US" b="1" dirty="0"/>
              <a:t> ACTIVÉE et/</a:t>
            </a:r>
            <a:r>
              <a:rPr lang="en-US" b="1" dirty="0" err="1"/>
              <a:t>ou</a:t>
            </a:r>
            <a:r>
              <a:rPr lang="en-US" b="1" dirty="0"/>
              <a:t> ACTIVÉE </a:t>
            </a:r>
          </a:p>
          <a:p>
            <a:pPr>
              <a:lnSpc>
                <a:spcPct val="150000"/>
              </a:lnSpc>
            </a:pPr>
            <a:endParaRPr lang="en-US" sz="700" b="1" dirty="0"/>
          </a:p>
          <a:p>
            <a:pPr>
              <a:lnSpc>
                <a:spcPct val="150000"/>
              </a:lnSpc>
            </a:pPr>
            <a:r>
              <a:rPr lang="en-GB" b="1" dirty="0"/>
              <a:t>Se familiariser</a:t>
            </a:r>
            <a:r>
              <a:rPr lang="en-US" b="1" dirty="0"/>
              <a:t> avec les organigrammes du </a:t>
            </a:r>
            <a:r>
              <a:rPr lang="en-US" b="1" dirty="0" err="1"/>
              <a:t>chapitre</a:t>
            </a:r>
            <a:r>
              <a:rPr lang="en-US" b="1" dirty="0"/>
              <a:t> sur la </a:t>
            </a:r>
            <a:r>
              <a:rPr lang="en-US" b="1" dirty="0" err="1"/>
              <a:t>fonction</a:t>
            </a:r>
            <a:r>
              <a:rPr lang="en-US" b="1" dirty="0"/>
              <a:t> OU (</a:t>
            </a:r>
            <a:r>
              <a:rPr lang="en-US" b="1" dirty="0" err="1"/>
              <a:t>cas</a:t>
            </a:r>
            <a:r>
              <a:rPr lang="en-US" b="1" dirty="0"/>
              <a:t> 1 et </a:t>
            </a:r>
            <a:r>
              <a:rPr lang="en-US" b="1" dirty="0" err="1"/>
              <a:t>cas</a:t>
            </a:r>
            <a:r>
              <a:rPr lang="en-US" b="1" dirty="0"/>
              <a:t> 2).</a:t>
            </a:r>
          </a:p>
        </p:txBody>
      </p:sp>
    </p:spTree>
    <p:extLst>
      <p:ext uri="{BB962C8B-B14F-4D97-AF65-F5344CB8AC3E}">
        <p14:creationId xmlns:p14="http://schemas.microsoft.com/office/powerpoint/2010/main" val="3174906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05606"/>
            <a:ext cx="6696223" cy="719138"/>
          </a:xfrm>
        </p:spPr>
        <p:txBody>
          <a:bodyPr/>
          <a:lstStyle/>
          <a:p>
            <a:r>
              <a:rPr lang="en-US" sz="2400" dirty="0" err="1"/>
              <a:t>Climatisation</a:t>
            </a:r>
            <a:r>
              <a:rPr lang="en-US" sz="2400" dirty="0"/>
              <a:t> </a:t>
            </a:r>
            <a:r>
              <a:rPr lang="en-US" sz="2400" dirty="0" err="1"/>
              <a:t>Automatique</a:t>
            </a:r>
            <a:r>
              <a:rPr lang="en-US" sz="2400" dirty="0"/>
              <a:t> de la Pièce avec Activation (</a:t>
            </a:r>
            <a:r>
              <a:rPr lang="en-US" sz="2400" dirty="0" err="1"/>
              <a:t>fonction</a:t>
            </a:r>
            <a:r>
              <a:rPr lang="en-US" sz="2400" dirty="0"/>
              <a:t> AND)</a:t>
            </a:r>
            <a:endParaRPr lang="en-GB" sz="2400" dirty="0"/>
          </a:p>
        </p:txBody>
      </p:sp>
      <p:sp>
        <p:nvSpPr>
          <p:cNvPr id="5" name="Rectangle 4">
            <a:extLst>
              <a:ext uri="{FF2B5EF4-FFF2-40B4-BE49-F238E27FC236}">
                <a16:creationId xmlns:a16="http://schemas.microsoft.com/office/drawing/2014/main" id="{3076B293-B44C-4C74-91AE-1E6F9FBB1A05}"/>
              </a:ext>
            </a:extLst>
          </p:cNvPr>
          <p:cNvSpPr/>
          <p:nvPr/>
        </p:nvSpPr>
        <p:spPr>
          <a:xfrm>
            <a:off x="943075" y="1343084"/>
            <a:ext cx="7661373" cy="5016758"/>
          </a:xfrm>
          <a:prstGeom prst="rect">
            <a:avLst/>
          </a:prstGeom>
        </p:spPr>
        <p:txBody>
          <a:bodyPr wrap="square">
            <a:spAutoFit/>
          </a:bodyPr>
          <a:lstStyle/>
          <a:p>
            <a:r>
              <a:rPr lang="en-US" sz="2400" b="1" dirty="0">
                <a:solidFill>
                  <a:srgbClr val="369226"/>
                </a:solidFill>
              </a:rPr>
              <a:t>ÉTAPE 1</a:t>
            </a:r>
          </a:p>
          <a:p>
            <a:endParaRPr lang="en-US" sz="1600" b="1" dirty="0"/>
          </a:p>
          <a:p>
            <a:r>
              <a:rPr lang="en-US" sz="1600" b="1" dirty="0" err="1"/>
              <a:t>Attribuez</a:t>
            </a:r>
            <a:r>
              <a:rPr lang="en-US" sz="1600" b="1" dirty="0"/>
              <a:t> à un </a:t>
            </a:r>
            <a:r>
              <a:rPr lang="en-US" sz="1600" b="1" dirty="0" err="1"/>
              <a:t>capteur</a:t>
            </a:r>
            <a:r>
              <a:rPr lang="en-US" sz="1600" b="1" dirty="0"/>
              <a:t> de commutation la </a:t>
            </a:r>
            <a:r>
              <a:rPr lang="en-US" sz="1600" b="1" dirty="0" err="1"/>
              <a:t>tâche</a:t>
            </a:r>
            <a:r>
              <a:rPr lang="en-US" sz="1600" b="1" dirty="0"/>
              <a:t> de commutation d'un </a:t>
            </a:r>
            <a:r>
              <a:rPr lang="en-US" sz="1600" b="1" dirty="0" err="1"/>
              <a:t>climatiseur</a:t>
            </a:r>
            <a:r>
              <a:rPr lang="en-US" sz="1600" b="1" dirty="0"/>
              <a:t> </a:t>
            </a:r>
            <a:r>
              <a:rPr lang="en-US" sz="1600" b="1" dirty="0" err="1"/>
              <a:t>individuel</a:t>
            </a:r>
            <a:r>
              <a:rPr lang="en-US" sz="1600" b="1" dirty="0"/>
              <a:t> par </a:t>
            </a:r>
            <a:r>
              <a:rPr lang="en-US" sz="1600" b="1" dirty="0" err="1"/>
              <a:t>l'intermédiaire</a:t>
            </a:r>
            <a:r>
              <a:rPr lang="en-US" sz="1600" b="1" dirty="0"/>
              <a:t> d'un </a:t>
            </a:r>
            <a:r>
              <a:rPr lang="en-US" sz="1600" b="1" dirty="0" err="1"/>
              <a:t>actionneur</a:t>
            </a:r>
            <a:r>
              <a:rPr lang="en-US" sz="1600" b="1" dirty="0"/>
              <a:t> de commutation. La pièce </a:t>
            </a:r>
            <a:r>
              <a:rPr lang="en-US" sz="1600" b="1" dirty="0" err="1"/>
              <a:t>est</a:t>
            </a:r>
            <a:r>
              <a:rPr lang="en-US" sz="1600" b="1" dirty="0"/>
              <a:t> </a:t>
            </a:r>
            <a:r>
              <a:rPr lang="en-US" sz="1600" b="1" dirty="0" err="1"/>
              <a:t>équipée</a:t>
            </a:r>
            <a:r>
              <a:rPr lang="en-US" sz="1600" b="1" dirty="0"/>
              <a:t> d'un thermostat </a:t>
            </a:r>
            <a:r>
              <a:rPr lang="en-US" sz="1600" b="1" dirty="0" err="1"/>
              <a:t>d'ambiance</a:t>
            </a:r>
            <a:r>
              <a:rPr lang="en-US" sz="1600" b="1" dirty="0"/>
              <a:t> avec </a:t>
            </a:r>
            <a:r>
              <a:rPr lang="en-US" sz="1600" b="1" dirty="0" err="1"/>
              <a:t>commande</a:t>
            </a:r>
            <a:r>
              <a:rPr lang="en-US" sz="1600" b="1" dirty="0"/>
              <a:t> à deux </a:t>
            </a:r>
            <a:r>
              <a:rPr lang="en-US" sz="1600" b="1" dirty="0" err="1"/>
              <a:t>niveaux</a:t>
            </a:r>
            <a:r>
              <a:rPr lang="en-US" sz="1600" b="1" dirty="0"/>
              <a:t> et </a:t>
            </a:r>
            <a:r>
              <a:rPr lang="en-US" sz="1600" b="1" dirty="0" err="1"/>
              <a:t>possibilité</a:t>
            </a:r>
            <a:r>
              <a:rPr lang="en-US" sz="1600" b="1" dirty="0"/>
              <a:t> de bus. </a:t>
            </a:r>
            <a:r>
              <a:rPr lang="en-US" sz="1600" b="1" dirty="0" err="1"/>
              <a:t>En</a:t>
            </a:r>
            <a:r>
              <a:rPr lang="en-US" sz="1600" b="1" dirty="0"/>
              <a:t> alternative, un thermostat </a:t>
            </a:r>
            <a:r>
              <a:rPr lang="en-US" sz="1600" b="1" dirty="0" err="1"/>
              <a:t>d'ambiance</a:t>
            </a:r>
            <a:r>
              <a:rPr lang="en-US" sz="1600" b="1" dirty="0"/>
              <a:t> conventionnel </a:t>
            </a:r>
            <a:r>
              <a:rPr lang="en-US" sz="1600" b="1" dirty="0" err="1"/>
              <a:t>peut</a:t>
            </a:r>
            <a:r>
              <a:rPr lang="en-US" sz="1600" b="1" dirty="0"/>
              <a:t> </a:t>
            </a:r>
            <a:r>
              <a:rPr lang="en-US" sz="1600" b="1" dirty="0" err="1"/>
              <a:t>être</a:t>
            </a:r>
            <a:r>
              <a:rPr lang="en-US" sz="1600" b="1" dirty="0"/>
              <a:t> </a:t>
            </a:r>
            <a:r>
              <a:rPr lang="en-US" sz="1600" b="1" dirty="0" err="1"/>
              <a:t>doté</a:t>
            </a:r>
            <a:r>
              <a:rPr lang="en-US" sz="1600" b="1" dirty="0"/>
              <a:t> </a:t>
            </a:r>
            <a:r>
              <a:rPr lang="en-US" sz="1600" b="1" dirty="0" err="1"/>
              <a:t>d'une</a:t>
            </a:r>
            <a:r>
              <a:rPr lang="en-US" sz="1600" b="1" dirty="0"/>
              <a:t> entrée </a:t>
            </a:r>
            <a:r>
              <a:rPr lang="en-US" sz="1600" b="1" dirty="0" err="1"/>
              <a:t>binaire</a:t>
            </a:r>
            <a:r>
              <a:rPr lang="en-US" sz="1600" b="1" dirty="0"/>
              <a:t> pour le bus</a:t>
            </a:r>
          </a:p>
          <a:p>
            <a:endParaRPr lang="en-US" sz="1600" b="1" dirty="0"/>
          </a:p>
          <a:p>
            <a:r>
              <a:rPr lang="en-US" sz="1600" b="1" dirty="0" err="1"/>
              <a:t>Affectez</a:t>
            </a:r>
            <a:r>
              <a:rPr lang="en-US" sz="1600" b="1" dirty="0"/>
              <a:t> les </a:t>
            </a:r>
            <a:r>
              <a:rPr lang="en-US" sz="1600" b="1" dirty="0" err="1"/>
              <a:t>paramètres</a:t>
            </a:r>
            <a:r>
              <a:rPr lang="en-US" sz="1600" b="1" dirty="0"/>
              <a:t> de manière à </a:t>
            </a:r>
            <a:r>
              <a:rPr lang="en-US" sz="1600" b="1" dirty="0" err="1"/>
              <a:t>ce</a:t>
            </a:r>
            <a:r>
              <a:rPr lang="en-US" sz="1600" b="1" dirty="0"/>
              <a:t> que le thermostat </a:t>
            </a:r>
            <a:r>
              <a:rPr lang="en-US" sz="1600" b="1" dirty="0" err="1"/>
              <a:t>règle</a:t>
            </a:r>
            <a:r>
              <a:rPr lang="en-US" sz="1600" b="1" dirty="0"/>
              <a:t> la </a:t>
            </a:r>
            <a:r>
              <a:rPr lang="en-US" sz="1600" b="1" dirty="0" err="1"/>
              <a:t>température</a:t>
            </a:r>
            <a:r>
              <a:rPr lang="en-US" sz="1600" b="1" dirty="0"/>
              <a:t> </a:t>
            </a:r>
            <a:r>
              <a:rPr lang="en-US" sz="1600" b="1" dirty="0" err="1"/>
              <a:t>ambiante</a:t>
            </a:r>
            <a:r>
              <a:rPr lang="en-US" sz="1600" b="1" dirty="0"/>
              <a:t> via </a:t>
            </a:r>
            <a:r>
              <a:rPr lang="en-US" sz="1600" b="1" dirty="0" err="1"/>
              <a:t>l'objet</a:t>
            </a:r>
            <a:r>
              <a:rPr lang="en-US" sz="1600" b="1" dirty="0"/>
              <a:t> de commutation et que le </a:t>
            </a:r>
            <a:r>
              <a:rPr lang="en-US" sz="1600" b="1" dirty="0" err="1"/>
              <a:t>capteur</a:t>
            </a:r>
            <a:r>
              <a:rPr lang="en-US" sz="1600" b="1" dirty="0"/>
              <a:t> de commutation active </a:t>
            </a:r>
            <a:r>
              <a:rPr lang="en-US" sz="1600" b="1" dirty="0" err="1"/>
              <a:t>ou</a:t>
            </a:r>
            <a:r>
              <a:rPr lang="en-US" sz="1600" b="1" dirty="0"/>
              <a:t> </a:t>
            </a:r>
            <a:r>
              <a:rPr lang="en-US" sz="1600" b="1" dirty="0" err="1"/>
              <a:t>désactive</a:t>
            </a:r>
            <a:r>
              <a:rPr lang="en-US" sz="1600" b="1" dirty="0"/>
              <a:t> la boucle </a:t>
            </a:r>
            <a:r>
              <a:rPr lang="en-US" sz="1600" b="1" dirty="0" err="1"/>
              <a:t>fermée</a:t>
            </a:r>
            <a:r>
              <a:rPr lang="en-US" sz="1600" b="1" dirty="0"/>
              <a:t> via </a:t>
            </a:r>
            <a:r>
              <a:rPr lang="en-US" sz="1600" b="1" dirty="0" err="1"/>
              <a:t>l'objet</a:t>
            </a:r>
            <a:r>
              <a:rPr lang="en-US" sz="1600" b="1" dirty="0"/>
              <a:t> </a:t>
            </a:r>
            <a:r>
              <a:rPr lang="en-US" sz="1600" b="1" dirty="0" err="1"/>
              <a:t>logique</a:t>
            </a:r>
            <a:r>
              <a:rPr lang="en-US" sz="1600" b="1" dirty="0"/>
              <a:t> (</a:t>
            </a:r>
            <a:r>
              <a:rPr lang="en-US" sz="1600" b="1" dirty="0" err="1"/>
              <a:t>fonction</a:t>
            </a:r>
            <a:r>
              <a:rPr lang="en-US" sz="1600" b="1" dirty="0"/>
              <a:t> AND)</a:t>
            </a:r>
          </a:p>
          <a:p>
            <a:endParaRPr lang="en-US" sz="1600" b="1" dirty="0"/>
          </a:p>
          <a:p>
            <a:r>
              <a:rPr lang="en-US" sz="1600" b="1" dirty="0" err="1"/>
              <a:t>Créez</a:t>
            </a:r>
            <a:r>
              <a:rPr lang="en-US" sz="1600" b="1" dirty="0"/>
              <a:t> les </a:t>
            </a:r>
            <a:r>
              <a:rPr lang="en-US" sz="1600" b="1" dirty="0" err="1"/>
              <a:t>adresses</a:t>
            </a:r>
            <a:r>
              <a:rPr lang="en-US" sz="1600" b="1" dirty="0"/>
              <a:t> de </a:t>
            </a:r>
            <a:r>
              <a:rPr lang="en-US" sz="1600" b="1" dirty="0" err="1"/>
              <a:t>groupe</a:t>
            </a:r>
            <a:r>
              <a:rPr lang="en-US" sz="1600" b="1" dirty="0"/>
              <a:t> </a:t>
            </a:r>
            <a:r>
              <a:rPr lang="en-US" sz="1600" b="1" dirty="0" err="1"/>
              <a:t>nécessaires</a:t>
            </a:r>
            <a:r>
              <a:rPr lang="en-US" sz="1600" b="1" dirty="0"/>
              <a:t> </a:t>
            </a:r>
            <a:r>
              <a:rPr lang="en-US" sz="1600" b="1" dirty="0" err="1"/>
              <a:t>en</a:t>
            </a:r>
            <a:r>
              <a:rPr lang="en-US" sz="1600" b="1" dirty="0"/>
              <a:t> tant que </a:t>
            </a:r>
            <a:r>
              <a:rPr lang="en-US" sz="1600" b="1" dirty="0" err="1"/>
              <a:t>groupes</a:t>
            </a:r>
            <a:r>
              <a:rPr lang="en-US" sz="1600" b="1" dirty="0"/>
              <a:t> </a:t>
            </a:r>
            <a:r>
              <a:rPr lang="en-US" sz="1600" b="1" dirty="0" err="1"/>
              <a:t>principaux</a:t>
            </a:r>
            <a:r>
              <a:rPr lang="en-US" sz="1600" b="1" dirty="0"/>
              <a:t> et </a:t>
            </a:r>
            <a:r>
              <a:rPr lang="en-US" sz="1600" b="1" dirty="0" err="1"/>
              <a:t>intermédiaires</a:t>
            </a:r>
            <a:r>
              <a:rPr lang="en-US" sz="1600" b="1" dirty="0"/>
              <a:t>.</a:t>
            </a:r>
          </a:p>
          <a:p>
            <a:r>
              <a:rPr lang="en-US" sz="1600" b="1" dirty="0" err="1"/>
              <a:t>Créez</a:t>
            </a:r>
            <a:r>
              <a:rPr lang="en-US" sz="1600" b="1" dirty="0"/>
              <a:t> les sous-</a:t>
            </a:r>
            <a:r>
              <a:rPr lang="en-US" sz="1600" b="1" dirty="0" err="1"/>
              <a:t>groupes</a:t>
            </a:r>
            <a:r>
              <a:rPr lang="en-US" sz="1600" b="1" dirty="0"/>
              <a:t> </a:t>
            </a:r>
            <a:r>
              <a:rPr lang="en-US" sz="1600" b="1" dirty="0" err="1"/>
              <a:t>nécessaires</a:t>
            </a:r>
            <a:r>
              <a:rPr lang="en-US" sz="1600" b="1" dirty="0"/>
              <a:t>, par </a:t>
            </a:r>
            <a:r>
              <a:rPr lang="en-US" sz="1600" b="1" dirty="0" err="1"/>
              <a:t>exemple</a:t>
            </a:r>
            <a:r>
              <a:rPr lang="en-US" sz="1600" b="1" dirty="0"/>
              <a:t> </a:t>
            </a:r>
          </a:p>
          <a:p>
            <a:r>
              <a:rPr lang="en-US" sz="1600" b="1" dirty="0"/>
              <a:t>	35 = Thermostat pour chambre </a:t>
            </a:r>
            <a:r>
              <a:rPr lang="en-US" sz="1600" b="1" dirty="0" err="1"/>
              <a:t>froide</a:t>
            </a:r>
            <a:r>
              <a:rPr lang="en-US" sz="1600" b="1" dirty="0"/>
              <a:t> xx</a:t>
            </a:r>
          </a:p>
          <a:p>
            <a:r>
              <a:rPr lang="en-US" sz="1600" b="1" dirty="0"/>
              <a:t>	36 = </a:t>
            </a:r>
            <a:r>
              <a:rPr lang="en-US" sz="1600" b="1" dirty="0" err="1"/>
              <a:t>Capteur</a:t>
            </a:r>
            <a:r>
              <a:rPr lang="en-US" sz="1600" b="1" dirty="0"/>
              <a:t> de commutation pour chambre </a:t>
            </a:r>
            <a:r>
              <a:rPr lang="en-US" sz="1600" b="1" dirty="0" err="1"/>
              <a:t>froide</a:t>
            </a:r>
            <a:r>
              <a:rPr lang="en-US" sz="1600" b="1" dirty="0"/>
              <a:t> xx</a:t>
            </a:r>
          </a:p>
          <a:p>
            <a:r>
              <a:rPr lang="en-US" sz="1600" b="1" dirty="0"/>
              <a:t>et </a:t>
            </a:r>
            <a:r>
              <a:rPr lang="en-US" sz="1600" b="1" dirty="0" err="1"/>
              <a:t>lier</a:t>
            </a:r>
            <a:r>
              <a:rPr lang="en-US" sz="1600" b="1" dirty="0"/>
              <a:t> </a:t>
            </a:r>
            <a:r>
              <a:rPr lang="en-US" sz="1600" b="1" dirty="0" err="1"/>
              <a:t>ces</a:t>
            </a:r>
            <a:r>
              <a:rPr lang="en-US" sz="1600" b="1" dirty="0"/>
              <a:t> </a:t>
            </a:r>
            <a:r>
              <a:rPr lang="en-US" sz="1600" b="1" dirty="0" err="1"/>
              <a:t>adresses</a:t>
            </a:r>
            <a:r>
              <a:rPr lang="en-US" sz="1600" b="1" dirty="0"/>
              <a:t> aux </a:t>
            </a:r>
            <a:r>
              <a:rPr lang="en-US" sz="1600" b="1" dirty="0" err="1"/>
              <a:t>objets</a:t>
            </a:r>
            <a:r>
              <a:rPr lang="en-US" sz="1600" b="1" dirty="0"/>
              <a:t> </a:t>
            </a:r>
            <a:r>
              <a:rPr lang="en-US" sz="1600" b="1" dirty="0" err="1"/>
              <a:t>concernés</a:t>
            </a:r>
            <a:endParaRPr lang="en-US" sz="1600" b="1" dirty="0"/>
          </a:p>
        </p:txBody>
      </p:sp>
    </p:spTree>
    <p:extLst>
      <p:ext uri="{BB962C8B-B14F-4D97-AF65-F5344CB8AC3E}">
        <p14:creationId xmlns:p14="http://schemas.microsoft.com/office/powerpoint/2010/main" val="3012966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sz="2400" dirty="0" err="1"/>
              <a:t>Climatisation</a:t>
            </a:r>
            <a:r>
              <a:rPr lang="en-US" sz="2400" dirty="0"/>
              <a:t> </a:t>
            </a:r>
            <a:r>
              <a:rPr lang="en-US" sz="2400" dirty="0" err="1"/>
              <a:t>Automatique</a:t>
            </a:r>
            <a:r>
              <a:rPr lang="en-US" sz="2400" dirty="0"/>
              <a:t> de la Pièce avec Activation (</a:t>
            </a:r>
            <a:r>
              <a:rPr lang="en-US" sz="2400" dirty="0" err="1"/>
              <a:t>fonction</a:t>
            </a:r>
            <a:r>
              <a:rPr lang="en-US" sz="2400" dirty="0"/>
              <a:t> AND)</a:t>
            </a:r>
            <a:endParaRPr lang="en-GB" sz="2400" dirty="0"/>
          </a:p>
        </p:txBody>
      </p:sp>
      <p:sp>
        <p:nvSpPr>
          <p:cNvPr id="5" name="Rectangle 4">
            <a:extLst>
              <a:ext uri="{FF2B5EF4-FFF2-40B4-BE49-F238E27FC236}">
                <a16:creationId xmlns:a16="http://schemas.microsoft.com/office/drawing/2014/main" id="{3076B293-B44C-4C74-91AE-1E6F9FBB1A05}"/>
              </a:ext>
            </a:extLst>
          </p:cNvPr>
          <p:cNvSpPr/>
          <p:nvPr/>
        </p:nvSpPr>
        <p:spPr>
          <a:xfrm>
            <a:off x="943075" y="1340768"/>
            <a:ext cx="7661373" cy="4678204"/>
          </a:xfrm>
          <a:prstGeom prst="rect">
            <a:avLst/>
          </a:prstGeom>
        </p:spPr>
        <p:txBody>
          <a:bodyPr wrap="square">
            <a:spAutoFit/>
          </a:bodyPr>
          <a:lstStyle/>
          <a:p>
            <a:r>
              <a:rPr lang="en-US" sz="2400" b="1" dirty="0">
                <a:solidFill>
                  <a:srgbClr val="369226"/>
                </a:solidFill>
              </a:rPr>
              <a:t>ÉTAPE 2</a:t>
            </a:r>
          </a:p>
          <a:p>
            <a:endParaRPr lang="en-US" sz="1600" b="1" dirty="0"/>
          </a:p>
          <a:p>
            <a:r>
              <a:rPr lang="en-US" sz="1600" b="1" dirty="0" err="1"/>
              <a:t>Transférez</a:t>
            </a:r>
            <a:r>
              <a:rPr lang="en-US" sz="1600" b="1" dirty="0"/>
              <a:t> les </a:t>
            </a:r>
            <a:r>
              <a:rPr lang="en-US" sz="1600" b="1" dirty="0" err="1"/>
              <a:t>informations</a:t>
            </a:r>
            <a:r>
              <a:rPr lang="en-US" sz="1600" b="1" dirty="0"/>
              <a:t> </a:t>
            </a:r>
            <a:r>
              <a:rPr lang="en-US" sz="1600" b="1" dirty="0" err="1"/>
              <a:t>modifiées</a:t>
            </a:r>
            <a:r>
              <a:rPr lang="en-US" sz="1600" b="1" dirty="0"/>
              <a:t> dans les </a:t>
            </a:r>
            <a:r>
              <a:rPr lang="en-US" sz="1600" b="1" dirty="0" err="1"/>
              <a:t>appareils</a:t>
            </a:r>
            <a:r>
              <a:rPr lang="en-US" sz="1600" b="1" dirty="0"/>
              <a:t> et </a:t>
            </a:r>
            <a:r>
              <a:rPr lang="en-US" sz="1600" b="1" dirty="0" err="1"/>
              <a:t>testez</a:t>
            </a:r>
            <a:r>
              <a:rPr lang="en-US" sz="1600" b="1" dirty="0"/>
              <a:t> la </a:t>
            </a:r>
            <a:r>
              <a:rPr lang="en-US" sz="1600" b="1" dirty="0" err="1"/>
              <a:t>fonction</a:t>
            </a:r>
            <a:endParaRPr lang="en-US" sz="1600" b="1" dirty="0"/>
          </a:p>
          <a:p>
            <a:endParaRPr lang="en-US" sz="1600" b="1" dirty="0"/>
          </a:p>
          <a:p>
            <a:r>
              <a:rPr lang="en-US" sz="1600" b="1" dirty="0" err="1"/>
              <a:t>Configurez</a:t>
            </a:r>
            <a:r>
              <a:rPr lang="en-US" sz="1600" b="1" dirty="0"/>
              <a:t> </a:t>
            </a:r>
            <a:r>
              <a:rPr lang="en-US" sz="1600" b="1" dirty="0" err="1"/>
              <a:t>une</a:t>
            </a:r>
            <a:r>
              <a:rPr lang="en-US" sz="1600" b="1" dirty="0"/>
              <a:t> </a:t>
            </a:r>
            <a:r>
              <a:rPr lang="en-US" sz="1600" b="1" dirty="0" err="1"/>
              <a:t>fonction</a:t>
            </a:r>
            <a:r>
              <a:rPr lang="en-US" sz="1600" b="1" dirty="0"/>
              <a:t> centrale DÉSACTIVÉE et </a:t>
            </a:r>
            <a:r>
              <a:rPr lang="en-US" sz="1600" b="1" dirty="0" err="1"/>
              <a:t>étendez</a:t>
            </a:r>
            <a:r>
              <a:rPr lang="en-US" sz="1600" b="1" dirty="0"/>
              <a:t>-la aux </a:t>
            </a:r>
            <a:r>
              <a:rPr lang="en-US" sz="1600" b="1" dirty="0" err="1"/>
              <a:t>appareils</a:t>
            </a:r>
            <a:r>
              <a:rPr lang="en-US" sz="1600" b="1" dirty="0"/>
              <a:t> de </a:t>
            </a:r>
            <a:r>
              <a:rPr lang="en-US" sz="1600" b="1" dirty="0" err="1"/>
              <a:t>climatisation</a:t>
            </a:r>
            <a:endParaRPr lang="en-US" sz="1600" b="1" dirty="0"/>
          </a:p>
          <a:p>
            <a:endParaRPr lang="en-US" sz="1600" b="1" dirty="0"/>
          </a:p>
          <a:p>
            <a:r>
              <a:rPr lang="en-US" sz="1600" b="1" dirty="0" err="1"/>
              <a:t>Reliez</a:t>
            </a:r>
            <a:r>
              <a:rPr lang="en-US" sz="1600" b="1" dirty="0"/>
              <a:t> </a:t>
            </a:r>
            <a:r>
              <a:rPr lang="en-US" sz="1600" b="1" dirty="0" err="1"/>
              <a:t>l'adresse</a:t>
            </a:r>
            <a:r>
              <a:rPr lang="en-US" sz="1600" b="1" dirty="0"/>
              <a:t> centrale du </a:t>
            </a:r>
            <a:r>
              <a:rPr lang="en-US" sz="1600" b="1" dirty="0" err="1"/>
              <a:t>groupe</a:t>
            </a:r>
            <a:r>
              <a:rPr lang="en-US" sz="1600" b="1" dirty="0"/>
              <a:t> DÉSACTIVÉ avec </a:t>
            </a:r>
            <a:r>
              <a:rPr lang="en-US" sz="1600" b="1" dirty="0" err="1"/>
              <a:t>l'objet</a:t>
            </a:r>
            <a:r>
              <a:rPr lang="en-US" sz="1600" b="1" dirty="0"/>
              <a:t> du </a:t>
            </a:r>
            <a:r>
              <a:rPr lang="en-US" sz="1600" b="1" dirty="0" err="1"/>
              <a:t>commutateur</a:t>
            </a:r>
            <a:r>
              <a:rPr lang="en-US" sz="1600" b="1" dirty="0"/>
              <a:t> et </a:t>
            </a:r>
            <a:r>
              <a:rPr lang="en-US" sz="1600" b="1" dirty="0" err="1"/>
              <a:t>testez</a:t>
            </a:r>
            <a:r>
              <a:rPr lang="en-US" sz="1600" b="1" dirty="0"/>
              <a:t> la </a:t>
            </a:r>
            <a:r>
              <a:rPr lang="en-US" sz="1600" b="1" dirty="0" err="1"/>
              <a:t>fonction</a:t>
            </a:r>
            <a:endParaRPr lang="en-US" sz="1600" b="1" dirty="0"/>
          </a:p>
          <a:p>
            <a:endParaRPr lang="en-US" sz="1600" b="1" dirty="0"/>
          </a:p>
          <a:p>
            <a:r>
              <a:rPr lang="en-US" sz="1600" b="1" dirty="0" err="1"/>
              <a:t>Reliez</a:t>
            </a:r>
            <a:r>
              <a:rPr lang="en-US" sz="1600" b="1" dirty="0"/>
              <a:t> </a:t>
            </a:r>
            <a:r>
              <a:rPr lang="en-US" sz="1600" b="1" dirty="0" err="1"/>
              <a:t>l'adresse</a:t>
            </a:r>
            <a:r>
              <a:rPr lang="en-US" sz="1600" b="1" dirty="0"/>
              <a:t> du Groupe central DÉSACTIVÉ à </a:t>
            </a:r>
            <a:r>
              <a:rPr lang="en-US" sz="1600" b="1" dirty="0" err="1"/>
              <a:t>l'objet</a:t>
            </a:r>
            <a:r>
              <a:rPr lang="en-US" sz="1600" b="1" dirty="0"/>
              <a:t> </a:t>
            </a:r>
            <a:r>
              <a:rPr lang="en-US" sz="1600" b="1" dirty="0" err="1"/>
              <a:t>logique</a:t>
            </a:r>
            <a:r>
              <a:rPr lang="en-US" sz="1600" b="1" dirty="0"/>
              <a:t> et tester la </a:t>
            </a:r>
            <a:r>
              <a:rPr lang="en-US" sz="1600" b="1" dirty="0" err="1"/>
              <a:t>fonction</a:t>
            </a:r>
            <a:endParaRPr lang="en-US" sz="1600" b="1" dirty="0"/>
          </a:p>
          <a:p>
            <a:endParaRPr lang="en-US" sz="1600" b="1" dirty="0"/>
          </a:p>
          <a:p>
            <a:r>
              <a:rPr lang="en-US" sz="1600" b="1" dirty="0">
                <a:solidFill>
                  <a:srgbClr val="369226"/>
                </a:solidFill>
              </a:rPr>
              <a:t>Résumé : </a:t>
            </a:r>
            <a:r>
              <a:rPr lang="en-US" sz="1600" b="1" dirty="0"/>
              <a:t>Si les </a:t>
            </a:r>
            <a:r>
              <a:rPr lang="en-US" sz="1600" b="1" dirty="0" err="1"/>
              <a:t>adresses</a:t>
            </a:r>
            <a:r>
              <a:rPr lang="en-US" sz="1600" b="1" dirty="0"/>
              <a:t> de </a:t>
            </a:r>
            <a:r>
              <a:rPr lang="en-US" sz="1600" b="1" dirty="0" err="1"/>
              <a:t>groupe</a:t>
            </a:r>
            <a:r>
              <a:rPr lang="en-US" sz="1600" b="1" dirty="0"/>
              <a:t> avec la </a:t>
            </a:r>
            <a:r>
              <a:rPr lang="en-US" sz="1600" b="1" dirty="0" err="1"/>
              <a:t>valeur</a:t>
            </a:r>
            <a:r>
              <a:rPr lang="en-US" sz="1600" b="1" dirty="0"/>
              <a:t> '1' qui </a:t>
            </a:r>
            <a:r>
              <a:rPr lang="en-US" sz="1600" b="1" dirty="0" err="1"/>
              <a:t>ont</a:t>
            </a:r>
            <a:r>
              <a:rPr lang="en-US" sz="1600" b="1" dirty="0"/>
              <a:t> </a:t>
            </a:r>
            <a:r>
              <a:rPr lang="en-US" sz="1600" b="1" dirty="0" err="1"/>
              <a:t>été</a:t>
            </a:r>
            <a:r>
              <a:rPr lang="en-US" sz="1600" b="1" dirty="0"/>
              <a:t> </a:t>
            </a:r>
            <a:r>
              <a:rPr lang="en-US" sz="1600" b="1" dirty="0" err="1"/>
              <a:t>générées</a:t>
            </a:r>
            <a:r>
              <a:rPr lang="en-US" sz="1600" b="1" dirty="0"/>
              <a:t> par des </a:t>
            </a:r>
            <a:r>
              <a:rPr lang="en-US" sz="1600" b="1" dirty="0" err="1"/>
              <a:t>processus</a:t>
            </a:r>
            <a:r>
              <a:rPr lang="en-US" sz="1600" b="1" dirty="0"/>
              <a:t> physiques ne </a:t>
            </a:r>
            <a:r>
              <a:rPr lang="en-US" sz="1600" b="1" dirty="0" err="1"/>
              <a:t>sont</a:t>
            </a:r>
            <a:r>
              <a:rPr lang="en-US" sz="1600" b="1" dirty="0"/>
              <a:t> pas </a:t>
            </a:r>
            <a:r>
              <a:rPr lang="en-US" sz="1600" b="1" dirty="0" err="1"/>
              <a:t>autorisées</a:t>
            </a:r>
            <a:r>
              <a:rPr lang="en-US" sz="1600" b="1" dirty="0"/>
              <a:t> à </a:t>
            </a:r>
            <a:r>
              <a:rPr lang="en-US" sz="1600" b="1" dirty="0" err="1"/>
              <a:t>être</a:t>
            </a:r>
            <a:r>
              <a:rPr lang="en-US" sz="1600" b="1" dirty="0"/>
              <a:t> </a:t>
            </a:r>
            <a:r>
              <a:rPr lang="en-US" sz="1600" b="1" dirty="0" err="1"/>
              <a:t>réinitialisées</a:t>
            </a:r>
            <a:r>
              <a:rPr lang="en-US" sz="1600" b="1" dirty="0"/>
              <a:t> par </a:t>
            </a:r>
            <a:r>
              <a:rPr lang="en-US" sz="1600" b="1" dirty="0" err="1"/>
              <a:t>une</a:t>
            </a:r>
            <a:r>
              <a:rPr lang="en-US" sz="1600" b="1" dirty="0"/>
              <a:t> </a:t>
            </a:r>
            <a:r>
              <a:rPr lang="en-US" sz="1600" b="1" dirty="0" err="1"/>
              <a:t>commande</a:t>
            </a:r>
            <a:r>
              <a:rPr lang="en-US" sz="1600" b="1" dirty="0"/>
              <a:t> centrale 'OFF', </a:t>
            </a:r>
            <a:r>
              <a:rPr lang="en-US" sz="1600" b="1" dirty="0" err="1"/>
              <a:t>l'adresse</a:t>
            </a:r>
            <a:r>
              <a:rPr lang="en-US" sz="1600" b="1" dirty="0"/>
              <a:t> de </a:t>
            </a:r>
            <a:r>
              <a:rPr lang="en-US" sz="1600" b="1" dirty="0" err="1"/>
              <a:t>groupe</a:t>
            </a:r>
            <a:r>
              <a:rPr lang="en-US" sz="1600" b="1" dirty="0"/>
              <a:t> </a:t>
            </a:r>
            <a:r>
              <a:rPr lang="en-US" sz="1600" b="1" dirty="0" err="1"/>
              <a:t>est</a:t>
            </a:r>
            <a:r>
              <a:rPr lang="en-US" sz="1600" b="1" dirty="0"/>
              <a:t> </a:t>
            </a:r>
            <a:r>
              <a:rPr lang="en-US" sz="1600" b="1" dirty="0" err="1"/>
              <a:t>envoyée</a:t>
            </a:r>
            <a:r>
              <a:rPr lang="en-US" sz="1600" b="1" dirty="0"/>
              <a:t> </a:t>
            </a:r>
            <a:r>
              <a:rPr lang="en-US" sz="1600" b="1" dirty="0" err="1"/>
              <a:t>cycliquement</a:t>
            </a:r>
            <a:endParaRPr lang="en-US" sz="1600" b="1" dirty="0"/>
          </a:p>
          <a:p>
            <a:r>
              <a:rPr lang="en-US" sz="1600" b="1" dirty="0"/>
              <a:t> </a:t>
            </a:r>
          </a:p>
        </p:txBody>
      </p:sp>
    </p:spTree>
    <p:extLst>
      <p:ext uri="{BB962C8B-B14F-4D97-AF65-F5344CB8AC3E}">
        <p14:creationId xmlns:p14="http://schemas.microsoft.com/office/powerpoint/2010/main" val="578036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sz="2000"/>
              <a:t>Fonction AND sans temporisation et avec temporisation ACTIVÉE/DÉSACTIVÉE</a:t>
            </a:r>
            <a:endParaRPr lang="en-GB" sz="2000" dirty="0"/>
          </a:p>
        </p:txBody>
      </p:sp>
      <p:sp>
        <p:nvSpPr>
          <p:cNvPr id="4" name="Rectangle 3">
            <a:extLst>
              <a:ext uri="{FF2B5EF4-FFF2-40B4-BE49-F238E27FC236}">
                <a16:creationId xmlns:a16="http://schemas.microsoft.com/office/drawing/2014/main" id="{5641AB53-82BD-49FE-837C-4587D460F7E4}"/>
              </a:ext>
            </a:extLst>
          </p:cNvPr>
          <p:cNvSpPr/>
          <p:nvPr/>
        </p:nvSpPr>
        <p:spPr>
          <a:xfrm>
            <a:off x="900113" y="1484784"/>
            <a:ext cx="7560319" cy="3170099"/>
          </a:xfrm>
          <a:prstGeom prst="rect">
            <a:avLst/>
          </a:prstGeom>
        </p:spPr>
        <p:txBody>
          <a:bodyPr wrap="square">
            <a:spAutoFit/>
          </a:bodyPr>
          <a:lstStyle/>
          <a:p>
            <a:r>
              <a:rPr lang="en-US" sz="2000" b="1" dirty="0" err="1"/>
              <a:t>Configurez</a:t>
            </a:r>
            <a:r>
              <a:rPr lang="en-US" sz="2000" b="1" dirty="0"/>
              <a:t> un </a:t>
            </a:r>
            <a:r>
              <a:rPr lang="en-US" sz="2000" b="1" dirty="0" err="1"/>
              <a:t>actionneur</a:t>
            </a:r>
            <a:r>
              <a:rPr lang="en-US" sz="2000" b="1" dirty="0"/>
              <a:t> de </a:t>
            </a:r>
            <a:r>
              <a:rPr lang="en-US" sz="2000" b="1" dirty="0" err="1"/>
              <a:t>commutateur</a:t>
            </a:r>
            <a:r>
              <a:rPr lang="en-US" sz="2000" b="1" dirty="0"/>
              <a:t> quadruple et </a:t>
            </a:r>
            <a:r>
              <a:rPr lang="en-US" sz="2000" b="1" dirty="0" err="1"/>
              <a:t>activez</a:t>
            </a:r>
            <a:r>
              <a:rPr lang="en-US" sz="2000" b="1" dirty="0"/>
              <a:t> la </a:t>
            </a:r>
            <a:r>
              <a:rPr lang="en-US" sz="2000" b="1" dirty="0" err="1"/>
              <a:t>fonction</a:t>
            </a:r>
            <a:r>
              <a:rPr lang="en-US" sz="2000" b="1" dirty="0"/>
              <a:t> AND dans les </a:t>
            </a:r>
            <a:r>
              <a:rPr lang="en-US" sz="2000" b="1" dirty="0" err="1"/>
              <a:t>paramètres</a:t>
            </a:r>
            <a:r>
              <a:rPr lang="en-US" sz="2000" b="1" dirty="0"/>
              <a:t> du canal</a:t>
            </a:r>
          </a:p>
          <a:p>
            <a:endParaRPr lang="en-US" sz="2000" b="1" dirty="0"/>
          </a:p>
          <a:p>
            <a:r>
              <a:rPr lang="en-US" sz="2000" b="1" dirty="0" err="1"/>
              <a:t>Testez</a:t>
            </a:r>
            <a:r>
              <a:rPr lang="en-US" sz="2000" b="1" dirty="0"/>
              <a:t> le </a:t>
            </a:r>
            <a:r>
              <a:rPr lang="en-US" sz="2000" b="1" dirty="0" err="1"/>
              <a:t>fonctionnement</a:t>
            </a:r>
            <a:r>
              <a:rPr lang="en-US" sz="2000" b="1" dirty="0"/>
              <a:t> des </a:t>
            </a:r>
            <a:r>
              <a:rPr lang="en-US" sz="2000" b="1" dirty="0" err="1"/>
              <a:t>séquences</a:t>
            </a:r>
            <a:r>
              <a:rPr lang="en-US" sz="2000" b="1" dirty="0"/>
              <a:t> </a:t>
            </a:r>
            <a:r>
              <a:rPr lang="en-US" sz="2000" b="1" dirty="0" err="1"/>
              <a:t>suivantes</a:t>
            </a:r>
            <a:r>
              <a:rPr lang="en-US" sz="2000" b="1" dirty="0"/>
              <a:t> :</a:t>
            </a:r>
          </a:p>
          <a:p>
            <a:pPr marL="342900" indent="-342900">
              <a:buFont typeface="Wingdings" panose="05000000000000000000" pitchFamily="2" charset="2"/>
              <a:buChar char="§"/>
            </a:pPr>
            <a:r>
              <a:rPr lang="en-US" sz="2000" b="1" dirty="0" err="1"/>
              <a:t>Fonction</a:t>
            </a:r>
            <a:r>
              <a:rPr lang="en-US" sz="2000" b="1" dirty="0"/>
              <a:t> AND sans </a:t>
            </a:r>
            <a:r>
              <a:rPr lang="en-US" sz="2000" b="1" dirty="0" err="1"/>
              <a:t>temporisation</a:t>
            </a:r>
            <a:endParaRPr lang="en-US" sz="2000" b="1" dirty="0"/>
          </a:p>
          <a:p>
            <a:pPr marL="342900" indent="-342900">
              <a:buFont typeface="Wingdings" panose="05000000000000000000" pitchFamily="2" charset="2"/>
              <a:buChar char="§"/>
            </a:pPr>
            <a:r>
              <a:rPr lang="en-US" sz="2000" b="1" dirty="0" err="1"/>
              <a:t>Fonction</a:t>
            </a:r>
            <a:r>
              <a:rPr lang="en-US" sz="2000" b="1" dirty="0"/>
              <a:t> AND avec </a:t>
            </a:r>
            <a:r>
              <a:rPr lang="en-US" sz="2000" b="1" dirty="0" err="1"/>
              <a:t>temporisation</a:t>
            </a:r>
            <a:r>
              <a:rPr lang="en-US" sz="2000" b="1" dirty="0"/>
              <a:t> ACTIVÉE</a:t>
            </a:r>
          </a:p>
          <a:p>
            <a:pPr marL="342900" indent="-342900">
              <a:buFont typeface="Wingdings" panose="05000000000000000000" pitchFamily="2" charset="2"/>
              <a:buChar char="§"/>
            </a:pPr>
            <a:r>
              <a:rPr lang="en-US" sz="2000" b="1" dirty="0" err="1"/>
              <a:t>Fonction</a:t>
            </a:r>
            <a:r>
              <a:rPr lang="en-US" sz="2000" b="1" dirty="0"/>
              <a:t> AND avec </a:t>
            </a:r>
            <a:r>
              <a:rPr lang="en-US" sz="2000" b="1" dirty="0" err="1"/>
              <a:t>temporisation</a:t>
            </a:r>
            <a:r>
              <a:rPr lang="en-US" sz="2000" b="1" dirty="0"/>
              <a:t> ACTIVÉE et Hors </a:t>
            </a:r>
            <a:r>
              <a:rPr lang="en-US" sz="2000" b="1" dirty="0" err="1"/>
              <a:t>Temporisation</a:t>
            </a:r>
            <a:r>
              <a:rPr lang="en-US" sz="2000" b="1" dirty="0"/>
              <a:t> DÉACTIVÉE</a:t>
            </a:r>
          </a:p>
          <a:p>
            <a:endParaRPr lang="en-US" sz="2000" b="1" dirty="0"/>
          </a:p>
          <a:p>
            <a:r>
              <a:rPr lang="en-GB" sz="2000" b="1" dirty="0"/>
              <a:t>Se familiariser</a:t>
            </a:r>
            <a:r>
              <a:rPr lang="en-US" sz="2000" b="1" dirty="0"/>
              <a:t> avec les organigrammes de la section </a:t>
            </a:r>
            <a:r>
              <a:rPr lang="en-US" sz="2000" b="1" dirty="0" err="1"/>
              <a:t>décrivant</a:t>
            </a:r>
            <a:r>
              <a:rPr lang="en-US" sz="2000" b="1" dirty="0"/>
              <a:t> la </a:t>
            </a:r>
            <a:r>
              <a:rPr lang="en-US" sz="2000" b="1" dirty="0" err="1"/>
              <a:t>fonction</a:t>
            </a:r>
            <a:r>
              <a:rPr lang="en-US" sz="2000" b="1" dirty="0"/>
              <a:t> ET (Cas 1, Cas 2, Cas 3)</a:t>
            </a:r>
          </a:p>
        </p:txBody>
      </p:sp>
    </p:spTree>
    <p:extLst>
      <p:ext uri="{BB962C8B-B14F-4D97-AF65-F5344CB8AC3E}">
        <p14:creationId xmlns:p14="http://schemas.microsoft.com/office/powerpoint/2010/main" val="409123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sz="2400" dirty="0"/>
              <a:t>Liaison </a:t>
            </a:r>
            <a:r>
              <a:rPr lang="en-US" sz="2400" dirty="0" err="1"/>
              <a:t>d'adresses</a:t>
            </a:r>
            <a:r>
              <a:rPr lang="en-US" sz="2400" dirty="0"/>
              <a:t> de </a:t>
            </a:r>
            <a:r>
              <a:rPr lang="en-US" sz="2400" dirty="0" err="1"/>
              <a:t>groupe</a:t>
            </a:r>
            <a:r>
              <a:rPr lang="en-US" sz="2400" dirty="0"/>
              <a:t> (1) - « </a:t>
            </a:r>
            <a:r>
              <a:rPr lang="en-US" sz="2400" dirty="0" err="1"/>
              <a:t>Logique</a:t>
            </a:r>
            <a:r>
              <a:rPr lang="en-US" sz="2400" dirty="0"/>
              <a:t> </a:t>
            </a:r>
            <a:r>
              <a:rPr lang="en-US" sz="2400" dirty="0" err="1"/>
              <a:t>étendue</a:t>
            </a:r>
            <a:r>
              <a:rPr lang="en-US" sz="2400" dirty="0"/>
              <a:t> »</a:t>
            </a:r>
            <a:endParaRPr lang="en-GB" sz="2400" dirty="0"/>
          </a:p>
        </p:txBody>
      </p:sp>
      <p:sp>
        <p:nvSpPr>
          <p:cNvPr id="4" name="Rectangle 3">
            <a:extLst>
              <a:ext uri="{FF2B5EF4-FFF2-40B4-BE49-F238E27FC236}">
                <a16:creationId xmlns:a16="http://schemas.microsoft.com/office/drawing/2014/main" id="{19976AEC-BF71-43F4-A513-BEF006A49B2E}"/>
              </a:ext>
            </a:extLst>
          </p:cNvPr>
          <p:cNvSpPr/>
          <p:nvPr/>
        </p:nvSpPr>
        <p:spPr>
          <a:xfrm>
            <a:off x="900113" y="1412776"/>
            <a:ext cx="7704335" cy="3693319"/>
          </a:xfrm>
          <a:prstGeom prst="rect">
            <a:avLst/>
          </a:prstGeom>
        </p:spPr>
        <p:txBody>
          <a:bodyPr wrap="square">
            <a:spAutoFit/>
          </a:bodyPr>
          <a:lstStyle/>
          <a:p>
            <a:r>
              <a:rPr lang="en-US" b="1"/>
              <a:t>Le système KNX est utilisé dans un bâtiment scolaire pour les fonctions de signalisation et de surveillance. Les ajouts suivants devraient accroître la sécurité du bâtiment :</a:t>
            </a:r>
          </a:p>
          <a:p>
            <a:pPr marL="342900" indent="-342900">
              <a:buFont typeface="Wingdings" panose="05000000000000000000" pitchFamily="2" charset="2"/>
              <a:buChar char="§"/>
            </a:pPr>
            <a:r>
              <a:rPr lang="en-US" b="1"/>
              <a:t>Le message ' Fenêtre ouverte ' doit être étendu à un signal d'alarme (protection contre le danger) à un moment donné de la journée et transmis au responsable technique (gardien)</a:t>
            </a:r>
          </a:p>
          <a:p>
            <a:endParaRPr lang="en-US" b="1" dirty="0"/>
          </a:p>
          <a:p>
            <a:r>
              <a:rPr lang="en-US" b="1"/>
              <a:t>L'adresse de groupe pour le message « Fenêtre ouverte » est par ex. lié dans un module logique comme adresse d'entrée à une deuxième adresse de groupe pour « Durée de l'alarme » en utilisant une fonction ET pour former une nouvelle adresse de groupe de sortie « ALARME – Fenêtre ouverte »</a:t>
            </a:r>
          </a:p>
          <a:p>
            <a:endParaRPr lang="en-US" b="1" dirty="0"/>
          </a:p>
        </p:txBody>
      </p:sp>
      <p:pic>
        <p:nvPicPr>
          <p:cNvPr id="5" name="Picture 4">
            <a:extLst>
              <a:ext uri="{FF2B5EF4-FFF2-40B4-BE49-F238E27FC236}">
                <a16:creationId xmlns:a16="http://schemas.microsoft.com/office/drawing/2014/main" id="{0E4C222F-9DB4-4118-AD27-06280C16EFCD}"/>
              </a:ext>
            </a:extLst>
          </p:cNvPr>
          <p:cNvPicPr>
            <a:picLocks noChangeAspect="1"/>
          </p:cNvPicPr>
          <p:nvPr/>
        </p:nvPicPr>
        <p:blipFill>
          <a:blip r:embed="rId3"/>
          <a:stretch>
            <a:fillRect/>
          </a:stretch>
        </p:blipFill>
        <p:spPr>
          <a:xfrm>
            <a:off x="936104" y="5326350"/>
            <a:ext cx="7596336" cy="982970"/>
          </a:xfrm>
          <a:prstGeom prst="rect">
            <a:avLst/>
          </a:prstGeom>
        </p:spPr>
      </p:pic>
    </p:spTree>
    <p:extLst>
      <p:ext uri="{BB962C8B-B14F-4D97-AF65-F5344CB8AC3E}">
        <p14:creationId xmlns:p14="http://schemas.microsoft.com/office/powerpoint/2010/main" val="273132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Conception de </a:t>
            </a:r>
            <a:r>
              <a:rPr lang="en-US" dirty="0" err="1"/>
              <a:t>projet</a:t>
            </a:r>
            <a:r>
              <a:rPr lang="en-US" dirty="0"/>
              <a:t> </a:t>
            </a:r>
            <a:r>
              <a:rPr lang="en-US" dirty="0" err="1"/>
              <a:t>graphique</a:t>
            </a:r>
            <a:r>
              <a:rPr lang="en-US" dirty="0"/>
              <a:t> </a:t>
            </a:r>
            <a:endParaRPr lang="en-GB" dirty="0"/>
          </a:p>
        </p:txBody>
      </p:sp>
      <p:sp>
        <p:nvSpPr>
          <p:cNvPr id="4" name="Rectangle 3">
            <a:extLst>
              <a:ext uri="{FF2B5EF4-FFF2-40B4-BE49-F238E27FC236}">
                <a16:creationId xmlns:a16="http://schemas.microsoft.com/office/drawing/2014/main" id="{101EF0D2-2956-4EB3-A984-2FC03AE2CC1A}"/>
              </a:ext>
            </a:extLst>
          </p:cNvPr>
          <p:cNvSpPr/>
          <p:nvPr/>
        </p:nvSpPr>
        <p:spPr>
          <a:xfrm>
            <a:off x="900113" y="1412776"/>
            <a:ext cx="7920359" cy="4524315"/>
          </a:xfrm>
          <a:prstGeom prst="rect">
            <a:avLst/>
          </a:prstGeom>
        </p:spPr>
        <p:txBody>
          <a:bodyPr wrap="square">
            <a:spAutoFit/>
          </a:bodyPr>
          <a:lstStyle/>
          <a:p>
            <a:r>
              <a:rPr lang="en-US" b="1" dirty="0"/>
              <a:t>Une salle de </a:t>
            </a:r>
            <a:r>
              <a:rPr lang="en-US" b="1" dirty="0" err="1"/>
              <a:t>classe</a:t>
            </a:r>
            <a:r>
              <a:rPr lang="en-US" b="1" dirty="0"/>
              <a:t> doit </a:t>
            </a:r>
            <a:r>
              <a:rPr lang="en-US" b="1" dirty="0" err="1"/>
              <a:t>être</a:t>
            </a:r>
            <a:r>
              <a:rPr lang="en-US" b="1" dirty="0"/>
              <a:t> </a:t>
            </a:r>
            <a:r>
              <a:rPr lang="en-US" b="1" dirty="0" err="1"/>
              <a:t>chauffée</a:t>
            </a:r>
            <a:r>
              <a:rPr lang="en-US" b="1" dirty="0"/>
              <a:t> pendant les </a:t>
            </a:r>
            <a:r>
              <a:rPr lang="en-US" b="1" dirty="0" err="1"/>
              <a:t>cours</a:t>
            </a:r>
            <a:r>
              <a:rPr lang="en-US" b="1" dirty="0"/>
              <a:t> </a:t>
            </a:r>
            <a:r>
              <a:rPr lang="en-US" b="1" dirty="0" err="1"/>
              <a:t>si</a:t>
            </a:r>
            <a:r>
              <a:rPr lang="en-US" b="1" dirty="0"/>
              <a:t> le </a:t>
            </a:r>
            <a:r>
              <a:rPr lang="en-US" b="1" dirty="0" err="1"/>
              <a:t>régulateur</a:t>
            </a:r>
            <a:r>
              <a:rPr lang="en-US" b="1" dirty="0"/>
              <a:t> de </a:t>
            </a:r>
            <a:r>
              <a:rPr lang="en-US" b="1" dirty="0" err="1"/>
              <a:t>température</a:t>
            </a:r>
            <a:r>
              <a:rPr lang="en-US" b="1" dirty="0"/>
              <a:t> </a:t>
            </a:r>
            <a:r>
              <a:rPr lang="en-US" b="1" dirty="0" err="1"/>
              <a:t>envoie</a:t>
            </a:r>
            <a:r>
              <a:rPr lang="en-US" b="1" dirty="0"/>
              <a:t> le signal " </a:t>
            </a:r>
            <a:r>
              <a:rPr lang="en-US" b="1" dirty="0" err="1"/>
              <a:t>Chauffage</a:t>
            </a:r>
            <a:r>
              <a:rPr lang="en-US" b="1" dirty="0"/>
              <a:t> ACTIVÉ ", </a:t>
            </a:r>
            <a:r>
              <a:rPr lang="en-US" b="1" dirty="0" err="1"/>
              <a:t>si</a:t>
            </a:r>
            <a:r>
              <a:rPr lang="en-US" b="1" dirty="0"/>
              <a:t> les deux </a:t>
            </a:r>
            <a:r>
              <a:rPr lang="en-US" b="1" dirty="0" err="1"/>
              <a:t>fenêtres</a:t>
            </a:r>
            <a:r>
              <a:rPr lang="en-US" b="1" dirty="0"/>
              <a:t> de la salle </a:t>
            </a:r>
            <a:r>
              <a:rPr lang="en-US" b="1" dirty="0" err="1"/>
              <a:t>sont</a:t>
            </a:r>
            <a:r>
              <a:rPr lang="en-US" b="1" dirty="0"/>
              <a:t> </a:t>
            </a:r>
            <a:r>
              <a:rPr lang="en-US" b="1" dirty="0" err="1"/>
              <a:t>fermées</a:t>
            </a:r>
            <a:r>
              <a:rPr lang="en-US" b="1" dirty="0"/>
              <a:t> et </a:t>
            </a:r>
            <a:r>
              <a:rPr lang="en-US" b="1" dirty="0" err="1"/>
              <a:t>si</a:t>
            </a:r>
            <a:r>
              <a:rPr lang="en-US" b="1" dirty="0"/>
              <a:t> la salle </a:t>
            </a:r>
            <a:r>
              <a:rPr lang="en-US" b="1" dirty="0" err="1"/>
              <a:t>est</a:t>
            </a:r>
            <a:r>
              <a:rPr lang="en-US" b="1" dirty="0"/>
              <a:t> </a:t>
            </a:r>
            <a:r>
              <a:rPr lang="en-US" b="1" dirty="0" err="1"/>
              <a:t>occupée</a:t>
            </a:r>
            <a:r>
              <a:rPr lang="en-US" b="1" dirty="0"/>
              <a:t>. </a:t>
            </a:r>
            <a:r>
              <a:rPr lang="en-US" b="1" dirty="0" err="1"/>
              <a:t>L'heure</a:t>
            </a:r>
            <a:r>
              <a:rPr lang="en-US" b="1" dirty="0"/>
              <a:t> de la </a:t>
            </a:r>
            <a:r>
              <a:rPr lang="en-US" b="1" dirty="0" err="1"/>
              <a:t>leçon</a:t>
            </a:r>
            <a:r>
              <a:rPr lang="en-US" b="1" dirty="0"/>
              <a:t> </a:t>
            </a:r>
            <a:r>
              <a:rPr lang="en-US" b="1" dirty="0" err="1"/>
              <a:t>est</a:t>
            </a:r>
            <a:r>
              <a:rPr lang="en-US" b="1" dirty="0"/>
              <a:t> </a:t>
            </a:r>
            <a:r>
              <a:rPr lang="en-US" b="1" dirty="0" err="1"/>
              <a:t>signalée</a:t>
            </a:r>
            <a:r>
              <a:rPr lang="en-US" b="1" dirty="0"/>
              <a:t> par </a:t>
            </a:r>
            <a:r>
              <a:rPr lang="en-US" b="1" dirty="0" err="1"/>
              <a:t>une</a:t>
            </a:r>
            <a:r>
              <a:rPr lang="en-US" b="1" dirty="0"/>
              <a:t> entrée </a:t>
            </a:r>
            <a:r>
              <a:rPr lang="en-US" b="1" dirty="0" err="1"/>
              <a:t>binaire</a:t>
            </a:r>
            <a:r>
              <a:rPr lang="en-US" b="1" dirty="0"/>
              <a:t> (</a:t>
            </a:r>
            <a:r>
              <a:rPr lang="en-US" b="1" dirty="0" err="1"/>
              <a:t>ou</a:t>
            </a:r>
            <a:r>
              <a:rPr lang="en-US" b="1" dirty="0"/>
              <a:t> </a:t>
            </a:r>
            <a:r>
              <a:rPr lang="en-US" b="1" dirty="0" err="1"/>
              <a:t>minuterie</a:t>
            </a:r>
            <a:r>
              <a:rPr lang="en-US" b="1" dirty="0"/>
              <a:t>), </a:t>
            </a:r>
            <a:r>
              <a:rPr lang="en-US" b="1" dirty="0" err="1"/>
              <a:t>chacune</a:t>
            </a:r>
            <a:r>
              <a:rPr lang="en-US" b="1" dirty="0"/>
              <a:t> des deux </a:t>
            </a:r>
            <a:r>
              <a:rPr lang="en-US" b="1" dirty="0" err="1"/>
              <a:t>fenêtres</a:t>
            </a:r>
            <a:r>
              <a:rPr lang="en-US" b="1" dirty="0"/>
              <a:t> </a:t>
            </a:r>
            <a:r>
              <a:rPr lang="en-US" b="1" dirty="0" err="1"/>
              <a:t>est</a:t>
            </a:r>
            <a:r>
              <a:rPr lang="en-US" b="1" dirty="0"/>
              <a:t> </a:t>
            </a:r>
            <a:r>
              <a:rPr lang="en-US" b="1" dirty="0" err="1"/>
              <a:t>surveillée</a:t>
            </a:r>
            <a:r>
              <a:rPr lang="en-US" b="1" dirty="0"/>
              <a:t> par un contact de </a:t>
            </a:r>
            <a:r>
              <a:rPr lang="en-US" b="1" dirty="0" err="1"/>
              <a:t>fenêtre</a:t>
            </a:r>
            <a:r>
              <a:rPr lang="en-US" b="1" dirty="0"/>
              <a:t> et </a:t>
            </a:r>
            <a:r>
              <a:rPr lang="en-US" b="1" dirty="0" err="1"/>
              <a:t>l'utilisation</a:t>
            </a:r>
            <a:r>
              <a:rPr lang="en-US" b="1" dirty="0"/>
              <a:t> de la </a:t>
            </a:r>
            <a:r>
              <a:rPr lang="en-US" b="1" dirty="0" err="1"/>
              <a:t>classe</a:t>
            </a:r>
            <a:r>
              <a:rPr lang="en-US" b="1" dirty="0"/>
              <a:t> </a:t>
            </a:r>
            <a:r>
              <a:rPr lang="en-US" b="1" dirty="0" err="1"/>
              <a:t>est</a:t>
            </a:r>
            <a:r>
              <a:rPr lang="en-US" b="1" dirty="0"/>
              <a:t> </a:t>
            </a:r>
            <a:r>
              <a:rPr lang="en-US" b="1" dirty="0" err="1"/>
              <a:t>enregistrée</a:t>
            </a:r>
            <a:r>
              <a:rPr lang="en-US" b="1" dirty="0"/>
              <a:t> par un </a:t>
            </a:r>
            <a:r>
              <a:rPr lang="en-US" b="1" dirty="0" err="1"/>
              <a:t>détecteur</a:t>
            </a:r>
            <a:r>
              <a:rPr lang="en-US" b="1" dirty="0"/>
              <a:t> de </a:t>
            </a:r>
            <a:r>
              <a:rPr lang="en-US" b="1" dirty="0" err="1"/>
              <a:t>mouvement</a:t>
            </a:r>
            <a:r>
              <a:rPr lang="en-US" b="1" dirty="0"/>
              <a:t>. </a:t>
            </a:r>
            <a:r>
              <a:rPr lang="en-US" b="1" dirty="0" err="1"/>
              <a:t>Aucun</a:t>
            </a:r>
            <a:r>
              <a:rPr lang="en-US" b="1" dirty="0"/>
              <a:t> des </a:t>
            </a:r>
            <a:r>
              <a:rPr lang="en-US" b="1" dirty="0" err="1"/>
              <a:t>capteurs</a:t>
            </a:r>
            <a:r>
              <a:rPr lang="en-US" b="1" dirty="0"/>
              <a:t> ne </a:t>
            </a:r>
            <a:r>
              <a:rPr lang="en-US" b="1" dirty="0" err="1"/>
              <a:t>fonctionne</a:t>
            </a:r>
            <a:r>
              <a:rPr lang="en-US" b="1" dirty="0"/>
              <a:t> </a:t>
            </a:r>
            <a:r>
              <a:rPr lang="en-US" b="1" dirty="0" err="1"/>
              <a:t>en</a:t>
            </a:r>
            <a:r>
              <a:rPr lang="en-US" b="1" dirty="0"/>
              <a:t> </a:t>
            </a:r>
            <a:r>
              <a:rPr lang="en-US" b="1" dirty="0" err="1"/>
              <a:t>logique</a:t>
            </a:r>
            <a:r>
              <a:rPr lang="en-US" b="1" dirty="0"/>
              <a:t> </a:t>
            </a:r>
            <a:r>
              <a:rPr lang="en-US" b="1" dirty="0" err="1"/>
              <a:t>inversée</a:t>
            </a:r>
            <a:endParaRPr lang="en-US" b="1" dirty="0"/>
          </a:p>
          <a:p>
            <a:endParaRPr lang="en-US" b="1" dirty="0"/>
          </a:p>
          <a:p>
            <a:pPr marL="342900" indent="-342900">
              <a:buFont typeface="Wingdings" panose="05000000000000000000" pitchFamily="2" charset="2"/>
              <a:buChar char="§"/>
            </a:pPr>
            <a:r>
              <a:rPr lang="en-US" b="1" dirty="0" err="1"/>
              <a:t>Nombre</a:t>
            </a:r>
            <a:r>
              <a:rPr lang="en-US" b="1" dirty="0"/>
              <a:t> </a:t>
            </a:r>
            <a:r>
              <a:rPr lang="en-US" b="1" dirty="0" err="1"/>
              <a:t>d'entrées</a:t>
            </a:r>
            <a:r>
              <a:rPr lang="en-US" b="1" dirty="0"/>
              <a:t> </a:t>
            </a:r>
            <a:r>
              <a:rPr lang="en-US" b="1" dirty="0" err="1"/>
              <a:t>utilisées</a:t>
            </a:r>
            <a:r>
              <a:rPr lang="en-US" b="1" dirty="0"/>
              <a:t>: 5</a:t>
            </a:r>
          </a:p>
          <a:p>
            <a:pPr marL="800100" lvl="1" indent="-342900">
              <a:buFont typeface="Wingdings" panose="05000000000000000000" pitchFamily="2" charset="2"/>
              <a:buChar char="§"/>
            </a:pPr>
            <a:r>
              <a:rPr lang="en-US" b="1" dirty="0"/>
              <a:t>Entrée 1 : </a:t>
            </a:r>
            <a:r>
              <a:rPr lang="en-US" b="1" dirty="0" err="1"/>
              <a:t>Chauffage</a:t>
            </a:r>
            <a:r>
              <a:rPr lang="en-US" b="1" dirty="0"/>
              <a:t> </a:t>
            </a:r>
            <a:r>
              <a:rPr lang="en-US" b="1" dirty="0" err="1"/>
              <a:t>activé</a:t>
            </a:r>
            <a:r>
              <a:rPr lang="en-US" b="1" dirty="0"/>
              <a:t> </a:t>
            </a:r>
          </a:p>
          <a:p>
            <a:pPr marL="800100" lvl="1" indent="-342900">
              <a:buFont typeface="Wingdings" panose="05000000000000000000" pitchFamily="2" charset="2"/>
              <a:buChar char="§"/>
            </a:pPr>
            <a:r>
              <a:rPr lang="en-US" b="1" dirty="0"/>
              <a:t>Entrée 2 : </a:t>
            </a:r>
            <a:r>
              <a:rPr lang="en-US" b="1" dirty="0" err="1"/>
              <a:t>minuterie</a:t>
            </a:r>
            <a:endParaRPr lang="en-US" b="1" dirty="0"/>
          </a:p>
          <a:p>
            <a:pPr marL="800100" lvl="1" indent="-342900">
              <a:buFont typeface="Wingdings" panose="05000000000000000000" pitchFamily="2" charset="2"/>
              <a:buChar char="§"/>
            </a:pPr>
            <a:r>
              <a:rPr lang="en-US" b="1" dirty="0"/>
              <a:t>Entrées 3 et 4 : contacts de la </a:t>
            </a:r>
            <a:r>
              <a:rPr lang="en-US" b="1" dirty="0" err="1"/>
              <a:t>fenêtre</a:t>
            </a:r>
            <a:endParaRPr lang="en-US" b="1" dirty="0"/>
          </a:p>
          <a:p>
            <a:pPr marL="800100" lvl="1" indent="-342900">
              <a:buFont typeface="Wingdings" panose="05000000000000000000" pitchFamily="2" charset="2"/>
              <a:buChar char="§"/>
            </a:pPr>
            <a:r>
              <a:rPr lang="en-US" b="1" dirty="0"/>
              <a:t>Entrée 5 : </a:t>
            </a:r>
            <a:r>
              <a:rPr lang="en-US" b="1" dirty="0" err="1"/>
              <a:t>Détecteur</a:t>
            </a:r>
            <a:r>
              <a:rPr lang="en-US" b="1" dirty="0"/>
              <a:t> de </a:t>
            </a:r>
            <a:r>
              <a:rPr lang="en-US" b="1" dirty="0" err="1"/>
              <a:t>mouvement</a:t>
            </a:r>
            <a:endParaRPr lang="en-US" b="1" dirty="0"/>
          </a:p>
          <a:p>
            <a:pPr marL="342900" indent="-342900">
              <a:buFont typeface="Wingdings" panose="05000000000000000000" pitchFamily="2" charset="2"/>
              <a:buChar char="§"/>
            </a:pPr>
            <a:r>
              <a:rPr lang="en-US" b="1" dirty="0"/>
              <a:t>Porte </a:t>
            </a:r>
            <a:r>
              <a:rPr lang="en-US" b="1" dirty="0" err="1"/>
              <a:t>logique</a:t>
            </a:r>
            <a:endParaRPr lang="en-US" b="1" dirty="0"/>
          </a:p>
          <a:p>
            <a:r>
              <a:rPr lang="en-US" b="1" dirty="0" err="1"/>
              <a:t>L'adresse</a:t>
            </a:r>
            <a:r>
              <a:rPr lang="en-US" b="1" dirty="0"/>
              <a:t> de </a:t>
            </a:r>
            <a:r>
              <a:rPr lang="en-US" b="1" dirty="0" err="1"/>
              <a:t>groupe</a:t>
            </a:r>
            <a:r>
              <a:rPr lang="en-US" b="1" dirty="0"/>
              <a:t> de la sortie </a:t>
            </a:r>
            <a:r>
              <a:rPr lang="en-US" b="1" dirty="0" err="1"/>
              <a:t>commande</a:t>
            </a:r>
            <a:r>
              <a:rPr lang="en-US" b="1" dirty="0"/>
              <a:t> </a:t>
            </a:r>
            <a:r>
              <a:rPr lang="en-US" b="1" dirty="0" err="1"/>
              <a:t>l'actionneur</a:t>
            </a:r>
            <a:r>
              <a:rPr lang="en-US" b="1" dirty="0"/>
              <a:t> de </a:t>
            </a:r>
            <a:r>
              <a:rPr lang="en-US" b="1" dirty="0" err="1"/>
              <a:t>chauffage</a:t>
            </a:r>
            <a:r>
              <a:rPr lang="en-US" b="1" dirty="0"/>
              <a:t>.</a:t>
            </a:r>
          </a:p>
          <a:p>
            <a:r>
              <a:rPr lang="en-US" b="1" dirty="0" err="1"/>
              <a:t>Testez</a:t>
            </a:r>
            <a:r>
              <a:rPr lang="en-US" b="1" dirty="0"/>
              <a:t> la </a:t>
            </a:r>
            <a:r>
              <a:rPr lang="en-US" b="1" dirty="0" err="1"/>
              <a:t>fonction</a:t>
            </a:r>
            <a:r>
              <a:rPr lang="en-US" b="1" dirty="0"/>
              <a:t>.</a:t>
            </a:r>
          </a:p>
        </p:txBody>
      </p:sp>
    </p:spTree>
    <p:extLst>
      <p:ext uri="{BB962C8B-B14F-4D97-AF65-F5344CB8AC3E}">
        <p14:creationId xmlns:p14="http://schemas.microsoft.com/office/powerpoint/2010/main" val="808344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13C572-4CE7-475F-A363-1D1B01086777}"/>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a:solidFill>
                  <a:srgbClr val="0C4B9D"/>
                </a:solidFill>
                <a:latin typeface="+mj-lt"/>
                <a:ea typeface="+mj-ea"/>
                <a:cs typeface="+mj-cs"/>
              </a:rPr>
              <a:t>Informations supplémentaires</a:t>
            </a:r>
            <a:r>
              <a:rPr lang="de-DE" sz="2800" b="1">
                <a:solidFill>
                  <a:srgbClr val="0C4B9D"/>
                </a:solidFill>
                <a:latin typeface="+mj-lt"/>
                <a:ea typeface="+mj-ea"/>
                <a:cs typeface="+mj-cs"/>
              </a:rPr>
              <a:t>/ Annexe informative</a:t>
            </a:r>
            <a:endParaRPr lang="es-ES" sz="2800" b="1" dirty="0">
              <a:solidFill>
                <a:srgbClr val="0C4B9D"/>
              </a:solidFill>
              <a:latin typeface="+mj-lt"/>
              <a:ea typeface="+mj-ea"/>
              <a:cs typeface="+mj-cs"/>
            </a:endParaRPr>
          </a:p>
        </p:txBody>
      </p:sp>
    </p:spTree>
    <p:extLst>
      <p:ext uri="{BB962C8B-B14F-4D97-AF65-F5344CB8AC3E}">
        <p14:creationId xmlns:p14="http://schemas.microsoft.com/office/powerpoint/2010/main" val="1382076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120159" cy="719138"/>
          </a:xfrm>
        </p:spPr>
        <p:txBody>
          <a:bodyPr/>
          <a:lstStyle/>
          <a:p>
            <a:r>
              <a:rPr lang="en-US" sz="2400"/>
              <a:t>Fonction AND (Conjonction) et Élément AND (AND)</a:t>
            </a:r>
            <a:endParaRPr lang="en-GB" sz="2400" dirty="0"/>
          </a:p>
        </p:txBody>
      </p:sp>
      <p:graphicFrame>
        <p:nvGraphicFramePr>
          <p:cNvPr id="4" name="Object 3">
            <a:extLst>
              <a:ext uri="{FF2B5EF4-FFF2-40B4-BE49-F238E27FC236}">
                <a16:creationId xmlns:a16="http://schemas.microsoft.com/office/drawing/2014/main" id="{7C7B905B-50D3-4DDF-97D8-D1C2425ED123}"/>
              </a:ext>
            </a:extLst>
          </p:cNvPr>
          <p:cNvGraphicFramePr>
            <a:graphicFrameLocks noChangeAspect="1"/>
          </p:cNvGraphicFramePr>
          <p:nvPr/>
        </p:nvGraphicFramePr>
        <p:xfrm>
          <a:off x="1044836" y="2002436"/>
          <a:ext cx="2981249" cy="2253666"/>
        </p:xfrm>
        <a:graphic>
          <a:graphicData uri="http://schemas.openxmlformats.org/presentationml/2006/ole">
            <mc:AlternateContent xmlns:mc="http://schemas.openxmlformats.org/markup-compatibility/2006">
              <mc:Choice xmlns:v="urn:schemas-microsoft-com:vml" Requires="v">
                <p:oleObj r:id="rId3" imgW="4270651" imgH="3235799" progId="Visio.Drawing.15">
                  <p:embed/>
                </p:oleObj>
              </mc:Choice>
              <mc:Fallback>
                <p:oleObj r:id="rId3" imgW="4270651" imgH="3235799" progId="Visio.Drawing.15">
                  <p:embed/>
                  <p:pic>
                    <p:nvPicPr>
                      <p:cNvPr id="4" name="Object 3">
                        <a:extLst>
                          <a:ext uri="{FF2B5EF4-FFF2-40B4-BE49-F238E27FC236}">
                            <a16:creationId xmlns:a16="http://schemas.microsoft.com/office/drawing/2014/main" id="{7C7B905B-50D3-4DDF-97D8-D1C2425ED1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36" y="2002436"/>
                        <a:ext cx="2981249" cy="2253666"/>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46A7549E-2298-4646-90B5-E7A710AFFBCB}"/>
              </a:ext>
            </a:extLst>
          </p:cNvPr>
          <p:cNvSpPr/>
          <p:nvPr/>
        </p:nvSpPr>
        <p:spPr>
          <a:xfrm>
            <a:off x="4337200" y="2012668"/>
            <a:ext cx="4123232" cy="1200329"/>
          </a:xfrm>
          <a:prstGeom prst="rect">
            <a:avLst/>
          </a:prstGeom>
        </p:spPr>
        <p:txBody>
          <a:bodyPr wrap="square">
            <a:spAutoFit/>
          </a:bodyPr>
          <a:lstStyle/>
          <a:p>
            <a:r>
              <a:rPr lang="en-US" b="1">
                <a:solidFill>
                  <a:srgbClr val="369226"/>
                </a:solidFill>
              </a:rPr>
              <a:t>Tout circuit qui remplit la table de vérité d'une fonction AND est un élément AND</a:t>
            </a:r>
          </a:p>
          <a:p>
            <a:endParaRPr lang="en-US" b="1" dirty="0"/>
          </a:p>
        </p:txBody>
      </p:sp>
      <p:pic>
        <p:nvPicPr>
          <p:cNvPr id="6" name="Picture 5">
            <a:extLst>
              <a:ext uri="{FF2B5EF4-FFF2-40B4-BE49-F238E27FC236}">
                <a16:creationId xmlns:a16="http://schemas.microsoft.com/office/drawing/2014/main" id="{00010A4E-A713-4061-BE89-690D8D80339F}"/>
              </a:ext>
            </a:extLst>
          </p:cNvPr>
          <p:cNvPicPr>
            <a:picLocks noChangeAspect="1"/>
          </p:cNvPicPr>
          <p:nvPr/>
        </p:nvPicPr>
        <p:blipFill>
          <a:blip r:embed="rId5"/>
          <a:stretch>
            <a:fillRect/>
          </a:stretch>
        </p:blipFill>
        <p:spPr>
          <a:xfrm>
            <a:off x="970181" y="5012489"/>
            <a:ext cx="3270694" cy="1200329"/>
          </a:xfrm>
          <a:prstGeom prst="rect">
            <a:avLst/>
          </a:prstGeom>
        </p:spPr>
      </p:pic>
      <p:sp>
        <p:nvSpPr>
          <p:cNvPr id="7" name="Rectangle 6">
            <a:extLst>
              <a:ext uri="{FF2B5EF4-FFF2-40B4-BE49-F238E27FC236}">
                <a16:creationId xmlns:a16="http://schemas.microsoft.com/office/drawing/2014/main" id="{23894E2A-261A-4FD9-B58A-EF53F2510B67}"/>
              </a:ext>
            </a:extLst>
          </p:cNvPr>
          <p:cNvSpPr/>
          <p:nvPr/>
        </p:nvSpPr>
        <p:spPr>
          <a:xfrm>
            <a:off x="4337199" y="5150989"/>
            <a:ext cx="4123232" cy="923330"/>
          </a:xfrm>
          <a:prstGeom prst="rect">
            <a:avLst/>
          </a:prstGeom>
        </p:spPr>
        <p:txBody>
          <a:bodyPr wrap="square">
            <a:spAutoFit/>
          </a:bodyPr>
          <a:lstStyle/>
          <a:p>
            <a:r>
              <a:rPr lang="en-US" b="1">
                <a:solidFill>
                  <a:srgbClr val="369226"/>
                </a:solidFill>
              </a:rPr>
              <a:t>L'état ' 1 ' n'est présent à la sortie d'un élément AND que s'il existe également un état ' 1 ' à toutes les entrées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Table de </a:t>
            </a:r>
            <a:r>
              <a:rPr lang="en-GB" b="1" dirty="0" err="1"/>
              <a:t>vérité</a:t>
            </a:r>
            <a:r>
              <a:rPr lang="en-GB" b="1" dirty="0"/>
              <a:t>/</a:t>
            </a:r>
            <a:r>
              <a:rPr lang="en-GB" b="1" dirty="0" err="1"/>
              <a:t>schéma</a:t>
            </a:r>
            <a:r>
              <a:rPr lang="en-GB" b="1" dirty="0"/>
              <a:t> de circuit </a:t>
            </a:r>
            <a:r>
              <a:rPr lang="en-GB" b="1" dirty="0" err="1"/>
              <a:t>d'une</a:t>
            </a:r>
            <a:r>
              <a:rPr lang="en-GB" b="1" dirty="0"/>
              <a:t> </a:t>
            </a:r>
            <a:r>
              <a:rPr lang="en-GB" b="1" dirty="0" err="1"/>
              <a:t>fonction</a:t>
            </a:r>
            <a:r>
              <a:rPr lang="en-GB" b="1" dirty="0"/>
              <a:t> ET </a:t>
            </a:r>
            <a:r>
              <a:rPr lang="en-GB" b="1" dirty="0" err="1"/>
              <a:t>et</a:t>
            </a:r>
            <a:r>
              <a:rPr lang="en-GB" b="1" dirty="0"/>
              <a:t> d'un </a:t>
            </a:r>
            <a:r>
              <a:rPr lang="en-GB" b="1" dirty="0" err="1"/>
              <a:t>élément</a:t>
            </a:r>
            <a:r>
              <a:rPr lang="en-GB" b="1" dirty="0"/>
              <a:t> ET</a:t>
            </a:r>
            <a:endParaRPr lang="es-ES" dirty="0"/>
          </a:p>
        </p:txBody>
      </p:sp>
      <p:sp>
        <p:nvSpPr>
          <p:cNvPr id="9" name="Rectangle 8">
            <a:extLst>
              <a:ext uri="{FF2B5EF4-FFF2-40B4-BE49-F238E27FC236}">
                <a16:creationId xmlns:a16="http://schemas.microsoft.com/office/drawing/2014/main" id="{5BBAE102-E2BE-44F9-95A8-8C01B793F78B}"/>
              </a:ext>
            </a:extLst>
          </p:cNvPr>
          <p:cNvSpPr/>
          <p:nvPr/>
        </p:nvSpPr>
        <p:spPr>
          <a:xfrm>
            <a:off x="990376" y="4593903"/>
            <a:ext cx="6677968" cy="369332"/>
          </a:xfrm>
          <a:prstGeom prst="rect">
            <a:avLst/>
          </a:prstGeom>
        </p:spPr>
        <p:txBody>
          <a:bodyPr wrap="square">
            <a:spAutoFit/>
          </a:bodyPr>
          <a:lstStyle/>
          <a:p>
            <a:r>
              <a:rPr lang="en-US" b="1" dirty="0" err="1"/>
              <a:t>Symbole</a:t>
            </a:r>
            <a:r>
              <a:rPr lang="en-US" b="1" dirty="0"/>
              <a:t> </a:t>
            </a:r>
            <a:r>
              <a:rPr lang="en-US" b="1" dirty="0" err="1"/>
              <a:t>graphique</a:t>
            </a:r>
            <a:r>
              <a:rPr lang="en-US" b="1" dirty="0"/>
              <a:t> de </a:t>
            </a:r>
            <a:r>
              <a:rPr lang="en-US" b="1" dirty="0" err="1"/>
              <a:t>l'élément</a:t>
            </a:r>
            <a:r>
              <a:rPr lang="en-US" b="1" dirty="0"/>
              <a:t> AND avec 2 entrées</a:t>
            </a:r>
            <a:endParaRPr lang="es-ES" b="1" dirty="0"/>
          </a:p>
        </p:txBody>
      </p:sp>
      <p:sp>
        <p:nvSpPr>
          <p:cNvPr id="10" name="Rectangle 9">
            <a:extLst>
              <a:ext uri="{FF2B5EF4-FFF2-40B4-BE49-F238E27FC236}">
                <a16:creationId xmlns:a16="http://schemas.microsoft.com/office/drawing/2014/main" id="{D90F6F8B-FA3F-4791-9B14-8D4FA206E182}"/>
              </a:ext>
            </a:extLst>
          </p:cNvPr>
          <p:cNvSpPr/>
          <p:nvPr/>
        </p:nvSpPr>
        <p:spPr>
          <a:xfrm>
            <a:off x="4393603" y="3429000"/>
            <a:ext cx="4066828" cy="646331"/>
          </a:xfrm>
          <a:prstGeom prst="rect">
            <a:avLst/>
          </a:prstGeom>
        </p:spPr>
        <p:txBody>
          <a:bodyPr wrap="square">
            <a:spAutoFit/>
          </a:bodyPr>
          <a:lstStyle/>
          <a:p>
            <a:r>
              <a:rPr lang="en-US" b="1">
                <a:solidFill>
                  <a:srgbClr val="369226"/>
                </a:solidFill>
              </a:rPr>
              <a:t>X = A ^ B</a:t>
            </a:r>
            <a:r>
              <a:rPr lang="en-US">
                <a:solidFill>
                  <a:srgbClr val="369226"/>
                </a:solidFill>
              </a:rPr>
              <a:t> </a:t>
            </a:r>
            <a:r>
              <a:rPr lang="en-US"/>
              <a:t> </a:t>
            </a:r>
            <a:r>
              <a:rPr lang="en-US" b="1"/>
              <a:t>^ Symbole de la fonction ET (algèbre logique).</a:t>
            </a:r>
          </a:p>
        </p:txBody>
      </p:sp>
    </p:spTree>
    <p:extLst>
      <p:ext uri="{BB962C8B-B14F-4D97-AF65-F5344CB8AC3E}">
        <p14:creationId xmlns:p14="http://schemas.microsoft.com/office/powerpoint/2010/main" val="2783974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sz="2400" dirty="0" err="1"/>
              <a:t>Fonction</a:t>
            </a:r>
            <a:r>
              <a:rPr lang="en-US" sz="2400" dirty="0"/>
              <a:t> OR (</a:t>
            </a:r>
            <a:r>
              <a:rPr lang="en-US" sz="2400" dirty="0" err="1"/>
              <a:t>Disjonction</a:t>
            </a:r>
            <a:r>
              <a:rPr lang="en-US" sz="2400" dirty="0"/>
              <a:t>) et </a:t>
            </a:r>
            <a:r>
              <a:rPr lang="en-US" sz="2400" dirty="0" err="1"/>
              <a:t>Élément</a:t>
            </a:r>
            <a:r>
              <a:rPr lang="en-US" sz="2400" dirty="0"/>
              <a:t> OR (OR)</a:t>
            </a:r>
            <a:endParaRPr lang="en-GB" sz="2400" dirty="0"/>
          </a:p>
        </p:txBody>
      </p:sp>
      <p:sp>
        <p:nvSpPr>
          <p:cNvPr id="5" name="Rectangle 4">
            <a:extLst>
              <a:ext uri="{FF2B5EF4-FFF2-40B4-BE49-F238E27FC236}">
                <a16:creationId xmlns:a16="http://schemas.microsoft.com/office/drawing/2014/main" id="{46A7549E-2298-4646-90B5-E7A710AFFBCB}"/>
              </a:ext>
            </a:extLst>
          </p:cNvPr>
          <p:cNvSpPr/>
          <p:nvPr/>
        </p:nvSpPr>
        <p:spPr>
          <a:xfrm>
            <a:off x="4337200" y="2012668"/>
            <a:ext cx="4123232" cy="923330"/>
          </a:xfrm>
          <a:prstGeom prst="rect">
            <a:avLst/>
          </a:prstGeom>
        </p:spPr>
        <p:txBody>
          <a:bodyPr wrap="square">
            <a:spAutoFit/>
          </a:bodyPr>
          <a:lstStyle/>
          <a:p>
            <a:r>
              <a:rPr lang="en-US" b="1">
                <a:solidFill>
                  <a:srgbClr val="369226"/>
                </a:solidFill>
              </a:rPr>
              <a:t>Tout circuit qui remplit la table de vérité d'une fonction OR est un élément OR</a:t>
            </a:r>
          </a:p>
          <a:p>
            <a:endParaRPr lang="en-US" b="1" dirty="0"/>
          </a:p>
        </p:txBody>
      </p:sp>
      <p:sp>
        <p:nvSpPr>
          <p:cNvPr id="7" name="Rectangle 6">
            <a:extLst>
              <a:ext uri="{FF2B5EF4-FFF2-40B4-BE49-F238E27FC236}">
                <a16:creationId xmlns:a16="http://schemas.microsoft.com/office/drawing/2014/main" id="{23894E2A-261A-4FD9-B58A-EF53F2510B67}"/>
              </a:ext>
            </a:extLst>
          </p:cNvPr>
          <p:cNvSpPr/>
          <p:nvPr/>
        </p:nvSpPr>
        <p:spPr>
          <a:xfrm>
            <a:off x="4337199" y="5150989"/>
            <a:ext cx="4123233" cy="923330"/>
          </a:xfrm>
          <a:prstGeom prst="rect">
            <a:avLst/>
          </a:prstGeom>
        </p:spPr>
        <p:txBody>
          <a:bodyPr wrap="square">
            <a:spAutoFit/>
          </a:bodyPr>
          <a:lstStyle/>
          <a:p>
            <a:r>
              <a:rPr lang="en-US" b="1">
                <a:solidFill>
                  <a:srgbClr val="369226"/>
                </a:solidFill>
              </a:rPr>
              <a:t>L'état ' 1 ' est toujours présent à la sortie d'un élément OR s'il y a un état ' 1 ' sur au moins une des entrées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dirty="0"/>
              <a:t>Table de </a:t>
            </a:r>
            <a:r>
              <a:rPr lang="en-GB" b="1" dirty="0" err="1"/>
              <a:t>vérité</a:t>
            </a:r>
            <a:r>
              <a:rPr lang="en-GB" b="1" dirty="0"/>
              <a:t>/</a:t>
            </a:r>
            <a:r>
              <a:rPr lang="en-GB" b="1" dirty="0" err="1"/>
              <a:t>schéma</a:t>
            </a:r>
            <a:r>
              <a:rPr lang="en-GB" b="1" dirty="0"/>
              <a:t> de circuit </a:t>
            </a:r>
            <a:r>
              <a:rPr lang="en-GB" b="1" dirty="0" err="1"/>
              <a:t>d'une</a:t>
            </a:r>
            <a:r>
              <a:rPr lang="en-GB" b="1" dirty="0"/>
              <a:t> </a:t>
            </a:r>
            <a:r>
              <a:rPr lang="en-GB" b="1" dirty="0" err="1"/>
              <a:t>fonction</a:t>
            </a:r>
            <a:r>
              <a:rPr lang="en-GB" b="1" dirty="0"/>
              <a:t> OU et d'un </a:t>
            </a:r>
            <a:r>
              <a:rPr lang="en-GB" b="1" dirty="0" err="1"/>
              <a:t>élément</a:t>
            </a:r>
            <a:r>
              <a:rPr lang="en-GB" b="1" dirty="0"/>
              <a:t> OU</a:t>
            </a:r>
            <a:endParaRPr lang="es-ES" dirty="0"/>
          </a:p>
        </p:txBody>
      </p:sp>
      <p:sp>
        <p:nvSpPr>
          <p:cNvPr id="9" name="Rectangle 8">
            <a:extLst>
              <a:ext uri="{FF2B5EF4-FFF2-40B4-BE49-F238E27FC236}">
                <a16:creationId xmlns:a16="http://schemas.microsoft.com/office/drawing/2014/main" id="{5BBAE102-E2BE-44F9-95A8-8C01B793F78B}"/>
              </a:ext>
            </a:extLst>
          </p:cNvPr>
          <p:cNvSpPr/>
          <p:nvPr/>
        </p:nvSpPr>
        <p:spPr>
          <a:xfrm>
            <a:off x="990376" y="4593903"/>
            <a:ext cx="5741864" cy="369332"/>
          </a:xfrm>
          <a:prstGeom prst="rect">
            <a:avLst/>
          </a:prstGeom>
        </p:spPr>
        <p:txBody>
          <a:bodyPr wrap="square">
            <a:spAutoFit/>
          </a:bodyPr>
          <a:lstStyle/>
          <a:p>
            <a:r>
              <a:rPr lang="en-US" b="1"/>
              <a:t>Symbole graphique de l'élément OR avec 2 entrées</a:t>
            </a:r>
            <a:endParaRPr lang="es-ES" b="1" dirty="0"/>
          </a:p>
        </p:txBody>
      </p:sp>
      <p:sp>
        <p:nvSpPr>
          <p:cNvPr id="10" name="Rectangle 9">
            <a:extLst>
              <a:ext uri="{FF2B5EF4-FFF2-40B4-BE49-F238E27FC236}">
                <a16:creationId xmlns:a16="http://schemas.microsoft.com/office/drawing/2014/main" id="{D90F6F8B-FA3F-4791-9B14-8D4FA206E182}"/>
              </a:ext>
            </a:extLst>
          </p:cNvPr>
          <p:cNvSpPr/>
          <p:nvPr/>
        </p:nvSpPr>
        <p:spPr>
          <a:xfrm>
            <a:off x="4393602" y="3429000"/>
            <a:ext cx="4123231" cy="646331"/>
          </a:xfrm>
          <a:prstGeom prst="rect">
            <a:avLst/>
          </a:prstGeom>
        </p:spPr>
        <p:txBody>
          <a:bodyPr wrap="square">
            <a:spAutoFit/>
          </a:bodyPr>
          <a:lstStyle/>
          <a:p>
            <a:r>
              <a:rPr lang="en-US" b="1">
                <a:solidFill>
                  <a:srgbClr val="369226"/>
                </a:solidFill>
              </a:rPr>
              <a:t>X = A v B</a:t>
            </a:r>
            <a:r>
              <a:rPr lang="en-US">
                <a:solidFill>
                  <a:srgbClr val="369226"/>
                </a:solidFill>
              </a:rPr>
              <a:t> </a:t>
            </a:r>
            <a:r>
              <a:rPr lang="en-US"/>
              <a:t> </a:t>
            </a:r>
            <a:r>
              <a:rPr lang="en-GB" b="1"/>
              <a:t>v </a:t>
            </a:r>
            <a:r>
              <a:rPr lang="en-US" b="1"/>
              <a:t>Symbole de la fonction OU (algèbre logique).</a:t>
            </a:r>
          </a:p>
        </p:txBody>
      </p:sp>
      <p:pic>
        <p:nvPicPr>
          <p:cNvPr id="12" name="Picture 11">
            <a:extLst>
              <a:ext uri="{FF2B5EF4-FFF2-40B4-BE49-F238E27FC236}">
                <a16:creationId xmlns:a16="http://schemas.microsoft.com/office/drawing/2014/main" id="{0D949B24-73E4-4050-8FA0-11A74022FEDC}"/>
              </a:ext>
            </a:extLst>
          </p:cNvPr>
          <p:cNvPicPr>
            <a:picLocks noChangeAspect="1"/>
          </p:cNvPicPr>
          <p:nvPr/>
        </p:nvPicPr>
        <p:blipFill>
          <a:blip r:embed="rId3"/>
          <a:stretch>
            <a:fillRect/>
          </a:stretch>
        </p:blipFill>
        <p:spPr>
          <a:xfrm>
            <a:off x="1033367" y="1883975"/>
            <a:ext cx="2818553" cy="2270263"/>
          </a:xfrm>
          <a:prstGeom prst="rect">
            <a:avLst/>
          </a:prstGeom>
        </p:spPr>
      </p:pic>
      <p:graphicFrame>
        <p:nvGraphicFramePr>
          <p:cNvPr id="14" name="Object 13">
            <a:extLst>
              <a:ext uri="{FF2B5EF4-FFF2-40B4-BE49-F238E27FC236}">
                <a16:creationId xmlns:a16="http://schemas.microsoft.com/office/drawing/2014/main" id="{8C4BF9FC-2857-4793-ACC8-771247D5DC7D}"/>
              </a:ext>
            </a:extLst>
          </p:cNvPr>
          <p:cNvGraphicFramePr>
            <a:graphicFrameLocks noChangeAspect="1"/>
          </p:cNvGraphicFramePr>
          <p:nvPr/>
        </p:nvGraphicFramePr>
        <p:xfrm>
          <a:off x="1033367" y="5121832"/>
          <a:ext cx="2972067" cy="1086536"/>
        </p:xfrm>
        <a:graphic>
          <a:graphicData uri="http://schemas.openxmlformats.org/presentationml/2006/ole">
            <mc:AlternateContent xmlns:mc="http://schemas.openxmlformats.org/markup-compatibility/2006">
              <mc:Choice xmlns:v="urn:schemas-microsoft-com:vml" Requires="v">
                <p:oleObj r:id="rId4" imgW="3857349" imgH="1406018" progId="Visio.Drawing.15">
                  <p:embed/>
                </p:oleObj>
              </mc:Choice>
              <mc:Fallback>
                <p:oleObj r:id="rId4" imgW="3857349" imgH="1406018" progId="Visio.Drawing.15">
                  <p:embed/>
                  <p:pic>
                    <p:nvPicPr>
                      <p:cNvPr id="14" name="Object 13">
                        <a:extLst>
                          <a:ext uri="{FF2B5EF4-FFF2-40B4-BE49-F238E27FC236}">
                            <a16:creationId xmlns:a16="http://schemas.microsoft.com/office/drawing/2014/main" id="{8C4BF9FC-2857-4793-ACC8-771247D5DC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3367" y="5121832"/>
                        <a:ext cx="2972067" cy="1086536"/>
                      </a:xfrm>
                      <a:prstGeom prst="rect">
                        <a:avLst/>
                      </a:prstGeom>
                      <a:noFill/>
                    </p:spPr>
                  </p:pic>
                </p:oleObj>
              </mc:Fallback>
            </mc:AlternateContent>
          </a:graphicData>
        </a:graphic>
      </p:graphicFrame>
    </p:spTree>
    <p:extLst>
      <p:ext uri="{BB962C8B-B14F-4D97-AF65-F5344CB8AC3E}">
        <p14:creationId xmlns:p14="http://schemas.microsoft.com/office/powerpoint/2010/main" val="2868537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a:t>Négation et élément NOT (NOT)</a:t>
            </a:r>
            <a:endParaRPr lang="en-GB" dirty="0"/>
          </a:p>
        </p:txBody>
      </p:sp>
      <p:sp>
        <p:nvSpPr>
          <p:cNvPr id="5" name="Rectangle 4">
            <a:extLst>
              <a:ext uri="{FF2B5EF4-FFF2-40B4-BE49-F238E27FC236}">
                <a16:creationId xmlns:a16="http://schemas.microsoft.com/office/drawing/2014/main" id="{46A7549E-2298-4646-90B5-E7A710AFFBCB}"/>
              </a:ext>
            </a:extLst>
          </p:cNvPr>
          <p:cNvSpPr/>
          <p:nvPr/>
        </p:nvSpPr>
        <p:spPr>
          <a:xfrm>
            <a:off x="4337200" y="2012668"/>
            <a:ext cx="4123232" cy="646331"/>
          </a:xfrm>
          <a:prstGeom prst="rect">
            <a:avLst/>
          </a:prstGeom>
        </p:spPr>
        <p:txBody>
          <a:bodyPr wrap="square">
            <a:spAutoFit/>
          </a:bodyPr>
          <a:lstStyle/>
          <a:p>
            <a:r>
              <a:rPr lang="en-US" b="1">
                <a:solidFill>
                  <a:srgbClr val="369226"/>
                </a:solidFill>
              </a:rPr>
              <a:t>Tout circuit qui rencontre la table de vérité d'une négation est un élément NOT</a:t>
            </a:r>
            <a:endParaRPr lang="en-US" b="1" dirty="0"/>
          </a:p>
        </p:txBody>
      </p:sp>
      <p:sp>
        <p:nvSpPr>
          <p:cNvPr id="7" name="Rectangle 6">
            <a:extLst>
              <a:ext uri="{FF2B5EF4-FFF2-40B4-BE49-F238E27FC236}">
                <a16:creationId xmlns:a16="http://schemas.microsoft.com/office/drawing/2014/main" id="{23894E2A-261A-4FD9-B58A-EF53F2510B67}"/>
              </a:ext>
            </a:extLst>
          </p:cNvPr>
          <p:cNvSpPr/>
          <p:nvPr/>
        </p:nvSpPr>
        <p:spPr>
          <a:xfrm>
            <a:off x="4337199" y="5150989"/>
            <a:ext cx="4123233" cy="923330"/>
          </a:xfrm>
          <a:prstGeom prst="rect">
            <a:avLst/>
          </a:prstGeom>
        </p:spPr>
        <p:txBody>
          <a:bodyPr wrap="square">
            <a:spAutoFit/>
          </a:bodyPr>
          <a:lstStyle/>
          <a:p>
            <a:r>
              <a:rPr lang="en-US" b="1">
                <a:solidFill>
                  <a:srgbClr val="369226"/>
                </a:solidFill>
              </a:rPr>
              <a:t>L'état à la sortie d'un élément NOT est toujours le contraire de l'état à l'entrée</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a:t>Table de vérité/schéma de circuit d'une négation ou d'un élément NON</a:t>
            </a:r>
            <a:endParaRPr lang="es-ES" dirty="0"/>
          </a:p>
        </p:txBody>
      </p:sp>
      <p:sp>
        <p:nvSpPr>
          <p:cNvPr id="9" name="Rectangle 8">
            <a:extLst>
              <a:ext uri="{FF2B5EF4-FFF2-40B4-BE49-F238E27FC236}">
                <a16:creationId xmlns:a16="http://schemas.microsoft.com/office/drawing/2014/main" id="{5BBAE102-E2BE-44F9-95A8-8C01B793F78B}"/>
              </a:ext>
            </a:extLst>
          </p:cNvPr>
          <p:cNvSpPr/>
          <p:nvPr/>
        </p:nvSpPr>
        <p:spPr>
          <a:xfrm>
            <a:off x="990376" y="4593903"/>
            <a:ext cx="5741864" cy="369332"/>
          </a:xfrm>
          <a:prstGeom prst="rect">
            <a:avLst/>
          </a:prstGeom>
        </p:spPr>
        <p:txBody>
          <a:bodyPr wrap="square">
            <a:spAutoFit/>
          </a:bodyPr>
          <a:lstStyle/>
          <a:p>
            <a:r>
              <a:rPr lang="en-US" b="1"/>
              <a:t>Symbole graphique de l'élément NOT avec 1 entrée</a:t>
            </a:r>
            <a:endParaRPr lang="es-ES" b="1" dirty="0"/>
          </a:p>
        </p:txBody>
      </p:sp>
      <p:sp>
        <p:nvSpPr>
          <p:cNvPr id="10" name="Rectangle 9">
            <a:extLst>
              <a:ext uri="{FF2B5EF4-FFF2-40B4-BE49-F238E27FC236}">
                <a16:creationId xmlns:a16="http://schemas.microsoft.com/office/drawing/2014/main" id="{D90F6F8B-FA3F-4791-9B14-8D4FA206E182}"/>
              </a:ext>
            </a:extLst>
          </p:cNvPr>
          <p:cNvSpPr/>
          <p:nvPr/>
        </p:nvSpPr>
        <p:spPr>
          <a:xfrm>
            <a:off x="4393602" y="3429000"/>
            <a:ext cx="4123231" cy="646331"/>
          </a:xfrm>
          <a:prstGeom prst="rect">
            <a:avLst/>
          </a:prstGeom>
        </p:spPr>
        <p:txBody>
          <a:bodyPr wrap="square">
            <a:spAutoFit/>
          </a:bodyPr>
          <a:lstStyle/>
          <a:p>
            <a:r>
              <a:rPr lang="en-US" b="1">
                <a:solidFill>
                  <a:srgbClr val="369226"/>
                </a:solidFill>
              </a:rPr>
              <a:t>X = A </a:t>
            </a:r>
            <a:r>
              <a:rPr lang="en-US"/>
              <a:t>	</a:t>
            </a:r>
            <a:r>
              <a:rPr lang="en-US" b="1"/>
              <a:t>La ligne traduite est le symbole de négation</a:t>
            </a:r>
          </a:p>
        </p:txBody>
      </p:sp>
      <p:pic>
        <p:nvPicPr>
          <p:cNvPr id="2" name="Picture 1">
            <a:extLst>
              <a:ext uri="{FF2B5EF4-FFF2-40B4-BE49-F238E27FC236}">
                <a16:creationId xmlns:a16="http://schemas.microsoft.com/office/drawing/2014/main" id="{D67C625D-3964-4382-A254-03734EE70528}"/>
              </a:ext>
            </a:extLst>
          </p:cNvPr>
          <p:cNvPicPr>
            <a:picLocks noChangeAspect="1"/>
          </p:cNvPicPr>
          <p:nvPr/>
        </p:nvPicPr>
        <p:blipFill>
          <a:blip r:embed="rId3"/>
          <a:stretch>
            <a:fillRect/>
          </a:stretch>
        </p:blipFill>
        <p:spPr>
          <a:xfrm>
            <a:off x="1010602" y="5031629"/>
            <a:ext cx="2657475" cy="1162050"/>
          </a:xfrm>
          <a:prstGeom prst="rect">
            <a:avLst/>
          </a:prstGeom>
        </p:spPr>
      </p:pic>
      <p:pic>
        <p:nvPicPr>
          <p:cNvPr id="4" name="Picture 3">
            <a:extLst>
              <a:ext uri="{FF2B5EF4-FFF2-40B4-BE49-F238E27FC236}">
                <a16:creationId xmlns:a16="http://schemas.microsoft.com/office/drawing/2014/main" id="{E84DE230-B149-4C6E-BFA3-3A0D1A4629DA}"/>
              </a:ext>
            </a:extLst>
          </p:cNvPr>
          <p:cNvPicPr>
            <a:picLocks noChangeAspect="1"/>
          </p:cNvPicPr>
          <p:nvPr/>
        </p:nvPicPr>
        <p:blipFill>
          <a:blip r:embed="rId4"/>
          <a:stretch>
            <a:fillRect/>
          </a:stretch>
        </p:blipFill>
        <p:spPr>
          <a:xfrm>
            <a:off x="1008847" y="1940497"/>
            <a:ext cx="3009175" cy="2092401"/>
          </a:xfrm>
          <a:prstGeom prst="rect">
            <a:avLst/>
          </a:prstGeom>
        </p:spPr>
      </p:pic>
      <p:cxnSp>
        <p:nvCxnSpPr>
          <p:cNvPr id="11" name="Straight Connector 10">
            <a:extLst>
              <a:ext uri="{FF2B5EF4-FFF2-40B4-BE49-F238E27FC236}">
                <a16:creationId xmlns:a16="http://schemas.microsoft.com/office/drawing/2014/main" id="{6DB16F17-97CE-4D3E-BF1C-5F009453E8F4}"/>
              </a:ext>
            </a:extLst>
          </p:cNvPr>
          <p:cNvCxnSpPr>
            <a:cxnSpLocks/>
          </p:cNvCxnSpPr>
          <p:nvPr/>
        </p:nvCxnSpPr>
        <p:spPr>
          <a:xfrm>
            <a:off x="4860032" y="3463725"/>
            <a:ext cx="216024"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3980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a:extLst>
              <a:ext uri="{FF2B5EF4-FFF2-40B4-BE49-F238E27FC236}">
                <a16:creationId xmlns:a16="http://schemas.microsoft.com/office/drawing/2014/main" id="{71EBB29D-F9D2-4819-85FF-52D96C5624D8}"/>
              </a:ext>
            </a:extLst>
          </p:cNvPr>
          <p:cNvGraphicFramePr>
            <a:graphicFrameLocks noChangeAspect="1"/>
          </p:cNvGraphicFramePr>
          <p:nvPr/>
        </p:nvGraphicFramePr>
        <p:xfrm>
          <a:off x="1144860" y="2019784"/>
          <a:ext cx="6451476" cy="2590505"/>
        </p:xfrm>
        <a:graphic>
          <a:graphicData uri="http://schemas.openxmlformats.org/presentationml/2006/ole">
            <mc:AlternateContent xmlns:mc="http://schemas.openxmlformats.org/markup-compatibility/2006">
              <mc:Choice xmlns:v="urn:schemas-microsoft-com:vml" Requires="v">
                <p:oleObj r:id="rId3" imgW="8037135" imgH="3235799" progId="Visio.Drawing.15">
                  <p:embed/>
                </p:oleObj>
              </mc:Choice>
              <mc:Fallback>
                <p:oleObj r:id="rId3" imgW="8037135" imgH="3235799" progId="Visio.Drawing.15">
                  <p:embed/>
                  <p:pic>
                    <p:nvPicPr>
                      <p:cNvPr id="13" name="Object 12">
                        <a:extLst>
                          <a:ext uri="{FF2B5EF4-FFF2-40B4-BE49-F238E27FC236}">
                            <a16:creationId xmlns:a16="http://schemas.microsoft.com/office/drawing/2014/main" id="{71EBB29D-F9D2-4819-85FF-52D96C562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860" y="2019784"/>
                        <a:ext cx="6451476" cy="2590505"/>
                      </a:xfrm>
                      <a:prstGeom prst="rect">
                        <a:avLst/>
                      </a:prstGeom>
                      <a:noFill/>
                    </p:spPr>
                  </p:pic>
                </p:oleObj>
              </mc:Fallback>
            </mc:AlternateContent>
          </a:graphicData>
        </a:graphic>
      </p:graphicFrame>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a:t>L'Élément NAND</a:t>
            </a:r>
            <a:endParaRPr lang="en-GB" dirty="0"/>
          </a:p>
        </p:txBody>
      </p:sp>
      <p:sp>
        <p:nvSpPr>
          <p:cNvPr id="7" name="Rectangle 6">
            <a:extLst>
              <a:ext uri="{FF2B5EF4-FFF2-40B4-BE49-F238E27FC236}">
                <a16:creationId xmlns:a16="http://schemas.microsoft.com/office/drawing/2014/main" id="{23894E2A-261A-4FD9-B58A-EF53F2510B67}"/>
              </a:ext>
            </a:extLst>
          </p:cNvPr>
          <p:cNvSpPr/>
          <p:nvPr/>
        </p:nvSpPr>
        <p:spPr>
          <a:xfrm>
            <a:off x="1070609" y="5158933"/>
            <a:ext cx="7002782" cy="646331"/>
          </a:xfrm>
          <a:prstGeom prst="rect">
            <a:avLst/>
          </a:prstGeom>
        </p:spPr>
        <p:txBody>
          <a:bodyPr wrap="square">
            <a:spAutoFit/>
          </a:bodyPr>
          <a:lstStyle/>
          <a:p>
            <a:r>
              <a:rPr lang="en-US" b="1">
                <a:solidFill>
                  <a:srgbClr val="369226"/>
                </a:solidFill>
              </a:rPr>
              <a:t>Un état ' 1 ' est présent à la sortie d'un élément NAND si un état ' 1 ' n'est pas présent à toutes les entrées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a:t>Diagramme de la table de vérité/circuit d'une fonction NAND</a:t>
            </a:r>
            <a:endParaRPr lang="es-ES" dirty="0"/>
          </a:p>
        </p:txBody>
      </p:sp>
      <p:sp>
        <p:nvSpPr>
          <p:cNvPr id="10" name="Rectangle 9">
            <a:extLst>
              <a:ext uri="{FF2B5EF4-FFF2-40B4-BE49-F238E27FC236}">
                <a16:creationId xmlns:a16="http://schemas.microsoft.com/office/drawing/2014/main" id="{D90F6F8B-FA3F-4791-9B14-8D4FA206E182}"/>
              </a:ext>
            </a:extLst>
          </p:cNvPr>
          <p:cNvSpPr/>
          <p:nvPr/>
        </p:nvSpPr>
        <p:spPr>
          <a:xfrm>
            <a:off x="1115616" y="4038973"/>
            <a:ext cx="4066828" cy="369332"/>
          </a:xfrm>
          <a:prstGeom prst="rect">
            <a:avLst/>
          </a:prstGeom>
        </p:spPr>
        <p:txBody>
          <a:bodyPr wrap="square">
            <a:spAutoFit/>
          </a:bodyPr>
          <a:lstStyle/>
          <a:p>
            <a:r>
              <a:rPr lang="en-US" b="1">
                <a:solidFill>
                  <a:srgbClr val="369226"/>
                </a:solidFill>
              </a:rPr>
              <a:t>Z = A ^ B</a:t>
            </a:r>
            <a:r>
              <a:rPr lang="en-US">
                <a:solidFill>
                  <a:srgbClr val="369226"/>
                </a:solidFill>
              </a:rPr>
              <a:t> </a:t>
            </a:r>
            <a:r>
              <a:rPr lang="en-US"/>
              <a:t> </a:t>
            </a:r>
            <a:r>
              <a:rPr lang="en-US" b="1"/>
              <a:t> (algèbre logique)</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1510037" y="4038973"/>
            <a:ext cx="720080"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584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a:t>L'Élément NOR</a:t>
            </a:r>
            <a:endParaRPr lang="en-GB" dirty="0"/>
          </a:p>
        </p:txBody>
      </p:sp>
      <p:sp>
        <p:nvSpPr>
          <p:cNvPr id="7" name="Rectangle 6">
            <a:extLst>
              <a:ext uri="{FF2B5EF4-FFF2-40B4-BE49-F238E27FC236}">
                <a16:creationId xmlns:a16="http://schemas.microsoft.com/office/drawing/2014/main" id="{23894E2A-261A-4FD9-B58A-EF53F2510B67}"/>
              </a:ext>
            </a:extLst>
          </p:cNvPr>
          <p:cNvSpPr/>
          <p:nvPr/>
        </p:nvSpPr>
        <p:spPr>
          <a:xfrm>
            <a:off x="1070609" y="5158933"/>
            <a:ext cx="7002782" cy="646331"/>
          </a:xfrm>
          <a:prstGeom prst="rect">
            <a:avLst/>
          </a:prstGeom>
        </p:spPr>
        <p:txBody>
          <a:bodyPr wrap="square">
            <a:spAutoFit/>
          </a:bodyPr>
          <a:lstStyle/>
          <a:p>
            <a:r>
              <a:rPr lang="en-US" b="1">
                <a:solidFill>
                  <a:srgbClr val="369226"/>
                </a:solidFill>
              </a:rPr>
              <a:t>Un état ' 1 ' ne se trouve à la sortie d'un élément NOR que si l'état ' 1 ' n'est présent sur aucune entrée</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GB" b="1"/>
              <a:t>Schéma table de vérité/circuit d'un élément NOR</a:t>
            </a:r>
            <a:endParaRPr lang="es-ES" dirty="0"/>
          </a:p>
        </p:txBody>
      </p:sp>
      <p:sp>
        <p:nvSpPr>
          <p:cNvPr id="10" name="Rectangle 9">
            <a:extLst>
              <a:ext uri="{FF2B5EF4-FFF2-40B4-BE49-F238E27FC236}">
                <a16:creationId xmlns:a16="http://schemas.microsoft.com/office/drawing/2014/main" id="{D90F6F8B-FA3F-4791-9B14-8D4FA206E182}"/>
              </a:ext>
            </a:extLst>
          </p:cNvPr>
          <p:cNvSpPr/>
          <p:nvPr/>
        </p:nvSpPr>
        <p:spPr>
          <a:xfrm>
            <a:off x="1115616" y="4038973"/>
            <a:ext cx="4066828" cy="369332"/>
          </a:xfrm>
          <a:prstGeom prst="rect">
            <a:avLst/>
          </a:prstGeom>
        </p:spPr>
        <p:txBody>
          <a:bodyPr wrap="square">
            <a:spAutoFit/>
          </a:bodyPr>
          <a:lstStyle/>
          <a:p>
            <a:r>
              <a:rPr lang="en-US" b="1">
                <a:solidFill>
                  <a:srgbClr val="369226"/>
                </a:solidFill>
              </a:rPr>
              <a:t>Z = A ^ B</a:t>
            </a:r>
            <a:r>
              <a:rPr lang="en-US">
                <a:solidFill>
                  <a:srgbClr val="369226"/>
                </a:solidFill>
              </a:rPr>
              <a:t> </a:t>
            </a:r>
            <a:r>
              <a:rPr lang="en-US"/>
              <a:t> </a:t>
            </a:r>
            <a:r>
              <a:rPr lang="en-US" b="1"/>
              <a:t> (algèbre logique)</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1510037" y="4038973"/>
            <a:ext cx="720080"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542EF514-6B57-4A5A-AD6A-EF0C747BDF02}"/>
              </a:ext>
            </a:extLst>
          </p:cNvPr>
          <p:cNvGraphicFramePr>
            <a:graphicFrameLocks noChangeAspect="1"/>
          </p:cNvGraphicFramePr>
          <p:nvPr/>
        </p:nvGraphicFramePr>
        <p:xfrm>
          <a:off x="1070608" y="1895170"/>
          <a:ext cx="6711691" cy="2712152"/>
        </p:xfrm>
        <a:graphic>
          <a:graphicData uri="http://schemas.openxmlformats.org/presentationml/2006/ole">
            <mc:AlternateContent xmlns:mc="http://schemas.openxmlformats.org/markup-compatibility/2006">
              <mc:Choice xmlns:v="urn:schemas-microsoft-com:vml" Requires="v">
                <p:oleObj r:id="rId3" imgW="8037135" imgH="3248466" progId="Visio.Drawing.15">
                  <p:embed/>
                </p:oleObj>
              </mc:Choice>
              <mc:Fallback>
                <p:oleObj r:id="rId3" imgW="8037135" imgH="3248466" progId="Visio.Drawing.15">
                  <p:embed/>
                  <p:pic>
                    <p:nvPicPr>
                      <p:cNvPr id="4" name="Object 3">
                        <a:extLst>
                          <a:ext uri="{FF2B5EF4-FFF2-40B4-BE49-F238E27FC236}">
                            <a16:creationId xmlns:a16="http://schemas.microsoft.com/office/drawing/2014/main" id="{542EF514-6B57-4A5A-AD6A-EF0C747BDF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608" y="1895170"/>
                        <a:ext cx="6711691" cy="2712152"/>
                      </a:xfrm>
                      <a:prstGeom prst="rect">
                        <a:avLst/>
                      </a:prstGeom>
                      <a:noFill/>
                    </p:spPr>
                  </p:pic>
                </p:oleObj>
              </mc:Fallback>
            </mc:AlternateContent>
          </a:graphicData>
        </a:graphic>
      </p:graphicFrame>
    </p:spTree>
    <p:extLst>
      <p:ext uri="{BB962C8B-B14F-4D97-AF65-F5344CB8AC3E}">
        <p14:creationId xmlns:p14="http://schemas.microsoft.com/office/powerpoint/2010/main" val="2075385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a:t>Équivalence</a:t>
            </a:r>
            <a:endParaRPr lang="en-GB" dirty="0"/>
          </a:p>
        </p:txBody>
      </p:sp>
      <p:sp>
        <p:nvSpPr>
          <p:cNvPr id="7" name="Rectangle 6">
            <a:extLst>
              <a:ext uri="{FF2B5EF4-FFF2-40B4-BE49-F238E27FC236}">
                <a16:creationId xmlns:a16="http://schemas.microsoft.com/office/drawing/2014/main" id="{23894E2A-261A-4FD9-B58A-EF53F2510B67}"/>
              </a:ext>
            </a:extLst>
          </p:cNvPr>
          <p:cNvSpPr/>
          <p:nvPr/>
        </p:nvSpPr>
        <p:spPr>
          <a:xfrm>
            <a:off x="1070608" y="5518973"/>
            <a:ext cx="7317815" cy="646331"/>
          </a:xfrm>
          <a:prstGeom prst="rect">
            <a:avLst/>
          </a:prstGeom>
        </p:spPr>
        <p:txBody>
          <a:bodyPr wrap="square">
            <a:spAutoFit/>
          </a:bodyPr>
          <a:lstStyle/>
          <a:p>
            <a:r>
              <a:rPr lang="en-US" b="1">
                <a:solidFill>
                  <a:srgbClr val="369226"/>
                </a:solidFill>
              </a:rPr>
              <a:t>L'état ' 1 ' est toujours présent à la sortie d'un élément EQUIVALENCE si les entrées ont des états identiques</a:t>
            </a:r>
            <a:endParaRPr lang="es-ES" b="1" dirty="0">
              <a:solidFill>
                <a:srgbClr val="369226"/>
              </a:solidFill>
            </a:endParaRPr>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US" b="1"/>
              <a:t>Symbole graphique de l'élément EQUIVALENCE avec la table de vérité</a:t>
            </a:r>
            <a:endParaRPr lang="es-ES" dirty="0"/>
          </a:p>
        </p:txBody>
      </p:sp>
      <p:sp>
        <p:nvSpPr>
          <p:cNvPr id="10" name="Rectangle 9">
            <a:extLst>
              <a:ext uri="{FF2B5EF4-FFF2-40B4-BE49-F238E27FC236}">
                <a16:creationId xmlns:a16="http://schemas.microsoft.com/office/drawing/2014/main" id="{D90F6F8B-FA3F-4791-9B14-8D4FA206E182}"/>
              </a:ext>
            </a:extLst>
          </p:cNvPr>
          <p:cNvSpPr/>
          <p:nvPr/>
        </p:nvSpPr>
        <p:spPr>
          <a:xfrm>
            <a:off x="1115615" y="4725144"/>
            <a:ext cx="7317815" cy="369332"/>
          </a:xfrm>
          <a:prstGeom prst="rect">
            <a:avLst/>
          </a:prstGeom>
        </p:spPr>
        <p:txBody>
          <a:bodyPr wrap="square">
            <a:spAutoFit/>
          </a:bodyPr>
          <a:lstStyle/>
          <a:p>
            <a:r>
              <a:rPr lang="en-US" b="1">
                <a:solidFill>
                  <a:srgbClr val="369226"/>
                </a:solidFill>
              </a:rPr>
              <a:t>Z = (A ^ B</a:t>
            </a:r>
            <a:r>
              <a:rPr lang="en-US">
                <a:solidFill>
                  <a:srgbClr val="369226"/>
                </a:solidFill>
              </a:rPr>
              <a:t> ) </a:t>
            </a:r>
            <a:r>
              <a:rPr lang="en-US" b="1">
                <a:solidFill>
                  <a:srgbClr val="369226"/>
                </a:solidFill>
              </a:rPr>
              <a:t>v ( A ^ B)</a:t>
            </a:r>
            <a:r>
              <a:rPr lang="en-US">
                <a:solidFill>
                  <a:srgbClr val="369226"/>
                </a:solidFill>
              </a:rPr>
              <a:t>  </a:t>
            </a:r>
            <a:r>
              <a:rPr lang="en-US"/>
              <a:t>	</a:t>
            </a:r>
            <a:r>
              <a:rPr lang="en-US" b="1"/>
              <a:t> (logique algébrique)</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2734173" y="4725144"/>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graphicFrame>
        <p:nvGraphicFramePr>
          <p:cNvPr id="5" name="Object 4">
            <a:extLst>
              <a:ext uri="{FF2B5EF4-FFF2-40B4-BE49-F238E27FC236}">
                <a16:creationId xmlns:a16="http://schemas.microsoft.com/office/drawing/2014/main" id="{D9AE0EF5-B0C5-47F2-8F7D-433206701889}"/>
              </a:ext>
            </a:extLst>
          </p:cNvPr>
          <p:cNvGraphicFramePr>
            <a:graphicFrameLocks noChangeAspect="1"/>
          </p:cNvGraphicFramePr>
          <p:nvPr/>
        </p:nvGraphicFramePr>
        <p:xfrm>
          <a:off x="1259632" y="1929625"/>
          <a:ext cx="4536504" cy="2581315"/>
        </p:xfrm>
        <a:graphic>
          <a:graphicData uri="http://schemas.openxmlformats.org/presentationml/2006/ole">
            <mc:AlternateContent xmlns:mc="http://schemas.openxmlformats.org/markup-compatibility/2006">
              <mc:Choice xmlns:v="urn:schemas-microsoft-com:vml" Requires="v">
                <p:oleObj r:id="rId3" imgW="5708003" imgH="3235799" progId="Visio.Drawing.15">
                  <p:embed/>
                </p:oleObj>
              </mc:Choice>
              <mc:Fallback>
                <p:oleObj r:id="rId3" imgW="5708003" imgH="3235799" progId="Visio.Drawing.15">
                  <p:embed/>
                  <p:pic>
                    <p:nvPicPr>
                      <p:cNvPr id="5" name="Object 4">
                        <a:extLst>
                          <a:ext uri="{FF2B5EF4-FFF2-40B4-BE49-F238E27FC236}">
                            <a16:creationId xmlns:a16="http://schemas.microsoft.com/office/drawing/2014/main" id="{D9AE0EF5-B0C5-47F2-8F7D-4332067018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929625"/>
                        <a:ext cx="4536504" cy="2581315"/>
                      </a:xfrm>
                      <a:prstGeom prst="rect">
                        <a:avLst/>
                      </a:prstGeom>
                      <a:noFill/>
                    </p:spPr>
                  </p:pic>
                </p:oleObj>
              </mc:Fallback>
            </mc:AlternateContent>
          </a:graphicData>
        </a:graphic>
      </p:graphicFrame>
      <p:cxnSp>
        <p:nvCxnSpPr>
          <p:cNvPr id="12" name="Straight Connector 11">
            <a:extLst>
              <a:ext uri="{FF2B5EF4-FFF2-40B4-BE49-F238E27FC236}">
                <a16:creationId xmlns:a16="http://schemas.microsoft.com/office/drawing/2014/main" id="{4F0CDB31-1C2F-438C-BBFA-C7383E561FEE}"/>
              </a:ext>
            </a:extLst>
          </p:cNvPr>
          <p:cNvCxnSpPr>
            <a:cxnSpLocks/>
          </p:cNvCxnSpPr>
          <p:nvPr/>
        </p:nvCxnSpPr>
        <p:spPr>
          <a:xfrm>
            <a:off x="3166221" y="4725144"/>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755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a:t>Élément EXCLUSIVE OR (XOR)</a:t>
            </a:r>
            <a:br>
              <a:rPr lang="en-GB" dirty="0"/>
            </a:br>
            <a:endParaRPr lang="en-GB" dirty="0"/>
          </a:p>
        </p:txBody>
      </p:sp>
      <p:sp>
        <p:nvSpPr>
          <p:cNvPr id="8" name="Rectangle 7">
            <a:extLst>
              <a:ext uri="{FF2B5EF4-FFF2-40B4-BE49-F238E27FC236}">
                <a16:creationId xmlns:a16="http://schemas.microsoft.com/office/drawing/2014/main" id="{9747B9E9-37B0-4FF1-B214-E5AE3825E9BF}"/>
              </a:ext>
            </a:extLst>
          </p:cNvPr>
          <p:cNvSpPr/>
          <p:nvPr/>
        </p:nvSpPr>
        <p:spPr>
          <a:xfrm>
            <a:off x="900112" y="1379031"/>
            <a:ext cx="8064376" cy="369332"/>
          </a:xfrm>
          <a:prstGeom prst="rect">
            <a:avLst/>
          </a:prstGeom>
        </p:spPr>
        <p:txBody>
          <a:bodyPr wrap="square">
            <a:spAutoFit/>
          </a:bodyPr>
          <a:lstStyle/>
          <a:p>
            <a:r>
              <a:rPr lang="en-US" b="1"/>
              <a:t>Table de vérité/schéma de circuit d'un élément OU EXCLUSIF</a:t>
            </a:r>
          </a:p>
        </p:txBody>
      </p:sp>
      <p:sp>
        <p:nvSpPr>
          <p:cNvPr id="10" name="Rectangle 9">
            <a:extLst>
              <a:ext uri="{FF2B5EF4-FFF2-40B4-BE49-F238E27FC236}">
                <a16:creationId xmlns:a16="http://schemas.microsoft.com/office/drawing/2014/main" id="{D90F6F8B-FA3F-4791-9B14-8D4FA206E182}"/>
              </a:ext>
            </a:extLst>
          </p:cNvPr>
          <p:cNvSpPr/>
          <p:nvPr/>
        </p:nvSpPr>
        <p:spPr>
          <a:xfrm>
            <a:off x="1115615" y="5147900"/>
            <a:ext cx="7317815" cy="369332"/>
          </a:xfrm>
          <a:prstGeom prst="rect">
            <a:avLst/>
          </a:prstGeom>
        </p:spPr>
        <p:txBody>
          <a:bodyPr wrap="square">
            <a:spAutoFit/>
          </a:bodyPr>
          <a:lstStyle/>
          <a:p>
            <a:r>
              <a:rPr lang="en-US" b="1">
                <a:solidFill>
                  <a:srgbClr val="369226"/>
                </a:solidFill>
              </a:rPr>
              <a:t>Z = (A ^ B</a:t>
            </a:r>
            <a:r>
              <a:rPr lang="en-US">
                <a:solidFill>
                  <a:srgbClr val="369226"/>
                </a:solidFill>
              </a:rPr>
              <a:t> ) </a:t>
            </a:r>
            <a:r>
              <a:rPr lang="en-US" b="1">
                <a:solidFill>
                  <a:srgbClr val="369226"/>
                </a:solidFill>
              </a:rPr>
              <a:t>v ( A ^ B)</a:t>
            </a:r>
            <a:r>
              <a:rPr lang="en-US">
                <a:solidFill>
                  <a:srgbClr val="369226"/>
                </a:solidFill>
              </a:rPr>
              <a:t> </a:t>
            </a:r>
            <a:r>
              <a:rPr lang="en-US"/>
              <a:t> </a:t>
            </a:r>
            <a:r>
              <a:rPr lang="en-US" b="1"/>
              <a:t> (algèbre logique)</a:t>
            </a:r>
          </a:p>
        </p:txBody>
      </p:sp>
      <p:cxnSp>
        <p:nvCxnSpPr>
          <p:cNvPr id="11" name="Straight Connector 10">
            <a:extLst>
              <a:ext uri="{FF2B5EF4-FFF2-40B4-BE49-F238E27FC236}">
                <a16:creationId xmlns:a16="http://schemas.microsoft.com/office/drawing/2014/main" id="{7A97E97F-1444-4779-80E9-8B63F4045238}"/>
              </a:ext>
            </a:extLst>
          </p:cNvPr>
          <p:cNvCxnSpPr>
            <a:cxnSpLocks/>
          </p:cNvCxnSpPr>
          <p:nvPr/>
        </p:nvCxnSpPr>
        <p:spPr>
          <a:xfrm>
            <a:off x="2734173" y="5147900"/>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F0CDB31-1C2F-438C-BBFA-C7383E561FEE}"/>
              </a:ext>
            </a:extLst>
          </p:cNvPr>
          <p:cNvCxnSpPr>
            <a:cxnSpLocks/>
          </p:cNvCxnSpPr>
          <p:nvPr/>
        </p:nvCxnSpPr>
        <p:spPr>
          <a:xfrm>
            <a:off x="3166221" y="5147900"/>
            <a:ext cx="253651"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C21291BB-63B4-46B9-8971-401F280F1261}"/>
              </a:ext>
            </a:extLst>
          </p:cNvPr>
          <p:cNvGraphicFramePr>
            <a:graphicFrameLocks noChangeAspect="1"/>
          </p:cNvGraphicFramePr>
          <p:nvPr/>
        </p:nvGraphicFramePr>
        <p:xfrm>
          <a:off x="1227335" y="2023993"/>
          <a:ext cx="6689330" cy="2714566"/>
        </p:xfrm>
        <a:graphic>
          <a:graphicData uri="http://schemas.openxmlformats.org/presentationml/2006/ole">
            <mc:AlternateContent xmlns:mc="http://schemas.openxmlformats.org/markup-compatibility/2006">
              <mc:Choice xmlns:v="urn:schemas-microsoft-com:vml" Requires="v">
                <p:oleObj r:id="rId3" imgW="8037135" imgH="3253072" progId="Visio.Drawing.15">
                  <p:embed/>
                </p:oleObj>
              </mc:Choice>
              <mc:Fallback>
                <p:oleObj r:id="rId3" imgW="8037135" imgH="3253072" progId="Visio.Drawing.15">
                  <p:embed/>
                  <p:pic>
                    <p:nvPicPr>
                      <p:cNvPr id="4" name="Object 3">
                        <a:extLst>
                          <a:ext uri="{FF2B5EF4-FFF2-40B4-BE49-F238E27FC236}">
                            <a16:creationId xmlns:a16="http://schemas.microsoft.com/office/drawing/2014/main" id="{C21291BB-63B4-46B9-8971-401F280F1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335" y="2023993"/>
                        <a:ext cx="6689330" cy="2714566"/>
                      </a:xfrm>
                      <a:prstGeom prst="rect">
                        <a:avLst/>
                      </a:prstGeom>
                      <a:noFill/>
                    </p:spPr>
                  </p:pic>
                </p:oleObj>
              </mc:Fallback>
            </mc:AlternateContent>
          </a:graphicData>
        </a:graphic>
      </p:graphicFrame>
      <p:cxnSp>
        <p:nvCxnSpPr>
          <p:cNvPr id="13" name="Straight Connector 12">
            <a:extLst>
              <a:ext uri="{FF2B5EF4-FFF2-40B4-BE49-F238E27FC236}">
                <a16:creationId xmlns:a16="http://schemas.microsoft.com/office/drawing/2014/main" id="{8CC8E06E-0E37-49EE-A2A3-16AFF78118B1}"/>
              </a:ext>
            </a:extLst>
          </p:cNvPr>
          <p:cNvCxnSpPr>
            <a:cxnSpLocks/>
          </p:cNvCxnSpPr>
          <p:nvPr/>
        </p:nvCxnSpPr>
        <p:spPr>
          <a:xfrm>
            <a:off x="1619672" y="5075892"/>
            <a:ext cx="1800200" cy="0"/>
          </a:xfrm>
          <a:prstGeom prst="line">
            <a:avLst/>
          </a:prstGeom>
          <a:ln w="31750">
            <a:solidFill>
              <a:srgbClr val="3692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7007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7238</TotalTime>
  <Words>9780</Words>
  <Application>Microsoft Office PowerPoint</Application>
  <PresentationFormat>On-screen Show (4:3)</PresentationFormat>
  <Paragraphs>723</Paragraphs>
  <Slides>45</Slides>
  <Notes>45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2" baseType="lpstr">
      <vt:lpstr>Arial</vt:lpstr>
      <vt:lpstr>Calibri</vt:lpstr>
      <vt:lpstr>Gotham Light</vt:lpstr>
      <vt:lpstr>Gotham Medium</vt:lpstr>
      <vt:lpstr>Wingdings</vt:lpstr>
      <vt:lpstr>Training 2</vt:lpstr>
      <vt:lpstr>Microsoft Visio Drawing</vt:lpstr>
      <vt:lpstr>COURS AVANCÉ KNX</vt:lpstr>
      <vt:lpstr>Connexion Logique des Objets de Groupe</vt:lpstr>
      <vt:lpstr>Objet de groupe - Logique</vt:lpstr>
      <vt:lpstr>Objet de groupe - Logique</vt:lpstr>
      <vt:lpstr>Fonction OR avec temporisation ACTIVÉ/DÉSACTIVÉ</vt:lpstr>
      <vt:lpstr>Organigramme de la fonction OR</vt:lpstr>
      <vt:lpstr>Fonction OR avec temporisation ACTIVÉE et DÉSACTIVÉE</vt:lpstr>
      <vt:lpstr>Fonction AND</vt:lpstr>
      <vt:lpstr>Fonction ET sans délai</vt:lpstr>
      <vt:lpstr>Fonction AND avec temporisation ACTIVÉE et Hors Temporisation DÉACTIVÉE</vt:lpstr>
      <vt:lpstr>Fonction AND avec temporisation ACTIVÉE et Hors Temporisation DÉACTIVÉE</vt:lpstr>
      <vt:lpstr>Logique Étendue (Commande Directe des Relais)</vt:lpstr>
      <vt:lpstr>Logique Étendue (Sortie Logique Objet)</vt:lpstr>
      <vt:lpstr>Connexion Logique des Adresses de Groupe</vt:lpstr>
      <vt:lpstr>Module Logique</vt:lpstr>
      <vt:lpstr>Réglages des Paramètres Disponibles des Modules Logiques</vt:lpstr>
      <vt:lpstr>Réglages des Paramètres Disponibles des Modules Logiques</vt:lpstr>
      <vt:lpstr>Convertisseur de Format</vt:lpstr>
      <vt:lpstr>Portes Logiques</vt:lpstr>
      <vt:lpstr>Indication de la valeur Min/Max</vt:lpstr>
      <vt:lpstr>Détection de la Valeur Seuil</vt:lpstr>
      <vt:lpstr>Scènes</vt:lpstr>
      <vt:lpstr>Comparateur de Température</vt:lpstr>
      <vt:lpstr>Porte</vt:lpstr>
      <vt:lpstr>Luminaires d'Escaliers</vt:lpstr>
      <vt:lpstr>Multiplicateur</vt:lpstr>
      <vt:lpstr>Valeur de Commutation</vt:lpstr>
      <vt:lpstr>Compteur</vt:lpstr>
      <vt:lpstr>Temps de temporisation</vt:lpstr>
      <vt:lpstr>Connexion Logique Étendue des Adresses de Groupe</vt:lpstr>
      <vt:lpstr>PowerPoint Presentation</vt:lpstr>
      <vt:lpstr>La fonction OR sans temporisation ou avec temporisation ACTIVÉE et ACTIVÉE</vt:lpstr>
      <vt:lpstr>Climatisation Automatique de la Pièce avec Activation (fonction AND)</vt:lpstr>
      <vt:lpstr>Climatisation Automatique de la Pièce avec Activation (fonction AND)</vt:lpstr>
      <vt:lpstr>Fonction AND sans temporisation et avec temporisation ACTIVÉE/DÉSACTIVÉE</vt:lpstr>
      <vt:lpstr>Liaison d'adresses de groupe (1) - « Logique étendue »</vt:lpstr>
      <vt:lpstr>Conception de projet graphique </vt:lpstr>
      <vt:lpstr>PowerPoint Presentation</vt:lpstr>
      <vt:lpstr>Fonction AND (Conjonction) et Élément AND (AND)</vt:lpstr>
      <vt:lpstr>Fonction OR (Disjonction) et Élément OR (OR)</vt:lpstr>
      <vt:lpstr>Négation et élément NOT (NOT)</vt:lpstr>
      <vt:lpstr>L'Élément NAND</vt:lpstr>
      <vt:lpstr>L'Élément NOR</vt:lpstr>
      <vt:lpstr>Équivalence</vt:lpstr>
      <vt:lpstr>Élément EXCLUSIVE OR (XOR)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348</cp:revision>
  <dcterms:created xsi:type="dcterms:W3CDTF">2012-09-10T07:59:43Z</dcterms:created>
  <dcterms:modified xsi:type="dcterms:W3CDTF">2023-04-07T14:59:47Z</dcterms:modified>
</cp:coreProperties>
</file>