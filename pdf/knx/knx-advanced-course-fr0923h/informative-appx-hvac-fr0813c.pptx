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782" r:id="rId1"/>
  </p:sldMasterIdLst>
  <p:notesMasterIdLst>
    <p:notesMasterId r:id="rId64"/>
  </p:notesMasterIdLst>
  <p:handoutMasterIdLst>
    <p:handoutMasterId r:id="rId65"/>
  </p:handoutMasterIdLst>
  <p:sldIdLst>
    <p:sldId id="256" r:id="rId2"/>
    <p:sldId id="325" r:id="rId3"/>
    <p:sldId id="358" r:id="rId4"/>
    <p:sldId id="341" r:id="rId5"/>
    <p:sldId id="342" r:id="rId6"/>
    <p:sldId id="343" r:id="rId7"/>
    <p:sldId id="344" r:id="rId8"/>
    <p:sldId id="359" r:id="rId9"/>
    <p:sldId id="360" r:id="rId10"/>
    <p:sldId id="361" r:id="rId11"/>
    <p:sldId id="362" r:id="rId12"/>
    <p:sldId id="345" r:id="rId13"/>
    <p:sldId id="346" r:id="rId14"/>
    <p:sldId id="347" r:id="rId15"/>
    <p:sldId id="348" r:id="rId16"/>
    <p:sldId id="363" r:id="rId17"/>
    <p:sldId id="349" r:id="rId18"/>
    <p:sldId id="350" r:id="rId19"/>
    <p:sldId id="351" r:id="rId20"/>
    <p:sldId id="352" r:id="rId21"/>
    <p:sldId id="353" r:id="rId22"/>
    <p:sldId id="354" r:id="rId23"/>
    <p:sldId id="355" r:id="rId24"/>
    <p:sldId id="356" r:id="rId25"/>
    <p:sldId id="357" r:id="rId26"/>
    <p:sldId id="326" r:id="rId27"/>
    <p:sldId id="327" r:id="rId28"/>
    <p:sldId id="328" r:id="rId29"/>
    <p:sldId id="329" r:id="rId30"/>
    <p:sldId id="330" r:id="rId31"/>
    <p:sldId id="364" r:id="rId32"/>
    <p:sldId id="365" r:id="rId33"/>
    <p:sldId id="366" r:id="rId34"/>
    <p:sldId id="367" r:id="rId35"/>
    <p:sldId id="368" r:id="rId36"/>
    <p:sldId id="369" r:id="rId37"/>
    <p:sldId id="370" r:id="rId38"/>
    <p:sldId id="371" r:id="rId39"/>
    <p:sldId id="372" r:id="rId40"/>
    <p:sldId id="373" r:id="rId41"/>
    <p:sldId id="374" r:id="rId42"/>
    <p:sldId id="375" r:id="rId43"/>
    <p:sldId id="376" r:id="rId44"/>
    <p:sldId id="377" r:id="rId45"/>
    <p:sldId id="378" r:id="rId46"/>
    <p:sldId id="379" r:id="rId47"/>
    <p:sldId id="392" r:id="rId48"/>
    <p:sldId id="398" r:id="rId49"/>
    <p:sldId id="393" r:id="rId50"/>
    <p:sldId id="395" r:id="rId51"/>
    <p:sldId id="396" r:id="rId52"/>
    <p:sldId id="397" r:id="rId53"/>
    <p:sldId id="331" r:id="rId54"/>
    <p:sldId id="332" r:id="rId55"/>
    <p:sldId id="333" r:id="rId56"/>
    <p:sldId id="334" r:id="rId57"/>
    <p:sldId id="335" r:id="rId58"/>
    <p:sldId id="336" r:id="rId59"/>
    <p:sldId id="337" r:id="rId60"/>
    <p:sldId id="338" r:id="rId61"/>
    <p:sldId id="339" r:id="rId62"/>
    <p:sldId id="340" r:id="rId63"/>
  </p:sldIdLst>
  <p:sldSz cx="9144000" cy="6858000" type="screen4x3"/>
  <p:notesSz cx="6858000" cy="9144000"/>
  <p:custDataLst>
    <p:tags r:id="rId66"/>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663">
          <p15:clr>
            <a:srgbClr val="A4A3A4"/>
          </p15:clr>
        </p15:guide>
        <p15:guide id="2" orient="horz" pos="935">
          <p15:clr>
            <a:srgbClr val="A4A3A4"/>
          </p15:clr>
        </p15:guide>
        <p15:guide id="3" orient="horz" pos="3475">
          <p15:clr>
            <a:srgbClr val="A4A3A4"/>
          </p15:clr>
        </p15:guide>
        <p15:guide id="4" orient="horz" pos="3294">
          <p15:clr>
            <a:srgbClr val="A4A3A4"/>
          </p15:clr>
        </p15:guide>
        <p15:guide id="5" orient="horz" pos="3974">
          <p15:clr>
            <a:srgbClr val="A4A3A4"/>
          </p15:clr>
        </p15:guide>
        <p15:guide id="6" orient="horz" pos="1253">
          <p15:clr>
            <a:srgbClr val="A4A3A4"/>
          </p15:clr>
        </p15:guide>
        <p15:guide id="7" orient="horz" pos="2614">
          <p15:clr>
            <a:srgbClr val="A4A3A4"/>
          </p15:clr>
        </p15:guide>
        <p15:guide id="8" orient="horz" pos="2840">
          <p15:clr>
            <a:srgbClr val="A4A3A4"/>
          </p15:clr>
        </p15:guide>
        <p15:guide id="9" pos="2290">
          <p15:clr>
            <a:srgbClr val="A4A3A4"/>
          </p15:clr>
        </p15:guide>
        <p15:guide id="10" pos="3334">
          <p15:clr>
            <a:srgbClr val="A4A3A4"/>
          </p15:clr>
        </p15:guide>
        <p15:guide id="11" pos="387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9226"/>
    <a:srgbClr val="0C4BAF"/>
    <a:srgbClr val="D6E3BC"/>
    <a:srgbClr val="B4CAFA"/>
    <a:srgbClr val="AFEAFF"/>
    <a:srgbClr val="E6F2AC"/>
    <a:srgbClr val="FF9F9F"/>
    <a:srgbClr val="0C4B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CB6BCE-CFF7-469F-AABE-282CE60C0D3F}" v="1" dt="2023-04-06T13:03:57.6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55" autoAdjust="0"/>
    <p:restoredTop sz="72829" autoAdjust="0"/>
  </p:normalViewPr>
  <p:slideViewPr>
    <p:cSldViewPr>
      <p:cViewPr varScale="1">
        <p:scale>
          <a:sx n="66" d="100"/>
          <a:sy n="66" d="100"/>
        </p:scale>
        <p:origin x="1858" y="45"/>
      </p:cViewPr>
      <p:guideLst>
        <p:guide orient="horz" pos="663"/>
        <p:guide orient="horz" pos="935"/>
        <p:guide orient="horz" pos="3475"/>
        <p:guide orient="horz" pos="3294"/>
        <p:guide orient="horz" pos="3974"/>
        <p:guide orient="horz" pos="1253"/>
        <p:guide orient="horz" pos="2614"/>
        <p:guide orient="horz" pos="2840"/>
        <p:guide pos="2290"/>
        <p:guide pos="3334"/>
        <p:guide pos="387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71" d="100"/>
          <a:sy n="71" d="100"/>
        </p:scale>
        <p:origin x="-279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fuk Unal" userId="d77f72b3-53d7-4cb7-8425-5a8f29447216" providerId="ADAL" clId="{B0DF57DB-BE44-48D9-A5E9-05DDE94F5005}"/>
    <pc:docChg chg="custSel modSld modMainMaster">
      <pc:chgData name="Ufuk Unal" userId="d77f72b3-53d7-4cb7-8425-5a8f29447216" providerId="ADAL" clId="{B0DF57DB-BE44-48D9-A5E9-05DDE94F5005}" dt="2023-03-14T10:09:21.256" v="54" actId="6549"/>
      <pc:docMkLst>
        <pc:docMk/>
      </pc:docMkLst>
      <pc:sldChg chg="delSp modSp mod">
        <pc:chgData name="Ufuk Unal" userId="d77f72b3-53d7-4cb7-8425-5a8f29447216" providerId="ADAL" clId="{B0DF57DB-BE44-48D9-A5E9-05DDE94F5005}" dt="2023-03-14T09:40:49.424" v="2" actId="20577"/>
        <pc:sldMkLst>
          <pc:docMk/>
          <pc:sldMk cId="2459807384" sldId="256"/>
        </pc:sldMkLst>
        <pc:spChg chg="del">
          <ac:chgData name="Ufuk Unal" userId="d77f72b3-53d7-4cb7-8425-5a8f29447216" providerId="ADAL" clId="{B0DF57DB-BE44-48D9-A5E9-05DDE94F5005}" dt="2023-03-14T09:40:47.278" v="0" actId="478"/>
          <ac:spMkLst>
            <pc:docMk/>
            <pc:sldMk cId="2459807384" sldId="256"/>
            <ac:spMk id="5" creationId="{1D73F070-14E5-431D-9BB5-D0DFC46463AA}"/>
          </ac:spMkLst>
        </pc:spChg>
        <pc:spChg chg="mod">
          <ac:chgData name="Ufuk Unal" userId="d77f72b3-53d7-4cb7-8425-5a8f29447216" providerId="ADAL" clId="{B0DF57DB-BE44-48D9-A5E9-05DDE94F5005}" dt="2023-03-14T09:40:49.424" v="2" actId="20577"/>
          <ac:spMkLst>
            <pc:docMk/>
            <pc:sldMk cId="2459807384" sldId="256"/>
            <ac:spMk id="6" creationId="{36891D17-0544-4779-B232-7495C4C552DF}"/>
          </ac:spMkLst>
        </pc:spChg>
      </pc:sldChg>
      <pc:sldChg chg="modNotesTx">
        <pc:chgData name="Ufuk Unal" userId="d77f72b3-53d7-4cb7-8425-5a8f29447216" providerId="ADAL" clId="{B0DF57DB-BE44-48D9-A5E9-05DDE94F5005}" dt="2023-03-14T09:41:48.685" v="4" actId="6549"/>
        <pc:sldMkLst>
          <pc:docMk/>
          <pc:sldMk cId="3311703480" sldId="325"/>
        </pc:sldMkLst>
      </pc:sldChg>
      <pc:sldChg chg="modNotesTx">
        <pc:chgData name="Ufuk Unal" userId="d77f72b3-53d7-4cb7-8425-5a8f29447216" providerId="ADAL" clId="{B0DF57DB-BE44-48D9-A5E9-05DDE94F5005}" dt="2023-03-14T10:07:00.303" v="45" actId="6549"/>
        <pc:sldMkLst>
          <pc:docMk/>
          <pc:sldMk cId="3673250314" sldId="326"/>
        </pc:sldMkLst>
      </pc:sldChg>
      <pc:sldChg chg="modNotesTx">
        <pc:chgData name="Ufuk Unal" userId="d77f72b3-53d7-4cb7-8425-5a8f29447216" providerId="ADAL" clId="{B0DF57DB-BE44-48D9-A5E9-05DDE94F5005}" dt="2023-03-14T10:08:53.084" v="50" actId="6549"/>
        <pc:sldMkLst>
          <pc:docMk/>
          <pc:sldMk cId="2503827922" sldId="327"/>
        </pc:sldMkLst>
      </pc:sldChg>
      <pc:sldChg chg="modNotesTx">
        <pc:chgData name="Ufuk Unal" userId="d77f72b3-53d7-4cb7-8425-5a8f29447216" providerId="ADAL" clId="{B0DF57DB-BE44-48D9-A5E9-05DDE94F5005}" dt="2023-03-14T10:08:58.409" v="51" actId="6549"/>
        <pc:sldMkLst>
          <pc:docMk/>
          <pc:sldMk cId="4063430119" sldId="328"/>
        </pc:sldMkLst>
      </pc:sldChg>
      <pc:sldChg chg="modNotesTx">
        <pc:chgData name="Ufuk Unal" userId="d77f72b3-53d7-4cb7-8425-5a8f29447216" providerId="ADAL" clId="{B0DF57DB-BE44-48D9-A5E9-05DDE94F5005}" dt="2023-03-14T10:09:07.868" v="53" actId="6549"/>
        <pc:sldMkLst>
          <pc:docMk/>
          <pc:sldMk cId="1976804067" sldId="329"/>
        </pc:sldMkLst>
      </pc:sldChg>
      <pc:sldChg chg="modSp mod modNotesTx">
        <pc:chgData name="Ufuk Unal" userId="d77f72b3-53d7-4cb7-8425-5a8f29447216" providerId="ADAL" clId="{B0DF57DB-BE44-48D9-A5E9-05DDE94F5005}" dt="2023-03-14T09:42:40.900" v="18" actId="20577"/>
        <pc:sldMkLst>
          <pc:docMk/>
          <pc:sldMk cId="1374603204" sldId="341"/>
        </pc:sldMkLst>
        <pc:spChg chg="mod">
          <ac:chgData name="Ufuk Unal" userId="d77f72b3-53d7-4cb7-8425-5a8f29447216" providerId="ADAL" clId="{B0DF57DB-BE44-48D9-A5E9-05DDE94F5005}" dt="2023-03-14T09:42:40.900" v="18" actId="20577"/>
          <ac:spMkLst>
            <pc:docMk/>
            <pc:sldMk cId="1374603204" sldId="341"/>
            <ac:spMk id="8" creationId="{9F2C7172-BF0D-4756-AB0D-E9B70C83CC4C}"/>
          </ac:spMkLst>
        </pc:spChg>
      </pc:sldChg>
      <pc:sldChg chg="modNotesTx">
        <pc:chgData name="Ufuk Unal" userId="d77f72b3-53d7-4cb7-8425-5a8f29447216" providerId="ADAL" clId="{B0DF57DB-BE44-48D9-A5E9-05DDE94F5005}" dt="2023-03-14T09:43:14.588" v="19" actId="6549"/>
        <pc:sldMkLst>
          <pc:docMk/>
          <pc:sldMk cId="1994260570" sldId="342"/>
        </pc:sldMkLst>
      </pc:sldChg>
      <pc:sldChg chg="modNotesTx">
        <pc:chgData name="Ufuk Unal" userId="d77f72b3-53d7-4cb7-8425-5a8f29447216" providerId="ADAL" clId="{B0DF57DB-BE44-48D9-A5E9-05DDE94F5005}" dt="2023-03-14T09:43:33.699" v="20" actId="6549"/>
        <pc:sldMkLst>
          <pc:docMk/>
          <pc:sldMk cId="2416504450" sldId="343"/>
        </pc:sldMkLst>
      </pc:sldChg>
      <pc:sldChg chg="modSp mod modNotesTx">
        <pc:chgData name="Ufuk Unal" userId="d77f72b3-53d7-4cb7-8425-5a8f29447216" providerId="ADAL" clId="{B0DF57DB-BE44-48D9-A5E9-05DDE94F5005}" dt="2023-03-14T09:44:48.693" v="25" actId="20577"/>
        <pc:sldMkLst>
          <pc:docMk/>
          <pc:sldMk cId="2684641891" sldId="344"/>
        </pc:sldMkLst>
        <pc:spChg chg="mod">
          <ac:chgData name="Ufuk Unal" userId="d77f72b3-53d7-4cb7-8425-5a8f29447216" providerId="ADAL" clId="{B0DF57DB-BE44-48D9-A5E9-05DDE94F5005}" dt="2023-03-14T09:44:48.693" v="25" actId="20577"/>
          <ac:spMkLst>
            <pc:docMk/>
            <pc:sldMk cId="2684641891" sldId="344"/>
            <ac:spMk id="9" creationId="{0A5586CE-EB4A-496E-9B62-001E25693E4A}"/>
          </ac:spMkLst>
        </pc:spChg>
      </pc:sldChg>
      <pc:sldChg chg="modNotesTx">
        <pc:chgData name="Ufuk Unal" userId="d77f72b3-53d7-4cb7-8425-5a8f29447216" providerId="ADAL" clId="{B0DF57DB-BE44-48D9-A5E9-05DDE94F5005}" dt="2023-03-14T09:46:02.188" v="30" actId="6549"/>
        <pc:sldMkLst>
          <pc:docMk/>
          <pc:sldMk cId="1396881717" sldId="345"/>
        </pc:sldMkLst>
      </pc:sldChg>
      <pc:sldChg chg="modNotesTx">
        <pc:chgData name="Ufuk Unal" userId="d77f72b3-53d7-4cb7-8425-5a8f29447216" providerId="ADAL" clId="{B0DF57DB-BE44-48D9-A5E9-05DDE94F5005}" dt="2023-03-14T09:46:08.139" v="31" actId="6549"/>
        <pc:sldMkLst>
          <pc:docMk/>
          <pc:sldMk cId="4104435945" sldId="346"/>
        </pc:sldMkLst>
      </pc:sldChg>
      <pc:sldChg chg="modNotesTx">
        <pc:chgData name="Ufuk Unal" userId="d77f72b3-53d7-4cb7-8425-5a8f29447216" providerId="ADAL" clId="{B0DF57DB-BE44-48D9-A5E9-05DDE94F5005}" dt="2023-03-14T09:46:29.030" v="33" actId="6549"/>
        <pc:sldMkLst>
          <pc:docMk/>
          <pc:sldMk cId="2470924352" sldId="347"/>
        </pc:sldMkLst>
      </pc:sldChg>
      <pc:sldChg chg="modNotesTx">
        <pc:chgData name="Ufuk Unal" userId="d77f72b3-53d7-4cb7-8425-5a8f29447216" providerId="ADAL" clId="{B0DF57DB-BE44-48D9-A5E9-05DDE94F5005}" dt="2023-03-14T09:46:37.348" v="35" actId="6549"/>
        <pc:sldMkLst>
          <pc:docMk/>
          <pc:sldMk cId="838802227" sldId="349"/>
        </pc:sldMkLst>
      </pc:sldChg>
      <pc:sldChg chg="modNotesTx">
        <pc:chgData name="Ufuk Unal" userId="d77f72b3-53d7-4cb7-8425-5a8f29447216" providerId="ADAL" clId="{B0DF57DB-BE44-48D9-A5E9-05DDE94F5005}" dt="2023-03-14T09:46:40.629" v="36" actId="6549"/>
        <pc:sldMkLst>
          <pc:docMk/>
          <pc:sldMk cId="1108545243" sldId="350"/>
        </pc:sldMkLst>
      </pc:sldChg>
      <pc:sldChg chg="modNotesTx">
        <pc:chgData name="Ufuk Unal" userId="d77f72b3-53d7-4cb7-8425-5a8f29447216" providerId="ADAL" clId="{B0DF57DB-BE44-48D9-A5E9-05DDE94F5005}" dt="2023-03-14T09:46:43.386" v="37" actId="6549"/>
        <pc:sldMkLst>
          <pc:docMk/>
          <pc:sldMk cId="1001165308" sldId="351"/>
        </pc:sldMkLst>
      </pc:sldChg>
      <pc:sldChg chg="modNotesTx">
        <pc:chgData name="Ufuk Unal" userId="d77f72b3-53d7-4cb7-8425-5a8f29447216" providerId="ADAL" clId="{B0DF57DB-BE44-48D9-A5E9-05DDE94F5005}" dt="2023-03-14T09:46:50.877" v="39" actId="6549"/>
        <pc:sldMkLst>
          <pc:docMk/>
          <pc:sldMk cId="3243177277" sldId="352"/>
        </pc:sldMkLst>
      </pc:sldChg>
      <pc:sldChg chg="modNotesTx">
        <pc:chgData name="Ufuk Unal" userId="d77f72b3-53d7-4cb7-8425-5a8f29447216" providerId="ADAL" clId="{B0DF57DB-BE44-48D9-A5E9-05DDE94F5005}" dt="2023-03-14T09:45:29.636" v="26" actId="6549"/>
        <pc:sldMkLst>
          <pc:docMk/>
          <pc:sldMk cId="2021682167" sldId="353"/>
        </pc:sldMkLst>
      </pc:sldChg>
      <pc:sldChg chg="modNotesTx">
        <pc:chgData name="Ufuk Unal" userId="d77f72b3-53d7-4cb7-8425-5a8f29447216" providerId="ADAL" clId="{B0DF57DB-BE44-48D9-A5E9-05DDE94F5005}" dt="2023-03-14T09:45:36.796" v="27" actId="6549"/>
        <pc:sldMkLst>
          <pc:docMk/>
          <pc:sldMk cId="423197906" sldId="354"/>
        </pc:sldMkLst>
      </pc:sldChg>
      <pc:sldChg chg="modNotesTx">
        <pc:chgData name="Ufuk Unal" userId="d77f72b3-53d7-4cb7-8425-5a8f29447216" providerId="ADAL" clId="{B0DF57DB-BE44-48D9-A5E9-05DDE94F5005}" dt="2023-03-14T09:45:58.106" v="29" actId="6549"/>
        <pc:sldMkLst>
          <pc:docMk/>
          <pc:sldMk cId="4233599654" sldId="355"/>
        </pc:sldMkLst>
      </pc:sldChg>
      <pc:sldChg chg="modSp mod modNotesTx">
        <pc:chgData name="Ufuk Unal" userId="d77f72b3-53d7-4cb7-8425-5a8f29447216" providerId="ADAL" clId="{B0DF57DB-BE44-48D9-A5E9-05DDE94F5005}" dt="2023-03-14T10:07:55.220" v="48" actId="6549"/>
        <pc:sldMkLst>
          <pc:docMk/>
          <pc:sldMk cId="3798046907" sldId="357"/>
        </pc:sldMkLst>
        <pc:spChg chg="mod">
          <ac:chgData name="Ufuk Unal" userId="d77f72b3-53d7-4cb7-8425-5a8f29447216" providerId="ADAL" clId="{B0DF57DB-BE44-48D9-A5E9-05DDE94F5005}" dt="2023-03-14T10:07:55.220" v="48" actId="6549"/>
          <ac:spMkLst>
            <pc:docMk/>
            <pc:sldMk cId="3798046907" sldId="357"/>
            <ac:spMk id="9" creationId="{0A5586CE-EB4A-496E-9B62-001E25693E4A}"/>
          </ac:spMkLst>
        </pc:spChg>
      </pc:sldChg>
      <pc:sldChg chg="modNotesTx">
        <pc:chgData name="Ufuk Unal" userId="d77f72b3-53d7-4cb7-8425-5a8f29447216" providerId="ADAL" clId="{B0DF57DB-BE44-48D9-A5E9-05DDE94F5005}" dt="2023-03-14T09:46:47.782" v="38" actId="6549"/>
        <pc:sldMkLst>
          <pc:docMk/>
          <pc:sldMk cId="2763019059" sldId="358"/>
        </pc:sldMkLst>
      </pc:sldChg>
      <pc:sldChg chg="modNotesTx">
        <pc:chgData name="Ufuk Unal" userId="d77f72b3-53d7-4cb7-8425-5a8f29447216" providerId="ADAL" clId="{B0DF57DB-BE44-48D9-A5E9-05DDE94F5005}" dt="2023-03-14T09:45:53.949" v="28" actId="6549"/>
        <pc:sldMkLst>
          <pc:docMk/>
          <pc:sldMk cId="1502931874" sldId="359"/>
        </pc:sldMkLst>
      </pc:sldChg>
      <pc:sldChg chg="modNotesTx">
        <pc:chgData name="Ufuk Unal" userId="d77f72b3-53d7-4cb7-8425-5a8f29447216" providerId="ADAL" clId="{B0DF57DB-BE44-48D9-A5E9-05DDE94F5005}" dt="2023-03-14T09:46:18.797" v="32" actId="6549"/>
        <pc:sldMkLst>
          <pc:docMk/>
          <pc:sldMk cId="2784854281" sldId="360"/>
        </pc:sldMkLst>
      </pc:sldChg>
      <pc:sldChg chg="modNotesTx">
        <pc:chgData name="Ufuk Unal" userId="d77f72b3-53d7-4cb7-8425-5a8f29447216" providerId="ADAL" clId="{B0DF57DB-BE44-48D9-A5E9-05DDE94F5005}" dt="2023-03-14T09:46:32.749" v="34" actId="6549"/>
        <pc:sldMkLst>
          <pc:docMk/>
          <pc:sldMk cId="81848509" sldId="361"/>
        </pc:sldMkLst>
      </pc:sldChg>
      <pc:sldChg chg="modNotesTx">
        <pc:chgData name="Ufuk Unal" userId="d77f72b3-53d7-4cb7-8425-5a8f29447216" providerId="ADAL" clId="{B0DF57DB-BE44-48D9-A5E9-05DDE94F5005}" dt="2023-03-14T09:46:54.846" v="40" actId="6549"/>
        <pc:sldMkLst>
          <pc:docMk/>
          <pc:sldMk cId="2726252616" sldId="362"/>
        </pc:sldMkLst>
      </pc:sldChg>
      <pc:sldChg chg="modNotesTx">
        <pc:chgData name="Ufuk Unal" userId="d77f72b3-53d7-4cb7-8425-5a8f29447216" providerId="ADAL" clId="{B0DF57DB-BE44-48D9-A5E9-05DDE94F5005}" dt="2023-03-14T09:46:57.442" v="41" actId="6549"/>
        <pc:sldMkLst>
          <pc:docMk/>
          <pc:sldMk cId="114654693" sldId="363"/>
        </pc:sldMkLst>
      </pc:sldChg>
      <pc:sldChg chg="modNotesTx">
        <pc:chgData name="Ufuk Unal" userId="d77f72b3-53d7-4cb7-8425-5a8f29447216" providerId="ADAL" clId="{B0DF57DB-BE44-48D9-A5E9-05DDE94F5005}" dt="2023-03-14T09:47:03.519" v="42" actId="6549"/>
        <pc:sldMkLst>
          <pc:docMk/>
          <pc:sldMk cId="68671429" sldId="364"/>
        </pc:sldMkLst>
      </pc:sldChg>
      <pc:sldChg chg="modNotesTx">
        <pc:chgData name="Ufuk Unal" userId="d77f72b3-53d7-4cb7-8425-5a8f29447216" providerId="ADAL" clId="{B0DF57DB-BE44-48D9-A5E9-05DDE94F5005}" dt="2023-03-14T10:06:47.184" v="43" actId="6549"/>
        <pc:sldMkLst>
          <pc:docMk/>
          <pc:sldMk cId="3814972833" sldId="365"/>
        </pc:sldMkLst>
      </pc:sldChg>
      <pc:sldChg chg="modNotesTx">
        <pc:chgData name="Ufuk Unal" userId="d77f72b3-53d7-4cb7-8425-5a8f29447216" providerId="ADAL" clId="{B0DF57DB-BE44-48D9-A5E9-05DDE94F5005}" dt="2023-03-14T10:08:48.939" v="49" actId="6549"/>
        <pc:sldMkLst>
          <pc:docMk/>
          <pc:sldMk cId="1766050880" sldId="366"/>
        </pc:sldMkLst>
      </pc:sldChg>
      <pc:sldChg chg="modNotesTx">
        <pc:chgData name="Ufuk Unal" userId="d77f72b3-53d7-4cb7-8425-5a8f29447216" providerId="ADAL" clId="{B0DF57DB-BE44-48D9-A5E9-05DDE94F5005}" dt="2023-03-14T10:09:21.256" v="54" actId="6549"/>
        <pc:sldMkLst>
          <pc:docMk/>
          <pc:sldMk cId="2830932289" sldId="367"/>
        </pc:sldMkLst>
      </pc:sldChg>
      <pc:sldChg chg="modNotesTx">
        <pc:chgData name="Ufuk Unal" userId="d77f72b3-53d7-4cb7-8425-5a8f29447216" providerId="ADAL" clId="{B0DF57DB-BE44-48D9-A5E9-05DDE94F5005}" dt="2023-03-14T10:09:03.930" v="52" actId="6549"/>
        <pc:sldMkLst>
          <pc:docMk/>
          <pc:sldMk cId="3461289532" sldId="368"/>
        </pc:sldMkLst>
      </pc:sldChg>
      <pc:sldMasterChg chg="modSldLayout">
        <pc:chgData name="Ufuk Unal" userId="d77f72b3-53d7-4cb7-8425-5a8f29447216" providerId="ADAL" clId="{B0DF57DB-BE44-48D9-A5E9-05DDE94F5005}" dt="2023-03-14T09:41:05.076" v="3" actId="478"/>
        <pc:sldMasterMkLst>
          <pc:docMk/>
          <pc:sldMasterMk cId="100049181" sldId="2147483782"/>
        </pc:sldMasterMkLst>
        <pc:sldLayoutChg chg="delSp">
          <pc:chgData name="Ufuk Unal" userId="d77f72b3-53d7-4cb7-8425-5a8f29447216" providerId="ADAL" clId="{B0DF57DB-BE44-48D9-A5E9-05DDE94F5005}" dt="2023-03-14T09:41:05.076" v="3" actId="478"/>
          <pc:sldLayoutMkLst>
            <pc:docMk/>
            <pc:sldMasterMk cId="100049181" sldId="2147483782"/>
            <pc:sldLayoutMk cId="2489093777" sldId="2147483783"/>
          </pc:sldLayoutMkLst>
          <pc:spChg chg="del">
            <ac:chgData name="Ufuk Unal" userId="d77f72b3-53d7-4cb7-8425-5a8f29447216" providerId="ADAL" clId="{B0DF57DB-BE44-48D9-A5E9-05DDE94F5005}" dt="2023-03-14T09:41:05.076" v="3" actId="478"/>
            <ac:spMkLst>
              <pc:docMk/>
              <pc:sldMasterMk cId="100049181" sldId="2147483782"/>
              <pc:sldLayoutMk cId="2489093777" sldId="2147483783"/>
              <ac:spMk id="5" creationId="{00000000-0000-0000-0000-000000000000}"/>
            </ac:spMkLst>
          </pc:spChg>
        </pc:sldLayoutChg>
      </pc:sldMasterChg>
    </pc:docChg>
  </pc:docChgLst>
  <pc:docChgLst>
    <pc:chgData name="Ufuk Unal" userId="d77f72b3-53d7-4cb7-8425-5a8f29447216" providerId="ADAL" clId="{A5CB6BCE-CFF7-469F-AABE-282CE60C0D3F}"/>
    <pc:docChg chg="addSld delSld modSld">
      <pc:chgData name="Ufuk Unal" userId="d77f72b3-53d7-4cb7-8425-5a8f29447216" providerId="ADAL" clId="{A5CB6BCE-CFF7-469F-AABE-282CE60C0D3F}" dt="2023-04-06T13:04:36.292" v="10" actId="47"/>
      <pc:docMkLst>
        <pc:docMk/>
      </pc:docMkLst>
      <pc:sldChg chg="modSp mod">
        <pc:chgData name="Ufuk Unal" userId="d77f72b3-53d7-4cb7-8425-5a8f29447216" providerId="ADAL" clId="{A5CB6BCE-CFF7-469F-AABE-282CE60C0D3F}" dt="2023-04-06T13:03:46.002" v="7" actId="20577"/>
        <pc:sldMkLst>
          <pc:docMk/>
          <pc:sldMk cId="2459807384" sldId="256"/>
        </pc:sldMkLst>
        <pc:spChg chg="mod">
          <ac:chgData name="Ufuk Unal" userId="d77f72b3-53d7-4cb7-8425-5a8f29447216" providerId="ADAL" clId="{A5CB6BCE-CFF7-469F-AABE-282CE60C0D3F}" dt="2023-04-06T13:03:46.002" v="7" actId="20577"/>
          <ac:spMkLst>
            <pc:docMk/>
            <pc:sldMk cId="2459807384" sldId="256"/>
            <ac:spMk id="6" creationId="{36891D17-0544-4779-B232-7495C4C552DF}"/>
          </ac:spMkLst>
        </pc:spChg>
      </pc:sldChg>
      <pc:sldChg chg="add">
        <pc:chgData name="Ufuk Unal" userId="d77f72b3-53d7-4cb7-8425-5a8f29447216" providerId="ADAL" clId="{A5CB6BCE-CFF7-469F-AABE-282CE60C0D3F}" dt="2023-04-06T13:03:57.615" v="8"/>
        <pc:sldMkLst>
          <pc:docMk/>
          <pc:sldMk cId="998842949" sldId="257"/>
        </pc:sldMkLst>
      </pc:sldChg>
      <pc:sldChg chg="add">
        <pc:chgData name="Ufuk Unal" userId="d77f72b3-53d7-4cb7-8425-5a8f29447216" providerId="ADAL" clId="{A5CB6BCE-CFF7-469F-AABE-282CE60C0D3F}" dt="2023-04-06T13:03:57.615" v="8"/>
        <pc:sldMkLst>
          <pc:docMk/>
          <pc:sldMk cId="3205511851" sldId="286"/>
        </pc:sldMkLst>
      </pc:sldChg>
      <pc:sldChg chg="add">
        <pc:chgData name="Ufuk Unal" userId="d77f72b3-53d7-4cb7-8425-5a8f29447216" providerId="ADAL" clId="{A5CB6BCE-CFF7-469F-AABE-282CE60C0D3F}" dt="2023-04-06T13:03:57.615" v="8"/>
        <pc:sldMkLst>
          <pc:docMk/>
          <pc:sldMk cId="8838512" sldId="287"/>
        </pc:sldMkLst>
      </pc:sldChg>
      <pc:sldChg chg="add">
        <pc:chgData name="Ufuk Unal" userId="d77f72b3-53d7-4cb7-8425-5a8f29447216" providerId="ADAL" clId="{A5CB6BCE-CFF7-469F-AABE-282CE60C0D3F}" dt="2023-04-06T13:03:57.615" v="8"/>
        <pc:sldMkLst>
          <pc:docMk/>
          <pc:sldMk cId="2281775076" sldId="288"/>
        </pc:sldMkLst>
      </pc:sldChg>
      <pc:sldChg chg="add">
        <pc:chgData name="Ufuk Unal" userId="d77f72b3-53d7-4cb7-8425-5a8f29447216" providerId="ADAL" clId="{A5CB6BCE-CFF7-469F-AABE-282CE60C0D3F}" dt="2023-04-06T13:03:57.615" v="8"/>
        <pc:sldMkLst>
          <pc:docMk/>
          <pc:sldMk cId="1073715606" sldId="289"/>
        </pc:sldMkLst>
      </pc:sldChg>
      <pc:sldChg chg="add">
        <pc:chgData name="Ufuk Unal" userId="d77f72b3-53d7-4cb7-8425-5a8f29447216" providerId="ADAL" clId="{A5CB6BCE-CFF7-469F-AABE-282CE60C0D3F}" dt="2023-04-06T13:03:57.615" v="8"/>
        <pc:sldMkLst>
          <pc:docMk/>
          <pc:sldMk cId="2608193054" sldId="290"/>
        </pc:sldMkLst>
      </pc:sldChg>
      <pc:sldChg chg="add">
        <pc:chgData name="Ufuk Unal" userId="d77f72b3-53d7-4cb7-8425-5a8f29447216" providerId="ADAL" clId="{A5CB6BCE-CFF7-469F-AABE-282CE60C0D3F}" dt="2023-04-06T13:03:57.615" v="8"/>
        <pc:sldMkLst>
          <pc:docMk/>
          <pc:sldMk cId="3236013279" sldId="291"/>
        </pc:sldMkLst>
      </pc:sldChg>
      <pc:sldChg chg="add">
        <pc:chgData name="Ufuk Unal" userId="d77f72b3-53d7-4cb7-8425-5a8f29447216" providerId="ADAL" clId="{A5CB6BCE-CFF7-469F-AABE-282CE60C0D3F}" dt="2023-04-06T13:03:57.615" v="8"/>
        <pc:sldMkLst>
          <pc:docMk/>
          <pc:sldMk cId="1944076353" sldId="292"/>
        </pc:sldMkLst>
      </pc:sldChg>
      <pc:sldChg chg="add">
        <pc:chgData name="Ufuk Unal" userId="d77f72b3-53d7-4cb7-8425-5a8f29447216" providerId="ADAL" clId="{A5CB6BCE-CFF7-469F-AABE-282CE60C0D3F}" dt="2023-04-06T13:03:57.615" v="8"/>
        <pc:sldMkLst>
          <pc:docMk/>
          <pc:sldMk cId="917736273" sldId="293"/>
        </pc:sldMkLst>
      </pc:sldChg>
      <pc:sldChg chg="add">
        <pc:chgData name="Ufuk Unal" userId="d77f72b3-53d7-4cb7-8425-5a8f29447216" providerId="ADAL" clId="{A5CB6BCE-CFF7-469F-AABE-282CE60C0D3F}" dt="2023-04-06T13:03:57.615" v="8"/>
        <pc:sldMkLst>
          <pc:docMk/>
          <pc:sldMk cId="1152956858" sldId="294"/>
        </pc:sldMkLst>
      </pc:sldChg>
      <pc:sldChg chg="add">
        <pc:chgData name="Ufuk Unal" userId="d77f72b3-53d7-4cb7-8425-5a8f29447216" providerId="ADAL" clId="{A5CB6BCE-CFF7-469F-AABE-282CE60C0D3F}" dt="2023-04-06T13:03:57.615" v="8"/>
        <pc:sldMkLst>
          <pc:docMk/>
          <pc:sldMk cId="3953398966" sldId="295"/>
        </pc:sldMkLst>
      </pc:sldChg>
      <pc:sldChg chg="add">
        <pc:chgData name="Ufuk Unal" userId="d77f72b3-53d7-4cb7-8425-5a8f29447216" providerId="ADAL" clId="{A5CB6BCE-CFF7-469F-AABE-282CE60C0D3F}" dt="2023-04-06T13:03:57.615" v="8"/>
        <pc:sldMkLst>
          <pc:docMk/>
          <pc:sldMk cId="2167178223" sldId="296"/>
        </pc:sldMkLst>
      </pc:sldChg>
      <pc:sldChg chg="add">
        <pc:chgData name="Ufuk Unal" userId="d77f72b3-53d7-4cb7-8425-5a8f29447216" providerId="ADAL" clId="{A5CB6BCE-CFF7-469F-AABE-282CE60C0D3F}" dt="2023-04-06T13:03:57.615" v="8"/>
        <pc:sldMkLst>
          <pc:docMk/>
          <pc:sldMk cId="3072424695" sldId="297"/>
        </pc:sldMkLst>
      </pc:sldChg>
      <pc:sldChg chg="add">
        <pc:chgData name="Ufuk Unal" userId="d77f72b3-53d7-4cb7-8425-5a8f29447216" providerId="ADAL" clId="{A5CB6BCE-CFF7-469F-AABE-282CE60C0D3F}" dt="2023-04-06T13:03:57.615" v="8"/>
        <pc:sldMkLst>
          <pc:docMk/>
          <pc:sldMk cId="2043198107" sldId="298"/>
        </pc:sldMkLst>
      </pc:sldChg>
      <pc:sldChg chg="add">
        <pc:chgData name="Ufuk Unal" userId="d77f72b3-53d7-4cb7-8425-5a8f29447216" providerId="ADAL" clId="{A5CB6BCE-CFF7-469F-AABE-282CE60C0D3F}" dt="2023-04-06T13:03:57.615" v="8"/>
        <pc:sldMkLst>
          <pc:docMk/>
          <pc:sldMk cId="2928479514" sldId="299"/>
        </pc:sldMkLst>
      </pc:sldChg>
      <pc:sldChg chg="add">
        <pc:chgData name="Ufuk Unal" userId="d77f72b3-53d7-4cb7-8425-5a8f29447216" providerId="ADAL" clId="{A5CB6BCE-CFF7-469F-AABE-282CE60C0D3F}" dt="2023-04-06T13:03:57.615" v="8"/>
        <pc:sldMkLst>
          <pc:docMk/>
          <pc:sldMk cId="446979928" sldId="300"/>
        </pc:sldMkLst>
      </pc:sldChg>
      <pc:sldChg chg="add">
        <pc:chgData name="Ufuk Unal" userId="d77f72b3-53d7-4cb7-8425-5a8f29447216" providerId="ADAL" clId="{A5CB6BCE-CFF7-469F-AABE-282CE60C0D3F}" dt="2023-04-06T13:03:57.615" v="8"/>
        <pc:sldMkLst>
          <pc:docMk/>
          <pc:sldMk cId="2359428810" sldId="301"/>
        </pc:sldMkLst>
      </pc:sldChg>
      <pc:sldChg chg="add">
        <pc:chgData name="Ufuk Unal" userId="d77f72b3-53d7-4cb7-8425-5a8f29447216" providerId="ADAL" clId="{A5CB6BCE-CFF7-469F-AABE-282CE60C0D3F}" dt="2023-04-06T13:03:57.615" v="8"/>
        <pc:sldMkLst>
          <pc:docMk/>
          <pc:sldMk cId="722043997" sldId="302"/>
        </pc:sldMkLst>
      </pc:sldChg>
      <pc:sldChg chg="add">
        <pc:chgData name="Ufuk Unal" userId="d77f72b3-53d7-4cb7-8425-5a8f29447216" providerId="ADAL" clId="{A5CB6BCE-CFF7-469F-AABE-282CE60C0D3F}" dt="2023-04-06T13:03:57.615" v="8"/>
        <pc:sldMkLst>
          <pc:docMk/>
          <pc:sldMk cId="1492922032" sldId="303"/>
        </pc:sldMkLst>
      </pc:sldChg>
      <pc:sldChg chg="add">
        <pc:chgData name="Ufuk Unal" userId="d77f72b3-53d7-4cb7-8425-5a8f29447216" providerId="ADAL" clId="{A5CB6BCE-CFF7-469F-AABE-282CE60C0D3F}" dt="2023-04-06T13:03:57.615" v="8"/>
        <pc:sldMkLst>
          <pc:docMk/>
          <pc:sldMk cId="3578986941" sldId="304"/>
        </pc:sldMkLst>
      </pc:sldChg>
      <pc:sldChg chg="del">
        <pc:chgData name="Ufuk Unal" userId="d77f72b3-53d7-4cb7-8425-5a8f29447216" providerId="ADAL" clId="{A5CB6BCE-CFF7-469F-AABE-282CE60C0D3F}" dt="2023-04-06T13:04:36.292" v="10" actId="47"/>
        <pc:sldMkLst>
          <pc:docMk/>
          <pc:sldMk cId="3311703480" sldId="325"/>
        </pc:sldMkLst>
      </pc:sldChg>
      <pc:sldChg chg="del">
        <pc:chgData name="Ufuk Unal" userId="d77f72b3-53d7-4cb7-8425-5a8f29447216" providerId="ADAL" clId="{A5CB6BCE-CFF7-469F-AABE-282CE60C0D3F}" dt="2023-04-06T13:04:36.292" v="10" actId="47"/>
        <pc:sldMkLst>
          <pc:docMk/>
          <pc:sldMk cId="3673250314" sldId="326"/>
        </pc:sldMkLst>
      </pc:sldChg>
      <pc:sldChg chg="del">
        <pc:chgData name="Ufuk Unal" userId="d77f72b3-53d7-4cb7-8425-5a8f29447216" providerId="ADAL" clId="{A5CB6BCE-CFF7-469F-AABE-282CE60C0D3F}" dt="2023-04-06T13:04:36.292" v="10" actId="47"/>
        <pc:sldMkLst>
          <pc:docMk/>
          <pc:sldMk cId="2503827922" sldId="327"/>
        </pc:sldMkLst>
      </pc:sldChg>
      <pc:sldChg chg="del">
        <pc:chgData name="Ufuk Unal" userId="d77f72b3-53d7-4cb7-8425-5a8f29447216" providerId="ADAL" clId="{A5CB6BCE-CFF7-469F-AABE-282CE60C0D3F}" dt="2023-04-06T13:04:36.292" v="10" actId="47"/>
        <pc:sldMkLst>
          <pc:docMk/>
          <pc:sldMk cId="4063430119" sldId="328"/>
        </pc:sldMkLst>
      </pc:sldChg>
      <pc:sldChg chg="del">
        <pc:chgData name="Ufuk Unal" userId="d77f72b3-53d7-4cb7-8425-5a8f29447216" providerId="ADAL" clId="{A5CB6BCE-CFF7-469F-AABE-282CE60C0D3F}" dt="2023-04-06T13:04:36.292" v="10" actId="47"/>
        <pc:sldMkLst>
          <pc:docMk/>
          <pc:sldMk cId="1976804067" sldId="329"/>
        </pc:sldMkLst>
      </pc:sldChg>
      <pc:sldChg chg="del">
        <pc:chgData name="Ufuk Unal" userId="d77f72b3-53d7-4cb7-8425-5a8f29447216" providerId="ADAL" clId="{A5CB6BCE-CFF7-469F-AABE-282CE60C0D3F}" dt="2023-04-06T13:04:36.292" v="10" actId="47"/>
        <pc:sldMkLst>
          <pc:docMk/>
          <pc:sldMk cId="1374603204" sldId="341"/>
        </pc:sldMkLst>
      </pc:sldChg>
      <pc:sldChg chg="del">
        <pc:chgData name="Ufuk Unal" userId="d77f72b3-53d7-4cb7-8425-5a8f29447216" providerId="ADAL" clId="{A5CB6BCE-CFF7-469F-AABE-282CE60C0D3F}" dt="2023-04-06T13:04:36.292" v="10" actId="47"/>
        <pc:sldMkLst>
          <pc:docMk/>
          <pc:sldMk cId="1994260570" sldId="342"/>
        </pc:sldMkLst>
      </pc:sldChg>
      <pc:sldChg chg="del">
        <pc:chgData name="Ufuk Unal" userId="d77f72b3-53d7-4cb7-8425-5a8f29447216" providerId="ADAL" clId="{A5CB6BCE-CFF7-469F-AABE-282CE60C0D3F}" dt="2023-04-06T13:04:36.292" v="10" actId="47"/>
        <pc:sldMkLst>
          <pc:docMk/>
          <pc:sldMk cId="2416504450" sldId="343"/>
        </pc:sldMkLst>
      </pc:sldChg>
      <pc:sldChg chg="del">
        <pc:chgData name="Ufuk Unal" userId="d77f72b3-53d7-4cb7-8425-5a8f29447216" providerId="ADAL" clId="{A5CB6BCE-CFF7-469F-AABE-282CE60C0D3F}" dt="2023-04-06T13:04:36.292" v="10" actId="47"/>
        <pc:sldMkLst>
          <pc:docMk/>
          <pc:sldMk cId="2684641891" sldId="344"/>
        </pc:sldMkLst>
      </pc:sldChg>
      <pc:sldChg chg="del">
        <pc:chgData name="Ufuk Unal" userId="d77f72b3-53d7-4cb7-8425-5a8f29447216" providerId="ADAL" clId="{A5CB6BCE-CFF7-469F-AABE-282CE60C0D3F}" dt="2023-04-06T13:04:36.292" v="10" actId="47"/>
        <pc:sldMkLst>
          <pc:docMk/>
          <pc:sldMk cId="1396881717" sldId="345"/>
        </pc:sldMkLst>
      </pc:sldChg>
      <pc:sldChg chg="del">
        <pc:chgData name="Ufuk Unal" userId="d77f72b3-53d7-4cb7-8425-5a8f29447216" providerId="ADAL" clId="{A5CB6BCE-CFF7-469F-AABE-282CE60C0D3F}" dt="2023-04-06T13:04:36.292" v="10" actId="47"/>
        <pc:sldMkLst>
          <pc:docMk/>
          <pc:sldMk cId="4104435945" sldId="346"/>
        </pc:sldMkLst>
      </pc:sldChg>
      <pc:sldChg chg="del">
        <pc:chgData name="Ufuk Unal" userId="d77f72b3-53d7-4cb7-8425-5a8f29447216" providerId="ADAL" clId="{A5CB6BCE-CFF7-469F-AABE-282CE60C0D3F}" dt="2023-04-06T13:04:36.292" v="10" actId="47"/>
        <pc:sldMkLst>
          <pc:docMk/>
          <pc:sldMk cId="2470924352" sldId="347"/>
        </pc:sldMkLst>
      </pc:sldChg>
      <pc:sldChg chg="del">
        <pc:chgData name="Ufuk Unal" userId="d77f72b3-53d7-4cb7-8425-5a8f29447216" providerId="ADAL" clId="{A5CB6BCE-CFF7-469F-AABE-282CE60C0D3F}" dt="2023-04-06T13:04:36.292" v="10" actId="47"/>
        <pc:sldMkLst>
          <pc:docMk/>
          <pc:sldMk cId="838802227" sldId="349"/>
        </pc:sldMkLst>
      </pc:sldChg>
      <pc:sldChg chg="del">
        <pc:chgData name="Ufuk Unal" userId="d77f72b3-53d7-4cb7-8425-5a8f29447216" providerId="ADAL" clId="{A5CB6BCE-CFF7-469F-AABE-282CE60C0D3F}" dt="2023-04-06T13:04:36.292" v="10" actId="47"/>
        <pc:sldMkLst>
          <pc:docMk/>
          <pc:sldMk cId="1108545243" sldId="350"/>
        </pc:sldMkLst>
      </pc:sldChg>
      <pc:sldChg chg="del">
        <pc:chgData name="Ufuk Unal" userId="d77f72b3-53d7-4cb7-8425-5a8f29447216" providerId="ADAL" clId="{A5CB6BCE-CFF7-469F-AABE-282CE60C0D3F}" dt="2023-04-06T13:04:36.292" v="10" actId="47"/>
        <pc:sldMkLst>
          <pc:docMk/>
          <pc:sldMk cId="1001165308" sldId="351"/>
        </pc:sldMkLst>
      </pc:sldChg>
      <pc:sldChg chg="del">
        <pc:chgData name="Ufuk Unal" userId="d77f72b3-53d7-4cb7-8425-5a8f29447216" providerId="ADAL" clId="{A5CB6BCE-CFF7-469F-AABE-282CE60C0D3F}" dt="2023-04-06T13:04:36.292" v="10" actId="47"/>
        <pc:sldMkLst>
          <pc:docMk/>
          <pc:sldMk cId="3243177277" sldId="352"/>
        </pc:sldMkLst>
      </pc:sldChg>
      <pc:sldChg chg="del">
        <pc:chgData name="Ufuk Unal" userId="d77f72b3-53d7-4cb7-8425-5a8f29447216" providerId="ADAL" clId="{A5CB6BCE-CFF7-469F-AABE-282CE60C0D3F}" dt="2023-04-06T13:04:36.292" v="10" actId="47"/>
        <pc:sldMkLst>
          <pc:docMk/>
          <pc:sldMk cId="2021682167" sldId="353"/>
        </pc:sldMkLst>
      </pc:sldChg>
      <pc:sldChg chg="del">
        <pc:chgData name="Ufuk Unal" userId="d77f72b3-53d7-4cb7-8425-5a8f29447216" providerId="ADAL" clId="{A5CB6BCE-CFF7-469F-AABE-282CE60C0D3F}" dt="2023-04-06T13:04:36.292" v="10" actId="47"/>
        <pc:sldMkLst>
          <pc:docMk/>
          <pc:sldMk cId="423197906" sldId="354"/>
        </pc:sldMkLst>
      </pc:sldChg>
      <pc:sldChg chg="del">
        <pc:chgData name="Ufuk Unal" userId="d77f72b3-53d7-4cb7-8425-5a8f29447216" providerId="ADAL" clId="{A5CB6BCE-CFF7-469F-AABE-282CE60C0D3F}" dt="2023-04-06T13:04:36.292" v="10" actId="47"/>
        <pc:sldMkLst>
          <pc:docMk/>
          <pc:sldMk cId="4233599654" sldId="355"/>
        </pc:sldMkLst>
      </pc:sldChg>
      <pc:sldChg chg="del">
        <pc:chgData name="Ufuk Unal" userId="d77f72b3-53d7-4cb7-8425-5a8f29447216" providerId="ADAL" clId="{A5CB6BCE-CFF7-469F-AABE-282CE60C0D3F}" dt="2023-04-06T13:04:36.292" v="10" actId="47"/>
        <pc:sldMkLst>
          <pc:docMk/>
          <pc:sldMk cId="3798046907" sldId="357"/>
        </pc:sldMkLst>
      </pc:sldChg>
      <pc:sldChg chg="del">
        <pc:chgData name="Ufuk Unal" userId="d77f72b3-53d7-4cb7-8425-5a8f29447216" providerId="ADAL" clId="{A5CB6BCE-CFF7-469F-AABE-282CE60C0D3F}" dt="2023-04-06T13:04:36.292" v="10" actId="47"/>
        <pc:sldMkLst>
          <pc:docMk/>
          <pc:sldMk cId="2763019059" sldId="358"/>
        </pc:sldMkLst>
      </pc:sldChg>
      <pc:sldChg chg="del">
        <pc:chgData name="Ufuk Unal" userId="d77f72b3-53d7-4cb7-8425-5a8f29447216" providerId="ADAL" clId="{A5CB6BCE-CFF7-469F-AABE-282CE60C0D3F}" dt="2023-04-06T13:04:36.292" v="10" actId="47"/>
        <pc:sldMkLst>
          <pc:docMk/>
          <pc:sldMk cId="1502931874" sldId="359"/>
        </pc:sldMkLst>
      </pc:sldChg>
      <pc:sldChg chg="del">
        <pc:chgData name="Ufuk Unal" userId="d77f72b3-53d7-4cb7-8425-5a8f29447216" providerId="ADAL" clId="{A5CB6BCE-CFF7-469F-AABE-282CE60C0D3F}" dt="2023-04-06T13:04:36.292" v="10" actId="47"/>
        <pc:sldMkLst>
          <pc:docMk/>
          <pc:sldMk cId="2784854281" sldId="360"/>
        </pc:sldMkLst>
      </pc:sldChg>
      <pc:sldChg chg="del">
        <pc:chgData name="Ufuk Unal" userId="d77f72b3-53d7-4cb7-8425-5a8f29447216" providerId="ADAL" clId="{A5CB6BCE-CFF7-469F-AABE-282CE60C0D3F}" dt="2023-04-06T13:04:36.292" v="10" actId="47"/>
        <pc:sldMkLst>
          <pc:docMk/>
          <pc:sldMk cId="81848509" sldId="361"/>
        </pc:sldMkLst>
      </pc:sldChg>
      <pc:sldChg chg="del">
        <pc:chgData name="Ufuk Unal" userId="d77f72b3-53d7-4cb7-8425-5a8f29447216" providerId="ADAL" clId="{A5CB6BCE-CFF7-469F-AABE-282CE60C0D3F}" dt="2023-04-06T13:04:36.292" v="10" actId="47"/>
        <pc:sldMkLst>
          <pc:docMk/>
          <pc:sldMk cId="2726252616" sldId="362"/>
        </pc:sldMkLst>
      </pc:sldChg>
      <pc:sldChg chg="del">
        <pc:chgData name="Ufuk Unal" userId="d77f72b3-53d7-4cb7-8425-5a8f29447216" providerId="ADAL" clId="{A5CB6BCE-CFF7-469F-AABE-282CE60C0D3F}" dt="2023-04-06T13:04:36.292" v="10" actId="47"/>
        <pc:sldMkLst>
          <pc:docMk/>
          <pc:sldMk cId="114654693" sldId="363"/>
        </pc:sldMkLst>
      </pc:sldChg>
      <pc:sldChg chg="del">
        <pc:chgData name="Ufuk Unal" userId="d77f72b3-53d7-4cb7-8425-5a8f29447216" providerId="ADAL" clId="{A5CB6BCE-CFF7-469F-AABE-282CE60C0D3F}" dt="2023-04-06T13:04:36.292" v="10" actId="47"/>
        <pc:sldMkLst>
          <pc:docMk/>
          <pc:sldMk cId="68671429" sldId="364"/>
        </pc:sldMkLst>
      </pc:sldChg>
      <pc:sldChg chg="del">
        <pc:chgData name="Ufuk Unal" userId="d77f72b3-53d7-4cb7-8425-5a8f29447216" providerId="ADAL" clId="{A5CB6BCE-CFF7-469F-AABE-282CE60C0D3F}" dt="2023-04-06T13:04:36.292" v="10" actId="47"/>
        <pc:sldMkLst>
          <pc:docMk/>
          <pc:sldMk cId="3814972833" sldId="365"/>
        </pc:sldMkLst>
      </pc:sldChg>
      <pc:sldChg chg="del">
        <pc:chgData name="Ufuk Unal" userId="d77f72b3-53d7-4cb7-8425-5a8f29447216" providerId="ADAL" clId="{A5CB6BCE-CFF7-469F-AABE-282CE60C0D3F}" dt="2023-04-06T13:04:36.292" v="10" actId="47"/>
        <pc:sldMkLst>
          <pc:docMk/>
          <pc:sldMk cId="1766050880" sldId="366"/>
        </pc:sldMkLst>
      </pc:sldChg>
      <pc:sldChg chg="del">
        <pc:chgData name="Ufuk Unal" userId="d77f72b3-53d7-4cb7-8425-5a8f29447216" providerId="ADAL" clId="{A5CB6BCE-CFF7-469F-AABE-282CE60C0D3F}" dt="2023-04-06T13:04:36.292" v="10" actId="47"/>
        <pc:sldMkLst>
          <pc:docMk/>
          <pc:sldMk cId="2830932289" sldId="367"/>
        </pc:sldMkLst>
      </pc:sldChg>
      <pc:sldChg chg="del">
        <pc:chgData name="Ufuk Unal" userId="d77f72b3-53d7-4cb7-8425-5a8f29447216" providerId="ADAL" clId="{A5CB6BCE-CFF7-469F-AABE-282CE60C0D3F}" dt="2023-04-06T13:04:36.292" v="10" actId="47"/>
        <pc:sldMkLst>
          <pc:docMk/>
          <pc:sldMk cId="3461289532" sldId="368"/>
        </pc:sldMkLst>
      </pc:sldChg>
      <pc:sldChg chg="del">
        <pc:chgData name="Ufuk Unal" userId="d77f72b3-53d7-4cb7-8425-5a8f29447216" providerId="ADAL" clId="{A5CB6BCE-CFF7-469F-AABE-282CE60C0D3F}" dt="2023-04-06T13:04:36.292" v="10" actId="47"/>
        <pc:sldMkLst>
          <pc:docMk/>
          <pc:sldMk cId="1006181768" sldId="369"/>
        </pc:sldMkLst>
      </pc:sldChg>
      <pc:sldChg chg="del">
        <pc:chgData name="Ufuk Unal" userId="d77f72b3-53d7-4cb7-8425-5a8f29447216" providerId="ADAL" clId="{A5CB6BCE-CFF7-469F-AABE-282CE60C0D3F}" dt="2023-04-06T13:04:36.292" v="10" actId="47"/>
        <pc:sldMkLst>
          <pc:docMk/>
          <pc:sldMk cId="1944942873" sldId="370"/>
        </pc:sldMkLst>
      </pc:sldChg>
      <pc:sldChg chg="del">
        <pc:chgData name="Ufuk Unal" userId="d77f72b3-53d7-4cb7-8425-5a8f29447216" providerId="ADAL" clId="{A5CB6BCE-CFF7-469F-AABE-282CE60C0D3F}" dt="2023-04-06T13:04:36.292" v="10" actId="47"/>
        <pc:sldMkLst>
          <pc:docMk/>
          <pc:sldMk cId="2853401936" sldId="371"/>
        </pc:sldMkLst>
      </pc:sldChg>
      <pc:sldChg chg="del">
        <pc:chgData name="Ufuk Unal" userId="d77f72b3-53d7-4cb7-8425-5a8f29447216" providerId="ADAL" clId="{A5CB6BCE-CFF7-469F-AABE-282CE60C0D3F}" dt="2023-04-06T13:04:36.292" v="10" actId="47"/>
        <pc:sldMkLst>
          <pc:docMk/>
          <pc:sldMk cId="2263266425" sldId="372"/>
        </pc:sldMkLst>
      </pc:sldChg>
      <pc:sldChg chg="add del">
        <pc:chgData name="Ufuk Unal" userId="d77f72b3-53d7-4cb7-8425-5a8f29447216" providerId="ADAL" clId="{A5CB6BCE-CFF7-469F-AABE-282CE60C0D3F}" dt="2023-04-06T13:04:06.500" v="9" actId="47"/>
        <pc:sldMkLst>
          <pc:docMk/>
          <pc:sldMk cId="1086794968" sldId="37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A36FCBC5-022F-4F31-A153-EFFC809EC573}" type="datetimeFigureOut">
              <a:rPr lang="de-DE"/>
              <a:pPr>
                <a:defRPr/>
              </a:pPr>
              <a:t>07.04.2023</a:t>
            </a:fld>
            <a:endParaRPr lang="de-DE"/>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222AC1C-78EB-4159-9788-A81CB6D78FF5}" type="slidenum">
              <a:rPr lang="de-DE"/>
              <a:pPr>
                <a:defRPr/>
              </a:pPr>
              <a:t>‹#›</a:t>
            </a:fld>
            <a:endParaRPr lang="de-DE"/>
          </a:p>
        </p:txBody>
      </p:sp>
    </p:spTree>
    <p:extLst>
      <p:ext uri="{BB962C8B-B14F-4D97-AF65-F5344CB8AC3E}">
        <p14:creationId xmlns:p14="http://schemas.microsoft.com/office/powerpoint/2010/main" val="2367723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de-DE"/>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974181A-B52E-4AEA-801A-5F0AC153D341}" type="slidenum">
              <a:rPr lang="en-US"/>
              <a:pPr>
                <a:defRPr/>
              </a:pPr>
              <a:t>‹#›</a:t>
            </a:fld>
            <a:endParaRPr lang="en-US"/>
          </a:p>
        </p:txBody>
      </p:sp>
    </p:spTree>
    <p:extLst>
      <p:ext uri="{BB962C8B-B14F-4D97-AF65-F5344CB8AC3E}">
        <p14:creationId xmlns:p14="http://schemas.microsoft.com/office/powerpoint/2010/main" val="18847195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www.energieagentur.nrw.de/"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a:t>
            </a:fld>
            <a:endParaRPr lang="en-US"/>
          </a:p>
        </p:txBody>
      </p:sp>
    </p:spTree>
    <p:extLst>
      <p:ext uri="{BB962C8B-B14F-4D97-AF65-F5344CB8AC3E}">
        <p14:creationId xmlns:p14="http://schemas.microsoft.com/office/powerpoint/2010/main" val="2421482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Avant-propos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bonne température ambiante (type de pièce, moment d'utilisation) influence votre bien-être. Les besoins peuvent être différents selon l'emplacement et l'individu concerné. Une température ambiante de 16 à 18 °C peut suffire dans une cuisine ou une chambre, mais nous aimons pouvoir avoir une température plus agréable de 21 °C dans un salon, ou même 22 °C dans la salle de bain.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sentiment de bien-être est extrêmement important dans notre vie privée et dans nos espaces de travail. Comme nous passons jusqu'à 95 % de notre temps à l'intérieur de bâtiments, pouvoir évoluer dans des températures agréables est donc essentiel pour notre santé et notre bien-être.</a:t>
            </a:r>
          </a:p>
          <a:p>
            <a:endParaRPr lang="en-GB"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 : Températures en fonction de l'utilisation de la pièce</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est également important que tous les autres immeubles que nous utilisons (bâtiments publics, lieu de travail) aient une température appropriée à l'endroit et à l'activité. Les gens se sentent mal à l'aise lorsque le système de contrôle de la température du corps (la peau) est mis à rude épreuve, par ex. du fait de températures de l'air et des murs excessivement basses ou élevées, d'une circulation d'air importante ou encore d'une humidité de l'air trop basse ou trop élevée.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Remarque : </a:t>
            </a:r>
            <a:r>
              <a:rPr lang="en-GB" sz="1200" kern="1200">
                <a:solidFill>
                  <a:schemeClr val="tx1"/>
                </a:solidFill>
                <a:effectLst/>
                <a:latin typeface="Arial" charset="0"/>
                <a:ea typeface="+mn-ea"/>
                <a:cs typeface="+mn-cs"/>
              </a:rPr>
              <a:t>Une sensation de confort est ressentie si la température de l'air, le mouvement, les températures de l'humidité et du mur sont en rapport avec l'activité et les vêtements de la personne. La propreté de l'air et un niveau sonore faible dans la pièce ont également une influence positive sur le confort et le bien-être.</a:t>
            </a: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Arial" charset="0"/>
                <a:ea typeface="+mn-ea"/>
                <a:cs typeface="+mn-cs"/>
              </a:rPr>
              <a:t>En Allemagne, près de 70 % de l'énergie consommée par les ménages privés c'est pour le chauffage et l'eau chaude. Si l'on ramène ce chiffre à l'énergie consommée par l'ensemble du pays, cela signifie que 30 % de toute l'énergie est utilisée uniquement pour le chauffage et l'eau chaude.</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a:t>
            </a:fld>
            <a:endParaRPr lang="en-US"/>
          </a:p>
        </p:txBody>
      </p:sp>
    </p:spTree>
    <p:extLst>
      <p:ext uri="{BB962C8B-B14F-4D97-AF65-F5344CB8AC3E}">
        <p14:creationId xmlns:p14="http://schemas.microsoft.com/office/powerpoint/2010/main" val="3483641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Tant d'un point de vue économique qu'environnemental, utiliser l'énergie efficacement tout en assurant un niveau accru de confort est un objectif majeur actuellement. Un système de bâtiments moderne doit donc viser à assurer un contrôle adapté des systèmes de chauffage, de ventilation et de conditionnement d'air.</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Lors de la planification d'un système de chauffage ou de conditionnement d'air, l'objectif doit être d'atteindre le niveau requis de commodité et de confort en utilisant le moins d'énergie possible. C'est pourquoi il est nécessaire de planifier les systèmes en détail, en explorant les possibilités locales et l'utilisation de systèmes de contrôle intelligents.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KNX propose des composants adaptés aux différentes options de contrôle possibles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Contrôle individuel de la pièce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Contrôle du chauffage et du circuit de refroidissement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Contrôle de la chaudière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Compte tenu de la recherche d'économies d'énergie, le contrôle individuel de la pièce et l'intégration du système de chauffage ont gagné en importance. Avec le contrôle individuel de la pièce à la demande, il est possible de réaliser 5 à 10 % d'économies. Cela dépend évidemment du comportement de l'utilisateur concerné. Si l'utilisateur ferme déjà la vanne thermostatique conventionnelle en ouvrant une fenêtre, les économies sont très faibles. Si toutefois l'utilisateur souhaite que le convecteur chauffe malgré une fenêtre ouverte, les économies réalisées avec une régulation individuelle de la pièce avec contacts de fenêtre sont beaucoup plus importantes. Même si le chauffage continuait à fonctionner pendant la nuit ou le week-end (même avec une fenêtre ouverte) sans que les pièces concernées ne soient utilisées, les économies seraient significatives. La situation idéale, c'est d'avoir un contrôle à la demande de l'ensemble de l'installation. Il ne s'agit pas seulement de réguler le débit des radiateurs et des échangeurs de chauffage par des vannes de régulation, mais aussi d'exercer une influence sur la production de chaleur. Il est produit seulement le niveau d'énergie thermique requis pour réguler la température du bâtiment. Les pompes de circulation sont seulement mises en route lorsque cela est nécessaire, et ne fonctionnent pas en permanence. Il est difficile de donner un pourcentage précis des économies réalisées car de nombreux facteurs différents peuvent avoir une influence sur le résultat. Ces facteurs comprennent les conditions structurelles telles que l'isolation du toit, la qualité des murs et la conception des fenêtres, etc. Du point de vue du contrôle par KNX, les économies les plus importantes peuvent être réalisées lorsque seul le chauffage ou le refroidissement à la demande est généré en intégrant des capteurs et des interrupteurs horaires différents et par la communication entre la pièce et le système de chauffage/refroidissement.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le texte qui suit, le terme "système de contrôle climatique" correspond à un système de contrôle de la température à deux niveaux, qui peut chauffer et/ou refroidir selon les besoins. </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a:t>
            </a:fld>
            <a:endParaRPr lang="en-US"/>
          </a:p>
        </p:txBody>
      </p:sp>
    </p:spTree>
    <p:extLst>
      <p:ext uri="{BB962C8B-B14F-4D97-AF65-F5344CB8AC3E}">
        <p14:creationId xmlns:p14="http://schemas.microsoft.com/office/powerpoint/2010/main" val="2537519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GB" sz="1200" b="1" kern="1200">
                <a:solidFill>
                  <a:schemeClr val="tx1"/>
                </a:solidFill>
                <a:effectLst/>
                <a:latin typeface="Arial" charset="0"/>
                <a:ea typeface="+mn-ea"/>
                <a:cs typeface="+mn-cs"/>
              </a:rPr>
              <a:t>Exigences par rapport au système de contrôle climatique</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Déjà dans les années 90, des exigences minimales concernant le chauffage central avaient été établies dans les règlements nationaux sur le contrôle de l'approvisionnement en chaleur et des vannes électriques, par ex.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 contrôle de la température (température extérieure ou autres variables de référence applicables)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 contrôle du temps.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Entre-temps, les exigences se sont à nouveau développées. Par rapport aux nombreuses normes qui existent dans le domaine de l'évaluation énergétique des bâtiments, les règlements correspondent à des exigences qui sont établies par le législateur : il est donc obligatoire de les respecter. Dans certains pays européens, les objectifs en matière d'économies d'énergie ont été considérablement réduits ces dernières années (par ex. jusqu'à 30 %).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 définitive, ces règlements se basent tous sur des normes internationales qui résultent à leur tour d'activités politiques, comme par ex. :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EN 15232</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EN ISO 13789:1999-10</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EN 832:2003-06</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Bien que le respect des règlements antérieurs fût exigé par la loi, les objectifs en matière d'économies d'énergie étaient relativement faciles à atteindre. Depuis que non seulement en Europe, la politique a augmenté son attention sur la réduction du CO</a:t>
            </a:r>
            <a:r>
              <a:rPr lang="en-GB" sz="1200" kern="1200" baseline="-25000">
                <a:solidFill>
                  <a:schemeClr val="tx1"/>
                </a:solidFill>
                <a:effectLst/>
                <a:latin typeface="Arial" charset="0"/>
                <a:ea typeface="+mn-ea"/>
                <a:cs typeface="+mn-cs"/>
              </a:rPr>
              <a:t>2</a:t>
            </a:r>
            <a:r>
              <a:rPr lang="en-GB" sz="1200" kern="1200">
                <a:solidFill>
                  <a:schemeClr val="tx1"/>
                </a:solidFill>
                <a:effectLst/>
                <a:latin typeface="Arial" charset="0"/>
                <a:ea typeface="+mn-ea"/>
                <a:cs typeface="+mn-cs"/>
              </a:rPr>
              <a:t> , cela a un impact immédiat sur les réglementations.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règlements stipulent clairement que les objectifs énergétiques applicables aux grands bâtiments doivent être plus élevés que ceux des bâtiments plus petits.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C'est un fait : pour les nouveaux bâtiments ou les rénovations importantes, c'est seulement possible d'atteindre les objectifs en introduisant une automatisation des bâtiments, surtout lorsque l'on cherche à mettre en place une certaine différenciation de la distribution de la chaleur / du refroidissement (c'est-à-dire par pièce) dans ces bâtiments. </a:t>
            </a:r>
            <a:endParaRPr lang="es-ES" sz="1200" b="0" kern="1200" dirty="0">
              <a:solidFill>
                <a:schemeClr val="tx1"/>
              </a:solidFill>
              <a:effectLst/>
              <a:latin typeface="Arial" charset="0"/>
              <a:ea typeface="+mn-ea"/>
              <a:cs typeface="+mn-cs"/>
            </a:endParaRPr>
          </a:p>
          <a:p>
            <a:endParaRPr lang="es-ES" sz="1200" b="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Certificat énergétique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résultat de la réglementation précitée est finalement le certificat énergétique d'un bâtiment, dont la version allemande est montrée ci-dessous. La façon dont un tel certificat est établi peut toutefois être très complexe, donc elle n'est pas expliquée ci-dessous. </a:t>
            </a:r>
          </a:p>
          <a:p>
            <a:endParaRPr lang="en-GB"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2: Dernier besoin d’énergie dans le certificat énergétique (Exemple d’Allemagne – Économie d’énergie Réglementation 2007)</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graphique ci-dessous montre les valeurs de référence pour le besoin d'énergie globale selon le type de bâtiment, en prenant à nouveau l'exemple de l'Allemagne et conformément au Règlement sur les économies d'énergie de 2007. Dans les nouvelles versions des règlements, les valeurs de référence se reportent constamment vers la gauche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a:t>
            </a:fld>
            <a:endParaRPr lang="en-US"/>
          </a:p>
        </p:txBody>
      </p:sp>
    </p:spTree>
    <p:extLst>
      <p:ext uri="{BB962C8B-B14F-4D97-AF65-F5344CB8AC3E}">
        <p14:creationId xmlns:p14="http://schemas.microsoft.com/office/powerpoint/2010/main" val="386599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3: Valeurs de référence pour les besoins énergétiques finaux (Exemple d’Allemagne – Règlement 2007)</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conclusion que nous pouvons tirer de toutes ces informations est très simple :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n'est plus imaginable </a:t>
            </a:r>
            <a:r>
              <a:rPr lang="en-GB" sz="1200" b="1" kern="1200">
                <a:solidFill>
                  <a:schemeClr val="tx1"/>
                </a:solidFill>
                <a:effectLst/>
                <a:latin typeface="Arial" charset="0"/>
                <a:ea typeface="+mn-ea"/>
                <a:cs typeface="+mn-cs"/>
              </a:rPr>
              <a:t>pas</a:t>
            </a:r>
            <a:r>
              <a:rPr lang="en-GB" sz="1200" kern="1200">
                <a:solidFill>
                  <a:schemeClr val="tx1"/>
                </a:solidFill>
                <a:effectLst/>
                <a:latin typeface="Arial" charset="0"/>
                <a:ea typeface="+mn-ea"/>
                <a:cs typeface="+mn-cs"/>
              </a:rPr>
              <a:t> de prévoir aucune technologie d'automatisation dans de nouveaux bâtiments, pas même en rénovations.</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a:t>
            </a:fld>
            <a:endParaRPr lang="en-US"/>
          </a:p>
        </p:txBody>
      </p:sp>
    </p:spTree>
    <p:extLst>
      <p:ext uri="{BB962C8B-B14F-4D97-AF65-F5344CB8AC3E}">
        <p14:creationId xmlns:p14="http://schemas.microsoft.com/office/powerpoint/2010/main" val="1469013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Planification du système de chauffage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planification du système de chauffage est généralement réalisée par des installeurs de chauffage spécialisés selon certains critères. </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Le type de chauffage : il est choisi par le client (selon le type d'énergie primaire)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La courbe de chauffage : elle dépend du type de chauffage et de la localisation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La puissance des éléments chauffants - type de bâtiment (W/m²), coût du maintien de la température des pièces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Contrôle du chauffage : coûts associés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critère de sélection important est le prix de l'énergie primaire disponible sur le site d'installation. Ce n'est pas tant le prix actuel qu'il est important d'examiner, mais plutôt l'évolution des prix sur les dernières années et les perspectives pour les années à venir. Les coûts d'investissement et les coûts opérationnels du système doivent cependant également être pris en compte lors du choix de l'énergie primaire (par ex. une pièce de stockage, une cuve à mazout, des pompes à mazout et la technologie correspondante de contrôle du mazout). Le graphique ci-dessous montre une comparaison entre les différents types d'énergie.</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a:t>
            </a:fld>
            <a:endParaRPr lang="en-US"/>
          </a:p>
        </p:txBody>
      </p:sp>
    </p:spTree>
    <p:extLst>
      <p:ext uri="{BB962C8B-B14F-4D97-AF65-F5344CB8AC3E}">
        <p14:creationId xmlns:p14="http://schemas.microsoft.com/office/powerpoint/2010/main" val="1103158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a:solidFill>
                  <a:schemeClr val="tx1"/>
                </a:solidFill>
                <a:effectLst/>
                <a:latin typeface="Arial" charset="0"/>
                <a:ea typeface="+mn-ea"/>
                <a:cs typeface="+mn-cs"/>
              </a:rPr>
              <a:t>Illustration 4: Développement des prix des combustibles fossiles par rapport à l'électricité en 2005 comme référence</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7</a:t>
            </a:fld>
            <a:endParaRPr lang="en-US"/>
          </a:p>
        </p:txBody>
      </p:sp>
    </p:spTree>
    <p:extLst>
      <p:ext uri="{BB962C8B-B14F-4D97-AF65-F5344CB8AC3E}">
        <p14:creationId xmlns:p14="http://schemas.microsoft.com/office/powerpoint/2010/main" val="41890639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Arial" charset="0"/>
                <a:ea typeface="+mn-ea"/>
                <a:cs typeface="+mn-cs"/>
              </a:rPr>
              <a:t>Comme exemple plus loin de l'Allemagne, une comparaison de prix absolue entre le gaz (jaune), l'électricité (bleu) et le pétrole (rouge) – source (</a:t>
            </a:r>
            <a:r>
              <a:rPr lang="en-GB" sz="1200" u="sng" kern="1200">
                <a:solidFill>
                  <a:schemeClr val="tx1"/>
                </a:solidFill>
                <a:effectLst/>
                <a:latin typeface="Arial" charset="0"/>
                <a:ea typeface="+mn-ea"/>
                <a:cs typeface="+mn-cs"/>
                <a:hlinkClick r:id="rId3"/>
              </a:rPr>
              <a:t>http://www.energieagentur.nrw.de</a:t>
            </a:r>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5 : développement absolu des prix de l'énergie électrique/pétrole/gaz 1970-2008</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8</a:t>
            </a:fld>
            <a:endParaRPr lang="en-US"/>
          </a:p>
        </p:txBody>
      </p:sp>
    </p:spTree>
    <p:extLst>
      <p:ext uri="{BB962C8B-B14F-4D97-AF65-F5344CB8AC3E}">
        <p14:creationId xmlns:p14="http://schemas.microsoft.com/office/powerpoint/2010/main" val="2093421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6: Développement des prix de l'énergie électricité/pétrole/gaz ne tenant pas compte de l'inflation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9</a:t>
            </a:fld>
            <a:endParaRPr lang="en-US"/>
          </a:p>
        </p:txBody>
      </p:sp>
    </p:spTree>
    <p:extLst>
      <p:ext uri="{BB962C8B-B14F-4D97-AF65-F5344CB8AC3E}">
        <p14:creationId xmlns:p14="http://schemas.microsoft.com/office/powerpoint/2010/main" val="844928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a:solidFill>
                  <a:schemeClr val="tx1"/>
                </a:solidFill>
                <a:effectLst/>
                <a:latin typeface="Arial" charset="0"/>
                <a:ea typeface="+mn-ea"/>
                <a:cs typeface="+mn-cs"/>
              </a:rPr>
              <a:t>Illustration 7: Pétrole de développement des prix de l'énergie (rouge)/gaz (orange) comparé aux granulés de bois (bleu), 2002 - 2009</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10</a:t>
            </a:fld>
            <a:endParaRPr lang="en-US"/>
          </a:p>
        </p:txBody>
      </p:sp>
    </p:spTree>
    <p:extLst>
      <p:ext uri="{BB962C8B-B14F-4D97-AF65-F5344CB8AC3E}">
        <p14:creationId xmlns:p14="http://schemas.microsoft.com/office/powerpoint/2010/main" val="15155304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Arial" charset="0"/>
                <a:ea typeface="+mn-ea"/>
                <a:cs typeface="+mn-cs"/>
              </a:rPr>
              <a:t>Les différents types d'énergie primaire sont comparés sur la base de leur pouvoir calorifique.</a:t>
            </a: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Tableau 1</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11</a:t>
            </a:fld>
            <a:endParaRPr lang="en-US"/>
          </a:p>
        </p:txBody>
      </p:sp>
    </p:spTree>
    <p:extLst>
      <p:ext uri="{BB962C8B-B14F-4D97-AF65-F5344CB8AC3E}">
        <p14:creationId xmlns:p14="http://schemas.microsoft.com/office/powerpoint/2010/main" val="83233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Arial" charset="0"/>
                <a:ea typeface="+mn-ea"/>
                <a:cs typeface="+mn-cs"/>
              </a:rPr>
              <a:t>La structure d'un système de chauffage est constituée des composants suivants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Production de chaleur</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Transfert de chaleur</a:t>
            </a:r>
            <a:endParaRPr lang="es-ES" sz="1200" kern="1200" dirty="0">
              <a:solidFill>
                <a:schemeClr val="tx1"/>
              </a:solidFill>
              <a:effectLst/>
              <a:latin typeface="Arial" charset="0"/>
              <a:ea typeface="+mn-ea"/>
              <a:cs typeface="+mn-cs"/>
            </a:endParaRPr>
          </a:p>
          <a:p>
            <a:pPr marL="171450" indent="-171450">
              <a:buFont typeface="Arial" panose="020B0604020202020204" pitchFamily="34" charset="0"/>
              <a:buChar char="•"/>
            </a:pPr>
            <a:r>
              <a:rPr lang="en-GB" sz="1200" kern="1200">
                <a:solidFill>
                  <a:schemeClr val="tx1"/>
                </a:solidFill>
                <a:effectLst/>
                <a:latin typeface="Arial" charset="0"/>
                <a:ea typeface="+mn-ea"/>
                <a:cs typeface="+mn-cs"/>
              </a:rPr>
              <a:t>Consommation de chaleur</a:t>
            </a:r>
          </a:p>
          <a:p>
            <a:pPr marL="171450" indent="-171450">
              <a:buFont typeface="Arial" panose="020B0604020202020204" pitchFamily="34" charset="0"/>
              <a:buChar cha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a:solidFill>
                  <a:schemeClr val="tx1"/>
                </a:solidFill>
                <a:effectLst/>
                <a:latin typeface="Arial" charset="0"/>
                <a:ea typeface="+mn-ea"/>
                <a:cs typeface="+mn-cs"/>
              </a:rPr>
              <a:t>Illustration 8 : Exemple d'un système de chaudière simple avec stockage d'eau chaude domestique, circuit de chauffage direct et deux circuits de chauffage à température variable</a:t>
            </a:r>
            <a:endParaRPr lang="es-ES" sz="1200" b="1" kern="1200" dirty="0">
              <a:solidFill>
                <a:schemeClr val="tx1"/>
              </a:solidFill>
              <a:effectLst/>
              <a:latin typeface="Arial" charset="0"/>
              <a:ea typeface="+mn-ea"/>
              <a:cs typeface="+mn-cs"/>
            </a:endParaRPr>
          </a:p>
          <a:p>
            <a:pPr marL="0" indent="0">
              <a:buFont typeface="Arial" panose="020B0604020202020204" pitchFamily="34" charset="0"/>
              <a:buNone/>
            </a:pPr>
            <a:endParaRPr lang="es-ES" sz="14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abréviations suivantes sont utilisées pour désigner les différents composants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a:solidFill>
                  <a:schemeClr val="tx1"/>
                </a:solidFill>
                <a:effectLst/>
                <a:latin typeface="Arial" charset="0"/>
                <a:ea typeface="+mn-ea"/>
                <a:cs typeface="+mn-cs"/>
              </a:rPr>
              <a:t>Tableau 2</a:t>
            </a:r>
            <a:endParaRPr lang="es-ES" sz="1200" b="1" kern="1200" dirty="0">
              <a:solidFill>
                <a:schemeClr val="tx1"/>
              </a:solidFill>
              <a:effectLst/>
              <a:latin typeface="Arial" charset="0"/>
              <a:ea typeface="+mn-ea"/>
              <a:cs typeface="+mn-cs"/>
            </a:endParaRPr>
          </a:p>
          <a:p>
            <a:pPr marL="0" indent="0">
              <a:buFont typeface="Arial" panose="020B0604020202020204" pitchFamily="34" charset="0"/>
              <a:buNone/>
            </a:pPr>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a:solidFill>
                  <a:schemeClr val="tx1"/>
                </a:solidFill>
                <a:effectLst/>
                <a:latin typeface="Arial" charset="0"/>
                <a:ea typeface="+mn-ea"/>
                <a:cs typeface="+mn-cs"/>
              </a:rPr>
              <a:t>Illustration 9 : Explication des abréviations de l'illustration 8</a:t>
            </a:r>
            <a:endParaRPr lang="es-ES" sz="1200" b="1" kern="1200" dirty="0">
              <a:solidFill>
                <a:schemeClr val="tx1"/>
              </a:solidFill>
              <a:effectLst/>
              <a:latin typeface="Arial" charset="0"/>
              <a:ea typeface="+mn-ea"/>
              <a:cs typeface="+mn-cs"/>
            </a:endParaRPr>
          </a:p>
          <a:p>
            <a:pPr marL="0" indent="0">
              <a:buFont typeface="Arial" panose="020B0604020202020204" pitchFamily="34" charset="0"/>
              <a:buNone/>
            </a:pPr>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12</a:t>
            </a:fld>
            <a:endParaRPr lang="en-US"/>
          </a:p>
        </p:txBody>
      </p:sp>
    </p:spTree>
    <p:extLst>
      <p:ext uri="{BB962C8B-B14F-4D97-AF65-F5344CB8AC3E}">
        <p14:creationId xmlns:p14="http://schemas.microsoft.com/office/powerpoint/2010/main" val="2539881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Fonction et type des éléments chauffants</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Type de chauffage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type de chauffage est généralement défini par les clients ou le planificateur.</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Selon le type de chauffage</a:t>
            </a:r>
            <a:endParaRPr lang="es-ES" sz="1200" kern="1200" dirty="0">
              <a:solidFill>
                <a:schemeClr val="tx1"/>
              </a:solidFill>
              <a:effectLst/>
              <a:latin typeface="Arial" charset="0"/>
              <a:ea typeface="+mn-ea"/>
              <a:cs typeface="+mn-cs"/>
            </a:endParaRPr>
          </a:p>
          <a:p>
            <a:pPr marL="628650" lvl="1" indent="-171450">
              <a:buFont typeface="Arial" panose="020B0604020202020204" pitchFamily="34" charset="0"/>
              <a:buChar char="•"/>
            </a:pPr>
            <a:r>
              <a:rPr lang="en-GB" sz="1200" kern="1200">
                <a:solidFill>
                  <a:schemeClr val="tx1"/>
                </a:solidFill>
                <a:effectLst/>
                <a:latin typeface="Arial" charset="0"/>
                <a:ea typeface="+mn-ea"/>
                <a:cs typeface="+mn-cs"/>
              </a:rPr>
              <a:t>Une température basse est définie pour tous les systèmes de chauffage traditionnels (température de départ max. : 75 °C)</a:t>
            </a:r>
            <a:endParaRPr lang="es-ES" sz="1200" kern="1200" dirty="0">
              <a:solidFill>
                <a:schemeClr val="tx1"/>
              </a:solidFill>
              <a:effectLst/>
              <a:latin typeface="Arial" charset="0"/>
              <a:ea typeface="+mn-ea"/>
              <a:cs typeface="+mn-cs"/>
            </a:endParaRPr>
          </a:p>
          <a:p>
            <a:pPr marL="628650" lvl="1" indent="-171450">
              <a:buFont typeface="Arial" panose="020B0604020202020204" pitchFamily="34" charset="0"/>
              <a:buChar char="•"/>
            </a:pPr>
            <a:r>
              <a:rPr lang="en-GB" sz="1200" kern="1200">
                <a:solidFill>
                  <a:schemeClr val="tx1"/>
                </a:solidFill>
                <a:effectLst/>
                <a:latin typeface="Arial" charset="0"/>
                <a:ea typeface="+mn-ea"/>
                <a:cs typeface="+mn-cs"/>
              </a:rPr>
              <a:t>Une température minimale est utilisée pour le chauffage par le sol et/ou les pompes à chaleur ou les panneaux solaires (température de départ max. : 50 °C)</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Selon la génération de l'énergie</a:t>
            </a:r>
            <a:endParaRPr lang="es-ES" sz="1200" kern="1200" dirty="0">
              <a:solidFill>
                <a:schemeClr val="tx1"/>
              </a:solidFill>
              <a:effectLst/>
              <a:latin typeface="Arial" charset="0"/>
              <a:ea typeface="+mn-ea"/>
              <a:cs typeface="+mn-cs"/>
            </a:endParaRPr>
          </a:p>
          <a:p>
            <a:pPr marL="628650" lvl="1" indent="-171450">
              <a:buFont typeface="Arial" panose="020B0604020202020204" pitchFamily="34" charset="0"/>
              <a:buChar char="•"/>
            </a:pPr>
            <a:r>
              <a:rPr lang="en-GB" sz="1200" kern="1200">
                <a:solidFill>
                  <a:schemeClr val="tx1"/>
                </a:solidFill>
                <a:effectLst/>
                <a:latin typeface="Arial" charset="0"/>
                <a:ea typeface="+mn-ea"/>
                <a:cs typeface="+mn-cs"/>
              </a:rPr>
              <a:t>Type d'énergie primaire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Selon le nombre de sources d'énergie</a:t>
            </a:r>
            <a:endParaRPr lang="es-ES" sz="1200" kern="1200" dirty="0">
              <a:solidFill>
                <a:schemeClr val="tx1"/>
              </a:solidFill>
              <a:effectLst/>
              <a:latin typeface="Arial" charset="0"/>
              <a:ea typeface="+mn-ea"/>
              <a:cs typeface="+mn-cs"/>
            </a:endParaRPr>
          </a:p>
          <a:p>
            <a:pPr marL="628650" lvl="1" indent="-171450">
              <a:buFont typeface="Arial" panose="020B0604020202020204" pitchFamily="34" charset="0"/>
              <a:buChar char="•"/>
            </a:pPr>
            <a:r>
              <a:rPr lang="en-GB" sz="1200" kern="1200">
                <a:solidFill>
                  <a:schemeClr val="tx1"/>
                </a:solidFill>
                <a:effectLst/>
                <a:latin typeface="Arial" charset="0"/>
                <a:ea typeface="+mn-ea"/>
                <a:cs typeface="+mn-cs"/>
              </a:rPr>
              <a:t>Systèmes de chaudière simple avec ou sans stockage d'eau chaude</a:t>
            </a:r>
            <a:endParaRPr lang="es-ES" sz="1200" kern="1200" dirty="0">
              <a:solidFill>
                <a:schemeClr val="tx1"/>
              </a:solidFill>
              <a:effectLst/>
              <a:latin typeface="Arial" charset="0"/>
              <a:ea typeface="+mn-ea"/>
              <a:cs typeface="+mn-cs"/>
            </a:endParaRPr>
          </a:p>
          <a:p>
            <a:pPr marL="628650" lvl="1" indent="-171450">
              <a:buFont typeface="Arial" panose="020B0604020202020204" pitchFamily="34" charset="0"/>
              <a:buChar char="•"/>
            </a:pPr>
            <a:r>
              <a:rPr lang="en-GB" sz="1200" kern="1200">
                <a:solidFill>
                  <a:schemeClr val="tx1"/>
                </a:solidFill>
                <a:effectLst/>
                <a:latin typeface="Arial" charset="0"/>
                <a:ea typeface="+mn-ea"/>
                <a:cs typeface="+mn-cs"/>
              </a:rPr>
              <a:t>Systèmes de chaudière multiple avec ou sans stockage d'eau chaude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Selon les éléments chauffants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13</a:t>
            </a:fld>
            <a:endParaRPr lang="en-US"/>
          </a:p>
        </p:txBody>
      </p:sp>
    </p:spTree>
    <p:extLst>
      <p:ext uri="{BB962C8B-B14F-4D97-AF65-F5344CB8AC3E}">
        <p14:creationId xmlns:p14="http://schemas.microsoft.com/office/powerpoint/2010/main" val="39217005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s-ES" sz="1200" b="1" kern="1200">
                <a:solidFill>
                  <a:schemeClr val="tx1"/>
                </a:solidFill>
                <a:effectLst/>
                <a:latin typeface="Arial" charset="0"/>
                <a:ea typeface="+mn-ea"/>
                <a:cs typeface="+mn-cs"/>
              </a:rPr>
              <a:t>Tableau 3</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10: Types de chauffage</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Arial" charset="0"/>
                <a:ea typeface="+mn-ea"/>
                <a:cs typeface="+mn-cs"/>
              </a:rPr>
              <a:t>Il est possible de combiner ces différents types de chauffage. Le chauffage à deux niveaux (chauffage de base et chauffage supplémentaire) en est un exemple. Le niveau de base peut être assuré par un chauffage par le sol (lent) et le niveau supplémentaire par un chauffage par convection à eau chaude (rapide). Le temps de réaction observé pendant la phase de réchauffement se réduit significativement.</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14</a:t>
            </a:fld>
            <a:endParaRPr lang="en-US"/>
          </a:p>
        </p:txBody>
      </p:sp>
    </p:spTree>
    <p:extLst>
      <p:ext uri="{BB962C8B-B14F-4D97-AF65-F5344CB8AC3E}">
        <p14:creationId xmlns:p14="http://schemas.microsoft.com/office/powerpoint/2010/main" val="2313964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Courbe de chauffage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Lors de la planification du système de chauffage, l'on utilise la température extérieure minimale moyenne comme base de départ. Cette température a été définie pour toutes les localisations dans des tableaux (soit dans les données climatiques pour l'Allemagne), et est de –14 °C à Berlin par exemple. Cela signifie qu'à Berlin, la température de départ maximale du système de chauffage est définie à une température extérieure de –14 °C.</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Tableau 4</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11 : Données climatiques des emplacements sélectionnés</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champ des caractéristiques de la courbe de chauffage résulte de la valeur de la température et du système de chauffage choisi (température élevée, basse ou minimale).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Désignation du système de chauffage :</a:t>
            </a:r>
            <a:endParaRPr lang="es-ES" sz="1200" kern="1200" dirty="0">
              <a:solidFill>
                <a:schemeClr val="tx1"/>
              </a:solidFill>
              <a:effectLst/>
              <a:latin typeface="Arial" charset="0"/>
              <a:ea typeface="+mn-ea"/>
              <a:cs typeface="+mn-cs"/>
            </a:endParaRPr>
          </a:p>
          <a:p>
            <a:pPr marL="171450" indent="-171450">
              <a:buFont typeface="Arial" panose="020B0604020202020204" pitchFamily="34" charset="0"/>
              <a:buChar char="•"/>
            </a:pPr>
            <a:r>
              <a:rPr lang="en-GB" sz="1200" kern="1200">
                <a:solidFill>
                  <a:schemeClr val="tx1"/>
                </a:solidFill>
                <a:effectLst/>
                <a:latin typeface="Arial" charset="0"/>
                <a:ea typeface="+mn-ea"/>
                <a:cs typeface="+mn-cs"/>
              </a:rPr>
              <a:t>Système à température élevée : par ex. chauffage par gravité (qui n'est plus possible pour les nouveaux systèmes conformément aux règlements)</a:t>
            </a:r>
            <a:endParaRPr lang="es-ES" sz="1200" kern="1200" dirty="0">
              <a:solidFill>
                <a:schemeClr val="tx1"/>
              </a:solidFill>
              <a:effectLst/>
              <a:latin typeface="Arial" charset="0"/>
              <a:ea typeface="+mn-ea"/>
              <a:cs typeface="+mn-cs"/>
            </a:endParaRPr>
          </a:p>
          <a:p>
            <a:pPr marL="171450" indent="-171450">
              <a:buFont typeface="Arial" panose="020B0604020202020204" pitchFamily="34" charset="0"/>
              <a:buChar char="•"/>
            </a:pPr>
            <a:r>
              <a:rPr lang="en-GB" sz="1200" kern="1200">
                <a:solidFill>
                  <a:schemeClr val="tx1"/>
                </a:solidFill>
                <a:effectLst/>
                <a:latin typeface="Arial" charset="0"/>
                <a:ea typeface="+mn-ea"/>
                <a:cs typeface="+mn-cs"/>
              </a:rPr>
              <a:t>Système à température basse : par ex. système de chauffage traditionnel</a:t>
            </a:r>
            <a:endParaRPr lang="es-ES" sz="1200" kern="1200" dirty="0">
              <a:solidFill>
                <a:schemeClr val="tx1"/>
              </a:solidFill>
              <a:effectLst/>
              <a:latin typeface="Arial" charset="0"/>
              <a:ea typeface="+mn-ea"/>
              <a:cs typeface="+mn-cs"/>
            </a:endParaRPr>
          </a:p>
          <a:p>
            <a:pPr marL="171450" indent="-171450">
              <a:buFont typeface="Arial" panose="020B0604020202020204" pitchFamily="34" charset="0"/>
              <a:buChar char="•"/>
            </a:pPr>
            <a:r>
              <a:rPr lang="en-GB" sz="1200" kern="1200">
                <a:solidFill>
                  <a:schemeClr val="tx1"/>
                </a:solidFill>
                <a:effectLst/>
                <a:latin typeface="Arial" charset="0"/>
                <a:ea typeface="+mn-ea"/>
                <a:cs typeface="+mn-cs"/>
              </a:rPr>
              <a:t>Système à température minimale : par ex. chauffage par le sol</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12 : Courbe de chauffage avec champ de caractéristiques standard</a:t>
            </a:r>
            <a:endParaRPr lang="es-ES" sz="1200" b="1"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b="1"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15</a:t>
            </a:fld>
            <a:endParaRPr lang="en-US"/>
          </a:p>
        </p:txBody>
      </p:sp>
    </p:spTree>
    <p:extLst>
      <p:ext uri="{BB962C8B-B14F-4D97-AF65-F5344CB8AC3E}">
        <p14:creationId xmlns:p14="http://schemas.microsoft.com/office/powerpoint/2010/main" val="13902839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Courbe de chauffage</a:t>
            </a:r>
            <a:endParaRPr lang="es-ES" sz="1200" b="1"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La température de départ la plus basse est générée par la température requise dans la pièce en été, lorsque le chauffage est éteint. La température de départ la plus basse est déterminée par le type de système de chauffage (température basse, température minimale). En pratique, la température de départ de la plage inférieure est légèrement augmentée de façon à avoir une différence de température entre celle de l'appareil de chauffage et celle de la pièce. Les options suivantes sont disponibles (selon le fabricant) pour adapter la courbe de chauffage aux conditions et à l'utilisation du bâtiment :</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Modification du taux de montée </a:t>
            </a:r>
            <a:r>
              <a:rPr lang="en-GB" sz="1200" kern="1200">
                <a:solidFill>
                  <a:schemeClr val="tx1"/>
                </a:solidFill>
                <a:effectLst/>
                <a:latin typeface="Arial" charset="0"/>
                <a:ea typeface="+mn-ea"/>
                <a:cs typeface="+mn-cs"/>
                <a:sym typeface="Symbol" panose="05050102010706020507" pitchFamily="18" charset="2"/>
              </a:rPr>
              <a:t> </a:t>
            </a:r>
            <a:r>
              <a:rPr lang="en-GB" sz="1200" kern="1200">
                <a:solidFill>
                  <a:schemeClr val="tx1"/>
                </a:solidFill>
                <a:effectLst/>
                <a:latin typeface="Arial" charset="0"/>
                <a:ea typeface="+mn-ea"/>
                <a:cs typeface="+mn-cs"/>
              </a:rPr>
              <a:t> Modification de la vitesse max. température de départ</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Réglage parallèle </a:t>
            </a:r>
            <a:r>
              <a:rPr lang="en-GB" sz="1200" kern="1200">
                <a:solidFill>
                  <a:schemeClr val="tx1"/>
                </a:solidFill>
                <a:effectLst/>
                <a:latin typeface="Arial" charset="0"/>
                <a:ea typeface="+mn-ea"/>
                <a:cs typeface="+mn-cs"/>
                <a:sym typeface="Symbol" panose="05050102010706020507" pitchFamily="18" charset="2"/>
              </a:rPr>
              <a:t> </a:t>
            </a:r>
            <a:r>
              <a:rPr lang="en-GB" sz="1200" kern="1200">
                <a:solidFill>
                  <a:schemeClr val="tx1"/>
                </a:solidFill>
                <a:effectLst/>
                <a:latin typeface="Arial" charset="0"/>
                <a:ea typeface="+mn-ea"/>
                <a:cs typeface="+mn-cs"/>
              </a:rPr>
              <a:t> Modification du min. et max. temp. d'écoulement</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Température ambiante </a:t>
            </a:r>
            <a:r>
              <a:rPr lang="en-GB" sz="1200" kern="1200">
                <a:solidFill>
                  <a:schemeClr val="tx1"/>
                </a:solidFill>
                <a:effectLst/>
                <a:latin typeface="Arial" charset="0"/>
                <a:ea typeface="+mn-ea"/>
                <a:cs typeface="+mn-cs"/>
                <a:sym typeface="Symbol" panose="05050102010706020507" pitchFamily="18" charset="2"/>
              </a:rPr>
              <a:t> </a:t>
            </a:r>
            <a:r>
              <a:rPr lang="en-GB" sz="1200" kern="1200">
                <a:solidFill>
                  <a:schemeClr val="tx1"/>
                </a:solidFill>
                <a:effectLst/>
                <a:latin typeface="Arial" charset="0"/>
                <a:ea typeface="+mn-ea"/>
                <a:cs typeface="+mn-cs"/>
              </a:rPr>
              <a:t> Augmentation min. température de départ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(température de départ constante au moyen d'une plage de température externe)</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Remarque : </a:t>
            </a:r>
            <a:r>
              <a:rPr lang="en-GB" sz="1200" kern="1200">
                <a:solidFill>
                  <a:schemeClr val="tx1"/>
                </a:solidFill>
                <a:effectLst/>
                <a:latin typeface="Arial" charset="0"/>
                <a:ea typeface="+mn-ea"/>
                <a:cs typeface="+mn-cs"/>
              </a:rPr>
              <a:t>Si des valeurs de la courbe de chauffage sont requises pour la paramétrage des dispositifs, Il faut demander par écrit à l'ingénieur de chauffage. Il convient de documenter ces paramètres.</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13 : Modification du taux d'augmentation</a:t>
            </a:r>
            <a:endParaRPr lang="es-ES"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14 : Ajustement de la courbe de chauffage</a:t>
            </a:r>
          </a:p>
          <a:p>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15 : Température ambiante</a:t>
            </a:r>
            <a:endParaRPr lang="es-ES" sz="1200" b="1" kern="1200" dirty="0">
              <a:solidFill>
                <a:schemeClr val="tx1"/>
              </a:solidFill>
              <a:effectLst/>
              <a:latin typeface="Arial" charset="0"/>
              <a:ea typeface="+mn-ea"/>
              <a:cs typeface="+mn-cs"/>
            </a:endParaRPr>
          </a:p>
          <a:p>
            <a:endParaRPr lang="es-ES" sz="1200" b="1" kern="1200" dirty="0">
              <a:solidFill>
                <a:schemeClr val="tx1"/>
              </a:solidFill>
              <a:effectLst/>
              <a:latin typeface="Arial" charset="0"/>
              <a:ea typeface="+mn-ea"/>
              <a:cs typeface="+mn-cs"/>
            </a:endParaRPr>
          </a:p>
          <a:p>
            <a:endParaRPr lang="es-ES" sz="1200" b="1" kern="1200" dirty="0">
              <a:solidFill>
                <a:schemeClr val="tx1"/>
              </a:solidFill>
              <a:effectLst/>
              <a:latin typeface="Arial" charset="0"/>
              <a:ea typeface="+mn-ea"/>
              <a:cs typeface="+mn-cs"/>
            </a:endParaRPr>
          </a:p>
          <a:p>
            <a:endParaRPr lang="es-ES" sz="1200" b="1" kern="1200" dirty="0">
              <a:solidFill>
                <a:schemeClr val="tx1"/>
              </a:solidFill>
              <a:effectLst/>
              <a:latin typeface="Arial" charset="0"/>
              <a:ea typeface="+mn-ea"/>
              <a:cs typeface="+mn-cs"/>
            </a:endParaRPr>
          </a:p>
          <a:p>
            <a:endParaRPr lang="es-ES" sz="1200" b="1"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16</a:t>
            </a:fld>
            <a:endParaRPr lang="en-US"/>
          </a:p>
        </p:txBody>
      </p:sp>
    </p:spTree>
    <p:extLst>
      <p:ext uri="{BB962C8B-B14F-4D97-AF65-F5344CB8AC3E}">
        <p14:creationId xmlns:p14="http://schemas.microsoft.com/office/powerpoint/2010/main" val="2856424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Puissance des éléments chauffants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Selon le type de bâtiment (bâtiment ancien, nouveau bâtiment, maison à faible consommation d'énergie...) et le type de pièce, des formules et des tableaux sont disponibles pour déterminer la taille ou la puissance des éléments chauffants.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Règle de pouce : 100-120 W par m2 (hauteur de la pièce de 2,60m, 2 murs extérieurs, pas de grande surface de fenêtre)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faudra également prendre en compte les besoins spécifiques (par ex. temps de réaction rapide pendant la phase de réchauffement). Comme des températures de consigne spécifiques sont fournies selon l'utilisation de la pièce, il est possible de construire un tableau de la puissance de chauffage des appareils de chauffage.</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Remarque : </a:t>
            </a:r>
            <a:r>
              <a:rPr lang="en-GB" sz="1200" kern="1200">
                <a:solidFill>
                  <a:schemeClr val="tx1"/>
                </a:solidFill>
                <a:effectLst/>
                <a:latin typeface="Arial" charset="0"/>
                <a:ea typeface="+mn-ea"/>
                <a:cs typeface="+mn-cs"/>
              </a:rPr>
              <a:t>Une réduction de 1°K de la température de la pièce entraîne une économie d'énergie de 6%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16 : Exemple de la capacité de chauffage d'un chauffe-duplex d'une hauteur totale de 500 mm (information du fabricant)</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17</a:t>
            </a:fld>
            <a:endParaRPr lang="en-US"/>
          </a:p>
        </p:txBody>
      </p:sp>
    </p:spTree>
    <p:extLst>
      <p:ext uri="{BB962C8B-B14F-4D97-AF65-F5344CB8AC3E}">
        <p14:creationId xmlns:p14="http://schemas.microsoft.com/office/powerpoint/2010/main" val="10883783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GB" sz="1200" kern="1200">
                <a:solidFill>
                  <a:schemeClr val="tx1"/>
                </a:solidFill>
                <a:effectLst/>
                <a:latin typeface="Arial" charset="0"/>
                <a:ea typeface="+mn-ea"/>
                <a:cs typeface="+mn-cs"/>
              </a:rPr>
              <a:t>Afin de permettre une répartition uniforme de la chaleur dans la pièce, l'appareil de chauffage doit être placé à l'endroit le plus froid. Dans la plupart des cas, celui-ci est situé sous la fenêtre. Le chauffage devrait au moins être aussi large que la fenêtre.</a:t>
            </a:r>
            <a:br>
              <a:rPr lang="en-GB" sz="1200" kern="1200" dirty="0">
                <a:solidFill>
                  <a:schemeClr val="tx1"/>
                </a:solidFill>
                <a:effectLst/>
                <a:latin typeface="Arial" charset="0"/>
                <a:ea typeface="+mn-ea"/>
                <a:cs typeface="+mn-cs"/>
              </a:rPr>
            </a:br>
            <a:r>
              <a:rPr lang="en-GB" sz="1200" b="1" kern="1200">
                <a:solidFill>
                  <a:schemeClr val="tx1"/>
                </a:solidFill>
                <a:effectLst/>
                <a:latin typeface="Arial" charset="0"/>
                <a:ea typeface="+mn-ea"/>
                <a:cs typeface="+mn-cs"/>
              </a:rPr>
              <a:t>Remarque :</a:t>
            </a:r>
            <a:r>
              <a:rPr lang="en-GB" sz="1200" kern="1200">
                <a:solidFill>
                  <a:schemeClr val="tx1"/>
                </a:solidFill>
                <a:effectLst/>
                <a:latin typeface="Arial" charset="0"/>
                <a:ea typeface="+mn-ea"/>
                <a:cs typeface="+mn-cs"/>
              </a:rPr>
              <a:t> Tous les tuyaux du système de câblage doivent être soigneusement et suffisamment isolés. Dans les bâtiments bien isolés, les tuyaux sans isolation suffisante peuvent déjà chauffer les pièces (lorsque la vanne angulaire est fermée). Le contrôle de boucle fermée n'est donc plus possible.</a:t>
            </a:r>
            <a:br>
              <a:rPr lang="en-GB" sz="1200" kern="1200" dirty="0">
                <a:solidFill>
                  <a:schemeClr val="tx1"/>
                </a:solidFill>
                <a:effectLst/>
                <a:latin typeface="Arial" charset="0"/>
                <a:ea typeface="+mn-ea"/>
                <a:cs typeface="+mn-cs"/>
              </a:rPr>
            </a:br>
            <a:r>
              <a:rPr lang="en-GB" sz="1200" b="1" kern="1200">
                <a:solidFill>
                  <a:schemeClr val="tx1"/>
                </a:solidFill>
                <a:effectLst/>
                <a:latin typeface="Arial" charset="0"/>
                <a:ea typeface="+mn-ea"/>
                <a:cs typeface="+mn-cs"/>
              </a:rPr>
              <a:t>Attention :</a:t>
            </a:r>
            <a:r>
              <a:rPr lang="en-GB" sz="1200" kern="1200">
                <a:solidFill>
                  <a:schemeClr val="tx1"/>
                </a:solidFill>
                <a:effectLst/>
                <a:latin typeface="Arial" charset="0"/>
                <a:ea typeface="+mn-ea"/>
                <a:cs typeface="+mn-cs"/>
              </a:rPr>
              <a:t> Lors de l'utilisation d'un régulateur de température de pièce, aucun système de chauffage supplémentaire non régulé ne peut être situé dans la pièce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18</a:t>
            </a:fld>
            <a:endParaRPr lang="en-US"/>
          </a:p>
        </p:txBody>
      </p:sp>
    </p:spTree>
    <p:extLst>
      <p:ext uri="{BB962C8B-B14F-4D97-AF65-F5344CB8AC3E}">
        <p14:creationId xmlns:p14="http://schemas.microsoft.com/office/powerpoint/2010/main" val="11528061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a:solidFill>
                  <a:schemeClr val="tx1"/>
                </a:solidFill>
                <a:effectLst/>
                <a:latin typeface="Arial" charset="0"/>
                <a:ea typeface="+mn-ea"/>
                <a:cs typeface="+mn-cs"/>
              </a:rPr>
              <a:t>Contrôle du chauffage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Différents systèmes de contrôle sont possibles ici. Les circuits à sécurité intégrée qui sont nécessaires (par ex. pour la chaudière) ne sont pas pris en compte car ils doivent être garantis par les fabricants des produits.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Examinons les circuits classiques d'un système à eau chaude avec une seule source d'énergie (à comparer avec le graphique 3)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Options de contrôle possibles au moyen de capteurs</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a:solidFill>
                  <a:schemeClr val="tx1"/>
                </a:solidFill>
                <a:effectLst/>
                <a:latin typeface="Arial" charset="0"/>
                <a:ea typeface="+mn-ea"/>
                <a:cs typeface="+mn-cs"/>
              </a:rPr>
              <a:t>Tableau 6</a:t>
            </a:r>
            <a:endParaRPr lang="es-ES" sz="1200" b="1" kern="1200" dirty="0">
              <a:solidFill>
                <a:schemeClr val="tx1"/>
              </a:solidFill>
              <a:effectLst/>
              <a:latin typeface="Arial" charset="0"/>
              <a:ea typeface="+mn-ea"/>
              <a:cs typeface="+mn-cs"/>
            </a:endParaRPr>
          </a:p>
          <a:p>
            <a:pPr marL="171450" lvl="0" indent="-171450">
              <a:buFont typeface="Arial" panose="020B0604020202020204" pitchFamily="34" charset="0"/>
              <a:buChar char="•"/>
            </a:pPr>
            <a:endParaRPr lang="en-GB" sz="1200" kern="1200" dirty="0">
              <a:solidFill>
                <a:schemeClr val="tx1"/>
              </a:solidFill>
              <a:effectLst/>
              <a:latin typeface="Arial" charset="0"/>
              <a:ea typeface="+mn-ea"/>
              <a:cs typeface="+mn-cs"/>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sz="1200" kern="1200">
                <a:solidFill>
                  <a:schemeClr val="tx1"/>
                </a:solidFill>
                <a:effectLst/>
                <a:latin typeface="Arial" charset="0"/>
                <a:ea typeface="+mn-ea"/>
                <a:cs typeface="+mn-cs"/>
              </a:rPr>
              <a:t>Options de contrôle possibles au moyen d'actionneurs</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a:solidFill>
                  <a:schemeClr val="tx1"/>
                </a:solidFill>
                <a:effectLst/>
                <a:latin typeface="Arial" charset="0"/>
                <a:ea typeface="+mn-ea"/>
                <a:cs typeface="+mn-cs"/>
              </a:rPr>
              <a:t>Tableau 7</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a:solidFill>
                  <a:schemeClr val="tx1"/>
                </a:solidFill>
                <a:effectLst/>
                <a:latin typeface="Arial" charset="0"/>
                <a:ea typeface="+mn-ea"/>
                <a:cs typeface="+mn-cs"/>
              </a:rPr>
              <a:t>Illustration 18: Courbe de chauffe pour la régulation via l'offre et la demande</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Exemple : Contrôler via le spread (capteur de flux/retour)</a:t>
            </a:r>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Lorsque l'installation a la bonne disposition, la température de la salle de consigne est atteinte si une température de retour est approximative. 42°C est fixé par exemple à une température extérieure de 0°C et à une température de débit d’environ 58°C. Une déviation dans la température de retour conduit à un réglage de la température du débit de consigne.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type de contrôle idéal est obtenu lorsque le besoin en chaleur d'une pièce exerce une influence sur le fonctionnement de la source de la chaleur.</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un logement loué ou occupé par son propriétaire, l'utilisateur peut réaliser une économie d'énergie en utilisant le contrôle individuel de la pièce KNX sans avoir à intervenir sur le système de chauffage lui-même. Cela ne pose aucune difficulté particulière. Cette solution est particulièrement adaptée aux installations disposant d'une source centrale de chaleur.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les maisons individuelles, il est conseillé de combiner le contrôle individuel de la pièce KNX au contrôle du circuit de chauffage et de la chaudière. Cette solution permet de ne générer que la chaleur requise. Il est ensuite nécessaire d'utiliser des régulateurs de chaudière et de circuits mixtes avec la capacité KNX (fabricants de chauffage : Viessmann, Buderus, Stiebel-Eltron).</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19</a:t>
            </a:fld>
            <a:endParaRPr lang="en-US"/>
          </a:p>
        </p:txBody>
      </p:sp>
    </p:spTree>
    <p:extLst>
      <p:ext uri="{BB962C8B-B14F-4D97-AF65-F5344CB8AC3E}">
        <p14:creationId xmlns:p14="http://schemas.microsoft.com/office/powerpoint/2010/main" val="24311932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Mise en service du système de chauffage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mise en service du système de chauffage est généralement assurée par l'installeur de chauffage. Pour qu'un système de contrôle puisse fonctionner sans problème, il faut prête une attention toute particulière à l'ajustement hydraulique du système.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Vérification de la fonction: Tous les éléments de chauffage doivent être réchauffés au même niveau lorsque les vannes sont ouvertes.</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19 : Réglage hydraulique</a:t>
            </a:r>
            <a:endParaRPr lang="es-ES"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Remarque : </a:t>
            </a:r>
            <a:r>
              <a:rPr lang="en-GB" sz="1200" kern="1200">
                <a:solidFill>
                  <a:schemeClr val="tx1"/>
                </a:solidFill>
                <a:effectLst/>
                <a:latin typeface="Arial" charset="0"/>
                <a:ea typeface="+mn-ea"/>
                <a:cs typeface="+mn-cs"/>
              </a:rPr>
              <a:t>Même le meilleur système de pilotage ne peut pas ajuster de mauvais hydrauliques.</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20</a:t>
            </a:fld>
            <a:endParaRPr lang="en-US"/>
          </a:p>
        </p:txBody>
      </p:sp>
    </p:spTree>
    <p:extLst>
      <p:ext uri="{BB962C8B-B14F-4D97-AF65-F5344CB8AC3E}">
        <p14:creationId xmlns:p14="http://schemas.microsoft.com/office/powerpoint/2010/main" val="42892347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Intégration du chauffage dans le système de gestion du bâtiment</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le chauffage doit être intégré au système de gestion du bâtiment (ici spécifiquement KNX), différentes solutions sont possibles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Contrôle individuel de la pièce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Contrôle du système de chauffage (avec ou sans l'influence d'une chaudière)</a:t>
            </a:r>
          </a:p>
          <a:p>
            <a:pPr lvl="0"/>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20 : Intégration des fonctions</a:t>
            </a:r>
          </a:p>
          <a:p>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telle intégration vise à augmenter le confort et à utiliser l'énergie de manière efficace.</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21</a:t>
            </a:fld>
            <a:endParaRPr lang="en-US"/>
          </a:p>
        </p:txBody>
      </p:sp>
    </p:spTree>
    <p:extLst>
      <p:ext uri="{BB962C8B-B14F-4D97-AF65-F5344CB8AC3E}">
        <p14:creationId xmlns:p14="http://schemas.microsoft.com/office/powerpoint/2010/main" val="12702278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domaines d'application des systèmes de contrôle sont les suivants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Tableau 8</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22</a:t>
            </a:fld>
            <a:endParaRPr lang="en-US"/>
          </a:p>
        </p:txBody>
      </p:sp>
    </p:spTree>
    <p:extLst>
      <p:ext uri="{BB962C8B-B14F-4D97-AF65-F5344CB8AC3E}">
        <p14:creationId xmlns:p14="http://schemas.microsoft.com/office/powerpoint/2010/main" val="17672127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Contrôle individuel de la pièce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contrôle individuel de la pièce peut être mis en place relativement simplement par l'installateur électricien car seule une connaissance spécialisée limitée du secteur du chauffage est nécessaire.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est possible de distinguer deux types de contrôle individuel de la pièce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 contrôle à 2 niveaux</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 contrôle continu (contrôle à 3 niveaux)</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nos exemples, nous commençons par le chauffage par convection à eau chaude.</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Principe de fonctionnement du contrôle individuel de la pièce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système de contrôle est composé d'un thermostat d'ambiance et une vanne. La vanne exerce une influence sur la vanne de chauffage de la chaudière ou de la phase. Le système de chauffage doit seulement disposer d'un circuit de chauffage direct. Une option permettant d'afficher la température doit également être disponible.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thermostat d'ambiance mesure la température actuelle (température actuelle de la pièce) et la compare au point de consigne qui a été prédéfini. La valeur de contrôle (exprimée par ex. en pourcentage, ou selon des commandes MARCHE/ARRÊT) est calculée sur la base de la différence entre la température actuelle et la température de consigne, en utilisant l'algorithme de contrôle défini. La valeur de contrôle indique la puissance de chauffage ou de refroidissement qu'il faut fournir au système.</a:t>
            </a:r>
            <a:endParaRPr lang="es-ES" sz="16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23</a:t>
            </a:fld>
            <a:endParaRPr lang="en-US"/>
          </a:p>
        </p:txBody>
      </p:sp>
    </p:spTree>
    <p:extLst>
      <p:ext uri="{BB962C8B-B14F-4D97-AF65-F5344CB8AC3E}">
        <p14:creationId xmlns:p14="http://schemas.microsoft.com/office/powerpoint/2010/main" val="10641585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Types de contrôles</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Contrôle à deux niveaux</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C'est le type de contrôle le plus simple. Aucun calcul de valeur de contrôle n'est effectué. Le contrôleur s'allume ou s'éteint. La température de la pièce oscille autour de la température de consigne (valeur d'hystérèse).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Exemple : Consigne 30 °C, hystérésis 1 : interrupteur de chauffage à 29°C et éteint à 31°C.</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fait que la température de la pièce fluctue en permanence constitue un inconvénient de ce système de contrôle extrêmement simple. Il en résulte un dépassement de la température, parce la vanne a besoin d'environ 3 minutes pour s'éteindre complètement. L'appareil de chauffage continue également à produire de la chaleur dans la pièce même après que l'écoulement d'eau a cessé.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Lorsque le chauffage est allumé, le système se comporte comme s'il avait une temporisation. Les systèmes de chauffage ou de refroidissement lents ne peuvent pas être contrôlés par un contrôle à deux niveaux, car ils peuvent entraîner une surchauffe et de ce fait occasionner une perte considérable de confort.</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22 : Schéma de mesure de chaque régulateur de pièce dans l'application en deux étapes (ici température de consigne et hystérésis négatif)</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Température de la pièce – actionneur de chauffage – contrôleur thermoélectrique (ou actionneur de commutation) – la vanne. Pour la modulation de largeur d'impulsion et le contrôle à deux niveaux, le thermostat d'ambiance déclenche un actionneur de commutation qui, à son tour, ouvre ou ferme la vanne. Cette combinaison est plus rentable que la vanne de régulation. Si une pièce comprend plusieurs appareils de chauffage, cette combinaison présente même de multiples avantages en termes de coûts par rapport au contrôle continu, car plusieurs vannes thermoélectrique peuvent être déclenchés par un seul canal d'actionneur.</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24</a:t>
            </a:fld>
            <a:endParaRPr lang="en-US"/>
          </a:p>
        </p:txBody>
      </p:sp>
    </p:spTree>
    <p:extLst>
      <p:ext uri="{BB962C8B-B14F-4D97-AF65-F5344CB8AC3E}">
        <p14:creationId xmlns:p14="http://schemas.microsoft.com/office/powerpoint/2010/main" val="23578331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Contrôle PI</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algorithme de contrôle est utilisé afin de créer la valeur de contrôle. Le système tente d'adapter la température de la pièce à la température de consigne sans causer aucune oscillation.</a:t>
            </a:r>
          </a:p>
          <a:p>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23 : Diagramme de mesure d'un contrôleur de pièce individuel avec l'application PI de commutation</a:t>
            </a:r>
          </a:p>
          <a:p>
            <a:endParaRPr lang="es-ES" sz="1600" b="1"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25</a:t>
            </a:fld>
            <a:endParaRPr lang="en-US"/>
          </a:p>
        </p:txBody>
      </p:sp>
    </p:spTree>
    <p:extLst>
      <p:ext uri="{BB962C8B-B14F-4D97-AF65-F5344CB8AC3E}">
        <p14:creationId xmlns:p14="http://schemas.microsoft.com/office/powerpoint/2010/main" val="15790474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Composants d'un contrôle individuel de pièce</a:t>
            </a:r>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Thermostat d'ambiance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ce système, l'élément intelligent est le thermostat d'ambiance. En général, les thermostats d'ambiance ont 4 modes de fonctionnement, qui distinguent 4 niveaux de température en mode chauffage ou refroidissement. Trois des quatre modes de fonctionnement font partie du mode de fonctionnement normal : en mode confort, la température la plus élevée (par ex. 21 °C dans le salon) est prise en compte pour le chauffage et le niveau de température la plus basse pour le refroidissement (par ex. 24 °C). En mode veille, la température de consigne est légèrement réduite pour le chauffage (par ex. à 19 °C). Si le thermostat est en mode refroidissement, la température de consigne est augmentée en conséquence (par ex. à 26 °C). Ce mode de fonctionnement a été conçu pour gérer les absences courtes. La pièce peut rapidement être chauffée (ou refroidie) selon les besoins. Pendant le fonctionnement nocturne (que l'on appelle également le mode économie ou économie d'énergie), une diminution supplémentaire (de valeur variable) est effectuée pour le chauffage (ou une augmentation pour le refroidissement). Dans le quatrième mode de fonctionnement (que l'on appelle également protection contre le gel / thermique), la température de consigne est réduite à par ex. 7 °C si une fenêtre est ouverte. Éteindre complètement le système de chauffage n'est pas recommandé, car si c'est en hiver, les tuyaux de chauffage pourraient geler. Le mode de protection a la priorité la plus élevée dans les thermostats d'ambiance, c'est-à-dire que si le mode hors gel est activé, il n'est pas possible de changer pour un autre mode de fonctionnement. Le mode de protection peut être causé par l'ouverture d'une fenêtre, ou en réglant le thermostat manuellement pour qu'il soit en mode de protection en permanence, ou encore au moyen d'un interrupteur horaire. Pour revenir au mode de fonctionnement normal, le mode de protection doit être désactivé (par ex. en fermant la fenêtre).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24 : Régulateur/Éléments normaux de fonctionnement et d'indication de chauffage</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Historiquement, divers blocs fonctionnels et types de points de données ont été développés pour régler le mode de fonctionnement. Alors qu'au début, trois ou quatre objets d'un bit étaient utilisés, le DTP 20.102 est actuellement devenu très répandu parce qu'il est possible de définir les 5 options de fonctionnement différentes sur une même adresse de groupe (objet 8 bits). En outre, le mode 8 bits est plus facile à paramétrer car il gère seulement deux priorités (haute = mode de protection ; basse = mode normal), à comparer aux modes de 3 fois 1 bit. En mode normal, les 3 paramétrages ont tous la même priorité et peuvent être modifiés par un seul télégramme. </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Tableau 9 : Table des priorités dans le bloc fonctionnel 3 fois 1 bit (x = paramètre n'a pas de réaction)</a:t>
            </a:r>
          </a:p>
          <a:p>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Tableau 10 : Table des priorités en mode 8 bits (DPT 20.102)</a:t>
            </a:r>
            <a:endParaRPr lang="es-ES" sz="1200" b="1" kern="1200" dirty="0">
              <a:solidFill>
                <a:schemeClr val="tx1"/>
              </a:solidFill>
              <a:effectLst/>
              <a:latin typeface="Arial" charset="0"/>
              <a:ea typeface="+mn-ea"/>
              <a:cs typeface="+mn-cs"/>
            </a:endParaRPr>
          </a:p>
          <a:p>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25 : thermostat de la pièce et les différents réglages du mode</a:t>
            </a:r>
            <a:endParaRPr lang="es-ES" sz="1200" b="1" kern="1200" dirty="0">
              <a:solidFill>
                <a:schemeClr val="tx1"/>
              </a:solidFill>
              <a:effectLst/>
              <a:latin typeface="Arial" charset="0"/>
              <a:ea typeface="+mn-ea"/>
              <a:cs typeface="+mn-cs"/>
            </a:endParaRPr>
          </a:p>
          <a:p>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thermostat d'ambiance peut être contrôlé de manière externe (via KNX) ou en local (bouton multifonction), ce qui permet de le paramétrer dans les différents modes de fonctionnement. Le mode actuellement utilisé est matérialisé par des LED ou des symboles.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fonctionnement manuel précis est spécifique au fabricant et laissé libre dans la norme KNX. </a:t>
            </a:r>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26</a:t>
            </a:fld>
            <a:endParaRPr lang="en-US"/>
          </a:p>
        </p:txBody>
      </p:sp>
    </p:spTree>
    <p:extLst>
      <p:ext uri="{BB962C8B-B14F-4D97-AF65-F5344CB8AC3E}">
        <p14:creationId xmlns:p14="http://schemas.microsoft.com/office/powerpoint/2010/main" val="11686454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Arial" charset="0"/>
                <a:ea typeface="+mn-ea"/>
                <a:cs typeface="+mn-cs"/>
              </a:rPr>
              <a:t>Les thermostats d'ambiance ont parfois des paramètres étendus : par exemple ils peuvent être définis comme des contrôleurs à deux niveaux ou continus.</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26 : Systèmes contrôlés pour contrôleur continu à 2 étapes</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chauffage à deux niveaux est souvent utilisé en association avec un chauffage par le sol. Le chauffage par le sol est un système très lent. Il lui faut beaucoup de temps pour chauffer une pièce (jusqu'à plusieurs heures). Pour raccourcir la phase de réchauffement, un système de chauffage rapide (par ex. un chauffage par convection à eau chaude) est utilisé en complément.</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27 : Système contrôlé pour chauffage à 2 étapes</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29 : Système contrôlé pour le chauffage et le refroidissement</a:t>
            </a:r>
            <a:endParaRPr lang="es-ES" sz="1400" b="1"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27</a:t>
            </a:fld>
            <a:endParaRPr lang="en-US"/>
          </a:p>
        </p:txBody>
      </p:sp>
    </p:spTree>
    <p:extLst>
      <p:ext uri="{BB962C8B-B14F-4D97-AF65-F5344CB8AC3E}">
        <p14:creationId xmlns:p14="http://schemas.microsoft.com/office/powerpoint/2010/main" val="35233026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a:solidFill>
                  <a:schemeClr val="tx1"/>
                </a:solidFill>
                <a:effectLst/>
                <a:latin typeface="Arial" charset="0"/>
                <a:ea typeface="+mn-ea"/>
                <a:cs typeface="+mn-cs"/>
              </a:rPr>
              <a:t>Illustration 28 : Représentation simplifiée des consignes pour le chauffage et le refroidissement</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28</a:t>
            </a:fld>
            <a:endParaRPr lang="en-US"/>
          </a:p>
        </p:txBody>
      </p:sp>
    </p:spTree>
    <p:extLst>
      <p:ext uri="{BB962C8B-B14F-4D97-AF65-F5344CB8AC3E}">
        <p14:creationId xmlns:p14="http://schemas.microsoft.com/office/powerpoint/2010/main" val="33433388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Actionneur – Variante 1 (actionneur de commutation)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actionneur de chauffage ou de commutation peut être utilisé en lien avec un ou plusieurs entraînements par vanne thermoélectrique. Cela permet d'obtenir une variante d'équipement rentable lorsqu'il faut raccorder plus d'un convecteur à eau chaude par pièce.</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30: Exemple d'actionneur de chauffage</a:t>
            </a:r>
            <a:endParaRPr lang="es-ES"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Note</a:t>
            </a:r>
            <a:r>
              <a:rPr lang="en-GB" sz="1200" kern="1200">
                <a:solidFill>
                  <a:schemeClr val="tx1"/>
                </a:solidFill>
                <a:effectLst/>
                <a:latin typeface="Arial" charset="0"/>
                <a:ea typeface="+mn-ea"/>
                <a:cs typeface="+mn-cs"/>
              </a:rPr>
              <a:t>: Dans le cas de tension d'alimentation faible (par ex. 24 V), les temps de réaction des éléments thermoélectriques et leurs longueurs de câble respectives doivent être observés.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changement d'application doit être effectué depuis le thermostat d'ambiance. La durée de fonctionnement de la vanne thermoélectrique doit être noté pour le temps cyclique de la valeur de contrôle de commutation.</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29</a:t>
            </a:fld>
            <a:endParaRPr lang="en-US"/>
          </a:p>
        </p:txBody>
      </p:sp>
    </p:spTree>
    <p:extLst>
      <p:ext uri="{BB962C8B-B14F-4D97-AF65-F5344CB8AC3E}">
        <p14:creationId xmlns:p14="http://schemas.microsoft.com/office/powerpoint/2010/main" val="21295358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Actionneur – Variante 2 (Contrôleur continu)</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vanne KNX linéaire et motorisée est utilisée comme élément de contrôle final. Dans le thermostat d'ambiance, une application continue doit être sélectionnée.</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31 : Schéma de blocage d'une vanne linéaire</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30</a:t>
            </a:fld>
            <a:endParaRPr lang="en-US"/>
          </a:p>
        </p:txBody>
      </p:sp>
    </p:spTree>
    <p:extLst>
      <p:ext uri="{BB962C8B-B14F-4D97-AF65-F5344CB8AC3E}">
        <p14:creationId xmlns:p14="http://schemas.microsoft.com/office/powerpoint/2010/main" val="42286783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a:solidFill>
                  <a:schemeClr val="tx1"/>
                </a:solidFill>
                <a:effectLst/>
                <a:latin typeface="Arial" charset="0"/>
                <a:ea typeface="+mn-ea"/>
                <a:cs typeface="+mn-cs"/>
              </a:rPr>
              <a:t>Tableau 11 : Avantages et inconvénients des vannes continus et thermoélectriques</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31</a:t>
            </a:fld>
            <a:endParaRPr lang="en-US"/>
          </a:p>
        </p:txBody>
      </p:sp>
    </p:spTree>
    <p:extLst>
      <p:ext uri="{BB962C8B-B14F-4D97-AF65-F5344CB8AC3E}">
        <p14:creationId xmlns:p14="http://schemas.microsoft.com/office/powerpoint/2010/main" val="11970071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Autres éléments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éléments de base d'un contrôle individuel de la pièce sont le thermostat d'ambiance et l'actionneur, comme décrit ci-dessus. D'autres éléments peuvent être intégrés pour améliorer la performance du circuit.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Tableau 12</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32</a:t>
            </a:fld>
            <a:endParaRPr lang="en-US"/>
          </a:p>
        </p:txBody>
      </p:sp>
    </p:spTree>
    <p:extLst>
      <p:ext uri="{BB962C8B-B14F-4D97-AF65-F5344CB8AC3E}">
        <p14:creationId xmlns:p14="http://schemas.microsoft.com/office/powerpoint/2010/main" val="20998830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Connexion KNX aux systèmes de chauffage ou de refroidissement</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Connexion par une passerelle DDC ou des actionneurs traditionnels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les bâtiments fonctionnels de grande taille, il faut utiliser ce que l'on appelle un niveau de gestion.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 niveau de gestion permet de vérifier et de visualiser tous les processus du bâtiment et de relier plusieurs systèmes de bus si nécessaire. En dehors de KNX et des systèmes DDC (commande numérique directe), d'autres systèmes spéciaux de sécurité, de contrôle des ascenseurs et des accès peuvent également être utilisés, par exemple.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Ces systèmes viennent ensuite s'interfacer avec le niveau de gestion par des passerelles (en reliant des éléments entre les différents systèmes de bus).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Par exemple, le niveau de gestion présélectionne la température de consigne de base pour le thermostat d'ambiance. Cette information est alors convertie en un télégramme KNX par la passerelle. Pour le système de chaudière (par ex. avec contrôle DDC), il peut être important de recevoir des informations sur les températures actuelles et de consigne ou les valeurs de contrôle des pièces individuelles. Les passerelles sont généralement rendues disponibles lors de la création du niveau de gestion, et configurées de façon à ce que seul le flux d'information soit échangé.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Mettre en place la connexion au moyen d'actionneurs analogiques est une autre possibilité. Les températures sont ensuite réparties dans des sections, qui forment des valeurs de seuil. Ces valeurs sont ensuite exprimées en tension analogique. Une sortie numérique est souvent intégrée en parallèle. Cette sortie envoie une commande pour indiquer au système de chauffage le besoin de chauffage ou de refroidissement, selon les informations fournies par le thermostat d'ambiance. Par exemple si un "1" est indiqué ici, cela signifie que la sortie numérique est activée et le système de chauffage commence à chauffer. La température de chauffage résulte de la tension délivrée par l'actionneur analogique.</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a:solidFill>
                  <a:schemeClr val="tx1"/>
                </a:solidFill>
                <a:effectLst/>
                <a:latin typeface="Arial" charset="0"/>
                <a:ea typeface="+mn-ea"/>
                <a:cs typeface="+mn-cs"/>
              </a:rPr>
              <a:t>Illustration 32 : Connexion conventionnelle via l'actionneur et la technologie des capteurs</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33</a:t>
            </a:fld>
            <a:endParaRPr lang="en-US"/>
          </a:p>
        </p:txBody>
      </p:sp>
    </p:spTree>
    <p:extLst>
      <p:ext uri="{BB962C8B-B14F-4D97-AF65-F5344CB8AC3E}">
        <p14:creationId xmlns:p14="http://schemas.microsoft.com/office/powerpoint/2010/main" val="12184575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Connexion par une passerelle KNX</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l'on compare par rapport à l'association de DDC et de KNX, la solution la plus satisfaisante est d'opter pour une mise en place universelle de l'automatisation du bâtiment en utilisant une seule technologie de bus, celle de KNX. Cela peut être réalisé à l'aide des composants des contrôleurs qu'offrent différents fabricants de chauffage, avec la technologie de bus ou avec une interface de bus. Ces solutions présentent l'avantage d'être des applications standards. Ce type de connexion est largement utilisé dans les bâtiments fonctionnels ou les résidences privées. Dans ce cas, on utilise un contrôle individuel de la pièce avec transfert de la valeur de consigne (1 octet) au contrôle du chauffage / de la chaudière, ou l'envoi d'une demande de chauffage (1 bit).</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a:solidFill>
                  <a:schemeClr val="tx1"/>
                </a:solidFill>
                <a:effectLst/>
                <a:latin typeface="Arial" charset="0"/>
                <a:ea typeface="+mn-ea"/>
                <a:cs typeface="+mn-cs"/>
              </a:rPr>
              <a:t>Illustration 33 : Exigences pour le contrôle individuel de la pièce</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34</a:t>
            </a:fld>
            <a:endParaRPr lang="en-US"/>
          </a:p>
        </p:txBody>
      </p:sp>
    </p:spTree>
    <p:extLst>
      <p:ext uri="{BB962C8B-B14F-4D97-AF65-F5344CB8AC3E}">
        <p14:creationId xmlns:p14="http://schemas.microsoft.com/office/powerpoint/2010/main" val="37960887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Arial" charset="0"/>
                <a:ea typeface="+mn-ea"/>
                <a:cs typeface="+mn-cs"/>
              </a:rPr>
              <a:t>La connexion peut être établie par exemple en mettant en place une interface externe qui relie le bus interne et spécifique au fabricant vers KNX en utilisant une passerelle. Cela n'est pas une méthode habituelle, car un nombre considérable de fabricants de HVAC permettent à leurs installations de communiquer au moyen de systèmes de bus propriétaires.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solution plus courante sur ce marché est d'utiliser des cartes d'extension internes, qui fonctionnent comme un module d'extension dans l'installation concernée et rendent la connexion à KNX possible. Dans les deux cas, le chauffage est intégré à ETS comme un produit.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a:solidFill>
                  <a:schemeClr val="tx1"/>
                </a:solidFill>
                <a:effectLst/>
                <a:latin typeface="Arial" charset="0"/>
                <a:ea typeface="+mn-ea"/>
                <a:cs typeface="+mn-cs"/>
              </a:rPr>
              <a:t>Illustration 34 : Connexion via une passerelle KNX</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35</a:t>
            </a:fld>
            <a:endParaRPr lang="en-US"/>
          </a:p>
        </p:txBody>
      </p:sp>
    </p:spTree>
    <p:extLst>
      <p:ext uri="{BB962C8B-B14F-4D97-AF65-F5344CB8AC3E}">
        <p14:creationId xmlns:p14="http://schemas.microsoft.com/office/powerpoint/2010/main" val="36567302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Connexion par un contrôleur externe de chauffage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autre approche est la possibilité de contrôler le chauffage au moyen d'une unité centrale. L'on trouve deux approches sur le marché. L'une des possibilités est de connecter les capteurs de température ambiante, les vannes de régulation, etc. à l'unité de contrôle via KNX. Cela signifie qu'un thermostat d'ambiance KNX ou un capteur de température envoie ses informations à l'unité de contrôle, qui traite ces dernières et déclenche une réaction. Dans le cas d'un contrôle de chauffage, un signal peut être envoyé aux vannes de régulation et la température de flux de la chaudière peut aussi être influencée par une sortie analogique et/ou numérique. Il est également possible d'activer ou de désactiver les pompes de circulation et d'ouvrir ou de fermer les mélangeurs. Une autre possibilité est de contrôler différents circuits de chauffage et d'intégrer des capteurs de température pour le départ et le retour.</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35 : Connexion via un contrôleur central externe</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36</a:t>
            </a:fld>
            <a:endParaRPr lang="en-US"/>
          </a:p>
        </p:txBody>
      </p:sp>
    </p:spTree>
    <p:extLst>
      <p:ext uri="{BB962C8B-B14F-4D97-AF65-F5344CB8AC3E}">
        <p14:creationId xmlns:p14="http://schemas.microsoft.com/office/powerpoint/2010/main" val="2509988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Arial" charset="0"/>
                <a:ea typeface="+mn-ea"/>
                <a:cs typeface="+mn-cs"/>
              </a:rPr>
              <a:t>Une solution alternative est de connecter des capteurs spécifiques au fabricant à l'unité de contrôle, lesquels ne sont pas configurés ou mis en service sur ETS. Ils peuvent par ex. utiliser le média de transmission KNX indiqué, tel que TP ou RF. Le processus de mise en service utilisé dans un tel cas est appelé le mode LTE (Logical Tag Extended = tag logique étendu). Cette solution fonctionne sans utiliser de PC et ne nécessite donc aucune connaissance spécifique sur KNX ; pour cette raison, elle est également adaptée pour les installateurs HVAC ou les installeurs depuis un PC distant. Pour la mise en service, seuls les produits qui doivent communiquer entre eux sont regroupés dans une connexion logique ou dans des zones au niveau du matériel. Après la programmation, ils échangent automatiquement la date et les formats prédéfinis par le fabricant. Dans la plupart des cas, la fonction attribuée est spécifique au produit, ou peut être définie par ex. depuis les menus affichés à l'écran. Le mode de contrôle peut également être modifié. La communication envoyée en direction de la chaudière fonctionne comme décrit précédemment, au moyen de sorties numériques et/ou analogiques, etc. À la place du mode LTE, les produits peuvent aussi être configurés et programmés comme habituellement en utilisant le S-mode en ETS.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a:solidFill>
                  <a:schemeClr val="tx1"/>
                </a:solidFill>
                <a:effectLst/>
                <a:latin typeface="Arial" charset="0"/>
                <a:ea typeface="+mn-ea"/>
                <a:cs typeface="+mn-cs"/>
              </a:rPr>
              <a:t>Illustration 36: Connexion via un contrôleur central externe en mode LTE</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37</a:t>
            </a:fld>
            <a:endParaRPr lang="en-US"/>
          </a:p>
        </p:txBody>
      </p:sp>
    </p:spTree>
    <p:extLst>
      <p:ext uri="{BB962C8B-B14F-4D97-AF65-F5344CB8AC3E}">
        <p14:creationId xmlns:p14="http://schemas.microsoft.com/office/powerpoint/2010/main" val="20793831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 ventilo-convecteur</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Introduction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terme "ventilo-convecteur" implique la présence d'un convecteur de soufflage, qui est habituellement utilisé pour refroidir les pièces. Il existe également des domaines d'application pour lesquels l'unité d'un ventilo-convecteur est également utilisée pour le chauffage ou la ventilation. Habituellement, une unité de ventilo-convecteur est composée d'un appareil de chauffage ou d'une batterie de refroidissement (serpentin) et d'un ventilateur. La puissance de refroidissement ou de chauffage nécessaire dans la pièce concernée est toutefois produite de manière centralisée. Elle est ensuite acheminée dans l'ensemble du bâtiment au moyen de systèmes de tuyaux, et chaque unité y accède lorsqu'elle en a besoin.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 général, une unité de ventilo-convecteur est installée dans chaque pièce et prend en charge le contrôle de la température à assurer. L'un des avantages de cette technologie est que l'énergie thermique ou la puissance de refroidissement sont disponibles rapidement. C'est pour cette raison que cette technologie est courante dans les hôtels ou les immeubles de bureaux, par exemple. Elle est contrôlée à l'aide d'un thermostat d'ambiance, selon les processus de contrôle précédemment décrits.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ventilo-convecteurs existent en différents styles, par ex. des produits à fixer aux murs ou au plafond, ou à intégrer dans des boîtes de sol.</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fr-FR" sz="1200" b="1" kern="1200">
                <a:solidFill>
                  <a:schemeClr val="tx1"/>
                </a:solidFill>
                <a:effectLst/>
                <a:latin typeface="Arial" charset="0"/>
                <a:ea typeface="+mn-ea"/>
                <a:cs typeface="+mn-cs"/>
              </a:rPr>
              <a:t>Illustration 37: Fan coil styles: Source www.tca.ch, www.wolf-heiztechnik.ch</a:t>
            </a:r>
            <a:endParaRPr lang="es-ES" sz="1200" b="1" kern="1200" dirty="0">
              <a:solidFill>
                <a:schemeClr val="tx1"/>
              </a:solidFill>
              <a:effectLst/>
              <a:latin typeface="Arial" charset="0"/>
              <a:ea typeface="+mn-ea"/>
              <a:cs typeface="+mn-cs"/>
            </a:endParaRPr>
          </a:p>
          <a:p>
            <a:r>
              <a:rPr lang="fr-FR" sz="1200" b="1" kern="120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38 : Schéma bobine de ventilateur</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38</a:t>
            </a:fld>
            <a:endParaRPr lang="en-US"/>
          </a:p>
        </p:txBody>
      </p:sp>
    </p:spTree>
    <p:extLst>
      <p:ext uri="{BB962C8B-B14F-4D97-AF65-F5344CB8AC3E}">
        <p14:creationId xmlns:p14="http://schemas.microsoft.com/office/powerpoint/2010/main" val="16017713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Structure technique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système est basé sur le principe d'un média de transmission chauffé ou refroidi (généralement de l'eau) qui est acheminé au moyen d'une batterie. Un ventilateur situé derrière cette batterie souffle l'air à travers la batterie et le dirige ensuite dans la pièce afin de le réchauffer ou de le refroidir. La circulation de l'air dans la batterie (ou les batteries) permet de diffuser la température appropriée.</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39 : Structure d'un ventilo-convecteur</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 plus des composants de base, un récipient collecteur est généralement prévu pour récupérer toute eau de condensation qui pourrait se former dans l'unité du ventilo-convecteur (à cause du refroidissement), ou un filtre pour éliminer toutes les particules ou les polluants présents dans l'air.</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39</a:t>
            </a:fld>
            <a:endParaRPr lang="en-US"/>
          </a:p>
        </p:txBody>
      </p:sp>
    </p:spTree>
    <p:extLst>
      <p:ext uri="{BB962C8B-B14F-4D97-AF65-F5344CB8AC3E}">
        <p14:creationId xmlns:p14="http://schemas.microsoft.com/office/powerpoint/2010/main" val="38012186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Variantes de conception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unités de ventilo-convecteur sont disponibles dans différentes versions. Leur mode de fonctionnement est détaillé ci-dessous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Système à 4 tuyaux</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S'il faut refroidir une pièce, la vanne de régulation du circuit de refroidissement (en bleu) est ouverte et le média de transport peut circuler à travers la batterie. Le ventilateur se met en route en parallèle et commence à souffler de l'air dans la batterie. L'air pénètre ensuite grâce à l'échange de température correspondant, et est dirigé vers l'intérieur de la pièce.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système fonctionne de la même façon en mode chauffage. La vanne de régulation "refroidissement" est fermée et la vanne "chauffage" est ouverte. L'autre média de transmission circule ensuite dans la batterie de l'appareil de chauffage (en rouge) et l'air qui est soufflé est ainsi chauffé.</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C'est la raison pour laquelle il y a deux circuits totalement indépendants.</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40 : Structure de la version FCU à 4 tubes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Système à 3 tuyaux</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 principe, le système à 3 niveaux fonctionne de la même façon que le système à 4 niveaux. La principale différence de base est que les deux médias de transmission circulent à nouveau dans un même tuyau. Comme décrit précédemment, les deux batteries doivent avoir des alimentations séparées pour le chauffage et le refroidissement.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41 : Structure de la version FCU à 3 tubes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Système à 2 tuyaux</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système à 2 tuyaux a la même structure de base que les deux autres variantes. Nous avons toujours besoin d'une batterie pour que le média de transmission circule suffisamment, et d'un ventilateur pour que l'air puisse circuler dans la batterie. Cependant, une seule batterie est utilisée dans cette variante. Le média de transmission chauffé ou refroidi est acheminé dans cette batterie, et l'air devient ainsi plus chaud ou plus froid. Selon la saison, l'unité du ventilo-convecteur peut être utilisée pour le chauffage ou le refroidissement.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42: Structure de la version FCU 2 tubes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existe une modification supplémentaire de cette variante que l'on trouve plus fréquemment sur le marché : elle consiste à intégrer un chauffage d'appoint électrique dans l'unité du ventilo-convecteur. Dans ce cas, seul le média de transmission refroidi circule dans la batterie, et l'air est chauffé par le système de chauffage.</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40</a:t>
            </a:fld>
            <a:endParaRPr lang="en-US"/>
          </a:p>
        </p:txBody>
      </p:sp>
    </p:spTree>
    <p:extLst>
      <p:ext uri="{BB962C8B-B14F-4D97-AF65-F5344CB8AC3E}">
        <p14:creationId xmlns:p14="http://schemas.microsoft.com/office/powerpoint/2010/main" val="20606320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Intégration KNX </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Comme les unités de ventilo-convecteur n'ont pas d'interface intégrée KNX, chaque unité nécessite un actionneur de ventilo-convecteur pour être activée. Ces actionneurs disposent d'options de connexion différentes qui permettent de connecter les différents composants.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Cela comprend par ex. le déclenchement du ventilateur qui peut être mis en route à des vitesses différentes, et dont la vitesse peut également être augmentée. Dans ce cas, l'actionneur peut être utilisé comme un commutateur pas à pas traditionnel. Une autre possibilité est de prévoir plusieurs actionneurs qui peuvent mettre en route le ventilateur en continu.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vanne(s) peuvent être électrothermique(s) ou électromoteur(s). Il est possible de les déclencher par un contrôle à deux niveaux, ou encore par un contrôle PI à commutation ou continu. La majorité des actionneurs ont un contact de charge supplémentaire similaire à celui de la variante à 2 tuyaux, ce qui permet de connecter un chauffage d'appoint électrique. Des entrées binaires sont également intégrées dans l'actionneur pour contrôler le niveua de condensation ou un contact de fenêtre par exemple.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le thermostat d'ambiance met en évidence que la température actuelle mesurée dans la pièce est trop élevée ou trop basse par rapport à sa température de consigne, il envoie transmet une commande à l'unité de ventilo-convecteur. L'actionneur du ventilo-convecteur décide alors du mouvement de la vanne (ouverture ou fermeture) d'après le télégramme reçu et la valeur de contrôle envoyée, ainsi que de la vitesse à laquelle le ventilateur est mis en route.</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41</a:t>
            </a:fld>
            <a:endParaRPr lang="en-US"/>
          </a:p>
        </p:txBody>
      </p:sp>
    </p:spTree>
    <p:extLst>
      <p:ext uri="{BB962C8B-B14F-4D97-AF65-F5344CB8AC3E}">
        <p14:creationId xmlns:p14="http://schemas.microsoft.com/office/powerpoint/2010/main" val="275349856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s-ES" sz="1200" b="1" kern="1200">
                <a:solidFill>
                  <a:schemeClr val="tx1"/>
                </a:solidFill>
                <a:effectLst/>
                <a:latin typeface="Arial" charset="0"/>
                <a:ea typeface="+mn-ea"/>
                <a:cs typeface="+mn-cs"/>
              </a:rPr>
              <a:t>Ventilateurs</a:t>
            </a:r>
          </a:p>
          <a:p>
            <a:r>
              <a:rPr lang="en-GB" sz="1200" kern="1200">
                <a:solidFill>
                  <a:schemeClr val="tx1"/>
                </a:solidFill>
                <a:effectLst/>
                <a:latin typeface="Arial" charset="0"/>
                <a:ea typeface="+mn-ea"/>
                <a:cs typeface="+mn-cs"/>
              </a:rPr>
              <a:t>Le contrôle de la vitesse du ventilateur connecté peut être réglé de deux façons différentes dans les paramètres, selon sa conception technique.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l'exemple pris ici, le ventilateur a 3 vitesses. Si le ventilateur nécessite une bobine pour chaque vitesse, il doit être connecté selon le modèle suivant.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Tableau 13 : Modèle de bobine ventilateur avec bobine pour chaque vitesse</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L'actionneur ne déclenchera jamais deux vitesses en même temps pour éviter de causer tout dommage au ventilateur. Un retard prédéfini entre les vitesses est automatiquement respecté.</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le ventilateur a une bobine, il ne faut pas appliquer le modèle précédemment décrit mais mettre en route le ventilateur progressivement.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Tableau 14 : Modèle de ventilo-convecteur avec un serpentin toutes vitesses</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42</a:t>
            </a:fld>
            <a:endParaRPr lang="en-US"/>
          </a:p>
        </p:txBody>
      </p:sp>
    </p:spTree>
    <p:extLst>
      <p:ext uri="{BB962C8B-B14F-4D97-AF65-F5344CB8AC3E}">
        <p14:creationId xmlns:p14="http://schemas.microsoft.com/office/powerpoint/2010/main" val="41350718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Modes de fonctionnement</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contrôleurs de ventilo-convecteur peuvent fonctionner selon différents modes, comme décrit pour les autres variantes du contrôle individuel de la pièce. Les modes suivants sont disponibles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Mode confort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Mode veille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Réduction de nuit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Protection contre le gel / thermique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changement de mode de fonctionnement se fait au moyen d'objets de communication. Comme nous l'avons déjà vu pour le contrôle individuel de la pièce, une température de base peut être définie avec une zone insensible entre chauffage et refroidissement. Il est également fait référence à une augmentation ou à une réduction de température.</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Les capteurs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capteurs tels que les détecteurs de présence, les interrupteurs horaires, les thermostats d'ambiance, les capteurs d'humidité, les contacts de fenêtres ou les capteurs d'eau de condensation, tout comme les entrées binaires ayant une influence sur le contrôle, peuvent soit communiquer directement via KNX avec l'actionneur du ventilo-convecteur par des adresses de groupe, soit être connectés directement à l'actionneur. Cela dépendra du produit concerné, par ex. s'il s'agit d'un actionneur simple ou d'une unité de contrôle intégrée.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43</a:t>
            </a:fld>
            <a:endParaRPr lang="en-US"/>
          </a:p>
        </p:txBody>
      </p:sp>
    </p:spTree>
    <p:extLst>
      <p:ext uri="{BB962C8B-B14F-4D97-AF65-F5344CB8AC3E}">
        <p14:creationId xmlns:p14="http://schemas.microsoft.com/office/powerpoint/2010/main" val="35554651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Intégration des systèmes de conditionnement d'air</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US" sz="1200" b="1" kern="1200">
                <a:solidFill>
                  <a:schemeClr val="tx1"/>
                </a:solidFill>
                <a:effectLst/>
                <a:latin typeface="Arial" charset="0"/>
                <a:ea typeface="+mn-ea"/>
                <a:cs typeface="+mn-cs"/>
              </a:rPr>
              <a:t>Introduction</a:t>
            </a:r>
            <a:endParaRPr lang="es-ES"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Du fait de l'utilisation de KNX dans différentes applications et de son haut niveau d'intégration, il est également particulièrement utile de se familiariser avec la connexion des climatiseurs à des systèmes KNX. Cela vaut tout particulièrement dans les zones climatiques où les températures sont plus élevées et où le chauffage est moins nécessaire. Cependant, le besoin de conditionnement d'air peut également être plus élevé dans les bâtiments constitués de verre, dans lesquels la température des pièces peut augmenter de manière significative en été. Dans les bâtiments équipés à la fois de systèmes de chauffage et de conditionnement d'air, l'on observe que ces systèmes sont souvent gérés séparément, parfois même par des personnes différentes. Dans une telle situation, pour éviter les approches conflictuelles, il est très utile d'intégrer tous les composants dans un système KNX. Cette solution vous permet d'éviter que le système de conditionnement d'air soit en train de refroidir pendant que dans le même temps, le chauffage tente de maintenir un niveau de température constant en chauffant la pièce en même temps. </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US" sz="1200" b="1" kern="1200">
                <a:solidFill>
                  <a:schemeClr val="tx1"/>
                </a:solidFill>
                <a:effectLst/>
                <a:latin typeface="Arial" charset="0"/>
                <a:ea typeface="+mn-ea"/>
                <a:cs typeface="+mn-cs"/>
              </a:rPr>
              <a:t>Conception technique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système de conditionnement d'air est nécessairement constitué de différents composants. Fondamentalement, il s'agit d'un média de refroidissement qui circule à travers un circuit dans des états agrégés variables. Un compresseur aspire le média gazeux et le liquéfie dans le condenseur. La liquéfaction du média de refroidissement produit de la chaleur, qui est libérée dans l'environnement. Cette chaleur doit être évacuée, soit à l'aide d'un ventilateur soit par le processus de convection. Ensuite le média liquide est acheminé vers l'évaporateur à travers une soupape. L'état agrégé change à nouveau, cette fois vers un état gazeux. Au cours de ce processus, le média est à nouveau modifié par la température de l'air ambiant. Cela provoque un refroidissement de sa température, et il sera alors pompé en direction de la pièce au moyen d'un système de ventilation, comme illustré dans l'exemple ci-dessous.</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43 : Conception technique d'un climatiseur</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44</a:t>
            </a:fld>
            <a:endParaRPr lang="en-US"/>
          </a:p>
        </p:txBody>
      </p:sp>
    </p:spTree>
    <p:extLst>
      <p:ext uri="{BB962C8B-B14F-4D97-AF65-F5344CB8AC3E}">
        <p14:creationId xmlns:p14="http://schemas.microsoft.com/office/powerpoint/2010/main" val="21716189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Intégration dans KNX</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Comme c'est souvent le cas dans l'univers KNX, le marché offre différentes approches d'intégration. En la matière, le modèle et la fabrication du climatiseur jouent un rôle déterminant. Le climatiseur communique soit au moyen d'un protocole propriétaire, soit au moyen d'une norme d'automatisation commune et interopérable : cela déterminera la structure de la passerelle vers KNX. Une autre différence majeure est le type de communication. Celle-ci peut être soit unidirectionnelle soit bidirectionnelle.</a:t>
            </a:r>
          </a:p>
          <a:p>
            <a:endParaRPr lang="en-GB" sz="1200" b="1" kern="1200" dirty="0">
              <a:solidFill>
                <a:schemeClr val="tx1"/>
              </a:solidFill>
              <a:effectLst/>
              <a:latin typeface="Arial" charset="0"/>
              <a:ea typeface="+mn-ea"/>
              <a:cs typeface="+mn-cs"/>
            </a:endParaRPr>
          </a:p>
          <a:p>
            <a:r>
              <a:rPr lang="en-US" sz="1200" b="1" kern="1200">
                <a:solidFill>
                  <a:schemeClr val="tx1"/>
                </a:solidFill>
                <a:effectLst/>
                <a:latin typeface="Arial" charset="0"/>
                <a:ea typeface="+mn-ea"/>
                <a:cs typeface="+mn-cs"/>
              </a:rPr>
              <a:t>Protocole propriétaire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le climatiseur est équipé d'une interface propriétaire (selon sa fabrication), l'intégration sera réalisée avec une passerelle sur mesure. Cela sera nécessaire car la structure du télégramme et son message ne sont pas publiés, et par conséquent pas disponibles. Il sera très difficile voire impossible de réaliser l'intégration sans disposer de ces informations contextuelles. La passerelle est donc livrée avec une application comprenant des objets de communication, des réglages de paramètres, etc.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p>
          <a:p>
            <a:r>
              <a:rPr lang="en-US" sz="1200" b="1" kern="1200">
                <a:solidFill>
                  <a:schemeClr val="tx1"/>
                </a:solidFill>
                <a:effectLst/>
                <a:latin typeface="Arial" charset="0"/>
                <a:ea typeface="+mn-ea"/>
                <a:cs typeface="+mn-cs"/>
              </a:rPr>
              <a:t>Passerelle vers un protocole d'automatisation ouvert</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Cependant, si le climatiseur doit être équipé d'une norme ouverte (par exemple: BACnet) il y a la possibilité de l’intégrer via une passerelle universelle. La passerelle devient ainsi un produit au sein du système KNX. En outre, une application est nécessaire pour connecter les composants des différents systèmes d'automatisation. Cela vous permet de réaliser une intégration de la partie KNX du système en utilisant ETS et les mécanismes classiques (à savoir le paramétrage, le déploiement, etc.). En plus de tout ça, vous aurez généralement besoin aussi d'un autre programme permettant de paramétrer et de programmer la partie non KNX du système.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44 : Intégration du climatiseur via la passerelle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Comme les climatiseurs actuellement présents sur le marché ne sont pas toujours équipés d'une interface KNX en mode natif, il est également utile de prendre en compte le type de communication utilisée.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45</a:t>
            </a:fld>
            <a:endParaRPr lang="en-US"/>
          </a:p>
        </p:txBody>
      </p:sp>
    </p:spTree>
    <p:extLst>
      <p:ext uri="{BB962C8B-B14F-4D97-AF65-F5344CB8AC3E}">
        <p14:creationId xmlns:p14="http://schemas.microsoft.com/office/powerpoint/2010/main" val="8728099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Communication unidirectionnelle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communication unidirectionnelle permet de communiquer seulement avec le climatiseur. Cette solution ne permet pas d'avoir un flux d'informations qui retourne vers KNX. Par conséquent, vous avez la possibilité de paramétrer la température et le nombre de rotations de votre ventilateur, mais vous ne pourrez recevoir aucune confirmation que cette action a été effectuée dans KNX.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Communication bidirectionnelle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communication bidirectionnelle vous permet à la fois d'envoyer et de recevoir des télégrammes dans les deux directions. Cela vous permettra aussi de pouvoir avoir un effet sur la performance, autrement dit le fonctionnement réel du climatiseur, et de recevoir un retour d'information du produit. Ce type d'intégration a l'avantage de collecter, traiter et enregistrer les informations concernant le processus et le fonctionnement de manière centralisée. L'intégration peut même aller jusqu'à enregistrer les messages d'erreurs, ce qui peut déclencher une réaction ou envoyer un message d'erreur.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L'intégration peut être réalisée au moyen des médias de transmission suivants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Infrarouge</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Paire torsadée</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Ethernet / IP</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RS232</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RS485</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46</a:t>
            </a:fld>
            <a:endParaRPr lang="en-US"/>
          </a:p>
        </p:txBody>
      </p:sp>
    </p:spTree>
    <p:extLst>
      <p:ext uri="{BB962C8B-B14F-4D97-AF65-F5344CB8AC3E}">
        <p14:creationId xmlns:p14="http://schemas.microsoft.com/office/powerpoint/2010/main" val="19978998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Gradation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contrôle d'un climatiseur suit la philosophie appliquée pour la régulation de la température de la pièce, comme cela a déjà été expliqué plus haut (cf. §2.1.3.1). Par conséquent, il est également possible de paramétrer le mode de fonctionnement en utilisant un objet (DPT 20.105). Comme vu précédemment, pour établir la régulation vous aurez besoin de deux composants : un capteur de température ambiante équipé d'un régulateur et d'une vanne. Dans ce cas, la vannee sert d'interface avec le climatiseur.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Vous pouvez à la fois réguler et gérer la température à l'aide du régulateur de température ambiante via KNX. En effectuant une comparaison entre la température définie et la température réelle, le régulateur de température ambiante décidera alors s'il doit chauffer ou refroidir. Par exemple, si votre température cible est définie à 19 °C et que la température actuelle est de 23 °C, cela signifierait que l'ouverture de la vanne du climatiseur serait élargie, alors que l'ouverture de la soupape du système de chauffage (si applicable) serait réduite. Cela permet au régulateur de température ambiante de réguler automatiquement la climatisation dans les deux sens. Il existe aussi la possibilité de changer de sens au moyen d'un objet de communication relié au commutateur d'un bouton-poussoir, un minuteur ou un élément similaire.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46: changement de paramètres entre le chauffage et le refroidissement</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47</a:t>
            </a:fld>
            <a:endParaRPr lang="en-US"/>
          </a:p>
        </p:txBody>
      </p:sp>
    </p:spTree>
    <p:extLst>
      <p:ext uri="{BB962C8B-B14F-4D97-AF65-F5344CB8AC3E}">
        <p14:creationId xmlns:p14="http://schemas.microsoft.com/office/powerpoint/2010/main" val="29254899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Arial" charset="0"/>
                <a:ea typeface="+mn-ea"/>
                <a:cs typeface="+mn-cs"/>
              </a:rPr>
              <a:t>Une autre possibilité est d'aussi centraliser le mécanisme de contrôle. Dans ce cas, un mécanisme de contrôle KNX sera intégré et prendra en charge le calcul des variables ainsi que l'ouverture et la fermeture réelles des vannes. Cette structure peut être composée d'une unité centrale et de plusieurs sous-unités. Les sorties et les fonctions sont mises en œuvre de la même manière que pour l’intégration d’une chaudière (cf. § 2.2.3), à la différence que les variables, commutateurs commandes, etc. activent un processus de refroidissement plutôt qu'un processus de chauffage.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Certains climatiseurs sont équipés d'un régulateur de température intégré. Dans un tel cas, il est possible de changer le mode de manière externe via KNX. Cette solution nécessite les informations suivantes : chauffage, refroidissement, etc. et la température réelle actuelle. Via KNX, vous pouvez également réguler la vitesse du ventilateur, mettre le produit en route, enclencher le mouvement des lattes ou envoyer un message d'erreur. La fonction appropriée peut être déclenchée depuis différents capteurs. La seule condition pour que cela fonctionne est soit d'avoir un KNX DTP de même type, soit d'effectuer une conversion à l'aide d'une fonction logique. </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Figure 47 : Objets de communication passerelle KNX</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48</a:t>
            </a:fld>
            <a:endParaRPr lang="en-US"/>
          </a:p>
        </p:txBody>
      </p:sp>
    </p:spTree>
    <p:extLst>
      <p:ext uri="{BB962C8B-B14F-4D97-AF65-F5344CB8AC3E}">
        <p14:creationId xmlns:p14="http://schemas.microsoft.com/office/powerpoint/2010/main" val="260685169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La ventilation</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US" sz="1200" b="1" kern="1200">
                <a:solidFill>
                  <a:schemeClr val="tx1"/>
                </a:solidFill>
                <a:effectLst/>
                <a:latin typeface="Arial" charset="0"/>
                <a:ea typeface="+mn-ea"/>
                <a:cs typeface="+mn-cs"/>
              </a:rPr>
              <a:t>Introduction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 raison des exigences croissantes en matière d'économies d'énergie, les nouveaux bâtiments doivent entre autres devenir de plus en plus hermétiques à l'air. Cela vise à limiter la perte d'énergie. Lorsque les bâtiments sont construits de cette façon, il devient nécessaire de prêter une plus grande attention au contrôle de leur aération et désaération. Du fait de la façon dont le bâtiment est construit, la ventilation naturelle est minimale, voire non existante. Cela nécessite alors de se préoccuper davantage de la qualité de l'air. Si l'on ne s'en occupe pas, cela peut entraîner des dommages significatifs pour les personnes et les bâtiments, en particulier lors de la propagation de champignons, de spores et de bactéries. Utiliser un système de ventilation automatisé permet également de se fixer un certain nombre d'objectifs, comme celui de ne pas dépasser une valeur prédéfinie d'émissions de CO², d'humidité, de température, etc.</a:t>
            </a:r>
            <a:endParaRPr lang="es-ES" sz="1200" kern="1200" dirty="0">
              <a:solidFill>
                <a:schemeClr val="tx1"/>
              </a:solidFill>
              <a:effectLst/>
              <a:latin typeface="Arial" charset="0"/>
              <a:ea typeface="+mn-ea"/>
              <a:cs typeface="+mn-cs"/>
            </a:endParaRPr>
          </a:p>
          <a:p>
            <a:pPr lvl="0"/>
            <a:endParaRPr lang="en-US" sz="1200" b="1" kern="1200" dirty="0">
              <a:solidFill>
                <a:schemeClr val="tx1"/>
              </a:solidFill>
              <a:effectLst/>
              <a:latin typeface="Arial" charset="0"/>
              <a:ea typeface="+mn-ea"/>
              <a:cs typeface="+mn-cs"/>
            </a:endParaRPr>
          </a:p>
          <a:p>
            <a:pPr lvl="0"/>
            <a:endParaRPr lang="en-US" sz="1200" b="1" kern="1200" dirty="0">
              <a:solidFill>
                <a:schemeClr val="tx1"/>
              </a:solidFill>
              <a:effectLst/>
              <a:latin typeface="Arial" charset="0"/>
              <a:ea typeface="+mn-ea"/>
              <a:cs typeface="+mn-cs"/>
            </a:endParaRPr>
          </a:p>
          <a:p>
            <a:pPr lvl="0"/>
            <a:r>
              <a:rPr lang="en-US" sz="1200" b="1" kern="1200">
                <a:solidFill>
                  <a:schemeClr val="tx1"/>
                </a:solidFill>
                <a:effectLst/>
                <a:latin typeface="Arial" charset="0"/>
                <a:ea typeface="+mn-ea"/>
                <a:cs typeface="+mn-cs"/>
              </a:rPr>
              <a:t>Conception technique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 principe, un système de ventilation peut être configuré de différentes façons. L'une des possibilités est d'utiliser une aération et une désaération étroitement contrôlées, si possible configurées avec une récupération de la chaleur perdue et une dérivation. Dans un tel cas, de l'air frais sera soufflé dans le bâtiment / les pièces par une station de ventilation centrale. D'un autre côté, l'air "usé" sera à son tour extrait et évacué. Si le système de ventilation est équipé d'une récupération de la chaleur perdue, un échangeur de chaleur à écoulement transversal permet d'extraire la chaleur de l'air évacué et de l'utiliser pour chauffer l'air "frais". Cette solution permet alors de réduire la consommation d'énergie. Un tel système permet de réutiliser le surplus d'énergie interne généré par l'éclairage, les ordinateurs, etc. pour le chauffage.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Comme ce processus vise à garder la chaleur à l'intérieur du bâtiment autant que possible, il est principalement utilisé pendant les périodes plus froides. Il existe toujours la possibilité que l'énergie récupérée (y compris le surplus d'énergie interne) soit insuffisante pour satisfaire les besoins en chauffage. Dans un tel cas, la température peut être augmentée en utilisant une pompe à chaleur ou un amortisseur de réchauffage électrique. Cependant pendant l'été, lors de l'évacuation de la chaleur, la procédure de récupération devra être contournée. Pour cela, une dérivation sera installée dans le système.</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48 : climatiseur avec récupération de chaleur des déchets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kern="1200">
                <a:solidFill>
                  <a:schemeClr val="tx1"/>
                </a:solidFill>
                <a:effectLst/>
                <a:latin typeface="Arial" charset="0"/>
                <a:ea typeface="+mn-ea"/>
                <a:cs typeface="+mn-cs"/>
              </a:rPr>
              <a:t>Dans les climats plus chauds, le système peut être conçu différemment, de façon à ce que l'énergie mise en œuvre pour le refroidissement reste dans le bâtiment le plus longtemps possible. Dans ce cas, le principe précédemment décrit est entièrement inversé. En effet dans ce cas il y aura également une unité centrale qui prendra en charge l'aération et la désaération afin d'atteindre la qualité d'air ou la température ambiante souhaitée. Cependant, l'air "usé" ainsi que l'énergie de refroidissement stockée (et l'humidité, si applicable) sera utilisée pour climatiser l'air entrant à l'aide d'un mécanisme de refroidissement. Au cours de ce processus, l'air entrant plus chaud sera climatisé du fait de la différence avec l'air sortant plus froid, et sera donc refroidi. Par exemple si une température d'air entrant de 30 °C est mélangée à une température d'air sortant de 21 °C, la température de l'air entrant peut être réduite (par ex. à 25 °C). La température de l'air entrant est maintenant réduite à 25°C, la source d'énergie supplémentaire n'a besoin que de réduire la température de 25°C à 21°C au lieu de 30° à 21°C. Le processus de refroidissement de la différence de température restante sera réalisé par d'autres unités de refroidissement en aval. Une fonctionnalité supplémentaire que l'on peut trouver est une dérivation, qui est par exemple utilisée pour le refroidissement pendant la nuit. Dans ce cas, si la température extérieure tombe en-deçà d'un certain seuil de température, cet air refroidi peut être soufflé à l'intérieur d'un bâtiment dans lequel la température est trop élevée, et ce sans utiliser beaucoup d'énergie. Cette solution implique que le bâtiment est refroidi naturellement c'est à dire sans climatisation préalable de l'air, puisque celui-ci est déjà à la température souhaitée.</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49 : Diagramme climatiseur avec récupération de refroidissement</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49</a:t>
            </a:fld>
            <a:endParaRPr lang="en-US"/>
          </a:p>
        </p:txBody>
      </p:sp>
    </p:spTree>
    <p:extLst>
      <p:ext uri="{BB962C8B-B14F-4D97-AF65-F5344CB8AC3E}">
        <p14:creationId xmlns:p14="http://schemas.microsoft.com/office/powerpoint/2010/main" val="291630551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kern="1200">
                <a:solidFill>
                  <a:schemeClr val="tx1"/>
                </a:solidFill>
                <a:effectLst/>
                <a:latin typeface="Arial" charset="0"/>
                <a:ea typeface="+mn-ea"/>
                <a:cs typeface="+mn-cs"/>
              </a:rPr>
              <a:t>Une autre possibilité est d'opter pour une ventilation naturelle, sans utiliser d'ingénierie des systèmes. Dans ce cas, le processus de ventilation et/ou de refroidissement sera assuré en "ouvrant" ou en "fermant" manuellement des fenêtres ou des lucarnes. Cette "régulation" peut également être automatisée. Pour cela, les ouvertures correspondantes seront équipées et contrôlées par des moteurs.</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a:solidFill>
                  <a:schemeClr val="tx1"/>
                </a:solidFill>
                <a:effectLst/>
                <a:latin typeface="Arial" charset="0"/>
                <a:ea typeface="+mn-ea"/>
                <a:cs typeface="+mn-cs"/>
              </a:rPr>
              <a:t>Illustration 50 : Intégration du diagramme via la passerelle</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50</a:t>
            </a:fld>
            <a:endParaRPr lang="en-US"/>
          </a:p>
        </p:txBody>
      </p:sp>
    </p:spTree>
    <p:extLst>
      <p:ext uri="{BB962C8B-B14F-4D97-AF65-F5344CB8AC3E}">
        <p14:creationId xmlns:p14="http://schemas.microsoft.com/office/powerpoint/2010/main" val="385168985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Intégration avec KNX</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Idéalement, l'intégration avec KNX peut être réalisée avec une passerelle. L'on utilise donc un système de ventilation intégré et contrôlé dans le système KNX. La procédure est la même que pour une chaudière de chauffage ou un système de conditionnement d'air. Lorsqu'aucune passerelle n'est disponible, les produits sont souvent équipés d'entrées et de sorties analogiques ou numériques. Il est possible de les utiliser pour agir sur le fonctionnement.</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51 : Objets de communication ventilation mécanique naturelle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Avec la ventilation naturelle, le refroidissement naturel qui se produit la nuit est entre autres utilisé pour réduire le niveau de température. Comme vu précédemment, la ventilation de l'air sera assurée par l'ouverture et la fermeture des fenêtres et des lucarnes. Les réactions et le mouvement des moteurs dépendent de la transmission, par exemple, de données météorologiques ou de données de processus provenant d'une station météo ou de capteurs du même type.</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51</a:t>
            </a:fld>
            <a:endParaRPr lang="en-US"/>
          </a:p>
        </p:txBody>
      </p:sp>
    </p:spTree>
    <p:extLst>
      <p:ext uri="{BB962C8B-B14F-4D97-AF65-F5344CB8AC3E}">
        <p14:creationId xmlns:p14="http://schemas.microsoft.com/office/powerpoint/2010/main" val="19889391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a:solidFill>
                  <a:schemeClr val="tx1"/>
                </a:solidFill>
                <a:effectLst/>
                <a:latin typeface="Arial" charset="0"/>
                <a:ea typeface="+mn-ea"/>
                <a:cs typeface="+mn-cs"/>
              </a:rPr>
              <a:t>Illustration 52 : Schéma Ventilation mécanique naturelle</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52</a:t>
            </a:fld>
            <a:endParaRPr lang="en-US"/>
          </a:p>
        </p:txBody>
      </p:sp>
    </p:spTree>
    <p:extLst>
      <p:ext uri="{BB962C8B-B14F-4D97-AF65-F5344CB8AC3E}">
        <p14:creationId xmlns:p14="http://schemas.microsoft.com/office/powerpoint/2010/main" val="42772507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Les capteurs physiques</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capteur est un appareil qui mesure une quantité physique et convertit cette information en un signal lisible par un observateur ou un instrument. Par exemple, dans un thermomètre à mercure en verre, la dilatation et la contraction d'un liquide déterminent la température indiquée sur un tube en verre qui est étalonné. Un thermocouple convertit la température en une tension de sortie qui soit lisible par un voltmètre. Pour garantir leur précision, la plupart des capteurs sont étalonnés par rapport à des normes connues.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terme capteur physique est utilisé pour décrire la catégorie de capteurs qui mesurent des phénomènes physiques, tels que les conditions météorologiques (i. la température, la luminosité et/ou la position du soleil, les précipitations, le vent, le rayonnement solaire) ou la qualité de l'air (c.-à-d. CO</a:t>
            </a:r>
            <a:r>
              <a:rPr lang="en-GB" sz="1200" kern="1200" baseline="-25000">
                <a:solidFill>
                  <a:schemeClr val="tx1"/>
                </a:solidFill>
                <a:effectLst/>
                <a:latin typeface="Arial" charset="0"/>
                <a:ea typeface="+mn-ea"/>
                <a:cs typeface="+mn-cs"/>
              </a:rPr>
              <a:t>2</a:t>
            </a:r>
            <a:r>
              <a:rPr lang="en-GB" sz="1200" kern="1200">
                <a:solidFill>
                  <a:schemeClr val="tx1"/>
                </a:solidFill>
                <a:effectLst/>
                <a:latin typeface="Arial" charset="0"/>
                <a:ea typeface="+mn-ea"/>
                <a:cs typeface="+mn-cs"/>
              </a:rPr>
              <a:t> concentration, humidité, etc.).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plupart des capteurs KNX sont équipés de fonctions qui en font des appareils de mesure performants. Il peut s'agir de fonctions GPS, de mesures d'étalonnage, de définition d'hystérèse, de fonctions logiques, de fonctions de minutage, d'enregistrement de valeurs, de transmission de valeurs de seuil et/ou d'alerte, etc.</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53</a:t>
            </a:fld>
            <a:endParaRPr lang="en-US"/>
          </a:p>
        </p:txBody>
      </p:sp>
    </p:spTree>
    <p:extLst>
      <p:ext uri="{BB962C8B-B14F-4D97-AF65-F5344CB8AC3E}">
        <p14:creationId xmlns:p14="http://schemas.microsoft.com/office/powerpoint/2010/main" val="12915002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Les capteurs de conditions climatiques</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Le capteur de température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capteur physique le plus courant est le capteur de température. Il est largement utilisé comme un produit isolé ou intégré dans d'autres types de capteurs (par ex. des boutons-poussoirs ou des capteurs de luminosité). Il mesure la température actuelle et transmet cette information au bus. Sa sensibilité peut varier selon l'utilisation qui en est faite. Un capteur de température intégré à un processus chimique doit être plus précis (une sensibilité de 0,01 K peut même parfois être nécessaires) qu'un capteur de température utilisé dans un bâtiment résidentiel. </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53: Capteur de température autonome et capteur de température intégré dans un dispositif à bouton poussoir</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capteurs de température doivent être étalonnés avant leur première utilisation, c'est la raison pour laquelle une option d'étalonnage est disponible dans la plupart des programmes d'application. Cette option permet à l'utilisateur de définir un écart entre la valeur du capteur et celle du capteur de température standard externe.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valeur de la température est transmise au moyen d'un objet de groupe de 2 octets portant le codage 9.001, DPT_Value_Temp ou 9.002, DPT_Value_Tempd. Ces derniers ont une résolution respective de 0,01 °C et 0,01 K.</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54 : Objet de groupe dans ETS pour lire la valeur actuelle de la température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55: Réglage de l'écartement du capteur de température en ETS</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54</a:t>
            </a:fld>
            <a:endParaRPr lang="en-US"/>
          </a:p>
        </p:txBody>
      </p:sp>
    </p:spTree>
    <p:extLst>
      <p:ext uri="{BB962C8B-B14F-4D97-AF65-F5344CB8AC3E}">
        <p14:creationId xmlns:p14="http://schemas.microsoft.com/office/powerpoint/2010/main" val="9440909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 capteur de luminosité</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capteur de luminosité est un produit également largement utilisé qui mesure la valeur de la luminosité actuelle d'une zone et la transmet au bus. Ce type de produit est principalement utilisé pour la commutation ou la variation de circuits d'éclairage pour créer un cadre de vie agréable, mais aussi pour économiser de l'énergie. Il existe une grande variété de capteurs de luminosité. L'on peut les distinguer selon qu'ils sont utilisés à l'intérieur ou à l'extérieur. En outre, il existe des capteurs de luminosité qui non seulement mesurent la valeur de la luminosité, mais déterminent également la position du soleil. Cette fonction peut s'avérer très utile pour contrôler les stores des façades d'un bâtiment ou l'angle de suiveurs solaires, ce qui permet soit de contrôler correctement la protection solaire et le chauffage, soit de déclencher une production d'énergie plus élevée des panneaux solaires.</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56: Capteur de luminosité pour une utilisation externe et interne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valeur de luminosité se mesure et s'exprime en lux, et est transmise au moyen d'un objet de groupe de 2 octets portant le codage 9.004, DPT_Value_Lux, avec une résolution de 0,01 lux.</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57: Group Object in ETS for reading the current brightness value </a:t>
            </a:r>
            <a:endParaRPr lang="es-ES" sz="1200" b="1"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58: Contrôle aveugle en fonction de la position du soleil</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55</a:t>
            </a:fld>
            <a:endParaRPr lang="en-US"/>
          </a:p>
        </p:txBody>
      </p:sp>
    </p:spTree>
    <p:extLst>
      <p:ext uri="{BB962C8B-B14F-4D97-AF65-F5344CB8AC3E}">
        <p14:creationId xmlns:p14="http://schemas.microsoft.com/office/powerpoint/2010/main" val="40783927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 capteur de vent</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Cet instrument de mesure, qui est en fait l'un des principaux composants d'une station météo, joue un rôle essentiel pour mesure la vitesse du vent et la transmettre au bus, lequel traite cette information ensuite.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existe deux types différents de capteurs de vent KNX. Le premier type est "anémomètre à coupelles", dont le boîtier est similaire à celui d'un capteur de vent traditionnel, mais inclut un BCU pour la connexion au bus. Le deuxième type est le "boîtier compact" similaire à celui d'autres capteurs : ce type a l'avantage d'avoir un risque de dommage limité du fait de l'absence de pièces en mouvement. Ces deux types de boîtiers sont habituellement livrés avec leur système de chauffage intégré, qui les protège du gel pendant les périodes froides. Pour cela, une tension auxiliaire est nécessaire, qui peut être fournie par la sortie de tension auxiliaire d'une source d'alimentation KNX.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59: « Anémomètre à coupelle » et un capteur de vent « boîtier compact »</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valeur de la vitesse du vent se mesure et s'exprime en mètres par seconde, et est transmise au moyen d'un objet de groupe de 2 octets portant le codage 9.005, DPT_Value_Wsp, avec une résolution de 0,01 m/s.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60 : Un objet de groupe typique en ETS pour lire la valeur actuelle de la vitesse du vent </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56</a:t>
            </a:fld>
            <a:endParaRPr lang="en-US"/>
          </a:p>
        </p:txBody>
      </p:sp>
    </p:spTree>
    <p:extLst>
      <p:ext uri="{BB962C8B-B14F-4D97-AF65-F5344CB8AC3E}">
        <p14:creationId xmlns:p14="http://schemas.microsoft.com/office/powerpoint/2010/main" val="344595730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 capteur de précipitations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capteur de précipitations, que l'on appelle également un capteur de pluie, mesure la hauteur des précipitations et la transmet au bus, lequel traite cette information ensuite. Ce capteur peut être utilisé en combinaison avec des actionneurs de stores pour éviter que les toiles d'ombrage solaire ne soient mouillées ou endommagées, ou même avec un système d'irrigation qui peut être coupé pour économiser de l'eau.</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61 : Un capteur de pluie commun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hauteur des précipitations est généralement transmise au moyen d'un objet de groupe de 1 bit. Comme il n'y pas de type de point de données standard pour indiquer la pluie, l'on utilise le codage 1.005, DPT_Alarm.</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62 : Un objet de groupe typique en ETS pour la lecture de la détection des précipitations</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57</a:t>
            </a:fld>
            <a:endParaRPr lang="en-US"/>
          </a:p>
        </p:txBody>
      </p:sp>
    </p:spTree>
    <p:extLst>
      <p:ext uri="{BB962C8B-B14F-4D97-AF65-F5344CB8AC3E}">
        <p14:creationId xmlns:p14="http://schemas.microsoft.com/office/powerpoint/2010/main" val="268860145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 capteur de rayonnement solaire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Pour déterminer l'intensité du soleil, le capteur de rayonnement solaire mesure le niveau de chaleur.</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rayonnement actuel est mesuré en watts par mètre carré, et l'application la plus fréquente consiste à calculer l'apport d'énergie dans une certaine zone, en particulier sur une installation de panneaux solaires. Cela permet de calculer et d'utiliser l'énergie produite pendant une certaine période de temps.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existe deux types de capteurs de rayonnement solaire : le "capteur compact", produit compact comprenant le capteur dans son boîtier, et le "capteur modulaire", capteur destiné à être monté sur rail DIN ou au mur et pourvu d'une sonde externe.</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63 : Un capteur de rayonnement solaire compact et un capteur classique avec sonde externe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La valeur de rayonnement solaire est mesurée et exprimée en watt par mètre carré et est transmise en utilisant un Group Object de 2 octets avec l'encodage 9. 22, DPT_PowerDensity, qui a une résolution de 0,01 W/m</a:t>
            </a:r>
            <a:r>
              <a:rPr lang="en-GB" sz="1200" kern="1200" baseline="30000">
                <a:solidFill>
                  <a:schemeClr val="tx1"/>
                </a:solidFill>
                <a:effectLst/>
                <a:latin typeface="Arial" charset="0"/>
                <a:ea typeface="+mn-ea"/>
                <a:cs typeface="+mn-cs"/>
              </a:rPr>
              <a:t>2</a:t>
            </a:r>
            <a:r>
              <a:rPr lang="en-GB" sz="1200" kern="120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64 : Un objet de groupe typique en ETS pour la lecture de la valeur actuelle du rayonnement solaire</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58</a:t>
            </a:fld>
            <a:endParaRPr lang="en-US"/>
          </a:p>
        </p:txBody>
      </p:sp>
    </p:spTree>
    <p:extLst>
      <p:ext uri="{BB962C8B-B14F-4D97-AF65-F5344CB8AC3E}">
        <p14:creationId xmlns:p14="http://schemas.microsoft.com/office/powerpoint/2010/main" val="51155290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Produit combiné, station météo</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terme "station météo" est souvent utilisé par les fabricants pour décrire la possibilité de mesurer conjointement au moins trois phénomènes physiques différents par un seul produit. Une station météo fournit les mêmes options de mesure des capteurs physiques séparés, mais a l'avantage majeur d'intégrer plusieurs capteurs dans un même produit.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existe trois types différents de stations météo : la "station météo à coupelles", la "station météo compacte" et la "station météo modulaire". Dans le cas d'une "station météo modulaire", il est possible de connecter plusieurs capteurs PT1000.</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65: Station météo de la tasse, station météo compacte et station météo modulaire</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59</a:t>
            </a:fld>
            <a:endParaRPr lang="en-US"/>
          </a:p>
        </p:txBody>
      </p:sp>
    </p:spTree>
    <p:extLst>
      <p:ext uri="{BB962C8B-B14F-4D97-AF65-F5344CB8AC3E}">
        <p14:creationId xmlns:p14="http://schemas.microsoft.com/office/powerpoint/2010/main" val="65970272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Les capteurs de qualité de l'air</a:t>
            </a:r>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Termes et définitions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Différents termes qui sont utilisés pour indiquer les taux d'humidité sont fournies dans le tableau ci-dessous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Tableau 15 : Termes indiquant le niveau d'humidité, source: http://www.engineersgarage.com</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60</a:t>
            </a:fld>
            <a:endParaRPr lang="en-US"/>
          </a:p>
        </p:txBody>
      </p:sp>
    </p:spTree>
    <p:extLst>
      <p:ext uri="{BB962C8B-B14F-4D97-AF65-F5344CB8AC3E}">
        <p14:creationId xmlns:p14="http://schemas.microsoft.com/office/powerpoint/2010/main" val="186009283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capteur de concentration CO</a:t>
            </a:r>
            <a:r>
              <a:rPr lang="en-GB" sz="1200" b="1" kern="1200" baseline="-25000">
                <a:solidFill>
                  <a:schemeClr val="tx1"/>
                </a:solidFill>
                <a:effectLst/>
                <a:latin typeface="Arial" charset="0"/>
                <a:ea typeface="+mn-ea"/>
                <a:cs typeface="+mn-cs"/>
              </a:rPr>
              <a:t>2</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CO</a:t>
            </a:r>
            <a:r>
              <a:rPr lang="en-GB" sz="1200" kern="1200" baseline="-25000">
                <a:solidFill>
                  <a:schemeClr val="tx1"/>
                </a:solidFill>
                <a:effectLst/>
                <a:latin typeface="Arial" charset="0"/>
                <a:ea typeface="+mn-ea"/>
                <a:cs typeface="+mn-cs"/>
              </a:rPr>
              <a:t>2</a:t>
            </a:r>
            <a:r>
              <a:rPr lang="en-GB" sz="1200" kern="1200">
                <a:solidFill>
                  <a:schemeClr val="tx1"/>
                </a:solidFill>
                <a:effectLst/>
                <a:latin typeface="Arial" charset="0"/>
                <a:ea typeface="+mn-ea"/>
                <a:cs typeface="+mn-cs"/>
              </a:rPr>
              <a:t> capteur de concentration mesure la concentration de CO</a:t>
            </a:r>
            <a:r>
              <a:rPr lang="en-GB" sz="1200" kern="1200" baseline="-25000">
                <a:solidFill>
                  <a:schemeClr val="tx1"/>
                </a:solidFill>
                <a:effectLst/>
                <a:latin typeface="Arial" charset="0"/>
                <a:ea typeface="+mn-ea"/>
                <a:cs typeface="+mn-cs"/>
              </a:rPr>
              <a:t>2</a:t>
            </a:r>
            <a:r>
              <a:rPr lang="en-GB" sz="1200" kern="1200">
                <a:solidFill>
                  <a:schemeClr val="tx1"/>
                </a:solidFill>
                <a:effectLst/>
                <a:latin typeface="Arial" charset="0"/>
                <a:ea typeface="+mn-ea"/>
                <a:cs typeface="+mn-cs"/>
              </a:rPr>
              <a:t> dans une pièce et la transmet au bus. Il peut également recevoir une valeur externe de CO</a:t>
            </a:r>
            <a:r>
              <a:rPr lang="en-GB" sz="1200" kern="1200" baseline="-25000">
                <a:solidFill>
                  <a:schemeClr val="tx1"/>
                </a:solidFill>
                <a:effectLst/>
                <a:latin typeface="Arial" charset="0"/>
                <a:ea typeface="+mn-ea"/>
                <a:cs typeface="+mn-cs"/>
              </a:rPr>
              <a:t>2</a:t>
            </a:r>
            <a:r>
              <a:rPr lang="en-GB" sz="1200" kern="1200">
                <a:solidFill>
                  <a:schemeClr val="tx1"/>
                </a:solidFill>
                <a:effectLst/>
                <a:latin typeface="Arial" charset="0"/>
                <a:ea typeface="+mn-ea"/>
                <a:cs typeface="+mn-cs"/>
              </a:rPr>
              <a:t> via le bus et la traiter avec ses propres données pour calculer une valeur globale (valeur mixte, p. ex. moyenne de la pièce). La mesure de la concentration en CO</a:t>
            </a:r>
            <a:r>
              <a:rPr lang="en-GB" sz="1200" kern="1200" baseline="-25000">
                <a:solidFill>
                  <a:schemeClr val="tx1"/>
                </a:solidFill>
                <a:effectLst/>
                <a:latin typeface="Arial" charset="0"/>
                <a:ea typeface="+mn-ea"/>
                <a:cs typeface="+mn-cs"/>
              </a:rPr>
              <a:t>2</a:t>
            </a:r>
            <a:r>
              <a:rPr lang="en-GB" sz="1200" kern="1200">
                <a:solidFill>
                  <a:schemeClr val="tx1"/>
                </a:solidFill>
                <a:effectLst/>
                <a:latin typeface="Arial" charset="0"/>
                <a:ea typeface="+mn-ea"/>
                <a:cs typeface="+mn-cs"/>
              </a:rPr>
              <a:t> peut être très utile dans les zones surpeuplées, où la concentration en CO</a:t>
            </a:r>
            <a:r>
              <a:rPr lang="en-GB" sz="1200" kern="1200" baseline="-25000">
                <a:solidFill>
                  <a:schemeClr val="tx1"/>
                </a:solidFill>
                <a:effectLst/>
                <a:latin typeface="Arial" charset="0"/>
                <a:ea typeface="+mn-ea"/>
                <a:cs typeface="+mn-cs"/>
              </a:rPr>
              <a:t>2</a:t>
            </a:r>
            <a:r>
              <a:rPr lang="en-GB" sz="1200" kern="1200">
                <a:solidFill>
                  <a:schemeClr val="tx1"/>
                </a:solidFill>
                <a:effectLst/>
                <a:latin typeface="Arial" charset="0"/>
                <a:ea typeface="+mn-ea"/>
                <a:cs typeface="+mn-cs"/>
              </a:rPr>
              <a:t> peut atteindre des limites très élevées et où la ventilation doit être activée afin de rafraîchir l'air.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valeur de concentration de CO</a:t>
            </a:r>
            <a:r>
              <a:rPr lang="en-GB" sz="1200" kern="1200" baseline="-25000">
                <a:solidFill>
                  <a:schemeClr val="tx1"/>
                </a:solidFill>
                <a:effectLst/>
                <a:latin typeface="Arial" charset="0"/>
                <a:ea typeface="+mn-ea"/>
                <a:cs typeface="+mn-cs"/>
              </a:rPr>
              <a:t>2</a:t>
            </a:r>
            <a:r>
              <a:rPr lang="en-GB" sz="1200" kern="1200">
                <a:solidFill>
                  <a:schemeClr val="tx1"/>
                </a:solidFill>
                <a:effectLst/>
                <a:latin typeface="Arial" charset="0"/>
                <a:ea typeface="+mn-ea"/>
                <a:cs typeface="+mn-cs"/>
              </a:rPr>
              <a:t> est mesurée et exprimée en parties par million et est transmise à l'aide d'un objet de groupe de 2 octets avec le codage 9.008, DPT_Value_AirQuality, qui a une résolution de 0,01 ppm.</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66 : CO</a:t>
            </a:r>
            <a:r>
              <a:rPr lang="en-GB" sz="1200" b="1" kern="1200" baseline="-25000">
                <a:solidFill>
                  <a:schemeClr val="tx1"/>
                </a:solidFill>
                <a:effectLst/>
                <a:latin typeface="Arial" charset="0"/>
                <a:ea typeface="+mn-ea"/>
                <a:cs typeface="+mn-cs"/>
              </a:rPr>
              <a:t>2</a:t>
            </a:r>
            <a:r>
              <a:rPr lang="en-GB" sz="1200" b="1" kern="1200">
                <a:solidFill>
                  <a:schemeClr val="tx1"/>
                </a:solidFill>
                <a:effectLst/>
                <a:latin typeface="Arial" charset="0"/>
                <a:ea typeface="+mn-ea"/>
                <a:cs typeface="+mn-cs"/>
              </a:rPr>
              <a:t> capteur de concentration</a:t>
            </a:r>
            <a:endParaRPr lang="es-ES"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67 : Un objet groupe typique en ETS pour lire le CO</a:t>
            </a:r>
            <a:r>
              <a:rPr lang="en-GB" sz="1200" b="1" kern="1200" baseline="-25000">
                <a:solidFill>
                  <a:schemeClr val="tx1"/>
                </a:solidFill>
                <a:effectLst/>
                <a:latin typeface="Arial" charset="0"/>
                <a:ea typeface="+mn-ea"/>
                <a:cs typeface="+mn-cs"/>
              </a:rPr>
              <a:t>2</a:t>
            </a:r>
            <a:r>
              <a:rPr lang="en-GB" sz="1200" b="1" kern="1200">
                <a:solidFill>
                  <a:schemeClr val="tx1"/>
                </a:solidFill>
                <a:effectLst/>
                <a:latin typeface="Arial" charset="0"/>
                <a:ea typeface="+mn-ea"/>
                <a:cs typeface="+mn-cs"/>
              </a:rPr>
              <a:t> valeur de concentration</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61</a:t>
            </a:fld>
            <a:endParaRPr lang="en-US"/>
          </a:p>
        </p:txBody>
      </p:sp>
    </p:spTree>
    <p:extLst>
      <p:ext uri="{BB962C8B-B14F-4D97-AF65-F5344CB8AC3E}">
        <p14:creationId xmlns:p14="http://schemas.microsoft.com/office/powerpoint/2010/main" val="230428717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 capteur d'humidité</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capteur d'humidité est constitué d'un thermomètre et d'un hygromètre. Il sert à mesurer la température et l'humidité et à calculer le point de rosée. En réalité, mesurer l'humidité revient à déterminer la quantité de vapeur d'eau présente dans un gaz. Cela peut être un mélange de gaz comme l'air, ou du gaz pur comme l'azote ou l'argon. La quantité de vapeur d'eau de l'air peut avoir une influence sur le confort des personnes ainsi que pour de nombreux processus de fabrication industrielle. La présence de vapeur d'eau joue également un rôle dans différents processus physiques, chimiques et biologiques. La mesure de l'humidité est essentielle dans le secteur industriel, car l'humidité peut avoir une incidence sur le coût du produit ainsi que sur la santé et la sécurité du personnel. La détection de l'humidité est donc très importante, en particulier dans le cadre de systèmes de contrôle pour des processus industriels et pour assurer le confort des personnes. Pour les applications dans les maisons, le contrôle de l'humidité vise à assurer un cadre de vie agréable dans les bâtiments et à indiquer les niveaux d'humidité de cet l'environnement.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capteurs d'humidité KNX peuvent également recevoir des valeurs mesurées en externe par l'intermédiaire du bus, et les croiser avec leurs propres données pour pouvoir calculer une valeur globale de température et d'humidité (valeurs mixtes).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68 : Capteurs d'humidité pour une utilisation intérieure et extérieure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valeur de l'humidité se mesure et s'exprime en pourcentage, et est transmise au moyen d'un objet de groupe de 2 octets portant le codage 9.007, DPT_Value_Humidity, avec une résolution de 0,01 %.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69 : Un objet de groupe typique en ETS pour lire la valeur actuelle de l'humidité </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62</a:t>
            </a:fld>
            <a:endParaRPr lang="en-US"/>
          </a:p>
        </p:txBody>
      </p:sp>
    </p:spTree>
    <p:extLst>
      <p:ext uri="{BB962C8B-B14F-4D97-AF65-F5344CB8AC3E}">
        <p14:creationId xmlns:p14="http://schemas.microsoft.com/office/powerpoint/2010/main" val="21195087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EVEL 1">
    <p:spTree>
      <p:nvGrpSpPr>
        <p:cNvPr id="1" name=""/>
        <p:cNvGrpSpPr/>
        <p:nvPr/>
      </p:nvGrpSpPr>
      <p:grpSpPr>
        <a:xfrm>
          <a:off x="0" y="0"/>
          <a:ext cx="0" cy="0"/>
          <a:chOff x="0" y="0"/>
          <a:chExt cx="0" cy="0"/>
        </a:xfrm>
      </p:grpSpPr>
      <p:pic>
        <p:nvPicPr>
          <p:cNvPr id="6" name="Picture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27663" y="4630738"/>
            <a:ext cx="3443287"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hasCustomPrompt="1"/>
          </p:nvPr>
        </p:nvSpPr>
        <p:spPr>
          <a:xfrm>
            <a:off x="447675" y="2122715"/>
            <a:ext cx="6890657" cy="996042"/>
          </a:xfrm>
        </p:spPr>
        <p:txBody>
          <a:bodyPr/>
          <a:lstStyle>
            <a:lvl1pPr algn="l">
              <a:defRPr sz="2800" baseline="0">
                <a:latin typeface="Gotham Medium"/>
              </a:defRPr>
            </a:lvl1pPr>
          </a:lstStyle>
          <a:p>
            <a:r>
              <a:rPr lang="en-US" dirty="0"/>
              <a:t>&lt;&lt;Main Title&gt;&gt;</a:t>
            </a:r>
          </a:p>
        </p:txBody>
      </p:sp>
      <p:sp>
        <p:nvSpPr>
          <p:cNvPr id="3" name="Subtitle 2"/>
          <p:cNvSpPr>
            <a:spLocks noGrp="1"/>
          </p:cNvSpPr>
          <p:nvPr>
            <p:ph type="subTitle" idx="1" hasCustomPrompt="1"/>
          </p:nvPr>
        </p:nvSpPr>
        <p:spPr>
          <a:xfrm>
            <a:off x="447675" y="3393054"/>
            <a:ext cx="4343400" cy="481693"/>
          </a:xfrm>
        </p:spPr>
        <p:txBody>
          <a:bodyPr/>
          <a:lstStyle>
            <a:lvl1pPr marL="0" indent="0" algn="l">
              <a:buNone/>
              <a:defRPr sz="200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2489093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LEVEL 2">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2" name="Content Placeholder 2"/>
          <p:cNvSpPr>
            <a:spLocks noGrp="1"/>
          </p:cNvSpPr>
          <p:nvPr>
            <p:ph idx="1"/>
          </p:nvPr>
        </p:nvSpPr>
        <p:spPr>
          <a:xfrm>
            <a:off x="457200" y="1911010"/>
            <a:ext cx="8229600" cy="4089740"/>
          </a:xfrm>
        </p:spPr>
        <p:txBody>
          <a:bodyPr/>
          <a:lstStyle>
            <a:lvl1pPr>
              <a:defRPr sz="2000">
                <a:latin typeface="Gotham Light"/>
              </a:defRPr>
            </a:lvl1pPr>
            <a:lvl2pPr>
              <a:defRPr sz="1800">
                <a:latin typeface="Gotham Light"/>
              </a:defRPr>
            </a:lvl2pPr>
            <a:lvl3pPr>
              <a:defRPr sz="1500">
                <a:latin typeface="Gotham Light"/>
              </a:defRPr>
            </a:lvl3pPr>
            <a:lvl4pPr>
              <a:defRPr sz="1500">
                <a:latin typeface="Gotham Light"/>
              </a:defRPr>
            </a:lvl4pPr>
            <a:lvl5pPr>
              <a:defRPr sz="1500">
                <a:latin typeface="Gotham Ligh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8635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LEVEL 3">
    <p:spTree>
      <p:nvGrpSpPr>
        <p:cNvPr id="1" name=""/>
        <p:cNvGrpSpPr/>
        <p:nvPr/>
      </p:nvGrpSpPr>
      <p:grpSpPr>
        <a:xfrm>
          <a:off x="0" y="0"/>
          <a:ext cx="0" cy="0"/>
          <a:chOff x="0" y="0"/>
          <a:chExt cx="0" cy="0"/>
        </a:xfrm>
      </p:grpSpPr>
      <p:sp>
        <p:nvSpPr>
          <p:cNvPr id="5"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6"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7"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1"/>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9" name="Title 1"/>
          <p:cNvSpPr txBox="1">
            <a:spLocks/>
          </p:cNvSpPr>
          <p:nvPr/>
        </p:nvSpPr>
        <p:spPr bwMode="auto">
          <a:xfrm>
            <a:off x="690563" y="3148013"/>
            <a:ext cx="688975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lgn="l" defTabSz="457200" rtl="0" eaLnBrk="0" fontAlgn="base" hangingPunct="0">
              <a:spcBef>
                <a:spcPct val="0"/>
              </a:spcBef>
              <a:spcAft>
                <a:spcPct val="0"/>
              </a:spcAft>
              <a:buFont typeface="Wingdings" panose="05000000000000000000" pitchFamily="2" charset="2"/>
              <a:buChar char="§"/>
              <a:defRPr sz="2500" kern="1200">
                <a:solidFill>
                  <a:schemeClr val="tx1"/>
                </a:solidFill>
                <a:latin typeface="Gotham Medium"/>
                <a:ea typeface="MS PGothic" panose="020B0600070205080204" pitchFamily="34" charset="-128"/>
                <a:cs typeface="MS PGothic" charset="0"/>
              </a:defRPr>
            </a:lvl1pPr>
            <a:lvl2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a:lstStyle>
          <a:p>
            <a:pPr>
              <a:defRPr/>
            </a:pPr>
            <a:r>
              <a:rPr lang="es-ES_tradnl" dirty="0" err="1"/>
              <a:t>Title</a:t>
            </a:r>
            <a:r>
              <a:rPr lang="es-ES_tradnl" dirty="0"/>
              <a:t> 2 </a:t>
            </a:r>
            <a:r>
              <a:rPr lang="en-US" dirty="0"/>
              <a:t>&lt;&lt;e.g. agenda point&gt;&gt;</a:t>
            </a:r>
          </a:p>
        </p:txBody>
      </p:sp>
      <p:sp>
        <p:nvSpPr>
          <p:cNvPr id="10" name="Subtitle 2"/>
          <p:cNvSpPr txBox="1">
            <a:spLocks/>
          </p:cNvSpPr>
          <p:nvPr/>
        </p:nvSpPr>
        <p:spPr bwMode="auto">
          <a:xfrm>
            <a:off x="936625" y="3867150"/>
            <a:ext cx="4343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defTabSz="457200" rtl="0" eaLnBrk="0" fontAlgn="base" hangingPunct="0">
              <a:spcBef>
                <a:spcPct val="20000"/>
              </a:spcBef>
              <a:spcAft>
                <a:spcPct val="0"/>
              </a:spcAft>
              <a:buFont typeface="Arial" panose="020B0604020202020204" pitchFamily="34" charset="0"/>
              <a:buNone/>
              <a:defRPr sz="1500" kern="1200">
                <a:solidFill>
                  <a:schemeClr val="tx1"/>
                </a:solidFill>
                <a:latin typeface="Gotham Light"/>
                <a:ea typeface="MS PGothic" panose="020B0600070205080204" pitchFamily="34" charset="-128"/>
                <a:cs typeface="MS PGothic" charset="0"/>
              </a:defRPr>
            </a:lvl1pPr>
            <a:lvl2pPr marL="457200" indent="0" algn="ctr" defTabSz="457200"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S PGothic" panose="020B0600070205080204" pitchFamily="34" charset="-128"/>
                <a:cs typeface="MS PGothic" charset="0"/>
              </a:defRPr>
            </a:lvl2pPr>
            <a:lvl3pPr marL="914400" indent="0" algn="ctr" defTabSz="457200"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S PGothic" panose="020B0600070205080204" pitchFamily="34" charset="-128"/>
                <a:cs typeface="MS PGothic" charset="0"/>
              </a:defRPr>
            </a:lvl3pPr>
            <a:lvl4pPr marL="13716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4pPr>
            <a:lvl5pPr marL="18288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&lt;&lt;subtitle&gt;&gt;</a:t>
            </a:r>
          </a:p>
        </p:txBody>
      </p:sp>
      <p:sp>
        <p:nvSpPr>
          <p:cNvPr id="16" name="Title 1"/>
          <p:cNvSpPr>
            <a:spLocks noGrp="1"/>
          </p:cNvSpPr>
          <p:nvPr>
            <p:ph type="ctrTitle" hasCustomPrompt="1"/>
          </p:nvPr>
        </p:nvSpPr>
        <p:spPr>
          <a:xfrm>
            <a:off x="690108" y="1449155"/>
            <a:ext cx="6890657" cy="719476"/>
          </a:xfrm>
        </p:spPr>
        <p:txBody>
          <a:bodyPr/>
          <a:lstStyle>
            <a:lvl1pPr marL="342900" indent="-342900" algn="l">
              <a:buFont typeface="Wingdings" panose="05000000000000000000" pitchFamily="2" charset="2"/>
              <a:buChar char="§"/>
              <a:defRPr sz="2500">
                <a:latin typeface="Gotham Medium"/>
              </a:defRPr>
            </a:lvl1pPr>
          </a:lstStyle>
          <a:p>
            <a:r>
              <a:rPr lang="en-US" dirty="0"/>
              <a:t>Title 1 &lt;&lt;e.g. agenda point&gt;&gt;</a:t>
            </a:r>
          </a:p>
        </p:txBody>
      </p:sp>
      <p:sp>
        <p:nvSpPr>
          <p:cNvPr id="17" name="Subtitle 2"/>
          <p:cNvSpPr>
            <a:spLocks noGrp="1"/>
          </p:cNvSpPr>
          <p:nvPr>
            <p:ph type="subTitle" idx="1" hasCustomPrompt="1"/>
          </p:nvPr>
        </p:nvSpPr>
        <p:spPr>
          <a:xfrm>
            <a:off x="936625" y="2168631"/>
            <a:ext cx="4343400" cy="481693"/>
          </a:xfrm>
        </p:spPr>
        <p:txBody>
          <a:bodyPr/>
          <a:lstStyle>
            <a:lvl1pPr marL="0" indent="0" algn="l">
              <a:buNone/>
              <a:defRPr sz="1500" baseline="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1134689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1 PICTURE">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6" name="Text Placeholder 15"/>
          <p:cNvSpPr>
            <a:spLocks noGrp="1"/>
          </p:cNvSpPr>
          <p:nvPr>
            <p:ph type="body" sz="quarter" idx="11" hasCustomPrompt="1"/>
          </p:nvPr>
        </p:nvSpPr>
        <p:spPr>
          <a:xfrm>
            <a:off x="784452" y="2376262"/>
            <a:ext cx="3668485" cy="644751"/>
          </a:xfrm>
        </p:spPr>
        <p:txBody>
          <a:bodyPr/>
          <a:lstStyle>
            <a:lvl1pPr algn="l" defTabSz="457200" rtl="0" eaLnBrk="1" fontAlgn="base" hangingPunct="1">
              <a:spcBef>
                <a:spcPct val="0"/>
              </a:spcBef>
              <a:spcAft>
                <a:spcPct val="0"/>
              </a:spcAft>
              <a:defRPr lang="en-US" sz="2800" kern="1200" dirty="0">
                <a:solidFill>
                  <a:srgbClr val="404040"/>
                </a:solidFill>
                <a:latin typeface="Gotham Medium" charset="0"/>
                <a:ea typeface="MS PGothic" panose="020B0600070205080204" pitchFamily="34" charset="-128"/>
                <a:cs typeface="+mn-cs"/>
              </a:defRPr>
            </a:lvl1pPr>
          </a:lstStyle>
          <a:p>
            <a:pPr lvl="0"/>
            <a:r>
              <a:rPr lang="en-US" dirty="0"/>
              <a:t>&lt;&lt;Headline&gt;&gt;</a:t>
            </a:r>
          </a:p>
        </p:txBody>
      </p:sp>
      <p:sp>
        <p:nvSpPr>
          <p:cNvPr id="18" name="Text Placeholder 17"/>
          <p:cNvSpPr>
            <a:spLocks noGrp="1"/>
          </p:cNvSpPr>
          <p:nvPr>
            <p:ph type="body" sz="quarter" idx="12" hasCustomPrompt="1"/>
          </p:nvPr>
        </p:nvSpPr>
        <p:spPr>
          <a:xfrm>
            <a:off x="1159693" y="3298825"/>
            <a:ext cx="3293244" cy="1330325"/>
          </a:xfrm>
        </p:spPr>
        <p:txBody>
          <a:bodyPr/>
          <a:lstStyle>
            <a:lvl1pPr marL="0" indent="0">
              <a:buNone/>
              <a:defRPr lang="en-US" sz="15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4452938" y="1927225"/>
            <a:ext cx="4691062" cy="3135313"/>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1042906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3 PICTURES">
    <p:spTree>
      <p:nvGrpSpPr>
        <p:cNvPr id="1" name=""/>
        <p:cNvGrpSpPr/>
        <p:nvPr/>
      </p:nvGrpSpPr>
      <p:grpSpPr>
        <a:xfrm>
          <a:off x="0" y="0"/>
          <a:ext cx="0" cy="0"/>
          <a:chOff x="0" y="0"/>
          <a:chExt cx="0" cy="0"/>
        </a:xfrm>
      </p:grpSpPr>
      <p:cxnSp>
        <p:nvCxnSpPr>
          <p:cNvPr id="12"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25"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26"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16" name="Text Placeholder 15"/>
          <p:cNvSpPr>
            <a:spLocks noGrp="1"/>
          </p:cNvSpPr>
          <p:nvPr>
            <p:ph type="body" sz="quarter" idx="11" hasCustomPrompt="1"/>
          </p:nvPr>
        </p:nvSpPr>
        <p:spPr>
          <a:xfrm>
            <a:off x="482600" y="1915316"/>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8" name="Text Placeholder 17"/>
          <p:cNvSpPr>
            <a:spLocks noGrp="1"/>
          </p:cNvSpPr>
          <p:nvPr>
            <p:ph type="body" sz="quarter" idx="12" hasCustomPrompt="1"/>
          </p:nvPr>
        </p:nvSpPr>
        <p:spPr>
          <a:xfrm>
            <a:off x="2563950" y="1761443"/>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6389688" y="1501099"/>
            <a:ext cx="2754312" cy="1402440"/>
          </a:xfrm>
        </p:spPr>
        <p:txBody>
          <a:bodyPr/>
          <a:lstStyle/>
          <a:p>
            <a:pPr lvl="0"/>
            <a:r>
              <a:rPr lang="en-US" noProof="0"/>
              <a:t>Click icon to add picture</a:t>
            </a:r>
            <a:endParaRPr lang="en-US" noProof="0" dirty="0"/>
          </a:p>
        </p:txBody>
      </p:sp>
      <p:sp>
        <p:nvSpPr>
          <p:cNvPr id="15" name="Text Placeholder 15"/>
          <p:cNvSpPr>
            <a:spLocks noGrp="1"/>
          </p:cNvSpPr>
          <p:nvPr>
            <p:ph type="body" sz="quarter" idx="14" hasCustomPrompt="1"/>
          </p:nvPr>
        </p:nvSpPr>
        <p:spPr>
          <a:xfrm>
            <a:off x="496212" y="358627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7" name="Text Placeholder 17"/>
          <p:cNvSpPr>
            <a:spLocks noGrp="1"/>
          </p:cNvSpPr>
          <p:nvPr>
            <p:ph type="body" sz="quarter" idx="15" hasCustomPrompt="1"/>
          </p:nvPr>
        </p:nvSpPr>
        <p:spPr>
          <a:xfrm>
            <a:off x="2577562" y="343240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19" name="Picture Placeholder 20"/>
          <p:cNvSpPr>
            <a:spLocks noGrp="1"/>
          </p:cNvSpPr>
          <p:nvPr>
            <p:ph type="pic" sz="quarter" idx="16"/>
          </p:nvPr>
        </p:nvSpPr>
        <p:spPr>
          <a:xfrm>
            <a:off x="6403300" y="3172060"/>
            <a:ext cx="2754312" cy="1402440"/>
          </a:xfrm>
        </p:spPr>
        <p:txBody>
          <a:bodyPr/>
          <a:lstStyle/>
          <a:p>
            <a:pPr lvl="0"/>
            <a:r>
              <a:rPr lang="en-US" noProof="0"/>
              <a:t>Click icon to add picture</a:t>
            </a:r>
            <a:endParaRPr lang="en-US" noProof="0" dirty="0"/>
          </a:p>
        </p:txBody>
      </p:sp>
      <p:sp>
        <p:nvSpPr>
          <p:cNvPr id="20" name="Text Placeholder 15"/>
          <p:cNvSpPr>
            <a:spLocks noGrp="1"/>
          </p:cNvSpPr>
          <p:nvPr>
            <p:ph type="body" sz="quarter" idx="17" hasCustomPrompt="1"/>
          </p:nvPr>
        </p:nvSpPr>
        <p:spPr>
          <a:xfrm>
            <a:off x="501653" y="528172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22" name="Text Placeholder 17"/>
          <p:cNvSpPr>
            <a:spLocks noGrp="1"/>
          </p:cNvSpPr>
          <p:nvPr>
            <p:ph type="body" sz="quarter" idx="18" hasCustomPrompt="1"/>
          </p:nvPr>
        </p:nvSpPr>
        <p:spPr>
          <a:xfrm>
            <a:off x="2583003" y="512785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3" name="Picture Placeholder 20"/>
          <p:cNvSpPr>
            <a:spLocks noGrp="1"/>
          </p:cNvSpPr>
          <p:nvPr>
            <p:ph type="pic" sz="quarter" idx="19"/>
          </p:nvPr>
        </p:nvSpPr>
        <p:spPr>
          <a:xfrm>
            <a:off x="6408741" y="4867510"/>
            <a:ext cx="2754312" cy="1402440"/>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667713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LARGE PICTURE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21" name="Picture Placeholder 20"/>
          <p:cNvSpPr>
            <a:spLocks noGrp="1"/>
          </p:cNvSpPr>
          <p:nvPr>
            <p:ph type="pic" sz="quarter" idx="13"/>
          </p:nvPr>
        </p:nvSpPr>
        <p:spPr>
          <a:xfrm>
            <a:off x="339726" y="1477053"/>
            <a:ext cx="8804274" cy="4835752"/>
          </a:xfrm>
        </p:spPr>
        <p:txBody>
          <a:bodyPr/>
          <a:lstStyle/>
          <a:p>
            <a:pPr lvl="0"/>
            <a:r>
              <a:rPr lang="en-US" noProof="0"/>
              <a:t>Click icon to add picture</a:t>
            </a:r>
            <a:endParaRPr lang="en-US" noProof="0" dirty="0"/>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808628" y="2020548"/>
            <a:ext cx="3293244" cy="1330325"/>
          </a:xfrm>
        </p:spPr>
        <p:txBody>
          <a:bodyPr/>
          <a:lstStyle>
            <a:lvl1pPr marL="0" indent="0">
              <a:buNone/>
              <a:defRPr lang="en-US" sz="18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Tree>
    <p:extLst>
      <p:ext uri="{BB962C8B-B14F-4D97-AF65-F5344CB8AC3E}">
        <p14:creationId xmlns:p14="http://schemas.microsoft.com/office/powerpoint/2010/main" val="1046509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IDEO AND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1984375" y="1466392"/>
            <a:ext cx="5511800" cy="444500"/>
          </a:xfrm>
        </p:spPr>
        <p:txBody>
          <a:bodyPr/>
          <a:lstStyle>
            <a:lvl1pPr marL="0" indent="0" algn="ctr">
              <a:buNone/>
              <a:defRPr sz="2000" baseline="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3016250" y="4998247"/>
            <a:ext cx="3787865" cy="658482"/>
          </a:xfrm>
        </p:spPr>
        <p:txBody>
          <a:bodyPr/>
          <a:lstStyle>
            <a:lvl1pPr marL="0" indent="0" algn="ctr">
              <a:buNone/>
              <a:defRPr lang="en-US" sz="1400" kern="1200" dirty="0" smtClean="0">
                <a:solidFill>
                  <a:schemeClr val="tx1">
                    <a:lumMod val="75000"/>
                    <a:lumOff val="25000"/>
                  </a:schemeClr>
                </a:solidFill>
                <a:latin typeface="Gotham Light"/>
                <a:ea typeface="+mn-ea"/>
                <a:cs typeface="Gotham Light"/>
              </a:defRPr>
            </a:lvl1pPr>
          </a:lstStyle>
          <a:p>
            <a:pPr lvl="0"/>
            <a:r>
              <a:rPr lang="en-US" dirty="0"/>
              <a:t>&lt;&lt;Description of media&gt;&gt;</a:t>
            </a:r>
          </a:p>
          <a:p>
            <a:pPr lvl="0"/>
            <a:r>
              <a:rPr lang="en-US" dirty="0"/>
              <a:t>&lt;&lt;caption&gt;&gt;</a:t>
            </a:r>
          </a:p>
        </p:txBody>
      </p:sp>
      <p:sp>
        <p:nvSpPr>
          <p:cNvPr id="3" name="Media Placeholder 2"/>
          <p:cNvSpPr>
            <a:spLocks noGrp="1"/>
          </p:cNvSpPr>
          <p:nvPr>
            <p:ph type="media" sz="quarter" idx="14"/>
          </p:nvPr>
        </p:nvSpPr>
        <p:spPr>
          <a:xfrm>
            <a:off x="1984375" y="2020888"/>
            <a:ext cx="5511800" cy="2863850"/>
          </a:xfrm>
        </p:spPr>
        <p:txBody>
          <a:bodyPr/>
          <a:lstStyle>
            <a:lvl1pPr>
              <a:defRPr/>
            </a:lvl1pPr>
          </a:lstStyle>
          <a:p>
            <a:pPr lvl="0"/>
            <a:r>
              <a:rPr lang="en-US" noProof="0"/>
              <a:t>Click icon to add media</a:t>
            </a:r>
            <a:endParaRPr lang="en-US" noProof="0" dirty="0"/>
          </a:p>
        </p:txBody>
      </p:sp>
    </p:spTree>
    <p:extLst>
      <p:ext uri="{BB962C8B-B14F-4D97-AF65-F5344CB8AC3E}">
        <p14:creationId xmlns:p14="http://schemas.microsoft.com/office/powerpoint/2010/main" val="3145434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pic>
        <p:nvPicPr>
          <p:cNvPr id="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063" y="5222875"/>
            <a:ext cx="146526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7"/>
          <p:cNvSpPr txBox="1">
            <a:spLocks noChangeArrowheads="1"/>
          </p:cNvSpPr>
          <p:nvPr/>
        </p:nvSpPr>
        <p:spPr bwMode="auto">
          <a:xfrm>
            <a:off x="263525" y="5962650"/>
            <a:ext cx="4224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r>
              <a:rPr lang="en-US" altLang="en-US" sz="1400">
                <a:solidFill>
                  <a:srgbClr val="404040"/>
                </a:solidFill>
                <a:latin typeface="Gotham Light" charset="0"/>
              </a:rPr>
              <a:t>Smart home and building solutions.</a:t>
            </a:r>
          </a:p>
          <a:p>
            <a:pPr eaLnBrk="1" hangingPunct="1"/>
            <a:r>
              <a:rPr lang="en-US" altLang="en-US" sz="1400">
                <a:solidFill>
                  <a:srgbClr val="404040"/>
                </a:solidFill>
                <a:latin typeface="Gotham Light" charset="0"/>
              </a:rPr>
              <a:t>Global. Secure. Connected.</a:t>
            </a:r>
          </a:p>
        </p:txBody>
      </p:sp>
      <p:pic>
        <p:nvPicPr>
          <p:cNvPr id="5" name="Picture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5663" y="4886325"/>
            <a:ext cx="2935287"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8"/>
          <p:cNvSpPr txBox="1"/>
          <p:nvPr/>
        </p:nvSpPr>
        <p:spPr>
          <a:xfrm>
            <a:off x="3205163" y="1665288"/>
            <a:ext cx="2565400" cy="769937"/>
          </a:xfrm>
          <a:prstGeom prst="rect">
            <a:avLst/>
          </a:prstGeom>
          <a:noFill/>
        </p:spPr>
        <p:txBody>
          <a:bodyPr>
            <a:spAutoFit/>
          </a:bodyPr>
          <a:ls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a:lstStyle>
          <a:p>
            <a:pPr algn="ctr" eaLnBrk="1" fontAlgn="auto" hangingPunct="1">
              <a:spcBef>
                <a:spcPts val="0"/>
              </a:spcBef>
              <a:spcAft>
                <a:spcPts val="0"/>
              </a:spcAft>
              <a:defRPr/>
            </a:pPr>
            <a:r>
              <a:rPr lang="en-US" sz="4400" dirty="0">
                <a:solidFill>
                  <a:schemeClr val="tx1">
                    <a:lumMod val="75000"/>
                    <a:lumOff val="25000"/>
                  </a:schemeClr>
                </a:solidFill>
                <a:latin typeface="Gotham Medium"/>
                <a:ea typeface="+mn-ea"/>
                <a:cs typeface="Gotham Medium"/>
              </a:rPr>
              <a:t>Thanks.</a:t>
            </a:r>
          </a:p>
        </p:txBody>
      </p:sp>
      <p:sp>
        <p:nvSpPr>
          <p:cNvPr id="9" name="Text Placeholder 8"/>
          <p:cNvSpPr>
            <a:spLocks noGrp="1"/>
          </p:cNvSpPr>
          <p:nvPr>
            <p:ph type="body" sz="quarter" idx="10" hasCustomPrompt="1"/>
          </p:nvPr>
        </p:nvSpPr>
        <p:spPr>
          <a:xfrm>
            <a:off x="2712131" y="2686050"/>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[Full name of presenter]</a:t>
            </a:r>
          </a:p>
          <a:p>
            <a:pPr algn="ctr" eaLnBrk="1" hangingPunct="1"/>
            <a:endParaRPr lang="en-US" altLang="en-US" sz="1400" dirty="0">
              <a:solidFill>
                <a:srgbClr val="404040"/>
              </a:solidFill>
              <a:latin typeface="Gotham Light" charset="0"/>
            </a:endParaRPr>
          </a:p>
        </p:txBody>
      </p:sp>
      <p:sp>
        <p:nvSpPr>
          <p:cNvPr id="11" name="Content Placeholder 10"/>
          <p:cNvSpPr>
            <a:spLocks noGrp="1"/>
          </p:cNvSpPr>
          <p:nvPr>
            <p:ph sz="quarter" idx="12" hasCustomPrompt="1"/>
          </p:nvPr>
        </p:nvSpPr>
        <p:spPr>
          <a:xfrm>
            <a:off x="2702606" y="2960345"/>
            <a:ext cx="3552825" cy="252639"/>
          </a:xfrm>
        </p:spPr>
        <p:txBody>
          <a:bodyPr/>
          <a:lstStyle>
            <a:lvl1pPr marL="0" indent="0" algn="ctr">
              <a:buNone/>
              <a:defRPr sz="1000" baseline="0">
                <a:latin typeface="Gotham Light"/>
              </a:defRPr>
            </a:lvl1pPr>
          </a:lstStyle>
          <a:p>
            <a:pPr lvl="0"/>
            <a:r>
              <a:rPr lang="en-US" dirty="0"/>
              <a:t>[Position of presenter]</a:t>
            </a:r>
          </a:p>
        </p:txBody>
      </p:sp>
      <p:sp>
        <p:nvSpPr>
          <p:cNvPr id="12" name="Text Placeholder 8"/>
          <p:cNvSpPr>
            <a:spLocks noGrp="1"/>
          </p:cNvSpPr>
          <p:nvPr>
            <p:ph type="body" sz="quarter" idx="13" hasCustomPrompt="1"/>
          </p:nvPr>
        </p:nvSpPr>
        <p:spPr>
          <a:xfrm>
            <a:off x="2717579" y="3311978"/>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[Phone number]</a:t>
            </a:r>
          </a:p>
          <a:p>
            <a:pPr algn="ctr" eaLnBrk="1" hangingPunct="1"/>
            <a:endParaRPr lang="en-US" altLang="en-US" sz="1400" dirty="0">
              <a:solidFill>
                <a:srgbClr val="404040"/>
              </a:solidFill>
              <a:latin typeface="Gotham Light" charset="0"/>
            </a:endParaRPr>
          </a:p>
        </p:txBody>
      </p:sp>
      <p:sp>
        <p:nvSpPr>
          <p:cNvPr id="14" name="Text Placeholder 8"/>
          <p:cNvSpPr>
            <a:spLocks noGrp="1"/>
          </p:cNvSpPr>
          <p:nvPr>
            <p:ph type="body" sz="quarter" idx="14" hasCustomPrompt="1"/>
          </p:nvPr>
        </p:nvSpPr>
        <p:spPr>
          <a:xfrm>
            <a:off x="2714860" y="3595006"/>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[Email]</a:t>
            </a:r>
          </a:p>
          <a:p>
            <a:pPr algn="ctr" eaLnBrk="1" hangingPunct="1"/>
            <a:endParaRPr lang="en-US" altLang="en-US" sz="1400" dirty="0">
              <a:solidFill>
                <a:srgbClr val="404040"/>
              </a:solidFill>
              <a:latin typeface="Gotham Light" charset="0"/>
            </a:endParaRPr>
          </a:p>
        </p:txBody>
      </p:sp>
      <p:sp>
        <p:nvSpPr>
          <p:cNvPr id="15" name="TextBox 12"/>
          <p:cNvSpPr txBox="1">
            <a:spLocks noChangeArrowheads="1"/>
          </p:cNvSpPr>
          <p:nvPr/>
        </p:nvSpPr>
        <p:spPr bwMode="auto">
          <a:xfrm>
            <a:off x="2717579" y="3998787"/>
            <a:ext cx="35514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US" altLang="en-US" sz="1400" dirty="0">
                <a:solidFill>
                  <a:srgbClr val="404040"/>
                </a:solidFill>
                <a:latin typeface="Gotham Light" charset="0"/>
              </a:rPr>
              <a:t>For general questions: </a:t>
            </a:r>
          </a:p>
          <a:p>
            <a:pPr algn="ctr" eaLnBrk="1" hangingPunct="1"/>
            <a:r>
              <a:rPr lang="en-US" altLang="en-US" sz="1400" dirty="0">
                <a:solidFill>
                  <a:srgbClr val="404040"/>
                </a:solidFill>
                <a:latin typeface="Gotham Light" charset="0"/>
              </a:rPr>
              <a:t>info@knx.org – www.knx.org</a:t>
            </a:r>
          </a:p>
        </p:txBody>
      </p:sp>
    </p:spTree>
    <p:extLst>
      <p:ext uri="{BB962C8B-B14F-4D97-AF65-F5344CB8AC3E}">
        <p14:creationId xmlns:p14="http://schemas.microsoft.com/office/powerpoint/2010/main" val="1377345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556791"/>
            <a:ext cx="8856984" cy="4751933"/>
          </a:xfrm>
          <a:prstGeom prst="rect">
            <a:avLst/>
          </a:prstGeom>
        </p:spPr>
        <p:txBody>
          <a:bodyPr/>
          <a:lstStyle>
            <a:lvl2pPr>
              <a:defRPr sz="1800"/>
            </a:lvl2pPr>
            <a:lvl3pPr>
              <a:defRPr sz="15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1746708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415927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8081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81264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401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295267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167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5792430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5108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776642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7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21070"/>
            <a:ext cx="8229600" cy="49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7"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pic>
        <p:nvPicPr>
          <p:cNvPr id="10" name="Imagen 21" descr="Worldmap.jpg"/>
          <p:cNvPicPr>
            <a:picLocks noChangeAspect="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482600" y="301718"/>
            <a:ext cx="11049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ector recto 20"/>
          <p:cNvCxnSpPr/>
          <p:nvPr/>
        </p:nvCxnSpPr>
        <p:spPr>
          <a:xfrm>
            <a:off x="0" y="1484784"/>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sp>
        <p:nvSpPr>
          <p:cNvPr id="14" name="TextBox 11"/>
          <p:cNvSpPr txBox="1">
            <a:spLocks noChangeArrowheads="1"/>
          </p:cNvSpPr>
          <p:nvPr/>
        </p:nvSpPr>
        <p:spPr bwMode="auto">
          <a:xfrm>
            <a:off x="8104188" y="6367462"/>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Tree>
    <p:extLst>
      <p:ext uri="{BB962C8B-B14F-4D97-AF65-F5344CB8AC3E}">
        <p14:creationId xmlns:p14="http://schemas.microsoft.com/office/powerpoint/2010/main" val="100049181"/>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770" r:id="rId18"/>
    <p:sldLayoutId id="2147483772" r:id="rId19"/>
  </p:sldLayoutIdLst>
  <p:txStyles>
    <p:titleStyle>
      <a:lvl1pPr algn="ctr" defTabSz="457200" rtl="0" eaLnBrk="1" fontAlgn="base" hangingPunct="1">
        <a:spcBef>
          <a:spcPct val="0"/>
        </a:spcBef>
        <a:spcAft>
          <a:spcPct val="0"/>
        </a:spcAft>
        <a:defRPr sz="2000" kern="1200">
          <a:solidFill>
            <a:schemeClr val="tx1"/>
          </a:solidFill>
          <a:latin typeface="Gotham Medium"/>
          <a:ea typeface="MS PGothic" panose="020B0600070205080204" pitchFamily="34" charset="-128"/>
          <a:cs typeface="Gotham Medium"/>
        </a:defRPr>
      </a:lvl1pPr>
      <a:lvl2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Gotham Light"/>
          <a:ea typeface="MS PGothic" panose="020B0600070205080204" pitchFamily="34" charset="-128"/>
          <a:cs typeface="Gotham Light"/>
        </a:defRPr>
      </a:lvl1pPr>
      <a:lvl2pPr marL="742950" indent="-285750" algn="l" defTabSz="457200" rtl="0" eaLnBrk="1" fontAlgn="base" hangingPunct="1">
        <a:spcBef>
          <a:spcPct val="20000"/>
        </a:spcBef>
        <a:spcAft>
          <a:spcPct val="0"/>
        </a:spcAft>
        <a:buFont typeface="Arial" panose="020B0604020202020204" pitchFamily="34" charset="0"/>
        <a:buChar char="–"/>
        <a:defRPr sz="1800" kern="1200">
          <a:solidFill>
            <a:schemeClr val="tx1"/>
          </a:solidFill>
          <a:latin typeface="Gotham Light"/>
          <a:ea typeface="MS PGothic" panose="020B0600070205080204" pitchFamily="34" charset="-128"/>
          <a:cs typeface="Gotham Light"/>
        </a:defRPr>
      </a:lvl2pPr>
      <a:lvl3pPr marL="11430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3pPr>
      <a:lvl4pPr marL="16002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4pPr>
      <a:lvl5pPr marL="20574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0.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image" Target="../media/image14.wmf"/><Relationship Id="rId5" Type="http://schemas.openxmlformats.org/officeDocument/2006/relationships/oleObject" Target="../embeddings/oleObject2.bin"/><Relationship Id="rId4" Type="http://schemas.openxmlformats.org/officeDocument/2006/relationships/image" Target="../media/image13.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6.xml"/><Relationship Id="rId1" Type="http://schemas.openxmlformats.org/officeDocument/2006/relationships/slideLayout" Target="../slideLayouts/slideLayout10.xml"/><Relationship Id="rId5" Type="http://schemas.openxmlformats.org/officeDocument/2006/relationships/image" Target="../media/image23.png"/><Relationship Id="rId4" Type="http://schemas.openxmlformats.org/officeDocument/2006/relationships/image" Target="../media/image22.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image" Target="../media/image24.wmf"/></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0.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4.xml"/><Relationship Id="rId1" Type="http://schemas.openxmlformats.org/officeDocument/2006/relationships/slideLayout" Target="../slideLayouts/slideLayout10.xml"/><Relationship Id="rId4" Type="http://schemas.openxmlformats.org/officeDocument/2006/relationships/image" Target="../media/image29.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25.xml"/><Relationship Id="rId1" Type="http://schemas.openxmlformats.org/officeDocument/2006/relationships/slideLayout" Target="../slideLayouts/slideLayout10.xml"/><Relationship Id="rId4" Type="http://schemas.openxmlformats.org/officeDocument/2006/relationships/image" Target="../media/image30.wmf"/></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10.xml"/><Relationship Id="rId5" Type="http://schemas.openxmlformats.org/officeDocument/2006/relationships/image" Target="../media/image34.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0.xml"/><Relationship Id="rId1" Type="http://schemas.openxmlformats.org/officeDocument/2006/relationships/slideLayout" Target="../slideLayouts/slideLayout10.xml"/><Relationship Id="rId5" Type="http://schemas.openxmlformats.org/officeDocument/2006/relationships/image" Target="../media/image47.png"/><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9.xml"/><Relationship Id="rId1" Type="http://schemas.openxmlformats.org/officeDocument/2006/relationships/slideLayout" Target="../slideLayouts/slideLayout10.xml"/><Relationship Id="rId4" Type="http://schemas.openxmlformats.org/officeDocument/2006/relationships/image" Target="../media/image53.png"/></Relationships>
</file>

<file path=ppt/slides/_rels/slide5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4.xml"/><Relationship Id="rId1" Type="http://schemas.openxmlformats.org/officeDocument/2006/relationships/slideLayout" Target="../slideLayouts/slideLayout10.xml"/><Relationship Id="rId5" Type="http://schemas.openxmlformats.org/officeDocument/2006/relationships/image" Target="../media/image59.png"/><Relationship Id="rId4" Type="http://schemas.openxmlformats.org/officeDocument/2006/relationships/image" Target="../media/image58.jpeg"/></Relationships>
</file>

<file path=ppt/slides/_rels/slide5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5.xml"/><Relationship Id="rId1" Type="http://schemas.openxmlformats.org/officeDocument/2006/relationships/slideLayout" Target="../slideLayouts/slideLayout10.xml"/><Relationship Id="rId5" Type="http://schemas.openxmlformats.org/officeDocument/2006/relationships/image" Target="../media/image62.jpeg"/><Relationship Id="rId4" Type="http://schemas.openxmlformats.org/officeDocument/2006/relationships/image" Target="../media/image61.jpeg"/></Relationships>
</file>

<file path=ppt/slides/_rels/slide5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6.xml"/><Relationship Id="rId1" Type="http://schemas.openxmlformats.org/officeDocument/2006/relationships/slideLayout" Target="../slideLayouts/slideLayout10.xml"/><Relationship Id="rId5" Type="http://schemas.openxmlformats.org/officeDocument/2006/relationships/image" Target="../media/image65.png"/><Relationship Id="rId4" Type="http://schemas.openxmlformats.org/officeDocument/2006/relationships/image" Target="../media/image64.jpeg"/></Relationships>
</file>

<file path=ppt/slides/_rels/slide5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7.xml"/><Relationship Id="rId1" Type="http://schemas.openxmlformats.org/officeDocument/2006/relationships/slideLayout" Target="../slideLayouts/slideLayout10.xml"/><Relationship Id="rId4" Type="http://schemas.openxmlformats.org/officeDocument/2006/relationships/image" Target="../media/image67.jpeg"/></Relationships>
</file>

<file path=ppt/slides/_rels/slide58.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58.xml"/><Relationship Id="rId1" Type="http://schemas.openxmlformats.org/officeDocument/2006/relationships/slideLayout" Target="../slideLayouts/slideLayout10.xml"/><Relationship Id="rId5" Type="http://schemas.openxmlformats.org/officeDocument/2006/relationships/image" Target="../media/image70.jpeg"/><Relationship Id="rId4" Type="http://schemas.openxmlformats.org/officeDocument/2006/relationships/image" Target="../media/image69.jpeg"/></Relationships>
</file>

<file path=ppt/slides/_rels/slide59.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59.xml"/><Relationship Id="rId1" Type="http://schemas.openxmlformats.org/officeDocument/2006/relationships/slideLayout" Target="../slideLayouts/slideLayout10.xml"/><Relationship Id="rId5" Type="http://schemas.openxmlformats.org/officeDocument/2006/relationships/image" Target="../media/image73.jpeg"/><Relationship Id="rId4" Type="http://schemas.openxmlformats.org/officeDocument/2006/relationships/image" Target="../media/image72.jpe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61.xml"/><Relationship Id="rId1" Type="http://schemas.openxmlformats.org/officeDocument/2006/relationships/slideLayout" Target="../slideLayouts/slideLayout10.xml"/><Relationship Id="rId4" Type="http://schemas.openxmlformats.org/officeDocument/2006/relationships/image" Target="../media/image75.jpeg"/></Relationships>
</file>

<file path=ppt/slides/_rels/slide62.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62.xml"/><Relationship Id="rId1" Type="http://schemas.openxmlformats.org/officeDocument/2006/relationships/slideLayout" Target="../slideLayouts/slideLayout10.xml"/><Relationship Id="rId5" Type="http://schemas.openxmlformats.org/officeDocument/2006/relationships/image" Target="../media/image78.jpeg"/><Relationship Id="rId4" Type="http://schemas.openxmlformats.org/officeDocument/2006/relationships/image" Target="../media/image7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4048-93B1-4D7E-924E-3B2609D395A8}"/>
              </a:ext>
            </a:extLst>
          </p:cNvPr>
          <p:cNvSpPr>
            <a:spLocks noGrp="1"/>
          </p:cNvSpPr>
          <p:nvPr>
            <p:ph type="ctrTitle"/>
          </p:nvPr>
        </p:nvSpPr>
        <p:spPr/>
        <p:txBody>
          <a:bodyPr/>
          <a:lstStyle/>
          <a:p>
            <a:r>
              <a:rPr lang="en-GB"/>
              <a:t>COURS AVANCÉ KNX</a:t>
            </a:r>
            <a:br>
              <a:rPr lang="en-GB"/>
            </a:br>
            <a:r>
              <a:rPr lang="en-GB" sz="2400"/>
              <a:t>Annex informative</a:t>
            </a:r>
            <a:endParaRPr lang="en-GB" sz="2400" b="0" dirty="0">
              <a:solidFill>
                <a:srgbClr val="0C4B9D"/>
              </a:solidFill>
              <a:latin typeface="+mn-lt"/>
              <a:ea typeface="+mn-ea"/>
              <a:cs typeface="+mn-cs"/>
            </a:endParaRPr>
          </a:p>
        </p:txBody>
      </p:sp>
      <p:sp>
        <p:nvSpPr>
          <p:cNvPr id="6" name="Subtitle 2">
            <a:extLst>
              <a:ext uri="{FF2B5EF4-FFF2-40B4-BE49-F238E27FC236}">
                <a16:creationId xmlns:a16="http://schemas.microsoft.com/office/drawing/2014/main" id="{36891D17-0544-4779-B232-7495C4C552DF}"/>
              </a:ext>
            </a:extLst>
          </p:cNvPr>
          <p:cNvSpPr>
            <a:spLocks noGrp="1"/>
          </p:cNvSpPr>
          <p:nvPr>
            <p:ph type="subTitle" idx="1"/>
          </p:nvPr>
        </p:nvSpPr>
        <p:spPr>
          <a:xfrm>
            <a:off x="468188" y="3447972"/>
            <a:ext cx="4607868" cy="1076325"/>
          </a:xfrm>
        </p:spPr>
        <p:txBody>
          <a:bodyPr/>
          <a:lstStyle/>
          <a:p>
            <a:r>
              <a:rPr lang="en-US" sz="2400" dirty="0" err="1"/>
              <a:t>Contrôle</a:t>
            </a:r>
            <a:r>
              <a:rPr lang="en-US" sz="2400" dirty="0"/>
              <a:t> CVC avec KNX</a:t>
            </a:r>
            <a:endParaRPr lang="en-GB" sz="2400" dirty="0"/>
          </a:p>
        </p:txBody>
      </p:sp>
    </p:spTree>
    <p:extLst>
      <p:ext uri="{BB962C8B-B14F-4D97-AF65-F5344CB8AC3E}">
        <p14:creationId xmlns:p14="http://schemas.microsoft.com/office/powerpoint/2010/main" val="2459807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Informations générales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a:ea typeface="Open Sans" panose="020B0606030504020204" pitchFamily="34" charset="0"/>
                <a:cs typeface="Open Sans" panose="020B0606030504020204" pitchFamily="34" charset="0"/>
              </a:rPr>
              <a:t>Objectif :  </a:t>
            </a:r>
            <a:r>
              <a:rPr lang="en-US" sz="2000" kern="0">
                <a:solidFill>
                  <a:schemeClr val="tx1"/>
                </a:solidFill>
                <a:ea typeface="Open Sans" panose="020B0606030504020204" pitchFamily="34" charset="0"/>
                <a:cs typeface="Open Sans" panose="020B0606030504020204" pitchFamily="34" charset="0"/>
              </a:rPr>
              <a:t>Toute zone doit avoir une température appropriée pour l'emplacement et l'activité</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1026" name="Picture 2">
            <a:extLst>
              <a:ext uri="{FF2B5EF4-FFF2-40B4-BE49-F238E27FC236}">
                <a16:creationId xmlns:a16="http://schemas.microsoft.com/office/drawing/2014/main" id="{1E901512-6CEC-445D-9924-EDE5836476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374" y="2657374"/>
            <a:ext cx="5420392" cy="3724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Group 15">
            <a:extLst>
              <a:ext uri="{FF2B5EF4-FFF2-40B4-BE49-F238E27FC236}">
                <a16:creationId xmlns:a16="http://schemas.microsoft.com/office/drawing/2014/main" id="{2F02BAA1-A6F5-4193-8FCE-ADD10DEA1F69}"/>
              </a:ext>
            </a:extLst>
          </p:cNvPr>
          <p:cNvGrpSpPr>
            <a:grpSpLocks/>
          </p:cNvGrpSpPr>
          <p:nvPr/>
        </p:nvGrpSpPr>
        <p:grpSpPr bwMode="auto">
          <a:xfrm>
            <a:off x="6632208" y="2174948"/>
            <a:ext cx="2219326" cy="2100769"/>
            <a:chOff x="6767870" y="1095853"/>
            <a:chExt cx="2406445" cy="2140786"/>
          </a:xfrm>
        </p:grpSpPr>
        <p:grpSp>
          <p:nvGrpSpPr>
            <p:cNvPr id="17" name="Group 4">
              <a:extLst>
                <a:ext uri="{FF2B5EF4-FFF2-40B4-BE49-F238E27FC236}">
                  <a16:creationId xmlns:a16="http://schemas.microsoft.com/office/drawing/2014/main" id="{DFB3A074-CE8C-4986-A691-88CC85051233}"/>
                </a:ext>
              </a:extLst>
            </p:cNvPr>
            <p:cNvGrpSpPr>
              <a:grpSpLocks/>
            </p:cNvGrpSpPr>
            <p:nvPr/>
          </p:nvGrpSpPr>
          <p:grpSpPr bwMode="auto">
            <a:xfrm>
              <a:off x="7118677" y="1698090"/>
              <a:ext cx="2055638" cy="1538549"/>
              <a:chOff x="6987083" y="1517537"/>
              <a:chExt cx="2055638" cy="1538549"/>
            </a:xfrm>
          </p:grpSpPr>
          <p:sp>
            <p:nvSpPr>
              <p:cNvPr id="19" name="Rectangle 18">
                <a:extLst>
                  <a:ext uri="{FF2B5EF4-FFF2-40B4-BE49-F238E27FC236}">
                    <a16:creationId xmlns:a16="http://schemas.microsoft.com/office/drawing/2014/main" id="{3CAF5626-9AD1-4CD3-8B49-37A1D5AF3D32}"/>
                  </a:ext>
                </a:extLst>
              </p:cNvPr>
              <p:cNvSpPr/>
              <p:nvPr/>
            </p:nvSpPr>
            <p:spPr>
              <a:xfrm>
                <a:off x="7838557" y="1517537"/>
                <a:ext cx="1204164" cy="646331"/>
              </a:xfrm>
              <a:prstGeom prst="rect">
                <a:avLst/>
              </a:prstGeom>
              <a:noFill/>
            </p:spPr>
            <p:txBody>
              <a:bodyPr>
                <a:spAutoFit/>
              </a:bodyPr>
              <a:lstStyle/>
              <a:p>
                <a:pPr algn="ctr">
                  <a:defRPr/>
                </a:pPr>
                <a:r>
                  <a:rPr lang="en-US" sz="3600" b="1">
                    <a:ln w="12700" cmpd="sng">
                      <a:solidFill>
                        <a:schemeClr val="accent4"/>
                      </a:solidFill>
                      <a:prstDash val="solid"/>
                    </a:ln>
                    <a:solidFill>
                      <a:schemeClr val="bg1">
                        <a:lumMod val="10000"/>
                      </a:schemeClr>
                    </a:solidFill>
                  </a:rPr>
                  <a:t>70%</a:t>
                </a:r>
              </a:p>
            </p:txBody>
          </p:sp>
          <p:sp>
            <p:nvSpPr>
              <p:cNvPr id="20" name="Rectangle 5">
                <a:extLst>
                  <a:ext uri="{FF2B5EF4-FFF2-40B4-BE49-F238E27FC236}">
                    <a16:creationId xmlns:a16="http://schemas.microsoft.com/office/drawing/2014/main" id="{F2F2395C-1374-4AC7-8DD5-161DCA5FB491}"/>
                  </a:ext>
                </a:extLst>
              </p:cNvPr>
              <p:cNvSpPr>
                <a:spLocks noChangeArrowheads="1"/>
              </p:cNvSpPr>
              <p:nvPr/>
            </p:nvSpPr>
            <p:spPr bwMode="auto">
              <a:xfrm>
                <a:off x="6987083" y="2348425"/>
                <a:ext cx="1868329" cy="707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defRPr/>
                </a:pPr>
                <a:r>
                  <a:rPr lang="en-GB" altLang="en-US" sz="2000" b="1">
                    <a:solidFill>
                      <a:schemeClr val="bg1">
                        <a:lumMod val="10000"/>
                      </a:schemeClr>
                    </a:solidFill>
                  </a:rPr>
                  <a:t>Chauffage et eau chaude</a:t>
                </a:r>
              </a:p>
            </p:txBody>
          </p:sp>
        </p:grpSp>
        <p:pic>
          <p:nvPicPr>
            <p:cNvPr id="18" name="Picture 16">
              <a:extLst>
                <a:ext uri="{FF2B5EF4-FFF2-40B4-BE49-F238E27FC236}">
                  <a16:creationId xmlns:a16="http://schemas.microsoft.com/office/drawing/2014/main" id="{607858CB-7B8F-419E-888E-C356E322FF8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67870" y="1095853"/>
              <a:ext cx="1587347" cy="1402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 name="Group 20">
            <a:extLst>
              <a:ext uri="{FF2B5EF4-FFF2-40B4-BE49-F238E27FC236}">
                <a16:creationId xmlns:a16="http://schemas.microsoft.com/office/drawing/2014/main" id="{DD959C58-6E5E-43D3-9E5B-809D00E17969}"/>
              </a:ext>
            </a:extLst>
          </p:cNvPr>
          <p:cNvGrpSpPr>
            <a:grpSpLocks/>
          </p:cNvGrpSpPr>
          <p:nvPr/>
        </p:nvGrpSpPr>
        <p:grpSpPr bwMode="auto">
          <a:xfrm>
            <a:off x="6727564" y="4305334"/>
            <a:ext cx="2123970" cy="2053084"/>
            <a:chOff x="6754052" y="3376830"/>
            <a:chExt cx="2284052" cy="2154249"/>
          </a:xfrm>
        </p:grpSpPr>
        <p:grpSp>
          <p:nvGrpSpPr>
            <p:cNvPr id="22" name="Group 24">
              <a:extLst>
                <a:ext uri="{FF2B5EF4-FFF2-40B4-BE49-F238E27FC236}">
                  <a16:creationId xmlns:a16="http://schemas.microsoft.com/office/drawing/2014/main" id="{7D18E5E7-8B5F-496D-87A8-1F39956D6E95}"/>
                </a:ext>
              </a:extLst>
            </p:cNvPr>
            <p:cNvGrpSpPr>
              <a:grpSpLocks/>
            </p:cNvGrpSpPr>
            <p:nvPr/>
          </p:nvGrpSpPr>
          <p:grpSpPr bwMode="auto">
            <a:xfrm>
              <a:off x="6982775" y="3992530"/>
              <a:ext cx="2055329" cy="1538549"/>
              <a:chOff x="6987392" y="1517537"/>
              <a:chExt cx="2055329" cy="1538549"/>
            </a:xfrm>
          </p:grpSpPr>
          <p:sp>
            <p:nvSpPr>
              <p:cNvPr id="24" name="Rectangle 23">
                <a:extLst>
                  <a:ext uri="{FF2B5EF4-FFF2-40B4-BE49-F238E27FC236}">
                    <a16:creationId xmlns:a16="http://schemas.microsoft.com/office/drawing/2014/main" id="{26ACA248-0AC2-4BF1-9E8E-8799BB8ACAF0}"/>
                  </a:ext>
                </a:extLst>
              </p:cNvPr>
              <p:cNvSpPr/>
              <p:nvPr/>
            </p:nvSpPr>
            <p:spPr>
              <a:xfrm>
                <a:off x="7838557" y="1517537"/>
                <a:ext cx="1204164" cy="646331"/>
              </a:xfrm>
              <a:prstGeom prst="rect">
                <a:avLst/>
              </a:prstGeom>
              <a:noFill/>
            </p:spPr>
            <p:txBody>
              <a:bodyPr>
                <a:spAutoFit/>
              </a:bodyPr>
              <a:lstStyle/>
              <a:p>
                <a:pPr algn="ctr">
                  <a:defRPr/>
                </a:pPr>
                <a:r>
                  <a:rPr lang="en-US" sz="3600" b="1">
                    <a:ln w="12700" cmpd="sng">
                      <a:solidFill>
                        <a:schemeClr val="accent4"/>
                      </a:solidFill>
                      <a:prstDash val="solid"/>
                    </a:ln>
                    <a:solidFill>
                      <a:schemeClr val="bg1">
                        <a:lumMod val="10000"/>
                      </a:schemeClr>
                    </a:solidFill>
                  </a:rPr>
                  <a:t>30%</a:t>
                </a:r>
              </a:p>
            </p:txBody>
          </p:sp>
          <p:sp>
            <p:nvSpPr>
              <p:cNvPr id="25" name="Rectangle 5">
                <a:extLst>
                  <a:ext uri="{FF2B5EF4-FFF2-40B4-BE49-F238E27FC236}">
                    <a16:creationId xmlns:a16="http://schemas.microsoft.com/office/drawing/2014/main" id="{FE5FB303-5F3E-4CA0-AEB0-AFA36A5BC4A6}"/>
                  </a:ext>
                </a:extLst>
              </p:cNvPr>
              <p:cNvSpPr>
                <a:spLocks noChangeArrowheads="1"/>
              </p:cNvSpPr>
              <p:nvPr/>
            </p:nvSpPr>
            <p:spPr bwMode="auto">
              <a:xfrm>
                <a:off x="6987392" y="2348173"/>
                <a:ext cx="1867903" cy="707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defRPr/>
                </a:pPr>
                <a:r>
                  <a:rPr lang="en-GB" altLang="en-US" sz="2000" b="1">
                    <a:solidFill>
                      <a:schemeClr val="bg1">
                        <a:lumMod val="10000"/>
                      </a:schemeClr>
                    </a:solidFill>
                  </a:rPr>
                  <a:t>Chauffage et eau chaude</a:t>
                </a:r>
              </a:p>
            </p:txBody>
          </p:sp>
        </p:grpSp>
        <p:pic>
          <p:nvPicPr>
            <p:cNvPr id="23" name="Picture 6">
              <a:extLst>
                <a:ext uri="{FF2B5EF4-FFF2-40B4-BE49-F238E27FC236}">
                  <a16:creationId xmlns:a16="http://schemas.microsoft.com/office/drawing/2014/main" id="{8EEA52B0-B8A2-4581-B359-B95724AE6CA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754052" y="3376830"/>
              <a:ext cx="1309912" cy="1609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311703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1"/>
                                        </p:tgtEl>
                                        <p:attrNameLst>
                                          <p:attrName>style.visibility</p:attrName>
                                        </p:attrNameLst>
                                      </p:cBhvr>
                                      <p:to>
                                        <p:strVal val="visible"/>
                                      </p:to>
                                    </p:set>
                                    <p:anim calcmode="lin" valueType="num">
                                      <p:cBhvr>
                                        <p:cTn id="14" dur="500" fill="hold"/>
                                        <p:tgtEl>
                                          <p:spTgt spid="21"/>
                                        </p:tgtEl>
                                        <p:attrNameLst>
                                          <p:attrName>ppt_w</p:attrName>
                                        </p:attrNameLst>
                                      </p:cBhvr>
                                      <p:tavLst>
                                        <p:tav tm="0">
                                          <p:val>
                                            <p:fltVal val="0"/>
                                          </p:val>
                                        </p:tav>
                                        <p:tav tm="100000">
                                          <p:val>
                                            <p:strVal val="#ppt_w"/>
                                          </p:val>
                                        </p:tav>
                                      </p:tavLst>
                                    </p:anim>
                                    <p:anim calcmode="lin" valueType="num">
                                      <p:cBhvr>
                                        <p:cTn id="15" dur="500" fill="hold"/>
                                        <p:tgtEl>
                                          <p:spTgt spid="21"/>
                                        </p:tgtEl>
                                        <p:attrNameLst>
                                          <p:attrName>ppt_h</p:attrName>
                                        </p:attrNameLst>
                                      </p:cBhvr>
                                      <p:tavLst>
                                        <p:tav tm="0">
                                          <p:val>
                                            <p:fltVal val="0"/>
                                          </p:val>
                                        </p:tav>
                                        <p:tav tm="100000">
                                          <p:val>
                                            <p:strVal val="#ppt_h"/>
                                          </p:val>
                                        </p:tav>
                                      </p:tavLst>
                                    </p:anim>
                                    <p:animEffect transition="in" filter="fade">
                                      <p:cBhvr>
                                        <p:cTn id="1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Informations générales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1" y="1556792"/>
            <a:ext cx="7416305" cy="5112568"/>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a:solidFill>
                  <a:schemeClr val="tx1"/>
                </a:solidFill>
                <a:ea typeface="Open Sans" panose="020B0606030504020204" pitchFamily="34" charset="0"/>
                <a:cs typeface="Open Sans" panose="020B0606030504020204" pitchFamily="34" charset="0"/>
              </a:rPr>
              <a:t>Atteignez le niveau de commodité et de confort requis avec la plus faible consommation d'énergie</a:t>
            </a:r>
          </a:p>
          <a:p>
            <a:pPr marL="0" indent="0">
              <a:lnSpc>
                <a:spcPct val="150000"/>
              </a:lnSpc>
              <a:buNone/>
              <a:defRPr/>
            </a:pPr>
            <a:endParaRPr lang="en-US" sz="1200" kern="0" dirty="0">
              <a:solidFill>
                <a:schemeClr val="tx1"/>
              </a:solidFill>
              <a:ea typeface="Open Sans" panose="020B0606030504020204" pitchFamily="34" charset="0"/>
              <a:cs typeface="Open Sans" panose="020B0606030504020204" pitchFamily="34" charset="0"/>
            </a:endParaRPr>
          </a:p>
          <a:p>
            <a:pPr marL="0" indent="0">
              <a:lnSpc>
                <a:spcPct val="150000"/>
              </a:lnSpc>
              <a:buNone/>
              <a:defRPr/>
            </a:pPr>
            <a:r>
              <a:rPr lang="en-US" sz="2000" kern="0">
                <a:solidFill>
                  <a:schemeClr val="tx1"/>
                </a:solidFill>
                <a:ea typeface="Open Sans" panose="020B0606030504020204" pitchFamily="34" charset="0"/>
                <a:cs typeface="Open Sans" panose="020B0606030504020204" pitchFamily="34" charset="0"/>
              </a:rPr>
              <a:t>KNX propose plusieurs options de contrôle :</a:t>
            </a:r>
          </a:p>
          <a:p>
            <a:pPr>
              <a:lnSpc>
                <a:spcPct val="150000"/>
              </a:lnSpc>
              <a:defRPr/>
            </a:pPr>
            <a:r>
              <a:rPr lang="en-US" sz="2000" kern="0">
                <a:ea typeface="Open Sans" panose="020B0606030504020204" pitchFamily="34" charset="0"/>
                <a:cs typeface="Open Sans" panose="020B0606030504020204" pitchFamily="34" charset="0"/>
              </a:rPr>
              <a:t>Contrôle individuel de la pièce</a:t>
            </a:r>
          </a:p>
          <a:p>
            <a:pPr>
              <a:lnSpc>
                <a:spcPct val="150000"/>
              </a:lnSpc>
              <a:defRPr/>
            </a:pPr>
            <a:r>
              <a:rPr lang="en-US" sz="2000" kern="0">
                <a:ea typeface="Open Sans" panose="020B0606030504020204" pitchFamily="34" charset="0"/>
                <a:cs typeface="Open Sans" panose="020B0606030504020204" pitchFamily="34" charset="0"/>
              </a:rPr>
              <a:t>Contrôle du chauffage et du circuit de refroidissement</a:t>
            </a:r>
          </a:p>
          <a:p>
            <a:pPr>
              <a:lnSpc>
                <a:spcPct val="150000"/>
              </a:lnSpc>
              <a:defRPr/>
            </a:pPr>
            <a:r>
              <a:rPr lang="en-US" sz="2000" kern="0">
                <a:ea typeface="Open Sans" panose="020B0606030504020204" pitchFamily="34" charset="0"/>
                <a:cs typeface="Open Sans" panose="020B0606030504020204" pitchFamily="34" charset="0"/>
              </a:rPr>
              <a:t>Contrôle de la chaudière</a:t>
            </a:r>
          </a:p>
          <a:p>
            <a:pPr marL="0" indent="0">
              <a:lnSpc>
                <a:spcPct val="150000"/>
              </a:lnSpc>
              <a:buNone/>
              <a:defRPr/>
            </a:pPr>
            <a:endParaRPr lang="en-US" sz="1200" kern="0" dirty="0">
              <a:solidFill>
                <a:schemeClr val="tx1"/>
              </a:solidFill>
              <a:ea typeface="Open Sans" panose="020B0606030504020204" pitchFamily="34" charset="0"/>
              <a:cs typeface="Open Sans" panose="020B0606030504020204" pitchFamily="34" charset="0"/>
            </a:endParaRPr>
          </a:p>
          <a:p>
            <a:pPr marL="0" indent="0">
              <a:lnSpc>
                <a:spcPct val="150000"/>
              </a:lnSpc>
              <a:buNone/>
              <a:defRPr/>
            </a:pPr>
            <a:r>
              <a:rPr lang="en-US" sz="2000" kern="0">
                <a:ea typeface="Open Sans" panose="020B0606030504020204" pitchFamily="34" charset="0"/>
                <a:cs typeface="Open Sans" panose="020B0606030504020204" pitchFamily="34" charset="0"/>
              </a:rPr>
              <a:t>Économies individuelles basées sur la demande : </a:t>
            </a:r>
            <a:r>
              <a:rPr lang="en-US" sz="2000" kern="0">
                <a:solidFill>
                  <a:schemeClr val="tx1"/>
                </a:solidFill>
                <a:ea typeface="Open Sans" panose="020B0606030504020204" pitchFamily="34" charset="0"/>
                <a:cs typeface="Open Sans" panose="020B0606030504020204" pitchFamily="34" charset="0"/>
              </a:rPr>
              <a:t>5-10 % :</a:t>
            </a:r>
          </a:p>
          <a:p>
            <a:pPr marL="0" indent="0">
              <a:lnSpc>
                <a:spcPct val="150000"/>
              </a:lnSpc>
              <a:buNone/>
              <a:defRPr/>
            </a:pPr>
            <a:endParaRPr lang="en-US" sz="2000" kern="0" dirty="0">
              <a:solidFill>
                <a:schemeClr val="tx1"/>
              </a:solidFill>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127394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260648"/>
            <a:ext cx="6696223" cy="719138"/>
          </a:xfrm>
        </p:spPr>
        <p:txBody>
          <a:bodyPr/>
          <a:lstStyle/>
          <a:p>
            <a:r>
              <a:rPr lang="en-US"/>
              <a:t>Exigences par rapport au système de contrôle climatique</a:t>
            </a:r>
            <a:endParaRPr lang="en-GB" dirty="0"/>
          </a:p>
        </p:txBody>
      </p:sp>
      <p:grpSp>
        <p:nvGrpSpPr>
          <p:cNvPr id="18" name="Group 17">
            <a:extLst>
              <a:ext uri="{FF2B5EF4-FFF2-40B4-BE49-F238E27FC236}">
                <a16:creationId xmlns:a16="http://schemas.microsoft.com/office/drawing/2014/main" id="{6A3BCD06-B96C-401E-8CC7-366C7C032D10}"/>
              </a:ext>
            </a:extLst>
          </p:cNvPr>
          <p:cNvGrpSpPr>
            <a:grpSpLocks/>
          </p:cNvGrpSpPr>
          <p:nvPr/>
        </p:nvGrpSpPr>
        <p:grpSpPr bwMode="auto">
          <a:xfrm>
            <a:off x="703263" y="2165022"/>
            <a:ext cx="2716609" cy="1624018"/>
            <a:chOff x="644075" y="1471124"/>
            <a:chExt cx="4143478" cy="483682"/>
          </a:xfrm>
          <a:solidFill>
            <a:schemeClr val="bg1"/>
          </a:solidFill>
        </p:grpSpPr>
        <p:sp>
          <p:nvSpPr>
            <p:cNvPr id="19" name="Rektangel 31">
              <a:extLst>
                <a:ext uri="{FF2B5EF4-FFF2-40B4-BE49-F238E27FC236}">
                  <a16:creationId xmlns:a16="http://schemas.microsoft.com/office/drawing/2014/main" id="{E8203F8E-3BCE-413E-A126-722CFA7CBEFA}"/>
                </a:ext>
              </a:extLst>
            </p:cNvPr>
            <p:cNvSpPr>
              <a:spLocks noChangeArrowheads="1"/>
            </p:cNvSpPr>
            <p:nvPr/>
          </p:nvSpPr>
          <p:spPr bwMode="auto">
            <a:xfrm>
              <a:off x="644075" y="1471124"/>
              <a:ext cx="4143478" cy="483682"/>
            </a:xfrm>
            <a:prstGeom prst="rect">
              <a:avLst/>
            </a:prstGeom>
            <a:grpFill/>
            <a:ln w="9525">
              <a:solidFill>
                <a:srgbClr val="E1E1E1"/>
              </a:solidFill>
              <a:miter lim="800000"/>
              <a:headEnd/>
              <a:tailEnd/>
            </a:ln>
            <a:effectLst>
              <a:outerShdw blurRad="63500" dist="23000" dir="5400000" rotWithShape="0">
                <a:srgbClr val="000000">
                  <a:alpha val="34999"/>
                </a:srgbClr>
              </a:outerShdw>
            </a:effectLst>
          </p:spPr>
          <p:txBody>
            <a:bodyPr anchor="ctr"/>
            <a:lstStyle/>
            <a:p>
              <a:pPr algn="ctr" eaLnBrk="1" hangingPunct="1">
                <a:defRPr/>
              </a:pPr>
              <a:endParaRPr lang="da-DK" dirty="0">
                <a:solidFill>
                  <a:srgbClr val="369226"/>
                </a:solidFill>
                <a:ea typeface="ＭＳ Ｐゴシック" pitchFamily="-97" charset="-128"/>
              </a:endParaRPr>
            </a:p>
          </p:txBody>
        </p:sp>
        <p:sp>
          <p:nvSpPr>
            <p:cNvPr id="20" name="Tekstboks 27">
              <a:extLst>
                <a:ext uri="{FF2B5EF4-FFF2-40B4-BE49-F238E27FC236}">
                  <a16:creationId xmlns:a16="http://schemas.microsoft.com/office/drawing/2014/main" id="{A828E1FF-502D-4744-9B0B-1BC83BCB8DF2}"/>
                </a:ext>
              </a:extLst>
            </p:cNvPr>
            <p:cNvSpPr txBox="1">
              <a:spLocks noChangeArrowheads="1"/>
            </p:cNvSpPr>
            <p:nvPr/>
          </p:nvSpPr>
          <p:spPr bwMode="auto">
            <a:xfrm>
              <a:off x="838928" y="1516076"/>
              <a:ext cx="3536271" cy="364828"/>
            </a:xfrm>
            <a:prstGeom prst="rect">
              <a:avLst/>
            </a:prstGeom>
            <a:grpFill/>
            <a:ln w="9525">
              <a:noFill/>
              <a:miter lim="800000"/>
              <a:headEnd/>
              <a:tailEnd/>
            </a:ln>
          </p:spPr>
          <p:txBody>
            <a:bodyPr wrap="square">
              <a:spAutoFit/>
            </a:bodyPr>
            <a:lstStyle/>
            <a:p>
              <a:pPr eaLnBrk="0" hangingPunct="0">
                <a:spcBef>
                  <a:spcPct val="20000"/>
                </a:spcBef>
                <a:buClr>
                  <a:srgbClr val="369226"/>
                </a:buClr>
                <a:defRPr/>
              </a:pPr>
              <a:r>
                <a:rPr lang="es-ES" sz="1600" b="1" kern="0">
                  <a:solidFill>
                    <a:srgbClr val="369226"/>
                  </a:solidFill>
                  <a:latin typeface="+mn-lt"/>
                  <a:ea typeface="Open Sans" panose="020B0606030504020204" pitchFamily="34" charset="0"/>
                  <a:cs typeface="Open Sans" panose="020B0606030504020204" pitchFamily="34" charset="0"/>
                </a:rPr>
                <a:t>EN 15232</a:t>
              </a:r>
            </a:p>
            <a:p>
              <a:pPr eaLnBrk="0" hangingPunct="0">
                <a:spcBef>
                  <a:spcPct val="20000"/>
                </a:spcBef>
                <a:buClr>
                  <a:srgbClr val="369226"/>
                </a:buClr>
                <a:defRPr/>
              </a:pPr>
              <a:r>
                <a:rPr lang="es-ES" sz="1600" b="1" kern="0">
                  <a:solidFill>
                    <a:srgbClr val="369226"/>
                  </a:solidFill>
                  <a:latin typeface="+mn-lt"/>
                  <a:ea typeface="Open Sans" panose="020B0606030504020204" pitchFamily="34" charset="0"/>
                  <a:cs typeface="Open Sans" panose="020B0606030504020204" pitchFamily="34" charset="0"/>
                </a:rPr>
                <a:t>EN ISO 13789:1999-10</a:t>
              </a:r>
            </a:p>
            <a:p>
              <a:pPr eaLnBrk="0" hangingPunct="0">
                <a:spcBef>
                  <a:spcPct val="20000"/>
                </a:spcBef>
                <a:buClr>
                  <a:srgbClr val="369226"/>
                </a:buClr>
                <a:defRPr/>
              </a:pPr>
              <a:r>
                <a:rPr lang="es-ES" sz="1600" b="1" kern="0">
                  <a:solidFill>
                    <a:srgbClr val="369226"/>
                  </a:solidFill>
                  <a:latin typeface="+mn-lt"/>
                  <a:ea typeface="Open Sans" panose="020B0606030504020204" pitchFamily="34" charset="0"/>
                  <a:cs typeface="Open Sans" panose="020B0606030504020204" pitchFamily="34" charset="0"/>
                </a:rPr>
                <a:t>EN 832:2003-06</a:t>
              </a:r>
            </a:p>
            <a:p>
              <a:pPr eaLnBrk="0" hangingPunct="0">
                <a:spcBef>
                  <a:spcPct val="20000"/>
                </a:spcBef>
                <a:buClr>
                  <a:srgbClr val="369226"/>
                </a:buClr>
                <a:defRPr/>
              </a:pPr>
              <a:r>
                <a:rPr lang="es-ES" sz="1600" b="1" kern="0">
                  <a:solidFill>
                    <a:srgbClr val="369226"/>
                  </a:solidFill>
                  <a:latin typeface="+mn-lt"/>
                  <a:ea typeface="Open Sans" panose="020B0606030504020204" pitchFamily="34" charset="0"/>
                  <a:cs typeface="Open Sans" panose="020B0606030504020204" pitchFamily="34" charset="0"/>
                </a:rPr>
                <a:t>…</a:t>
              </a:r>
            </a:p>
          </p:txBody>
        </p:sp>
      </p:grpSp>
      <p:sp>
        <p:nvSpPr>
          <p:cNvPr id="21" name="Rektangel 21">
            <a:extLst>
              <a:ext uri="{FF2B5EF4-FFF2-40B4-BE49-F238E27FC236}">
                <a16:creationId xmlns:a16="http://schemas.microsoft.com/office/drawing/2014/main" id="{487894E7-06AD-4956-B62B-15BD8CF614FC}"/>
              </a:ext>
            </a:extLst>
          </p:cNvPr>
          <p:cNvSpPr>
            <a:spLocks noChangeArrowheads="1"/>
          </p:cNvSpPr>
          <p:nvPr/>
        </p:nvSpPr>
        <p:spPr bwMode="auto">
          <a:xfrm>
            <a:off x="703263" y="1688774"/>
            <a:ext cx="2716609" cy="476250"/>
          </a:xfrm>
          <a:prstGeom prst="rect">
            <a:avLst/>
          </a:prstGeom>
          <a:solidFill>
            <a:schemeClr val="bg1"/>
          </a:solidFill>
          <a:ln w="9525">
            <a:solidFill>
              <a:schemeClr val="accent3">
                <a:lumMod val="50000"/>
              </a:schemeClr>
            </a:solidFill>
            <a:miter lim="800000"/>
            <a:headEnd/>
            <a:tailEnd/>
          </a:ln>
          <a:effectLst>
            <a:outerShdw blurRad="63500" dist="23000" dir="5400000" rotWithShape="0">
              <a:srgbClr val="000000">
                <a:alpha val="34999"/>
              </a:srgbClr>
            </a:outerShdw>
          </a:effectLst>
        </p:spPr>
        <p:txBody>
          <a:bodyPr anchor="ctr"/>
          <a:lstStyle/>
          <a:p>
            <a:pPr defTabSz="914400" fontAlgn="auto">
              <a:spcBef>
                <a:spcPts val="0"/>
              </a:spcBef>
              <a:spcAft>
                <a:spcPts val="0"/>
              </a:spcAft>
              <a:defRPr/>
            </a:pPr>
            <a:r>
              <a:rPr lang="en-GB" sz="1600" b="1" kern="0">
                <a:solidFill>
                  <a:srgbClr val="369226"/>
                </a:solidFill>
                <a:ea typeface="ＭＳ Ｐゴシック" pitchFamily="-97" charset="-128"/>
              </a:rPr>
              <a:t>Réglementation internationale:</a:t>
            </a:r>
          </a:p>
        </p:txBody>
      </p:sp>
      <p:sp>
        <p:nvSpPr>
          <p:cNvPr id="22" name="Right Arrow 2">
            <a:extLst>
              <a:ext uri="{FF2B5EF4-FFF2-40B4-BE49-F238E27FC236}">
                <a16:creationId xmlns:a16="http://schemas.microsoft.com/office/drawing/2014/main" id="{78022540-C9C7-43FF-A312-76565615DFC5}"/>
              </a:ext>
            </a:extLst>
          </p:cNvPr>
          <p:cNvSpPr/>
          <p:nvPr/>
        </p:nvSpPr>
        <p:spPr>
          <a:xfrm>
            <a:off x="3527349" y="2021005"/>
            <a:ext cx="793750" cy="956444"/>
          </a:xfrm>
          <a:prstGeom prst="rightArrow">
            <a:avLst/>
          </a:prstGeom>
          <a:solidFill>
            <a:srgbClr val="369226"/>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srgbClr val="369226"/>
              </a:solidFill>
            </a:endParaRPr>
          </a:p>
        </p:txBody>
      </p:sp>
      <p:pic>
        <p:nvPicPr>
          <p:cNvPr id="1025" name="Picture 1">
            <a:extLst>
              <a:ext uri="{FF2B5EF4-FFF2-40B4-BE49-F238E27FC236}">
                <a16:creationId xmlns:a16="http://schemas.microsoft.com/office/drawing/2014/main" id="{7FDBFD5D-C693-4152-9723-4ED70E75099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06084" y="1561500"/>
            <a:ext cx="4312645" cy="3307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4603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Certificat énergétique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251520" y="5517232"/>
            <a:ext cx="8892480" cy="93541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1800" kern="0" dirty="0">
                <a:ea typeface="Open Sans" panose="020B0606030504020204" pitchFamily="34" charset="0"/>
                <a:cs typeface="Open Sans" panose="020B0606030504020204" pitchFamily="34" charset="0"/>
              </a:rPr>
              <a:t>Conclusion</a:t>
            </a:r>
            <a:r>
              <a:rPr lang="en-US" sz="1800" kern="0" dirty="0">
                <a:solidFill>
                  <a:schemeClr val="tx1"/>
                </a:solidFill>
                <a:ea typeface="Open Sans" panose="020B0606030504020204" pitchFamily="34" charset="0"/>
                <a:cs typeface="Open Sans" panose="020B0606030504020204" pitchFamily="34" charset="0"/>
              </a:rPr>
              <a:t> : Il </a:t>
            </a:r>
            <a:r>
              <a:rPr lang="en-US" sz="1800" kern="0" dirty="0" err="1">
                <a:solidFill>
                  <a:schemeClr val="tx1"/>
                </a:solidFill>
                <a:ea typeface="Open Sans" panose="020B0606030504020204" pitchFamily="34" charset="0"/>
                <a:cs typeface="Open Sans" panose="020B0606030504020204" pitchFamily="34" charset="0"/>
              </a:rPr>
              <a:t>n'est</a:t>
            </a:r>
            <a:r>
              <a:rPr lang="en-US" sz="1800" kern="0" dirty="0">
                <a:solidFill>
                  <a:schemeClr val="tx1"/>
                </a:solidFill>
                <a:ea typeface="Open Sans" panose="020B0606030504020204" pitchFamily="34" charset="0"/>
                <a:cs typeface="Open Sans" panose="020B0606030504020204" pitchFamily="34" charset="0"/>
              </a:rPr>
              <a:t> plus imaginable de ne </a:t>
            </a:r>
            <a:r>
              <a:rPr lang="en-US" sz="1800" kern="0" dirty="0" err="1">
                <a:solidFill>
                  <a:schemeClr val="tx1"/>
                </a:solidFill>
                <a:ea typeface="Open Sans" panose="020B0606030504020204" pitchFamily="34" charset="0"/>
                <a:cs typeface="Open Sans" panose="020B0606030504020204" pitchFamily="34" charset="0"/>
              </a:rPr>
              <a:t>prévoir</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aucune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technologie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d'automatisation</a:t>
            </a:r>
            <a:r>
              <a:rPr lang="en-US" sz="1800" kern="0" dirty="0">
                <a:solidFill>
                  <a:schemeClr val="tx1"/>
                </a:solidFill>
                <a:ea typeface="Open Sans" panose="020B0606030504020204" pitchFamily="34" charset="0"/>
                <a:cs typeface="Open Sans" panose="020B0606030504020204" pitchFamily="34" charset="0"/>
              </a:rPr>
              <a:t> dans les nouveaux </a:t>
            </a:r>
            <a:r>
              <a:rPr lang="en-US" sz="1800" kern="0" dirty="0" err="1">
                <a:solidFill>
                  <a:schemeClr val="tx1"/>
                </a:solidFill>
                <a:ea typeface="Open Sans" panose="020B0606030504020204" pitchFamily="34" charset="0"/>
                <a:cs typeface="Open Sans" panose="020B0606030504020204" pitchFamily="34" charset="0"/>
              </a:rPr>
              <a:t>bâtiments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même</a:t>
            </a:r>
            <a:r>
              <a:rPr lang="en-US" sz="1800" kern="0" dirty="0">
                <a:solidFill>
                  <a:schemeClr val="tx1"/>
                </a:solidFill>
                <a:ea typeface="Open Sans" panose="020B0606030504020204" pitchFamily="34" charset="0"/>
                <a:cs typeface="Open Sans" panose="020B0606030504020204" pitchFamily="34" charset="0"/>
              </a:rPr>
              <a:t> pas dans les </a:t>
            </a:r>
            <a:r>
              <a:rPr lang="en-US" sz="1800" kern="0" dirty="0" err="1">
                <a:solidFill>
                  <a:schemeClr val="tx1"/>
                </a:solidFill>
                <a:ea typeface="Open Sans" panose="020B0606030504020204" pitchFamily="34" charset="0"/>
                <a:cs typeface="Open Sans" panose="020B0606030504020204" pitchFamily="34" charset="0"/>
              </a:rPr>
              <a:t>rénovations</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pic>
        <p:nvPicPr>
          <p:cNvPr id="2049" name="Picture 1">
            <a:extLst>
              <a:ext uri="{FF2B5EF4-FFF2-40B4-BE49-F238E27FC236}">
                <a16:creationId xmlns:a16="http://schemas.microsoft.com/office/drawing/2014/main" id="{B2EB513A-8511-4C90-9072-00CBD5C68A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1268760"/>
            <a:ext cx="6480720" cy="4464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4260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Planification du système de chauffage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400" kern="0">
                <a:ea typeface="Open Sans" panose="020B0606030504020204" pitchFamily="34" charset="0"/>
                <a:cs typeface="Open Sans" panose="020B0606030504020204" pitchFamily="34" charset="0"/>
              </a:rPr>
              <a:t>Les Critères:</a:t>
            </a:r>
          </a:p>
          <a:p>
            <a:pPr>
              <a:lnSpc>
                <a:spcPct val="150000"/>
              </a:lnSpc>
              <a:defRPr/>
            </a:pPr>
            <a:r>
              <a:rPr lang="en-US" sz="2000" kern="0">
                <a:solidFill>
                  <a:schemeClr val="bg1">
                    <a:lumMod val="10000"/>
                  </a:schemeClr>
                </a:solidFill>
                <a:ea typeface="Open Sans" panose="020B0606030504020204" pitchFamily="34" charset="0"/>
                <a:cs typeface="Open Sans" panose="020B0606030504020204" pitchFamily="34" charset="0"/>
              </a:rPr>
              <a:t>Courbe de chauffage (dépend du type de chauffage et de l'emplacement)</a:t>
            </a:r>
          </a:p>
          <a:p>
            <a:pPr>
              <a:lnSpc>
                <a:spcPct val="150000"/>
              </a:lnSpc>
              <a:defRPr/>
            </a:pPr>
            <a:r>
              <a:rPr lang="en-US" sz="2000" kern="0">
                <a:solidFill>
                  <a:schemeClr val="bg1">
                    <a:lumMod val="10000"/>
                  </a:schemeClr>
                </a:solidFill>
                <a:ea typeface="Open Sans" panose="020B0606030504020204" pitchFamily="34" charset="0"/>
                <a:cs typeface="Open Sans" panose="020B0606030504020204" pitchFamily="34" charset="0"/>
              </a:rPr>
              <a:t>La puissance des éléments chauffants - type de bâtiment (W/m²), coût du maintien de la température des pièces </a:t>
            </a:r>
          </a:p>
          <a:p>
            <a:pPr>
              <a:lnSpc>
                <a:spcPct val="150000"/>
              </a:lnSpc>
              <a:defRPr/>
            </a:pPr>
            <a:r>
              <a:rPr lang="en-US" sz="2000" kern="0">
                <a:solidFill>
                  <a:schemeClr val="bg1">
                    <a:lumMod val="10000"/>
                  </a:schemeClr>
                </a:solidFill>
                <a:ea typeface="Open Sans" panose="020B0606030504020204" pitchFamily="34" charset="0"/>
                <a:cs typeface="Open Sans" panose="020B0606030504020204" pitchFamily="34" charset="0"/>
              </a:rPr>
              <a:t>Contrôle du chauffage : coûts associés </a:t>
            </a:r>
          </a:p>
          <a:p>
            <a:pPr>
              <a:lnSpc>
                <a:spcPct val="150000"/>
              </a:lnSpc>
              <a:defRPr/>
            </a:pPr>
            <a:r>
              <a:rPr lang="en-GB" sz="2000">
                <a:solidFill>
                  <a:schemeClr val="tx1"/>
                </a:solidFill>
                <a:latin typeface="Arial" charset="0"/>
              </a:rPr>
              <a:t>Prix de l'énergie primaire </a:t>
            </a:r>
            <a:endParaRPr lang="en-U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416504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260648"/>
            <a:ext cx="6696223" cy="719138"/>
          </a:xfrm>
        </p:spPr>
        <p:txBody>
          <a:bodyPr/>
          <a:lstStyle/>
          <a:p>
            <a:r>
              <a:rPr lang="en-US"/>
              <a:t>Comparaison entre différents types d'énergie</a:t>
            </a:r>
            <a:endParaRPr lang="en-GB" dirty="0"/>
          </a:p>
        </p:txBody>
      </p:sp>
      <p:pic>
        <p:nvPicPr>
          <p:cNvPr id="1026" name="Picture 2" descr="Entwicklung der Verbraucherpreise2010 stat">
            <a:extLst>
              <a:ext uri="{FF2B5EF4-FFF2-40B4-BE49-F238E27FC236}">
                <a16:creationId xmlns:a16="http://schemas.microsoft.com/office/drawing/2014/main" id="{CE2D4824-CAAE-4ED3-B225-C29314B3DD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628800"/>
            <a:ext cx="7470711" cy="3240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44F0474E-F1F3-4491-820C-9AE3C3FA1C46}"/>
              </a:ext>
            </a:extLst>
          </p:cNvPr>
          <p:cNvSpPr/>
          <p:nvPr/>
        </p:nvSpPr>
        <p:spPr>
          <a:xfrm>
            <a:off x="1187624" y="5085184"/>
            <a:ext cx="6912768" cy="646331"/>
          </a:xfrm>
          <a:prstGeom prst="rect">
            <a:avLst/>
          </a:prstGeom>
        </p:spPr>
        <p:txBody>
          <a:bodyPr wrap="square">
            <a:spAutoFit/>
          </a:bodyPr>
          <a:lstStyle/>
          <a:p>
            <a:r>
              <a:rPr lang="en-US" b="1"/>
              <a:t>évolution des prix des combustibles fossiles par rapport à l'électricité, avec 2005 comme référence</a:t>
            </a:r>
            <a:endParaRPr lang="es-ES" b="1" dirty="0"/>
          </a:p>
        </p:txBody>
      </p:sp>
    </p:spTree>
    <p:extLst>
      <p:ext uri="{BB962C8B-B14F-4D97-AF65-F5344CB8AC3E}">
        <p14:creationId xmlns:p14="http://schemas.microsoft.com/office/powerpoint/2010/main" val="2684641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260648"/>
            <a:ext cx="6696223" cy="719138"/>
          </a:xfrm>
        </p:spPr>
        <p:txBody>
          <a:bodyPr/>
          <a:lstStyle/>
          <a:p>
            <a:r>
              <a:rPr lang="en-US"/>
              <a:t>Comparaison entre différents types d'énergie</a:t>
            </a:r>
            <a:endParaRPr lang="en-GB" dirty="0"/>
          </a:p>
        </p:txBody>
      </p:sp>
      <p:sp>
        <p:nvSpPr>
          <p:cNvPr id="2" name="Rectangle 1">
            <a:extLst>
              <a:ext uri="{FF2B5EF4-FFF2-40B4-BE49-F238E27FC236}">
                <a16:creationId xmlns:a16="http://schemas.microsoft.com/office/drawing/2014/main" id="{44F0474E-F1F3-4491-820C-9AE3C3FA1C46}"/>
              </a:ext>
            </a:extLst>
          </p:cNvPr>
          <p:cNvSpPr/>
          <p:nvPr/>
        </p:nvSpPr>
        <p:spPr>
          <a:xfrm>
            <a:off x="1043607" y="5589240"/>
            <a:ext cx="7351261" cy="369332"/>
          </a:xfrm>
          <a:prstGeom prst="rect">
            <a:avLst/>
          </a:prstGeom>
        </p:spPr>
        <p:txBody>
          <a:bodyPr wrap="square">
            <a:spAutoFit/>
          </a:bodyPr>
          <a:lstStyle/>
          <a:p>
            <a:r>
              <a:rPr lang="en-US" b="1"/>
              <a:t>Développement absolu du prix de l'énergie électrique/pétrole/gaz 1970-2008</a:t>
            </a:r>
            <a:endParaRPr lang="es-ES" b="1" dirty="0"/>
          </a:p>
        </p:txBody>
      </p:sp>
      <p:pic>
        <p:nvPicPr>
          <p:cNvPr id="11267" name="Picture 3">
            <a:extLst>
              <a:ext uri="{FF2B5EF4-FFF2-40B4-BE49-F238E27FC236}">
                <a16:creationId xmlns:a16="http://schemas.microsoft.com/office/drawing/2014/main" id="{82736395-CD60-48F1-BBDC-A9E314C8A9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5138" y="1556792"/>
            <a:ext cx="7156365" cy="3816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3863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260648"/>
            <a:ext cx="6696223" cy="719138"/>
          </a:xfrm>
        </p:spPr>
        <p:txBody>
          <a:bodyPr/>
          <a:lstStyle/>
          <a:p>
            <a:r>
              <a:rPr lang="en-US"/>
              <a:t>Comparaison entre différents types d'énergie</a:t>
            </a:r>
            <a:endParaRPr lang="en-GB" dirty="0"/>
          </a:p>
        </p:txBody>
      </p:sp>
      <p:sp>
        <p:nvSpPr>
          <p:cNvPr id="2" name="Rectangle 1">
            <a:extLst>
              <a:ext uri="{FF2B5EF4-FFF2-40B4-BE49-F238E27FC236}">
                <a16:creationId xmlns:a16="http://schemas.microsoft.com/office/drawing/2014/main" id="{44F0474E-F1F3-4491-820C-9AE3C3FA1C46}"/>
              </a:ext>
            </a:extLst>
          </p:cNvPr>
          <p:cNvSpPr/>
          <p:nvPr/>
        </p:nvSpPr>
        <p:spPr>
          <a:xfrm>
            <a:off x="1064317" y="5589240"/>
            <a:ext cx="7036075" cy="646331"/>
          </a:xfrm>
          <a:prstGeom prst="rect">
            <a:avLst/>
          </a:prstGeom>
        </p:spPr>
        <p:txBody>
          <a:bodyPr wrap="square">
            <a:spAutoFit/>
          </a:bodyPr>
          <a:lstStyle/>
          <a:p>
            <a:r>
              <a:rPr lang="en-US" b="1"/>
              <a:t>évolution des prix électricité / mazout / gaz sans tenir compte de l'inflation</a:t>
            </a:r>
            <a:endParaRPr lang="es-ES" b="1" dirty="0"/>
          </a:p>
        </p:txBody>
      </p:sp>
      <p:pic>
        <p:nvPicPr>
          <p:cNvPr id="4098" name="Picture 2">
            <a:extLst>
              <a:ext uri="{FF2B5EF4-FFF2-40B4-BE49-F238E27FC236}">
                <a16:creationId xmlns:a16="http://schemas.microsoft.com/office/drawing/2014/main" id="{DD1B569F-5423-4D5F-AA27-93ABFF9AA0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7" y="1455303"/>
            <a:ext cx="7036075" cy="3989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90604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260648"/>
            <a:ext cx="6696223" cy="719138"/>
          </a:xfrm>
        </p:spPr>
        <p:txBody>
          <a:bodyPr/>
          <a:lstStyle/>
          <a:p>
            <a:r>
              <a:rPr lang="en-US"/>
              <a:t>Comparaison entre différents types d'énergie</a:t>
            </a:r>
            <a:endParaRPr lang="en-GB" dirty="0"/>
          </a:p>
        </p:txBody>
      </p:sp>
      <p:sp>
        <p:nvSpPr>
          <p:cNvPr id="2" name="Rectangle 1">
            <a:extLst>
              <a:ext uri="{FF2B5EF4-FFF2-40B4-BE49-F238E27FC236}">
                <a16:creationId xmlns:a16="http://schemas.microsoft.com/office/drawing/2014/main" id="{44F0474E-F1F3-4491-820C-9AE3C3FA1C46}"/>
              </a:ext>
            </a:extLst>
          </p:cNvPr>
          <p:cNvSpPr/>
          <p:nvPr/>
        </p:nvSpPr>
        <p:spPr>
          <a:xfrm>
            <a:off x="755576" y="5771074"/>
            <a:ext cx="7704855" cy="646331"/>
          </a:xfrm>
          <a:prstGeom prst="rect">
            <a:avLst/>
          </a:prstGeom>
        </p:spPr>
        <p:txBody>
          <a:bodyPr wrap="square">
            <a:spAutoFit/>
          </a:bodyPr>
          <a:lstStyle/>
          <a:p>
            <a:r>
              <a:rPr lang="en-GB" b="1" dirty="0" err="1"/>
              <a:t>évolution</a:t>
            </a:r>
            <a:r>
              <a:rPr lang="en-GB" b="1" dirty="0"/>
              <a:t> des prix de </a:t>
            </a:r>
            <a:r>
              <a:rPr lang="en-GB" b="1" dirty="0" err="1"/>
              <a:t>l'énergie</a:t>
            </a:r>
            <a:r>
              <a:rPr lang="en-GB" b="1" dirty="0"/>
              <a:t> </a:t>
            </a:r>
            <a:r>
              <a:rPr lang="en-GB" b="1" dirty="0" err="1"/>
              <a:t>pétrole</a:t>
            </a:r>
            <a:r>
              <a:rPr lang="en-GB" b="1" dirty="0"/>
              <a:t> (</a:t>
            </a:r>
            <a:r>
              <a:rPr lang="en-GB" b="1" dirty="0" err="1"/>
              <a:t>en</a:t>
            </a:r>
            <a:r>
              <a:rPr lang="en-GB" b="1" dirty="0"/>
              <a:t> rouge) /</a:t>
            </a:r>
            <a:r>
              <a:rPr lang="en-GB" b="1" dirty="0" err="1"/>
              <a:t>gaz</a:t>
            </a:r>
            <a:r>
              <a:rPr lang="en-GB" b="1" dirty="0"/>
              <a:t> (</a:t>
            </a:r>
            <a:r>
              <a:rPr lang="en-GB" b="1" dirty="0" err="1"/>
              <a:t>en</a:t>
            </a:r>
            <a:r>
              <a:rPr lang="en-GB" b="1" dirty="0"/>
              <a:t> orange) par rapport aux </a:t>
            </a:r>
            <a:r>
              <a:rPr lang="en-GB" b="1" dirty="0" err="1"/>
              <a:t>granulés</a:t>
            </a:r>
            <a:r>
              <a:rPr lang="en-GB" b="1" dirty="0"/>
              <a:t> de </a:t>
            </a:r>
            <a:r>
              <a:rPr lang="en-GB" b="1" dirty="0" err="1"/>
              <a:t>bois</a:t>
            </a:r>
            <a:r>
              <a:rPr lang="en-GB" b="1" dirty="0"/>
              <a:t> (</a:t>
            </a:r>
            <a:r>
              <a:rPr lang="en-GB" b="1" dirty="0" err="1"/>
              <a:t>en</a:t>
            </a:r>
            <a:r>
              <a:rPr lang="en-GB" b="1" dirty="0"/>
              <a:t> bleu), de 2002 à 2009</a:t>
            </a:r>
            <a:endParaRPr lang="es-ES" b="1" dirty="0"/>
          </a:p>
        </p:txBody>
      </p:sp>
      <p:pic>
        <p:nvPicPr>
          <p:cNvPr id="5122" name="Picture 2">
            <a:extLst>
              <a:ext uri="{FF2B5EF4-FFF2-40B4-BE49-F238E27FC236}">
                <a16:creationId xmlns:a16="http://schemas.microsoft.com/office/drawing/2014/main" id="{367F4FAB-320F-4716-9ED0-9F3981EE6D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280" y="1412777"/>
            <a:ext cx="7046103"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8196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260648"/>
            <a:ext cx="6696223" cy="719138"/>
          </a:xfrm>
        </p:spPr>
        <p:txBody>
          <a:bodyPr/>
          <a:lstStyle/>
          <a:p>
            <a:r>
              <a:rPr lang="en-US"/>
              <a:t>Comparaison entre différents types d'énergie</a:t>
            </a:r>
            <a:endParaRPr lang="en-GB" dirty="0"/>
          </a:p>
        </p:txBody>
      </p:sp>
      <p:sp>
        <p:nvSpPr>
          <p:cNvPr id="2" name="Rectangle 1">
            <a:extLst>
              <a:ext uri="{FF2B5EF4-FFF2-40B4-BE49-F238E27FC236}">
                <a16:creationId xmlns:a16="http://schemas.microsoft.com/office/drawing/2014/main" id="{44F0474E-F1F3-4491-820C-9AE3C3FA1C46}"/>
              </a:ext>
            </a:extLst>
          </p:cNvPr>
          <p:cNvSpPr/>
          <p:nvPr/>
        </p:nvSpPr>
        <p:spPr>
          <a:xfrm>
            <a:off x="901228" y="1484784"/>
            <a:ext cx="7127156" cy="958660"/>
          </a:xfrm>
          <a:prstGeom prst="rect">
            <a:avLst/>
          </a:prstGeom>
        </p:spPr>
        <p:txBody>
          <a:bodyPr wrap="square">
            <a:spAutoFit/>
          </a:bodyPr>
          <a:lstStyle/>
          <a:p>
            <a:pPr>
              <a:lnSpc>
                <a:spcPct val="150000"/>
              </a:lnSpc>
            </a:pPr>
            <a:r>
              <a:rPr lang="en-US" sz="2000" b="1"/>
              <a:t>La comparaison des différents types d'énergie primaire est effectuée via la valeur calorifique</a:t>
            </a:r>
            <a:endParaRPr lang="es-ES" sz="2000" b="1" dirty="0"/>
          </a:p>
        </p:txBody>
      </p:sp>
      <p:graphicFrame>
        <p:nvGraphicFramePr>
          <p:cNvPr id="6" name="Table 5">
            <a:extLst>
              <a:ext uri="{FF2B5EF4-FFF2-40B4-BE49-F238E27FC236}">
                <a16:creationId xmlns:a16="http://schemas.microsoft.com/office/drawing/2014/main" id="{83D397A3-C42C-4D93-87E0-5BAF8B6E564D}"/>
              </a:ext>
            </a:extLst>
          </p:cNvPr>
          <p:cNvGraphicFramePr>
            <a:graphicFrameLocks noGrp="1"/>
          </p:cNvGraphicFramePr>
          <p:nvPr/>
        </p:nvGraphicFramePr>
        <p:xfrm>
          <a:off x="1152698" y="2765808"/>
          <a:ext cx="6624215" cy="3297497"/>
        </p:xfrm>
        <a:graphic>
          <a:graphicData uri="http://schemas.openxmlformats.org/drawingml/2006/table">
            <a:tbl>
              <a:tblPr/>
              <a:tblGrid>
                <a:gridCol w="3096084">
                  <a:extLst>
                    <a:ext uri="{9D8B030D-6E8A-4147-A177-3AD203B41FA5}">
                      <a16:colId xmlns:a16="http://schemas.microsoft.com/office/drawing/2014/main" val="1440649042"/>
                    </a:ext>
                  </a:extLst>
                </a:gridCol>
                <a:gridCol w="864096">
                  <a:extLst>
                    <a:ext uri="{9D8B030D-6E8A-4147-A177-3AD203B41FA5}">
                      <a16:colId xmlns:a16="http://schemas.microsoft.com/office/drawing/2014/main" val="1940418365"/>
                    </a:ext>
                  </a:extLst>
                </a:gridCol>
                <a:gridCol w="2664035">
                  <a:extLst>
                    <a:ext uri="{9D8B030D-6E8A-4147-A177-3AD203B41FA5}">
                      <a16:colId xmlns:a16="http://schemas.microsoft.com/office/drawing/2014/main" val="2238404344"/>
                    </a:ext>
                  </a:extLst>
                </a:gridCol>
              </a:tblGrid>
              <a:tr h="471071">
                <a:tc>
                  <a:txBody>
                    <a:bodyPr/>
                    <a:lstStyle/>
                    <a:p>
                      <a:pPr marL="71755" marR="6985">
                        <a:lnSpc>
                          <a:spcPct val="115000"/>
                        </a:lnSpc>
                        <a:spcBef>
                          <a:spcPts val="300"/>
                        </a:spcBef>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Mazout</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10.0</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kWh/l</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4110530964"/>
                  </a:ext>
                </a:extLst>
              </a:tr>
              <a:tr h="471071">
                <a:tc>
                  <a:txBody>
                    <a:bodyPr/>
                    <a:lstStyle/>
                    <a:p>
                      <a:pPr marL="71755" marR="6985">
                        <a:lnSpc>
                          <a:spcPct val="115000"/>
                        </a:lnSpc>
                        <a:spcBef>
                          <a:spcPts val="300"/>
                        </a:spcBef>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Gaz de ville</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4,5</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kWh/m³</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1408730640"/>
                  </a:ext>
                </a:extLst>
              </a:tr>
              <a:tr h="471071">
                <a:tc>
                  <a:txBody>
                    <a:bodyPr/>
                    <a:lstStyle/>
                    <a:p>
                      <a:pPr marL="71755" marR="6985">
                        <a:lnSpc>
                          <a:spcPct val="115000"/>
                        </a:lnSpc>
                        <a:spcBef>
                          <a:spcPts val="300"/>
                        </a:spcBef>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Gaz naturel L</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kern="1200">
                          <a:solidFill>
                            <a:schemeClr val="bg2">
                              <a:lumMod val="10000"/>
                            </a:schemeClr>
                          </a:solidFill>
                          <a:effectLst/>
                          <a:latin typeface="Arial" panose="020B0604020202020204" pitchFamily="34" charset="0"/>
                          <a:ea typeface="Calibri" panose="020F0502020204030204" pitchFamily="34" charset="0"/>
                          <a:cs typeface="+mn-cs"/>
                        </a:rPr>
                        <a:t>9.0</a:t>
                      </a:r>
                      <a:endParaRPr lang="es-ES" sz="2000" b="1" kern="1200" dirty="0">
                        <a:solidFill>
                          <a:schemeClr val="bg2">
                            <a:lumMod val="10000"/>
                          </a:schemeClr>
                        </a:solidFill>
                        <a:effectLst/>
                        <a:latin typeface="Arial" panose="020B0604020202020204" pitchFamily="34" charset="0"/>
                        <a:ea typeface="Calibri" panose="020F0502020204030204" pitchFamily="34" charset="0"/>
                        <a:cs typeface="+mn-cs"/>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kern="1200">
                          <a:solidFill>
                            <a:schemeClr val="bg2">
                              <a:lumMod val="10000"/>
                            </a:schemeClr>
                          </a:solidFill>
                          <a:effectLst/>
                          <a:latin typeface="Arial" panose="020B0604020202020204" pitchFamily="34" charset="0"/>
                          <a:ea typeface="Calibri" panose="020F0502020204030204" pitchFamily="34" charset="0"/>
                          <a:cs typeface="+mn-cs"/>
                        </a:rPr>
                        <a:t>kWh/m³</a:t>
                      </a:r>
                      <a:endParaRPr lang="es-ES" sz="2000" b="1" kern="1200" dirty="0">
                        <a:solidFill>
                          <a:schemeClr val="bg2">
                            <a:lumMod val="10000"/>
                          </a:schemeClr>
                        </a:solidFill>
                        <a:effectLst/>
                        <a:latin typeface="Arial" panose="020B0604020202020204" pitchFamily="34" charset="0"/>
                        <a:ea typeface="Calibri" panose="020F0502020204030204" pitchFamily="34" charset="0"/>
                        <a:cs typeface="+mn-cs"/>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3176815571"/>
                  </a:ext>
                </a:extLst>
              </a:tr>
              <a:tr h="471071">
                <a:tc>
                  <a:txBody>
                    <a:bodyPr/>
                    <a:lstStyle/>
                    <a:p>
                      <a:pPr marL="71755" marR="6985">
                        <a:lnSpc>
                          <a:spcPct val="115000"/>
                        </a:lnSpc>
                        <a:spcBef>
                          <a:spcPts val="300"/>
                        </a:spcBef>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Gaz naturel H</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10.5</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kWh/m³</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2685053933"/>
                  </a:ext>
                </a:extLst>
              </a:tr>
              <a:tr h="471071">
                <a:tc>
                  <a:txBody>
                    <a:bodyPr/>
                    <a:lstStyle/>
                    <a:p>
                      <a:pPr marL="71755" marR="6985">
                        <a:lnSpc>
                          <a:spcPct val="115000"/>
                        </a:lnSpc>
                        <a:spcBef>
                          <a:spcPts val="300"/>
                        </a:spcBef>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Coke concassé</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8.0</a:t>
                      </a:r>
                      <a:endParaRPr lang="es-ES" sz="2000" b="1">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kWh/kg</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182149724"/>
                  </a:ext>
                </a:extLst>
              </a:tr>
              <a:tr h="471071">
                <a:tc>
                  <a:txBody>
                    <a:bodyPr/>
                    <a:lstStyle/>
                    <a:p>
                      <a:pPr marL="71755" marR="6985">
                        <a:lnSpc>
                          <a:spcPct val="115000"/>
                        </a:lnSpc>
                        <a:spcBef>
                          <a:spcPts val="300"/>
                        </a:spcBef>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Briquettes de lignite</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5.5</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kWh/kg</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287231586"/>
                  </a:ext>
                </a:extLst>
              </a:tr>
              <a:tr h="471071">
                <a:tc>
                  <a:txBody>
                    <a:bodyPr/>
                    <a:lstStyle/>
                    <a:p>
                      <a:pPr marL="71755" marR="6985">
                        <a:lnSpc>
                          <a:spcPct val="115000"/>
                        </a:lnSpc>
                        <a:spcBef>
                          <a:spcPts val="300"/>
                        </a:spcBef>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Coke de lignite</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8.0</a:t>
                      </a:r>
                      <a:endParaRPr lang="es-ES" sz="2000" b="1">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kWh/kg</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1686426864"/>
                  </a:ext>
                </a:extLst>
              </a:tr>
            </a:tbl>
          </a:graphicData>
        </a:graphic>
      </p:graphicFrame>
    </p:spTree>
    <p:extLst>
      <p:ext uri="{BB962C8B-B14F-4D97-AF65-F5344CB8AC3E}">
        <p14:creationId xmlns:p14="http://schemas.microsoft.com/office/powerpoint/2010/main" val="3313694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Structure d'un système de chauffage </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5364088" y="1334301"/>
            <a:ext cx="3456384" cy="1939216"/>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600" kern="0" dirty="0">
                <a:ea typeface="Open Sans" panose="020B0606030504020204" pitchFamily="34" charset="0"/>
                <a:cs typeface="Open Sans" panose="020B0606030504020204" pitchFamily="34" charset="0"/>
              </a:rPr>
              <a:t>Production de </a:t>
            </a:r>
            <a:r>
              <a:rPr lang="en-US" sz="1600" kern="0" dirty="0" err="1">
                <a:ea typeface="Open Sans" panose="020B0606030504020204" pitchFamily="34" charset="0"/>
                <a:cs typeface="Open Sans" panose="020B0606030504020204" pitchFamily="34" charset="0"/>
              </a:rPr>
              <a:t>chaleur</a:t>
            </a:r>
            <a:endParaRPr lang="en-US" sz="1600" kern="0" dirty="0">
              <a:ea typeface="Open Sans" panose="020B0606030504020204" pitchFamily="34" charset="0"/>
              <a:cs typeface="Open Sans" panose="020B0606030504020204" pitchFamily="34" charset="0"/>
            </a:endParaRPr>
          </a:p>
          <a:p>
            <a:pPr>
              <a:lnSpc>
                <a:spcPct val="150000"/>
              </a:lnSpc>
              <a:defRPr/>
            </a:pPr>
            <a:r>
              <a:rPr lang="en-US" sz="1600" kern="0" dirty="0" err="1">
                <a:ea typeface="Open Sans" panose="020B0606030504020204" pitchFamily="34" charset="0"/>
                <a:cs typeface="Open Sans" panose="020B0606030504020204" pitchFamily="34" charset="0"/>
              </a:rPr>
              <a:t>Transfert</a:t>
            </a:r>
            <a:r>
              <a:rPr lang="en-US" sz="1600" kern="0" dirty="0">
                <a:ea typeface="Open Sans" panose="020B0606030504020204" pitchFamily="34" charset="0"/>
                <a:cs typeface="Open Sans" panose="020B0606030504020204" pitchFamily="34" charset="0"/>
              </a:rPr>
              <a:t> de </a:t>
            </a:r>
            <a:r>
              <a:rPr lang="en-US" sz="1600" kern="0" dirty="0" err="1">
                <a:ea typeface="Open Sans" panose="020B0606030504020204" pitchFamily="34" charset="0"/>
                <a:cs typeface="Open Sans" panose="020B0606030504020204" pitchFamily="34" charset="0"/>
              </a:rPr>
              <a:t>chaleur</a:t>
            </a:r>
            <a:endParaRPr lang="en-US" sz="1600" kern="0" dirty="0">
              <a:ea typeface="Open Sans" panose="020B0606030504020204" pitchFamily="34" charset="0"/>
              <a:cs typeface="Open Sans" panose="020B0606030504020204" pitchFamily="34" charset="0"/>
            </a:endParaRPr>
          </a:p>
          <a:p>
            <a:pPr>
              <a:lnSpc>
                <a:spcPct val="150000"/>
              </a:lnSpc>
              <a:defRPr/>
            </a:pPr>
            <a:r>
              <a:rPr lang="en-US" sz="1600" kern="0" dirty="0" err="1">
                <a:ea typeface="Open Sans" panose="020B0606030504020204" pitchFamily="34" charset="0"/>
                <a:cs typeface="Open Sans" panose="020B0606030504020204" pitchFamily="34" charset="0"/>
              </a:rPr>
              <a:t>Consommation</a:t>
            </a:r>
            <a:r>
              <a:rPr lang="en-US" sz="1600" kern="0" dirty="0">
                <a:ea typeface="Open Sans" panose="020B0606030504020204" pitchFamily="34" charset="0"/>
                <a:cs typeface="Open Sans" panose="020B0606030504020204" pitchFamily="34" charset="0"/>
              </a:rPr>
              <a:t> de </a:t>
            </a:r>
            <a:r>
              <a:rPr lang="en-US" sz="1600" kern="0" dirty="0" err="1">
                <a:ea typeface="Open Sans" panose="020B0606030504020204" pitchFamily="34" charset="0"/>
                <a:cs typeface="Open Sans" panose="020B0606030504020204" pitchFamily="34" charset="0"/>
              </a:rPr>
              <a:t>chaleur</a:t>
            </a:r>
            <a:endParaRPr lang="en-US" sz="1600" kern="0" dirty="0">
              <a:ea typeface="Open Sans" panose="020B0606030504020204" pitchFamily="34" charset="0"/>
              <a:cs typeface="Open Sans" panose="020B0606030504020204" pitchFamily="34" charset="0"/>
            </a:endParaRPr>
          </a:p>
          <a:p>
            <a:pPr>
              <a:lnSpc>
                <a:spcPct val="150000"/>
              </a:lnSpc>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grpSp>
        <p:nvGrpSpPr>
          <p:cNvPr id="13" name="Group 12">
            <a:extLst>
              <a:ext uri="{FF2B5EF4-FFF2-40B4-BE49-F238E27FC236}">
                <a16:creationId xmlns:a16="http://schemas.microsoft.com/office/drawing/2014/main" id="{E2846322-6125-48D4-B915-B4C9875BDDDD}"/>
              </a:ext>
            </a:extLst>
          </p:cNvPr>
          <p:cNvGrpSpPr/>
          <p:nvPr/>
        </p:nvGrpSpPr>
        <p:grpSpPr>
          <a:xfrm>
            <a:off x="323528" y="1485900"/>
            <a:ext cx="4752527" cy="4454990"/>
            <a:chOff x="-2334494" y="2173586"/>
            <a:chExt cx="4670425" cy="3691732"/>
          </a:xfrm>
        </p:grpSpPr>
        <p:graphicFrame>
          <p:nvGraphicFramePr>
            <p:cNvPr id="10" name="Object 9">
              <a:extLst>
                <a:ext uri="{FF2B5EF4-FFF2-40B4-BE49-F238E27FC236}">
                  <a16:creationId xmlns:a16="http://schemas.microsoft.com/office/drawing/2014/main" id="{E3E4575E-37FB-4D13-B2B1-3780B5367594}"/>
                </a:ext>
              </a:extLst>
            </p:cNvPr>
            <p:cNvGraphicFramePr>
              <a:graphicFrameLocks noChangeAspect="1"/>
            </p:cNvGraphicFramePr>
            <p:nvPr/>
          </p:nvGraphicFramePr>
          <p:xfrm>
            <a:off x="-2265293" y="2173586"/>
            <a:ext cx="631825" cy="677862"/>
          </p:xfrm>
          <a:graphic>
            <a:graphicData uri="http://schemas.openxmlformats.org/presentationml/2006/ole">
              <mc:AlternateContent xmlns:mc="http://schemas.openxmlformats.org/markup-compatibility/2006">
                <mc:Choice xmlns:v="urn:schemas-microsoft-com:vml" Requires="v">
                  <p:oleObj name="Picture" r:id="rId3" imgW="629412" imgH="676656" progId="Word.Picture.8">
                    <p:embed/>
                  </p:oleObj>
                </mc:Choice>
                <mc:Fallback>
                  <p:oleObj name="Picture" r:id="rId3" imgW="629412" imgH="676656" progId="Word.Picture.8">
                    <p:embed/>
                    <p:pic>
                      <p:nvPicPr>
                        <p:cNvPr id="10" name="Object 9">
                          <a:extLst>
                            <a:ext uri="{FF2B5EF4-FFF2-40B4-BE49-F238E27FC236}">
                              <a16:creationId xmlns:a16="http://schemas.microsoft.com/office/drawing/2014/main" id="{E3E4575E-37FB-4D13-B2B1-3780B53675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5293" y="2173586"/>
                          <a:ext cx="631825" cy="677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a:extLst>
                <a:ext uri="{FF2B5EF4-FFF2-40B4-BE49-F238E27FC236}">
                  <a16:creationId xmlns:a16="http://schemas.microsoft.com/office/drawing/2014/main" id="{747F47C1-8A48-4263-8776-275539222FDC}"/>
                </a:ext>
              </a:extLst>
            </p:cNvPr>
            <p:cNvGraphicFramePr>
              <a:graphicFrameLocks noChangeAspect="1"/>
            </p:cNvGraphicFramePr>
            <p:nvPr/>
          </p:nvGraphicFramePr>
          <p:xfrm>
            <a:off x="-2334494" y="2512518"/>
            <a:ext cx="4670425" cy="3352800"/>
          </p:xfrm>
          <a:graphic>
            <a:graphicData uri="http://schemas.openxmlformats.org/presentationml/2006/ole">
              <mc:AlternateContent xmlns:mc="http://schemas.openxmlformats.org/markup-compatibility/2006">
                <mc:Choice xmlns:v="urn:schemas-microsoft-com:vml" Requires="v">
                  <p:oleObj name="Picture" r:id="rId5" imgW="4668012" imgH="3353562" progId="Word.Picture.8">
                    <p:embed/>
                  </p:oleObj>
                </mc:Choice>
                <mc:Fallback>
                  <p:oleObj name="Picture" r:id="rId5" imgW="4668012" imgH="3353562" progId="Word.Picture.8">
                    <p:embed/>
                    <p:pic>
                      <p:nvPicPr>
                        <p:cNvPr id="11" name="Object 10">
                          <a:extLst>
                            <a:ext uri="{FF2B5EF4-FFF2-40B4-BE49-F238E27FC236}">
                              <a16:creationId xmlns:a16="http://schemas.microsoft.com/office/drawing/2014/main" id="{747F47C1-8A48-4263-8776-275539222FD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4494" y="2512518"/>
                          <a:ext cx="4670425" cy="3352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8" name="Table 17">
            <a:extLst>
              <a:ext uri="{FF2B5EF4-FFF2-40B4-BE49-F238E27FC236}">
                <a16:creationId xmlns:a16="http://schemas.microsoft.com/office/drawing/2014/main" id="{EAB29862-4A57-4399-BBF8-81A408FB0A13}"/>
              </a:ext>
            </a:extLst>
          </p:cNvPr>
          <p:cNvGraphicFramePr>
            <a:graphicFrameLocks noGrp="1"/>
          </p:cNvGraphicFramePr>
          <p:nvPr/>
        </p:nvGraphicFramePr>
        <p:xfrm>
          <a:off x="5220072" y="3163404"/>
          <a:ext cx="3671511" cy="3093720"/>
        </p:xfrm>
        <a:graphic>
          <a:graphicData uri="http://schemas.openxmlformats.org/drawingml/2006/table">
            <a:tbl>
              <a:tblPr>
                <a:tableStyleId>{5C22544A-7EE6-4342-B048-85BDC9FD1C3A}</a:tableStyleId>
              </a:tblPr>
              <a:tblGrid>
                <a:gridCol w="588205">
                  <a:extLst>
                    <a:ext uri="{9D8B030D-6E8A-4147-A177-3AD203B41FA5}">
                      <a16:colId xmlns:a16="http://schemas.microsoft.com/office/drawing/2014/main" val="361472916"/>
                    </a:ext>
                  </a:extLst>
                </a:gridCol>
                <a:gridCol w="1228635">
                  <a:extLst>
                    <a:ext uri="{9D8B030D-6E8A-4147-A177-3AD203B41FA5}">
                      <a16:colId xmlns:a16="http://schemas.microsoft.com/office/drawing/2014/main" val="143179157"/>
                    </a:ext>
                  </a:extLst>
                </a:gridCol>
                <a:gridCol w="573363">
                  <a:extLst>
                    <a:ext uri="{9D8B030D-6E8A-4147-A177-3AD203B41FA5}">
                      <a16:colId xmlns:a16="http://schemas.microsoft.com/office/drawing/2014/main" val="3751194805"/>
                    </a:ext>
                  </a:extLst>
                </a:gridCol>
                <a:gridCol w="1281308">
                  <a:extLst>
                    <a:ext uri="{9D8B030D-6E8A-4147-A177-3AD203B41FA5}">
                      <a16:colId xmlns:a16="http://schemas.microsoft.com/office/drawing/2014/main" val="577822164"/>
                    </a:ext>
                  </a:extLst>
                </a:gridCol>
              </a:tblGrid>
              <a:tr h="89717">
                <a:tc gridSpan="2">
                  <a:txBody>
                    <a:bodyPr/>
                    <a:lstStyle/>
                    <a:p>
                      <a:pPr marL="71755" marR="6985" algn="ctr">
                        <a:lnSpc>
                          <a:spcPct val="115000"/>
                        </a:lnSpc>
                        <a:spcBef>
                          <a:spcPts val="300"/>
                        </a:spcBef>
                        <a:spcAft>
                          <a:spcPts val="300"/>
                        </a:spcAft>
                      </a:pPr>
                      <a:r>
                        <a:rPr lang="en-GB" sz="900" b="1">
                          <a:solidFill>
                            <a:schemeClr val="bg2">
                              <a:lumMod val="10000"/>
                            </a:schemeClr>
                          </a:solidFill>
                          <a:effectLst/>
                        </a:rPr>
                        <a:t>Pompes / vannes</a:t>
                      </a:r>
                      <a:endParaRPr lang="es-ES" sz="9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hMerge="1">
                  <a:txBody>
                    <a:bodyPr/>
                    <a:lstStyle/>
                    <a:p>
                      <a:endParaRPr lang="es-ES"/>
                    </a:p>
                  </a:txBody>
                  <a:tcPr/>
                </a:tc>
                <a:tc gridSpan="2">
                  <a:txBody>
                    <a:bodyPr/>
                    <a:lstStyle/>
                    <a:p>
                      <a:pPr marL="71755" marR="6985" algn="ctr">
                        <a:lnSpc>
                          <a:spcPct val="115000"/>
                        </a:lnSpc>
                        <a:spcBef>
                          <a:spcPts val="300"/>
                        </a:spcBef>
                        <a:spcAft>
                          <a:spcPts val="300"/>
                        </a:spcAft>
                      </a:pPr>
                      <a:r>
                        <a:rPr lang="en-GB" sz="900" b="1">
                          <a:solidFill>
                            <a:schemeClr val="bg2">
                              <a:lumMod val="10000"/>
                            </a:schemeClr>
                          </a:solidFill>
                          <a:effectLst/>
                        </a:rPr>
                        <a:t>Capteurs de température</a:t>
                      </a:r>
                      <a:endParaRPr lang="es-ES" sz="9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hMerge="1">
                  <a:txBody>
                    <a:bodyPr/>
                    <a:lstStyle/>
                    <a:p>
                      <a:endParaRPr lang="es-ES"/>
                    </a:p>
                  </a:txBody>
                  <a:tcPr/>
                </a:tc>
                <a:extLst>
                  <a:ext uri="{0D108BD9-81ED-4DB2-BD59-A6C34878D82A}">
                    <a16:rowId xmlns:a16="http://schemas.microsoft.com/office/drawing/2014/main" val="727392155"/>
                  </a:ext>
                </a:extLst>
              </a:tr>
              <a:tr h="412351">
                <a:tc>
                  <a:txBody>
                    <a:bodyPr/>
                    <a:lstStyle/>
                    <a:p>
                      <a:pPr marL="71755" marR="6985">
                        <a:lnSpc>
                          <a:spcPct val="115000"/>
                        </a:lnSpc>
                        <a:spcBef>
                          <a:spcPts val="300"/>
                        </a:spcBef>
                        <a:spcAft>
                          <a:spcPts val="300"/>
                        </a:spcAft>
                      </a:pPr>
                      <a:r>
                        <a:rPr lang="en-GB" sz="800">
                          <a:solidFill>
                            <a:schemeClr val="bg2">
                              <a:lumMod val="10000"/>
                            </a:schemeClr>
                          </a:solidFill>
                          <a:effectLst/>
                        </a:rPr>
                        <a:t>PHP</a:t>
                      </a:r>
                      <a:endParaRPr lang="es-ES" sz="8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900">
                          <a:solidFill>
                            <a:schemeClr val="bg2">
                              <a:lumMod val="10000"/>
                            </a:schemeClr>
                          </a:solidFill>
                          <a:effectLst/>
                        </a:rPr>
                        <a:t>Primary heating pump (pompe à chaleur primaire)</a:t>
                      </a:r>
                      <a:endParaRPr lang="es-ES" sz="90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800">
                          <a:solidFill>
                            <a:schemeClr val="bg2">
                              <a:lumMod val="10000"/>
                            </a:schemeClr>
                          </a:solidFill>
                          <a:effectLst/>
                        </a:rPr>
                        <a:t>ET</a:t>
                      </a:r>
                      <a:endParaRPr lang="es-ES" sz="8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900">
                          <a:solidFill>
                            <a:schemeClr val="bg2">
                              <a:lumMod val="10000"/>
                            </a:schemeClr>
                          </a:solidFill>
                          <a:effectLst/>
                        </a:rPr>
                        <a:t>External temperature sensor (capteur de température extérieure)</a:t>
                      </a:r>
                      <a:endParaRPr lang="es-ES" sz="9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2975555823"/>
                  </a:ext>
                </a:extLst>
              </a:tr>
              <a:tr h="270886">
                <a:tc>
                  <a:txBody>
                    <a:bodyPr/>
                    <a:lstStyle/>
                    <a:p>
                      <a:pPr marL="71755" marR="6985">
                        <a:lnSpc>
                          <a:spcPct val="115000"/>
                        </a:lnSpc>
                        <a:spcBef>
                          <a:spcPts val="300"/>
                        </a:spcBef>
                        <a:spcAft>
                          <a:spcPts val="300"/>
                        </a:spcAft>
                      </a:pPr>
                      <a:r>
                        <a:rPr lang="en-GB" sz="800">
                          <a:solidFill>
                            <a:schemeClr val="bg2">
                              <a:lumMod val="10000"/>
                            </a:schemeClr>
                          </a:solidFill>
                          <a:effectLst/>
                        </a:rPr>
                        <a:t>HWP</a:t>
                      </a:r>
                      <a:endParaRPr lang="es-ES" sz="8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900">
                          <a:solidFill>
                            <a:schemeClr val="bg2">
                              <a:lumMod val="10000"/>
                            </a:schemeClr>
                          </a:solidFill>
                          <a:effectLst/>
                        </a:rPr>
                        <a:t>Domestic hot water pump (pompe à eau chaude sanitaire)</a:t>
                      </a:r>
                      <a:endParaRPr lang="es-ES" sz="9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800">
                          <a:solidFill>
                            <a:schemeClr val="bg2">
                              <a:lumMod val="10000"/>
                            </a:schemeClr>
                          </a:solidFill>
                          <a:effectLst/>
                        </a:rPr>
                        <a:t>BTS</a:t>
                      </a:r>
                      <a:endParaRPr lang="es-ES" sz="8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900">
                          <a:solidFill>
                            <a:schemeClr val="bg2">
                              <a:lumMod val="10000"/>
                            </a:schemeClr>
                          </a:solidFill>
                          <a:effectLst/>
                        </a:rPr>
                        <a:t>Temperature sensor (boiler) - Capteur de température (chaudière)</a:t>
                      </a:r>
                      <a:endParaRPr lang="es-ES" sz="9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471090281"/>
                  </a:ext>
                </a:extLst>
              </a:tr>
              <a:tr h="412351">
                <a:tc>
                  <a:txBody>
                    <a:bodyPr/>
                    <a:lstStyle/>
                    <a:p>
                      <a:pPr marL="71755" marR="6985">
                        <a:lnSpc>
                          <a:spcPct val="115000"/>
                        </a:lnSpc>
                        <a:spcBef>
                          <a:spcPts val="300"/>
                        </a:spcBef>
                        <a:spcAft>
                          <a:spcPts val="300"/>
                        </a:spcAft>
                      </a:pPr>
                      <a:r>
                        <a:rPr lang="en-GB" sz="800">
                          <a:solidFill>
                            <a:schemeClr val="bg2">
                              <a:lumMod val="10000"/>
                            </a:schemeClr>
                          </a:solidFill>
                          <a:effectLst/>
                        </a:rPr>
                        <a:t>HWRP</a:t>
                      </a:r>
                      <a:endParaRPr lang="es-ES" sz="8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900">
                          <a:solidFill>
                            <a:schemeClr val="bg2">
                              <a:lumMod val="10000"/>
                            </a:schemeClr>
                          </a:solidFill>
                          <a:effectLst/>
                        </a:rPr>
                        <a:t>Domestic hot water return pump (pompe de retour à eau  chaude sanitaire)</a:t>
                      </a:r>
                      <a:endParaRPr lang="es-ES" sz="9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800">
                          <a:solidFill>
                            <a:schemeClr val="bg2">
                              <a:lumMod val="10000"/>
                            </a:schemeClr>
                          </a:solidFill>
                          <a:effectLst/>
                        </a:rPr>
                        <a:t>HWTS</a:t>
                      </a:r>
                      <a:endParaRPr lang="es-ES" sz="8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900">
                          <a:solidFill>
                            <a:schemeClr val="bg2">
                              <a:lumMod val="10000"/>
                            </a:schemeClr>
                          </a:solidFill>
                          <a:effectLst/>
                        </a:rPr>
                        <a:t>Temperature sensor (domestic hot water) - Capteur de température (eau chaude sanitaire)</a:t>
                      </a:r>
                      <a:endParaRPr lang="es-ES" sz="9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1665226545"/>
                  </a:ext>
                </a:extLst>
              </a:tr>
              <a:tr h="270886">
                <a:tc>
                  <a:txBody>
                    <a:bodyPr/>
                    <a:lstStyle/>
                    <a:p>
                      <a:pPr marL="71755" marR="6985">
                        <a:lnSpc>
                          <a:spcPct val="115000"/>
                        </a:lnSpc>
                        <a:spcBef>
                          <a:spcPts val="300"/>
                        </a:spcBef>
                        <a:spcAft>
                          <a:spcPts val="300"/>
                        </a:spcAft>
                      </a:pPr>
                      <a:r>
                        <a:rPr lang="en-GB" sz="800">
                          <a:solidFill>
                            <a:schemeClr val="bg2">
                              <a:lumMod val="10000"/>
                            </a:schemeClr>
                          </a:solidFill>
                          <a:effectLst/>
                        </a:rPr>
                        <a:t>SHP</a:t>
                      </a:r>
                      <a:endParaRPr lang="es-ES" sz="8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900">
                          <a:solidFill>
                            <a:schemeClr val="bg2">
                              <a:lumMod val="10000"/>
                            </a:schemeClr>
                          </a:solidFill>
                          <a:effectLst/>
                        </a:rPr>
                        <a:t>Secondary heating pump (pompe à chaleur secondaire)</a:t>
                      </a:r>
                      <a:endParaRPr lang="es-ES" sz="90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800">
                          <a:solidFill>
                            <a:schemeClr val="bg2">
                              <a:lumMod val="10000"/>
                            </a:schemeClr>
                          </a:solidFill>
                          <a:effectLst/>
                        </a:rPr>
                        <a:t>FTS</a:t>
                      </a:r>
                      <a:endParaRPr lang="es-ES" sz="8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900">
                          <a:solidFill>
                            <a:schemeClr val="bg2">
                              <a:lumMod val="10000"/>
                            </a:schemeClr>
                          </a:solidFill>
                          <a:effectLst/>
                        </a:rPr>
                        <a:t>Temperature sensor (flow) - Capteur de température (débit)</a:t>
                      </a:r>
                      <a:endParaRPr lang="es-ES" sz="9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2255190505"/>
                  </a:ext>
                </a:extLst>
              </a:tr>
              <a:tr h="270886">
                <a:tc>
                  <a:txBody>
                    <a:bodyPr/>
                    <a:lstStyle/>
                    <a:p>
                      <a:pPr marL="71755" marR="6985">
                        <a:lnSpc>
                          <a:spcPct val="115000"/>
                        </a:lnSpc>
                        <a:spcBef>
                          <a:spcPts val="300"/>
                        </a:spcBef>
                        <a:spcAft>
                          <a:spcPts val="300"/>
                        </a:spcAft>
                      </a:pPr>
                      <a:r>
                        <a:rPr lang="en-GB" sz="800">
                          <a:solidFill>
                            <a:schemeClr val="bg2">
                              <a:lumMod val="10000"/>
                            </a:schemeClr>
                          </a:solidFill>
                          <a:effectLst/>
                        </a:rPr>
                        <a:t>MV</a:t>
                      </a:r>
                      <a:endParaRPr lang="es-ES" sz="8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900">
                          <a:solidFill>
                            <a:schemeClr val="bg2">
                              <a:lumMod val="10000"/>
                            </a:schemeClr>
                          </a:solidFill>
                          <a:effectLst/>
                        </a:rPr>
                        <a:t>Mixing valve (Vanne mélangeuse)</a:t>
                      </a:r>
                      <a:endParaRPr lang="es-ES" sz="9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800">
                          <a:solidFill>
                            <a:schemeClr val="bg2">
                              <a:lumMod val="10000"/>
                            </a:schemeClr>
                          </a:solidFill>
                          <a:effectLst/>
                        </a:rPr>
                        <a:t>RTS</a:t>
                      </a:r>
                      <a:endParaRPr lang="es-ES" sz="8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900" dirty="0">
                          <a:solidFill>
                            <a:schemeClr val="bg2">
                              <a:lumMod val="10000"/>
                            </a:schemeClr>
                          </a:solidFill>
                          <a:effectLst/>
                        </a:rPr>
                        <a:t>Temperature sensor (return) - </a:t>
                      </a:r>
                      <a:r>
                        <a:rPr lang="en-GB" sz="900" dirty="0" err="1">
                          <a:solidFill>
                            <a:schemeClr val="bg2">
                              <a:lumMod val="10000"/>
                            </a:schemeClr>
                          </a:solidFill>
                          <a:effectLst/>
                        </a:rPr>
                        <a:t>Capteur</a:t>
                      </a:r>
                      <a:r>
                        <a:rPr lang="en-GB" sz="900" dirty="0">
                          <a:solidFill>
                            <a:schemeClr val="bg2">
                              <a:lumMod val="10000"/>
                            </a:schemeClr>
                          </a:solidFill>
                          <a:effectLst/>
                        </a:rPr>
                        <a:t> de </a:t>
                      </a:r>
                      <a:r>
                        <a:rPr lang="en-GB" sz="900" dirty="0" err="1">
                          <a:solidFill>
                            <a:schemeClr val="bg2">
                              <a:lumMod val="10000"/>
                            </a:schemeClr>
                          </a:solidFill>
                          <a:effectLst/>
                        </a:rPr>
                        <a:t>température</a:t>
                      </a:r>
                      <a:r>
                        <a:rPr lang="en-GB" sz="900" dirty="0">
                          <a:solidFill>
                            <a:schemeClr val="bg2">
                              <a:lumMod val="10000"/>
                            </a:schemeClr>
                          </a:solidFill>
                          <a:effectLst/>
                        </a:rPr>
                        <a:t> (retour)</a:t>
                      </a:r>
                      <a:endParaRPr lang="es-ES" sz="9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2851713838"/>
                  </a:ext>
                </a:extLst>
              </a:tr>
            </a:tbl>
          </a:graphicData>
        </a:graphic>
      </p:graphicFrame>
    </p:spTree>
    <p:extLst>
      <p:ext uri="{BB962C8B-B14F-4D97-AF65-F5344CB8AC3E}">
        <p14:creationId xmlns:p14="http://schemas.microsoft.com/office/powerpoint/2010/main" val="1396881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Type de chauffage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268760"/>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600" kern="0" dirty="0" err="1">
                <a:ea typeface="Open Sans" panose="020B0606030504020204" pitchFamily="34" charset="0"/>
                <a:cs typeface="Open Sans" panose="020B0606030504020204" pitchFamily="34" charset="0"/>
              </a:rPr>
              <a:t>Selon</a:t>
            </a:r>
            <a:r>
              <a:rPr lang="en-US" sz="1600" kern="0" dirty="0">
                <a:ea typeface="Open Sans" panose="020B0606030504020204" pitchFamily="34" charset="0"/>
                <a:cs typeface="Open Sans" panose="020B0606030504020204" pitchFamily="34" charset="0"/>
              </a:rPr>
              <a:t> le type de </a:t>
            </a:r>
            <a:r>
              <a:rPr lang="en-US" sz="1600" kern="0" dirty="0" err="1">
                <a:ea typeface="Open Sans" panose="020B0606030504020204" pitchFamily="34" charset="0"/>
                <a:cs typeface="Open Sans" panose="020B0606030504020204" pitchFamily="34" charset="0"/>
              </a:rPr>
              <a:t>chauffage</a:t>
            </a:r>
            <a:endParaRPr lang="en-US" sz="1600" kern="0" dirty="0">
              <a:ea typeface="Open Sans" panose="020B0606030504020204" pitchFamily="34" charset="0"/>
              <a:cs typeface="Open Sans" panose="020B0606030504020204" pitchFamily="34" charset="0"/>
            </a:endParaRPr>
          </a:p>
          <a:p>
            <a:pPr lvl="1">
              <a:lnSpc>
                <a:spcPct val="150000"/>
              </a:lnSpc>
              <a:buFont typeface="Wingdings" panose="05000000000000000000" pitchFamily="2" charset="2"/>
              <a:buChar char="§"/>
              <a:defRPr/>
            </a:pPr>
            <a:r>
              <a:rPr lang="en-US" sz="1600" b="1" kern="0" dirty="0">
                <a:solidFill>
                  <a:schemeClr val="tx1"/>
                </a:solidFill>
                <a:ea typeface="Open Sans" panose="020B0606030504020204" pitchFamily="34" charset="0"/>
                <a:cs typeface="Open Sans" panose="020B0606030504020204" pitchFamily="34" charset="0"/>
              </a:rPr>
              <a:t>Une </a:t>
            </a:r>
            <a:r>
              <a:rPr lang="en-US" sz="1600" b="1" kern="0" dirty="0" err="1">
                <a:solidFill>
                  <a:schemeClr val="tx1"/>
                </a:solidFill>
                <a:ea typeface="Open Sans" panose="020B0606030504020204" pitchFamily="34" charset="0"/>
                <a:cs typeface="Open Sans" panose="020B0606030504020204" pitchFamily="34" charset="0"/>
              </a:rPr>
              <a:t>température</a:t>
            </a:r>
            <a:r>
              <a:rPr lang="en-US" sz="1600" b="1" kern="0" dirty="0">
                <a:solidFill>
                  <a:schemeClr val="tx1"/>
                </a:solidFill>
                <a:ea typeface="Open Sans" panose="020B0606030504020204" pitchFamily="34" charset="0"/>
                <a:cs typeface="Open Sans" panose="020B0606030504020204" pitchFamily="34" charset="0"/>
              </a:rPr>
              <a:t> </a:t>
            </a:r>
            <a:r>
              <a:rPr lang="en-US" sz="1600" b="1" kern="0" dirty="0" err="1">
                <a:solidFill>
                  <a:schemeClr val="tx1"/>
                </a:solidFill>
                <a:ea typeface="Open Sans" panose="020B0606030504020204" pitchFamily="34" charset="0"/>
                <a:cs typeface="Open Sans" panose="020B0606030504020204" pitchFamily="34" charset="0"/>
              </a:rPr>
              <a:t>basse</a:t>
            </a:r>
            <a:r>
              <a:rPr lang="en-US" sz="1600" b="1" kern="0" dirty="0">
                <a:solidFill>
                  <a:schemeClr val="tx1"/>
                </a:solidFill>
                <a:ea typeface="Open Sans" panose="020B0606030504020204" pitchFamily="34" charset="0"/>
                <a:cs typeface="Open Sans" panose="020B0606030504020204" pitchFamily="34" charset="0"/>
              </a:rPr>
              <a:t> </a:t>
            </a:r>
            <a:r>
              <a:rPr lang="en-US" sz="1600" b="1" kern="0" dirty="0" err="1">
                <a:solidFill>
                  <a:schemeClr val="tx1"/>
                </a:solidFill>
                <a:ea typeface="Open Sans" panose="020B0606030504020204" pitchFamily="34" charset="0"/>
                <a:cs typeface="Open Sans" panose="020B0606030504020204" pitchFamily="34" charset="0"/>
              </a:rPr>
              <a:t>est</a:t>
            </a:r>
            <a:r>
              <a:rPr lang="en-US" sz="1600" b="1" kern="0" dirty="0">
                <a:solidFill>
                  <a:schemeClr val="tx1"/>
                </a:solidFill>
                <a:ea typeface="Open Sans" panose="020B0606030504020204" pitchFamily="34" charset="0"/>
                <a:cs typeface="Open Sans" panose="020B0606030504020204" pitchFamily="34" charset="0"/>
              </a:rPr>
              <a:t> </a:t>
            </a:r>
            <a:r>
              <a:rPr lang="en-US" sz="1600" b="1" kern="0" dirty="0" err="1">
                <a:solidFill>
                  <a:schemeClr val="tx1"/>
                </a:solidFill>
                <a:ea typeface="Open Sans" panose="020B0606030504020204" pitchFamily="34" charset="0"/>
                <a:cs typeface="Open Sans" panose="020B0606030504020204" pitchFamily="34" charset="0"/>
              </a:rPr>
              <a:t>définie</a:t>
            </a:r>
            <a:r>
              <a:rPr lang="en-US" sz="1600" b="1" kern="0" dirty="0">
                <a:solidFill>
                  <a:schemeClr val="tx1"/>
                </a:solidFill>
                <a:ea typeface="Open Sans" panose="020B0606030504020204" pitchFamily="34" charset="0"/>
                <a:cs typeface="Open Sans" panose="020B0606030504020204" pitchFamily="34" charset="0"/>
              </a:rPr>
              <a:t> pour </a:t>
            </a:r>
            <a:r>
              <a:rPr lang="en-US" sz="1600" b="1" kern="0" dirty="0" err="1">
                <a:solidFill>
                  <a:schemeClr val="tx1"/>
                </a:solidFill>
                <a:ea typeface="Open Sans" panose="020B0606030504020204" pitchFamily="34" charset="0"/>
                <a:cs typeface="Open Sans" panose="020B0606030504020204" pitchFamily="34" charset="0"/>
              </a:rPr>
              <a:t>tous</a:t>
            </a:r>
            <a:r>
              <a:rPr lang="en-US" sz="1600" b="1" kern="0" dirty="0">
                <a:solidFill>
                  <a:schemeClr val="tx1"/>
                </a:solidFill>
                <a:ea typeface="Open Sans" panose="020B0606030504020204" pitchFamily="34" charset="0"/>
                <a:cs typeface="Open Sans" panose="020B0606030504020204" pitchFamily="34" charset="0"/>
              </a:rPr>
              <a:t> les </a:t>
            </a:r>
            <a:r>
              <a:rPr lang="en-US" sz="1600" b="1" kern="0" dirty="0" err="1">
                <a:solidFill>
                  <a:schemeClr val="tx1"/>
                </a:solidFill>
                <a:ea typeface="Open Sans" panose="020B0606030504020204" pitchFamily="34" charset="0"/>
                <a:cs typeface="Open Sans" panose="020B0606030504020204" pitchFamily="34" charset="0"/>
              </a:rPr>
              <a:t>systèmes</a:t>
            </a:r>
            <a:r>
              <a:rPr lang="en-US" sz="1600" b="1" kern="0" dirty="0">
                <a:solidFill>
                  <a:schemeClr val="tx1"/>
                </a:solidFill>
                <a:ea typeface="Open Sans" panose="020B0606030504020204" pitchFamily="34" charset="0"/>
                <a:cs typeface="Open Sans" panose="020B0606030504020204" pitchFamily="34" charset="0"/>
              </a:rPr>
              <a:t> de </a:t>
            </a:r>
            <a:r>
              <a:rPr lang="en-US" sz="1600" b="1" kern="0" dirty="0" err="1">
                <a:solidFill>
                  <a:schemeClr val="tx1"/>
                </a:solidFill>
                <a:ea typeface="Open Sans" panose="020B0606030504020204" pitchFamily="34" charset="0"/>
                <a:cs typeface="Open Sans" panose="020B0606030504020204" pitchFamily="34" charset="0"/>
              </a:rPr>
              <a:t>chauffage</a:t>
            </a:r>
            <a:r>
              <a:rPr lang="en-US" sz="1600" b="1" kern="0" dirty="0">
                <a:solidFill>
                  <a:schemeClr val="tx1"/>
                </a:solidFill>
                <a:ea typeface="Open Sans" panose="020B0606030504020204" pitchFamily="34" charset="0"/>
                <a:cs typeface="Open Sans" panose="020B0606030504020204" pitchFamily="34" charset="0"/>
              </a:rPr>
              <a:t> </a:t>
            </a:r>
            <a:r>
              <a:rPr lang="en-US" sz="1600" b="1" kern="0" dirty="0" err="1">
                <a:solidFill>
                  <a:schemeClr val="tx1"/>
                </a:solidFill>
                <a:ea typeface="Open Sans" panose="020B0606030504020204" pitchFamily="34" charset="0"/>
                <a:cs typeface="Open Sans" panose="020B0606030504020204" pitchFamily="34" charset="0"/>
              </a:rPr>
              <a:t>traditionnels</a:t>
            </a:r>
            <a:r>
              <a:rPr lang="en-US" sz="1600" b="1" kern="0" dirty="0">
                <a:solidFill>
                  <a:schemeClr val="tx1"/>
                </a:solidFill>
                <a:ea typeface="Open Sans" panose="020B0606030504020204" pitchFamily="34" charset="0"/>
                <a:cs typeface="Open Sans" panose="020B0606030504020204" pitchFamily="34" charset="0"/>
              </a:rPr>
              <a:t> (</a:t>
            </a:r>
            <a:r>
              <a:rPr lang="en-US" sz="1600" b="1" kern="0" dirty="0" err="1">
                <a:solidFill>
                  <a:schemeClr val="tx1"/>
                </a:solidFill>
                <a:ea typeface="Open Sans" panose="020B0606030504020204" pitchFamily="34" charset="0"/>
                <a:cs typeface="Open Sans" panose="020B0606030504020204" pitchFamily="34" charset="0"/>
              </a:rPr>
              <a:t>température</a:t>
            </a:r>
            <a:r>
              <a:rPr lang="en-US" sz="1600" b="1" kern="0" dirty="0">
                <a:solidFill>
                  <a:schemeClr val="tx1"/>
                </a:solidFill>
                <a:ea typeface="Open Sans" panose="020B0606030504020204" pitchFamily="34" charset="0"/>
                <a:cs typeface="Open Sans" panose="020B0606030504020204" pitchFamily="34" charset="0"/>
              </a:rPr>
              <a:t> de </a:t>
            </a:r>
            <a:r>
              <a:rPr lang="en-US" sz="1600" b="1" kern="0" dirty="0" err="1">
                <a:solidFill>
                  <a:schemeClr val="tx1"/>
                </a:solidFill>
                <a:ea typeface="Open Sans" panose="020B0606030504020204" pitchFamily="34" charset="0"/>
                <a:cs typeface="Open Sans" panose="020B0606030504020204" pitchFamily="34" charset="0"/>
              </a:rPr>
              <a:t>départ</a:t>
            </a:r>
            <a:r>
              <a:rPr lang="en-US" sz="1600" b="1" kern="0" dirty="0">
                <a:solidFill>
                  <a:schemeClr val="tx1"/>
                </a:solidFill>
                <a:ea typeface="Open Sans" panose="020B0606030504020204" pitchFamily="34" charset="0"/>
                <a:cs typeface="Open Sans" panose="020B0606030504020204" pitchFamily="34" charset="0"/>
              </a:rPr>
              <a:t> max. : 75 °C)</a:t>
            </a:r>
          </a:p>
          <a:p>
            <a:pPr lvl="1">
              <a:lnSpc>
                <a:spcPct val="150000"/>
              </a:lnSpc>
              <a:buFont typeface="Wingdings" panose="05000000000000000000" pitchFamily="2" charset="2"/>
              <a:buChar char="§"/>
              <a:defRPr/>
            </a:pPr>
            <a:r>
              <a:rPr lang="en-US" sz="1600" b="1" kern="0" dirty="0">
                <a:solidFill>
                  <a:schemeClr val="tx1"/>
                </a:solidFill>
                <a:ea typeface="Open Sans" panose="020B0606030504020204" pitchFamily="34" charset="0"/>
                <a:cs typeface="Open Sans" panose="020B0606030504020204" pitchFamily="34" charset="0"/>
              </a:rPr>
              <a:t>Une </a:t>
            </a:r>
            <a:r>
              <a:rPr lang="en-US" sz="1600" b="1" kern="0" dirty="0" err="1">
                <a:solidFill>
                  <a:schemeClr val="tx1"/>
                </a:solidFill>
                <a:ea typeface="Open Sans" panose="020B0606030504020204" pitchFamily="34" charset="0"/>
                <a:cs typeface="Open Sans" panose="020B0606030504020204" pitchFamily="34" charset="0"/>
              </a:rPr>
              <a:t>température</a:t>
            </a:r>
            <a:r>
              <a:rPr lang="en-US" sz="1600" b="1" kern="0" dirty="0">
                <a:solidFill>
                  <a:schemeClr val="tx1"/>
                </a:solidFill>
                <a:ea typeface="Open Sans" panose="020B0606030504020204" pitchFamily="34" charset="0"/>
                <a:cs typeface="Open Sans" panose="020B0606030504020204" pitchFamily="34" charset="0"/>
              </a:rPr>
              <a:t> </a:t>
            </a:r>
            <a:r>
              <a:rPr lang="en-US" sz="1600" b="1" kern="0" dirty="0" err="1">
                <a:solidFill>
                  <a:schemeClr val="tx1"/>
                </a:solidFill>
                <a:ea typeface="Open Sans" panose="020B0606030504020204" pitchFamily="34" charset="0"/>
                <a:cs typeface="Open Sans" panose="020B0606030504020204" pitchFamily="34" charset="0"/>
              </a:rPr>
              <a:t>minimale</a:t>
            </a:r>
            <a:r>
              <a:rPr lang="en-US" sz="1600" b="1" kern="0" dirty="0">
                <a:solidFill>
                  <a:schemeClr val="tx1"/>
                </a:solidFill>
                <a:ea typeface="Open Sans" panose="020B0606030504020204" pitchFamily="34" charset="0"/>
                <a:cs typeface="Open Sans" panose="020B0606030504020204" pitchFamily="34" charset="0"/>
              </a:rPr>
              <a:t> </a:t>
            </a:r>
            <a:r>
              <a:rPr lang="en-US" sz="1600" b="1" kern="0" dirty="0" err="1">
                <a:solidFill>
                  <a:schemeClr val="tx1"/>
                </a:solidFill>
                <a:ea typeface="Open Sans" panose="020B0606030504020204" pitchFamily="34" charset="0"/>
                <a:cs typeface="Open Sans" panose="020B0606030504020204" pitchFamily="34" charset="0"/>
              </a:rPr>
              <a:t>est</a:t>
            </a:r>
            <a:r>
              <a:rPr lang="en-US" sz="1600" b="1" kern="0" dirty="0">
                <a:solidFill>
                  <a:schemeClr val="tx1"/>
                </a:solidFill>
                <a:ea typeface="Open Sans" panose="020B0606030504020204" pitchFamily="34" charset="0"/>
                <a:cs typeface="Open Sans" panose="020B0606030504020204" pitchFamily="34" charset="0"/>
              </a:rPr>
              <a:t> </a:t>
            </a:r>
            <a:r>
              <a:rPr lang="en-US" sz="1600" b="1" kern="0" dirty="0" err="1">
                <a:solidFill>
                  <a:schemeClr val="tx1"/>
                </a:solidFill>
                <a:ea typeface="Open Sans" panose="020B0606030504020204" pitchFamily="34" charset="0"/>
                <a:cs typeface="Open Sans" panose="020B0606030504020204" pitchFamily="34" charset="0"/>
              </a:rPr>
              <a:t>utilisée</a:t>
            </a:r>
            <a:r>
              <a:rPr lang="en-US" sz="1600" b="1" kern="0" dirty="0">
                <a:solidFill>
                  <a:schemeClr val="tx1"/>
                </a:solidFill>
                <a:ea typeface="Open Sans" panose="020B0606030504020204" pitchFamily="34" charset="0"/>
                <a:cs typeface="Open Sans" panose="020B0606030504020204" pitchFamily="34" charset="0"/>
              </a:rPr>
              <a:t> pour le </a:t>
            </a:r>
            <a:r>
              <a:rPr lang="en-US" sz="1600" b="1" kern="0" dirty="0" err="1">
                <a:solidFill>
                  <a:schemeClr val="tx1"/>
                </a:solidFill>
                <a:ea typeface="Open Sans" panose="020B0606030504020204" pitchFamily="34" charset="0"/>
                <a:cs typeface="Open Sans" panose="020B0606030504020204" pitchFamily="34" charset="0"/>
              </a:rPr>
              <a:t>chauffage</a:t>
            </a:r>
            <a:r>
              <a:rPr lang="en-US" sz="1600" b="1" kern="0" dirty="0">
                <a:solidFill>
                  <a:schemeClr val="tx1"/>
                </a:solidFill>
                <a:ea typeface="Open Sans" panose="020B0606030504020204" pitchFamily="34" charset="0"/>
                <a:cs typeface="Open Sans" panose="020B0606030504020204" pitchFamily="34" charset="0"/>
              </a:rPr>
              <a:t> par le sol et/</a:t>
            </a:r>
            <a:r>
              <a:rPr lang="en-US" sz="1600" b="1" kern="0" dirty="0" err="1">
                <a:solidFill>
                  <a:schemeClr val="tx1"/>
                </a:solidFill>
                <a:ea typeface="Open Sans" panose="020B0606030504020204" pitchFamily="34" charset="0"/>
                <a:cs typeface="Open Sans" panose="020B0606030504020204" pitchFamily="34" charset="0"/>
              </a:rPr>
              <a:t>ou</a:t>
            </a:r>
            <a:r>
              <a:rPr lang="en-US" sz="1600" b="1" kern="0" dirty="0">
                <a:solidFill>
                  <a:schemeClr val="tx1"/>
                </a:solidFill>
                <a:ea typeface="Open Sans" panose="020B0606030504020204" pitchFamily="34" charset="0"/>
                <a:cs typeface="Open Sans" panose="020B0606030504020204" pitchFamily="34" charset="0"/>
              </a:rPr>
              <a:t> les </a:t>
            </a:r>
            <a:r>
              <a:rPr lang="en-US" sz="1600" b="1" kern="0" dirty="0" err="1">
                <a:solidFill>
                  <a:schemeClr val="tx1"/>
                </a:solidFill>
                <a:ea typeface="Open Sans" panose="020B0606030504020204" pitchFamily="34" charset="0"/>
                <a:cs typeface="Open Sans" panose="020B0606030504020204" pitchFamily="34" charset="0"/>
              </a:rPr>
              <a:t>pompes</a:t>
            </a:r>
            <a:r>
              <a:rPr lang="en-US" sz="1600" b="1" kern="0" dirty="0">
                <a:solidFill>
                  <a:schemeClr val="tx1"/>
                </a:solidFill>
                <a:ea typeface="Open Sans" panose="020B0606030504020204" pitchFamily="34" charset="0"/>
                <a:cs typeface="Open Sans" panose="020B0606030504020204" pitchFamily="34" charset="0"/>
              </a:rPr>
              <a:t> à </a:t>
            </a:r>
            <a:r>
              <a:rPr lang="en-US" sz="1600" b="1" kern="0" dirty="0" err="1">
                <a:solidFill>
                  <a:schemeClr val="tx1"/>
                </a:solidFill>
                <a:ea typeface="Open Sans" panose="020B0606030504020204" pitchFamily="34" charset="0"/>
                <a:cs typeface="Open Sans" panose="020B0606030504020204" pitchFamily="34" charset="0"/>
              </a:rPr>
              <a:t>chaleur</a:t>
            </a:r>
            <a:r>
              <a:rPr lang="en-US" sz="1600" b="1" kern="0" dirty="0">
                <a:solidFill>
                  <a:schemeClr val="tx1"/>
                </a:solidFill>
                <a:ea typeface="Open Sans" panose="020B0606030504020204" pitchFamily="34" charset="0"/>
                <a:cs typeface="Open Sans" panose="020B0606030504020204" pitchFamily="34" charset="0"/>
              </a:rPr>
              <a:t> </a:t>
            </a:r>
            <a:r>
              <a:rPr lang="en-US" sz="1600" b="1" kern="0" dirty="0" err="1">
                <a:solidFill>
                  <a:schemeClr val="tx1"/>
                </a:solidFill>
                <a:ea typeface="Open Sans" panose="020B0606030504020204" pitchFamily="34" charset="0"/>
                <a:cs typeface="Open Sans" panose="020B0606030504020204" pitchFamily="34" charset="0"/>
              </a:rPr>
              <a:t>ou</a:t>
            </a:r>
            <a:r>
              <a:rPr lang="en-US" sz="1600" b="1" kern="0" dirty="0">
                <a:solidFill>
                  <a:schemeClr val="tx1"/>
                </a:solidFill>
                <a:ea typeface="Open Sans" panose="020B0606030504020204" pitchFamily="34" charset="0"/>
                <a:cs typeface="Open Sans" panose="020B0606030504020204" pitchFamily="34" charset="0"/>
              </a:rPr>
              <a:t> les </a:t>
            </a:r>
            <a:r>
              <a:rPr lang="en-US" sz="1600" b="1" kern="0" dirty="0" err="1">
                <a:solidFill>
                  <a:schemeClr val="tx1"/>
                </a:solidFill>
                <a:ea typeface="Open Sans" panose="020B0606030504020204" pitchFamily="34" charset="0"/>
                <a:cs typeface="Open Sans" panose="020B0606030504020204" pitchFamily="34" charset="0"/>
              </a:rPr>
              <a:t>panneaux</a:t>
            </a:r>
            <a:r>
              <a:rPr lang="en-US" sz="1600" b="1" kern="0" dirty="0">
                <a:solidFill>
                  <a:schemeClr val="tx1"/>
                </a:solidFill>
                <a:ea typeface="Open Sans" panose="020B0606030504020204" pitchFamily="34" charset="0"/>
                <a:cs typeface="Open Sans" panose="020B0606030504020204" pitchFamily="34" charset="0"/>
              </a:rPr>
              <a:t> </a:t>
            </a:r>
            <a:r>
              <a:rPr lang="en-US" sz="1600" b="1" kern="0" dirty="0" err="1">
                <a:solidFill>
                  <a:schemeClr val="tx1"/>
                </a:solidFill>
                <a:ea typeface="Open Sans" panose="020B0606030504020204" pitchFamily="34" charset="0"/>
                <a:cs typeface="Open Sans" panose="020B0606030504020204" pitchFamily="34" charset="0"/>
              </a:rPr>
              <a:t>solaires</a:t>
            </a:r>
            <a:r>
              <a:rPr lang="en-US" sz="1600" b="1" kern="0" dirty="0">
                <a:solidFill>
                  <a:schemeClr val="tx1"/>
                </a:solidFill>
                <a:ea typeface="Open Sans" panose="020B0606030504020204" pitchFamily="34" charset="0"/>
                <a:cs typeface="Open Sans" panose="020B0606030504020204" pitchFamily="34" charset="0"/>
              </a:rPr>
              <a:t> (</a:t>
            </a:r>
            <a:r>
              <a:rPr lang="en-US" sz="1600" b="1" kern="0" dirty="0" err="1">
                <a:solidFill>
                  <a:schemeClr val="tx1"/>
                </a:solidFill>
                <a:ea typeface="Open Sans" panose="020B0606030504020204" pitchFamily="34" charset="0"/>
                <a:cs typeface="Open Sans" panose="020B0606030504020204" pitchFamily="34" charset="0"/>
              </a:rPr>
              <a:t>température</a:t>
            </a:r>
            <a:r>
              <a:rPr lang="en-US" sz="1600" b="1" kern="0" dirty="0">
                <a:solidFill>
                  <a:schemeClr val="tx1"/>
                </a:solidFill>
                <a:ea typeface="Open Sans" panose="020B0606030504020204" pitchFamily="34" charset="0"/>
                <a:cs typeface="Open Sans" panose="020B0606030504020204" pitchFamily="34" charset="0"/>
              </a:rPr>
              <a:t> de </a:t>
            </a:r>
            <a:r>
              <a:rPr lang="en-US" sz="1600" b="1" kern="0" dirty="0" err="1">
                <a:solidFill>
                  <a:schemeClr val="tx1"/>
                </a:solidFill>
                <a:ea typeface="Open Sans" panose="020B0606030504020204" pitchFamily="34" charset="0"/>
                <a:cs typeface="Open Sans" panose="020B0606030504020204" pitchFamily="34" charset="0"/>
              </a:rPr>
              <a:t>départ</a:t>
            </a:r>
            <a:r>
              <a:rPr lang="en-US" sz="1600" b="1" kern="0" dirty="0">
                <a:solidFill>
                  <a:schemeClr val="tx1"/>
                </a:solidFill>
                <a:ea typeface="Open Sans" panose="020B0606030504020204" pitchFamily="34" charset="0"/>
                <a:cs typeface="Open Sans" panose="020B0606030504020204" pitchFamily="34" charset="0"/>
              </a:rPr>
              <a:t> max. : 50 °C)</a:t>
            </a:r>
          </a:p>
          <a:p>
            <a:pPr>
              <a:lnSpc>
                <a:spcPct val="150000"/>
              </a:lnSpc>
              <a:defRPr/>
            </a:pPr>
            <a:r>
              <a:rPr lang="en-US" sz="1600" kern="0" dirty="0" err="1">
                <a:ea typeface="Open Sans" panose="020B0606030504020204" pitchFamily="34" charset="0"/>
                <a:cs typeface="Open Sans" panose="020B0606030504020204" pitchFamily="34" charset="0"/>
              </a:rPr>
              <a:t>Selon</a:t>
            </a:r>
            <a:r>
              <a:rPr lang="en-US" sz="1600" kern="0" dirty="0">
                <a:ea typeface="Open Sans" panose="020B0606030504020204" pitchFamily="34" charset="0"/>
                <a:cs typeface="Open Sans" panose="020B0606030504020204" pitchFamily="34" charset="0"/>
              </a:rPr>
              <a:t> la </a:t>
            </a:r>
            <a:r>
              <a:rPr lang="en-US" sz="1600" kern="0" dirty="0" err="1">
                <a:ea typeface="Open Sans" panose="020B0606030504020204" pitchFamily="34" charset="0"/>
                <a:cs typeface="Open Sans" panose="020B0606030504020204" pitchFamily="34" charset="0"/>
              </a:rPr>
              <a:t>génération</a:t>
            </a:r>
            <a:r>
              <a:rPr lang="en-US" sz="1600" kern="0" dirty="0">
                <a:ea typeface="Open Sans" panose="020B0606030504020204" pitchFamily="34" charset="0"/>
                <a:cs typeface="Open Sans" panose="020B0606030504020204" pitchFamily="34" charset="0"/>
              </a:rPr>
              <a:t> de </a:t>
            </a:r>
            <a:r>
              <a:rPr lang="en-US" sz="1600" kern="0" dirty="0" err="1">
                <a:ea typeface="Open Sans" panose="020B0606030504020204" pitchFamily="34" charset="0"/>
                <a:cs typeface="Open Sans" panose="020B0606030504020204" pitchFamily="34" charset="0"/>
              </a:rPr>
              <a:t>l'énergie</a:t>
            </a:r>
            <a:endParaRPr lang="en-US" sz="1600" kern="0" dirty="0">
              <a:ea typeface="Open Sans" panose="020B0606030504020204" pitchFamily="34" charset="0"/>
              <a:cs typeface="Open Sans" panose="020B0606030504020204" pitchFamily="34" charset="0"/>
            </a:endParaRPr>
          </a:p>
          <a:p>
            <a:pPr lvl="1">
              <a:lnSpc>
                <a:spcPct val="150000"/>
              </a:lnSpc>
              <a:buFont typeface="Wingdings" panose="05000000000000000000" pitchFamily="2" charset="2"/>
              <a:buChar char="§"/>
              <a:defRPr/>
            </a:pPr>
            <a:r>
              <a:rPr lang="en-US" sz="1600" b="1" kern="0" dirty="0">
                <a:solidFill>
                  <a:schemeClr val="tx1"/>
                </a:solidFill>
                <a:ea typeface="Open Sans" panose="020B0606030504020204" pitchFamily="34" charset="0"/>
                <a:cs typeface="Open Sans" panose="020B0606030504020204" pitchFamily="34" charset="0"/>
              </a:rPr>
              <a:t>Type </a:t>
            </a:r>
            <a:r>
              <a:rPr lang="en-US" sz="1600" b="1" kern="0" dirty="0" err="1">
                <a:solidFill>
                  <a:schemeClr val="tx1"/>
                </a:solidFill>
                <a:ea typeface="Open Sans" panose="020B0606030504020204" pitchFamily="34" charset="0"/>
                <a:cs typeface="Open Sans" panose="020B0606030504020204" pitchFamily="34" charset="0"/>
              </a:rPr>
              <a:t>d'énergie</a:t>
            </a:r>
            <a:r>
              <a:rPr lang="en-US" sz="1600" b="1" kern="0" dirty="0">
                <a:solidFill>
                  <a:schemeClr val="tx1"/>
                </a:solidFill>
                <a:ea typeface="Open Sans" panose="020B0606030504020204" pitchFamily="34" charset="0"/>
                <a:cs typeface="Open Sans" panose="020B0606030504020204" pitchFamily="34" charset="0"/>
              </a:rPr>
              <a:t> </a:t>
            </a:r>
            <a:r>
              <a:rPr lang="en-US" sz="1600" b="1" kern="0" dirty="0" err="1">
                <a:solidFill>
                  <a:schemeClr val="tx1"/>
                </a:solidFill>
                <a:ea typeface="Open Sans" panose="020B0606030504020204" pitchFamily="34" charset="0"/>
                <a:cs typeface="Open Sans" panose="020B0606030504020204" pitchFamily="34" charset="0"/>
              </a:rPr>
              <a:t>primaire</a:t>
            </a:r>
            <a:endParaRPr lang="en-US" sz="1600" b="1"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600" kern="0" dirty="0" err="1">
                <a:ea typeface="Open Sans" panose="020B0606030504020204" pitchFamily="34" charset="0"/>
                <a:cs typeface="Open Sans" panose="020B0606030504020204" pitchFamily="34" charset="0"/>
              </a:rPr>
              <a:t>Selon</a:t>
            </a:r>
            <a:r>
              <a:rPr lang="en-US" sz="1600" kern="0" dirty="0">
                <a:ea typeface="Open Sans" panose="020B0606030504020204" pitchFamily="34" charset="0"/>
                <a:cs typeface="Open Sans" panose="020B0606030504020204" pitchFamily="34" charset="0"/>
              </a:rPr>
              <a:t> le </a:t>
            </a:r>
            <a:r>
              <a:rPr lang="en-US" sz="1600" kern="0" dirty="0" err="1">
                <a:ea typeface="Open Sans" panose="020B0606030504020204" pitchFamily="34" charset="0"/>
                <a:cs typeface="Open Sans" panose="020B0606030504020204" pitchFamily="34" charset="0"/>
              </a:rPr>
              <a:t>nombre</a:t>
            </a:r>
            <a:r>
              <a:rPr lang="en-US" sz="1600" kern="0" dirty="0">
                <a:ea typeface="Open Sans" panose="020B0606030504020204" pitchFamily="34" charset="0"/>
                <a:cs typeface="Open Sans" panose="020B0606030504020204" pitchFamily="34" charset="0"/>
              </a:rPr>
              <a:t> de sources </a:t>
            </a:r>
            <a:r>
              <a:rPr lang="en-US" sz="1600" kern="0" dirty="0" err="1">
                <a:ea typeface="Open Sans" panose="020B0606030504020204" pitchFamily="34" charset="0"/>
                <a:cs typeface="Open Sans" panose="020B0606030504020204" pitchFamily="34" charset="0"/>
              </a:rPr>
              <a:t>d'énergie</a:t>
            </a:r>
            <a:endParaRPr lang="en-US" sz="1600" kern="0" dirty="0">
              <a:ea typeface="Open Sans" panose="020B0606030504020204" pitchFamily="34" charset="0"/>
              <a:cs typeface="Open Sans" panose="020B0606030504020204" pitchFamily="34" charset="0"/>
            </a:endParaRPr>
          </a:p>
          <a:p>
            <a:pPr lvl="1">
              <a:lnSpc>
                <a:spcPct val="150000"/>
              </a:lnSpc>
              <a:buFont typeface="Wingdings" panose="05000000000000000000" pitchFamily="2" charset="2"/>
              <a:buChar char="§"/>
              <a:defRPr/>
            </a:pPr>
            <a:r>
              <a:rPr lang="en-US" sz="1600" b="1" kern="0" dirty="0" err="1">
                <a:solidFill>
                  <a:schemeClr val="tx1"/>
                </a:solidFill>
                <a:ea typeface="Open Sans" panose="020B0606030504020204" pitchFamily="34" charset="0"/>
                <a:cs typeface="Open Sans" panose="020B0606030504020204" pitchFamily="34" charset="0"/>
              </a:rPr>
              <a:t>Systèmes</a:t>
            </a:r>
            <a:r>
              <a:rPr lang="en-US" sz="1600" b="1" kern="0" dirty="0">
                <a:solidFill>
                  <a:schemeClr val="tx1"/>
                </a:solidFill>
                <a:ea typeface="Open Sans" panose="020B0606030504020204" pitchFamily="34" charset="0"/>
                <a:cs typeface="Open Sans" panose="020B0606030504020204" pitchFamily="34" charset="0"/>
              </a:rPr>
              <a:t> de </a:t>
            </a:r>
            <a:r>
              <a:rPr lang="en-US" sz="1600" b="1" kern="0" dirty="0" err="1">
                <a:solidFill>
                  <a:schemeClr val="tx1"/>
                </a:solidFill>
                <a:ea typeface="Open Sans" panose="020B0606030504020204" pitchFamily="34" charset="0"/>
                <a:cs typeface="Open Sans" panose="020B0606030504020204" pitchFamily="34" charset="0"/>
              </a:rPr>
              <a:t>chaudière</a:t>
            </a:r>
            <a:r>
              <a:rPr lang="en-US" sz="1600" b="1" kern="0" dirty="0">
                <a:solidFill>
                  <a:schemeClr val="tx1"/>
                </a:solidFill>
                <a:ea typeface="Open Sans" panose="020B0606030504020204" pitchFamily="34" charset="0"/>
                <a:cs typeface="Open Sans" panose="020B0606030504020204" pitchFamily="34" charset="0"/>
              </a:rPr>
              <a:t> simple avec </a:t>
            </a:r>
            <a:r>
              <a:rPr lang="en-US" sz="1600" b="1" kern="0" dirty="0" err="1">
                <a:solidFill>
                  <a:schemeClr val="tx1"/>
                </a:solidFill>
                <a:ea typeface="Open Sans" panose="020B0606030504020204" pitchFamily="34" charset="0"/>
                <a:cs typeface="Open Sans" panose="020B0606030504020204" pitchFamily="34" charset="0"/>
              </a:rPr>
              <a:t>ou</a:t>
            </a:r>
            <a:r>
              <a:rPr lang="en-US" sz="1600" b="1" kern="0" dirty="0">
                <a:solidFill>
                  <a:schemeClr val="tx1"/>
                </a:solidFill>
                <a:ea typeface="Open Sans" panose="020B0606030504020204" pitchFamily="34" charset="0"/>
                <a:cs typeface="Open Sans" panose="020B0606030504020204" pitchFamily="34" charset="0"/>
              </a:rPr>
              <a:t> sans stockage </a:t>
            </a:r>
            <a:r>
              <a:rPr lang="en-US" sz="1600" b="1" kern="0" dirty="0" err="1">
                <a:solidFill>
                  <a:schemeClr val="tx1"/>
                </a:solidFill>
                <a:ea typeface="Open Sans" panose="020B0606030504020204" pitchFamily="34" charset="0"/>
                <a:cs typeface="Open Sans" panose="020B0606030504020204" pitchFamily="34" charset="0"/>
              </a:rPr>
              <a:t>d'eau</a:t>
            </a:r>
            <a:r>
              <a:rPr lang="en-US" sz="1600" b="1" kern="0" dirty="0">
                <a:solidFill>
                  <a:schemeClr val="tx1"/>
                </a:solidFill>
                <a:ea typeface="Open Sans" panose="020B0606030504020204" pitchFamily="34" charset="0"/>
                <a:cs typeface="Open Sans" panose="020B0606030504020204" pitchFamily="34" charset="0"/>
              </a:rPr>
              <a:t> </a:t>
            </a:r>
            <a:r>
              <a:rPr lang="en-US" sz="1600" b="1" kern="0" dirty="0" err="1">
                <a:solidFill>
                  <a:schemeClr val="tx1"/>
                </a:solidFill>
                <a:ea typeface="Open Sans" panose="020B0606030504020204" pitchFamily="34" charset="0"/>
                <a:cs typeface="Open Sans" panose="020B0606030504020204" pitchFamily="34" charset="0"/>
              </a:rPr>
              <a:t>chaude</a:t>
            </a:r>
            <a:endParaRPr lang="en-US" sz="1600" b="1" kern="0" dirty="0">
              <a:solidFill>
                <a:schemeClr val="tx1"/>
              </a:solidFill>
              <a:ea typeface="Open Sans" panose="020B0606030504020204" pitchFamily="34" charset="0"/>
              <a:cs typeface="Open Sans" panose="020B0606030504020204" pitchFamily="34" charset="0"/>
            </a:endParaRPr>
          </a:p>
          <a:p>
            <a:pPr lvl="1">
              <a:lnSpc>
                <a:spcPct val="150000"/>
              </a:lnSpc>
              <a:buFont typeface="Wingdings" panose="05000000000000000000" pitchFamily="2" charset="2"/>
              <a:buChar char="§"/>
              <a:defRPr/>
            </a:pPr>
            <a:r>
              <a:rPr lang="en-US" sz="1600" b="1" kern="0" dirty="0" err="1">
                <a:solidFill>
                  <a:schemeClr val="tx1"/>
                </a:solidFill>
                <a:ea typeface="Open Sans" panose="020B0606030504020204" pitchFamily="34" charset="0"/>
                <a:cs typeface="Open Sans" panose="020B0606030504020204" pitchFamily="34" charset="0"/>
              </a:rPr>
              <a:t>Systèmes</a:t>
            </a:r>
            <a:r>
              <a:rPr lang="en-US" sz="1600" b="1" kern="0" dirty="0">
                <a:solidFill>
                  <a:schemeClr val="tx1"/>
                </a:solidFill>
                <a:ea typeface="Open Sans" panose="020B0606030504020204" pitchFamily="34" charset="0"/>
                <a:cs typeface="Open Sans" panose="020B0606030504020204" pitchFamily="34" charset="0"/>
              </a:rPr>
              <a:t> de </a:t>
            </a:r>
            <a:r>
              <a:rPr lang="en-US" sz="1600" b="1" kern="0" dirty="0" err="1">
                <a:solidFill>
                  <a:schemeClr val="tx1"/>
                </a:solidFill>
                <a:ea typeface="Open Sans" panose="020B0606030504020204" pitchFamily="34" charset="0"/>
                <a:cs typeface="Open Sans" panose="020B0606030504020204" pitchFamily="34" charset="0"/>
              </a:rPr>
              <a:t>chaudière</a:t>
            </a:r>
            <a:r>
              <a:rPr lang="en-US" sz="1600" b="1" kern="0" dirty="0">
                <a:solidFill>
                  <a:schemeClr val="tx1"/>
                </a:solidFill>
                <a:ea typeface="Open Sans" panose="020B0606030504020204" pitchFamily="34" charset="0"/>
                <a:cs typeface="Open Sans" panose="020B0606030504020204" pitchFamily="34" charset="0"/>
              </a:rPr>
              <a:t> multiple avec </a:t>
            </a:r>
            <a:r>
              <a:rPr lang="en-US" sz="1600" b="1" kern="0" dirty="0" err="1">
                <a:solidFill>
                  <a:schemeClr val="tx1"/>
                </a:solidFill>
                <a:ea typeface="Open Sans" panose="020B0606030504020204" pitchFamily="34" charset="0"/>
                <a:cs typeface="Open Sans" panose="020B0606030504020204" pitchFamily="34" charset="0"/>
              </a:rPr>
              <a:t>ou</a:t>
            </a:r>
            <a:r>
              <a:rPr lang="en-US" sz="1600" b="1" kern="0" dirty="0">
                <a:solidFill>
                  <a:schemeClr val="tx1"/>
                </a:solidFill>
                <a:ea typeface="Open Sans" panose="020B0606030504020204" pitchFamily="34" charset="0"/>
                <a:cs typeface="Open Sans" panose="020B0606030504020204" pitchFamily="34" charset="0"/>
              </a:rPr>
              <a:t> sans stockage </a:t>
            </a:r>
            <a:r>
              <a:rPr lang="en-US" sz="1600" b="1" kern="0" dirty="0" err="1">
                <a:solidFill>
                  <a:schemeClr val="tx1"/>
                </a:solidFill>
                <a:ea typeface="Open Sans" panose="020B0606030504020204" pitchFamily="34" charset="0"/>
                <a:cs typeface="Open Sans" panose="020B0606030504020204" pitchFamily="34" charset="0"/>
              </a:rPr>
              <a:t>d'eau</a:t>
            </a:r>
            <a:r>
              <a:rPr lang="en-US" sz="1600" b="1" kern="0" dirty="0">
                <a:solidFill>
                  <a:schemeClr val="tx1"/>
                </a:solidFill>
                <a:ea typeface="Open Sans" panose="020B0606030504020204" pitchFamily="34" charset="0"/>
                <a:cs typeface="Open Sans" panose="020B0606030504020204" pitchFamily="34" charset="0"/>
              </a:rPr>
              <a:t> </a:t>
            </a:r>
            <a:r>
              <a:rPr lang="en-US" sz="1600" b="1" kern="0" dirty="0" err="1">
                <a:solidFill>
                  <a:schemeClr val="tx1"/>
                </a:solidFill>
                <a:ea typeface="Open Sans" panose="020B0606030504020204" pitchFamily="34" charset="0"/>
                <a:cs typeface="Open Sans" panose="020B0606030504020204" pitchFamily="34" charset="0"/>
              </a:rPr>
              <a:t>chaude</a:t>
            </a:r>
            <a:endParaRPr lang="en-US" sz="1600" b="1"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600" kern="0" dirty="0" err="1">
                <a:ea typeface="Open Sans" panose="020B0606030504020204" pitchFamily="34" charset="0"/>
                <a:cs typeface="Open Sans" panose="020B0606030504020204" pitchFamily="34" charset="0"/>
              </a:rPr>
              <a:t>Selon</a:t>
            </a:r>
            <a:r>
              <a:rPr lang="en-US" sz="1600" kern="0" dirty="0">
                <a:ea typeface="Open Sans" panose="020B0606030504020204" pitchFamily="34" charset="0"/>
                <a:cs typeface="Open Sans" panose="020B0606030504020204" pitchFamily="34" charset="0"/>
              </a:rPr>
              <a:t> les </a:t>
            </a:r>
            <a:r>
              <a:rPr lang="en-US" sz="1600" kern="0" dirty="0" err="1">
                <a:ea typeface="Open Sans" panose="020B0606030504020204" pitchFamily="34" charset="0"/>
                <a:cs typeface="Open Sans" panose="020B0606030504020204" pitchFamily="34" charset="0"/>
              </a:rPr>
              <a:t>éléments</a:t>
            </a:r>
            <a:r>
              <a:rPr lang="en-US" sz="1600" kern="0" dirty="0">
                <a:ea typeface="Open Sans" panose="020B0606030504020204" pitchFamily="34" charset="0"/>
                <a:cs typeface="Open Sans" panose="020B0606030504020204" pitchFamily="34" charset="0"/>
              </a:rPr>
              <a:t> </a:t>
            </a:r>
            <a:r>
              <a:rPr lang="en-US" sz="1600" kern="0" dirty="0" err="1">
                <a:ea typeface="Open Sans" panose="020B0606030504020204" pitchFamily="34" charset="0"/>
                <a:cs typeface="Open Sans" panose="020B0606030504020204" pitchFamily="34" charset="0"/>
              </a:rPr>
              <a:t>chauffants</a:t>
            </a:r>
            <a:endParaRPr lang="en-US" sz="1600" kern="0" dirty="0">
              <a:ea typeface="Open Sans" panose="020B0606030504020204" pitchFamily="34" charset="0"/>
              <a:cs typeface="Open Sans" panose="020B0606030504020204" pitchFamily="34" charset="0"/>
            </a:endParaRPr>
          </a:p>
          <a:p>
            <a:pPr>
              <a:lnSpc>
                <a:spcPct val="150000"/>
              </a:lnSpc>
              <a:defRPr/>
            </a:pPr>
            <a:endParaRPr lang="en-US" sz="16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16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104435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Type de chauffage</a:t>
            </a:r>
            <a:endParaRPr lang="en-GB" dirty="0"/>
          </a:p>
        </p:txBody>
      </p:sp>
      <p:graphicFrame>
        <p:nvGraphicFramePr>
          <p:cNvPr id="5" name="Table 4">
            <a:extLst>
              <a:ext uri="{FF2B5EF4-FFF2-40B4-BE49-F238E27FC236}">
                <a16:creationId xmlns:a16="http://schemas.microsoft.com/office/drawing/2014/main" id="{F8FF1F5A-689A-43BA-9760-08440E7D62C9}"/>
              </a:ext>
            </a:extLst>
          </p:cNvPr>
          <p:cNvGraphicFramePr>
            <a:graphicFrameLocks noGrp="1"/>
          </p:cNvGraphicFramePr>
          <p:nvPr/>
        </p:nvGraphicFramePr>
        <p:xfrm>
          <a:off x="900113" y="1340768"/>
          <a:ext cx="7632324" cy="5127540"/>
        </p:xfrm>
        <a:graphic>
          <a:graphicData uri="http://schemas.openxmlformats.org/drawingml/2006/table">
            <a:tbl>
              <a:tblPr/>
              <a:tblGrid>
                <a:gridCol w="1291167">
                  <a:extLst>
                    <a:ext uri="{9D8B030D-6E8A-4147-A177-3AD203B41FA5}">
                      <a16:colId xmlns:a16="http://schemas.microsoft.com/office/drawing/2014/main" val="3608921865"/>
                    </a:ext>
                  </a:extLst>
                </a:gridCol>
                <a:gridCol w="1282481">
                  <a:extLst>
                    <a:ext uri="{9D8B030D-6E8A-4147-A177-3AD203B41FA5}">
                      <a16:colId xmlns:a16="http://schemas.microsoft.com/office/drawing/2014/main" val="2732790291"/>
                    </a:ext>
                  </a:extLst>
                </a:gridCol>
                <a:gridCol w="997485">
                  <a:extLst>
                    <a:ext uri="{9D8B030D-6E8A-4147-A177-3AD203B41FA5}">
                      <a16:colId xmlns:a16="http://schemas.microsoft.com/office/drawing/2014/main" val="2544182589"/>
                    </a:ext>
                  </a:extLst>
                </a:gridCol>
                <a:gridCol w="1424980">
                  <a:extLst>
                    <a:ext uri="{9D8B030D-6E8A-4147-A177-3AD203B41FA5}">
                      <a16:colId xmlns:a16="http://schemas.microsoft.com/office/drawing/2014/main" val="2498330225"/>
                    </a:ext>
                  </a:extLst>
                </a:gridCol>
                <a:gridCol w="1350913">
                  <a:extLst>
                    <a:ext uri="{9D8B030D-6E8A-4147-A177-3AD203B41FA5}">
                      <a16:colId xmlns:a16="http://schemas.microsoft.com/office/drawing/2014/main" val="1782372415"/>
                    </a:ext>
                  </a:extLst>
                </a:gridCol>
                <a:gridCol w="1285298">
                  <a:extLst>
                    <a:ext uri="{9D8B030D-6E8A-4147-A177-3AD203B41FA5}">
                      <a16:colId xmlns:a16="http://schemas.microsoft.com/office/drawing/2014/main" val="228795179"/>
                    </a:ext>
                  </a:extLst>
                </a:gridCol>
              </a:tblGrid>
              <a:tr h="337104">
                <a:tc>
                  <a:txBody>
                    <a:bodyPr/>
                    <a:lstStyle/>
                    <a:p>
                      <a:pPr algn="ctr">
                        <a:lnSpc>
                          <a:spcPct val="115000"/>
                        </a:lnSpc>
                        <a:spcBef>
                          <a:spcPts val="300"/>
                        </a:spcBef>
                        <a:spcAft>
                          <a:spcPts val="300"/>
                        </a:spcAft>
                      </a:pPr>
                      <a:r>
                        <a:rPr lang="en-GB" sz="900" b="1">
                          <a:solidFill>
                            <a:schemeClr val="bg2">
                              <a:lumMod val="10000"/>
                            </a:schemeClr>
                          </a:solidFill>
                          <a:effectLst/>
                          <a:latin typeface="Arial" panose="020B0604020202020204" pitchFamily="34" charset="0"/>
                          <a:ea typeface="Calibri" panose="020F0502020204030204" pitchFamily="34" charset="0"/>
                        </a:rPr>
                        <a:t>Type de</a:t>
                      </a:r>
                      <a:endParaRPr lang="es-ES" sz="1000" dirty="0">
                        <a:solidFill>
                          <a:schemeClr val="bg2">
                            <a:lumMod val="10000"/>
                          </a:schemeClr>
                        </a:solidFill>
                        <a:effectLst/>
                        <a:latin typeface="Arial" panose="020B0604020202020204" pitchFamily="34" charset="0"/>
                        <a:ea typeface="Calibri" panose="020F0502020204030204" pitchFamily="34" charset="0"/>
                      </a:endParaRPr>
                    </a:p>
                  </a:txBody>
                  <a:tcPr marL="38579" marR="3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Bef>
                          <a:spcPts val="1200"/>
                        </a:spcBef>
                        <a:spcAft>
                          <a:spcPts val="1200"/>
                        </a:spcAft>
                      </a:pPr>
                      <a:r>
                        <a:rPr lang="en-GB" sz="900" b="1">
                          <a:solidFill>
                            <a:schemeClr val="bg2">
                              <a:lumMod val="10000"/>
                            </a:schemeClr>
                          </a:solidFill>
                          <a:effectLst/>
                          <a:latin typeface="Arial" panose="020B0604020202020204" pitchFamily="34" charset="0"/>
                          <a:ea typeface="Calibri" panose="020F0502020204030204" pitchFamily="34" charset="0"/>
                        </a:rPr>
                        <a:t>Domaine d'application</a:t>
                      </a:r>
                      <a:endParaRPr lang="es-ES" sz="900" b="1" dirty="0">
                        <a:solidFill>
                          <a:schemeClr val="bg2">
                            <a:lumMod val="10000"/>
                          </a:schemeClr>
                        </a:solidFill>
                        <a:effectLst/>
                        <a:latin typeface="Arial" panose="020B0604020202020204" pitchFamily="34" charset="0"/>
                        <a:ea typeface="Calibri" panose="020F0502020204030204" pitchFamily="34" charset="0"/>
                      </a:endParaRPr>
                    </a:p>
                  </a:txBody>
                  <a:tcPr marL="38579" marR="3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a:lnSpc>
                          <a:spcPct val="115000"/>
                        </a:lnSpc>
                        <a:spcBef>
                          <a:spcPts val="300"/>
                        </a:spcBef>
                        <a:spcAft>
                          <a:spcPts val="300"/>
                        </a:spcAft>
                      </a:pPr>
                      <a:r>
                        <a:rPr lang="en-GB" sz="900" b="1">
                          <a:solidFill>
                            <a:schemeClr val="bg2">
                              <a:lumMod val="10000"/>
                            </a:schemeClr>
                          </a:solidFill>
                          <a:effectLst/>
                          <a:latin typeface="Arial" panose="020B0604020202020204" pitchFamily="34" charset="0"/>
                          <a:ea typeface="Calibri" panose="020F0502020204030204" pitchFamily="34" charset="0"/>
                        </a:rPr>
                        <a:t>Réaction</a:t>
                      </a:r>
                      <a:endParaRPr lang="es-ES" sz="1000" dirty="0">
                        <a:solidFill>
                          <a:schemeClr val="bg2">
                            <a:lumMod val="10000"/>
                          </a:schemeClr>
                        </a:solidFill>
                        <a:effectLst/>
                        <a:latin typeface="Arial" panose="020B0604020202020204" pitchFamily="34" charset="0"/>
                        <a:ea typeface="Calibri" panose="020F0502020204030204" pitchFamily="34" charset="0"/>
                      </a:endParaRPr>
                    </a:p>
                  </a:txBody>
                  <a:tcPr marL="38579" marR="3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a:lnSpc>
                          <a:spcPct val="115000"/>
                        </a:lnSpc>
                        <a:spcAft>
                          <a:spcPts val="300"/>
                        </a:spcAft>
                      </a:pPr>
                      <a:r>
                        <a:rPr lang="en-GB" sz="900" b="1">
                          <a:solidFill>
                            <a:schemeClr val="bg2">
                              <a:lumMod val="10000"/>
                            </a:schemeClr>
                          </a:solidFill>
                          <a:effectLst/>
                          <a:latin typeface="Arial" panose="020B0604020202020204" pitchFamily="34" charset="0"/>
                          <a:ea typeface="Calibri" panose="020F0502020204030204" pitchFamily="34" charset="0"/>
                        </a:rPr>
                        <a:t>Commentaires</a:t>
                      </a:r>
                      <a:endParaRPr lang="es-ES" sz="1000" dirty="0">
                        <a:solidFill>
                          <a:schemeClr val="bg2">
                            <a:lumMod val="10000"/>
                          </a:schemeClr>
                        </a:solidFill>
                        <a:effectLst/>
                        <a:latin typeface="Arial" panose="020B0604020202020204" pitchFamily="34" charset="0"/>
                        <a:ea typeface="Calibri" panose="020F0502020204030204" pitchFamily="34" charset="0"/>
                      </a:endParaRPr>
                    </a:p>
                  </a:txBody>
                  <a:tcPr marL="38579" marR="3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a:lnSpc>
                          <a:spcPct val="115000"/>
                        </a:lnSpc>
                        <a:spcAft>
                          <a:spcPts val="300"/>
                        </a:spcAft>
                      </a:pPr>
                      <a:r>
                        <a:rPr lang="en-GB" sz="900" b="1">
                          <a:solidFill>
                            <a:schemeClr val="bg2">
                              <a:lumMod val="10000"/>
                            </a:schemeClr>
                          </a:solidFill>
                          <a:effectLst/>
                          <a:latin typeface="Arial" panose="020B0604020202020204" pitchFamily="34" charset="0"/>
                          <a:ea typeface="Calibri" panose="020F0502020204030204" pitchFamily="34" charset="0"/>
                        </a:rPr>
                        <a:t>Type de contrôle</a:t>
                      </a:r>
                      <a:endParaRPr lang="es-ES" sz="1000" dirty="0">
                        <a:solidFill>
                          <a:schemeClr val="bg2">
                            <a:lumMod val="10000"/>
                          </a:schemeClr>
                        </a:solidFill>
                        <a:effectLst/>
                        <a:latin typeface="Arial" panose="020B0604020202020204" pitchFamily="34" charset="0"/>
                        <a:ea typeface="Calibri" panose="020F0502020204030204" pitchFamily="34" charset="0"/>
                      </a:endParaRPr>
                    </a:p>
                  </a:txBody>
                  <a:tcPr marL="38579" marR="3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a:lnSpc>
                          <a:spcPct val="115000"/>
                        </a:lnSpc>
                        <a:spcAft>
                          <a:spcPts val="300"/>
                        </a:spcAft>
                      </a:pPr>
                      <a:r>
                        <a:rPr lang="en-GB" sz="1000" b="1">
                          <a:solidFill>
                            <a:schemeClr val="bg2">
                              <a:lumMod val="10000"/>
                            </a:schemeClr>
                          </a:solidFill>
                          <a:effectLst/>
                          <a:latin typeface="Arial" panose="020B0604020202020204" pitchFamily="34" charset="0"/>
                          <a:ea typeface="Calibri" panose="020F0502020204030204" pitchFamily="34" charset="0"/>
                        </a:rPr>
                        <a:t>Illustration</a:t>
                      </a:r>
                      <a:endParaRPr lang="es-ES" sz="1000" dirty="0">
                        <a:solidFill>
                          <a:schemeClr val="bg2">
                            <a:lumMod val="10000"/>
                          </a:schemeClr>
                        </a:solidFill>
                        <a:effectLst/>
                        <a:latin typeface="Arial" panose="020B0604020202020204" pitchFamily="34" charset="0"/>
                        <a:ea typeface="Calibri" panose="020F0502020204030204" pitchFamily="34" charset="0"/>
                      </a:endParaRPr>
                    </a:p>
                  </a:txBody>
                  <a:tcPr marL="38579" marR="3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1941567877"/>
                  </a:ext>
                </a:extLst>
              </a:tr>
              <a:tr h="606786">
                <a:tc>
                  <a:txBody>
                    <a:bodyPr/>
                    <a:lstStyle/>
                    <a:p>
                      <a:pPr>
                        <a:lnSpc>
                          <a:spcPct val="115000"/>
                        </a:lnSpc>
                        <a:spcBef>
                          <a:spcPts val="300"/>
                        </a:spcBef>
                        <a:spcAft>
                          <a:spcPts val="0"/>
                        </a:spcAft>
                      </a:pPr>
                      <a:r>
                        <a:rPr lang="en-GB" sz="900">
                          <a:solidFill>
                            <a:srgbClr val="000000"/>
                          </a:solidFill>
                          <a:effectLst/>
                          <a:latin typeface="Arial" panose="020B0604020202020204" pitchFamily="34" charset="0"/>
                          <a:ea typeface="Calibri" panose="020F0502020204030204" pitchFamily="34" charset="0"/>
                        </a:rPr>
                        <a:t>Chauffage par convection à eau chaude</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Bâtiments résidentiels et fonctionnels</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Rapide</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Température du flux. : 35-70 °C</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Continu (0-10 V ou à 3 niveaux)</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a:lnSpc>
                          <a:spcPct val="115000"/>
                        </a:lnSpc>
                        <a:spcAft>
                          <a:spcPts val="300"/>
                        </a:spcAft>
                      </a:pPr>
                      <a:endParaRPr lang="en-GB" sz="9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3134174531"/>
                  </a:ext>
                </a:extLst>
              </a:tr>
              <a:tr h="784302">
                <a:tc>
                  <a:txBody>
                    <a:bodyPr/>
                    <a:lstStyle/>
                    <a:p>
                      <a:pPr>
                        <a:lnSpc>
                          <a:spcPct val="115000"/>
                        </a:lnSpc>
                        <a:spcBef>
                          <a:spcPts val="300"/>
                        </a:spcBef>
                        <a:spcAft>
                          <a:spcPts val="0"/>
                        </a:spcAft>
                      </a:pPr>
                      <a:r>
                        <a:rPr lang="en-GB" sz="900">
                          <a:solidFill>
                            <a:srgbClr val="000000"/>
                          </a:solidFill>
                          <a:effectLst/>
                          <a:latin typeface="Arial" panose="020B0604020202020204" pitchFamily="34" charset="0"/>
                          <a:ea typeface="Calibri" panose="020F0502020204030204" pitchFamily="34" charset="0"/>
                        </a:rPr>
                        <a:t>Chauffage par le sol</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Bâtiments résidentiels et fonctionnels</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Lente (6 à 8h)</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Température du flux. : 30-45 °C Un fusible supplémentaire doit être fourni pour une protection contre les températures excessivement élevées</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Continu (0-10 V ou à 3 niveaux)</a:t>
                      </a:r>
                      <a:endParaRPr lang="es-ES" sz="10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a:lnSpc>
                          <a:spcPct val="115000"/>
                        </a:lnSpc>
                        <a:spcAft>
                          <a:spcPts val="300"/>
                        </a:spcAft>
                      </a:pPr>
                      <a:endParaRPr lang="en-GB" sz="9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247879959"/>
                  </a:ext>
                </a:extLst>
              </a:tr>
              <a:tr h="746620">
                <a:tc>
                  <a:txBody>
                    <a:bodyPr/>
                    <a:lstStyle/>
                    <a:p>
                      <a:pPr>
                        <a:lnSpc>
                          <a:spcPct val="115000"/>
                        </a:lnSpc>
                        <a:spcBef>
                          <a:spcPts val="300"/>
                        </a:spcBef>
                        <a:spcAft>
                          <a:spcPts val="0"/>
                        </a:spcAft>
                      </a:pPr>
                      <a:r>
                        <a:rPr lang="en-GB" sz="900">
                          <a:solidFill>
                            <a:srgbClr val="000000"/>
                          </a:solidFill>
                          <a:effectLst/>
                          <a:latin typeface="Arial" panose="020B0604020202020204" pitchFamily="34" charset="0"/>
                          <a:ea typeface="Calibri" panose="020F0502020204030204" pitchFamily="34" charset="0"/>
                        </a:rPr>
                        <a:t>Chauffage par ventilateur à eau chaude</a:t>
                      </a:r>
                      <a:endParaRPr lang="es-ES" sz="10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Sites industriels</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Rapide</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La température de départ doit être la même que la température de la chaudière (</a:t>
                      </a:r>
                      <a:r>
                        <a:rPr lang="en-GB" sz="900">
                          <a:solidFill>
                            <a:srgbClr val="000000"/>
                          </a:solidFill>
                          <a:effectLst/>
                          <a:latin typeface="Arial" panose="020B0604020202020204" pitchFamily="34" charset="0"/>
                          <a:ea typeface="Calibri" panose="020F0502020204030204" pitchFamily="34" charset="0"/>
                          <a:sym typeface="Symbol" panose="05050102010706020507" pitchFamily="18" charset="2"/>
                        </a:rPr>
                        <a:t></a:t>
                      </a:r>
                      <a:r>
                        <a:rPr lang="en-GB" sz="900">
                          <a:solidFill>
                            <a:srgbClr val="000000"/>
                          </a:solidFill>
                          <a:effectLst/>
                          <a:latin typeface="Arial" panose="020B0604020202020204" pitchFamily="34" charset="0"/>
                          <a:ea typeface="Calibri" panose="020F0502020204030204" pitchFamily="34" charset="0"/>
                        </a:rPr>
                        <a:t> 60°C)</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Mono-niveau et multi-niveaux (à 2 niveaux)</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a:lnSpc>
                          <a:spcPct val="115000"/>
                        </a:lnSpc>
                        <a:spcAft>
                          <a:spcPts val="300"/>
                        </a:spcAft>
                      </a:pPr>
                      <a:endParaRPr lang="en-GB" sz="9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389525681"/>
                  </a:ext>
                </a:extLst>
              </a:tr>
              <a:tr h="581060">
                <a:tc>
                  <a:txBody>
                    <a:bodyPr/>
                    <a:lstStyle/>
                    <a:p>
                      <a:pPr>
                        <a:lnSpc>
                          <a:spcPct val="115000"/>
                        </a:lnSpc>
                        <a:spcBef>
                          <a:spcPts val="300"/>
                        </a:spcBef>
                        <a:spcAft>
                          <a:spcPts val="0"/>
                        </a:spcAft>
                      </a:pPr>
                      <a:r>
                        <a:rPr lang="en-GB" sz="900">
                          <a:solidFill>
                            <a:srgbClr val="000000"/>
                          </a:solidFill>
                          <a:effectLst/>
                          <a:latin typeface="Arial" panose="020B0604020202020204" pitchFamily="34" charset="0"/>
                          <a:ea typeface="Calibri" panose="020F0502020204030204" pitchFamily="34" charset="0"/>
                        </a:rPr>
                        <a:t>Convecteur électrique</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Pièces utilisées rarement</a:t>
                      </a:r>
                    </a:p>
                    <a:p>
                      <a:pPr>
                        <a:lnSpc>
                          <a:spcPct val="115000"/>
                        </a:lnSpc>
                        <a:spcAft>
                          <a:spcPts val="0"/>
                        </a:spcAft>
                      </a:pPr>
                      <a:endParaRPr lang="en-GB" sz="900" dirty="0">
                        <a:solidFill>
                          <a:srgbClr val="000000"/>
                        </a:solidFill>
                        <a:effectLst/>
                        <a:latin typeface="Arial" panose="020B0604020202020204" pitchFamily="34" charset="0"/>
                        <a:ea typeface="Calibri" panose="020F0502020204030204" pitchFamily="34" charset="0"/>
                      </a:endParaRPr>
                    </a:p>
                    <a:p>
                      <a:pPr>
                        <a:lnSpc>
                          <a:spcPct val="115000"/>
                        </a:lnSpc>
                        <a:spcAft>
                          <a:spcPts val="0"/>
                        </a:spcAft>
                      </a:pPr>
                      <a:endParaRPr lang="en-GB" sz="900" dirty="0">
                        <a:solidFill>
                          <a:srgbClr val="000000"/>
                        </a:solidFill>
                        <a:effectLst/>
                        <a:latin typeface="Arial" panose="020B0604020202020204" pitchFamily="34" charset="0"/>
                        <a:ea typeface="Calibri" panose="020F0502020204030204" pitchFamily="34" charset="0"/>
                      </a:endParaRPr>
                    </a:p>
                    <a:p>
                      <a:pPr>
                        <a:lnSpc>
                          <a:spcPct val="115000"/>
                        </a:lnSpc>
                        <a:spcAft>
                          <a:spcPts val="0"/>
                        </a:spcAft>
                      </a:pPr>
                      <a:endParaRPr lang="es-ES" sz="10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Moyenne à lente</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Peut être un chauffage de base</a:t>
                      </a:r>
                      <a:endParaRPr lang="es-ES" sz="1000">
                        <a:solidFill>
                          <a:srgbClr val="000000"/>
                        </a:solidFill>
                        <a:effectLst/>
                        <a:latin typeface="Arial" panose="020B0604020202020204" pitchFamily="34" charset="0"/>
                        <a:ea typeface="Calibri" panose="020F0502020204030204" pitchFamily="34" charset="0"/>
                      </a:endParaRPr>
                    </a:p>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 </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Mono-niveau et multi-niveaux</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a:lnSpc>
                          <a:spcPct val="115000"/>
                        </a:lnSpc>
                        <a:spcAft>
                          <a:spcPts val="300"/>
                        </a:spcAft>
                      </a:pPr>
                      <a:endParaRPr lang="en-GB" sz="9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2736355103"/>
                  </a:ext>
                </a:extLst>
              </a:tr>
              <a:tr h="802634">
                <a:tc>
                  <a:txBody>
                    <a:bodyPr/>
                    <a:lstStyle/>
                    <a:p>
                      <a:pPr>
                        <a:lnSpc>
                          <a:spcPct val="115000"/>
                        </a:lnSpc>
                        <a:spcBef>
                          <a:spcPts val="300"/>
                        </a:spcBef>
                        <a:spcAft>
                          <a:spcPts val="0"/>
                        </a:spcAft>
                      </a:pPr>
                      <a:r>
                        <a:rPr lang="en-GB" sz="900">
                          <a:solidFill>
                            <a:srgbClr val="000000"/>
                          </a:solidFill>
                          <a:effectLst/>
                          <a:latin typeface="Arial" panose="020B0604020202020204" pitchFamily="34" charset="0"/>
                          <a:ea typeface="Calibri" panose="020F0502020204030204" pitchFamily="34" charset="0"/>
                        </a:rPr>
                        <a:t>Chauffage par ventilateur électrique</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Pièces utilisées rarement</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Très rapide</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Comme chauffage d'appoint</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Mono-niveau et multi-niveaux</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a:lnSpc>
                          <a:spcPct val="115000"/>
                        </a:lnSpc>
                        <a:spcAft>
                          <a:spcPts val="300"/>
                        </a:spcAft>
                      </a:pPr>
                      <a:endParaRPr lang="en-GB" sz="9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361448406"/>
                  </a:ext>
                </a:extLst>
              </a:tr>
              <a:tr h="910180">
                <a:tc>
                  <a:txBody>
                    <a:bodyPr/>
                    <a:lstStyle/>
                    <a:p>
                      <a:pPr>
                        <a:lnSpc>
                          <a:spcPct val="115000"/>
                        </a:lnSpc>
                        <a:spcBef>
                          <a:spcPts val="300"/>
                        </a:spcBef>
                        <a:spcAft>
                          <a:spcPts val="0"/>
                        </a:spcAft>
                      </a:pPr>
                      <a:r>
                        <a:rPr lang="en-GB" sz="900">
                          <a:solidFill>
                            <a:srgbClr val="000000"/>
                          </a:solidFill>
                          <a:effectLst/>
                          <a:latin typeface="Arial" panose="020B0604020202020204" pitchFamily="34" charset="0"/>
                          <a:ea typeface="Calibri" panose="020F0502020204030204" pitchFamily="34" charset="0"/>
                        </a:rPr>
                        <a:t>Chauffage avec accumulation la nuit</a:t>
                      </a:r>
                      <a:endParaRPr lang="es-ES" sz="10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Bâtiments résidentiels et fonctionnels</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Accumule la nuit et chauffe pendant la journée</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Différents types disponibles</a:t>
                      </a:r>
                      <a:endParaRPr lang="es-ES" sz="10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Mono-niveau et multi-niveaux</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a:lnSpc>
                          <a:spcPct val="115000"/>
                        </a:lnSpc>
                        <a:spcAft>
                          <a:spcPts val="300"/>
                        </a:spcAft>
                      </a:pPr>
                      <a:endParaRPr lang="en-GB" sz="9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1799073584"/>
                  </a:ext>
                </a:extLst>
              </a:tr>
            </a:tbl>
          </a:graphicData>
        </a:graphic>
      </p:graphicFrame>
      <p:pic>
        <p:nvPicPr>
          <p:cNvPr id="6" name="Picture 5">
            <a:extLst>
              <a:ext uri="{FF2B5EF4-FFF2-40B4-BE49-F238E27FC236}">
                <a16:creationId xmlns:a16="http://schemas.microsoft.com/office/drawing/2014/main" id="{BE19505E-6B3F-42D9-AFA3-DA24B1903172}"/>
              </a:ext>
            </a:extLst>
          </p:cNvPr>
          <p:cNvPicPr>
            <a:picLocks noChangeAspect="1"/>
          </p:cNvPicPr>
          <p:nvPr/>
        </p:nvPicPr>
        <p:blipFill>
          <a:blip r:embed="rId3"/>
          <a:stretch>
            <a:fillRect/>
          </a:stretch>
        </p:blipFill>
        <p:spPr>
          <a:xfrm>
            <a:off x="7413177" y="1713194"/>
            <a:ext cx="895238" cy="542857"/>
          </a:xfrm>
          <a:prstGeom prst="rect">
            <a:avLst/>
          </a:prstGeom>
        </p:spPr>
      </p:pic>
      <p:pic>
        <p:nvPicPr>
          <p:cNvPr id="7" name="Picture 6">
            <a:extLst>
              <a:ext uri="{FF2B5EF4-FFF2-40B4-BE49-F238E27FC236}">
                <a16:creationId xmlns:a16="http://schemas.microsoft.com/office/drawing/2014/main" id="{E4FE3898-B7D4-4564-B9A9-B7940BF60D88}"/>
              </a:ext>
            </a:extLst>
          </p:cNvPr>
          <p:cNvPicPr>
            <a:picLocks noChangeAspect="1"/>
          </p:cNvPicPr>
          <p:nvPr/>
        </p:nvPicPr>
        <p:blipFill>
          <a:blip r:embed="rId4"/>
          <a:stretch>
            <a:fillRect/>
          </a:stretch>
        </p:blipFill>
        <p:spPr>
          <a:xfrm>
            <a:off x="7507509" y="2401431"/>
            <a:ext cx="733333" cy="571429"/>
          </a:xfrm>
          <a:prstGeom prst="rect">
            <a:avLst/>
          </a:prstGeom>
        </p:spPr>
      </p:pic>
      <p:pic>
        <p:nvPicPr>
          <p:cNvPr id="8" name="Picture 7">
            <a:extLst>
              <a:ext uri="{FF2B5EF4-FFF2-40B4-BE49-F238E27FC236}">
                <a16:creationId xmlns:a16="http://schemas.microsoft.com/office/drawing/2014/main" id="{B6A7ACE0-2267-4A7D-86BC-9BD602CDBEEC}"/>
              </a:ext>
            </a:extLst>
          </p:cNvPr>
          <p:cNvPicPr>
            <a:picLocks noChangeAspect="1"/>
          </p:cNvPicPr>
          <p:nvPr/>
        </p:nvPicPr>
        <p:blipFill>
          <a:blip r:embed="rId5"/>
          <a:stretch>
            <a:fillRect/>
          </a:stretch>
        </p:blipFill>
        <p:spPr>
          <a:xfrm>
            <a:off x="7476104" y="3179201"/>
            <a:ext cx="838095" cy="523810"/>
          </a:xfrm>
          <a:prstGeom prst="rect">
            <a:avLst/>
          </a:prstGeom>
        </p:spPr>
      </p:pic>
      <p:pic>
        <p:nvPicPr>
          <p:cNvPr id="10" name="Picture 9">
            <a:extLst>
              <a:ext uri="{FF2B5EF4-FFF2-40B4-BE49-F238E27FC236}">
                <a16:creationId xmlns:a16="http://schemas.microsoft.com/office/drawing/2014/main" id="{C5C02276-3C28-4B5D-8216-8242FA649919}"/>
              </a:ext>
            </a:extLst>
          </p:cNvPr>
          <p:cNvPicPr>
            <a:picLocks noChangeAspect="1"/>
          </p:cNvPicPr>
          <p:nvPr/>
        </p:nvPicPr>
        <p:blipFill>
          <a:blip r:embed="rId6"/>
          <a:stretch>
            <a:fillRect/>
          </a:stretch>
        </p:blipFill>
        <p:spPr>
          <a:xfrm>
            <a:off x="7506631" y="3865702"/>
            <a:ext cx="733333" cy="628571"/>
          </a:xfrm>
          <a:prstGeom prst="rect">
            <a:avLst/>
          </a:prstGeom>
        </p:spPr>
      </p:pic>
      <p:pic>
        <p:nvPicPr>
          <p:cNvPr id="11" name="Picture 10">
            <a:extLst>
              <a:ext uri="{FF2B5EF4-FFF2-40B4-BE49-F238E27FC236}">
                <a16:creationId xmlns:a16="http://schemas.microsoft.com/office/drawing/2014/main" id="{20E31718-7E4B-4D4D-84A0-84BF63AE356F}"/>
              </a:ext>
            </a:extLst>
          </p:cNvPr>
          <p:cNvPicPr>
            <a:picLocks noChangeAspect="1"/>
          </p:cNvPicPr>
          <p:nvPr/>
        </p:nvPicPr>
        <p:blipFill>
          <a:blip r:embed="rId7"/>
          <a:stretch>
            <a:fillRect/>
          </a:stretch>
        </p:blipFill>
        <p:spPr>
          <a:xfrm>
            <a:off x="7596336" y="4688854"/>
            <a:ext cx="533333" cy="723810"/>
          </a:xfrm>
          <a:prstGeom prst="rect">
            <a:avLst/>
          </a:prstGeom>
        </p:spPr>
      </p:pic>
      <p:pic>
        <p:nvPicPr>
          <p:cNvPr id="12" name="Picture 11">
            <a:extLst>
              <a:ext uri="{FF2B5EF4-FFF2-40B4-BE49-F238E27FC236}">
                <a16:creationId xmlns:a16="http://schemas.microsoft.com/office/drawing/2014/main" id="{2BE756F3-4201-4AD9-9658-AAD3D079CCE6}"/>
              </a:ext>
            </a:extLst>
          </p:cNvPr>
          <p:cNvPicPr>
            <a:picLocks noChangeAspect="1"/>
          </p:cNvPicPr>
          <p:nvPr/>
        </p:nvPicPr>
        <p:blipFill>
          <a:blip r:embed="rId8"/>
          <a:stretch>
            <a:fillRect/>
          </a:stretch>
        </p:blipFill>
        <p:spPr>
          <a:xfrm>
            <a:off x="7365558" y="5470928"/>
            <a:ext cx="990476" cy="790476"/>
          </a:xfrm>
          <a:prstGeom prst="rect">
            <a:avLst/>
          </a:prstGeom>
        </p:spPr>
      </p:pic>
    </p:spTree>
    <p:extLst>
      <p:ext uri="{BB962C8B-B14F-4D97-AF65-F5344CB8AC3E}">
        <p14:creationId xmlns:p14="http://schemas.microsoft.com/office/powerpoint/2010/main" val="2470924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Courbe de chauffage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a:ea typeface="Open Sans" panose="020B0606030504020204" pitchFamily="34" charset="0"/>
                <a:cs typeface="Open Sans" panose="020B0606030504020204" pitchFamily="34" charset="0"/>
              </a:rPr>
              <a:t>Désignation du système de chauffage :</a:t>
            </a:r>
          </a:p>
          <a:p>
            <a:pPr>
              <a:lnSpc>
                <a:spcPct val="150000"/>
              </a:lnSpc>
              <a:defRPr/>
            </a:pPr>
            <a:r>
              <a:rPr lang="en-US" sz="1800" kern="0">
                <a:solidFill>
                  <a:schemeClr val="tx1"/>
                </a:solidFill>
                <a:ea typeface="Open Sans" panose="020B0606030504020204" pitchFamily="34" charset="0"/>
                <a:cs typeface="Open Sans" panose="020B0606030504020204" pitchFamily="34" charset="0"/>
              </a:rPr>
              <a:t>Système de température élevée</a:t>
            </a:r>
          </a:p>
          <a:p>
            <a:pPr>
              <a:lnSpc>
                <a:spcPct val="150000"/>
              </a:lnSpc>
              <a:defRPr/>
            </a:pPr>
            <a:r>
              <a:rPr lang="en-US" sz="1800" kern="0">
                <a:solidFill>
                  <a:schemeClr val="tx1"/>
                </a:solidFill>
                <a:ea typeface="Open Sans" panose="020B0606030504020204" pitchFamily="34" charset="0"/>
                <a:cs typeface="Open Sans" panose="020B0606030504020204" pitchFamily="34" charset="0"/>
              </a:rPr>
              <a:t>Système de basse température</a:t>
            </a:r>
          </a:p>
          <a:p>
            <a:pPr>
              <a:lnSpc>
                <a:spcPct val="150000"/>
              </a:lnSpc>
              <a:defRPr/>
            </a:pPr>
            <a:r>
              <a:rPr lang="en-US" sz="1800" kern="0">
                <a:solidFill>
                  <a:schemeClr val="tx1"/>
                </a:solidFill>
                <a:ea typeface="Open Sans" panose="020B0606030504020204" pitchFamily="34" charset="0"/>
                <a:cs typeface="Open Sans" panose="020B0606030504020204" pitchFamily="34" charset="0"/>
              </a:rPr>
              <a:t>Système de température minimum</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8" name="Picture 7">
            <a:extLst>
              <a:ext uri="{FF2B5EF4-FFF2-40B4-BE49-F238E27FC236}">
                <a16:creationId xmlns:a16="http://schemas.microsoft.com/office/drawing/2014/main" id="{8B62E524-2D84-4F3A-B4E1-8E0E0DC00AF0}"/>
              </a:ext>
            </a:extLst>
          </p:cNvPr>
          <p:cNvPicPr>
            <a:picLocks noChangeAspect="1"/>
          </p:cNvPicPr>
          <p:nvPr/>
        </p:nvPicPr>
        <p:blipFill>
          <a:blip r:embed="rId3"/>
          <a:stretch>
            <a:fillRect/>
          </a:stretch>
        </p:blipFill>
        <p:spPr>
          <a:xfrm>
            <a:off x="900112" y="3861048"/>
            <a:ext cx="5256064" cy="2534014"/>
          </a:xfrm>
          <a:prstGeom prst="rect">
            <a:avLst/>
          </a:prstGeom>
        </p:spPr>
      </p:pic>
      <p:sp>
        <p:nvSpPr>
          <p:cNvPr id="10" name="Rectangle 9">
            <a:extLst>
              <a:ext uri="{FF2B5EF4-FFF2-40B4-BE49-F238E27FC236}">
                <a16:creationId xmlns:a16="http://schemas.microsoft.com/office/drawing/2014/main" id="{49672A0D-6774-4943-B600-2CD6C7FE5F3C}"/>
              </a:ext>
            </a:extLst>
          </p:cNvPr>
          <p:cNvSpPr/>
          <p:nvPr/>
        </p:nvSpPr>
        <p:spPr>
          <a:xfrm>
            <a:off x="6185272" y="3895432"/>
            <a:ext cx="2563192" cy="923330"/>
          </a:xfrm>
          <a:prstGeom prst="rect">
            <a:avLst/>
          </a:prstGeom>
        </p:spPr>
        <p:txBody>
          <a:bodyPr wrap="square">
            <a:spAutoFit/>
          </a:bodyPr>
          <a:lstStyle/>
          <a:p>
            <a:r>
              <a:rPr lang="en-US" b="1"/>
              <a:t>courbe de chauffage avec un champ des caractéristiques standard</a:t>
            </a:r>
            <a:endParaRPr lang="es-ES" b="1" dirty="0"/>
          </a:p>
        </p:txBody>
      </p:sp>
    </p:spTree>
    <p:extLst>
      <p:ext uri="{BB962C8B-B14F-4D97-AF65-F5344CB8AC3E}">
        <p14:creationId xmlns:p14="http://schemas.microsoft.com/office/powerpoint/2010/main" val="1070751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Courbe de chauffage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268760"/>
            <a:ext cx="7704336"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1800" kern="0" dirty="0">
                <a:ea typeface="Open Sans" panose="020B0606030504020204" pitchFamily="34" charset="0"/>
                <a:cs typeface="Open Sans" panose="020B0606030504020204" pitchFamily="34" charset="0"/>
              </a:rPr>
              <a:t>Options pour adapter la </a:t>
            </a:r>
            <a:r>
              <a:rPr lang="en-US" sz="1800" kern="0" dirty="0" err="1">
                <a:ea typeface="Open Sans" panose="020B0606030504020204" pitchFamily="34" charset="0"/>
                <a:cs typeface="Open Sans" panose="020B0606030504020204" pitchFamily="34" charset="0"/>
              </a:rPr>
              <a:t>courbe</a:t>
            </a:r>
            <a:r>
              <a:rPr lang="en-US" sz="1800" kern="0" dirty="0">
                <a:ea typeface="Open Sans" panose="020B0606030504020204" pitchFamily="34" charset="0"/>
                <a:cs typeface="Open Sans" panose="020B0606030504020204" pitchFamily="34" charset="0"/>
              </a:rPr>
              <a:t> de </a:t>
            </a:r>
            <a:r>
              <a:rPr lang="en-US" sz="1800" kern="0" dirty="0" err="1">
                <a:ea typeface="Open Sans" panose="020B0606030504020204" pitchFamily="34" charset="0"/>
                <a:cs typeface="Open Sans" panose="020B0606030504020204" pitchFamily="34" charset="0"/>
              </a:rPr>
              <a:t>chauffe</a:t>
            </a:r>
            <a:r>
              <a:rPr lang="en-US" sz="1800" kern="0" dirty="0">
                <a:ea typeface="Open Sans" panose="020B0606030504020204" pitchFamily="34" charset="0"/>
                <a:cs typeface="Open Sans" panose="020B0606030504020204" pitchFamily="34" charset="0"/>
              </a:rPr>
              <a:t> :</a:t>
            </a:r>
          </a:p>
          <a:p>
            <a:pPr>
              <a:lnSpc>
                <a:spcPct val="150000"/>
              </a:lnSpc>
              <a:defRPr/>
            </a:pPr>
            <a:r>
              <a:rPr lang="en-US" sz="1600" kern="0" dirty="0">
                <a:solidFill>
                  <a:schemeClr val="tx1"/>
                </a:solidFill>
                <a:ea typeface="Open Sans" panose="020B0606030504020204" pitchFamily="34" charset="0"/>
                <a:cs typeface="Open Sans" panose="020B0606030504020204" pitchFamily="34" charset="0"/>
              </a:rPr>
              <a:t>Modifier le </a:t>
            </a:r>
            <a:r>
              <a:rPr lang="en-US" sz="1600" kern="0" dirty="0" err="1">
                <a:solidFill>
                  <a:schemeClr val="tx1"/>
                </a:solidFill>
                <a:ea typeface="Open Sans" panose="020B0606030504020204" pitchFamily="34" charset="0"/>
                <a:cs typeface="Open Sans" panose="020B0606030504020204" pitchFamily="34" charset="0"/>
              </a:rPr>
              <a:t>taux</a:t>
            </a:r>
            <a:r>
              <a:rPr lang="en-US" sz="1600" kern="0" dirty="0">
                <a:solidFill>
                  <a:schemeClr val="tx1"/>
                </a:solidFill>
                <a:ea typeface="Open Sans" panose="020B0606030504020204" pitchFamily="34" charset="0"/>
                <a:cs typeface="Open Sans" panose="020B0606030504020204" pitchFamily="34" charset="0"/>
              </a:rPr>
              <a:t> de montée </a:t>
            </a:r>
            <a:r>
              <a:rPr lang="en-US" sz="1600" kern="0" dirty="0">
                <a:solidFill>
                  <a:schemeClr val="tx1"/>
                </a:solidFill>
                <a:ea typeface="Open Sans" panose="020B0606030504020204" pitchFamily="34" charset="0"/>
                <a:cs typeface="Open Sans" panose="020B0606030504020204" pitchFamily="34" charset="0"/>
                <a:sym typeface="Wingdings" panose="05000000000000000000" pitchFamily="2" charset="2"/>
              </a:rPr>
              <a:t> </a:t>
            </a:r>
            <a:r>
              <a:rPr lang="en-US" sz="1600" kern="0" dirty="0">
                <a:solidFill>
                  <a:schemeClr val="tx1"/>
                </a:solidFill>
                <a:ea typeface="Open Sans" panose="020B0606030504020204" pitchFamily="34" charset="0"/>
                <a:cs typeface="Open Sans" panose="020B0606030504020204" pitchFamily="34" charset="0"/>
              </a:rPr>
              <a:t> Modification de max. temp. </a:t>
            </a:r>
            <a:r>
              <a:rPr lang="en-US" sz="1600" kern="0" dirty="0" err="1">
                <a:solidFill>
                  <a:schemeClr val="tx1"/>
                </a:solidFill>
                <a:ea typeface="Open Sans" panose="020B0606030504020204" pitchFamily="34" charset="0"/>
                <a:cs typeface="Open Sans" panose="020B0606030504020204" pitchFamily="34" charset="0"/>
              </a:rPr>
              <a:t>d'écoulement</a:t>
            </a: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600" kern="0" dirty="0" err="1">
                <a:solidFill>
                  <a:schemeClr val="tx1"/>
                </a:solidFill>
                <a:ea typeface="Open Sans" panose="020B0606030504020204" pitchFamily="34" charset="0"/>
                <a:cs typeface="Open Sans" panose="020B0606030504020204" pitchFamily="34" charset="0"/>
              </a:rPr>
              <a:t>Ajustement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parallèle</a:t>
            </a:r>
            <a:r>
              <a:rPr lang="en-US" sz="1600" kern="0" dirty="0">
                <a:solidFill>
                  <a:schemeClr val="tx1"/>
                </a:solidFill>
                <a:ea typeface="Open Sans" panose="020B0606030504020204" pitchFamily="34" charset="0"/>
                <a:cs typeface="Open Sans" panose="020B0606030504020204" pitchFamily="34" charset="0"/>
              </a:rPr>
              <a:t> </a:t>
            </a:r>
            <a:r>
              <a:rPr lang="en-US" sz="1600" kern="0" dirty="0">
                <a:solidFill>
                  <a:schemeClr val="tx1"/>
                </a:solidFill>
                <a:ea typeface="Open Sans" panose="020B0606030504020204" pitchFamily="34" charset="0"/>
                <a:cs typeface="Open Sans" panose="020B0606030504020204" pitchFamily="34" charset="0"/>
                <a:sym typeface="Wingdings" panose="05000000000000000000" pitchFamily="2" charset="2"/>
              </a:rPr>
              <a:t> </a:t>
            </a:r>
            <a:r>
              <a:rPr lang="en-US" sz="1600" kern="0" dirty="0">
                <a:solidFill>
                  <a:schemeClr val="tx1"/>
                </a:solidFill>
                <a:ea typeface="Open Sans" panose="020B0606030504020204" pitchFamily="34" charset="0"/>
                <a:cs typeface="Open Sans" panose="020B0606030504020204" pitchFamily="34" charset="0"/>
              </a:rPr>
              <a:t> Modification du </a:t>
            </a:r>
            <a:r>
              <a:rPr lang="en-US" sz="1600" kern="0" dirty="0" err="1">
                <a:solidFill>
                  <a:schemeClr val="tx1"/>
                </a:solidFill>
                <a:ea typeface="Open Sans" panose="020B0606030504020204" pitchFamily="34" charset="0"/>
                <a:cs typeface="Open Sans" panose="020B0606030504020204" pitchFamily="34" charset="0"/>
              </a:rPr>
              <a:t>débit</a:t>
            </a:r>
            <a:r>
              <a:rPr lang="en-US" sz="1600" kern="0" dirty="0">
                <a:solidFill>
                  <a:schemeClr val="tx1"/>
                </a:solidFill>
                <a:ea typeface="Open Sans" panose="020B0606030504020204" pitchFamily="34" charset="0"/>
                <a:cs typeface="Open Sans" panose="020B0606030504020204" pitchFamily="34" charset="0"/>
              </a:rPr>
              <a:t> min. et max. temps.</a:t>
            </a:r>
          </a:p>
          <a:p>
            <a:pPr>
              <a:lnSpc>
                <a:spcPct val="150000"/>
              </a:lnSpc>
              <a:defRPr/>
            </a:pPr>
            <a:r>
              <a:rPr lang="en-US" sz="1600" kern="0" dirty="0" err="1">
                <a:solidFill>
                  <a:schemeClr val="tx1"/>
                </a:solidFill>
                <a:ea typeface="Open Sans" panose="020B0606030504020204" pitchFamily="34" charset="0"/>
                <a:cs typeface="Open Sans" panose="020B0606030504020204" pitchFamily="34" charset="0"/>
              </a:rPr>
              <a:t>Température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ambiante</a:t>
            </a:r>
            <a:r>
              <a:rPr lang="en-US" sz="1600" kern="0" dirty="0">
                <a:solidFill>
                  <a:schemeClr val="tx1"/>
                </a:solidFill>
                <a:ea typeface="Open Sans" panose="020B0606030504020204" pitchFamily="34" charset="0"/>
                <a:cs typeface="Open Sans" panose="020B0606030504020204" pitchFamily="34" charset="0"/>
              </a:rPr>
              <a:t> </a:t>
            </a:r>
            <a:r>
              <a:rPr lang="en-US" sz="1600" kern="0" dirty="0">
                <a:solidFill>
                  <a:schemeClr val="tx1"/>
                </a:solidFill>
                <a:ea typeface="Open Sans" panose="020B0606030504020204" pitchFamily="34" charset="0"/>
                <a:cs typeface="Open Sans" panose="020B0606030504020204" pitchFamily="34" charset="0"/>
                <a:sym typeface="Wingdings" panose="05000000000000000000" pitchFamily="2" charset="2"/>
              </a:rPr>
              <a:t> </a:t>
            </a:r>
            <a:r>
              <a:rPr lang="en-US" sz="1600" kern="0" dirty="0">
                <a:solidFill>
                  <a:schemeClr val="tx1"/>
                </a:solidFill>
                <a:ea typeface="Open Sans" panose="020B0606030504020204" pitchFamily="34" charset="0"/>
                <a:cs typeface="Open Sans" panose="020B0606030504020204" pitchFamily="34" charset="0"/>
              </a:rPr>
              <a:t>Augmentation </a:t>
            </a:r>
            <a:r>
              <a:rPr lang="en-US" sz="1600" kern="0" dirty="0" err="1">
                <a:solidFill>
                  <a:schemeClr val="tx1"/>
                </a:solidFill>
                <a:ea typeface="Open Sans" panose="020B0606030504020204" pitchFamily="34" charset="0"/>
                <a:cs typeface="Open Sans" panose="020B0606030504020204" pitchFamily="34" charset="0"/>
              </a:rPr>
              <a:t>en</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débit</a:t>
            </a:r>
            <a:r>
              <a:rPr lang="en-US" sz="1600" kern="0" dirty="0">
                <a:solidFill>
                  <a:schemeClr val="tx1"/>
                </a:solidFill>
                <a:ea typeface="Open Sans" panose="020B0606030504020204" pitchFamily="34" charset="0"/>
                <a:cs typeface="Open Sans" panose="020B0606030504020204" pitchFamily="34" charset="0"/>
              </a:rPr>
              <a:t> min.</a:t>
            </a:r>
          </a:p>
          <a:p>
            <a:pPr>
              <a:lnSpc>
                <a:spcPct val="150000"/>
              </a:lnSpc>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sp>
        <p:nvSpPr>
          <p:cNvPr id="10" name="Rectangle 9">
            <a:extLst>
              <a:ext uri="{FF2B5EF4-FFF2-40B4-BE49-F238E27FC236}">
                <a16:creationId xmlns:a16="http://schemas.microsoft.com/office/drawing/2014/main" id="{49672A0D-6774-4943-B600-2CD6C7FE5F3C}"/>
              </a:ext>
            </a:extLst>
          </p:cNvPr>
          <p:cNvSpPr/>
          <p:nvPr/>
        </p:nvSpPr>
        <p:spPr>
          <a:xfrm>
            <a:off x="900112" y="5877272"/>
            <a:ext cx="3599880" cy="369332"/>
          </a:xfrm>
          <a:prstGeom prst="rect">
            <a:avLst/>
          </a:prstGeom>
        </p:spPr>
        <p:txBody>
          <a:bodyPr wrap="square">
            <a:spAutoFit/>
          </a:bodyPr>
          <a:lstStyle/>
          <a:p>
            <a:r>
              <a:rPr lang="en-GB" b="1" dirty="0"/>
              <a:t>modification de la </a:t>
            </a:r>
            <a:r>
              <a:rPr lang="en-GB" b="1" dirty="0" err="1"/>
              <a:t>vitesse</a:t>
            </a:r>
            <a:r>
              <a:rPr lang="en-GB" b="1" dirty="0"/>
              <a:t> </a:t>
            </a:r>
            <a:r>
              <a:rPr lang="en-GB" b="1" dirty="0" err="1"/>
              <a:t>d'augmentation</a:t>
            </a:r>
            <a:endParaRPr lang="es-ES" b="1" dirty="0"/>
          </a:p>
        </p:txBody>
      </p:sp>
      <p:graphicFrame>
        <p:nvGraphicFramePr>
          <p:cNvPr id="4" name="Object 3">
            <a:extLst>
              <a:ext uri="{FF2B5EF4-FFF2-40B4-BE49-F238E27FC236}">
                <a16:creationId xmlns:a16="http://schemas.microsoft.com/office/drawing/2014/main" id="{291BA89E-64FD-4DC9-824B-D8C69F401221}"/>
              </a:ext>
            </a:extLst>
          </p:cNvPr>
          <p:cNvGraphicFramePr>
            <a:graphicFrameLocks noChangeAspect="1"/>
          </p:cNvGraphicFramePr>
          <p:nvPr/>
        </p:nvGraphicFramePr>
        <p:xfrm>
          <a:off x="791840" y="3501008"/>
          <a:ext cx="3816424" cy="2276872"/>
        </p:xfrm>
        <a:graphic>
          <a:graphicData uri="http://schemas.openxmlformats.org/presentationml/2006/ole">
            <mc:AlternateContent xmlns:mc="http://schemas.openxmlformats.org/markup-compatibility/2006">
              <mc:Choice xmlns:v="urn:schemas-microsoft-com:vml" Requires="v">
                <p:oleObj name="Picture" r:id="rId3" imgW="4448556" imgH="2362962" progId="Word.Picture.8">
                  <p:embed/>
                </p:oleObj>
              </mc:Choice>
              <mc:Fallback>
                <p:oleObj name="Picture" r:id="rId3" imgW="4448556" imgH="2362962" progId="Word.Picture.8">
                  <p:embed/>
                  <p:pic>
                    <p:nvPicPr>
                      <p:cNvPr id="4" name="Object 3">
                        <a:extLst>
                          <a:ext uri="{FF2B5EF4-FFF2-40B4-BE49-F238E27FC236}">
                            <a16:creationId xmlns:a16="http://schemas.microsoft.com/office/drawing/2014/main" id="{291BA89E-64FD-4DC9-824B-D8C69F4012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840" y="3501008"/>
                        <a:ext cx="3816424" cy="2276872"/>
                      </a:xfrm>
                      <a:prstGeom prst="rect">
                        <a:avLst/>
                      </a:prstGeom>
                      <a:noFill/>
                    </p:spPr>
                  </p:pic>
                </p:oleObj>
              </mc:Fallback>
            </mc:AlternateContent>
          </a:graphicData>
        </a:graphic>
      </p:graphicFrame>
      <p:pic>
        <p:nvPicPr>
          <p:cNvPr id="7171" name="Picture 3">
            <a:extLst>
              <a:ext uri="{FF2B5EF4-FFF2-40B4-BE49-F238E27FC236}">
                <a16:creationId xmlns:a16="http://schemas.microsoft.com/office/drawing/2014/main" id="{D880B3D3-4882-456B-B105-5BEF1EC230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9898" y="3501008"/>
            <a:ext cx="3512915" cy="2276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2B194EC5-AD00-4094-B9AB-C66F04EB43EB}"/>
              </a:ext>
            </a:extLst>
          </p:cNvPr>
          <p:cNvSpPr/>
          <p:nvPr/>
        </p:nvSpPr>
        <p:spPr>
          <a:xfrm>
            <a:off x="4788024" y="5867980"/>
            <a:ext cx="3816424" cy="369332"/>
          </a:xfrm>
          <a:prstGeom prst="rect">
            <a:avLst/>
          </a:prstGeom>
        </p:spPr>
        <p:txBody>
          <a:bodyPr wrap="square">
            <a:spAutoFit/>
          </a:bodyPr>
          <a:lstStyle/>
          <a:p>
            <a:r>
              <a:rPr lang="en-GB" b="1" dirty="0" err="1">
                <a:latin typeface="Arial" panose="020B0604020202020204" pitchFamily="34" charset="0"/>
                <a:ea typeface="Calibri" panose="020F0502020204030204" pitchFamily="34" charset="0"/>
              </a:rPr>
              <a:t>ajustement</a:t>
            </a:r>
            <a:r>
              <a:rPr lang="en-GB" b="1" dirty="0">
                <a:latin typeface="Arial" panose="020B0604020202020204" pitchFamily="34" charset="0"/>
                <a:ea typeface="Calibri" panose="020F0502020204030204" pitchFamily="34" charset="0"/>
              </a:rPr>
              <a:t> de la </a:t>
            </a:r>
            <a:r>
              <a:rPr lang="en-GB" b="1" dirty="0" err="1">
                <a:latin typeface="Arial" panose="020B0604020202020204" pitchFamily="34" charset="0"/>
                <a:ea typeface="Calibri" panose="020F0502020204030204" pitchFamily="34" charset="0"/>
              </a:rPr>
              <a:t>courbe</a:t>
            </a:r>
            <a:r>
              <a:rPr lang="en-GB" b="1" dirty="0">
                <a:latin typeface="Arial" panose="020B0604020202020204" pitchFamily="34" charset="0"/>
                <a:ea typeface="Calibri" panose="020F0502020204030204" pitchFamily="34" charset="0"/>
              </a:rPr>
              <a:t> de </a:t>
            </a:r>
            <a:r>
              <a:rPr lang="en-GB" b="1" dirty="0" err="1">
                <a:latin typeface="Arial" panose="020B0604020202020204" pitchFamily="34" charset="0"/>
                <a:ea typeface="Calibri" panose="020F0502020204030204" pitchFamily="34" charset="0"/>
              </a:rPr>
              <a:t>chauffage</a:t>
            </a:r>
            <a:endParaRPr lang="es-ES" b="1" dirty="0"/>
          </a:p>
        </p:txBody>
      </p:sp>
    </p:spTree>
    <p:extLst>
      <p:ext uri="{BB962C8B-B14F-4D97-AF65-F5344CB8AC3E}">
        <p14:creationId xmlns:p14="http://schemas.microsoft.com/office/powerpoint/2010/main" val="4042550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Puissance des éléments chauffants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a:solidFill>
                  <a:schemeClr val="tx1"/>
                </a:solidFill>
                <a:ea typeface="Open Sans" panose="020B0606030504020204" pitchFamily="34" charset="0"/>
                <a:cs typeface="Open Sans" panose="020B0606030504020204" pitchFamily="34" charset="0"/>
              </a:rPr>
              <a:t>Selon le type de bâtiment et le type de pièce, il y a des tables pour produire la taille ou la capacité des éléments chauffants</a:t>
            </a:r>
          </a:p>
          <a:p>
            <a:pPr>
              <a:lnSpc>
                <a:spcPct val="150000"/>
              </a:lnSpc>
              <a:defRPr/>
            </a:pPr>
            <a:r>
              <a:rPr lang="en-US" sz="1800" kern="0">
                <a:ea typeface="Open Sans" panose="020B0606030504020204" pitchFamily="34" charset="0"/>
                <a:cs typeface="Open Sans" panose="020B0606030504020204" pitchFamily="34" charset="0"/>
              </a:rPr>
              <a:t>Règle de pouce : </a:t>
            </a:r>
            <a:r>
              <a:rPr lang="en-US" sz="1800" kern="0">
                <a:solidFill>
                  <a:schemeClr val="tx1"/>
                </a:solidFill>
                <a:ea typeface="Open Sans" panose="020B0606030504020204" pitchFamily="34" charset="0"/>
                <a:cs typeface="Open Sans" panose="020B0606030504020204" pitchFamily="34" charset="0"/>
              </a:rPr>
              <a:t>100-120 W par m2 (hauteur de la pièce de 2,60m, 2 murs externes, pas de grande surface de fenêtre)</a:t>
            </a: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1FF03392-0D5D-47B6-BAC7-AE670FBBEA69}"/>
              </a:ext>
            </a:extLst>
          </p:cNvPr>
          <p:cNvGraphicFramePr>
            <a:graphicFrameLocks noChangeAspect="1"/>
          </p:cNvGraphicFramePr>
          <p:nvPr/>
        </p:nvGraphicFramePr>
        <p:xfrm>
          <a:off x="3491880" y="3549589"/>
          <a:ext cx="4945063" cy="2803525"/>
        </p:xfrm>
        <a:graphic>
          <a:graphicData uri="http://schemas.openxmlformats.org/presentationml/2006/ole">
            <mc:AlternateContent xmlns:mc="http://schemas.openxmlformats.org/markup-compatibility/2006">
              <mc:Choice xmlns:v="urn:schemas-microsoft-com:vml" Requires="v">
                <p:oleObj name="Picture" r:id="rId3" imgW="3019806" imgH="1715262" progId="Word.Picture.8">
                  <p:embed/>
                </p:oleObj>
              </mc:Choice>
              <mc:Fallback>
                <p:oleObj name="Picture" r:id="rId3" imgW="3019806" imgH="1715262" progId="Word.Picture.8">
                  <p:embed/>
                  <p:pic>
                    <p:nvPicPr>
                      <p:cNvPr id="4" name="Object 3">
                        <a:extLst>
                          <a:ext uri="{FF2B5EF4-FFF2-40B4-BE49-F238E27FC236}">
                            <a16:creationId xmlns:a16="http://schemas.microsoft.com/office/drawing/2014/main" id="{1FF03392-0D5D-47B6-BAC7-AE670FBBEA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1880" y="3549589"/>
                        <a:ext cx="4945063" cy="280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a:extLst>
              <a:ext uri="{FF2B5EF4-FFF2-40B4-BE49-F238E27FC236}">
                <a16:creationId xmlns:a16="http://schemas.microsoft.com/office/drawing/2014/main" id="{7335B48D-6671-4ED0-9B47-57B59D161547}"/>
              </a:ext>
            </a:extLst>
          </p:cNvPr>
          <p:cNvSpPr/>
          <p:nvPr/>
        </p:nvSpPr>
        <p:spPr>
          <a:xfrm>
            <a:off x="1029132" y="4437112"/>
            <a:ext cx="2223235" cy="1569660"/>
          </a:xfrm>
          <a:prstGeom prst="rect">
            <a:avLst/>
          </a:prstGeom>
        </p:spPr>
        <p:txBody>
          <a:bodyPr wrap="square">
            <a:spAutoFit/>
          </a:bodyPr>
          <a:lstStyle/>
          <a:p>
            <a:r>
              <a:rPr lang="en-US" sz="1600" b="1" dirty="0" err="1"/>
              <a:t>Exemple</a:t>
            </a:r>
            <a:r>
              <a:rPr lang="en-US" sz="1600" b="1" dirty="0"/>
              <a:t> de la </a:t>
            </a:r>
            <a:r>
              <a:rPr lang="en-US" sz="1600" b="1" dirty="0" err="1"/>
              <a:t>capacité</a:t>
            </a:r>
            <a:r>
              <a:rPr lang="en-US" sz="1600" b="1" dirty="0"/>
              <a:t> de </a:t>
            </a:r>
            <a:r>
              <a:rPr lang="en-US" sz="1600" b="1" dirty="0" err="1"/>
              <a:t>chauffage</a:t>
            </a:r>
            <a:r>
              <a:rPr lang="en-US" sz="1600" b="1" dirty="0"/>
              <a:t> d'un </a:t>
            </a:r>
            <a:r>
              <a:rPr lang="en-US" sz="1600" b="1" dirty="0" err="1"/>
              <a:t>chauffe</a:t>
            </a:r>
            <a:r>
              <a:rPr lang="en-US" sz="1600" b="1" dirty="0"/>
              <a:t>-duplex </a:t>
            </a:r>
            <a:r>
              <a:rPr lang="en-US" sz="1600" b="1" dirty="0" err="1"/>
              <a:t>d'une</a:t>
            </a:r>
            <a:r>
              <a:rPr lang="en-US" sz="1600" b="1" dirty="0"/>
              <a:t> hauteur </a:t>
            </a:r>
            <a:r>
              <a:rPr lang="en-US" sz="1600" b="1" dirty="0" err="1"/>
              <a:t>totale</a:t>
            </a:r>
            <a:r>
              <a:rPr lang="en-US" sz="1600" b="1" dirty="0"/>
              <a:t> de 500 mm </a:t>
            </a:r>
            <a:endParaRPr lang="es-ES" sz="1600" b="1" dirty="0"/>
          </a:p>
        </p:txBody>
      </p:sp>
    </p:spTree>
    <p:extLst>
      <p:ext uri="{BB962C8B-B14F-4D97-AF65-F5344CB8AC3E}">
        <p14:creationId xmlns:p14="http://schemas.microsoft.com/office/powerpoint/2010/main" val="838802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Puissance des éléments chauffants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3275856" y="1196752"/>
            <a:ext cx="5400600" cy="5184998"/>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600" kern="0" dirty="0">
                <a:solidFill>
                  <a:schemeClr val="tx1"/>
                </a:solidFill>
                <a:ea typeface="Open Sans" panose="020B0606030504020204" pitchFamily="34" charset="0"/>
                <a:cs typeface="Open Sans" panose="020B0606030504020204" pitchFamily="34" charset="0"/>
              </a:rPr>
              <a:t>Pour </a:t>
            </a:r>
            <a:r>
              <a:rPr lang="en-US" sz="1600" kern="0" dirty="0" err="1">
                <a:solidFill>
                  <a:schemeClr val="tx1"/>
                </a:solidFill>
                <a:ea typeface="Open Sans" panose="020B0606030504020204" pitchFamily="34" charset="0"/>
                <a:cs typeface="Open Sans" panose="020B0606030504020204" pitchFamily="34" charset="0"/>
              </a:rPr>
              <a:t>atteindre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une</a:t>
            </a:r>
            <a:r>
              <a:rPr lang="en-US" sz="1600" kern="0" dirty="0">
                <a:solidFill>
                  <a:schemeClr val="tx1"/>
                </a:solidFill>
                <a:ea typeface="Open Sans" panose="020B0606030504020204" pitchFamily="34" charset="0"/>
                <a:cs typeface="Open Sans" panose="020B0606030504020204" pitchFamily="34" charset="0"/>
              </a:rPr>
              <a:t> distribution </a:t>
            </a:r>
            <a:r>
              <a:rPr lang="en-US" sz="1600" kern="0" dirty="0" err="1">
                <a:solidFill>
                  <a:schemeClr val="tx1"/>
                </a:solidFill>
                <a:ea typeface="Open Sans" panose="020B0606030504020204" pitchFamily="34" charset="0"/>
                <a:cs typeface="Open Sans" panose="020B0606030504020204" pitchFamily="34" charset="0"/>
              </a:rPr>
              <a:t>uniforme</a:t>
            </a:r>
            <a:r>
              <a:rPr lang="en-US" sz="1600" kern="0" dirty="0">
                <a:solidFill>
                  <a:schemeClr val="tx1"/>
                </a:solidFill>
                <a:ea typeface="Open Sans" panose="020B0606030504020204" pitchFamily="34" charset="0"/>
                <a:cs typeface="Open Sans" panose="020B0606030504020204" pitchFamily="34" charset="0"/>
              </a:rPr>
              <a:t> de </a:t>
            </a:r>
            <a:r>
              <a:rPr lang="en-US" sz="1600" kern="0" dirty="0" err="1">
                <a:ea typeface="Open Sans" panose="020B0606030504020204" pitchFamily="34" charset="0"/>
                <a:cs typeface="Open Sans" panose="020B0606030504020204" pitchFamily="34" charset="0"/>
              </a:rPr>
              <a:t>de</a:t>
            </a:r>
            <a:r>
              <a:rPr lang="en-US" sz="1600" kern="0" dirty="0">
                <a:ea typeface="Open Sans" panose="020B0606030504020204" pitchFamily="34" charset="0"/>
                <a:cs typeface="Open Sans" panose="020B0606030504020204" pitchFamily="34" charset="0"/>
              </a:rPr>
              <a:t> </a:t>
            </a:r>
            <a:r>
              <a:rPr lang="en-US" sz="1600" kern="0" dirty="0" err="1">
                <a:ea typeface="Open Sans" panose="020B0606030504020204" pitchFamily="34" charset="0"/>
                <a:cs typeface="Open Sans" panose="020B0606030504020204" pitchFamily="34" charset="0"/>
              </a:rPr>
              <a:t>chaleur</a:t>
            </a:r>
            <a:r>
              <a:rPr lang="en-US" sz="1600" kern="0" dirty="0">
                <a:solidFill>
                  <a:schemeClr val="tx1"/>
                </a:solidFill>
                <a:ea typeface="Open Sans" panose="020B0606030504020204" pitchFamily="34" charset="0"/>
                <a:cs typeface="Open Sans" panose="020B0606030504020204" pitchFamily="34" charset="0"/>
              </a:rPr>
              <a:t>, le </a:t>
            </a:r>
            <a:r>
              <a:rPr lang="en-US" sz="1600" kern="0" dirty="0" err="1">
                <a:solidFill>
                  <a:schemeClr val="tx1"/>
                </a:solidFill>
                <a:ea typeface="Open Sans" panose="020B0606030504020204" pitchFamily="34" charset="0"/>
                <a:cs typeface="Open Sans" panose="020B0606030504020204" pitchFamily="34" charset="0"/>
              </a:rPr>
              <a:t>chauffage</a:t>
            </a:r>
            <a:r>
              <a:rPr lang="en-US" sz="1600" kern="0" dirty="0">
                <a:solidFill>
                  <a:schemeClr val="tx1"/>
                </a:solidFill>
                <a:ea typeface="Open Sans" panose="020B0606030504020204" pitchFamily="34" charset="0"/>
                <a:cs typeface="Open Sans" panose="020B0606030504020204" pitchFamily="34" charset="0"/>
              </a:rPr>
              <a:t> doit </a:t>
            </a:r>
            <a:r>
              <a:rPr lang="en-US" sz="1600" kern="0" dirty="0" err="1">
                <a:solidFill>
                  <a:schemeClr val="tx1"/>
                </a:solidFill>
                <a:ea typeface="Open Sans" panose="020B0606030504020204" pitchFamily="34" charset="0"/>
                <a:cs typeface="Open Sans" panose="020B0606030504020204" pitchFamily="34" charset="0"/>
              </a:rPr>
              <a:t>être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placé</a:t>
            </a:r>
            <a:r>
              <a:rPr lang="en-US" sz="1600" kern="0" dirty="0">
                <a:solidFill>
                  <a:schemeClr val="tx1"/>
                </a:solidFill>
                <a:ea typeface="Open Sans" panose="020B0606030504020204" pitchFamily="34" charset="0"/>
                <a:cs typeface="Open Sans" panose="020B0606030504020204" pitchFamily="34" charset="0"/>
              </a:rPr>
              <a:t> au lieu le plus </a:t>
            </a:r>
            <a:r>
              <a:rPr lang="en-US" sz="1600" kern="0" dirty="0" err="1">
                <a:solidFill>
                  <a:schemeClr val="tx1"/>
                </a:solidFill>
                <a:ea typeface="Open Sans" panose="020B0606030504020204" pitchFamily="34" charset="0"/>
                <a:cs typeface="Open Sans" panose="020B0606030504020204" pitchFamily="34" charset="0"/>
              </a:rPr>
              <a:t>froid</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généralement</a:t>
            </a:r>
            <a:r>
              <a:rPr lang="en-US" sz="1600" kern="0" dirty="0">
                <a:solidFill>
                  <a:schemeClr val="tx1"/>
                </a:solidFill>
                <a:ea typeface="Open Sans" panose="020B0606030504020204" pitchFamily="34" charset="0"/>
                <a:cs typeface="Open Sans" panose="020B0606030504020204" pitchFamily="34" charset="0"/>
              </a:rPr>
              <a:t> sous la </a:t>
            </a:r>
            <a:r>
              <a:rPr lang="en-US" sz="1600" kern="0" dirty="0" err="1">
                <a:solidFill>
                  <a:schemeClr val="tx1"/>
                </a:solidFill>
                <a:ea typeface="Open Sans" panose="020B0606030504020204" pitchFamily="34" charset="0"/>
                <a:cs typeface="Open Sans" panose="020B0606030504020204" pitchFamily="34" charset="0"/>
              </a:rPr>
              <a:t>fenêtre</a:t>
            </a:r>
            <a:r>
              <a:rPr lang="en-US" sz="1600" kern="0" dirty="0">
                <a:solidFill>
                  <a:schemeClr val="tx1"/>
                </a:solidFill>
                <a:ea typeface="Open Sans" panose="020B0606030504020204" pitchFamily="34" charset="0"/>
                <a:cs typeface="Open Sans" panose="020B0606030504020204" pitchFamily="34" charset="0"/>
              </a:rPr>
              <a:t>). Le </a:t>
            </a:r>
            <a:r>
              <a:rPr lang="en-US" sz="1600" kern="0" dirty="0" err="1">
                <a:solidFill>
                  <a:schemeClr val="tx1"/>
                </a:solidFill>
                <a:ea typeface="Open Sans" panose="020B0606030504020204" pitchFamily="34" charset="0"/>
                <a:cs typeface="Open Sans" panose="020B0606030504020204" pitchFamily="34" charset="0"/>
              </a:rPr>
              <a:t>chauffage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devrait</a:t>
            </a:r>
            <a:r>
              <a:rPr lang="en-US" sz="1600" kern="0" dirty="0">
                <a:solidFill>
                  <a:schemeClr val="tx1"/>
                </a:solidFill>
                <a:ea typeface="Open Sans" panose="020B0606030504020204" pitchFamily="34" charset="0"/>
                <a:cs typeface="Open Sans" panose="020B0606030504020204" pitchFamily="34" charset="0"/>
              </a:rPr>
              <a:t> au </a:t>
            </a:r>
            <a:r>
              <a:rPr lang="en-US" sz="1600" kern="0" dirty="0" err="1">
                <a:solidFill>
                  <a:schemeClr val="tx1"/>
                </a:solidFill>
                <a:ea typeface="Open Sans" panose="020B0606030504020204" pitchFamily="34" charset="0"/>
                <a:cs typeface="Open Sans" panose="020B0606030504020204" pitchFamily="34" charset="0"/>
              </a:rPr>
              <a:t>moins</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être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aussi</a:t>
            </a:r>
            <a:r>
              <a:rPr lang="en-US" sz="1600" kern="0" dirty="0">
                <a:solidFill>
                  <a:schemeClr val="tx1"/>
                </a:solidFill>
                <a:ea typeface="Open Sans" panose="020B0606030504020204" pitchFamily="34" charset="0"/>
                <a:cs typeface="Open Sans" panose="020B0606030504020204" pitchFamily="34" charset="0"/>
              </a:rPr>
              <a:t> large que la </a:t>
            </a:r>
            <a:r>
              <a:rPr lang="en-US" sz="1600" kern="0" dirty="0" err="1">
                <a:solidFill>
                  <a:schemeClr val="tx1"/>
                </a:solidFill>
                <a:ea typeface="Open Sans" panose="020B0606030504020204" pitchFamily="34" charset="0"/>
                <a:cs typeface="Open Sans" panose="020B0606030504020204" pitchFamily="34" charset="0"/>
              </a:rPr>
              <a:t>fenêtre</a:t>
            </a: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600" kern="0" dirty="0">
                <a:ea typeface="Open Sans" panose="020B0606030504020204" pitchFamily="34" charset="0"/>
                <a:cs typeface="Open Sans" panose="020B0606030504020204" pitchFamily="34" charset="0"/>
              </a:rPr>
              <a:t>Remarque : </a:t>
            </a:r>
            <a:r>
              <a:rPr lang="en-US" sz="1600" kern="0" dirty="0" err="1">
                <a:solidFill>
                  <a:schemeClr val="tx1"/>
                </a:solidFill>
                <a:ea typeface="Open Sans" panose="020B0606030504020204" pitchFamily="34" charset="0"/>
                <a:cs typeface="Open Sans" panose="020B0606030504020204" pitchFamily="34" charset="0"/>
              </a:rPr>
              <a:t>Tous</a:t>
            </a:r>
            <a:r>
              <a:rPr lang="en-US" sz="1600" kern="0" dirty="0">
                <a:solidFill>
                  <a:schemeClr val="tx1"/>
                </a:solidFill>
                <a:ea typeface="Open Sans" panose="020B0606030504020204" pitchFamily="34" charset="0"/>
                <a:cs typeface="Open Sans" panose="020B0606030504020204" pitchFamily="34" charset="0"/>
              </a:rPr>
              <a:t> les </a:t>
            </a:r>
            <a:r>
              <a:rPr lang="en-US" sz="1600" kern="0" dirty="0" err="1">
                <a:solidFill>
                  <a:schemeClr val="tx1"/>
                </a:solidFill>
                <a:ea typeface="Open Sans" panose="020B0606030504020204" pitchFamily="34" charset="0"/>
                <a:cs typeface="Open Sans" panose="020B0606030504020204" pitchFamily="34" charset="0"/>
              </a:rPr>
              <a:t>tuyaux</a:t>
            </a:r>
            <a:r>
              <a:rPr lang="en-US" sz="1600" kern="0" dirty="0">
                <a:solidFill>
                  <a:schemeClr val="tx1"/>
                </a:solidFill>
                <a:ea typeface="Open Sans" panose="020B0606030504020204" pitchFamily="34" charset="0"/>
                <a:cs typeface="Open Sans" panose="020B0606030504020204" pitchFamily="34" charset="0"/>
              </a:rPr>
              <a:t> du </a:t>
            </a:r>
            <a:r>
              <a:rPr lang="en-US" sz="1600" kern="0" dirty="0" err="1">
                <a:solidFill>
                  <a:schemeClr val="tx1"/>
                </a:solidFill>
                <a:ea typeface="Open Sans" panose="020B0606030504020204" pitchFamily="34" charset="0"/>
                <a:cs typeface="Open Sans" panose="020B0606030504020204" pitchFamily="34" charset="0"/>
              </a:rPr>
              <a:t>système</a:t>
            </a:r>
            <a:r>
              <a:rPr lang="en-US" sz="1600" kern="0" dirty="0">
                <a:solidFill>
                  <a:schemeClr val="tx1"/>
                </a:solidFill>
                <a:ea typeface="Open Sans" panose="020B0606030504020204" pitchFamily="34" charset="0"/>
                <a:cs typeface="Open Sans" panose="020B0606030504020204" pitchFamily="34" charset="0"/>
              </a:rPr>
              <a:t> de </a:t>
            </a:r>
            <a:r>
              <a:rPr lang="en-US" sz="1600" kern="0" dirty="0" err="1">
                <a:solidFill>
                  <a:schemeClr val="tx1"/>
                </a:solidFill>
                <a:ea typeface="Open Sans" panose="020B0606030504020204" pitchFamily="34" charset="0"/>
                <a:cs typeface="Open Sans" panose="020B0606030504020204" pitchFamily="34" charset="0"/>
              </a:rPr>
              <a:t>câblage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doivent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être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soigneusement</a:t>
            </a:r>
            <a:r>
              <a:rPr lang="en-US" sz="1600" kern="0" dirty="0">
                <a:solidFill>
                  <a:schemeClr val="tx1"/>
                </a:solidFill>
                <a:ea typeface="Open Sans" panose="020B0606030504020204" pitchFamily="34" charset="0"/>
                <a:cs typeface="Open Sans" panose="020B0606030504020204" pitchFamily="34" charset="0"/>
              </a:rPr>
              <a:t> et </a:t>
            </a:r>
            <a:r>
              <a:rPr lang="en-US" sz="1600" kern="0" dirty="0" err="1">
                <a:solidFill>
                  <a:schemeClr val="tx1"/>
                </a:solidFill>
                <a:ea typeface="Open Sans" panose="020B0606030504020204" pitchFamily="34" charset="0"/>
                <a:cs typeface="Open Sans" panose="020B0606030504020204" pitchFamily="34" charset="0"/>
              </a:rPr>
              <a:t>suffisamment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isolés</a:t>
            </a:r>
            <a:r>
              <a:rPr lang="en-US" sz="1600" kern="0" dirty="0">
                <a:solidFill>
                  <a:schemeClr val="tx1"/>
                </a:solidFill>
                <a:ea typeface="Open Sans" panose="020B0606030504020204" pitchFamily="34" charset="0"/>
                <a:cs typeface="Open Sans" panose="020B0606030504020204" pitchFamily="34" charset="0"/>
              </a:rPr>
              <a:t>. Les </a:t>
            </a:r>
            <a:r>
              <a:rPr lang="en-US" sz="1600" kern="0" dirty="0" err="1">
                <a:solidFill>
                  <a:schemeClr val="tx1"/>
                </a:solidFill>
                <a:ea typeface="Open Sans" panose="020B0606030504020204" pitchFamily="34" charset="0"/>
                <a:cs typeface="Open Sans" panose="020B0606030504020204" pitchFamily="34" charset="0"/>
              </a:rPr>
              <a:t>tuyaux</a:t>
            </a:r>
            <a:r>
              <a:rPr lang="en-US" sz="1600" kern="0" dirty="0">
                <a:solidFill>
                  <a:schemeClr val="tx1"/>
                </a:solidFill>
                <a:ea typeface="Open Sans" panose="020B0606030504020204" pitchFamily="34" charset="0"/>
                <a:cs typeface="Open Sans" panose="020B0606030504020204" pitchFamily="34" charset="0"/>
              </a:rPr>
              <a:t> sans isolation suffisante </a:t>
            </a:r>
            <a:r>
              <a:rPr lang="en-US" sz="1600" kern="0" dirty="0" err="1">
                <a:solidFill>
                  <a:schemeClr val="tx1"/>
                </a:solidFill>
                <a:ea typeface="Open Sans" panose="020B0606030504020204" pitchFamily="34" charset="0"/>
                <a:cs typeface="Open Sans" panose="020B0606030504020204" pitchFamily="34" charset="0"/>
              </a:rPr>
              <a:t>peuvent</a:t>
            </a:r>
            <a:r>
              <a:rPr lang="en-US" sz="1600" kern="0" dirty="0">
                <a:solidFill>
                  <a:schemeClr val="tx1"/>
                </a:solidFill>
                <a:ea typeface="Open Sans" panose="020B0606030504020204" pitchFamily="34" charset="0"/>
                <a:cs typeface="Open Sans" panose="020B0606030504020204" pitchFamily="34" charset="0"/>
              </a:rPr>
              <a:t> chauffer les </a:t>
            </a:r>
            <a:r>
              <a:rPr lang="en-US" sz="1600" kern="0" dirty="0" err="1">
                <a:solidFill>
                  <a:schemeClr val="tx1"/>
                </a:solidFill>
                <a:ea typeface="Open Sans" panose="020B0606030504020204" pitchFamily="34" charset="0"/>
                <a:cs typeface="Open Sans" panose="020B0606030504020204" pitchFamily="34" charset="0"/>
              </a:rPr>
              <a:t>pièces</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lorsque</a:t>
            </a:r>
            <a:r>
              <a:rPr lang="en-US" sz="1600" kern="0" dirty="0">
                <a:solidFill>
                  <a:schemeClr val="tx1"/>
                </a:solidFill>
                <a:ea typeface="Open Sans" panose="020B0606030504020204" pitchFamily="34" charset="0"/>
                <a:cs typeface="Open Sans" panose="020B0606030504020204" pitchFamily="34" charset="0"/>
              </a:rPr>
              <a:t> la </a:t>
            </a:r>
            <a:r>
              <a:rPr lang="en-US" sz="1600" kern="0" dirty="0" err="1">
                <a:solidFill>
                  <a:schemeClr val="tx1"/>
                </a:solidFill>
                <a:ea typeface="Open Sans" panose="020B0606030504020204" pitchFamily="34" charset="0"/>
                <a:cs typeface="Open Sans" panose="020B0606030504020204" pitchFamily="34" charset="0"/>
              </a:rPr>
              <a:t>vanne</a:t>
            </a:r>
            <a:r>
              <a:rPr lang="en-US" sz="1600" kern="0" dirty="0">
                <a:solidFill>
                  <a:schemeClr val="tx1"/>
                </a:solidFill>
                <a:ea typeface="Open Sans" panose="020B0606030504020204" pitchFamily="34" charset="0"/>
                <a:cs typeface="Open Sans" panose="020B0606030504020204" pitchFamily="34" charset="0"/>
              </a:rPr>
              <a:t> de type angle </a:t>
            </a:r>
            <a:r>
              <a:rPr lang="en-US" sz="1600" kern="0" dirty="0" err="1">
                <a:solidFill>
                  <a:schemeClr val="tx1"/>
                </a:solidFill>
                <a:ea typeface="Open Sans" panose="020B0606030504020204" pitchFamily="34" charset="0"/>
                <a:cs typeface="Open Sans" panose="020B0606030504020204" pitchFamily="34" charset="0"/>
              </a:rPr>
              <a:t>est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fermée</a:t>
            </a:r>
            <a:r>
              <a:rPr lang="en-US" sz="1600" kern="0" dirty="0">
                <a:solidFill>
                  <a:schemeClr val="tx1"/>
                </a:solidFill>
                <a:ea typeface="Open Sans" panose="020B0606030504020204" pitchFamily="34" charset="0"/>
                <a:cs typeface="Open Sans" panose="020B0606030504020204" pitchFamily="34" charset="0"/>
              </a:rPr>
              <a:t>). Le </a:t>
            </a:r>
            <a:r>
              <a:rPr lang="en-US" sz="1600" kern="0" dirty="0" err="1">
                <a:solidFill>
                  <a:schemeClr val="tx1"/>
                </a:solidFill>
                <a:ea typeface="Open Sans" panose="020B0606030504020204" pitchFamily="34" charset="0"/>
                <a:cs typeface="Open Sans" panose="020B0606030504020204" pitchFamily="34" charset="0"/>
              </a:rPr>
              <a:t>contrôle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en</a:t>
            </a:r>
            <a:r>
              <a:rPr lang="en-US" sz="1600" kern="0" dirty="0">
                <a:solidFill>
                  <a:schemeClr val="tx1"/>
                </a:solidFill>
                <a:ea typeface="Open Sans" panose="020B0606030504020204" pitchFamily="34" charset="0"/>
                <a:cs typeface="Open Sans" panose="020B0606030504020204" pitchFamily="34" charset="0"/>
              </a:rPr>
              <a:t> boucle </a:t>
            </a:r>
            <a:r>
              <a:rPr lang="en-US" sz="1600" kern="0" dirty="0" err="1">
                <a:solidFill>
                  <a:schemeClr val="tx1"/>
                </a:solidFill>
                <a:ea typeface="Open Sans" panose="020B0606030504020204" pitchFamily="34" charset="0"/>
                <a:cs typeface="Open Sans" panose="020B0606030504020204" pitchFamily="34" charset="0"/>
              </a:rPr>
              <a:t>fermée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n'est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alors</a:t>
            </a:r>
            <a:r>
              <a:rPr lang="en-US" sz="1600" kern="0" dirty="0">
                <a:solidFill>
                  <a:schemeClr val="tx1"/>
                </a:solidFill>
                <a:ea typeface="Open Sans" panose="020B0606030504020204" pitchFamily="34" charset="0"/>
                <a:cs typeface="Open Sans" panose="020B0606030504020204" pitchFamily="34" charset="0"/>
              </a:rPr>
              <a:t> plus possible</a:t>
            </a:r>
          </a:p>
          <a:p>
            <a:pPr>
              <a:lnSpc>
                <a:spcPct val="150000"/>
              </a:lnSpc>
              <a:defRPr/>
            </a:pPr>
            <a:r>
              <a:rPr lang="en-US" sz="1600" kern="0" dirty="0">
                <a:ea typeface="Open Sans" panose="020B0606030504020204" pitchFamily="34" charset="0"/>
                <a:cs typeface="Open Sans" panose="020B0606030504020204" pitchFamily="34" charset="0"/>
              </a:rPr>
              <a:t>Attention : </a:t>
            </a:r>
            <a:r>
              <a:rPr lang="en-US" sz="1600" kern="0" dirty="0" err="1">
                <a:solidFill>
                  <a:schemeClr val="tx1"/>
                </a:solidFill>
                <a:ea typeface="Open Sans" panose="020B0606030504020204" pitchFamily="34" charset="0"/>
                <a:cs typeface="Open Sans" panose="020B0606030504020204" pitchFamily="34" charset="0"/>
              </a:rPr>
              <a:t>Lors</a:t>
            </a:r>
            <a:r>
              <a:rPr lang="en-US" sz="1600" kern="0" dirty="0">
                <a:solidFill>
                  <a:schemeClr val="tx1"/>
                </a:solidFill>
                <a:ea typeface="Open Sans" panose="020B0606030504020204" pitchFamily="34" charset="0"/>
                <a:cs typeface="Open Sans" panose="020B0606030504020204" pitchFamily="34" charset="0"/>
              </a:rPr>
              <a:t> de </a:t>
            </a:r>
            <a:r>
              <a:rPr lang="en-US" sz="1600" kern="0" dirty="0" err="1">
                <a:solidFill>
                  <a:schemeClr val="tx1"/>
                </a:solidFill>
                <a:ea typeface="Open Sans" panose="020B0606030504020204" pitchFamily="34" charset="0"/>
                <a:cs typeface="Open Sans" panose="020B0606030504020204" pitchFamily="34" charset="0"/>
              </a:rPr>
              <a:t>l'utilisation</a:t>
            </a:r>
            <a:r>
              <a:rPr lang="en-US" sz="1600" kern="0" dirty="0">
                <a:solidFill>
                  <a:schemeClr val="tx1"/>
                </a:solidFill>
                <a:ea typeface="Open Sans" panose="020B0606030504020204" pitchFamily="34" charset="0"/>
                <a:cs typeface="Open Sans" panose="020B0606030504020204" pitchFamily="34" charset="0"/>
              </a:rPr>
              <a:t> d'un </a:t>
            </a:r>
            <a:r>
              <a:rPr lang="en-US" sz="1600" kern="0" dirty="0" err="1">
                <a:solidFill>
                  <a:schemeClr val="tx1"/>
                </a:solidFill>
                <a:ea typeface="Open Sans" panose="020B0606030504020204" pitchFamily="34" charset="0"/>
                <a:cs typeface="Open Sans" panose="020B0606030504020204" pitchFamily="34" charset="0"/>
              </a:rPr>
              <a:t>régulateur</a:t>
            </a:r>
            <a:r>
              <a:rPr lang="en-US" sz="1600" kern="0" dirty="0">
                <a:solidFill>
                  <a:schemeClr val="tx1"/>
                </a:solidFill>
                <a:ea typeface="Open Sans" panose="020B0606030504020204" pitchFamily="34" charset="0"/>
                <a:cs typeface="Open Sans" panose="020B0606030504020204" pitchFamily="34" charset="0"/>
              </a:rPr>
              <a:t> de </a:t>
            </a:r>
            <a:r>
              <a:rPr lang="en-US" sz="1600" kern="0" dirty="0" err="1">
                <a:solidFill>
                  <a:schemeClr val="tx1"/>
                </a:solidFill>
                <a:ea typeface="Open Sans" panose="020B0606030504020204" pitchFamily="34" charset="0"/>
                <a:cs typeface="Open Sans" panose="020B0606030504020204" pitchFamily="34" charset="0"/>
              </a:rPr>
              <a:t>température</a:t>
            </a:r>
            <a:r>
              <a:rPr lang="en-US" sz="1600" kern="0" dirty="0">
                <a:solidFill>
                  <a:schemeClr val="tx1"/>
                </a:solidFill>
                <a:ea typeface="Open Sans" panose="020B0606030504020204" pitchFamily="34" charset="0"/>
                <a:cs typeface="Open Sans" panose="020B0606030504020204" pitchFamily="34" charset="0"/>
              </a:rPr>
              <a:t> de pièce, </a:t>
            </a:r>
            <a:r>
              <a:rPr lang="en-US" sz="1600" kern="0" dirty="0" err="1">
                <a:solidFill>
                  <a:schemeClr val="tx1"/>
                </a:solidFill>
                <a:ea typeface="Open Sans" panose="020B0606030504020204" pitchFamily="34" charset="0"/>
                <a:cs typeface="Open Sans" panose="020B0606030504020204" pitchFamily="34" charset="0"/>
              </a:rPr>
              <a:t>aucun</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système</a:t>
            </a:r>
            <a:r>
              <a:rPr lang="en-US" sz="1600" kern="0" dirty="0">
                <a:solidFill>
                  <a:schemeClr val="tx1"/>
                </a:solidFill>
                <a:ea typeface="Open Sans" panose="020B0606030504020204" pitchFamily="34" charset="0"/>
                <a:cs typeface="Open Sans" panose="020B0606030504020204" pitchFamily="34" charset="0"/>
              </a:rPr>
              <a:t> de </a:t>
            </a:r>
            <a:r>
              <a:rPr lang="en-US" sz="1600" kern="0" dirty="0" err="1">
                <a:solidFill>
                  <a:schemeClr val="tx1"/>
                </a:solidFill>
                <a:ea typeface="Open Sans" panose="020B0606030504020204" pitchFamily="34" charset="0"/>
                <a:cs typeface="Open Sans" panose="020B0606030504020204" pitchFamily="34" charset="0"/>
              </a:rPr>
              <a:t>chauffage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supplémentaire</a:t>
            </a:r>
            <a:r>
              <a:rPr lang="en-US" sz="1600" kern="0" dirty="0">
                <a:solidFill>
                  <a:schemeClr val="tx1"/>
                </a:solidFill>
                <a:ea typeface="Open Sans" panose="020B0606030504020204" pitchFamily="34" charset="0"/>
                <a:cs typeface="Open Sans" panose="020B0606030504020204" pitchFamily="34" charset="0"/>
              </a:rPr>
              <a:t> non </a:t>
            </a:r>
            <a:r>
              <a:rPr lang="en-US" sz="1600" kern="0" dirty="0" err="1">
                <a:solidFill>
                  <a:schemeClr val="tx1"/>
                </a:solidFill>
                <a:ea typeface="Open Sans" panose="020B0606030504020204" pitchFamily="34" charset="0"/>
                <a:cs typeface="Open Sans" panose="020B0606030504020204" pitchFamily="34" charset="0"/>
              </a:rPr>
              <a:t>régulé</a:t>
            </a:r>
            <a:r>
              <a:rPr lang="en-US" sz="1600" kern="0" dirty="0">
                <a:solidFill>
                  <a:schemeClr val="tx1"/>
                </a:solidFill>
                <a:ea typeface="Open Sans" panose="020B0606030504020204" pitchFamily="34" charset="0"/>
                <a:cs typeface="Open Sans" panose="020B0606030504020204" pitchFamily="34" charset="0"/>
              </a:rPr>
              <a:t> ne </a:t>
            </a:r>
            <a:r>
              <a:rPr lang="en-US" sz="1600" kern="0" dirty="0" err="1">
                <a:solidFill>
                  <a:schemeClr val="tx1"/>
                </a:solidFill>
                <a:ea typeface="Open Sans" panose="020B0606030504020204" pitchFamily="34" charset="0"/>
                <a:cs typeface="Open Sans" panose="020B0606030504020204" pitchFamily="34" charset="0"/>
              </a:rPr>
              <a:t>peut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être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situé</a:t>
            </a:r>
            <a:r>
              <a:rPr lang="en-US" sz="1600" kern="0" dirty="0">
                <a:solidFill>
                  <a:schemeClr val="tx1"/>
                </a:solidFill>
                <a:ea typeface="Open Sans" panose="020B0606030504020204" pitchFamily="34" charset="0"/>
                <a:cs typeface="Open Sans" panose="020B0606030504020204" pitchFamily="34" charset="0"/>
              </a:rPr>
              <a:t> dans la pièce !</a:t>
            </a:r>
          </a:p>
          <a:p>
            <a:pPr>
              <a:lnSpc>
                <a:spcPct val="150000"/>
              </a:lnSpc>
              <a:defRPr/>
            </a:pPr>
            <a:endParaRPr lang="en-US" sz="16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1600" kern="0" dirty="0">
              <a:ea typeface="Open Sans" panose="020B0606030504020204" pitchFamily="34" charset="0"/>
              <a:cs typeface="Open Sans" panose="020B0606030504020204" pitchFamily="34" charset="0"/>
            </a:endParaRPr>
          </a:p>
        </p:txBody>
      </p:sp>
      <p:pic>
        <p:nvPicPr>
          <p:cNvPr id="9218" name="Picture 2">
            <a:extLst>
              <a:ext uri="{FF2B5EF4-FFF2-40B4-BE49-F238E27FC236}">
                <a16:creationId xmlns:a16="http://schemas.microsoft.com/office/drawing/2014/main" id="{0BF688B0-E7AF-4264-A694-C0F38D171B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7" y="1624827"/>
            <a:ext cx="1903531" cy="1876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9" name="Picture 3">
            <a:extLst>
              <a:ext uri="{FF2B5EF4-FFF2-40B4-BE49-F238E27FC236}">
                <a16:creationId xmlns:a16="http://schemas.microsoft.com/office/drawing/2014/main" id="{D18D66EE-660F-48E8-BC63-E3A242C579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7472" y="3958666"/>
            <a:ext cx="1903531" cy="1903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8545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Contrôle du chauffage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125438"/>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1800" kern="0" dirty="0">
                <a:ea typeface="Open Sans" panose="020B0606030504020204" pitchFamily="34" charset="0"/>
                <a:cs typeface="Open Sans" panose="020B0606030504020204" pitchFamily="34" charset="0"/>
              </a:rPr>
              <a:t>Circuits </a:t>
            </a:r>
            <a:r>
              <a:rPr lang="en-US" sz="1800" kern="0" dirty="0" err="1">
                <a:ea typeface="Open Sans" panose="020B0606030504020204" pitchFamily="34" charset="0"/>
                <a:cs typeface="Open Sans" panose="020B0606030504020204" pitchFamily="34" charset="0"/>
              </a:rPr>
              <a:t>typiques</a:t>
            </a:r>
            <a:r>
              <a:rPr lang="en-US" sz="1800" kern="0" dirty="0">
                <a:ea typeface="Open Sans" panose="020B0606030504020204" pitchFamily="34" charset="0"/>
                <a:cs typeface="Open Sans" panose="020B0606030504020204" pitchFamily="34" charset="0"/>
              </a:rPr>
              <a:t> pour un </a:t>
            </a:r>
            <a:r>
              <a:rPr lang="en-US" sz="1800" kern="0" dirty="0" err="1">
                <a:ea typeface="Open Sans" panose="020B0606030504020204" pitchFamily="34" charset="0"/>
                <a:cs typeface="Open Sans" panose="020B0606030504020204" pitchFamily="34" charset="0"/>
              </a:rPr>
              <a:t>système</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d'eau</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chaude</a:t>
            </a:r>
            <a:r>
              <a:rPr lang="en-US" sz="1800" kern="0" dirty="0">
                <a:ea typeface="Open Sans" panose="020B0606030504020204" pitchFamily="34" charset="0"/>
                <a:cs typeface="Open Sans" panose="020B0606030504020204" pitchFamily="34" charset="0"/>
              </a:rPr>
              <a:t> avec </a:t>
            </a:r>
            <a:r>
              <a:rPr lang="en-US" sz="1800" kern="0" dirty="0" err="1">
                <a:ea typeface="Open Sans" panose="020B0606030504020204" pitchFamily="34" charset="0"/>
                <a:cs typeface="Open Sans" panose="020B0606030504020204" pitchFamily="34" charset="0"/>
              </a:rPr>
              <a:t>une</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seule</a:t>
            </a:r>
            <a:r>
              <a:rPr lang="en-US" sz="1800" kern="0" dirty="0">
                <a:ea typeface="Open Sans" panose="020B0606030504020204" pitchFamily="34" charset="0"/>
                <a:cs typeface="Open Sans" panose="020B0606030504020204" pitchFamily="34" charset="0"/>
              </a:rPr>
              <a:t> source </a:t>
            </a:r>
            <a:r>
              <a:rPr lang="en-US" sz="1800" kern="0" dirty="0" err="1">
                <a:ea typeface="Open Sans" panose="020B0606030504020204" pitchFamily="34" charset="0"/>
                <a:cs typeface="Open Sans" panose="020B0606030504020204" pitchFamily="34" charset="0"/>
              </a:rPr>
              <a:t>d'énergie</a:t>
            </a:r>
            <a:r>
              <a:rPr lang="en-US" sz="1800" kern="0" dirty="0">
                <a:ea typeface="Open Sans" panose="020B0606030504020204" pitchFamily="34" charset="0"/>
                <a:cs typeface="Open Sans" panose="020B0606030504020204" pitchFamily="34" charset="0"/>
              </a:rPr>
              <a:t>:</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Options de </a:t>
            </a:r>
            <a:r>
              <a:rPr lang="en-US" sz="1800" kern="0" dirty="0" err="1">
                <a:solidFill>
                  <a:schemeClr val="tx1"/>
                </a:solidFill>
                <a:ea typeface="Open Sans" panose="020B0606030504020204" pitchFamily="34" charset="0"/>
                <a:cs typeface="Open Sans" panose="020B0606030504020204" pitchFamily="34" charset="0"/>
              </a:rPr>
              <a:t>contrôle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possibles</a:t>
            </a:r>
            <a:r>
              <a:rPr lang="en-US" sz="1800" kern="0" dirty="0">
                <a:solidFill>
                  <a:schemeClr val="tx1"/>
                </a:solidFill>
                <a:ea typeface="Open Sans" panose="020B0606030504020204" pitchFamily="34" charset="0"/>
                <a:cs typeface="Open Sans" panose="020B0606030504020204" pitchFamily="34" charset="0"/>
              </a:rPr>
              <a:t> au </a:t>
            </a:r>
            <a:r>
              <a:rPr lang="en-US" sz="1800" kern="0" dirty="0" err="1">
                <a:solidFill>
                  <a:schemeClr val="tx1"/>
                </a:solidFill>
                <a:ea typeface="Open Sans" panose="020B0606030504020204" pitchFamily="34" charset="0"/>
                <a:cs typeface="Open Sans" panose="020B0606030504020204" pitchFamily="34" charset="0"/>
              </a:rPr>
              <a:t>moyen</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capteurs</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4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Options de </a:t>
            </a:r>
            <a:r>
              <a:rPr lang="en-US" sz="1800" kern="0" dirty="0" err="1">
                <a:solidFill>
                  <a:schemeClr val="tx1"/>
                </a:solidFill>
                <a:ea typeface="Open Sans" panose="020B0606030504020204" pitchFamily="34" charset="0"/>
                <a:cs typeface="Open Sans" panose="020B0606030504020204" pitchFamily="34" charset="0"/>
              </a:rPr>
              <a:t>contrôle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possibles</a:t>
            </a:r>
            <a:r>
              <a:rPr lang="en-US" sz="1800" kern="0" dirty="0">
                <a:solidFill>
                  <a:schemeClr val="tx1"/>
                </a:solidFill>
                <a:ea typeface="Open Sans" panose="020B0606030504020204" pitchFamily="34" charset="0"/>
                <a:cs typeface="Open Sans" panose="020B0606030504020204" pitchFamily="34" charset="0"/>
              </a:rPr>
              <a:t> au </a:t>
            </a:r>
            <a:r>
              <a:rPr lang="en-US" sz="1800" kern="0" dirty="0" err="1">
                <a:solidFill>
                  <a:schemeClr val="tx1"/>
                </a:solidFill>
                <a:ea typeface="Open Sans" panose="020B0606030504020204" pitchFamily="34" charset="0"/>
                <a:cs typeface="Open Sans" panose="020B0606030504020204" pitchFamily="34" charset="0"/>
              </a:rPr>
              <a:t>moyen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d'actionneurs</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2000" kern="0" dirty="0">
              <a:ea typeface="Open Sans" panose="020B0606030504020204" pitchFamily="34" charset="0"/>
              <a:cs typeface="Open Sans" panose="020B0606030504020204" pitchFamily="34" charset="0"/>
            </a:endParaRP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graphicFrame>
        <p:nvGraphicFramePr>
          <p:cNvPr id="5" name="Table 4">
            <a:extLst>
              <a:ext uri="{FF2B5EF4-FFF2-40B4-BE49-F238E27FC236}">
                <a16:creationId xmlns:a16="http://schemas.microsoft.com/office/drawing/2014/main" id="{DCB86211-57BD-4190-B0DF-609F4C87264E}"/>
              </a:ext>
            </a:extLst>
          </p:cNvPr>
          <p:cNvGraphicFramePr>
            <a:graphicFrameLocks noGrp="1"/>
          </p:cNvGraphicFramePr>
          <p:nvPr/>
        </p:nvGraphicFramePr>
        <p:xfrm>
          <a:off x="1115616" y="5229200"/>
          <a:ext cx="7128272" cy="1271361"/>
        </p:xfrm>
        <a:graphic>
          <a:graphicData uri="http://schemas.openxmlformats.org/drawingml/2006/table">
            <a:tbl>
              <a:tblPr>
                <a:tableStyleId>{ED083AE6-46FA-4A59-8FB0-9F97EB10719F}</a:tableStyleId>
              </a:tblPr>
              <a:tblGrid>
                <a:gridCol w="2520280">
                  <a:extLst>
                    <a:ext uri="{9D8B030D-6E8A-4147-A177-3AD203B41FA5}">
                      <a16:colId xmlns:a16="http://schemas.microsoft.com/office/drawing/2014/main" val="807108284"/>
                    </a:ext>
                  </a:extLst>
                </a:gridCol>
                <a:gridCol w="4607992">
                  <a:extLst>
                    <a:ext uri="{9D8B030D-6E8A-4147-A177-3AD203B41FA5}">
                      <a16:colId xmlns:a16="http://schemas.microsoft.com/office/drawing/2014/main" val="1777164265"/>
                    </a:ext>
                  </a:extLst>
                </a:gridCol>
              </a:tblGrid>
              <a:tr h="215179">
                <a:tc>
                  <a:txBody>
                    <a:bodyPr/>
                    <a:lstStyle/>
                    <a:p>
                      <a:pPr marL="71755" marR="6985" algn="ctr">
                        <a:lnSpc>
                          <a:spcPct val="115000"/>
                        </a:lnSpc>
                        <a:spcBef>
                          <a:spcPts val="300"/>
                        </a:spcBef>
                        <a:spcAft>
                          <a:spcPts val="0"/>
                        </a:spcAft>
                      </a:pPr>
                      <a:r>
                        <a:rPr lang="en-GB" sz="1200" b="1">
                          <a:effectLst/>
                        </a:rPr>
                        <a:t>Option de contrôle</a:t>
                      </a:r>
                      <a:endParaRPr lang="es-ES" sz="1200" b="1"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gn="ctr">
                        <a:lnSpc>
                          <a:spcPct val="115000"/>
                        </a:lnSpc>
                        <a:spcAft>
                          <a:spcPts val="300"/>
                        </a:spcAft>
                      </a:pPr>
                      <a:r>
                        <a:rPr lang="en-GB" sz="1200" b="1">
                          <a:effectLst/>
                        </a:rPr>
                        <a:t>Commentaire</a:t>
                      </a:r>
                      <a:endParaRPr lang="es-ES" sz="1200" b="1" dirty="0">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127443101"/>
                  </a:ext>
                </a:extLst>
              </a:tr>
              <a:tr h="438771">
                <a:tc>
                  <a:txBody>
                    <a:bodyPr/>
                    <a:lstStyle/>
                    <a:p>
                      <a:pPr marL="71755" marR="6985">
                        <a:lnSpc>
                          <a:spcPct val="115000"/>
                        </a:lnSpc>
                        <a:spcBef>
                          <a:spcPts val="300"/>
                        </a:spcBef>
                        <a:spcAft>
                          <a:spcPts val="0"/>
                        </a:spcAft>
                      </a:pPr>
                      <a:r>
                        <a:rPr lang="en-GB" sz="1200">
                          <a:effectLst/>
                        </a:rPr>
                        <a:t>Circuit de chauffage direct</a:t>
                      </a:r>
                      <a:endParaRPr lang="es-ES" sz="1200"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Aft>
                          <a:spcPts val="300"/>
                        </a:spcAft>
                      </a:pPr>
                      <a:r>
                        <a:rPr lang="en-GB" sz="1200">
                          <a:effectLst/>
                        </a:rPr>
                        <a:t>Le besoin en chaleur peut seulement être régulé en allumant / éteignant la pompe à chaleur</a:t>
                      </a:r>
                      <a:endParaRPr lang="es-ES" sz="1200" dirty="0">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2076916368"/>
                  </a:ext>
                </a:extLst>
              </a:tr>
              <a:tr h="438771">
                <a:tc>
                  <a:txBody>
                    <a:bodyPr/>
                    <a:lstStyle/>
                    <a:p>
                      <a:pPr marL="71755" marR="6985">
                        <a:lnSpc>
                          <a:spcPct val="115000"/>
                        </a:lnSpc>
                        <a:spcBef>
                          <a:spcPts val="300"/>
                        </a:spcBef>
                        <a:spcAft>
                          <a:spcPts val="0"/>
                        </a:spcAft>
                      </a:pPr>
                      <a:r>
                        <a:rPr lang="en-GB" sz="1200">
                          <a:effectLst/>
                        </a:rPr>
                        <a:t>Circuit mélangé</a:t>
                      </a:r>
                      <a:endParaRPr lang="es-ES" sz="1200"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Aft>
                          <a:spcPts val="300"/>
                        </a:spcAft>
                      </a:pPr>
                      <a:r>
                        <a:rPr lang="en-GB" sz="1200" dirty="0" err="1">
                          <a:effectLst/>
                        </a:rPr>
                        <a:t>Lorsqu'il</a:t>
                      </a:r>
                      <a:r>
                        <a:rPr lang="en-GB" sz="1200" dirty="0">
                          <a:effectLst/>
                        </a:rPr>
                        <a:t> manque de la </a:t>
                      </a:r>
                      <a:r>
                        <a:rPr lang="en-GB" sz="1200" dirty="0" err="1">
                          <a:effectLst/>
                        </a:rPr>
                        <a:t>chaleur</a:t>
                      </a:r>
                      <a:r>
                        <a:rPr lang="en-GB" sz="1200" dirty="0">
                          <a:effectLst/>
                        </a:rPr>
                        <a:t>, le </a:t>
                      </a:r>
                      <a:r>
                        <a:rPr lang="en-GB" sz="1200" dirty="0" err="1">
                          <a:effectLst/>
                        </a:rPr>
                        <a:t>besoin</a:t>
                      </a:r>
                      <a:r>
                        <a:rPr lang="en-GB" sz="1200" dirty="0">
                          <a:effectLst/>
                        </a:rPr>
                        <a:t> </a:t>
                      </a:r>
                      <a:r>
                        <a:rPr lang="en-GB" sz="1200" dirty="0" err="1">
                          <a:effectLst/>
                        </a:rPr>
                        <a:t>en</a:t>
                      </a:r>
                      <a:r>
                        <a:rPr lang="en-GB" sz="1200" dirty="0">
                          <a:effectLst/>
                        </a:rPr>
                        <a:t> </a:t>
                      </a:r>
                      <a:r>
                        <a:rPr lang="en-GB" sz="1200" dirty="0" err="1">
                          <a:effectLst/>
                        </a:rPr>
                        <a:t>chaleur</a:t>
                      </a:r>
                      <a:r>
                        <a:rPr lang="en-GB" sz="1200" dirty="0">
                          <a:effectLst/>
                        </a:rPr>
                        <a:t> </a:t>
                      </a:r>
                      <a:r>
                        <a:rPr lang="en-GB" sz="1200" dirty="0" err="1">
                          <a:effectLst/>
                        </a:rPr>
                        <a:t>peut</a:t>
                      </a:r>
                      <a:r>
                        <a:rPr lang="en-GB" sz="1200" dirty="0">
                          <a:effectLst/>
                        </a:rPr>
                        <a:t> </a:t>
                      </a:r>
                      <a:r>
                        <a:rPr lang="en-GB" sz="1200" dirty="0" err="1">
                          <a:effectLst/>
                        </a:rPr>
                        <a:t>seulement</a:t>
                      </a:r>
                      <a:r>
                        <a:rPr lang="en-GB" sz="1200" dirty="0">
                          <a:effectLst/>
                        </a:rPr>
                        <a:t> </a:t>
                      </a:r>
                      <a:r>
                        <a:rPr lang="en-GB" sz="1200" dirty="0" err="1">
                          <a:effectLst/>
                        </a:rPr>
                        <a:t>être</a:t>
                      </a:r>
                      <a:r>
                        <a:rPr lang="en-GB" sz="1200" dirty="0">
                          <a:effectLst/>
                        </a:rPr>
                        <a:t> </a:t>
                      </a:r>
                      <a:r>
                        <a:rPr lang="en-GB" sz="1200" dirty="0" err="1">
                          <a:effectLst/>
                        </a:rPr>
                        <a:t>régulé</a:t>
                      </a:r>
                      <a:r>
                        <a:rPr lang="en-GB" sz="1200" dirty="0">
                          <a:effectLst/>
                        </a:rPr>
                        <a:t> </a:t>
                      </a:r>
                      <a:r>
                        <a:rPr lang="en-GB" sz="1200" dirty="0" err="1">
                          <a:effectLst/>
                        </a:rPr>
                        <a:t>en</a:t>
                      </a:r>
                      <a:r>
                        <a:rPr lang="en-GB" sz="1200" dirty="0">
                          <a:effectLst/>
                        </a:rPr>
                        <a:t> </a:t>
                      </a:r>
                      <a:r>
                        <a:rPr lang="en-GB" sz="1200" dirty="0" err="1">
                          <a:effectLst/>
                        </a:rPr>
                        <a:t>ouvrant</a:t>
                      </a:r>
                      <a:r>
                        <a:rPr lang="en-GB" sz="1200" dirty="0">
                          <a:effectLst/>
                        </a:rPr>
                        <a:t> / </a:t>
                      </a:r>
                      <a:r>
                        <a:rPr lang="en-GB" sz="1200" dirty="0" err="1">
                          <a:effectLst/>
                        </a:rPr>
                        <a:t>fermant</a:t>
                      </a:r>
                      <a:r>
                        <a:rPr lang="en-GB" sz="1200" dirty="0">
                          <a:effectLst/>
                        </a:rPr>
                        <a:t> la </a:t>
                      </a:r>
                      <a:r>
                        <a:rPr lang="en-GB" sz="1200" dirty="0" err="1">
                          <a:effectLst/>
                        </a:rPr>
                        <a:t>vanne</a:t>
                      </a:r>
                      <a:r>
                        <a:rPr lang="en-GB" sz="1200" dirty="0">
                          <a:effectLst/>
                        </a:rPr>
                        <a:t> de </a:t>
                      </a:r>
                      <a:r>
                        <a:rPr lang="en-GB" sz="1200" dirty="0" err="1">
                          <a:effectLst/>
                        </a:rPr>
                        <a:t>mélanger</a:t>
                      </a:r>
                      <a:r>
                        <a:rPr lang="en-GB" sz="1200" dirty="0">
                          <a:effectLst/>
                        </a:rPr>
                        <a:t> et au </a:t>
                      </a:r>
                      <a:r>
                        <a:rPr lang="en-GB" sz="1200" dirty="0" err="1">
                          <a:effectLst/>
                        </a:rPr>
                        <a:t>moyen</a:t>
                      </a:r>
                      <a:r>
                        <a:rPr lang="en-GB" sz="1200" dirty="0">
                          <a:effectLst/>
                        </a:rPr>
                        <a:t> du circuit de la </a:t>
                      </a:r>
                      <a:r>
                        <a:rPr lang="en-GB" sz="1200" dirty="0" err="1">
                          <a:effectLst/>
                        </a:rPr>
                        <a:t>chaudière</a:t>
                      </a:r>
                      <a:r>
                        <a:rPr lang="en-GB" sz="1200" dirty="0">
                          <a:effectLst/>
                        </a:rPr>
                        <a:t> </a:t>
                      </a:r>
                      <a:endParaRPr lang="es-ES" sz="1200" dirty="0">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2178251116"/>
                  </a:ext>
                </a:extLst>
              </a:tr>
            </a:tbl>
          </a:graphicData>
        </a:graphic>
      </p:graphicFrame>
      <p:graphicFrame>
        <p:nvGraphicFramePr>
          <p:cNvPr id="6" name="Table 5">
            <a:extLst>
              <a:ext uri="{FF2B5EF4-FFF2-40B4-BE49-F238E27FC236}">
                <a16:creationId xmlns:a16="http://schemas.microsoft.com/office/drawing/2014/main" id="{ECD673D2-9AE8-411B-9C12-DFDC3245FD51}"/>
              </a:ext>
            </a:extLst>
          </p:cNvPr>
          <p:cNvGraphicFramePr>
            <a:graphicFrameLocks noGrp="1"/>
          </p:cNvGraphicFramePr>
          <p:nvPr/>
        </p:nvGraphicFramePr>
        <p:xfrm>
          <a:off x="1108752" y="2492896"/>
          <a:ext cx="7128272" cy="2232282"/>
        </p:xfrm>
        <a:graphic>
          <a:graphicData uri="http://schemas.openxmlformats.org/drawingml/2006/table">
            <a:tbl>
              <a:tblPr>
                <a:tableStyleId>{ED083AE6-46FA-4A59-8FB0-9F97EB10719F}</a:tableStyleId>
              </a:tblPr>
              <a:tblGrid>
                <a:gridCol w="2880320">
                  <a:extLst>
                    <a:ext uri="{9D8B030D-6E8A-4147-A177-3AD203B41FA5}">
                      <a16:colId xmlns:a16="http://schemas.microsoft.com/office/drawing/2014/main" val="3498467292"/>
                    </a:ext>
                  </a:extLst>
                </a:gridCol>
                <a:gridCol w="4247952">
                  <a:extLst>
                    <a:ext uri="{9D8B030D-6E8A-4147-A177-3AD203B41FA5}">
                      <a16:colId xmlns:a16="http://schemas.microsoft.com/office/drawing/2014/main" val="995858322"/>
                    </a:ext>
                  </a:extLst>
                </a:gridCol>
              </a:tblGrid>
              <a:tr h="0">
                <a:tc>
                  <a:txBody>
                    <a:bodyPr/>
                    <a:lstStyle/>
                    <a:p>
                      <a:pPr marL="71755" marR="6985" algn="ctr">
                        <a:lnSpc>
                          <a:spcPct val="115000"/>
                        </a:lnSpc>
                        <a:spcBef>
                          <a:spcPts val="300"/>
                        </a:spcBef>
                        <a:spcAft>
                          <a:spcPts val="0"/>
                        </a:spcAft>
                      </a:pPr>
                      <a:r>
                        <a:rPr lang="en-GB" sz="1200" b="1">
                          <a:effectLst/>
                        </a:rPr>
                        <a:t>Option de contrôle</a:t>
                      </a:r>
                      <a:endParaRPr lang="es-ES" sz="1200" b="1" dirty="0">
                        <a:effectLst/>
                        <a:latin typeface="Arial" panose="020B0604020202020204" pitchFamily="34" charset="0"/>
                        <a:ea typeface="Calibri" panose="020F0502020204030204" pitchFamily="34" charset="0"/>
                      </a:endParaRPr>
                    </a:p>
                  </a:txBody>
                  <a:tcPr marL="44450" marR="44450" marT="0" marB="0" anchor="ctr"/>
                </a:tc>
                <a:tc>
                  <a:txBody>
                    <a:bodyPr/>
                    <a:lstStyle/>
                    <a:p>
                      <a:pPr marL="71755" marR="6985" algn="ctr">
                        <a:lnSpc>
                          <a:spcPct val="115000"/>
                        </a:lnSpc>
                        <a:spcAft>
                          <a:spcPts val="300"/>
                        </a:spcAft>
                      </a:pPr>
                      <a:r>
                        <a:rPr lang="en-GB" sz="1200" b="1">
                          <a:effectLst/>
                        </a:rPr>
                        <a:t>Commentaire</a:t>
                      </a:r>
                      <a:endParaRPr lang="es-ES" sz="1200" b="1" dirty="0">
                        <a:effectLst/>
                        <a:latin typeface="Arial" panose="020B0604020202020204" pitchFamily="34" charset="0"/>
                        <a:ea typeface="Calibri" panose="020F0502020204030204" pitchFamily="34" charset="0"/>
                      </a:endParaRPr>
                    </a:p>
                  </a:txBody>
                  <a:tcPr marL="44450" marR="44450" marT="0" marB="0" anchor="ctr"/>
                </a:tc>
                <a:extLst>
                  <a:ext uri="{0D108BD9-81ED-4DB2-BD59-A6C34878D82A}">
                    <a16:rowId xmlns:a16="http://schemas.microsoft.com/office/drawing/2014/main" val="2255786195"/>
                  </a:ext>
                </a:extLst>
              </a:tr>
              <a:tr h="0">
                <a:tc>
                  <a:txBody>
                    <a:bodyPr/>
                    <a:lstStyle/>
                    <a:p>
                      <a:pPr marL="71755" marR="6985">
                        <a:lnSpc>
                          <a:spcPct val="115000"/>
                        </a:lnSpc>
                        <a:spcBef>
                          <a:spcPts val="300"/>
                        </a:spcBef>
                        <a:spcAft>
                          <a:spcPts val="0"/>
                        </a:spcAft>
                      </a:pPr>
                      <a:r>
                        <a:rPr lang="en-GB" sz="1200" dirty="0">
                          <a:effectLst/>
                        </a:rPr>
                        <a:t>Le </a:t>
                      </a:r>
                      <a:r>
                        <a:rPr lang="en-GB" sz="1200" dirty="0" err="1">
                          <a:effectLst/>
                        </a:rPr>
                        <a:t>contrôle</a:t>
                      </a:r>
                      <a:r>
                        <a:rPr lang="en-GB" sz="1200" dirty="0">
                          <a:effectLst/>
                        </a:rPr>
                        <a:t> </a:t>
                      </a:r>
                      <a:r>
                        <a:rPr lang="en-GB" sz="1200" dirty="0" err="1">
                          <a:effectLst/>
                        </a:rPr>
                        <a:t>dépend</a:t>
                      </a:r>
                      <a:r>
                        <a:rPr lang="en-GB" sz="1200" dirty="0">
                          <a:effectLst/>
                        </a:rPr>
                        <a:t> de la </a:t>
                      </a:r>
                      <a:r>
                        <a:rPr lang="en-GB" sz="1200" dirty="0" err="1">
                          <a:effectLst/>
                        </a:rPr>
                        <a:t>température</a:t>
                      </a:r>
                      <a:r>
                        <a:rPr lang="en-GB" sz="1200" dirty="0">
                          <a:effectLst/>
                        </a:rPr>
                        <a:t> de la pièce</a:t>
                      </a:r>
                      <a:endParaRPr lang="es-ES" sz="1200" dirty="0">
                        <a:effectLst/>
                        <a:latin typeface="Arial" panose="020B0604020202020204" pitchFamily="34" charset="0"/>
                        <a:ea typeface="Calibri" panose="020F0502020204030204" pitchFamily="34" charset="0"/>
                      </a:endParaRPr>
                    </a:p>
                  </a:txBody>
                  <a:tcPr marL="44450" marR="44450" marT="0" marB="0" anchor="ctr"/>
                </a:tc>
                <a:tc>
                  <a:txBody>
                    <a:bodyPr/>
                    <a:lstStyle/>
                    <a:p>
                      <a:pPr marL="71755" marR="6985">
                        <a:lnSpc>
                          <a:spcPct val="115000"/>
                        </a:lnSpc>
                        <a:spcAft>
                          <a:spcPts val="300"/>
                        </a:spcAft>
                      </a:pPr>
                      <a:r>
                        <a:rPr lang="en-GB" sz="1200">
                          <a:effectLst/>
                        </a:rPr>
                        <a:t>L'inconvénient est que les autres pièces dépendent de la pièce de référence</a:t>
                      </a:r>
                      <a:endParaRPr lang="es-ES" sz="1200">
                        <a:effectLst/>
                        <a:latin typeface="Arial" panose="020B0604020202020204" pitchFamily="34" charset="0"/>
                        <a:ea typeface="Calibri" panose="020F0502020204030204" pitchFamily="34" charset="0"/>
                      </a:endParaRPr>
                    </a:p>
                  </a:txBody>
                  <a:tcPr marL="44450" marR="44450" marT="0" marB="0" anchor="ctr"/>
                </a:tc>
                <a:extLst>
                  <a:ext uri="{0D108BD9-81ED-4DB2-BD59-A6C34878D82A}">
                    <a16:rowId xmlns:a16="http://schemas.microsoft.com/office/drawing/2014/main" val="679130341"/>
                  </a:ext>
                </a:extLst>
              </a:tr>
              <a:tr h="0">
                <a:tc>
                  <a:txBody>
                    <a:bodyPr/>
                    <a:lstStyle/>
                    <a:p>
                      <a:pPr marL="71755" marR="6985">
                        <a:lnSpc>
                          <a:spcPct val="115000"/>
                        </a:lnSpc>
                        <a:spcBef>
                          <a:spcPts val="300"/>
                        </a:spcBef>
                        <a:spcAft>
                          <a:spcPts val="0"/>
                        </a:spcAft>
                      </a:pPr>
                      <a:r>
                        <a:rPr lang="en-GB" sz="1200">
                          <a:effectLst/>
                        </a:rPr>
                        <a:t>Contrôle individuel de la température de la pièce</a:t>
                      </a:r>
                      <a:endParaRPr lang="es-ES" sz="1200" dirty="0">
                        <a:effectLst/>
                        <a:latin typeface="Arial" panose="020B0604020202020204" pitchFamily="34" charset="0"/>
                        <a:ea typeface="Calibri" panose="020F0502020204030204" pitchFamily="34" charset="0"/>
                      </a:endParaRPr>
                    </a:p>
                  </a:txBody>
                  <a:tcPr marL="44450" marR="44450" marT="0" marB="0" anchor="ctr"/>
                </a:tc>
                <a:tc>
                  <a:txBody>
                    <a:bodyPr/>
                    <a:lstStyle/>
                    <a:p>
                      <a:pPr marL="71755" marR="6985">
                        <a:lnSpc>
                          <a:spcPct val="115000"/>
                        </a:lnSpc>
                        <a:spcAft>
                          <a:spcPts val="300"/>
                        </a:spcAft>
                      </a:pPr>
                      <a:r>
                        <a:rPr lang="en-GB" sz="1200">
                          <a:effectLst/>
                        </a:rPr>
                        <a:t>Chaque pièce est contrôlée de manière individuelle</a:t>
                      </a:r>
                      <a:endParaRPr lang="es-ES" sz="1200">
                        <a:effectLst/>
                        <a:latin typeface="Arial" panose="020B0604020202020204" pitchFamily="34" charset="0"/>
                        <a:ea typeface="Calibri" panose="020F0502020204030204" pitchFamily="34" charset="0"/>
                      </a:endParaRPr>
                    </a:p>
                  </a:txBody>
                  <a:tcPr marL="44450" marR="44450" marT="0" marB="0" anchor="ctr"/>
                </a:tc>
                <a:extLst>
                  <a:ext uri="{0D108BD9-81ED-4DB2-BD59-A6C34878D82A}">
                    <a16:rowId xmlns:a16="http://schemas.microsoft.com/office/drawing/2014/main" val="4179217281"/>
                  </a:ext>
                </a:extLst>
              </a:tr>
              <a:tr h="0">
                <a:tc>
                  <a:txBody>
                    <a:bodyPr/>
                    <a:lstStyle/>
                    <a:p>
                      <a:pPr marL="71755" marR="6985">
                        <a:lnSpc>
                          <a:spcPct val="115000"/>
                        </a:lnSpc>
                        <a:spcBef>
                          <a:spcPts val="300"/>
                        </a:spcBef>
                        <a:spcAft>
                          <a:spcPts val="0"/>
                        </a:spcAft>
                      </a:pPr>
                      <a:r>
                        <a:rPr lang="en-GB" sz="1200">
                          <a:effectLst/>
                        </a:rPr>
                        <a:t>Le contrôle dépend de la température extérieure</a:t>
                      </a:r>
                      <a:endParaRPr lang="es-ES" sz="1200" dirty="0">
                        <a:effectLst/>
                        <a:latin typeface="Arial" panose="020B0604020202020204" pitchFamily="34" charset="0"/>
                        <a:ea typeface="Calibri" panose="020F0502020204030204" pitchFamily="34" charset="0"/>
                      </a:endParaRPr>
                    </a:p>
                  </a:txBody>
                  <a:tcPr marL="44450" marR="44450" marT="0" marB="0" anchor="ctr"/>
                </a:tc>
                <a:tc>
                  <a:txBody>
                    <a:bodyPr/>
                    <a:lstStyle/>
                    <a:p>
                      <a:pPr marL="71755" marR="6985">
                        <a:lnSpc>
                          <a:spcPct val="115000"/>
                        </a:lnSpc>
                        <a:spcAft>
                          <a:spcPts val="300"/>
                        </a:spcAft>
                      </a:pPr>
                      <a:r>
                        <a:rPr lang="en-GB" sz="1200">
                          <a:effectLst/>
                        </a:rPr>
                        <a:t>L'inconvénient est que vous n'avez aucune information sur la température du bâtiment</a:t>
                      </a:r>
                      <a:endParaRPr lang="es-ES" sz="1200" dirty="0">
                        <a:effectLst/>
                        <a:latin typeface="Arial" panose="020B0604020202020204" pitchFamily="34" charset="0"/>
                        <a:ea typeface="Calibri" panose="020F0502020204030204" pitchFamily="34" charset="0"/>
                      </a:endParaRPr>
                    </a:p>
                  </a:txBody>
                  <a:tcPr marL="44450" marR="44450" marT="0" marB="0" anchor="ctr"/>
                </a:tc>
                <a:extLst>
                  <a:ext uri="{0D108BD9-81ED-4DB2-BD59-A6C34878D82A}">
                    <a16:rowId xmlns:a16="http://schemas.microsoft.com/office/drawing/2014/main" val="1567890923"/>
                  </a:ext>
                </a:extLst>
              </a:tr>
              <a:tr h="0">
                <a:tc>
                  <a:txBody>
                    <a:bodyPr/>
                    <a:lstStyle/>
                    <a:p>
                      <a:pPr marL="71755" marR="6985">
                        <a:lnSpc>
                          <a:spcPct val="115000"/>
                        </a:lnSpc>
                        <a:spcBef>
                          <a:spcPts val="300"/>
                        </a:spcBef>
                        <a:spcAft>
                          <a:spcPts val="0"/>
                        </a:spcAft>
                      </a:pPr>
                      <a:r>
                        <a:rPr lang="en-GB" sz="1200">
                          <a:effectLst/>
                        </a:rPr>
                        <a:t>Température extérieure et valeur de contrôle de la température de la pièce</a:t>
                      </a:r>
                      <a:endParaRPr lang="es-ES" sz="1200" dirty="0">
                        <a:effectLst/>
                        <a:latin typeface="Arial" panose="020B0604020202020204" pitchFamily="34" charset="0"/>
                        <a:ea typeface="Calibri" panose="020F0502020204030204" pitchFamily="34" charset="0"/>
                      </a:endParaRPr>
                    </a:p>
                  </a:txBody>
                  <a:tcPr marL="44450" marR="44450" marT="0" marB="0" anchor="ctr"/>
                </a:tc>
                <a:tc>
                  <a:txBody>
                    <a:bodyPr/>
                    <a:lstStyle/>
                    <a:p>
                      <a:pPr marL="71755" marR="6985">
                        <a:lnSpc>
                          <a:spcPct val="115000"/>
                        </a:lnSpc>
                        <a:spcAft>
                          <a:spcPts val="300"/>
                        </a:spcAft>
                      </a:pPr>
                      <a:r>
                        <a:rPr lang="en-GB" sz="1200">
                          <a:effectLst/>
                        </a:rPr>
                        <a:t>Conseillé si les autres pièces sont utilisées de la même façon que la pièce de référence</a:t>
                      </a:r>
                      <a:endParaRPr lang="es-ES" sz="1200" dirty="0">
                        <a:effectLst/>
                        <a:latin typeface="Arial" panose="020B0604020202020204" pitchFamily="34" charset="0"/>
                        <a:ea typeface="Calibri" panose="020F0502020204030204" pitchFamily="34" charset="0"/>
                      </a:endParaRPr>
                    </a:p>
                  </a:txBody>
                  <a:tcPr marL="44450" marR="44450" marT="0" marB="0" anchor="ctr"/>
                </a:tc>
                <a:extLst>
                  <a:ext uri="{0D108BD9-81ED-4DB2-BD59-A6C34878D82A}">
                    <a16:rowId xmlns:a16="http://schemas.microsoft.com/office/drawing/2014/main" val="2410330959"/>
                  </a:ext>
                </a:extLst>
              </a:tr>
              <a:tr h="0">
                <a:tc>
                  <a:txBody>
                    <a:bodyPr/>
                    <a:lstStyle/>
                    <a:p>
                      <a:pPr marL="71755" marR="6985">
                        <a:lnSpc>
                          <a:spcPct val="115000"/>
                        </a:lnSpc>
                        <a:spcBef>
                          <a:spcPts val="300"/>
                        </a:spcBef>
                        <a:spcAft>
                          <a:spcPts val="0"/>
                        </a:spcAft>
                      </a:pPr>
                      <a:r>
                        <a:rPr lang="en-GB" sz="1200">
                          <a:effectLst/>
                        </a:rPr>
                        <a:t>Température extérieure et contrôle par propagation</a:t>
                      </a:r>
                      <a:endParaRPr lang="es-ES" sz="1200" dirty="0">
                        <a:effectLst/>
                        <a:latin typeface="Arial" panose="020B0604020202020204" pitchFamily="34" charset="0"/>
                        <a:ea typeface="Calibri" panose="020F0502020204030204" pitchFamily="34" charset="0"/>
                      </a:endParaRPr>
                    </a:p>
                  </a:txBody>
                  <a:tcPr marL="44450" marR="44450" marT="0" marB="0" anchor="ctr"/>
                </a:tc>
                <a:tc>
                  <a:txBody>
                    <a:bodyPr/>
                    <a:lstStyle/>
                    <a:p>
                      <a:pPr marL="71755" marR="6985">
                        <a:lnSpc>
                          <a:spcPct val="115000"/>
                        </a:lnSpc>
                        <a:spcAft>
                          <a:spcPts val="300"/>
                        </a:spcAft>
                      </a:pPr>
                      <a:r>
                        <a:rPr lang="en-GB" sz="1200" dirty="0" err="1">
                          <a:effectLst/>
                        </a:rPr>
                        <a:t>Permet</a:t>
                      </a:r>
                      <a:r>
                        <a:rPr lang="en-GB" sz="1200" dirty="0">
                          <a:effectLst/>
                        </a:rPr>
                        <a:t> de </a:t>
                      </a:r>
                      <a:r>
                        <a:rPr lang="en-GB" sz="1200" dirty="0" err="1">
                          <a:effectLst/>
                        </a:rPr>
                        <a:t>détecter</a:t>
                      </a:r>
                      <a:r>
                        <a:rPr lang="en-GB" sz="1200" dirty="0">
                          <a:effectLst/>
                        </a:rPr>
                        <a:t> le </a:t>
                      </a:r>
                      <a:r>
                        <a:rPr lang="en-GB" sz="1200" dirty="0" err="1">
                          <a:effectLst/>
                        </a:rPr>
                        <a:t>besoin</a:t>
                      </a:r>
                      <a:r>
                        <a:rPr lang="en-GB" sz="1200" dirty="0">
                          <a:effectLst/>
                        </a:rPr>
                        <a:t> </a:t>
                      </a:r>
                      <a:r>
                        <a:rPr lang="en-GB" sz="1200" dirty="0" err="1">
                          <a:effectLst/>
                        </a:rPr>
                        <a:t>en</a:t>
                      </a:r>
                      <a:r>
                        <a:rPr lang="en-GB" sz="1200" dirty="0">
                          <a:effectLst/>
                        </a:rPr>
                        <a:t> </a:t>
                      </a:r>
                      <a:r>
                        <a:rPr lang="en-GB" sz="1200" dirty="0" err="1">
                          <a:effectLst/>
                        </a:rPr>
                        <a:t>chaleur</a:t>
                      </a:r>
                      <a:endParaRPr lang="es-ES" sz="1200" dirty="0">
                        <a:effectLst/>
                        <a:latin typeface="Arial" panose="020B0604020202020204" pitchFamily="34" charset="0"/>
                        <a:ea typeface="Calibri" panose="020F0502020204030204" pitchFamily="34" charset="0"/>
                      </a:endParaRPr>
                    </a:p>
                  </a:txBody>
                  <a:tcPr marL="44450" marR="44450" marT="0" marB="0" anchor="ctr"/>
                </a:tc>
                <a:extLst>
                  <a:ext uri="{0D108BD9-81ED-4DB2-BD59-A6C34878D82A}">
                    <a16:rowId xmlns:a16="http://schemas.microsoft.com/office/drawing/2014/main" val="2307897028"/>
                  </a:ext>
                </a:extLst>
              </a:tr>
            </a:tbl>
          </a:graphicData>
        </a:graphic>
      </p:graphicFrame>
    </p:spTree>
    <p:extLst>
      <p:ext uri="{BB962C8B-B14F-4D97-AF65-F5344CB8AC3E}">
        <p14:creationId xmlns:p14="http://schemas.microsoft.com/office/powerpoint/2010/main" val="10011653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912247" cy="719138"/>
          </a:xfrm>
        </p:spPr>
        <p:txBody>
          <a:bodyPr/>
          <a:lstStyle/>
          <a:p>
            <a:r>
              <a:rPr lang="en-US" sz="2400"/>
              <a:t>Mise en service du système de chauffage</a:t>
            </a:r>
            <a:endParaRPr lang="en-GB" sz="2400"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268760"/>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Il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généralement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réalisé</a:t>
            </a:r>
            <a:r>
              <a:rPr lang="en-US" sz="1800" kern="0" dirty="0">
                <a:solidFill>
                  <a:schemeClr val="tx1"/>
                </a:solidFill>
                <a:ea typeface="Open Sans" panose="020B0606030504020204" pitchFamily="34" charset="0"/>
                <a:cs typeface="Open Sans" panose="020B0606030504020204" pitchFamily="34" charset="0"/>
              </a:rPr>
              <a:t> par </a:t>
            </a:r>
            <a:r>
              <a:rPr lang="en-US" sz="1800" kern="0" dirty="0" err="1">
                <a:solidFill>
                  <a:schemeClr val="tx1"/>
                </a:solidFill>
                <a:ea typeface="Open Sans" panose="020B0606030504020204" pitchFamily="34" charset="0"/>
                <a:cs typeface="Open Sans" panose="020B0606030504020204" pitchFamily="34" charset="0"/>
              </a:rPr>
              <a:t>l'ingénieur</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chauffage</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Une attention </a:t>
            </a:r>
            <a:r>
              <a:rPr lang="en-US" sz="1800" kern="0" dirty="0" err="1">
                <a:solidFill>
                  <a:schemeClr val="tx1"/>
                </a:solidFill>
                <a:ea typeface="Open Sans" panose="020B0606030504020204" pitchFamily="34" charset="0"/>
                <a:cs typeface="Open Sans" panose="020B0606030504020204" pitchFamily="34" charset="0"/>
              </a:rPr>
              <a:t>particulière</a:t>
            </a:r>
            <a:r>
              <a:rPr lang="en-US" sz="1800" kern="0" dirty="0">
                <a:solidFill>
                  <a:schemeClr val="tx1"/>
                </a:solidFill>
                <a:ea typeface="Open Sans" panose="020B0606030504020204" pitchFamily="34" charset="0"/>
                <a:cs typeface="Open Sans" panose="020B0606030504020204" pitchFamily="34" charset="0"/>
              </a:rPr>
              <a:t> doit </a:t>
            </a:r>
            <a:r>
              <a:rPr lang="en-US" sz="1800" kern="0" dirty="0" err="1">
                <a:solidFill>
                  <a:schemeClr val="tx1"/>
                </a:solidFill>
                <a:ea typeface="Open Sans" panose="020B0606030504020204" pitchFamily="34" charset="0"/>
                <a:cs typeface="Open Sans" panose="020B0606030504020204" pitchFamily="34" charset="0"/>
              </a:rPr>
              <a:t>être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accordée</a:t>
            </a:r>
            <a:r>
              <a:rPr lang="en-US" sz="1800" kern="0" dirty="0">
                <a:solidFill>
                  <a:schemeClr val="tx1"/>
                </a:solidFill>
                <a:ea typeface="Open Sans" panose="020B0606030504020204" pitchFamily="34" charset="0"/>
                <a:cs typeface="Open Sans" panose="020B0606030504020204" pitchFamily="34" charset="0"/>
              </a:rPr>
              <a:t> à </a:t>
            </a:r>
            <a:r>
              <a:rPr lang="en-US" sz="1800" kern="0" dirty="0" err="1">
                <a:solidFill>
                  <a:schemeClr val="tx1"/>
                </a:solidFill>
                <a:ea typeface="Open Sans" panose="020B0606030504020204" pitchFamily="34" charset="0"/>
                <a:cs typeface="Open Sans" panose="020B0606030504020204" pitchFamily="34" charset="0"/>
              </a:rPr>
              <a:t>l'ajustement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hydraulique</a:t>
            </a:r>
            <a:r>
              <a:rPr lang="en-US" sz="1800" kern="0" dirty="0">
                <a:solidFill>
                  <a:schemeClr val="tx1"/>
                </a:solidFill>
                <a:ea typeface="Open Sans" panose="020B0606030504020204" pitchFamily="34" charset="0"/>
                <a:cs typeface="Open Sans" panose="020B0606030504020204" pitchFamily="34" charset="0"/>
              </a:rPr>
              <a:t> du </a:t>
            </a:r>
            <a:r>
              <a:rPr lang="en-US" sz="1800" kern="0" dirty="0" err="1">
                <a:solidFill>
                  <a:schemeClr val="tx1"/>
                </a:solidFill>
                <a:ea typeface="Open Sans" panose="020B0606030504020204" pitchFamily="34" charset="0"/>
                <a:cs typeface="Open Sans" panose="020B0606030504020204" pitchFamily="34" charset="0"/>
              </a:rPr>
              <a:t>système</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err="1">
                <a:ea typeface="Open Sans" panose="020B0606030504020204" pitchFamily="34" charset="0"/>
                <a:cs typeface="Open Sans" panose="020B0606030504020204" pitchFamily="34" charset="0"/>
              </a:rPr>
              <a:t>Vérification</a:t>
            </a:r>
            <a:r>
              <a:rPr lang="en-US" sz="1800" kern="0" dirty="0">
                <a:ea typeface="Open Sans" panose="020B0606030504020204" pitchFamily="34" charset="0"/>
                <a:cs typeface="Open Sans" panose="020B0606030504020204" pitchFamily="34" charset="0"/>
              </a:rPr>
              <a:t> de la </a:t>
            </a:r>
            <a:r>
              <a:rPr lang="en-US" sz="1800" kern="0" dirty="0" err="1">
                <a:ea typeface="Open Sans" panose="020B0606030504020204" pitchFamily="34" charset="0"/>
                <a:cs typeface="Open Sans" panose="020B0606030504020204" pitchFamily="34" charset="0"/>
              </a:rPr>
              <a:t>fonction</a:t>
            </a:r>
            <a:r>
              <a:rPr lang="en-US" sz="1800" kern="0" dirty="0">
                <a:ea typeface="Open Sans" panose="020B0606030504020204" pitchFamily="34" charset="0"/>
                <a:cs typeface="Open Sans" panose="020B0606030504020204" pitchFamily="34" charset="0"/>
              </a:rPr>
              <a:t> : </a:t>
            </a:r>
            <a:r>
              <a:rPr lang="en-US" sz="1800" kern="0" dirty="0" err="1">
                <a:solidFill>
                  <a:schemeClr val="tx1"/>
                </a:solidFill>
                <a:ea typeface="Open Sans" panose="020B0606030504020204" pitchFamily="34" charset="0"/>
                <a:cs typeface="Open Sans" panose="020B0606030504020204" pitchFamily="34" charset="0"/>
              </a:rPr>
              <a:t>Tous</a:t>
            </a:r>
            <a:r>
              <a:rPr lang="en-US" sz="1800" kern="0" dirty="0">
                <a:solidFill>
                  <a:schemeClr val="tx1"/>
                </a:solidFill>
                <a:ea typeface="Open Sans" panose="020B0606030504020204" pitchFamily="34" charset="0"/>
                <a:cs typeface="Open Sans" panose="020B0606030504020204" pitchFamily="34" charset="0"/>
              </a:rPr>
              <a:t> les </a:t>
            </a:r>
            <a:r>
              <a:rPr lang="en-US" sz="1800" kern="0" dirty="0" err="1">
                <a:solidFill>
                  <a:schemeClr val="tx1"/>
                </a:solidFill>
                <a:ea typeface="Open Sans" panose="020B0606030504020204" pitchFamily="34" charset="0"/>
                <a:cs typeface="Open Sans" panose="020B0606030504020204" pitchFamily="34" charset="0"/>
              </a:rPr>
              <a:t>éléments</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chauffage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doivent</a:t>
            </a:r>
            <a:r>
              <a:rPr lang="en-US" sz="1800" kern="0" dirty="0">
                <a:solidFill>
                  <a:schemeClr val="tx1"/>
                </a:solidFill>
                <a:ea typeface="Open Sans" panose="020B0606030504020204" pitchFamily="34" charset="0"/>
                <a:cs typeface="Open Sans" panose="020B0606030504020204" pitchFamily="34" charset="0"/>
              </a:rPr>
              <a:t> se </a:t>
            </a:r>
            <a:r>
              <a:rPr lang="en-US" sz="1800" kern="0" dirty="0" err="1">
                <a:solidFill>
                  <a:schemeClr val="tx1"/>
                </a:solidFill>
                <a:ea typeface="Open Sans" panose="020B0606030504020204" pitchFamily="34" charset="0"/>
                <a:cs typeface="Open Sans" panose="020B0606030504020204" pitchFamily="34" charset="0"/>
              </a:rPr>
              <a:t>réchauffer</a:t>
            </a:r>
            <a:r>
              <a:rPr lang="en-US" sz="1800" kern="0" dirty="0">
                <a:solidFill>
                  <a:schemeClr val="tx1"/>
                </a:solidFill>
                <a:ea typeface="Open Sans" panose="020B0606030504020204" pitchFamily="34" charset="0"/>
                <a:cs typeface="Open Sans" panose="020B0606030504020204" pitchFamily="34" charset="0"/>
              </a:rPr>
              <a:t> au </a:t>
            </a:r>
            <a:r>
              <a:rPr lang="en-US" sz="1800" kern="0" dirty="0" err="1">
                <a:solidFill>
                  <a:schemeClr val="tx1"/>
                </a:solidFill>
                <a:ea typeface="Open Sans" panose="020B0606030504020204" pitchFamily="34" charset="0"/>
                <a:cs typeface="Open Sans" panose="020B0606030504020204" pitchFamily="34" charset="0"/>
              </a:rPr>
              <a:t>même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niveau</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lorsque</a:t>
            </a:r>
            <a:r>
              <a:rPr lang="en-US" sz="1800" kern="0" dirty="0">
                <a:solidFill>
                  <a:schemeClr val="tx1"/>
                </a:solidFill>
                <a:ea typeface="Open Sans" panose="020B0606030504020204" pitchFamily="34" charset="0"/>
                <a:cs typeface="Open Sans" panose="020B0606030504020204" pitchFamily="34" charset="0"/>
              </a:rPr>
              <a:t> les </a:t>
            </a:r>
            <a:r>
              <a:rPr lang="en-US" sz="1800" kern="0" dirty="0" err="1">
                <a:solidFill>
                  <a:schemeClr val="tx1"/>
                </a:solidFill>
                <a:ea typeface="Open Sans" panose="020B0606030504020204" pitchFamily="34" charset="0"/>
                <a:cs typeface="Open Sans" panose="020B0606030504020204" pitchFamily="34" charset="0"/>
              </a:rPr>
              <a:t>vannes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sont</a:t>
            </a:r>
            <a:r>
              <a:rPr lang="en-US" sz="1800" kern="0" dirty="0">
                <a:solidFill>
                  <a:schemeClr val="tx1"/>
                </a:solidFill>
                <a:ea typeface="Open Sans" panose="020B0606030504020204" pitchFamily="34" charset="0"/>
                <a:cs typeface="Open Sans" panose="020B0606030504020204" pitchFamily="34" charset="0"/>
              </a:rPr>
              <a:t> ouvertes</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11266" name="Picture 2">
            <a:extLst>
              <a:ext uri="{FF2B5EF4-FFF2-40B4-BE49-F238E27FC236}">
                <a16:creationId xmlns:a16="http://schemas.microsoft.com/office/drawing/2014/main" id="{0913ECCC-FC1B-4386-B313-7EC50EACFE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547" y="4004717"/>
            <a:ext cx="7373473" cy="2258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3177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3598"/>
            <a:ext cx="6696223" cy="719138"/>
          </a:xfrm>
        </p:spPr>
        <p:txBody>
          <a:bodyPr/>
          <a:lstStyle/>
          <a:p>
            <a:r>
              <a:rPr lang="en-US"/>
              <a:t>Intégration du chauffage dans le système de gestion du bâtiment</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1800" kern="0">
                <a:ea typeface="Open Sans" panose="020B0606030504020204" pitchFamily="34" charset="0"/>
                <a:cs typeface="Open Sans" panose="020B0606030504020204" pitchFamily="34" charset="0"/>
              </a:rPr>
              <a:t>Objectif : </a:t>
            </a:r>
            <a:r>
              <a:rPr lang="en-US" sz="1800" kern="0">
                <a:solidFill>
                  <a:schemeClr val="tx1"/>
                </a:solidFill>
                <a:ea typeface="Open Sans" panose="020B0606030504020204" pitchFamily="34" charset="0"/>
                <a:cs typeface="Open Sans" panose="020B0606030504020204" pitchFamily="34" charset="0"/>
              </a:rPr>
              <a:t>augmenter le confort et l'utilisation efficace de l'énergie</a:t>
            </a:r>
          </a:p>
          <a:p>
            <a:pPr marL="0" indent="0">
              <a:lnSpc>
                <a:spcPct val="150000"/>
              </a:lnSpc>
              <a:buNone/>
              <a:defRPr/>
            </a:pPr>
            <a:endParaRPr lang="en-US" sz="1800" kern="0" dirty="0">
              <a:ea typeface="Open Sans" panose="020B0606030504020204" pitchFamily="34" charset="0"/>
              <a:cs typeface="Open Sans" panose="020B0606030504020204" pitchFamily="34" charset="0"/>
            </a:endParaRPr>
          </a:p>
          <a:p>
            <a:pPr marL="0" indent="0">
              <a:lnSpc>
                <a:spcPct val="150000"/>
              </a:lnSpc>
              <a:buNone/>
              <a:defRPr/>
            </a:pPr>
            <a:r>
              <a:rPr lang="en-US" sz="1800" kern="0">
                <a:ea typeface="Open Sans" panose="020B0606030504020204" pitchFamily="34" charset="0"/>
                <a:cs typeface="Open Sans" panose="020B0606030504020204" pitchFamily="34" charset="0"/>
              </a:rPr>
              <a:t>Spécifiquement les solutions de chauffage KNX :</a:t>
            </a:r>
          </a:p>
          <a:p>
            <a:pPr>
              <a:lnSpc>
                <a:spcPct val="150000"/>
              </a:lnSpc>
              <a:defRPr/>
            </a:pPr>
            <a:r>
              <a:rPr lang="en-US" sz="1800" kern="0">
                <a:solidFill>
                  <a:schemeClr val="tx1"/>
                </a:solidFill>
                <a:ea typeface="Open Sans" panose="020B0606030504020204" pitchFamily="34" charset="0"/>
                <a:cs typeface="Open Sans" panose="020B0606030504020204" pitchFamily="34" charset="0"/>
              </a:rPr>
              <a:t>Contrôle individuel de la pièce</a:t>
            </a:r>
          </a:p>
          <a:p>
            <a:pPr>
              <a:lnSpc>
                <a:spcPct val="150000"/>
              </a:lnSpc>
              <a:defRPr/>
            </a:pPr>
            <a:r>
              <a:rPr lang="en-US" sz="1800" kern="0">
                <a:solidFill>
                  <a:schemeClr val="tx1"/>
                </a:solidFill>
                <a:ea typeface="Open Sans" panose="020B0606030504020204" pitchFamily="34" charset="0"/>
                <a:cs typeface="Open Sans" panose="020B0606030504020204" pitchFamily="34" charset="0"/>
              </a:rPr>
              <a:t>Contrôle du système de chauffage (avec ou sans l'influence d'une chaudière)</a:t>
            </a:r>
          </a:p>
          <a:p>
            <a:pPr>
              <a:lnSpc>
                <a:spcPct val="150000"/>
              </a:lnSpc>
              <a:defRPr/>
            </a:pPr>
            <a:endParaRPr lang="en-US" sz="2000" kern="0" dirty="0">
              <a:ea typeface="Open Sans" panose="020B0606030504020204" pitchFamily="34" charset="0"/>
              <a:cs typeface="Open Sans" panose="020B0606030504020204" pitchFamily="34" charset="0"/>
            </a:endParaRP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021682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Domaine d'application </a:t>
            </a:r>
            <a:endParaRPr lang="en-GB" dirty="0"/>
          </a:p>
        </p:txBody>
      </p:sp>
      <p:graphicFrame>
        <p:nvGraphicFramePr>
          <p:cNvPr id="2" name="Table 1">
            <a:extLst>
              <a:ext uri="{FF2B5EF4-FFF2-40B4-BE49-F238E27FC236}">
                <a16:creationId xmlns:a16="http://schemas.microsoft.com/office/drawing/2014/main" id="{A5550E40-FA61-48AA-B42C-459081221071}"/>
              </a:ext>
            </a:extLst>
          </p:cNvPr>
          <p:cNvGraphicFramePr>
            <a:graphicFrameLocks noGrp="1"/>
          </p:cNvGraphicFramePr>
          <p:nvPr/>
        </p:nvGraphicFramePr>
        <p:xfrm>
          <a:off x="323528" y="1403117"/>
          <a:ext cx="8640961" cy="4978211"/>
        </p:xfrm>
        <a:graphic>
          <a:graphicData uri="http://schemas.openxmlformats.org/drawingml/2006/table">
            <a:tbl>
              <a:tblPr/>
              <a:tblGrid>
                <a:gridCol w="1303794">
                  <a:extLst>
                    <a:ext uri="{9D8B030D-6E8A-4147-A177-3AD203B41FA5}">
                      <a16:colId xmlns:a16="http://schemas.microsoft.com/office/drawing/2014/main" val="3907546500"/>
                    </a:ext>
                  </a:extLst>
                </a:gridCol>
                <a:gridCol w="2119625">
                  <a:extLst>
                    <a:ext uri="{9D8B030D-6E8A-4147-A177-3AD203B41FA5}">
                      <a16:colId xmlns:a16="http://schemas.microsoft.com/office/drawing/2014/main" val="760320916"/>
                    </a:ext>
                  </a:extLst>
                </a:gridCol>
                <a:gridCol w="2934866">
                  <a:extLst>
                    <a:ext uri="{9D8B030D-6E8A-4147-A177-3AD203B41FA5}">
                      <a16:colId xmlns:a16="http://schemas.microsoft.com/office/drawing/2014/main" val="1776980338"/>
                    </a:ext>
                  </a:extLst>
                </a:gridCol>
                <a:gridCol w="2282676">
                  <a:extLst>
                    <a:ext uri="{9D8B030D-6E8A-4147-A177-3AD203B41FA5}">
                      <a16:colId xmlns:a16="http://schemas.microsoft.com/office/drawing/2014/main" val="659880639"/>
                    </a:ext>
                  </a:extLst>
                </a:gridCol>
              </a:tblGrid>
              <a:tr h="357062">
                <a:tc>
                  <a:txBody>
                    <a:bodyPr/>
                    <a:lstStyle/>
                    <a:p>
                      <a:pPr>
                        <a:lnSpc>
                          <a:spcPct val="115000"/>
                        </a:lnSpc>
                        <a:spcBef>
                          <a:spcPts val="300"/>
                        </a:spcBef>
                        <a:spcAft>
                          <a:spcPts val="300"/>
                        </a:spcAft>
                      </a:pPr>
                      <a:r>
                        <a:rPr lang="en-GB" sz="1100" b="1">
                          <a:effectLst/>
                          <a:latin typeface="Arial" panose="020B0604020202020204" pitchFamily="34" charset="0"/>
                          <a:ea typeface="Calibri" panose="020F0502020204030204" pitchFamily="34" charset="0"/>
                        </a:rPr>
                        <a:t> </a:t>
                      </a:r>
                      <a:endParaRPr lang="es-ES" sz="1100" dirty="0">
                        <a:effectLst/>
                        <a:latin typeface="Arial" panose="020B0604020202020204" pitchFamily="34" charset="0"/>
                        <a:ea typeface="Calibri" panose="020F0502020204030204" pitchFamily="34" charset="0"/>
                      </a:endParaRPr>
                    </a:p>
                  </a:txBody>
                  <a:tcPr marL="36094" marR="36094"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Bef>
                          <a:spcPts val="300"/>
                        </a:spcBef>
                        <a:spcAft>
                          <a:spcPts val="0"/>
                        </a:spcAft>
                      </a:pPr>
                      <a:r>
                        <a:rPr lang="en-GB" sz="1100" b="1">
                          <a:effectLst/>
                          <a:latin typeface="Arial" panose="020B0604020202020204" pitchFamily="34" charset="0"/>
                          <a:ea typeface="Calibri" panose="020F0502020204030204" pitchFamily="34" charset="0"/>
                        </a:rPr>
                        <a:t>Contrôle individuel de la pièce</a:t>
                      </a:r>
                      <a:endParaRPr lang="es-ES" sz="1100" dirty="0">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1100" b="1">
                          <a:effectLst/>
                          <a:latin typeface="Arial" panose="020B0604020202020204" pitchFamily="34" charset="0"/>
                          <a:ea typeface="Calibri" panose="020F0502020204030204" pitchFamily="34" charset="0"/>
                        </a:rPr>
                        <a:t>Systèmes de chauffage sans connexion directe à la chaudière</a:t>
                      </a:r>
                      <a:endParaRPr lang="es-ES" sz="1100">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1100" b="1">
                          <a:effectLst/>
                          <a:latin typeface="Arial" panose="020B0604020202020204" pitchFamily="34" charset="0"/>
                          <a:ea typeface="Calibri" panose="020F0502020204030204" pitchFamily="34" charset="0"/>
                        </a:rPr>
                        <a:t>Système de chauffage avec contrôle de la chaudière</a:t>
                      </a:r>
                      <a:endParaRPr lang="es-ES" sz="1100">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1361032372"/>
                  </a:ext>
                </a:extLst>
              </a:tr>
              <a:tr h="729941">
                <a:tc>
                  <a:txBody>
                    <a:bodyPr/>
                    <a:lstStyle/>
                    <a:p>
                      <a:pPr>
                        <a:lnSpc>
                          <a:spcPct val="115000"/>
                        </a:lnSpc>
                        <a:spcAft>
                          <a:spcPts val="0"/>
                        </a:spcAft>
                      </a:pPr>
                      <a:r>
                        <a:rPr lang="en-GB" sz="1100" dirty="0" err="1">
                          <a:effectLst/>
                          <a:latin typeface="Arial" panose="020B0604020202020204" pitchFamily="34" charset="0"/>
                          <a:ea typeface="Calibri" panose="020F0502020204030204" pitchFamily="34" charset="0"/>
                        </a:rPr>
                        <a:t>Domaines</a:t>
                      </a:r>
                      <a:r>
                        <a:rPr lang="en-GB" sz="1100" dirty="0">
                          <a:effectLst/>
                          <a:latin typeface="Arial" panose="020B0604020202020204" pitchFamily="34" charset="0"/>
                          <a:ea typeface="Calibri" panose="020F0502020204030204" pitchFamily="34" charset="0"/>
                        </a:rPr>
                        <a:t> </a:t>
                      </a:r>
                      <a:r>
                        <a:rPr lang="en-GB" sz="1100" dirty="0" err="1">
                          <a:effectLst/>
                          <a:latin typeface="Arial" panose="020B0604020202020204" pitchFamily="34" charset="0"/>
                          <a:ea typeface="Calibri" panose="020F0502020204030204" pitchFamily="34" charset="0"/>
                        </a:rPr>
                        <a:t>d'application</a:t>
                      </a:r>
                      <a:endParaRPr lang="es-ES" sz="1100" dirty="0">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1100" kern="1200">
                          <a:solidFill>
                            <a:srgbClr val="000000"/>
                          </a:solidFill>
                          <a:effectLst/>
                          <a:latin typeface="Arial" panose="020B0604020202020204" pitchFamily="34" charset="0"/>
                          <a:ea typeface="Calibri" panose="020F0502020204030204" pitchFamily="34" charset="0"/>
                          <a:cs typeface="+mn-cs"/>
                        </a:rPr>
                        <a:t>Aucune intervention nécessaire sur le système de chauffage, il faut seulement changer les éléments des soupapes</a:t>
                      </a:r>
                      <a:endParaRPr lang="es-ES" sz="1100" kern="1200" dirty="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algn="l" defTabSz="914400" rtl="0" eaLnBrk="1" latinLnBrk="0" hangingPunct="1">
                        <a:lnSpc>
                          <a:spcPct val="115000"/>
                        </a:lnSpc>
                        <a:spcAft>
                          <a:spcPts val="300"/>
                        </a:spcAft>
                      </a:pPr>
                      <a:r>
                        <a:rPr lang="en-GB" sz="1100" kern="1200">
                          <a:solidFill>
                            <a:srgbClr val="000000"/>
                          </a:solidFill>
                          <a:effectLst/>
                          <a:latin typeface="Arial" panose="020B0604020202020204" pitchFamily="34" charset="0"/>
                          <a:ea typeface="Calibri" panose="020F0502020204030204" pitchFamily="34" charset="0"/>
                          <a:cs typeface="+mn-cs"/>
                        </a:rPr>
                        <a:t>Pour les installations pourvues de mélangeurs dans les circuits de chauffage, sans accès direct à la chaudière par une passerelle KNX</a:t>
                      </a:r>
                      <a:endParaRPr lang="es-ES" sz="1100" kern="1200" dirty="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6985" algn="l" defTabSz="914400" rtl="0" eaLnBrk="1" latinLnBrk="0" hangingPunct="1">
                        <a:lnSpc>
                          <a:spcPct val="115000"/>
                        </a:lnSpc>
                        <a:spcBef>
                          <a:spcPts val="300"/>
                        </a:spcBef>
                        <a:spcAft>
                          <a:spcPts val="300"/>
                        </a:spcAft>
                      </a:pPr>
                      <a:r>
                        <a:rPr lang="en-GB" sz="1100" kern="1200">
                          <a:solidFill>
                            <a:srgbClr val="000000"/>
                          </a:solidFill>
                          <a:effectLst/>
                          <a:latin typeface="Arial" panose="020B0604020202020204" pitchFamily="34" charset="0"/>
                          <a:ea typeface="Calibri" panose="020F0502020204030204" pitchFamily="34" charset="0"/>
                          <a:cs typeface="+mn-cs"/>
                        </a:rPr>
                        <a:t>Pour les installations avec accès direct à la chaudière via KNX</a:t>
                      </a:r>
                      <a:endParaRPr lang="es-ES" sz="1100" kern="1200" dirty="0">
                        <a:solidFill>
                          <a:srgbClr val="000000"/>
                        </a:solidFill>
                        <a:effectLst/>
                        <a:latin typeface="Arial" panose="020B0604020202020204" pitchFamily="34" charset="0"/>
                        <a:ea typeface="Calibri" panose="020F0502020204030204" pitchFamily="34" charset="0"/>
                        <a:cs typeface="+mn-cs"/>
                      </a:endParaRPr>
                    </a:p>
                    <a:p>
                      <a:pPr marL="0" algn="l" defTabSz="914400" rtl="0" eaLnBrk="1" latinLnBrk="0" hangingPunct="1">
                        <a:lnSpc>
                          <a:spcPct val="115000"/>
                        </a:lnSpc>
                        <a:spcBef>
                          <a:spcPts val="300"/>
                        </a:spcBef>
                        <a:spcAft>
                          <a:spcPts val="300"/>
                        </a:spcAft>
                      </a:pPr>
                      <a:r>
                        <a:rPr lang="en-GB" sz="1100" kern="1200">
                          <a:solidFill>
                            <a:srgbClr val="000000"/>
                          </a:solidFill>
                          <a:effectLst/>
                          <a:latin typeface="Arial" panose="020B0604020202020204" pitchFamily="34" charset="0"/>
                          <a:ea typeface="Calibri" panose="020F0502020204030204" pitchFamily="34" charset="0"/>
                          <a:cs typeface="+mn-cs"/>
                        </a:rPr>
                        <a:t> </a:t>
                      </a:r>
                      <a:endParaRPr lang="es-ES" sz="1100" kern="1200" dirty="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2990416443"/>
                  </a:ext>
                </a:extLst>
              </a:tr>
              <a:tr h="729941">
                <a:tc>
                  <a:txBody>
                    <a:bodyPr/>
                    <a:lstStyle/>
                    <a:p>
                      <a:pPr marL="0" marR="6985" algn="l" defTabSz="914400" rtl="0" eaLnBrk="1" latinLnBrk="0" hangingPunct="1">
                        <a:lnSpc>
                          <a:spcPct val="115000"/>
                        </a:lnSpc>
                        <a:spcBef>
                          <a:spcPts val="300"/>
                        </a:spcBef>
                        <a:spcAft>
                          <a:spcPts val="300"/>
                        </a:spcAft>
                      </a:pPr>
                      <a:r>
                        <a:rPr lang="en-GB" sz="1100" kern="1200">
                          <a:solidFill>
                            <a:srgbClr val="000000"/>
                          </a:solidFill>
                          <a:effectLst/>
                          <a:latin typeface="Arial" panose="020B0604020202020204" pitchFamily="34" charset="0"/>
                          <a:ea typeface="Calibri" panose="020F0502020204030204" pitchFamily="34" charset="0"/>
                          <a:cs typeface="+mn-cs"/>
                        </a:rPr>
                        <a:t>Principe de fonctionnement</a:t>
                      </a:r>
                      <a:endParaRPr lang="es-ES" sz="1100" kern="120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6985" algn="l" defTabSz="914400" rtl="0" eaLnBrk="1" latinLnBrk="0" hangingPunct="1">
                        <a:lnSpc>
                          <a:spcPct val="115000"/>
                        </a:lnSpc>
                        <a:spcBef>
                          <a:spcPts val="300"/>
                        </a:spcBef>
                        <a:spcAft>
                          <a:spcPts val="300"/>
                        </a:spcAft>
                      </a:pPr>
                      <a:r>
                        <a:rPr lang="en-GB" sz="1100" kern="1200">
                          <a:solidFill>
                            <a:srgbClr val="000000"/>
                          </a:solidFill>
                          <a:effectLst/>
                          <a:latin typeface="Arial" panose="020B0604020202020204" pitchFamily="34" charset="0"/>
                          <a:ea typeface="Calibri" panose="020F0502020204030204" pitchFamily="34" charset="0"/>
                          <a:cs typeface="+mn-cs"/>
                        </a:rPr>
                        <a:t>Ouverture / fermeture de circuits de charge (régulation du débit)</a:t>
                      </a:r>
                      <a:endParaRPr lang="es-ES" sz="1100" kern="1200" dirty="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1100">
                          <a:solidFill>
                            <a:srgbClr val="000000"/>
                          </a:solidFill>
                          <a:effectLst/>
                          <a:latin typeface="Arial" panose="020B0604020202020204" pitchFamily="34" charset="0"/>
                          <a:ea typeface="Calibri" panose="020F0502020204030204" pitchFamily="34" charset="0"/>
                        </a:rPr>
                        <a:t>Mélange et contrôle des circuits de charge, augmentation et réduction de la température de flux au moyen de signaux d'entrée analogiques et/ou numériques</a:t>
                      </a:r>
                      <a:endParaRPr lang="es-ES" sz="1100">
                        <a:solidFill>
                          <a:srgbClr val="000000"/>
                        </a:solidFill>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300"/>
                        </a:spcAft>
                      </a:pPr>
                      <a:r>
                        <a:rPr lang="en-GB" sz="1100" kern="1200">
                          <a:solidFill>
                            <a:srgbClr val="000000"/>
                          </a:solidFill>
                          <a:effectLst/>
                          <a:latin typeface="Arial" panose="020B0604020202020204" pitchFamily="34" charset="0"/>
                          <a:ea typeface="Calibri" panose="020F0502020204030204" pitchFamily="34" charset="0"/>
                          <a:cs typeface="+mn-cs"/>
                        </a:rPr>
                        <a:t>Contrôle de la chaudière et mélange des circuits de charge</a:t>
                      </a:r>
                      <a:endParaRPr lang="es-ES" sz="1100" kern="1200" dirty="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2851099211"/>
                  </a:ext>
                </a:extLst>
              </a:tr>
              <a:tr h="916381">
                <a:tc>
                  <a:txBody>
                    <a:bodyPr/>
                    <a:lstStyle/>
                    <a:p>
                      <a:pPr marL="0" marR="6985" algn="l" defTabSz="914400" rtl="0" eaLnBrk="1" latinLnBrk="0" hangingPunct="1">
                        <a:lnSpc>
                          <a:spcPct val="115000"/>
                        </a:lnSpc>
                        <a:spcBef>
                          <a:spcPts val="300"/>
                        </a:spcBef>
                        <a:spcAft>
                          <a:spcPts val="300"/>
                        </a:spcAft>
                      </a:pPr>
                      <a:r>
                        <a:rPr lang="en-GB" sz="1100" kern="1200">
                          <a:solidFill>
                            <a:srgbClr val="000000"/>
                          </a:solidFill>
                          <a:effectLst/>
                          <a:latin typeface="Arial" panose="020B0604020202020204" pitchFamily="34" charset="0"/>
                          <a:ea typeface="Calibri" panose="020F0502020204030204" pitchFamily="34" charset="0"/>
                          <a:cs typeface="+mn-cs"/>
                        </a:rPr>
                        <a:t>Réduction des coûts du fait de la diminution de la consommation d'énergie</a:t>
                      </a:r>
                      <a:endParaRPr lang="es-ES" sz="1100" kern="120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6985" algn="l" defTabSz="914400" rtl="0" eaLnBrk="1" latinLnBrk="0" hangingPunct="1">
                        <a:lnSpc>
                          <a:spcPct val="115000"/>
                        </a:lnSpc>
                        <a:spcBef>
                          <a:spcPts val="300"/>
                        </a:spcBef>
                        <a:spcAft>
                          <a:spcPts val="300"/>
                        </a:spcAft>
                      </a:pPr>
                      <a:r>
                        <a:rPr lang="en-GB" sz="1100" kern="1200">
                          <a:solidFill>
                            <a:srgbClr val="000000"/>
                          </a:solidFill>
                          <a:effectLst/>
                          <a:latin typeface="Arial" panose="020B0604020202020204" pitchFamily="34" charset="0"/>
                          <a:ea typeface="Calibri" panose="020F0502020204030204" pitchFamily="34" charset="0"/>
                          <a:cs typeface="+mn-cs"/>
                        </a:rPr>
                        <a:t>Dépend de l'utilisation de la pièce (plus d'économies en cas d'utilisation limitée)</a:t>
                      </a:r>
                      <a:endParaRPr lang="es-ES" sz="1100" kern="1200" dirty="0">
                        <a:solidFill>
                          <a:srgbClr val="000000"/>
                        </a:solidFill>
                        <a:effectLst/>
                        <a:latin typeface="Arial" panose="020B0604020202020204" pitchFamily="34" charset="0"/>
                        <a:ea typeface="Calibri" panose="020F0502020204030204" pitchFamily="34" charset="0"/>
                        <a:cs typeface="+mn-cs"/>
                      </a:endParaRPr>
                    </a:p>
                    <a:p>
                      <a:pPr marL="0" marR="6985" algn="l" defTabSz="914400" rtl="0" eaLnBrk="1" latinLnBrk="0" hangingPunct="1">
                        <a:lnSpc>
                          <a:spcPct val="115000"/>
                        </a:lnSpc>
                        <a:spcBef>
                          <a:spcPts val="300"/>
                        </a:spcBef>
                        <a:spcAft>
                          <a:spcPts val="300"/>
                        </a:spcAft>
                      </a:pPr>
                      <a:r>
                        <a:rPr lang="en-GB" sz="1100" kern="1200">
                          <a:solidFill>
                            <a:srgbClr val="000000"/>
                          </a:solidFill>
                          <a:effectLst/>
                          <a:latin typeface="Arial" panose="020B0604020202020204" pitchFamily="34" charset="0"/>
                          <a:ea typeface="Calibri" panose="020F0502020204030204" pitchFamily="34" charset="0"/>
                          <a:cs typeface="+mn-cs"/>
                        </a:rPr>
                        <a:t>La chaudière n'a pas d'influence</a:t>
                      </a:r>
                      <a:endParaRPr lang="es-ES" sz="1100" kern="1200" dirty="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algn="l" defTabSz="914400" rtl="0" eaLnBrk="1" latinLnBrk="0" hangingPunct="1">
                        <a:lnSpc>
                          <a:spcPct val="115000"/>
                        </a:lnSpc>
                        <a:spcAft>
                          <a:spcPts val="300"/>
                        </a:spcAft>
                      </a:pPr>
                      <a:r>
                        <a:rPr lang="en-GB" sz="1100" kern="1200">
                          <a:solidFill>
                            <a:srgbClr val="000000"/>
                          </a:solidFill>
                          <a:effectLst/>
                          <a:latin typeface="Arial" panose="020B0604020202020204" pitchFamily="34" charset="0"/>
                          <a:ea typeface="Calibri" panose="020F0502020204030204" pitchFamily="34" charset="0"/>
                          <a:cs typeface="+mn-cs"/>
                        </a:rPr>
                        <a:t>Économies considérables pour les installations disposant d'une capacité de stockage, car seule l'énergie nécessaire est prélevée du réservoir, ce qui permet des durées de fonctionnement longues</a:t>
                      </a:r>
                      <a:endParaRPr lang="es-ES" sz="1100" kern="1200" dirty="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6985" algn="l" defTabSz="914400" rtl="0" eaLnBrk="1" latinLnBrk="0" hangingPunct="1">
                        <a:lnSpc>
                          <a:spcPct val="115000"/>
                        </a:lnSpc>
                        <a:spcBef>
                          <a:spcPts val="300"/>
                        </a:spcBef>
                        <a:spcAft>
                          <a:spcPts val="300"/>
                        </a:spcAft>
                      </a:pPr>
                      <a:r>
                        <a:rPr lang="en-GB" sz="1100" kern="1200">
                          <a:solidFill>
                            <a:srgbClr val="000000"/>
                          </a:solidFill>
                          <a:effectLst/>
                          <a:latin typeface="Arial" panose="020B0604020202020204" pitchFamily="34" charset="0"/>
                          <a:ea typeface="Calibri" panose="020F0502020204030204" pitchFamily="34" charset="0"/>
                          <a:cs typeface="+mn-cs"/>
                        </a:rPr>
                        <a:t>Grande réduction car l'installation complexe est contrôlée au niveau optimal</a:t>
                      </a:r>
                      <a:endParaRPr lang="es-ES" sz="1100" kern="1200" dirty="0">
                        <a:solidFill>
                          <a:srgbClr val="000000"/>
                        </a:solidFill>
                        <a:effectLst/>
                        <a:latin typeface="Arial" panose="020B0604020202020204" pitchFamily="34" charset="0"/>
                        <a:ea typeface="Calibri" panose="020F0502020204030204" pitchFamily="34" charset="0"/>
                        <a:cs typeface="+mn-cs"/>
                      </a:endParaRPr>
                    </a:p>
                    <a:p>
                      <a:pPr marL="0" algn="l" defTabSz="914400" rtl="0" eaLnBrk="1" latinLnBrk="0" hangingPunct="1">
                        <a:lnSpc>
                          <a:spcPct val="115000"/>
                        </a:lnSpc>
                        <a:spcBef>
                          <a:spcPts val="300"/>
                        </a:spcBef>
                        <a:spcAft>
                          <a:spcPts val="300"/>
                        </a:spcAft>
                      </a:pPr>
                      <a:r>
                        <a:rPr lang="en-GB" sz="1100" kern="1200">
                          <a:solidFill>
                            <a:srgbClr val="000000"/>
                          </a:solidFill>
                          <a:effectLst/>
                          <a:latin typeface="Arial" panose="020B0604020202020204" pitchFamily="34" charset="0"/>
                          <a:ea typeface="Calibri" panose="020F0502020204030204" pitchFamily="34" charset="0"/>
                          <a:cs typeface="+mn-cs"/>
                        </a:rPr>
                        <a:t>Pas de valeur de chaleur. = chaudière désactivée</a:t>
                      </a:r>
                      <a:endParaRPr lang="es-ES" sz="1100" kern="1200" dirty="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4030888177"/>
                  </a:ext>
                </a:extLst>
              </a:tr>
              <a:tr h="357062">
                <a:tc>
                  <a:txBody>
                    <a:bodyPr/>
                    <a:lstStyle/>
                    <a:p>
                      <a:pPr>
                        <a:lnSpc>
                          <a:spcPct val="115000"/>
                        </a:lnSpc>
                        <a:spcBef>
                          <a:spcPts val="300"/>
                        </a:spcBef>
                        <a:spcAft>
                          <a:spcPts val="0"/>
                        </a:spcAft>
                      </a:pPr>
                      <a:r>
                        <a:rPr lang="en-GB" sz="1100">
                          <a:solidFill>
                            <a:srgbClr val="000000"/>
                          </a:solidFill>
                          <a:effectLst/>
                          <a:latin typeface="Arial" panose="020B0604020202020204" pitchFamily="34" charset="0"/>
                          <a:ea typeface="Calibri" panose="020F0502020204030204" pitchFamily="34" charset="0"/>
                        </a:rPr>
                        <a:t>Coût d'achat</a:t>
                      </a:r>
                      <a:endParaRPr lang="es-ES" sz="1100" dirty="0">
                        <a:solidFill>
                          <a:srgbClr val="000000"/>
                        </a:solidFill>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1100">
                          <a:solidFill>
                            <a:srgbClr val="000000"/>
                          </a:solidFill>
                          <a:effectLst/>
                          <a:latin typeface="Arial" panose="020B0604020202020204" pitchFamily="34" charset="0"/>
                          <a:ea typeface="Calibri" panose="020F0502020204030204" pitchFamily="34" charset="0"/>
                        </a:rPr>
                        <a:t>Basse</a:t>
                      </a:r>
                      <a:endParaRPr lang="es-ES" sz="1100">
                        <a:solidFill>
                          <a:srgbClr val="000000"/>
                        </a:solidFill>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1100">
                          <a:solidFill>
                            <a:srgbClr val="000000"/>
                          </a:solidFill>
                          <a:effectLst/>
                          <a:latin typeface="Arial" panose="020B0604020202020204" pitchFamily="34" charset="0"/>
                          <a:ea typeface="Calibri" panose="020F0502020204030204" pitchFamily="34" charset="0"/>
                        </a:rPr>
                        <a:t>Média de transmission</a:t>
                      </a:r>
                      <a:endParaRPr lang="es-ES" sz="1100" dirty="0">
                        <a:solidFill>
                          <a:srgbClr val="000000"/>
                        </a:solidFill>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300"/>
                        </a:spcAft>
                      </a:pPr>
                      <a:r>
                        <a:rPr lang="en-GB" sz="1100">
                          <a:solidFill>
                            <a:srgbClr val="000000"/>
                          </a:solidFill>
                          <a:effectLst/>
                          <a:latin typeface="Arial" panose="020B0604020202020204" pitchFamily="34" charset="0"/>
                          <a:ea typeface="Calibri" panose="020F0502020204030204" pitchFamily="34" charset="0"/>
                        </a:rPr>
                        <a:t>Élevée</a:t>
                      </a:r>
                      <a:endParaRPr lang="es-ES" sz="1100" dirty="0">
                        <a:solidFill>
                          <a:srgbClr val="000000"/>
                        </a:solidFill>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422157585"/>
                  </a:ext>
                </a:extLst>
              </a:tr>
              <a:tr h="1662139">
                <a:tc>
                  <a:txBody>
                    <a:bodyPr/>
                    <a:lstStyle/>
                    <a:p>
                      <a:pPr>
                        <a:lnSpc>
                          <a:spcPct val="115000"/>
                        </a:lnSpc>
                        <a:spcBef>
                          <a:spcPts val="300"/>
                        </a:spcBef>
                        <a:spcAft>
                          <a:spcPts val="0"/>
                        </a:spcAft>
                      </a:pPr>
                      <a:r>
                        <a:rPr lang="en-GB" sz="1100">
                          <a:solidFill>
                            <a:srgbClr val="000000"/>
                          </a:solidFill>
                          <a:effectLst/>
                          <a:latin typeface="Arial" panose="020B0604020202020204" pitchFamily="34" charset="0"/>
                          <a:ea typeface="Calibri" panose="020F0502020204030204" pitchFamily="34" charset="0"/>
                        </a:rPr>
                        <a:t>Exemple de produit</a:t>
                      </a:r>
                      <a:endParaRPr lang="es-ES" sz="1100">
                        <a:solidFill>
                          <a:srgbClr val="000000"/>
                        </a:solidFill>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300"/>
                        </a:spcAft>
                      </a:pPr>
                      <a:r>
                        <a:rPr lang="en-GB" sz="1100">
                          <a:solidFill>
                            <a:srgbClr val="000000"/>
                          </a:solidFill>
                          <a:effectLst/>
                          <a:latin typeface="Arial" panose="020B0604020202020204" pitchFamily="34" charset="0"/>
                          <a:ea typeface="Calibri" panose="020F0502020204030204" pitchFamily="34" charset="0"/>
                        </a:rPr>
                        <a:t>Thermostat d'ambiance individuel, actionneur de chauffage + moteur électrothermique ou électromoteur</a:t>
                      </a:r>
                      <a:endParaRPr lang="es-ES" sz="1100" dirty="0">
                        <a:solidFill>
                          <a:srgbClr val="000000"/>
                        </a:solidFill>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6985" algn="l" defTabSz="914400" rtl="0" eaLnBrk="1" latinLnBrk="0" hangingPunct="1">
                        <a:lnSpc>
                          <a:spcPct val="115000"/>
                        </a:lnSpc>
                        <a:spcBef>
                          <a:spcPts val="300"/>
                        </a:spcBef>
                        <a:spcAft>
                          <a:spcPts val="300"/>
                        </a:spcAft>
                      </a:pPr>
                      <a:r>
                        <a:rPr lang="en-GB" sz="1100" kern="1200">
                          <a:solidFill>
                            <a:srgbClr val="000000"/>
                          </a:solidFill>
                          <a:effectLst/>
                          <a:latin typeface="Arial" panose="020B0604020202020204" pitchFamily="34" charset="0"/>
                          <a:ea typeface="Calibri" panose="020F0502020204030204" pitchFamily="34" charset="0"/>
                          <a:cs typeface="+mn-cs"/>
                        </a:rPr>
                        <a:t>Unité de commande centrale ou via des entrées ou sorties analogiques ou numériques dans un PLC e. . avec capteur propriétaire ou capteur KNX, contrôleur de circuit mixte (par ex. déclencheur + vanne de mixage), contrôle pompe </a:t>
                      </a:r>
                      <a:r>
                        <a:rPr lang="es-ES" sz="1100" kern="1200">
                          <a:solidFill>
                            <a:srgbClr val="000000"/>
                          </a:solidFill>
                          <a:effectLst/>
                          <a:latin typeface="Arial" panose="020B0604020202020204" pitchFamily="34" charset="0"/>
                          <a:ea typeface="Calibri" panose="020F0502020204030204" pitchFamily="34" charset="0"/>
                          <a:cs typeface="+mn-cs"/>
                        </a:rPr>
                        <a:t> </a:t>
                      </a:r>
                      <a:r>
                        <a:rPr lang="en-GB" sz="1100" kern="1200">
                          <a:solidFill>
                            <a:srgbClr val="000000"/>
                          </a:solidFill>
                          <a:effectLst/>
                          <a:latin typeface="Arial" panose="020B0604020202020204" pitchFamily="34" charset="0"/>
                          <a:ea typeface="Calibri" panose="020F0502020204030204" pitchFamily="34" charset="0"/>
                          <a:cs typeface="+mn-cs"/>
                        </a:rPr>
                        <a:t>(e. . actionneur de commutateur + pompe) interface 0-10 V (augmenter ou réduire la température de la chaudière)</a:t>
                      </a:r>
                      <a:endParaRPr lang="es-ES" sz="1100" kern="1200" dirty="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1100" dirty="0" err="1">
                          <a:solidFill>
                            <a:srgbClr val="000000"/>
                          </a:solidFill>
                          <a:effectLst/>
                          <a:latin typeface="Arial" panose="020B0604020202020204" pitchFamily="34" charset="0"/>
                          <a:ea typeface="Calibri" panose="020F0502020204030204" pitchFamily="34" charset="0"/>
                        </a:rPr>
                        <a:t>Passerelles</a:t>
                      </a:r>
                      <a:r>
                        <a:rPr lang="en-GB" sz="1100" dirty="0">
                          <a:solidFill>
                            <a:srgbClr val="000000"/>
                          </a:solidFill>
                          <a:effectLst/>
                          <a:latin typeface="Arial" panose="020B0604020202020204" pitchFamily="34" charset="0"/>
                          <a:ea typeface="Calibri" panose="020F0502020204030204" pitchFamily="34" charset="0"/>
                        </a:rPr>
                        <a:t> </a:t>
                      </a:r>
                      <a:r>
                        <a:rPr lang="en-GB" sz="1100" dirty="0" err="1">
                          <a:solidFill>
                            <a:srgbClr val="000000"/>
                          </a:solidFill>
                          <a:effectLst/>
                          <a:latin typeface="Arial" panose="020B0604020202020204" pitchFamily="34" charset="0"/>
                          <a:ea typeface="Calibri" panose="020F0502020204030204" pitchFamily="34" charset="0"/>
                        </a:rPr>
                        <a:t>spécifiques</a:t>
                      </a:r>
                      <a:r>
                        <a:rPr lang="en-GB" sz="1100" dirty="0">
                          <a:solidFill>
                            <a:srgbClr val="000000"/>
                          </a:solidFill>
                          <a:effectLst/>
                          <a:latin typeface="Arial" panose="020B0604020202020204" pitchFamily="34" charset="0"/>
                          <a:ea typeface="Calibri" panose="020F0502020204030204" pitchFamily="34" charset="0"/>
                        </a:rPr>
                        <a:t> au fabricant pour le type </a:t>
                      </a:r>
                      <a:r>
                        <a:rPr lang="en-GB" sz="1100" dirty="0" err="1">
                          <a:solidFill>
                            <a:srgbClr val="000000"/>
                          </a:solidFill>
                          <a:effectLst/>
                          <a:latin typeface="Arial" panose="020B0604020202020204" pitchFamily="34" charset="0"/>
                          <a:ea typeface="Calibri" panose="020F0502020204030204" pitchFamily="34" charset="0"/>
                        </a:rPr>
                        <a:t>d'installation</a:t>
                      </a:r>
                      <a:r>
                        <a:rPr lang="en-GB" sz="1100" dirty="0">
                          <a:solidFill>
                            <a:srgbClr val="000000"/>
                          </a:solidFill>
                          <a:effectLst/>
                          <a:latin typeface="Arial" panose="020B0604020202020204" pitchFamily="34" charset="0"/>
                          <a:ea typeface="Calibri" panose="020F0502020204030204" pitchFamily="34" charset="0"/>
                        </a:rPr>
                        <a:t> </a:t>
                      </a:r>
                      <a:r>
                        <a:rPr lang="en-GB" sz="1100" dirty="0" err="1">
                          <a:solidFill>
                            <a:srgbClr val="000000"/>
                          </a:solidFill>
                          <a:effectLst/>
                          <a:latin typeface="Arial" panose="020B0604020202020204" pitchFamily="34" charset="0"/>
                          <a:ea typeface="Calibri" panose="020F0502020204030204" pitchFamily="34" charset="0"/>
                        </a:rPr>
                        <a:t>précisément</a:t>
                      </a:r>
                      <a:r>
                        <a:rPr lang="en-GB" sz="1100" dirty="0">
                          <a:solidFill>
                            <a:srgbClr val="000000"/>
                          </a:solidFill>
                          <a:effectLst/>
                          <a:latin typeface="Arial" panose="020B0604020202020204" pitchFamily="34" charset="0"/>
                          <a:ea typeface="Calibri" panose="020F0502020204030204" pitchFamily="34" charset="0"/>
                        </a:rPr>
                        <a:t> </a:t>
                      </a:r>
                      <a:r>
                        <a:rPr lang="en-GB" sz="1100" dirty="0" err="1">
                          <a:solidFill>
                            <a:srgbClr val="000000"/>
                          </a:solidFill>
                          <a:effectLst/>
                          <a:latin typeface="Arial" panose="020B0604020202020204" pitchFamily="34" charset="0"/>
                          <a:ea typeface="Calibri" panose="020F0502020204030204" pitchFamily="34" charset="0"/>
                        </a:rPr>
                        <a:t>concerné</a:t>
                      </a:r>
                      <a:endParaRPr lang="es-ES" sz="1100" dirty="0">
                        <a:solidFill>
                          <a:srgbClr val="000000"/>
                        </a:solidFill>
                        <a:effectLst/>
                        <a:latin typeface="Arial" panose="020B0604020202020204" pitchFamily="34" charset="0"/>
                        <a:ea typeface="Calibri" panose="020F0502020204030204" pitchFamily="34" charset="0"/>
                      </a:endParaRPr>
                    </a:p>
                    <a:p>
                      <a:pPr>
                        <a:lnSpc>
                          <a:spcPct val="115000"/>
                        </a:lnSpc>
                        <a:spcAft>
                          <a:spcPts val="300"/>
                        </a:spcAft>
                      </a:pPr>
                      <a:r>
                        <a:rPr lang="en-GB" sz="1100" dirty="0">
                          <a:solidFill>
                            <a:srgbClr val="000000"/>
                          </a:solidFill>
                          <a:effectLst/>
                          <a:latin typeface="Arial" panose="020B0604020202020204" pitchFamily="34" charset="0"/>
                          <a:ea typeface="Calibri" panose="020F0502020204030204" pitchFamily="34" charset="0"/>
                        </a:rPr>
                        <a:t> </a:t>
                      </a:r>
                      <a:endParaRPr lang="es-ES" sz="1100" dirty="0">
                        <a:solidFill>
                          <a:srgbClr val="000000"/>
                        </a:solidFill>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2324613139"/>
                  </a:ext>
                </a:extLst>
              </a:tr>
            </a:tbl>
          </a:graphicData>
        </a:graphic>
      </p:graphicFrame>
    </p:spTree>
    <p:extLst>
      <p:ext uri="{BB962C8B-B14F-4D97-AF65-F5344CB8AC3E}">
        <p14:creationId xmlns:p14="http://schemas.microsoft.com/office/powerpoint/2010/main" val="4231979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a:extLst>
              <a:ext uri="{FF2B5EF4-FFF2-40B4-BE49-F238E27FC236}">
                <a16:creationId xmlns:a16="http://schemas.microsoft.com/office/drawing/2014/main" id="{4C6A510C-BF47-4349-82DB-61D0CA7CAC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5454" y="3284984"/>
            <a:ext cx="7294332" cy="3167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Contrôle individuel de la pièce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1" y="1268760"/>
            <a:ext cx="8098235"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1800" kern="0">
                <a:ea typeface="Open Sans" panose="020B0606030504020204" pitchFamily="34" charset="0"/>
                <a:cs typeface="Open Sans" panose="020B0606030504020204" pitchFamily="34" charset="0"/>
              </a:rPr>
              <a:t>Types:</a:t>
            </a:r>
          </a:p>
          <a:p>
            <a:pPr>
              <a:lnSpc>
                <a:spcPct val="150000"/>
              </a:lnSpc>
              <a:defRPr/>
            </a:pPr>
            <a:r>
              <a:rPr lang="en-US" sz="1800" kern="0">
                <a:solidFill>
                  <a:schemeClr val="bg1">
                    <a:lumMod val="10000"/>
                  </a:schemeClr>
                </a:solidFill>
                <a:ea typeface="Open Sans" panose="020B0606030504020204" pitchFamily="34" charset="0"/>
                <a:cs typeface="Open Sans" panose="020B0606030504020204" pitchFamily="34" charset="0"/>
              </a:rPr>
              <a:t>Le contrôle à 2 niveaux</a:t>
            </a:r>
          </a:p>
          <a:p>
            <a:pPr>
              <a:lnSpc>
                <a:spcPct val="150000"/>
              </a:lnSpc>
              <a:defRPr/>
            </a:pPr>
            <a:r>
              <a:rPr lang="en-US" sz="1800" kern="0">
                <a:solidFill>
                  <a:schemeClr val="bg1">
                    <a:lumMod val="10000"/>
                  </a:schemeClr>
                </a:solidFill>
                <a:ea typeface="Open Sans" panose="020B0606030504020204" pitchFamily="34" charset="0"/>
                <a:cs typeface="Open Sans" panose="020B0606030504020204" pitchFamily="34" charset="0"/>
              </a:rPr>
              <a:t>Le contrôle continu (contrôle à 3 niveaux)</a:t>
            </a:r>
          </a:p>
          <a:p>
            <a:pPr marL="0" indent="0">
              <a:lnSpc>
                <a:spcPct val="150000"/>
              </a:lnSpc>
              <a:buNone/>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marL="0" indent="0">
              <a:buNone/>
            </a:pPr>
            <a:r>
              <a:rPr lang="en-US" sz="1800" kern="0">
                <a:ea typeface="Open Sans" panose="020B0606030504020204" pitchFamily="34" charset="0"/>
                <a:cs typeface="Open Sans" panose="020B0606030504020204" pitchFamily="34" charset="0"/>
              </a:rPr>
              <a:t>Principe de fonctionnement du contrôle individuel de la pièce:</a:t>
            </a:r>
          </a:p>
        </p:txBody>
      </p:sp>
    </p:spTree>
    <p:extLst>
      <p:ext uri="{BB962C8B-B14F-4D97-AF65-F5344CB8AC3E}">
        <p14:creationId xmlns:p14="http://schemas.microsoft.com/office/powerpoint/2010/main" val="42335996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Contrôle à deux niveaux</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19675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a:solidFill>
                  <a:schemeClr val="tx1"/>
                </a:solidFill>
                <a:ea typeface="Open Sans" panose="020B0606030504020204" pitchFamily="34" charset="0"/>
                <a:cs typeface="Open Sans" panose="020B0606030504020204" pitchFamily="34" charset="0"/>
              </a:rPr>
              <a:t>Simple mais lent et pas assez précis</a:t>
            </a:r>
          </a:p>
          <a:p>
            <a:pPr>
              <a:lnSpc>
                <a:spcPct val="150000"/>
              </a:lnSpc>
              <a:defRPr/>
            </a:pPr>
            <a:r>
              <a:rPr lang="en-US" sz="1800" kern="0">
                <a:solidFill>
                  <a:schemeClr val="tx1"/>
                </a:solidFill>
                <a:ea typeface="Open Sans" panose="020B0606030504020204" pitchFamily="34" charset="0"/>
                <a:cs typeface="Open Sans" panose="020B0606030504020204" pitchFamily="34" charset="0"/>
              </a:rPr>
              <a:t>Aucun calcul de valeur de contrôle n'est effectué. Le régulateur s'allume ou s'éteint et la température de la pièce oscille autour de la consigne (hystérésis )</a:t>
            </a:r>
          </a:p>
        </p:txBody>
      </p:sp>
      <p:graphicFrame>
        <p:nvGraphicFramePr>
          <p:cNvPr id="4" name="Object 3">
            <a:extLst>
              <a:ext uri="{FF2B5EF4-FFF2-40B4-BE49-F238E27FC236}">
                <a16:creationId xmlns:a16="http://schemas.microsoft.com/office/drawing/2014/main" id="{E83B9DB6-88EA-40C2-A762-12D2C55B173F}"/>
              </a:ext>
            </a:extLst>
          </p:cNvPr>
          <p:cNvGraphicFramePr>
            <a:graphicFrameLocks noChangeAspect="1"/>
          </p:cNvGraphicFramePr>
          <p:nvPr/>
        </p:nvGraphicFramePr>
        <p:xfrm>
          <a:off x="1835956" y="2958094"/>
          <a:ext cx="5904656" cy="3494548"/>
        </p:xfrm>
        <a:graphic>
          <a:graphicData uri="http://schemas.openxmlformats.org/presentationml/2006/ole">
            <mc:AlternateContent xmlns:mc="http://schemas.openxmlformats.org/markup-compatibility/2006">
              <mc:Choice xmlns:v="urn:schemas-microsoft-com:vml" Requires="v">
                <p:oleObj name="Picture" r:id="rId3" imgW="4696206" imgH="2772156" progId="Word.Picture.8">
                  <p:embed/>
                </p:oleObj>
              </mc:Choice>
              <mc:Fallback>
                <p:oleObj name="Picture" r:id="rId3" imgW="4696206" imgH="2772156" progId="Word.Picture.8">
                  <p:embed/>
                  <p:pic>
                    <p:nvPicPr>
                      <p:cNvPr id="4" name="Object 3">
                        <a:extLst>
                          <a:ext uri="{FF2B5EF4-FFF2-40B4-BE49-F238E27FC236}">
                            <a16:creationId xmlns:a16="http://schemas.microsoft.com/office/drawing/2014/main" id="{E83B9DB6-88EA-40C2-A762-12D2C55B17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956" y="2958094"/>
                        <a:ext cx="5904656" cy="3494548"/>
                      </a:xfrm>
                      <a:prstGeom prst="rect">
                        <a:avLst/>
                      </a:prstGeom>
                      <a:noFill/>
                    </p:spPr>
                  </p:pic>
                </p:oleObj>
              </mc:Fallback>
            </mc:AlternateContent>
          </a:graphicData>
        </a:graphic>
      </p:graphicFrame>
    </p:spTree>
    <p:extLst>
      <p:ext uri="{BB962C8B-B14F-4D97-AF65-F5344CB8AC3E}">
        <p14:creationId xmlns:p14="http://schemas.microsoft.com/office/powerpoint/2010/main" val="25917358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Contrôle PI</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err="1">
                <a:solidFill>
                  <a:schemeClr val="tx1"/>
                </a:solidFill>
                <a:ea typeface="Open Sans" panose="020B0606030504020204" pitchFamily="34" charset="0"/>
                <a:cs typeface="Open Sans" panose="020B0606030504020204" pitchFamily="34" charset="0"/>
              </a:rPr>
              <a:t>Crée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valeur</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contrôle</a:t>
            </a:r>
            <a:r>
              <a:rPr lang="en-US" sz="1800" kern="0" dirty="0">
                <a:solidFill>
                  <a:schemeClr val="tx1"/>
                </a:solidFill>
                <a:ea typeface="Open Sans" panose="020B0606030504020204" pitchFamily="34" charset="0"/>
                <a:cs typeface="Open Sans" panose="020B0606030504020204" pitchFamily="34" charset="0"/>
              </a:rPr>
              <a:t>. Il </a:t>
            </a:r>
            <a:r>
              <a:rPr lang="en-US" sz="1800" kern="0" dirty="0" err="1">
                <a:solidFill>
                  <a:schemeClr val="tx1"/>
                </a:solidFill>
                <a:ea typeface="Open Sans" panose="020B0606030504020204" pitchFamily="34" charset="0"/>
                <a:cs typeface="Open Sans" panose="020B0606030504020204" pitchFamily="34" charset="0"/>
              </a:rPr>
              <a:t>adapte</a:t>
            </a:r>
            <a:r>
              <a:rPr lang="en-US" sz="1800" kern="0" dirty="0">
                <a:solidFill>
                  <a:schemeClr val="tx1"/>
                </a:solidFill>
                <a:ea typeface="Open Sans" panose="020B0606030504020204" pitchFamily="34" charset="0"/>
                <a:cs typeface="Open Sans" panose="020B0606030504020204" pitchFamily="34" charset="0"/>
              </a:rPr>
              <a:t> la </a:t>
            </a:r>
            <a:r>
              <a:rPr lang="en-US" sz="1800" kern="0" dirty="0" err="1">
                <a:solidFill>
                  <a:schemeClr val="tx1"/>
                </a:solidFill>
                <a:ea typeface="Open Sans" panose="020B0606030504020204" pitchFamily="34" charset="0"/>
                <a:cs typeface="Open Sans" panose="020B0606030504020204" pitchFamily="34" charset="0"/>
              </a:rPr>
              <a:t>température</a:t>
            </a:r>
            <a:r>
              <a:rPr lang="en-US" sz="1800" kern="0" dirty="0">
                <a:solidFill>
                  <a:schemeClr val="tx1"/>
                </a:solidFill>
                <a:ea typeface="Open Sans" panose="020B0606030504020204" pitchFamily="34" charset="0"/>
                <a:cs typeface="Open Sans" panose="020B0606030504020204" pitchFamily="34" charset="0"/>
              </a:rPr>
              <a:t> de la pièce à la </a:t>
            </a:r>
            <a:r>
              <a:rPr lang="en-US" sz="1800" kern="0" dirty="0" err="1">
                <a:solidFill>
                  <a:schemeClr val="tx1"/>
                </a:solidFill>
                <a:ea typeface="Open Sans" panose="020B0606030504020204" pitchFamily="34" charset="0"/>
                <a:cs typeface="Open Sans" panose="020B0606030504020204" pitchFamily="34" charset="0"/>
              </a:rPr>
              <a:t>température</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consigne</a:t>
            </a:r>
            <a:r>
              <a:rPr lang="en-US" sz="1800" kern="0" dirty="0">
                <a:solidFill>
                  <a:schemeClr val="tx1"/>
                </a:solidFill>
                <a:ea typeface="Open Sans" panose="020B0606030504020204" pitchFamily="34" charset="0"/>
                <a:cs typeface="Open Sans" panose="020B0606030504020204" pitchFamily="34" charset="0"/>
              </a:rPr>
              <a:t> sans causer </a:t>
            </a:r>
            <a:r>
              <a:rPr lang="en-US" sz="1800" kern="0" dirty="0" err="1">
                <a:solidFill>
                  <a:schemeClr val="tx1"/>
                </a:solidFill>
                <a:ea typeface="Open Sans" panose="020B0606030504020204" pitchFamily="34" charset="0"/>
                <a:cs typeface="Open Sans" panose="020B0606030504020204" pitchFamily="34" charset="0"/>
              </a:rPr>
              <a:t>d'oscillation</a:t>
            </a:r>
            <a:endParaRPr lang="en-US" sz="18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84EBF823-B98C-428A-B619-95CED7198AFD}"/>
              </a:ext>
            </a:extLst>
          </p:cNvPr>
          <p:cNvGraphicFramePr>
            <a:graphicFrameLocks noChangeAspect="1"/>
          </p:cNvGraphicFramePr>
          <p:nvPr/>
        </p:nvGraphicFramePr>
        <p:xfrm>
          <a:off x="1835696" y="2710458"/>
          <a:ext cx="5948365" cy="3671292"/>
        </p:xfrm>
        <a:graphic>
          <a:graphicData uri="http://schemas.openxmlformats.org/presentationml/2006/ole">
            <mc:AlternateContent xmlns:mc="http://schemas.openxmlformats.org/markup-compatibility/2006">
              <mc:Choice xmlns:v="urn:schemas-microsoft-com:vml" Requires="v">
                <p:oleObj name="Picture" r:id="rId3" imgW="4696206" imgH="2895600" progId="Word.Picture.8">
                  <p:embed/>
                </p:oleObj>
              </mc:Choice>
              <mc:Fallback>
                <p:oleObj name="Picture" r:id="rId3" imgW="4696206" imgH="2895600" progId="Word.Picture.8">
                  <p:embed/>
                  <p:pic>
                    <p:nvPicPr>
                      <p:cNvPr id="4" name="Object 3">
                        <a:extLst>
                          <a:ext uri="{FF2B5EF4-FFF2-40B4-BE49-F238E27FC236}">
                            <a16:creationId xmlns:a16="http://schemas.microsoft.com/office/drawing/2014/main" id="{84EBF823-B98C-428A-B619-95CED7198A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696" y="2710458"/>
                        <a:ext cx="5948365" cy="3671292"/>
                      </a:xfrm>
                      <a:prstGeom prst="rect">
                        <a:avLst/>
                      </a:prstGeom>
                      <a:noFill/>
                    </p:spPr>
                  </p:pic>
                </p:oleObj>
              </mc:Fallback>
            </mc:AlternateContent>
          </a:graphicData>
        </a:graphic>
      </p:graphicFrame>
    </p:spTree>
    <p:extLst>
      <p:ext uri="{BB962C8B-B14F-4D97-AF65-F5344CB8AC3E}">
        <p14:creationId xmlns:p14="http://schemas.microsoft.com/office/powerpoint/2010/main" val="37980469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Composants : Thermostat de la pièce</a:t>
            </a:r>
            <a:endParaRPr lang="en-GB" dirty="0"/>
          </a:p>
        </p:txBody>
      </p:sp>
      <p:pic>
        <p:nvPicPr>
          <p:cNvPr id="5" name="Picture 4">
            <a:extLst>
              <a:ext uri="{FF2B5EF4-FFF2-40B4-BE49-F238E27FC236}">
                <a16:creationId xmlns:a16="http://schemas.microsoft.com/office/drawing/2014/main" id="{FF3EE6B2-44E9-4F3F-A756-06BC3ABC220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25773" y="980728"/>
            <a:ext cx="5770563" cy="333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Table 3">
            <a:extLst>
              <a:ext uri="{FF2B5EF4-FFF2-40B4-BE49-F238E27FC236}">
                <a16:creationId xmlns:a16="http://schemas.microsoft.com/office/drawing/2014/main" id="{05C3724B-42DA-4C0E-9B27-5E28DAF2D7BD}"/>
              </a:ext>
            </a:extLst>
          </p:cNvPr>
          <p:cNvGraphicFramePr>
            <a:graphicFrameLocks noGrp="1"/>
          </p:cNvGraphicFramePr>
          <p:nvPr/>
        </p:nvGraphicFramePr>
        <p:xfrm>
          <a:off x="683568" y="4593052"/>
          <a:ext cx="3327208" cy="1875142"/>
        </p:xfrm>
        <a:graphic>
          <a:graphicData uri="http://schemas.openxmlformats.org/drawingml/2006/table">
            <a:tbl>
              <a:tblPr>
                <a:tableStyleId>{5C22544A-7EE6-4342-B048-85BDC9FD1C3A}</a:tableStyleId>
              </a:tblPr>
              <a:tblGrid>
                <a:gridCol w="936104">
                  <a:extLst>
                    <a:ext uri="{9D8B030D-6E8A-4147-A177-3AD203B41FA5}">
                      <a16:colId xmlns:a16="http://schemas.microsoft.com/office/drawing/2014/main" val="2836472598"/>
                    </a:ext>
                  </a:extLst>
                </a:gridCol>
                <a:gridCol w="864096">
                  <a:extLst>
                    <a:ext uri="{9D8B030D-6E8A-4147-A177-3AD203B41FA5}">
                      <a16:colId xmlns:a16="http://schemas.microsoft.com/office/drawing/2014/main" val="272704941"/>
                    </a:ext>
                  </a:extLst>
                </a:gridCol>
                <a:gridCol w="810356">
                  <a:extLst>
                    <a:ext uri="{9D8B030D-6E8A-4147-A177-3AD203B41FA5}">
                      <a16:colId xmlns:a16="http://schemas.microsoft.com/office/drawing/2014/main" val="1286668892"/>
                    </a:ext>
                  </a:extLst>
                </a:gridCol>
                <a:gridCol w="716652">
                  <a:extLst>
                    <a:ext uri="{9D8B030D-6E8A-4147-A177-3AD203B41FA5}">
                      <a16:colId xmlns:a16="http://schemas.microsoft.com/office/drawing/2014/main" val="1948896391"/>
                    </a:ext>
                  </a:extLst>
                </a:gridCol>
              </a:tblGrid>
              <a:tr h="281153">
                <a:tc>
                  <a:txBody>
                    <a:bodyPr/>
                    <a:lstStyle/>
                    <a:p>
                      <a:pPr>
                        <a:lnSpc>
                          <a:spcPct val="115000"/>
                        </a:lnSpc>
                        <a:spcBef>
                          <a:spcPts val="300"/>
                        </a:spcBef>
                        <a:spcAft>
                          <a:spcPts val="0"/>
                        </a:spcAft>
                      </a:pPr>
                      <a:r>
                        <a:rPr lang="en-GB" sz="1100">
                          <a:effectLst/>
                        </a:rPr>
                        <a:t> </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gridSpan="3">
                  <a:txBody>
                    <a:bodyPr/>
                    <a:lstStyle/>
                    <a:p>
                      <a:pPr algn="ctr">
                        <a:lnSpc>
                          <a:spcPct val="115000"/>
                        </a:lnSpc>
                        <a:spcAft>
                          <a:spcPts val="0"/>
                        </a:spcAft>
                      </a:pPr>
                      <a:r>
                        <a:rPr lang="en-GB" sz="1100" b="1">
                          <a:effectLst/>
                        </a:rPr>
                        <a:t>Objets KNX</a:t>
                      </a:r>
                      <a:endParaRPr lang="es-ES" sz="1100" b="1"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hMerge="1">
                  <a:txBody>
                    <a:bodyPr/>
                    <a:lstStyle/>
                    <a:p>
                      <a:pPr>
                        <a:lnSpc>
                          <a:spcPct val="115000"/>
                        </a:lnSpc>
                        <a:spcAft>
                          <a:spcPts val="0"/>
                        </a:spcAft>
                      </a:pPr>
                      <a:endParaRPr lang="es-ES" sz="1100" b="1"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hMerge="1">
                  <a:txBody>
                    <a:bodyPr/>
                    <a:lstStyle/>
                    <a:p>
                      <a:pPr>
                        <a:lnSpc>
                          <a:spcPct val="115000"/>
                        </a:lnSpc>
                        <a:spcAft>
                          <a:spcPts val="300"/>
                        </a:spcAft>
                      </a:pPr>
                      <a:endParaRPr lang="es-ES" sz="1100" b="1"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1736340046"/>
                  </a:ext>
                </a:extLst>
              </a:tr>
              <a:tr h="323298">
                <a:tc>
                  <a:txBody>
                    <a:bodyPr/>
                    <a:lstStyle/>
                    <a:p>
                      <a:pPr>
                        <a:lnSpc>
                          <a:spcPct val="115000"/>
                        </a:lnSpc>
                        <a:spcBef>
                          <a:spcPts val="300"/>
                        </a:spcBef>
                        <a:spcAft>
                          <a:spcPts val="0"/>
                        </a:spcAft>
                      </a:pPr>
                      <a:r>
                        <a:rPr lang="en-GB" sz="1100" b="1">
                          <a:effectLst/>
                        </a:rPr>
                        <a:t>Mode de fonctionnement</a:t>
                      </a:r>
                      <a:endParaRPr lang="es-ES" sz="1100" b="1"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100" b="1">
                          <a:effectLst/>
                        </a:rPr>
                        <a:t>Protection contre le gel</a:t>
                      </a:r>
                      <a:endParaRPr lang="es-ES" sz="1100" b="1"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100" b="1">
                          <a:effectLst/>
                        </a:rPr>
                        <a:t>Réduction de nuit</a:t>
                      </a:r>
                      <a:endParaRPr lang="es-ES" sz="1100" b="1"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100" b="1">
                          <a:effectLst/>
                        </a:rPr>
                        <a:t>Confort</a:t>
                      </a:r>
                      <a:endParaRPr lang="es-ES" sz="1100" b="1"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3885902921"/>
                  </a:ext>
                </a:extLst>
              </a:tr>
              <a:tr h="293882">
                <a:tc>
                  <a:txBody>
                    <a:bodyPr/>
                    <a:lstStyle/>
                    <a:p>
                      <a:pPr>
                        <a:lnSpc>
                          <a:spcPct val="115000"/>
                        </a:lnSpc>
                        <a:spcBef>
                          <a:spcPts val="300"/>
                        </a:spcBef>
                        <a:spcAft>
                          <a:spcPts val="0"/>
                        </a:spcAft>
                      </a:pPr>
                      <a:r>
                        <a:rPr lang="en-GB" sz="1000">
                          <a:effectLst/>
                        </a:rPr>
                        <a:t>Protection contre le gel / thermique</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1</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x</a:t>
                      </a:r>
                      <a:endParaRPr lang="es-ES" sz="1100"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000">
                          <a:effectLst/>
                        </a:rPr>
                        <a:t>x</a:t>
                      </a:r>
                      <a:endParaRPr lang="es-ES" sz="1100"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3068497852"/>
                  </a:ext>
                </a:extLst>
              </a:tr>
              <a:tr h="140408">
                <a:tc>
                  <a:txBody>
                    <a:bodyPr/>
                    <a:lstStyle/>
                    <a:p>
                      <a:pPr>
                        <a:lnSpc>
                          <a:spcPct val="115000"/>
                        </a:lnSpc>
                        <a:spcBef>
                          <a:spcPts val="300"/>
                        </a:spcBef>
                        <a:spcAft>
                          <a:spcPts val="0"/>
                        </a:spcAft>
                      </a:pPr>
                      <a:r>
                        <a:rPr lang="en-GB" sz="1000">
                          <a:effectLst/>
                        </a:rPr>
                        <a:t>Confort</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0</a:t>
                      </a:r>
                      <a:endParaRPr lang="es-ES" sz="1100"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x</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000">
                          <a:effectLst/>
                        </a:rPr>
                        <a:t>1</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3376812577"/>
                  </a:ext>
                </a:extLst>
              </a:tr>
              <a:tr h="140408">
                <a:tc>
                  <a:txBody>
                    <a:bodyPr/>
                    <a:lstStyle/>
                    <a:p>
                      <a:pPr>
                        <a:lnSpc>
                          <a:spcPct val="115000"/>
                        </a:lnSpc>
                        <a:spcBef>
                          <a:spcPts val="300"/>
                        </a:spcBef>
                        <a:spcAft>
                          <a:spcPts val="0"/>
                        </a:spcAft>
                      </a:pPr>
                      <a:r>
                        <a:rPr lang="en-GB" sz="1000">
                          <a:effectLst/>
                        </a:rPr>
                        <a:t>Nuit</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0</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1</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000">
                          <a:effectLst/>
                        </a:rPr>
                        <a:t>0</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768836936"/>
                  </a:ext>
                </a:extLst>
              </a:tr>
              <a:tr h="185622">
                <a:tc>
                  <a:txBody>
                    <a:bodyPr/>
                    <a:lstStyle/>
                    <a:p>
                      <a:pPr>
                        <a:lnSpc>
                          <a:spcPct val="115000"/>
                        </a:lnSpc>
                        <a:spcBef>
                          <a:spcPts val="300"/>
                        </a:spcBef>
                        <a:spcAft>
                          <a:spcPts val="0"/>
                        </a:spcAft>
                      </a:pPr>
                      <a:r>
                        <a:rPr lang="en-GB" sz="1000">
                          <a:effectLst/>
                        </a:rPr>
                        <a:t>Veille</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0</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0</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000" dirty="0">
                          <a:effectLst/>
                        </a:rPr>
                        <a:t>0</a:t>
                      </a:r>
                      <a:endParaRPr lang="es-ES" sz="1100"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2674566155"/>
                  </a:ext>
                </a:extLst>
              </a:tr>
            </a:tbl>
          </a:graphicData>
        </a:graphic>
      </p:graphicFrame>
      <p:graphicFrame>
        <p:nvGraphicFramePr>
          <p:cNvPr id="8" name="Table 7">
            <a:extLst>
              <a:ext uri="{FF2B5EF4-FFF2-40B4-BE49-F238E27FC236}">
                <a16:creationId xmlns:a16="http://schemas.microsoft.com/office/drawing/2014/main" id="{16A87891-5FCF-45AF-8ED0-1EE71472BFB4}"/>
              </a:ext>
            </a:extLst>
          </p:cNvPr>
          <p:cNvGraphicFramePr>
            <a:graphicFrameLocks noGrp="1"/>
          </p:cNvGraphicFramePr>
          <p:nvPr/>
        </p:nvGraphicFramePr>
        <p:xfrm>
          <a:off x="4227193" y="4615008"/>
          <a:ext cx="4350745" cy="1543495"/>
        </p:xfrm>
        <a:graphic>
          <a:graphicData uri="http://schemas.openxmlformats.org/drawingml/2006/table">
            <a:tbl>
              <a:tblPr>
                <a:tableStyleId>{5C22544A-7EE6-4342-B048-85BDC9FD1C3A}</a:tableStyleId>
              </a:tblPr>
              <a:tblGrid>
                <a:gridCol w="986592">
                  <a:extLst>
                    <a:ext uri="{9D8B030D-6E8A-4147-A177-3AD203B41FA5}">
                      <a16:colId xmlns:a16="http://schemas.microsoft.com/office/drawing/2014/main" val="3154641145"/>
                    </a:ext>
                  </a:extLst>
                </a:gridCol>
                <a:gridCol w="859134">
                  <a:extLst>
                    <a:ext uri="{9D8B030D-6E8A-4147-A177-3AD203B41FA5}">
                      <a16:colId xmlns:a16="http://schemas.microsoft.com/office/drawing/2014/main" val="2559019192"/>
                    </a:ext>
                  </a:extLst>
                </a:gridCol>
                <a:gridCol w="2505019">
                  <a:extLst>
                    <a:ext uri="{9D8B030D-6E8A-4147-A177-3AD203B41FA5}">
                      <a16:colId xmlns:a16="http://schemas.microsoft.com/office/drawing/2014/main" val="815103120"/>
                    </a:ext>
                  </a:extLst>
                </a:gridCol>
              </a:tblGrid>
              <a:tr h="0">
                <a:tc>
                  <a:txBody>
                    <a:bodyPr/>
                    <a:lstStyle/>
                    <a:p>
                      <a:pPr>
                        <a:lnSpc>
                          <a:spcPct val="115000"/>
                        </a:lnSpc>
                        <a:spcBef>
                          <a:spcPts val="300"/>
                        </a:spcBef>
                        <a:spcAft>
                          <a:spcPts val="0"/>
                        </a:spcAft>
                      </a:pPr>
                      <a:r>
                        <a:rPr lang="en-GB" sz="1000" b="1">
                          <a:effectLst/>
                        </a:rPr>
                        <a:t>Mode de fonctionnement</a:t>
                      </a:r>
                      <a:endParaRPr lang="es-ES" sz="1100" b="1">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100" b="1">
                          <a:effectLst/>
                        </a:rPr>
                        <a:t>Valeur de l'objet KNX</a:t>
                      </a:r>
                      <a:endParaRPr lang="es-ES" sz="1100" b="1"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000" b="1">
                          <a:effectLst/>
                        </a:rPr>
                        <a:t>Remarque</a:t>
                      </a:r>
                      <a:endParaRPr lang="es-ES" sz="1100" b="1"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3476486707"/>
                  </a:ext>
                </a:extLst>
              </a:tr>
              <a:tr h="0">
                <a:tc>
                  <a:txBody>
                    <a:bodyPr/>
                    <a:lstStyle/>
                    <a:p>
                      <a:pPr>
                        <a:lnSpc>
                          <a:spcPct val="115000"/>
                        </a:lnSpc>
                        <a:spcBef>
                          <a:spcPts val="300"/>
                        </a:spcBef>
                        <a:spcAft>
                          <a:spcPts val="0"/>
                        </a:spcAft>
                      </a:pPr>
                      <a:r>
                        <a:rPr lang="en-GB" sz="1000">
                          <a:effectLst/>
                        </a:rPr>
                        <a:t>Protection du bâtiment</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4</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000">
                          <a:effectLst/>
                        </a:rPr>
                        <a:t>Priorisation plus forte que 0 à 3</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231137540"/>
                  </a:ext>
                </a:extLst>
              </a:tr>
              <a:tr h="0">
                <a:tc>
                  <a:txBody>
                    <a:bodyPr/>
                    <a:lstStyle/>
                    <a:p>
                      <a:pPr>
                        <a:lnSpc>
                          <a:spcPct val="115000"/>
                        </a:lnSpc>
                        <a:spcBef>
                          <a:spcPts val="300"/>
                        </a:spcBef>
                        <a:spcAft>
                          <a:spcPts val="0"/>
                        </a:spcAft>
                      </a:pPr>
                      <a:r>
                        <a:rPr lang="en-GB" sz="1000">
                          <a:effectLst/>
                        </a:rPr>
                        <a:t>Économie</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3</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000">
                          <a:effectLst/>
                        </a:rPr>
                        <a:t> </a:t>
                      </a:r>
                      <a:endParaRPr lang="es-ES" sz="1100"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1623467769"/>
                  </a:ext>
                </a:extLst>
              </a:tr>
              <a:tr h="0">
                <a:tc>
                  <a:txBody>
                    <a:bodyPr/>
                    <a:lstStyle/>
                    <a:p>
                      <a:pPr>
                        <a:lnSpc>
                          <a:spcPct val="115000"/>
                        </a:lnSpc>
                        <a:spcBef>
                          <a:spcPts val="300"/>
                        </a:spcBef>
                        <a:spcAft>
                          <a:spcPts val="0"/>
                        </a:spcAft>
                      </a:pPr>
                      <a:r>
                        <a:rPr lang="en-GB" sz="1000">
                          <a:effectLst/>
                        </a:rPr>
                        <a:t>Pré-confort</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2</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000">
                          <a:effectLst/>
                        </a:rPr>
                        <a:t> </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897360767"/>
                  </a:ext>
                </a:extLst>
              </a:tr>
              <a:tr h="0">
                <a:tc>
                  <a:txBody>
                    <a:bodyPr/>
                    <a:lstStyle/>
                    <a:p>
                      <a:pPr>
                        <a:lnSpc>
                          <a:spcPct val="115000"/>
                        </a:lnSpc>
                        <a:spcBef>
                          <a:spcPts val="300"/>
                        </a:spcBef>
                        <a:spcAft>
                          <a:spcPts val="0"/>
                        </a:spcAft>
                      </a:pPr>
                      <a:r>
                        <a:rPr lang="en-GB" sz="1000">
                          <a:effectLst/>
                        </a:rPr>
                        <a:t>Confort</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1</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000">
                          <a:effectLst/>
                        </a:rPr>
                        <a:t> </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105367025"/>
                  </a:ext>
                </a:extLst>
              </a:tr>
              <a:tr h="0">
                <a:tc>
                  <a:txBody>
                    <a:bodyPr/>
                    <a:lstStyle/>
                    <a:p>
                      <a:pPr>
                        <a:lnSpc>
                          <a:spcPct val="115000"/>
                        </a:lnSpc>
                        <a:spcBef>
                          <a:spcPts val="300"/>
                        </a:spcBef>
                        <a:spcAft>
                          <a:spcPts val="0"/>
                        </a:spcAft>
                      </a:pPr>
                      <a:r>
                        <a:rPr lang="en-GB" sz="1000">
                          <a:effectLst/>
                        </a:rPr>
                        <a:t>Automatique</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dirty="0">
                          <a:effectLst/>
                        </a:rPr>
                        <a:t>0</a:t>
                      </a:r>
                      <a:endParaRPr lang="es-ES" sz="1100"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000" dirty="0">
                          <a:effectLst/>
                        </a:rPr>
                        <a:t>Avec </a:t>
                      </a:r>
                      <a:r>
                        <a:rPr lang="en-GB" sz="1000" dirty="0" err="1">
                          <a:effectLst/>
                        </a:rPr>
                        <a:t>ce</a:t>
                      </a:r>
                      <a:r>
                        <a:rPr lang="en-GB" sz="1000" dirty="0">
                          <a:effectLst/>
                        </a:rPr>
                        <a:t> </a:t>
                      </a:r>
                      <a:r>
                        <a:rPr lang="en-GB" sz="1000" dirty="0" err="1">
                          <a:effectLst/>
                        </a:rPr>
                        <a:t>paramétrage</a:t>
                      </a:r>
                      <a:r>
                        <a:rPr lang="en-GB" sz="1000" dirty="0">
                          <a:effectLst/>
                        </a:rPr>
                        <a:t>, le thermostat </a:t>
                      </a:r>
                      <a:r>
                        <a:rPr lang="en-GB" sz="1000" dirty="0" err="1">
                          <a:effectLst/>
                        </a:rPr>
                        <a:t>peut</a:t>
                      </a:r>
                      <a:r>
                        <a:rPr lang="en-GB" sz="1000" dirty="0">
                          <a:effectLst/>
                        </a:rPr>
                        <a:t> </a:t>
                      </a:r>
                      <a:r>
                        <a:rPr lang="en-GB" sz="1000" dirty="0" err="1">
                          <a:effectLst/>
                        </a:rPr>
                        <a:t>être</a:t>
                      </a:r>
                      <a:r>
                        <a:rPr lang="en-GB" sz="1000" dirty="0">
                          <a:effectLst/>
                        </a:rPr>
                        <a:t> </a:t>
                      </a:r>
                      <a:r>
                        <a:rPr lang="en-GB" sz="1000" dirty="0" err="1">
                          <a:effectLst/>
                        </a:rPr>
                        <a:t>contrôlé</a:t>
                      </a:r>
                      <a:r>
                        <a:rPr lang="en-GB" sz="1000" dirty="0">
                          <a:effectLst/>
                        </a:rPr>
                        <a:t> par ex. par un </a:t>
                      </a:r>
                      <a:r>
                        <a:rPr lang="en-GB" sz="1000" dirty="0" err="1">
                          <a:effectLst/>
                        </a:rPr>
                        <a:t>objet</a:t>
                      </a:r>
                      <a:r>
                        <a:rPr lang="en-GB" sz="1000" dirty="0">
                          <a:effectLst/>
                        </a:rPr>
                        <a:t> </a:t>
                      </a:r>
                      <a:r>
                        <a:rPr lang="en-GB" sz="1000" dirty="0" err="1">
                          <a:effectLst/>
                        </a:rPr>
                        <a:t>horloge</a:t>
                      </a:r>
                      <a:r>
                        <a:rPr lang="en-GB" sz="1000" dirty="0">
                          <a:effectLst/>
                        </a:rPr>
                        <a:t> </a:t>
                      </a:r>
                      <a:r>
                        <a:rPr lang="en-GB" sz="1000" dirty="0" err="1">
                          <a:effectLst/>
                        </a:rPr>
                        <a:t>séparé</a:t>
                      </a:r>
                      <a:r>
                        <a:rPr lang="en-GB" sz="1000" dirty="0">
                          <a:effectLst/>
                        </a:rPr>
                        <a:t>.</a:t>
                      </a:r>
                      <a:endParaRPr lang="es-ES" sz="1100"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4065573809"/>
                  </a:ext>
                </a:extLst>
              </a:tr>
            </a:tbl>
          </a:graphicData>
        </a:graphic>
      </p:graphicFrame>
      <p:sp>
        <p:nvSpPr>
          <p:cNvPr id="7" name="Rounded Rectangle 3">
            <a:extLst>
              <a:ext uri="{FF2B5EF4-FFF2-40B4-BE49-F238E27FC236}">
                <a16:creationId xmlns:a16="http://schemas.microsoft.com/office/drawing/2014/main" id="{6E1D2EBF-4C80-405B-A310-796F14C700E2}"/>
              </a:ext>
            </a:extLst>
          </p:cNvPr>
          <p:cNvSpPr/>
          <p:nvPr/>
        </p:nvSpPr>
        <p:spPr>
          <a:xfrm>
            <a:off x="5796136" y="1920106"/>
            <a:ext cx="1606550" cy="2012950"/>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 name="Rectangle 9">
            <a:extLst>
              <a:ext uri="{FF2B5EF4-FFF2-40B4-BE49-F238E27FC236}">
                <a16:creationId xmlns:a16="http://schemas.microsoft.com/office/drawing/2014/main" id="{5B257EDD-2BA0-48DB-8E60-0A0700F4268F}"/>
              </a:ext>
            </a:extLst>
          </p:cNvPr>
          <p:cNvSpPr/>
          <p:nvPr/>
        </p:nvSpPr>
        <p:spPr>
          <a:xfrm>
            <a:off x="611560" y="4221088"/>
            <a:ext cx="2373278" cy="369332"/>
          </a:xfrm>
          <a:prstGeom prst="rect">
            <a:avLst/>
          </a:prstGeom>
        </p:spPr>
        <p:txBody>
          <a:bodyPr wrap="none">
            <a:spAutoFit/>
          </a:bodyPr>
          <a:lstStyle/>
          <a:p>
            <a:r>
              <a:rPr lang="en-GB" b="1" dirty="0">
                <a:solidFill>
                  <a:srgbClr val="369226"/>
                </a:solidFill>
              </a:rPr>
              <a:t>Tables de </a:t>
            </a:r>
            <a:r>
              <a:rPr lang="en-GB" b="1" dirty="0" err="1">
                <a:solidFill>
                  <a:srgbClr val="369226"/>
                </a:solidFill>
              </a:rPr>
              <a:t>priorités</a:t>
            </a:r>
            <a:r>
              <a:rPr lang="en-GB" b="1" dirty="0">
                <a:solidFill>
                  <a:srgbClr val="369226"/>
                </a:solidFill>
              </a:rPr>
              <a:t> : </a:t>
            </a:r>
            <a:endParaRPr lang="es-ES" dirty="0">
              <a:solidFill>
                <a:srgbClr val="369226"/>
              </a:solidFill>
            </a:endParaRPr>
          </a:p>
        </p:txBody>
      </p:sp>
    </p:spTree>
    <p:extLst>
      <p:ext uri="{BB962C8B-B14F-4D97-AF65-F5344CB8AC3E}">
        <p14:creationId xmlns:p14="http://schemas.microsoft.com/office/powerpoint/2010/main" val="36732503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Composants : Thermostat de la pièce</a:t>
            </a:r>
            <a:endParaRPr lang="en-GB" dirty="0"/>
          </a:p>
        </p:txBody>
      </p:sp>
      <p:pic>
        <p:nvPicPr>
          <p:cNvPr id="11266" name="Picture 2">
            <a:extLst>
              <a:ext uri="{FF2B5EF4-FFF2-40B4-BE49-F238E27FC236}">
                <a16:creationId xmlns:a16="http://schemas.microsoft.com/office/drawing/2014/main" id="{BB534E42-B899-42B9-B48D-C44C1D7A1A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5440" y="1276106"/>
            <a:ext cx="6182368"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7" name="Picture 3">
            <a:extLst>
              <a:ext uri="{FF2B5EF4-FFF2-40B4-BE49-F238E27FC236}">
                <a16:creationId xmlns:a16="http://schemas.microsoft.com/office/drawing/2014/main" id="{C2F9A657-3B85-4516-A006-1D2637BB82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3717032"/>
            <a:ext cx="3528392" cy="2146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B965962F-5FCE-4F64-A548-E1F16B73F2CB}"/>
              </a:ext>
            </a:extLst>
          </p:cNvPr>
          <p:cNvSpPr/>
          <p:nvPr/>
        </p:nvSpPr>
        <p:spPr>
          <a:xfrm>
            <a:off x="1331640" y="2818471"/>
            <a:ext cx="6984776" cy="646331"/>
          </a:xfrm>
          <a:prstGeom prst="rect">
            <a:avLst/>
          </a:prstGeom>
        </p:spPr>
        <p:txBody>
          <a:bodyPr wrap="square">
            <a:spAutoFit/>
          </a:bodyPr>
          <a:lstStyle/>
          <a:p>
            <a:r>
              <a:rPr lang="en-GB" b="1"/>
              <a:t>systèmes contrôlés pour le contrôleur à deux niveaux et continu</a:t>
            </a:r>
            <a:endParaRPr lang="es-ES" b="1" dirty="0"/>
          </a:p>
          <a:p>
            <a:endParaRPr lang="en-GB" dirty="0"/>
          </a:p>
        </p:txBody>
      </p:sp>
      <p:sp>
        <p:nvSpPr>
          <p:cNvPr id="4" name="Rectangle 3">
            <a:extLst>
              <a:ext uri="{FF2B5EF4-FFF2-40B4-BE49-F238E27FC236}">
                <a16:creationId xmlns:a16="http://schemas.microsoft.com/office/drawing/2014/main" id="{02CA296F-3A44-480E-B600-1834EB775114}"/>
              </a:ext>
            </a:extLst>
          </p:cNvPr>
          <p:cNvSpPr/>
          <p:nvPr/>
        </p:nvSpPr>
        <p:spPr>
          <a:xfrm>
            <a:off x="980702" y="5863859"/>
            <a:ext cx="3365783" cy="646331"/>
          </a:xfrm>
          <a:prstGeom prst="rect">
            <a:avLst/>
          </a:prstGeom>
        </p:spPr>
        <p:txBody>
          <a:bodyPr wrap="square">
            <a:spAutoFit/>
          </a:bodyPr>
          <a:lstStyle/>
          <a:p>
            <a:r>
              <a:rPr lang="en-GB" b="1"/>
              <a:t>système contrôlé pour un chauffage à deux niveaux</a:t>
            </a:r>
            <a:endParaRPr lang="es-ES" dirty="0"/>
          </a:p>
        </p:txBody>
      </p:sp>
      <p:pic>
        <p:nvPicPr>
          <p:cNvPr id="11268" name="Picture 4">
            <a:extLst>
              <a:ext uri="{FF2B5EF4-FFF2-40B4-BE49-F238E27FC236}">
                <a16:creationId xmlns:a16="http://schemas.microsoft.com/office/drawing/2014/main" id="{AA721A71-C1A1-4B4B-9D84-BEEE425AC7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2780" y="3723888"/>
            <a:ext cx="3638406" cy="1850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5B58484F-A74B-4815-BEA2-037D9EA4BBF6}"/>
              </a:ext>
            </a:extLst>
          </p:cNvPr>
          <p:cNvSpPr/>
          <p:nvPr/>
        </p:nvSpPr>
        <p:spPr>
          <a:xfrm>
            <a:off x="4797516" y="5727189"/>
            <a:ext cx="3803825" cy="702372"/>
          </a:xfrm>
          <a:prstGeom prst="rect">
            <a:avLst/>
          </a:prstGeom>
        </p:spPr>
        <p:txBody>
          <a:bodyPr wrap="square">
            <a:spAutoFit/>
          </a:bodyPr>
          <a:lstStyle/>
          <a:p>
            <a:pPr>
              <a:lnSpc>
                <a:spcPct val="115000"/>
              </a:lnSpc>
              <a:spcBef>
                <a:spcPts val="300"/>
              </a:spcBef>
              <a:spcAft>
                <a:spcPts val="300"/>
              </a:spcAft>
            </a:pPr>
            <a:r>
              <a:rPr lang="en-GB" b="1">
                <a:latin typeface="Arial" panose="020B0604020202020204" pitchFamily="34" charset="0"/>
                <a:ea typeface="Calibri" panose="020F0502020204030204" pitchFamily="34" charset="0"/>
              </a:rPr>
              <a:t>système contrôlé pour le chauffage et le refroidissement</a:t>
            </a:r>
            <a:endParaRPr lang="es-ES" sz="1800" b="1" dirty="0">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25038279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Composants : Thermostat de la pièce</a:t>
            </a:r>
            <a:endParaRPr lang="en-GB" dirty="0"/>
          </a:p>
        </p:txBody>
      </p:sp>
      <p:pic>
        <p:nvPicPr>
          <p:cNvPr id="12290" name="Picture 2">
            <a:extLst>
              <a:ext uri="{FF2B5EF4-FFF2-40B4-BE49-F238E27FC236}">
                <a16:creationId xmlns:a16="http://schemas.microsoft.com/office/drawing/2014/main" id="{E23799DA-A621-45EA-A29D-DEE4499320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152" y="1568563"/>
            <a:ext cx="7260247" cy="4020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B0B38E26-C183-4CAA-8613-00877A22EC28}"/>
              </a:ext>
            </a:extLst>
          </p:cNvPr>
          <p:cNvSpPr/>
          <p:nvPr/>
        </p:nvSpPr>
        <p:spPr>
          <a:xfrm>
            <a:off x="900112" y="5735419"/>
            <a:ext cx="7344296" cy="369332"/>
          </a:xfrm>
          <a:prstGeom prst="rect">
            <a:avLst/>
          </a:prstGeom>
        </p:spPr>
        <p:txBody>
          <a:bodyPr wrap="square">
            <a:spAutoFit/>
          </a:bodyPr>
          <a:lstStyle/>
          <a:p>
            <a:r>
              <a:rPr lang="en-GB" b="1"/>
              <a:t>représentation simplifiée des points de consigne pour le chauffage et le refroidissement</a:t>
            </a:r>
            <a:endParaRPr lang="es-ES" dirty="0"/>
          </a:p>
        </p:txBody>
      </p:sp>
    </p:spTree>
    <p:extLst>
      <p:ext uri="{BB962C8B-B14F-4D97-AF65-F5344CB8AC3E}">
        <p14:creationId xmlns:p14="http://schemas.microsoft.com/office/powerpoint/2010/main" val="40634301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sz="2400"/>
              <a:t>Actionneur – Variante 1 (actionneur de commutation)</a:t>
            </a:r>
            <a:endParaRPr lang="en-GB" sz="2400"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19675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a:solidFill>
                  <a:schemeClr val="tx1"/>
                </a:solidFill>
                <a:ea typeface="Open Sans" panose="020B0606030504020204" pitchFamily="34" charset="0"/>
                <a:cs typeface="Open Sans" panose="020B0606030504020204" pitchFamily="34" charset="0"/>
              </a:rPr>
              <a:t>Un actionneur de chauffage ou de commutation peut être utilisé en lien avec un ou plusieurs entraînements par vanne thermoélectrique</a:t>
            </a: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1800" kern="0" dirty="0">
              <a:solidFill>
                <a:schemeClr val="tx1"/>
              </a:solidFill>
              <a:ea typeface="Open Sans" panose="020B0606030504020204" pitchFamily="34" charset="0"/>
              <a:cs typeface="Open Sans" panose="020B0606030504020204" pitchFamily="34" charset="0"/>
            </a:endParaRPr>
          </a:p>
        </p:txBody>
      </p:sp>
      <p:pic>
        <p:nvPicPr>
          <p:cNvPr id="13315" name="Picture 3">
            <a:extLst>
              <a:ext uri="{FF2B5EF4-FFF2-40B4-BE49-F238E27FC236}">
                <a16:creationId xmlns:a16="http://schemas.microsoft.com/office/drawing/2014/main" id="{F6C3453F-1054-42DF-977F-FD60E31A09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5" y="2493590"/>
            <a:ext cx="6250946" cy="4031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768040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621630"/>
            <a:ext cx="7128271" cy="719138"/>
          </a:xfrm>
        </p:spPr>
        <p:txBody>
          <a:bodyPr/>
          <a:lstStyle/>
          <a:p>
            <a:r>
              <a:rPr lang="en-US" sz="2400"/>
              <a:t>Actionneur – Variante 2 (Contrôleur continu)</a:t>
            </a:r>
            <a:endParaRPr lang="en-GB" sz="2400"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340768"/>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Une </a:t>
            </a:r>
            <a:r>
              <a:rPr lang="en-US" sz="1800" kern="0" dirty="0" err="1">
                <a:solidFill>
                  <a:schemeClr val="tx1"/>
                </a:solidFill>
                <a:ea typeface="Open Sans" panose="020B0606030504020204" pitchFamily="34" charset="0"/>
                <a:cs typeface="Open Sans" panose="020B0606030504020204" pitchFamily="34" charset="0"/>
              </a:rPr>
              <a:t>vanne</a:t>
            </a:r>
            <a:r>
              <a:rPr lang="en-US" sz="1800" kern="0" dirty="0">
                <a:solidFill>
                  <a:schemeClr val="tx1"/>
                </a:solidFill>
                <a:ea typeface="Open Sans" panose="020B0606030504020204" pitchFamily="34" charset="0"/>
                <a:cs typeface="Open Sans" panose="020B0606030504020204" pitchFamily="34" charset="0"/>
              </a:rPr>
              <a:t> KNX </a:t>
            </a:r>
            <a:r>
              <a:rPr lang="en-US" sz="1800" kern="0" dirty="0" err="1">
                <a:solidFill>
                  <a:schemeClr val="tx1"/>
                </a:solidFill>
                <a:ea typeface="Open Sans" panose="020B0606030504020204" pitchFamily="34" charset="0"/>
                <a:cs typeface="Open Sans" panose="020B0606030504020204" pitchFamily="34" charset="0"/>
              </a:rPr>
              <a:t>linéaire</a:t>
            </a:r>
            <a:r>
              <a:rPr lang="en-US" sz="1800" kern="0" dirty="0">
                <a:solidFill>
                  <a:schemeClr val="tx1"/>
                </a:solidFill>
                <a:ea typeface="Open Sans" panose="020B0606030504020204" pitchFamily="34" charset="0"/>
                <a:cs typeface="Open Sans" panose="020B0606030504020204" pitchFamily="34" charset="0"/>
              </a:rPr>
              <a:t> et </a:t>
            </a:r>
            <a:r>
              <a:rPr lang="en-US" sz="1800" kern="0" dirty="0" err="1">
                <a:solidFill>
                  <a:schemeClr val="tx1"/>
                </a:solidFill>
                <a:ea typeface="Open Sans" panose="020B0606030504020204" pitchFamily="34" charset="0"/>
                <a:cs typeface="Open Sans" panose="020B0606030504020204" pitchFamily="34" charset="0"/>
              </a:rPr>
              <a:t>motorisée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utilisée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comme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élément</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contrôle</a:t>
            </a:r>
            <a:r>
              <a:rPr lang="en-US" sz="1800" kern="0" dirty="0">
                <a:solidFill>
                  <a:schemeClr val="tx1"/>
                </a:solidFill>
                <a:ea typeface="Open Sans" panose="020B0606030504020204" pitchFamily="34" charset="0"/>
                <a:cs typeface="Open Sans" panose="020B0606030504020204" pitchFamily="34" charset="0"/>
              </a:rPr>
              <a:t> final</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14338" name="Picture 2">
            <a:extLst>
              <a:ext uri="{FF2B5EF4-FFF2-40B4-BE49-F238E27FC236}">
                <a16:creationId xmlns:a16="http://schemas.microsoft.com/office/drawing/2014/main" id="{AC7BCBBD-185F-4952-A769-E2874D2481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2229" y="2492896"/>
            <a:ext cx="6952109" cy="3362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64737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Avantages et inconvénients</a:t>
            </a:r>
            <a:endParaRPr lang="en-GB" dirty="0"/>
          </a:p>
        </p:txBody>
      </p:sp>
      <p:graphicFrame>
        <p:nvGraphicFramePr>
          <p:cNvPr id="4" name="Table 3">
            <a:extLst>
              <a:ext uri="{FF2B5EF4-FFF2-40B4-BE49-F238E27FC236}">
                <a16:creationId xmlns:a16="http://schemas.microsoft.com/office/drawing/2014/main" id="{2D9B2CCE-D139-4E07-A6B4-D9A771A46CD8}"/>
              </a:ext>
            </a:extLst>
          </p:cNvPr>
          <p:cNvGraphicFramePr>
            <a:graphicFrameLocks noGrp="1"/>
          </p:cNvGraphicFramePr>
          <p:nvPr/>
        </p:nvGraphicFramePr>
        <p:xfrm>
          <a:off x="971600" y="1477475"/>
          <a:ext cx="7488832" cy="4425358"/>
        </p:xfrm>
        <a:graphic>
          <a:graphicData uri="http://schemas.openxmlformats.org/drawingml/2006/table">
            <a:tbl>
              <a:tblPr>
                <a:tableStyleId>{5C22544A-7EE6-4342-B048-85BDC9FD1C3A}</a:tableStyleId>
              </a:tblPr>
              <a:tblGrid>
                <a:gridCol w="1872208">
                  <a:extLst>
                    <a:ext uri="{9D8B030D-6E8A-4147-A177-3AD203B41FA5}">
                      <a16:colId xmlns:a16="http://schemas.microsoft.com/office/drawing/2014/main" val="2775445304"/>
                    </a:ext>
                  </a:extLst>
                </a:gridCol>
                <a:gridCol w="2952328">
                  <a:extLst>
                    <a:ext uri="{9D8B030D-6E8A-4147-A177-3AD203B41FA5}">
                      <a16:colId xmlns:a16="http://schemas.microsoft.com/office/drawing/2014/main" val="4145618280"/>
                    </a:ext>
                  </a:extLst>
                </a:gridCol>
                <a:gridCol w="2664296">
                  <a:extLst>
                    <a:ext uri="{9D8B030D-6E8A-4147-A177-3AD203B41FA5}">
                      <a16:colId xmlns:a16="http://schemas.microsoft.com/office/drawing/2014/main" val="500068590"/>
                    </a:ext>
                  </a:extLst>
                </a:gridCol>
              </a:tblGrid>
              <a:tr h="481741">
                <a:tc>
                  <a:txBody>
                    <a:bodyPr/>
                    <a:lstStyle/>
                    <a:p>
                      <a:pPr marL="71755" marR="6985" algn="ctr">
                        <a:lnSpc>
                          <a:spcPct val="115000"/>
                        </a:lnSpc>
                        <a:spcBef>
                          <a:spcPts val="300"/>
                        </a:spcBef>
                        <a:spcAft>
                          <a:spcPts val="300"/>
                        </a:spcAft>
                      </a:pPr>
                      <a:r>
                        <a:rPr lang="en-GB" sz="1600" b="1">
                          <a:solidFill>
                            <a:schemeClr val="tx1"/>
                          </a:solidFill>
                          <a:effectLst/>
                        </a:rPr>
                        <a:t>Vanne de régulation</a:t>
                      </a:r>
                      <a:endParaRPr lang="es-ES" sz="1600" b="1" dirty="0">
                        <a:solidFill>
                          <a:schemeClr val="tx1"/>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gn="ctr">
                        <a:lnSpc>
                          <a:spcPct val="115000"/>
                        </a:lnSpc>
                        <a:spcBef>
                          <a:spcPts val="300"/>
                        </a:spcBef>
                        <a:spcAft>
                          <a:spcPts val="300"/>
                        </a:spcAft>
                      </a:pPr>
                      <a:r>
                        <a:rPr lang="en-GB" sz="1600" b="1">
                          <a:solidFill>
                            <a:schemeClr val="tx1"/>
                          </a:solidFill>
                          <a:effectLst/>
                        </a:rPr>
                        <a:t>Avantage</a:t>
                      </a:r>
                      <a:endParaRPr lang="es-ES" sz="1600" b="1" dirty="0">
                        <a:solidFill>
                          <a:schemeClr val="tx1"/>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gn="ctr">
                        <a:lnSpc>
                          <a:spcPct val="115000"/>
                        </a:lnSpc>
                        <a:spcBef>
                          <a:spcPts val="300"/>
                        </a:spcBef>
                        <a:spcAft>
                          <a:spcPts val="300"/>
                        </a:spcAft>
                      </a:pPr>
                      <a:r>
                        <a:rPr lang="en-GB" sz="1600" b="1">
                          <a:solidFill>
                            <a:schemeClr val="tx1"/>
                          </a:solidFill>
                          <a:effectLst/>
                        </a:rPr>
                        <a:t>Inconvénient</a:t>
                      </a:r>
                      <a:endParaRPr lang="es-ES" sz="1600" b="1" dirty="0">
                        <a:solidFill>
                          <a:schemeClr val="tx1"/>
                        </a:solidFill>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645985781"/>
                  </a:ext>
                </a:extLst>
              </a:tr>
              <a:tr h="1463313">
                <a:tc>
                  <a:txBody>
                    <a:bodyPr/>
                    <a:lstStyle/>
                    <a:p>
                      <a:pPr marL="71755" marR="6985">
                        <a:lnSpc>
                          <a:spcPct val="115000"/>
                        </a:lnSpc>
                        <a:spcBef>
                          <a:spcPts val="300"/>
                        </a:spcBef>
                        <a:spcAft>
                          <a:spcPts val="300"/>
                        </a:spcAft>
                      </a:pPr>
                      <a:r>
                        <a:rPr lang="en-GB" sz="1400" b="1">
                          <a:effectLst/>
                        </a:rPr>
                        <a:t>Continu</a:t>
                      </a:r>
                      <a:endParaRPr lang="es-ES" sz="1400" b="1"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1400" b="1">
                          <a:effectLst/>
                        </a:rPr>
                        <a:t>Connexion seulement par le bus</a:t>
                      </a:r>
                      <a:endParaRPr lang="es-ES" sz="1400" b="1" dirty="0">
                        <a:effectLst/>
                      </a:endParaRPr>
                    </a:p>
                    <a:p>
                      <a:pPr marL="71755" marR="6985">
                        <a:lnSpc>
                          <a:spcPct val="115000"/>
                        </a:lnSpc>
                        <a:spcBef>
                          <a:spcPts val="300"/>
                        </a:spcBef>
                        <a:spcAft>
                          <a:spcPts val="300"/>
                        </a:spcAft>
                      </a:pPr>
                      <a:r>
                        <a:rPr lang="en-GB" sz="1400" b="1">
                          <a:effectLst/>
                        </a:rPr>
                        <a:t>L'affichage de statut ou la valeur de contrôle peuvent être lues en détail</a:t>
                      </a:r>
                      <a:endParaRPr lang="es-ES" sz="1400" b="1" dirty="0">
                        <a:effectLst/>
                      </a:endParaRPr>
                    </a:p>
                    <a:p>
                      <a:pPr marL="71755" marR="6985">
                        <a:lnSpc>
                          <a:spcPct val="115000"/>
                        </a:lnSpc>
                        <a:spcBef>
                          <a:spcPts val="300"/>
                        </a:spcBef>
                        <a:spcAft>
                          <a:spcPts val="300"/>
                        </a:spcAft>
                      </a:pPr>
                      <a:r>
                        <a:rPr lang="en-GB" sz="1400" b="1">
                          <a:effectLst/>
                        </a:rPr>
                        <a:t>Contrôle très précis</a:t>
                      </a:r>
                      <a:endParaRPr lang="es-ES" sz="1400" b="1"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1400" b="1">
                          <a:effectLst/>
                        </a:rPr>
                        <a:t>Possibilité de contrôler seulement une vanne</a:t>
                      </a:r>
                      <a:endParaRPr lang="es-ES" sz="1400" b="1" dirty="0">
                        <a:effectLst/>
                      </a:endParaRPr>
                    </a:p>
                    <a:p>
                      <a:pPr marL="71755" marR="6985">
                        <a:lnSpc>
                          <a:spcPct val="115000"/>
                        </a:lnSpc>
                        <a:spcAft>
                          <a:spcPts val="300"/>
                        </a:spcAft>
                      </a:pPr>
                      <a:r>
                        <a:rPr lang="en-GB" sz="1400" b="1">
                          <a:effectLst/>
                        </a:rPr>
                        <a:t>Charge de courant plus élevée sur la ligne de bus</a:t>
                      </a:r>
                      <a:endParaRPr lang="es-ES" sz="1400" b="1" dirty="0">
                        <a:effectLst/>
                      </a:endParaRPr>
                    </a:p>
                    <a:p>
                      <a:pPr marL="71755" marR="6985">
                        <a:lnSpc>
                          <a:spcPct val="115000"/>
                        </a:lnSpc>
                        <a:spcAft>
                          <a:spcPts val="300"/>
                        </a:spcAft>
                      </a:pPr>
                      <a:r>
                        <a:rPr lang="en-GB" sz="1400" b="1">
                          <a:effectLst/>
                        </a:rPr>
                        <a:t>Coût élevé</a:t>
                      </a:r>
                      <a:endParaRPr lang="es-ES" sz="1400" b="1" dirty="0">
                        <a:effectLst/>
                        <a:latin typeface="Arial" panose="020B0604020202020204" pitchFamily="34" charset="0"/>
                      </a:endParaRPr>
                    </a:p>
                    <a:p>
                      <a:pPr marL="71755" marR="6985">
                        <a:lnSpc>
                          <a:spcPct val="115000"/>
                        </a:lnSpc>
                        <a:spcAft>
                          <a:spcPts val="300"/>
                        </a:spcAft>
                      </a:pPr>
                      <a:endParaRPr lang="es-ES" sz="1400" b="1" dirty="0">
                        <a:effectLst/>
                      </a:endParaRPr>
                    </a:p>
                  </a:txBody>
                  <a:tcPr marL="44450" marR="44450" marT="0" marB="0"/>
                </a:tc>
                <a:extLst>
                  <a:ext uri="{0D108BD9-81ED-4DB2-BD59-A6C34878D82A}">
                    <a16:rowId xmlns:a16="http://schemas.microsoft.com/office/drawing/2014/main" val="883163922"/>
                  </a:ext>
                </a:extLst>
              </a:tr>
              <a:tr h="2371547">
                <a:tc>
                  <a:txBody>
                    <a:bodyPr/>
                    <a:lstStyle/>
                    <a:p>
                      <a:pPr marL="71755" marR="6985">
                        <a:lnSpc>
                          <a:spcPct val="115000"/>
                        </a:lnSpc>
                        <a:spcBef>
                          <a:spcPts val="300"/>
                        </a:spcBef>
                        <a:spcAft>
                          <a:spcPts val="300"/>
                        </a:spcAft>
                      </a:pPr>
                      <a:r>
                        <a:rPr lang="en-GB" sz="1400" b="1" dirty="0" err="1">
                          <a:effectLst/>
                        </a:rPr>
                        <a:t>Thermoélectrique</a:t>
                      </a:r>
                      <a:endParaRPr lang="es-ES" sz="1400" b="1"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1400" b="1">
                          <a:effectLst/>
                        </a:rPr>
                        <a:t>Affichage de statut</a:t>
                      </a:r>
                      <a:endParaRPr lang="es-ES" sz="1400" b="1" dirty="0">
                        <a:effectLst/>
                      </a:endParaRPr>
                    </a:p>
                    <a:p>
                      <a:pPr marL="71755" marR="6985">
                        <a:lnSpc>
                          <a:spcPct val="115000"/>
                        </a:lnSpc>
                        <a:spcAft>
                          <a:spcPts val="300"/>
                        </a:spcAft>
                      </a:pPr>
                      <a:r>
                        <a:rPr lang="en-GB" sz="1400" b="1">
                          <a:effectLst/>
                        </a:rPr>
                        <a:t>Coût réduit</a:t>
                      </a:r>
                      <a:endParaRPr lang="es-ES" sz="1400" b="1" dirty="0">
                        <a:effectLst/>
                      </a:endParaRPr>
                    </a:p>
                    <a:p>
                      <a:pPr marL="71755" marR="6985">
                        <a:lnSpc>
                          <a:spcPct val="115000"/>
                        </a:lnSpc>
                        <a:spcAft>
                          <a:spcPts val="300"/>
                        </a:spcAft>
                      </a:pPr>
                      <a:r>
                        <a:rPr lang="en-GB" sz="1400" b="1">
                          <a:effectLst/>
                        </a:rPr>
                        <a:t>Pas de charge élevée sur le bus</a:t>
                      </a:r>
                      <a:endParaRPr lang="es-ES" sz="1400" b="1" dirty="0">
                        <a:effectLst/>
                      </a:endParaRPr>
                    </a:p>
                    <a:p>
                      <a:pPr marL="71755" marR="6985">
                        <a:lnSpc>
                          <a:spcPct val="115000"/>
                        </a:lnSpc>
                        <a:spcAft>
                          <a:spcPts val="300"/>
                        </a:spcAft>
                      </a:pPr>
                      <a:r>
                        <a:rPr lang="en-GB" sz="1400" b="1">
                          <a:effectLst/>
                        </a:rPr>
                        <a:t>Plusieurs vannes par canal d'actionneur</a:t>
                      </a:r>
                      <a:endParaRPr lang="es-ES" sz="1400" b="1" dirty="0">
                        <a:effectLst/>
                      </a:endParaRPr>
                    </a:p>
                    <a:p>
                      <a:pPr marL="71755" marR="6985">
                        <a:lnSpc>
                          <a:spcPct val="115000"/>
                        </a:lnSpc>
                        <a:spcAft>
                          <a:spcPts val="300"/>
                        </a:spcAft>
                      </a:pPr>
                      <a:r>
                        <a:rPr lang="en-GB" sz="1400" b="1">
                          <a:effectLst/>
                        </a:rPr>
                        <a:t>Silencieux avec un actionneur électronique </a:t>
                      </a:r>
                      <a:endParaRPr lang="es-ES" sz="1400" b="1"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1400" b="1" dirty="0">
                          <a:effectLst/>
                        </a:rPr>
                        <a:t>Une source </a:t>
                      </a:r>
                      <a:r>
                        <a:rPr lang="en-GB" sz="1400" b="1" dirty="0" err="1">
                          <a:effectLst/>
                        </a:rPr>
                        <a:t>d'alimentation</a:t>
                      </a:r>
                      <a:r>
                        <a:rPr lang="en-GB" sz="1400" b="1" dirty="0">
                          <a:effectLst/>
                        </a:rPr>
                        <a:t> </a:t>
                      </a:r>
                      <a:r>
                        <a:rPr lang="en-GB" sz="1400" b="1" dirty="0" err="1">
                          <a:effectLst/>
                        </a:rPr>
                        <a:t>supplémentaire</a:t>
                      </a:r>
                      <a:r>
                        <a:rPr lang="en-GB" sz="1400" b="1" dirty="0">
                          <a:effectLst/>
                        </a:rPr>
                        <a:t> </a:t>
                      </a:r>
                      <a:r>
                        <a:rPr lang="en-GB" sz="1400" b="1" dirty="0" err="1">
                          <a:effectLst/>
                        </a:rPr>
                        <a:t>est</a:t>
                      </a:r>
                      <a:r>
                        <a:rPr lang="en-GB" sz="1400" b="1" dirty="0">
                          <a:effectLst/>
                        </a:rPr>
                        <a:t> </a:t>
                      </a:r>
                      <a:r>
                        <a:rPr lang="en-GB" sz="1400" b="1" dirty="0" err="1">
                          <a:effectLst/>
                        </a:rPr>
                        <a:t>requise</a:t>
                      </a:r>
                      <a:endParaRPr lang="es-ES" sz="1400" b="1" dirty="0">
                        <a:effectLst/>
                      </a:endParaRPr>
                    </a:p>
                    <a:p>
                      <a:pPr marL="71755" marR="6985">
                        <a:lnSpc>
                          <a:spcPct val="115000"/>
                        </a:lnSpc>
                        <a:spcBef>
                          <a:spcPts val="300"/>
                        </a:spcBef>
                        <a:spcAft>
                          <a:spcPts val="300"/>
                        </a:spcAft>
                      </a:pPr>
                      <a:r>
                        <a:rPr lang="en-GB" sz="1400" b="1" dirty="0" err="1">
                          <a:effectLst/>
                        </a:rPr>
                        <a:t>Coûts</a:t>
                      </a:r>
                      <a:r>
                        <a:rPr lang="en-GB" sz="1400" b="1" dirty="0">
                          <a:effectLst/>
                        </a:rPr>
                        <a:t> </a:t>
                      </a:r>
                      <a:r>
                        <a:rPr lang="en-GB" sz="1400" b="1" dirty="0" err="1">
                          <a:effectLst/>
                        </a:rPr>
                        <a:t>d'installation</a:t>
                      </a:r>
                      <a:r>
                        <a:rPr lang="en-GB" sz="1400" b="1" dirty="0">
                          <a:effectLst/>
                        </a:rPr>
                        <a:t> plus </a:t>
                      </a:r>
                      <a:r>
                        <a:rPr lang="en-GB" sz="1400" b="1" dirty="0" err="1">
                          <a:effectLst/>
                        </a:rPr>
                        <a:t>élevés</a:t>
                      </a:r>
                      <a:endParaRPr lang="es-ES" sz="1400" b="1" dirty="0">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3003841829"/>
                  </a:ext>
                </a:extLst>
              </a:tr>
            </a:tbl>
          </a:graphicData>
        </a:graphic>
      </p:graphicFrame>
    </p:spTree>
    <p:extLst>
      <p:ext uri="{BB962C8B-B14F-4D97-AF65-F5344CB8AC3E}">
        <p14:creationId xmlns:p14="http://schemas.microsoft.com/office/powerpoint/2010/main" val="16827907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Autres éléments</a:t>
            </a:r>
            <a:endParaRPr lang="en-GB" dirty="0"/>
          </a:p>
        </p:txBody>
      </p:sp>
      <p:graphicFrame>
        <p:nvGraphicFramePr>
          <p:cNvPr id="4" name="Table 3">
            <a:extLst>
              <a:ext uri="{FF2B5EF4-FFF2-40B4-BE49-F238E27FC236}">
                <a16:creationId xmlns:a16="http://schemas.microsoft.com/office/drawing/2014/main" id="{530B2961-DD7D-461E-879D-983CDCB9C008}"/>
              </a:ext>
            </a:extLst>
          </p:cNvPr>
          <p:cNvGraphicFramePr>
            <a:graphicFrameLocks noGrp="1"/>
          </p:cNvGraphicFramePr>
          <p:nvPr/>
        </p:nvGraphicFramePr>
        <p:xfrm>
          <a:off x="1043608" y="1844824"/>
          <a:ext cx="7200280" cy="3600399"/>
        </p:xfrm>
        <a:graphic>
          <a:graphicData uri="http://schemas.openxmlformats.org/drawingml/2006/table">
            <a:tbl>
              <a:tblPr>
                <a:tableStyleId>{5C22544A-7EE6-4342-B048-85BDC9FD1C3A}</a:tableStyleId>
              </a:tblPr>
              <a:tblGrid>
                <a:gridCol w="3096344">
                  <a:extLst>
                    <a:ext uri="{9D8B030D-6E8A-4147-A177-3AD203B41FA5}">
                      <a16:colId xmlns:a16="http://schemas.microsoft.com/office/drawing/2014/main" val="1883890337"/>
                    </a:ext>
                  </a:extLst>
                </a:gridCol>
                <a:gridCol w="4103936">
                  <a:extLst>
                    <a:ext uri="{9D8B030D-6E8A-4147-A177-3AD203B41FA5}">
                      <a16:colId xmlns:a16="http://schemas.microsoft.com/office/drawing/2014/main" val="1276700836"/>
                    </a:ext>
                  </a:extLst>
                </a:gridCol>
              </a:tblGrid>
              <a:tr h="388008">
                <a:tc>
                  <a:txBody>
                    <a:bodyPr/>
                    <a:lstStyle/>
                    <a:p>
                      <a:pPr marL="71755" marR="6985" algn="ctr">
                        <a:lnSpc>
                          <a:spcPct val="115000"/>
                        </a:lnSpc>
                        <a:spcBef>
                          <a:spcPts val="300"/>
                        </a:spcBef>
                        <a:spcAft>
                          <a:spcPts val="300"/>
                        </a:spcAft>
                      </a:pPr>
                      <a:r>
                        <a:rPr lang="en-GB" sz="1600" b="1" dirty="0" err="1">
                          <a:effectLst/>
                        </a:rPr>
                        <a:t>Élément</a:t>
                      </a:r>
                      <a:endParaRPr lang="es-ES" sz="1600" b="1"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gn="ctr">
                        <a:lnSpc>
                          <a:spcPct val="115000"/>
                        </a:lnSpc>
                        <a:spcBef>
                          <a:spcPts val="300"/>
                        </a:spcBef>
                        <a:spcAft>
                          <a:spcPts val="300"/>
                        </a:spcAft>
                      </a:pPr>
                      <a:r>
                        <a:rPr lang="en-GB" sz="1600" b="1">
                          <a:effectLst/>
                        </a:rPr>
                        <a:t>Effet (par exemple)</a:t>
                      </a:r>
                      <a:endParaRPr lang="es-ES" sz="1600" b="1" dirty="0">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397338103"/>
                  </a:ext>
                </a:extLst>
              </a:tr>
              <a:tr h="812125">
                <a:tc>
                  <a:txBody>
                    <a:bodyPr/>
                    <a:lstStyle/>
                    <a:p>
                      <a:pPr marL="71755" marR="6985">
                        <a:lnSpc>
                          <a:spcPct val="115000"/>
                        </a:lnSpc>
                        <a:spcBef>
                          <a:spcPts val="300"/>
                        </a:spcBef>
                        <a:spcAft>
                          <a:spcPts val="300"/>
                        </a:spcAft>
                      </a:pPr>
                      <a:r>
                        <a:rPr lang="en-GB" sz="1400" b="1">
                          <a:effectLst/>
                        </a:rPr>
                        <a:t>Interrupteur horaire</a:t>
                      </a:r>
                      <a:endParaRPr lang="es-ES" sz="1400" b="1"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1400" b="1">
                          <a:effectLst/>
                        </a:rPr>
                        <a:t>Contrôle de la durée des modes de fonctionnement du contrôleur</a:t>
                      </a:r>
                      <a:endParaRPr lang="es-ES" sz="1400" b="1" dirty="0">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228564932"/>
                  </a:ext>
                </a:extLst>
              </a:tr>
              <a:tr h="812125">
                <a:tc>
                  <a:txBody>
                    <a:bodyPr/>
                    <a:lstStyle/>
                    <a:p>
                      <a:pPr marL="71755" marR="6985">
                        <a:lnSpc>
                          <a:spcPct val="115000"/>
                        </a:lnSpc>
                        <a:spcBef>
                          <a:spcPts val="300"/>
                        </a:spcBef>
                        <a:spcAft>
                          <a:spcPts val="300"/>
                        </a:spcAft>
                      </a:pPr>
                      <a:r>
                        <a:rPr lang="en-GB" sz="1400" b="1">
                          <a:effectLst/>
                        </a:rPr>
                        <a:t>Contacts de fenêtre par une entrée binaire ou une interface bouton-poussoir</a:t>
                      </a:r>
                      <a:endParaRPr lang="es-ES" sz="1400" b="1"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1400" b="1">
                          <a:effectLst/>
                        </a:rPr>
                        <a:t>Contrôle du mode de protection contre le gel</a:t>
                      </a:r>
                      <a:endParaRPr lang="es-ES" sz="1400" b="1" dirty="0">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2954654053"/>
                  </a:ext>
                </a:extLst>
              </a:tr>
              <a:tr h="812125">
                <a:tc>
                  <a:txBody>
                    <a:bodyPr/>
                    <a:lstStyle/>
                    <a:p>
                      <a:pPr marL="71755" marR="6985">
                        <a:lnSpc>
                          <a:spcPct val="115000"/>
                        </a:lnSpc>
                        <a:spcBef>
                          <a:spcPts val="300"/>
                        </a:spcBef>
                        <a:spcAft>
                          <a:spcPts val="300"/>
                        </a:spcAft>
                      </a:pPr>
                      <a:r>
                        <a:rPr lang="en-GB" sz="1400" b="1">
                          <a:effectLst/>
                        </a:rPr>
                        <a:t>Affichage</a:t>
                      </a:r>
                      <a:endParaRPr lang="es-ES" sz="1400" b="1"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1400" b="1">
                          <a:effectLst/>
                        </a:rPr>
                        <a:t>Affichage des valeurs de température et sélection d'une nouvelle température de consigne</a:t>
                      </a:r>
                      <a:endParaRPr lang="es-ES" sz="1400" b="1" dirty="0">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3112040353"/>
                  </a:ext>
                </a:extLst>
              </a:tr>
              <a:tr h="388008">
                <a:tc>
                  <a:txBody>
                    <a:bodyPr/>
                    <a:lstStyle/>
                    <a:p>
                      <a:pPr marL="71755" marR="6985">
                        <a:lnSpc>
                          <a:spcPct val="115000"/>
                        </a:lnSpc>
                        <a:spcBef>
                          <a:spcPts val="300"/>
                        </a:spcBef>
                        <a:spcAft>
                          <a:spcPts val="300"/>
                        </a:spcAft>
                      </a:pPr>
                      <a:r>
                        <a:rPr lang="en-GB" sz="1400" b="1">
                          <a:effectLst/>
                        </a:rPr>
                        <a:t>PIR (détecteur de mouvement)</a:t>
                      </a:r>
                      <a:endParaRPr lang="es-ES" sz="1400" b="1">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1400" b="1">
                          <a:effectLst/>
                        </a:rPr>
                        <a:t>Contrôle du mode confort</a:t>
                      </a:r>
                      <a:endParaRPr lang="es-ES" sz="1400" b="1" dirty="0">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738325111"/>
                  </a:ext>
                </a:extLst>
              </a:tr>
              <a:tr h="388008">
                <a:tc>
                  <a:txBody>
                    <a:bodyPr/>
                    <a:lstStyle/>
                    <a:p>
                      <a:pPr marL="71755" marR="6985">
                        <a:lnSpc>
                          <a:spcPct val="115000"/>
                        </a:lnSpc>
                        <a:spcBef>
                          <a:spcPts val="300"/>
                        </a:spcBef>
                        <a:spcAft>
                          <a:spcPts val="300"/>
                        </a:spcAft>
                      </a:pPr>
                      <a:r>
                        <a:rPr lang="en-GB" sz="1400" b="1">
                          <a:effectLst/>
                        </a:rPr>
                        <a:t>Logique</a:t>
                      </a:r>
                      <a:endParaRPr lang="es-ES" sz="1400" b="1">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1400" b="1" dirty="0">
                          <a:effectLst/>
                        </a:rPr>
                        <a:t>Connexion </a:t>
                      </a:r>
                      <a:r>
                        <a:rPr lang="en-GB" sz="1400" b="1" dirty="0" err="1">
                          <a:effectLst/>
                        </a:rPr>
                        <a:t>logique</a:t>
                      </a:r>
                      <a:r>
                        <a:rPr lang="en-GB" sz="1400" b="1" dirty="0">
                          <a:effectLst/>
                        </a:rPr>
                        <a:t> des </a:t>
                      </a:r>
                      <a:r>
                        <a:rPr lang="en-GB" sz="1400" b="1" dirty="0" err="1">
                          <a:effectLst/>
                        </a:rPr>
                        <a:t>signaux</a:t>
                      </a:r>
                      <a:r>
                        <a:rPr lang="en-GB" sz="1400" b="1" dirty="0">
                          <a:effectLst/>
                        </a:rPr>
                        <a:t> </a:t>
                      </a:r>
                      <a:r>
                        <a:rPr lang="en-GB" sz="1400" b="1" dirty="0" err="1">
                          <a:effectLst/>
                        </a:rPr>
                        <a:t>d'entrée</a:t>
                      </a:r>
                      <a:endParaRPr lang="es-ES" sz="1400" b="1" dirty="0">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2602356997"/>
                  </a:ext>
                </a:extLst>
              </a:tr>
            </a:tbl>
          </a:graphicData>
        </a:graphic>
      </p:graphicFrame>
    </p:spTree>
    <p:extLst>
      <p:ext uri="{BB962C8B-B14F-4D97-AF65-F5344CB8AC3E}">
        <p14:creationId xmlns:p14="http://schemas.microsoft.com/office/powerpoint/2010/main" val="38893663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566A846-6747-4F31-BE9A-C4696402F710}"/>
              </a:ext>
            </a:extLst>
          </p:cNvPr>
          <p:cNvPicPr>
            <a:picLocks noChangeAspect="1"/>
          </p:cNvPicPr>
          <p:nvPr/>
        </p:nvPicPr>
        <p:blipFill>
          <a:blip r:embed="rId3"/>
          <a:stretch>
            <a:fillRect/>
          </a:stretch>
        </p:blipFill>
        <p:spPr>
          <a:xfrm>
            <a:off x="2123728" y="2308987"/>
            <a:ext cx="5616624" cy="4143655"/>
          </a:xfrm>
          <a:prstGeom prst="rect">
            <a:avLst/>
          </a:prstGeom>
        </p:spPr>
      </p:pic>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696223" cy="719138"/>
          </a:xfrm>
        </p:spPr>
        <p:txBody>
          <a:bodyPr/>
          <a:lstStyle/>
          <a:p>
            <a:r>
              <a:rPr lang="en-US"/>
              <a:t>Connexion par une passerelle DDC ou des actionneurs traditionnels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268760"/>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dirty="0" err="1">
                <a:ea typeface="Open Sans" panose="020B0606030504020204" pitchFamily="34" charset="0"/>
                <a:cs typeface="Open Sans" panose="020B0606030504020204" pitchFamily="34" charset="0"/>
              </a:rPr>
              <a:t>Contrôle</a:t>
            </a:r>
            <a:r>
              <a:rPr lang="en-US" sz="2000" kern="0" dirty="0">
                <a:ea typeface="Open Sans" panose="020B0606030504020204" pitchFamily="34" charset="0"/>
                <a:cs typeface="Open Sans" panose="020B0606030504020204" pitchFamily="34" charset="0"/>
              </a:rPr>
              <a:t> numérique direct : </a:t>
            </a:r>
            <a:r>
              <a:rPr lang="en-US" sz="2000" kern="0" dirty="0" err="1">
                <a:solidFill>
                  <a:schemeClr val="tx1"/>
                </a:solidFill>
                <a:ea typeface="Open Sans" panose="020B0606030504020204" pitchFamily="34" charset="0"/>
                <a:cs typeface="Open Sans" panose="020B0606030504020204" pitchFamily="34" charset="0"/>
              </a:rPr>
              <a:t>L'information</a:t>
            </a:r>
            <a:r>
              <a:rPr lang="en-US" sz="2000" kern="0" dirty="0">
                <a:solidFill>
                  <a:schemeClr val="tx1"/>
                </a:solidFill>
                <a:ea typeface="Open Sans" panose="020B0606030504020204" pitchFamily="34" charset="0"/>
                <a:cs typeface="Open Sans" panose="020B0606030504020204" pitchFamily="34" charset="0"/>
              </a:rPr>
              <a:t> </a:t>
            </a:r>
            <a:r>
              <a:rPr lang="en-US" sz="2000" kern="0" dirty="0" err="1">
                <a:solidFill>
                  <a:schemeClr val="tx1"/>
                </a:solidFill>
                <a:ea typeface="Open Sans" panose="020B0606030504020204" pitchFamily="34" charset="0"/>
                <a:cs typeface="Open Sans" panose="020B0606030504020204" pitchFamily="34" charset="0"/>
              </a:rPr>
              <a:t>est</a:t>
            </a:r>
            <a:r>
              <a:rPr lang="en-US" sz="2000" kern="0" dirty="0">
                <a:solidFill>
                  <a:schemeClr val="tx1"/>
                </a:solidFill>
                <a:ea typeface="Open Sans" panose="020B0606030504020204" pitchFamily="34" charset="0"/>
                <a:cs typeface="Open Sans" panose="020B0606030504020204" pitchFamily="34" charset="0"/>
              </a:rPr>
              <a:t> </a:t>
            </a:r>
            <a:r>
              <a:rPr lang="en-US" sz="2000" kern="0" dirty="0" err="1">
                <a:solidFill>
                  <a:schemeClr val="tx1"/>
                </a:solidFill>
                <a:ea typeface="Open Sans" panose="020B0606030504020204" pitchFamily="34" charset="0"/>
                <a:cs typeface="Open Sans" panose="020B0606030504020204" pitchFamily="34" charset="0"/>
              </a:rPr>
              <a:t>convertie</a:t>
            </a:r>
            <a:r>
              <a:rPr lang="en-US" sz="2000" kern="0" dirty="0">
                <a:solidFill>
                  <a:schemeClr val="tx1"/>
                </a:solidFill>
                <a:ea typeface="Open Sans" panose="020B0606030504020204" pitchFamily="34" charset="0"/>
                <a:cs typeface="Open Sans" panose="020B0606030504020204" pitchFamily="34" charset="0"/>
              </a:rPr>
              <a:t> </a:t>
            </a:r>
            <a:r>
              <a:rPr lang="en-US" sz="2000" kern="0" dirty="0" err="1">
                <a:solidFill>
                  <a:schemeClr val="tx1"/>
                </a:solidFill>
                <a:ea typeface="Open Sans" panose="020B0606030504020204" pitchFamily="34" charset="0"/>
                <a:cs typeface="Open Sans" panose="020B0606030504020204" pitchFamily="34" charset="0"/>
              </a:rPr>
              <a:t>en</a:t>
            </a:r>
            <a:r>
              <a:rPr lang="en-US" sz="2000" kern="0" dirty="0">
                <a:solidFill>
                  <a:schemeClr val="tx1"/>
                </a:solidFill>
                <a:ea typeface="Open Sans" panose="020B0606030504020204" pitchFamily="34" charset="0"/>
                <a:cs typeface="Open Sans" panose="020B0606030504020204" pitchFamily="34" charset="0"/>
              </a:rPr>
              <a:t> </a:t>
            </a:r>
            <a:r>
              <a:rPr lang="en-US" sz="2000" kern="0" dirty="0" err="1">
                <a:solidFill>
                  <a:schemeClr val="tx1"/>
                </a:solidFill>
                <a:ea typeface="Open Sans" panose="020B0606030504020204" pitchFamily="34" charset="0"/>
                <a:cs typeface="Open Sans" panose="020B0606030504020204" pitchFamily="34" charset="0"/>
              </a:rPr>
              <a:t>télégramme</a:t>
            </a:r>
            <a:r>
              <a:rPr lang="en-US" sz="2000" kern="0" dirty="0">
                <a:solidFill>
                  <a:schemeClr val="tx1"/>
                </a:solidFill>
                <a:ea typeface="Open Sans" panose="020B0606030504020204" pitchFamily="34" charset="0"/>
                <a:cs typeface="Open Sans" panose="020B0606030504020204" pitchFamily="34" charset="0"/>
              </a:rPr>
              <a:t> KNX par la </a:t>
            </a:r>
            <a:r>
              <a:rPr lang="en-US" sz="2000" kern="0" dirty="0" err="1">
                <a:solidFill>
                  <a:schemeClr val="tx1"/>
                </a:solidFill>
                <a:ea typeface="Open Sans" panose="020B0606030504020204" pitchFamily="34" charset="0"/>
                <a:cs typeface="Open Sans" panose="020B0606030504020204" pitchFamily="34" charset="0"/>
              </a:rPr>
              <a:t>passerelle</a:t>
            </a:r>
            <a:endParaRPr lang="en-US" sz="2000" kern="0" dirty="0">
              <a:solidFill>
                <a:schemeClr val="tx1"/>
              </a:solidFill>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4788864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Connexion par une passerelle KNX</a:t>
            </a:r>
            <a:endParaRPr lang="en-GB" dirty="0"/>
          </a:p>
        </p:txBody>
      </p:sp>
      <p:pic>
        <p:nvPicPr>
          <p:cNvPr id="2" name="Picture 1">
            <a:extLst>
              <a:ext uri="{FF2B5EF4-FFF2-40B4-BE49-F238E27FC236}">
                <a16:creationId xmlns:a16="http://schemas.microsoft.com/office/drawing/2014/main" id="{F70867DE-9594-416E-8646-7C10AEF0DD5E}"/>
              </a:ext>
            </a:extLst>
          </p:cNvPr>
          <p:cNvPicPr>
            <a:picLocks noChangeAspect="1"/>
          </p:cNvPicPr>
          <p:nvPr/>
        </p:nvPicPr>
        <p:blipFill>
          <a:blip r:embed="rId3"/>
          <a:stretch>
            <a:fillRect/>
          </a:stretch>
        </p:blipFill>
        <p:spPr>
          <a:xfrm>
            <a:off x="1063618" y="1482648"/>
            <a:ext cx="7016763" cy="4893153"/>
          </a:xfrm>
          <a:prstGeom prst="rect">
            <a:avLst/>
          </a:prstGeom>
        </p:spPr>
      </p:pic>
    </p:spTree>
    <p:extLst>
      <p:ext uri="{BB962C8B-B14F-4D97-AF65-F5344CB8AC3E}">
        <p14:creationId xmlns:p14="http://schemas.microsoft.com/office/powerpoint/2010/main" val="13704754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connexion par une passerelle KNX</a:t>
            </a:r>
            <a:endParaRPr lang="en-GB" dirty="0"/>
          </a:p>
        </p:txBody>
      </p:sp>
      <p:pic>
        <p:nvPicPr>
          <p:cNvPr id="4" name="Picture 3">
            <a:extLst>
              <a:ext uri="{FF2B5EF4-FFF2-40B4-BE49-F238E27FC236}">
                <a16:creationId xmlns:a16="http://schemas.microsoft.com/office/drawing/2014/main" id="{652817F7-5DED-4729-BE41-A58CC7B63610}"/>
              </a:ext>
            </a:extLst>
          </p:cNvPr>
          <p:cNvPicPr>
            <a:picLocks noChangeAspect="1"/>
          </p:cNvPicPr>
          <p:nvPr/>
        </p:nvPicPr>
        <p:blipFill>
          <a:blip r:embed="rId3"/>
          <a:stretch>
            <a:fillRect/>
          </a:stretch>
        </p:blipFill>
        <p:spPr>
          <a:xfrm>
            <a:off x="1090180" y="1556792"/>
            <a:ext cx="6937683" cy="4680942"/>
          </a:xfrm>
          <a:prstGeom prst="rect">
            <a:avLst/>
          </a:prstGeom>
        </p:spPr>
      </p:pic>
    </p:spTree>
    <p:extLst>
      <p:ext uri="{BB962C8B-B14F-4D97-AF65-F5344CB8AC3E}">
        <p14:creationId xmlns:p14="http://schemas.microsoft.com/office/powerpoint/2010/main" val="32508925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3598"/>
            <a:ext cx="6696223" cy="719138"/>
          </a:xfrm>
        </p:spPr>
        <p:txBody>
          <a:bodyPr/>
          <a:lstStyle/>
          <a:p>
            <a:r>
              <a:rPr lang="en-US"/>
              <a:t>Connexion par un contrôleur externe de chauffage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a:solidFill>
                  <a:schemeClr val="tx1"/>
                </a:solidFill>
                <a:ea typeface="Open Sans" panose="020B0606030504020204" pitchFamily="34" charset="0"/>
                <a:cs typeface="Open Sans" panose="020B0606030504020204" pitchFamily="34" charset="0"/>
              </a:rPr>
              <a:t>Chauffage via une unité centrale + Capteurs KNX</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2" name="Picture 1">
            <a:extLst>
              <a:ext uri="{FF2B5EF4-FFF2-40B4-BE49-F238E27FC236}">
                <a16:creationId xmlns:a16="http://schemas.microsoft.com/office/drawing/2014/main" id="{7CDC4C79-8BAC-491A-B182-07F307274B34}"/>
              </a:ext>
            </a:extLst>
          </p:cNvPr>
          <p:cNvPicPr>
            <a:picLocks noChangeAspect="1"/>
          </p:cNvPicPr>
          <p:nvPr/>
        </p:nvPicPr>
        <p:blipFill>
          <a:blip r:embed="rId3"/>
          <a:stretch>
            <a:fillRect/>
          </a:stretch>
        </p:blipFill>
        <p:spPr>
          <a:xfrm>
            <a:off x="1079872" y="2138591"/>
            <a:ext cx="6984256" cy="4314051"/>
          </a:xfrm>
          <a:prstGeom prst="rect">
            <a:avLst/>
          </a:prstGeom>
        </p:spPr>
      </p:pic>
    </p:spTree>
    <p:extLst>
      <p:ext uri="{BB962C8B-B14F-4D97-AF65-F5344CB8AC3E}">
        <p14:creationId xmlns:p14="http://schemas.microsoft.com/office/powerpoint/2010/main" val="6342877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260648"/>
            <a:ext cx="6696223" cy="719138"/>
          </a:xfrm>
        </p:spPr>
        <p:txBody>
          <a:bodyPr/>
          <a:lstStyle/>
          <a:p>
            <a:r>
              <a:rPr lang="en-US"/>
              <a:t>connexion par un contrôleur central externe, en utilisant le mode LTE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340768"/>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err="1">
                <a:solidFill>
                  <a:schemeClr val="tx1"/>
                </a:solidFill>
                <a:ea typeface="Open Sans" panose="020B0606030504020204" pitchFamily="34" charset="0"/>
                <a:cs typeface="Open Sans" panose="020B0606030504020204" pitchFamily="34" charset="0"/>
              </a:rPr>
              <a:t>Chauffage</a:t>
            </a:r>
            <a:r>
              <a:rPr lang="en-US" sz="2000" kern="0" dirty="0">
                <a:solidFill>
                  <a:schemeClr val="tx1"/>
                </a:solidFill>
                <a:ea typeface="Open Sans" panose="020B0606030504020204" pitchFamily="34" charset="0"/>
                <a:cs typeface="Open Sans" panose="020B0606030504020204" pitchFamily="34" charset="0"/>
              </a:rPr>
              <a:t> via </a:t>
            </a:r>
            <a:r>
              <a:rPr lang="en-US" sz="2000" kern="0" dirty="0" err="1">
                <a:solidFill>
                  <a:schemeClr val="tx1"/>
                </a:solidFill>
                <a:ea typeface="Open Sans" panose="020B0606030504020204" pitchFamily="34" charset="0"/>
                <a:cs typeface="Open Sans" panose="020B0606030504020204" pitchFamily="34" charset="0"/>
              </a:rPr>
              <a:t>une</a:t>
            </a:r>
            <a:r>
              <a:rPr lang="en-US" sz="2000" kern="0" dirty="0">
                <a:solidFill>
                  <a:schemeClr val="tx1"/>
                </a:solidFill>
                <a:ea typeface="Open Sans" panose="020B0606030504020204" pitchFamily="34" charset="0"/>
                <a:cs typeface="Open Sans" panose="020B0606030504020204" pitchFamily="34" charset="0"/>
              </a:rPr>
              <a:t> </a:t>
            </a:r>
            <a:r>
              <a:rPr lang="en-US" sz="2000" kern="0" dirty="0" err="1">
                <a:solidFill>
                  <a:schemeClr val="tx1"/>
                </a:solidFill>
                <a:ea typeface="Open Sans" panose="020B0606030504020204" pitchFamily="34" charset="0"/>
                <a:cs typeface="Open Sans" panose="020B0606030504020204" pitchFamily="34" charset="0"/>
              </a:rPr>
              <a:t>unité</a:t>
            </a:r>
            <a:r>
              <a:rPr lang="en-US" sz="2000" kern="0" dirty="0">
                <a:solidFill>
                  <a:schemeClr val="tx1"/>
                </a:solidFill>
                <a:ea typeface="Open Sans" panose="020B0606030504020204" pitchFamily="34" charset="0"/>
                <a:cs typeface="Open Sans" panose="020B0606030504020204" pitchFamily="34" charset="0"/>
              </a:rPr>
              <a:t> centrale + </a:t>
            </a:r>
            <a:r>
              <a:rPr lang="en-US" sz="2000" kern="0" dirty="0" err="1">
                <a:solidFill>
                  <a:schemeClr val="tx1"/>
                </a:solidFill>
                <a:ea typeface="Open Sans" panose="020B0606030504020204" pitchFamily="34" charset="0"/>
                <a:cs typeface="Open Sans" panose="020B0606030504020204" pitchFamily="34" charset="0"/>
              </a:rPr>
              <a:t>capteurs</a:t>
            </a:r>
            <a:r>
              <a:rPr lang="en-US" sz="2000" kern="0" dirty="0">
                <a:solidFill>
                  <a:schemeClr val="tx1"/>
                </a:solidFill>
                <a:ea typeface="Open Sans" panose="020B0606030504020204" pitchFamily="34" charset="0"/>
                <a:cs typeface="Open Sans" panose="020B0606030504020204" pitchFamily="34" charset="0"/>
              </a:rPr>
              <a:t> KNX LTE</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2" name="Picture 1">
            <a:extLst>
              <a:ext uri="{FF2B5EF4-FFF2-40B4-BE49-F238E27FC236}">
                <a16:creationId xmlns:a16="http://schemas.microsoft.com/office/drawing/2014/main" id="{EDF0D051-E00D-45E5-8680-564684B00783}"/>
              </a:ext>
            </a:extLst>
          </p:cNvPr>
          <p:cNvPicPr>
            <a:picLocks noChangeAspect="1"/>
          </p:cNvPicPr>
          <p:nvPr/>
        </p:nvPicPr>
        <p:blipFill>
          <a:blip r:embed="rId3"/>
          <a:stretch>
            <a:fillRect/>
          </a:stretch>
        </p:blipFill>
        <p:spPr>
          <a:xfrm>
            <a:off x="1154750" y="2155312"/>
            <a:ext cx="6834499" cy="4297330"/>
          </a:xfrm>
          <a:prstGeom prst="rect">
            <a:avLst/>
          </a:prstGeom>
        </p:spPr>
      </p:pic>
    </p:spTree>
    <p:extLst>
      <p:ext uri="{BB962C8B-B14F-4D97-AF65-F5344CB8AC3E}">
        <p14:creationId xmlns:p14="http://schemas.microsoft.com/office/powerpoint/2010/main" val="28150453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 ventilo-convecteur</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19675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a:solidFill>
                  <a:schemeClr val="tx1"/>
                </a:solidFill>
                <a:ea typeface="Open Sans" panose="020B0606030504020204" pitchFamily="34" charset="0"/>
                <a:cs typeface="Open Sans" panose="020B0606030504020204" pitchFamily="34" charset="0"/>
              </a:rPr>
              <a:t>Convecteur souffleur, généralement utilisé pour les salles de refroidissement (également le chauffage et la ventilation)</a:t>
            </a:r>
          </a:p>
          <a:p>
            <a:pPr>
              <a:lnSpc>
                <a:spcPct val="150000"/>
              </a:lnSpc>
              <a:defRPr/>
            </a:pPr>
            <a:r>
              <a:rPr lang="en-GB" sz="1800">
                <a:solidFill>
                  <a:schemeClr val="tx1"/>
                </a:solidFill>
                <a:latin typeface="Arial" charset="0"/>
              </a:rPr>
              <a:t>Contient une batterie de chauffage ou de refroidissement (bobine) et un ventilateur</a:t>
            </a:r>
            <a:endParaRPr lang="en-US" sz="18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2" name="Picture 1">
            <a:extLst>
              <a:ext uri="{FF2B5EF4-FFF2-40B4-BE49-F238E27FC236}">
                <a16:creationId xmlns:a16="http://schemas.microsoft.com/office/drawing/2014/main" id="{F75DB5A7-01CA-4D5D-851B-5F5816C8BAAC}"/>
              </a:ext>
            </a:extLst>
          </p:cNvPr>
          <p:cNvPicPr>
            <a:picLocks noChangeAspect="1"/>
          </p:cNvPicPr>
          <p:nvPr/>
        </p:nvPicPr>
        <p:blipFill>
          <a:blip r:embed="rId3"/>
          <a:stretch>
            <a:fillRect/>
          </a:stretch>
        </p:blipFill>
        <p:spPr>
          <a:xfrm>
            <a:off x="2174948" y="3112856"/>
            <a:ext cx="6357492" cy="3361883"/>
          </a:xfrm>
          <a:prstGeom prst="rect">
            <a:avLst/>
          </a:prstGeom>
        </p:spPr>
      </p:pic>
      <p:sp>
        <p:nvSpPr>
          <p:cNvPr id="4" name="Rectangle 3">
            <a:extLst>
              <a:ext uri="{FF2B5EF4-FFF2-40B4-BE49-F238E27FC236}">
                <a16:creationId xmlns:a16="http://schemas.microsoft.com/office/drawing/2014/main" id="{EBFE843F-E5D4-4F6B-8D52-5BAC2C356AFC}"/>
              </a:ext>
            </a:extLst>
          </p:cNvPr>
          <p:cNvSpPr/>
          <p:nvPr/>
        </p:nvSpPr>
        <p:spPr>
          <a:xfrm>
            <a:off x="323528" y="5719952"/>
            <a:ext cx="2322959" cy="646331"/>
          </a:xfrm>
          <a:prstGeom prst="rect">
            <a:avLst/>
          </a:prstGeom>
        </p:spPr>
        <p:txBody>
          <a:bodyPr wrap="square">
            <a:spAutoFit/>
          </a:bodyPr>
          <a:lstStyle/>
          <a:p>
            <a:r>
              <a:rPr lang="en-GB" b="1" dirty="0" err="1"/>
              <a:t>schéma</a:t>
            </a:r>
            <a:r>
              <a:rPr lang="en-GB" b="1" dirty="0"/>
              <a:t> d'un </a:t>
            </a:r>
            <a:r>
              <a:rPr lang="en-GB" b="1" dirty="0" err="1"/>
              <a:t>ventilo-convecteur</a:t>
            </a:r>
            <a:endParaRPr lang="es-ES" dirty="0"/>
          </a:p>
        </p:txBody>
      </p:sp>
    </p:spTree>
    <p:extLst>
      <p:ext uri="{BB962C8B-B14F-4D97-AF65-F5344CB8AC3E}">
        <p14:creationId xmlns:p14="http://schemas.microsoft.com/office/powerpoint/2010/main" val="36680917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260648"/>
            <a:ext cx="6696223" cy="719138"/>
          </a:xfrm>
        </p:spPr>
        <p:txBody>
          <a:bodyPr/>
          <a:lstStyle/>
          <a:p>
            <a:r>
              <a:rPr lang="en-US" dirty="0"/>
              <a:t>Structure technique de la </a:t>
            </a:r>
            <a:r>
              <a:rPr lang="en-US" dirty="0" err="1"/>
              <a:t>bobine</a:t>
            </a:r>
            <a:r>
              <a:rPr lang="en-US" dirty="0"/>
              <a:t> de </a:t>
            </a:r>
            <a:r>
              <a:rPr lang="en-US" dirty="0" err="1"/>
              <a:t>ventilateur</a:t>
            </a:r>
            <a:endParaRPr lang="en-GB" dirty="0"/>
          </a:p>
        </p:txBody>
      </p:sp>
      <p:pic>
        <p:nvPicPr>
          <p:cNvPr id="12" name="Picture 11">
            <a:extLst>
              <a:ext uri="{FF2B5EF4-FFF2-40B4-BE49-F238E27FC236}">
                <a16:creationId xmlns:a16="http://schemas.microsoft.com/office/drawing/2014/main" id="{F7723F8A-0CC3-4069-8BC2-93612E01EF2D}"/>
              </a:ext>
            </a:extLst>
          </p:cNvPr>
          <p:cNvPicPr>
            <a:picLocks noChangeAspect="1"/>
          </p:cNvPicPr>
          <p:nvPr/>
        </p:nvPicPr>
        <p:blipFill>
          <a:blip r:embed="rId3"/>
          <a:stretch>
            <a:fillRect/>
          </a:stretch>
        </p:blipFill>
        <p:spPr>
          <a:xfrm>
            <a:off x="1115616" y="1474116"/>
            <a:ext cx="6696223" cy="4928070"/>
          </a:xfrm>
          <a:prstGeom prst="rect">
            <a:avLst/>
          </a:prstGeom>
        </p:spPr>
      </p:pic>
    </p:spTree>
    <p:extLst>
      <p:ext uri="{BB962C8B-B14F-4D97-AF65-F5344CB8AC3E}">
        <p14:creationId xmlns:p14="http://schemas.microsoft.com/office/powerpoint/2010/main" val="30850277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188640"/>
            <a:ext cx="6696223" cy="719138"/>
          </a:xfrm>
        </p:spPr>
        <p:txBody>
          <a:bodyPr/>
          <a:lstStyle/>
          <a:p>
            <a:r>
              <a:rPr lang="en-US" dirty="0" err="1"/>
              <a:t>Variantes</a:t>
            </a:r>
            <a:r>
              <a:rPr lang="en-US" dirty="0"/>
              <a:t> de conception de </a:t>
            </a:r>
            <a:r>
              <a:rPr lang="en-US" dirty="0" err="1"/>
              <a:t>bobines</a:t>
            </a:r>
            <a:r>
              <a:rPr lang="en-US" dirty="0"/>
              <a:t> de </a:t>
            </a:r>
            <a:r>
              <a:rPr lang="en-US" dirty="0" err="1"/>
              <a:t>ventilateur</a:t>
            </a:r>
            <a:endParaRPr lang="en-GB" dirty="0"/>
          </a:p>
        </p:txBody>
      </p:sp>
      <p:pic>
        <p:nvPicPr>
          <p:cNvPr id="2" name="Picture 1">
            <a:extLst>
              <a:ext uri="{FF2B5EF4-FFF2-40B4-BE49-F238E27FC236}">
                <a16:creationId xmlns:a16="http://schemas.microsoft.com/office/drawing/2014/main" id="{7CDFF2A5-ECB0-41C7-944D-D409E393ADAF}"/>
              </a:ext>
            </a:extLst>
          </p:cNvPr>
          <p:cNvPicPr>
            <a:picLocks noChangeAspect="1"/>
          </p:cNvPicPr>
          <p:nvPr/>
        </p:nvPicPr>
        <p:blipFill>
          <a:blip r:embed="rId3"/>
          <a:stretch>
            <a:fillRect/>
          </a:stretch>
        </p:blipFill>
        <p:spPr>
          <a:xfrm>
            <a:off x="902473" y="1700808"/>
            <a:ext cx="2133333" cy="3714286"/>
          </a:xfrm>
          <a:prstGeom prst="rect">
            <a:avLst/>
          </a:prstGeom>
        </p:spPr>
      </p:pic>
      <p:pic>
        <p:nvPicPr>
          <p:cNvPr id="24578" name="Picture 2" descr="Schema Fan Coil 3 Rohr">
            <a:extLst>
              <a:ext uri="{FF2B5EF4-FFF2-40B4-BE49-F238E27FC236}">
                <a16:creationId xmlns:a16="http://schemas.microsoft.com/office/drawing/2014/main" id="{1E018E0C-2E67-4FA3-9F2E-163C5921D5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1175" y="1700808"/>
            <a:ext cx="2133600" cy="369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79" name="Picture 3" descr="Schema Fan Coil 2 Rohr">
            <a:extLst>
              <a:ext uri="{FF2B5EF4-FFF2-40B4-BE49-F238E27FC236}">
                <a16:creationId xmlns:a16="http://schemas.microsoft.com/office/drawing/2014/main" id="{C822A219-3B0C-4B71-BC90-2545C8279A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07927" y="1700809"/>
            <a:ext cx="2133600" cy="3720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2C05557D-4145-4E4B-9EF9-A9D7427144FD}"/>
              </a:ext>
            </a:extLst>
          </p:cNvPr>
          <p:cNvSpPr/>
          <p:nvPr/>
        </p:nvSpPr>
        <p:spPr>
          <a:xfrm>
            <a:off x="971600" y="5651956"/>
            <a:ext cx="1893467" cy="400110"/>
          </a:xfrm>
          <a:prstGeom prst="rect">
            <a:avLst/>
          </a:prstGeom>
        </p:spPr>
        <p:txBody>
          <a:bodyPr wrap="none">
            <a:spAutoFit/>
          </a:bodyPr>
          <a:lstStyle/>
          <a:p>
            <a:r>
              <a:rPr lang="es-ES" sz="2000" b="1"/>
              <a:t>système à 4 tubes </a:t>
            </a:r>
          </a:p>
        </p:txBody>
      </p:sp>
      <p:sp>
        <p:nvSpPr>
          <p:cNvPr id="8" name="Rectangle 7">
            <a:extLst>
              <a:ext uri="{FF2B5EF4-FFF2-40B4-BE49-F238E27FC236}">
                <a16:creationId xmlns:a16="http://schemas.microsoft.com/office/drawing/2014/main" id="{1E528C66-4CBE-4BFD-9121-3C13CE063DBC}"/>
              </a:ext>
            </a:extLst>
          </p:cNvPr>
          <p:cNvSpPr/>
          <p:nvPr/>
        </p:nvSpPr>
        <p:spPr>
          <a:xfrm>
            <a:off x="3563888" y="5651956"/>
            <a:ext cx="1893467" cy="400110"/>
          </a:xfrm>
          <a:prstGeom prst="rect">
            <a:avLst/>
          </a:prstGeom>
        </p:spPr>
        <p:txBody>
          <a:bodyPr wrap="none">
            <a:spAutoFit/>
          </a:bodyPr>
          <a:lstStyle/>
          <a:p>
            <a:r>
              <a:rPr lang="es-ES" sz="2000" b="1"/>
              <a:t>système de 3 tubes </a:t>
            </a:r>
          </a:p>
        </p:txBody>
      </p:sp>
      <p:sp>
        <p:nvSpPr>
          <p:cNvPr id="10" name="Rectangle 9">
            <a:extLst>
              <a:ext uri="{FF2B5EF4-FFF2-40B4-BE49-F238E27FC236}">
                <a16:creationId xmlns:a16="http://schemas.microsoft.com/office/drawing/2014/main" id="{23A7AAD6-62DB-4134-B4DD-4D8C3E0EED39}"/>
              </a:ext>
            </a:extLst>
          </p:cNvPr>
          <p:cNvSpPr/>
          <p:nvPr/>
        </p:nvSpPr>
        <p:spPr>
          <a:xfrm>
            <a:off x="6228184" y="5651956"/>
            <a:ext cx="1893467" cy="400110"/>
          </a:xfrm>
          <a:prstGeom prst="rect">
            <a:avLst/>
          </a:prstGeom>
        </p:spPr>
        <p:txBody>
          <a:bodyPr wrap="none">
            <a:spAutoFit/>
          </a:bodyPr>
          <a:lstStyle/>
          <a:p>
            <a:r>
              <a:rPr lang="es-ES" sz="2000" b="1"/>
              <a:t>système à 2 tubes </a:t>
            </a:r>
          </a:p>
        </p:txBody>
      </p:sp>
    </p:spTree>
    <p:extLst>
      <p:ext uri="{BB962C8B-B14F-4D97-AF65-F5344CB8AC3E}">
        <p14:creationId xmlns:p14="http://schemas.microsoft.com/office/powerpoint/2010/main" val="2967032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Intégration KNX </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19675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600" kern="0" dirty="0">
                <a:solidFill>
                  <a:schemeClr val="tx1"/>
                </a:solidFill>
                <a:ea typeface="Open Sans" panose="020B0606030504020204" pitchFamily="34" charset="0"/>
                <a:cs typeface="Open Sans" panose="020B0606030504020204" pitchFamily="34" charset="0"/>
              </a:rPr>
              <a:t>Comme les </a:t>
            </a:r>
            <a:r>
              <a:rPr lang="en-US" sz="1600" kern="0" dirty="0" err="1">
                <a:solidFill>
                  <a:schemeClr val="tx1"/>
                </a:solidFill>
                <a:ea typeface="Open Sans" panose="020B0606030504020204" pitchFamily="34" charset="0"/>
                <a:cs typeface="Open Sans" panose="020B0606030504020204" pitchFamily="34" charset="0"/>
              </a:rPr>
              <a:t>unités</a:t>
            </a:r>
            <a:r>
              <a:rPr lang="en-US" sz="1600" kern="0" dirty="0">
                <a:solidFill>
                  <a:schemeClr val="tx1"/>
                </a:solidFill>
                <a:ea typeface="Open Sans" panose="020B0606030504020204" pitchFamily="34" charset="0"/>
                <a:cs typeface="Open Sans" panose="020B0606030504020204" pitchFamily="34" charset="0"/>
              </a:rPr>
              <a:t> de </a:t>
            </a:r>
            <a:r>
              <a:rPr lang="en-US" sz="1600" kern="0" dirty="0" err="1">
                <a:solidFill>
                  <a:schemeClr val="tx1"/>
                </a:solidFill>
                <a:ea typeface="Open Sans" panose="020B0606030504020204" pitchFamily="34" charset="0"/>
                <a:cs typeface="Open Sans" panose="020B0606030504020204" pitchFamily="34" charset="0"/>
              </a:rPr>
              <a:t>ventilo-convecteur</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n'ont</a:t>
            </a:r>
            <a:r>
              <a:rPr lang="en-US" sz="1600" kern="0" dirty="0">
                <a:solidFill>
                  <a:schemeClr val="tx1"/>
                </a:solidFill>
                <a:ea typeface="Open Sans" panose="020B0606030504020204" pitchFamily="34" charset="0"/>
                <a:cs typeface="Open Sans" panose="020B0606030504020204" pitchFamily="34" charset="0"/>
              </a:rPr>
              <a:t> pas </a:t>
            </a:r>
            <a:r>
              <a:rPr lang="en-US" sz="1600" kern="0" dirty="0" err="1">
                <a:solidFill>
                  <a:schemeClr val="tx1"/>
                </a:solidFill>
                <a:ea typeface="Open Sans" panose="020B0606030504020204" pitchFamily="34" charset="0"/>
                <a:cs typeface="Open Sans" panose="020B0606030504020204" pitchFamily="34" charset="0"/>
              </a:rPr>
              <a:t>d'interface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intégrée</a:t>
            </a:r>
            <a:r>
              <a:rPr lang="en-US" sz="1600" kern="0" dirty="0">
                <a:solidFill>
                  <a:schemeClr val="tx1"/>
                </a:solidFill>
                <a:ea typeface="Open Sans" panose="020B0606030504020204" pitchFamily="34" charset="0"/>
                <a:cs typeface="Open Sans" panose="020B0606030504020204" pitchFamily="34" charset="0"/>
              </a:rPr>
              <a:t> KNX, </a:t>
            </a:r>
            <a:r>
              <a:rPr lang="en-US" sz="1600" kern="0" dirty="0" err="1">
                <a:solidFill>
                  <a:schemeClr val="tx1"/>
                </a:solidFill>
                <a:ea typeface="Open Sans" panose="020B0606030504020204" pitchFamily="34" charset="0"/>
                <a:cs typeface="Open Sans" panose="020B0606030504020204" pitchFamily="34" charset="0"/>
              </a:rPr>
              <a:t>chaque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unité</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nécessite</a:t>
            </a:r>
            <a:r>
              <a:rPr lang="en-US" sz="1600" kern="0" dirty="0">
                <a:solidFill>
                  <a:schemeClr val="tx1"/>
                </a:solidFill>
                <a:ea typeface="Open Sans" panose="020B0606030504020204" pitchFamily="34" charset="0"/>
                <a:cs typeface="Open Sans" panose="020B0606030504020204" pitchFamily="34" charset="0"/>
              </a:rPr>
              <a:t> un </a:t>
            </a:r>
            <a:r>
              <a:rPr lang="en-US" sz="1600" kern="0" dirty="0" err="1">
                <a:solidFill>
                  <a:schemeClr val="tx1"/>
                </a:solidFill>
                <a:ea typeface="Open Sans" panose="020B0606030504020204" pitchFamily="34" charset="0"/>
                <a:cs typeface="Open Sans" panose="020B0606030504020204" pitchFamily="34" charset="0"/>
              </a:rPr>
              <a:t>actionneur</a:t>
            </a:r>
            <a:r>
              <a:rPr lang="en-US" sz="1600" kern="0" dirty="0">
                <a:solidFill>
                  <a:schemeClr val="tx1"/>
                </a:solidFill>
                <a:ea typeface="Open Sans" panose="020B0606030504020204" pitchFamily="34" charset="0"/>
                <a:cs typeface="Open Sans" panose="020B0606030504020204" pitchFamily="34" charset="0"/>
              </a:rPr>
              <a:t> de </a:t>
            </a:r>
            <a:r>
              <a:rPr lang="en-US" sz="1600" kern="0" dirty="0" err="1">
                <a:solidFill>
                  <a:schemeClr val="tx1"/>
                </a:solidFill>
                <a:ea typeface="Open Sans" panose="020B0606030504020204" pitchFamily="34" charset="0"/>
                <a:cs typeface="Open Sans" panose="020B0606030504020204" pitchFamily="34" charset="0"/>
              </a:rPr>
              <a:t>ventilo-convecteur</a:t>
            </a:r>
            <a:r>
              <a:rPr lang="en-US" sz="1600" kern="0" dirty="0">
                <a:solidFill>
                  <a:schemeClr val="tx1"/>
                </a:solidFill>
                <a:ea typeface="Open Sans" panose="020B0606030504020204" pitchFamily="34" charset="0"/>
                <a:cs typeface="Open Sans" panose="020B0606030504020204" pitchFamily="34" charset="0"/>
              </a:rPr>
              <a:t> pour </a:t>
            </a:r>
            <a:r>
              <a:rPr lang="en-US" sz="1600" kern="0" dirty="0" err="1">
                <a:solidFill>
                  <a:schemeClr val="tx1"/>
                </a:solidFill>
                <a:ea typeface="Open Sans" panose="020B0606030504020204" pitchFamily="34" charset="0"/>
                <a:cs typeface="Open Sans" panose="020B0606030504020204" pitchFamily="34" charset="0"/>
              </a:rPr>
              <a:t>être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activée</a:t>
            </a: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600" kern="0" dirty="0" err="1">
                <a:solidFill>
                  <a:schemeClr val="tx1"/>
                </a:solidFill>
                <a:ea typeface="Open Sans" panose="020B0606030504020204" pitchFamily="34" charset="0"/>
                <a:cs typeface="Open Sans" panose="020B0606030504020204" pitchFamily="34" charset="0"/>
              </a:rPr>
              <a:t>Déclenchement</a:t>
            </a:r>
            <a:r>
              <a:rPr lang="en-US" sz="1600" kern="0" dirty="0">
                <a:solidFill>
                  <a:schemeClr val="tx1"/>
                </a:solidFill>
                <a:ea typeface="Open Sans" panose="020B0606030504020204" pitchFamily="34" charset="0"/>
                <a:cs typeface="Open Sans" panose="020B0606030504020204" pitchFamily="34" charset="0"/>
              </a:rPr>
              <a:t> du </a:t>
            </a:r>
            <a:r>
              <a:rPr lang="en-US" sz="1600" kern="0" dirty="0" err="1">
                <a:solidFill>
                  <a:schemeClr val="tx1"/>
                </a:solidFill>
                <a:ea typeface="Open Sans" panose="020B0606030504020204" pitchFamily="34" charset="0"/>
                <a:cs typeface="Open Sans" panose="020B0606030504020204" pitchFamily="34" charset="0"/>
              </a:rPr>
              <a:t>ventilateur</a:t>
            </a:r>
            <a:r>
              <a:rPr lang="en-US" sz="1600" kern="0" dirty="0">
                <a:solidFill>
                  <a:schemeClr val="tx1"/>
                </a:solidFill>
                <a:ea typeface="Open Sans" panose="020B0606030504020204" pitchFamily="34" charset="0"/>
                <a:cs typeface="Open Sans" panose="020B0606030504020204" pitchFamily="34" charset="0"/>
              </a:rPr>
              <a:t> qui </a:t>
            </a:r>
            <a:r>
              <a:rPr lang="en-US" sz="1600" kern="0" dirty="0" err="1">
                <a:solidFill>
                  <a:schemeClr val="tx1"/>
                </a:solidFill>
                <a:ea typeface="Open Sans" panose="020B0606030504020204" pitchFamily="34" charset="0"/>
                <a:cs typeface="Open Sans" panose="020B0606030504020204" pitchFamily="34" charset="0"/>
              </a:rPr>
              <a:t>peut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être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activé</a:t>
            </a:r>
            <a:r>
              <a:rPr lang="en-US" sz="1600" kern="0" dirty="0">
                <a:solidFill>
                  <a:schemeClr val="tx1"/>
                </a:solidFill>
                <a:ea typeface="Open Sans" panose="020B0606030504020204" pitchFamily="34" charset="0"/>
                <a:cs typeface="Open Sans" panose="020B0606030504020204" pitchFamily="34" charset="0"/>
              </a:rPr>
              <a:t> à </a:t>
            </a:r>
            <a:r>
              <a:rPr lang="en-US" sz="1600" kern="0" dirty="0" err="1">
                <a:solidFill>
                  <a:schemeClr val="tx1"/>
                </a:solidFill>
                <a:ea typeface="Open Sans" panose="020B0606030504020204" pitchFamily="34" charset="0"/>
                <a:cs typeface="Open Sans" panose="020B0606030504020204" pitchFamily="34" charset="0"/>
              </a:rPr>
              <a:t>différentes</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vitesses</a:t>
            </a: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600" kern="0" dirty="0">
                <a:solidFill>
                  <a:schemeClr val="tx1"/>
                </a:solidFill>
                <a:ea typeface="Open Sans" panose="020B0606030504020204" pitchFamily="34" charset="0"/>
                <a:cs typeface="Open Sans" panose="020B0606030504020204" pitchFamily="34" charset="0"/>
              </a:rPr>
              <a:t>Les </a:t>
            </a:r>
            <a:r>
              <a:rPr lang="en-US" sz="1600" kern="0" dirty="0" err="1">
                <a:solidFill>
                  <a:schemeClr val="tx1"/>
                </a:solidFill>
                <a:ea typeface="Open Sans" panose="020B0606030504020204" pitchFamily="34" charset="0"/>
                <a:cs typeface="Open Sans" panose="020B0606030504020204" pitchFamily="34" charset="0"/>
              </a:rPr>
              <a:t>ventilateurs</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peuvent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également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être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électrothermiques</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ou</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électromotrices</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ils</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peuvent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être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déclenchés</a:t>
            </a:r>
            <a:r>
              <a:rPr lang="en-US" sz="1600" kern="0" dirty="0">
                <a:solidFill>
                  <a:schemeClr val="tx1"/>
                </a:solidFill>
                <a:ea typeface="Open Sans" panose="020B0606030504020204" pitchFamily="34" charset="0"/>
                <a:cs typeface="Open Sans" panose="020B0606030504020204" pitchFamily="34" charset="0"/>
              </a:rPr>
              <a:t> via la </a:t>
            </a:r>
            <a:r>
              <a:rPr lang="en-US" sz="1600" kern="0" dirty="0" err="1">
                <a:solidFill>
                  <a:schemeClr val="tx1"/>
                </a:solidFill>
                <a:ea typeface="Open Sans" panose="020B0606030504020204" pitchFamily="34" charset="0"/>
                <a:cs typeface="Open Sans" panose="020B0606030504020204" pitchFamily="34" charset="0"/>
              </a:rPr>
              <a:t>commande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en</a:t>
            </a:r>
            <a:r>
              <a:rPr lang="en-US" sz="1600" kern="0" dirty="0">
                <a:solidFill>
                  <a:schemeClr val="tx1"/>
                </a:solidFill>
                <a:ea typeface="Open Sans" panose="020B0606030504020204" pitchFamily="34" charset="0"/>
                <a:cs typeface="Open Sans" panose="020B0606030504020204" pitchFamily="34" charset="0"/>
              </a:rPr>
              <a:t> deux étapes </a:t>
            </a:r>
            <a:r>
              <a:rPr lang="en-US" sz="1600" kern="0" dirty="0" err="1">
                <a:solidFill>
                  <a:schemeClr val="tx1"/>
                </a:solidFill>
                <a:ea typeface="Open Sans" panose="020B0606030504020204" pitchFamily="34" charset="0"/>
                <a:cs typeface="Open Sans" panose="020B0606030504020204" pitchFamily="34" charset="0"/>
              </a:rPr>
              <a:t>ou</a:t>
            </a:r>
            <a:r>
              <a:rPr lang="en-US" sz="1600" kern="0" dirty="0">
                <a:solidFill>
                  <a:schemeClr val="tx1"/>
                </a:solidFill>
                <a:ea typeface="Open Sans" panose="020B0606030504020204" pitchFamily="34" charset="0"/>
                <a:cs typeface="Open Sans" panose="020B0606030504020204" pitchFamily="34" charset="0"/>
              </a:rPr>
              <a:t> via le </a:t>
            </a:r>
            <a:r>
              <a:rPr lang="en-US" sz="1600" kern="0" dirty="0" err="1">
                <a:solidFill>
                  <a:schemeClr val="tx1"/>
                </a:solidFill>
                <a:ea typeface="Open Sans" panose="020B0606030504020204" pitchFamily="34" charset="0"/>
                <a:cs typeface="Open Sans" panose="020B0606030504020204" pitchFamily="34" charset="0"/>
              </a:rPr>
              <a:t>commutateur</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ou</a:t>
            </a:r>
            <a:r>
              <a:rPr lang="en-US" sz="1600" kern="0" dirty="0">
                <a:solidFill>
                  <a:schemeClr val="tx1"/>
                </a:solidFill>
                <a:ea typeface="Open Sans" panose="020B0606030504020204" pitchFamily="34" charset="0"/>
                <a:cs typeface="Open Sans" panose="020B0606030504020204" pitchFamily="34" charset="0"/>
              </a:rPr>
              <a:t> le </a:t>
            </a:r>
            <a:r>
              <a:rPr lang="en-US" sz="1600" kern="0" dirty="0" err="1">
                <a:solidFill>
                  <a:schemeClr val="tx1"/>
                </a:solidFill>
                <a:ea typeface="Open Sans" panose="020B0606030504020204" pitchFamily="34" charset="0"/>
                <a:cs typeface="Open Sans" panose="020B0606030504020204" pitchFamily="34" charset="0"/>
              </a:rPr>
              <a:t>contrôle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continu</a:t>
            </a:r>
            <a:r>
              <a:rPr lang="en-US" sz="1600" kern="0" dirty="0">
                <a:solidFill>
                  <a:schemeClr val="tx1"/>
                </a:solidFill>
                <a:ea typeface="Open Sans" panose="020B0606030504020204" pitchFamily="34" charset="0"/>
                <a:cs typeface="Open Sans" panose="020B0606030504020204" pitchFamily="34" charset="0"/>
              </a:rPr>
              <a:t> des PI</a:t>
            </a:r>
          </a:p>
          <a:p>
            <a:pPr>
              <a:lnSpc>
                <a:spcPct val="150000"/>
              </a:lnSpc>
              <a:defRPr/>
            </a:pPr>
            <a:r>
              <a:rPr lang="en-US" sz="1600" kern="0" dirty="0">
                <a:solidFill>
                  <a:schemeClr val="tx1"/>
                </a:solidFill>
                <a:ea typeface="Open Sans" panose="020B0606030504020204" pitchFamily="34" charset="0"/>
                <a:cs typeface="Open Sans" panose="020B0606030504020204" pitchFamily="34" charset="0"/>
              </a:rPr>
              <a:t>La </a:t>
            </a:r>
            <a:r>
              <a:rPr lang="en-US" sz="1600" kern="0" dirty="0" err="1">
                <a:solidFill>
                  <a:schemeClr val="tx1"/>
                </a:solidFill>
                <a:ea typeface="Open Sans" panose="020B0606030504020204" pitchFamily="34" charset="0"/>
                <a:cs typeface="Open Sans" panose="020B0606030504020204" pitchFamily="34" charset="0"/>
              </a:rPr>
              <a:t>majorité</a:t>
            </a:r>
            <a:r>
              <a:rPr lang="en-US" sz="1600" kern="0" dirty="0">
                <a:solidFill>
                  <a:schemeClr val="tx1"/>
                </a:solidFill>
                <a:ea typeface="Open Sans" panose="020B0606030504020204" pitchFamily="34" charset="0"/>
                <a:cs typeface="Open Sans" panose="020B0606030504020204" pitchFamily="34" charset="0"/>
              </a:rPr>
              <a:t> des </a:t>
            </a:r>
            <a:r>
              <a:rPr lang="en-US" sz="1600" kern="0" dirty="0" err="1">
                <a:solidFill>
                  <a:schemeClr val="tx1"/>
                </a:solidFill>
                <a:ea typeface="Open Sans" panose="020B0606030504020204" pitchFamily="34" charset="0"/>
                <a:cs typeface="Open Sans" panose="020B0606030504020204" pitchFamily="34" charset="0"/>
              </a:rPr>
              <a:t>actionneurs</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ont</a:t>
            </a:r>
            <a:r>
              <a:rPr lang="en-US" sz="1600" kern="0" dirty="0">
                <a:solidFill>
                  <a:schemeClr val="tx1"/>
                </a:solidFill>
                <a:ea typeface="Open Sans" panose="020B0606030504020204" pitchFamily="34" charset="0"/>
                <a:cs typeface="Open Sans" panose="020B0606030504020204" pitchFamily="34" charset="0"/>
              </a:rPr>
              <a:t> un contact de charge </a:t>
            </a:r>
            <a:r>
              <a:rPr lang="en-US" sz="1600" kern="0" dirty="0" err="1">
                <a:solidFill>
                  <a:schemeClr val="tx1"/>
                </a:solidFill>
                <a:ea typeface="Open Sans" panose="020B0606030504020204" pitchFamily="34" charset="0"/>
                <a:cs typeface="Open Sans" panose="020B0606030504020204" pitchFamily="34" charset="0"/>
              </a:rPr>
              <a:t>supplémentaire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similaire</a:t>
            </a:r>
            <a:r>
              <a:rPr lang="en-US" sz="1600" kern="0" dirty="0">
                <a:solidFill>
                  <a:schemeClr val="tx1"/>
                </a:solidFill>
                <a:ea typeface="Open Sans" panose="020B0606030504020204" pitchFamily="34" charset="0"/>
                <a:cs typeface="Open Sans" panose="020B0606030504020204" pitchFamily="34" charset="0"/>
              </a:rPr>
              <a:t> à </a:t>
            </a:r>
            <a:r>
              <a:rPr lang="en-US" sz="1600" kern="0" dirty="0" err="1">
                <a:solidFill>
                  <a:schemeClr val="tx1"/>
                </a:solidFill>
                <a:ea typeface="Open Sans" panose="020B0606030504020204" pitchFamily="34" charset="0"/>
                <a:cs typeface="Open Sans" panose="020B0606030504020204" pitchFamily="34" charset="0"/>
              </a:rPr>
              <a:t>celui</a:t>
            </a:r>
            <a:r>
              <a:rPr lang="en-US" sz="1600" kern="0" dirty="0">
                <a:solidFill>
                  <a:schemeClr val="tx1"/>
                </a:solidFill>
                <a:ea typeface="Open Sans" panose="020B0606030504020204" pitchFamily="34" charset="0"/>
                <a:cs typeface="Open Sans" panose="020B0606030504020204" pitchFamily="34" charset="0"/>
              </a:rPr>
              <a:t> de la </a:t>
            </a:r>
            <a:r>
              <a:rPr lang="en-US" sz="1600" kern="0" dirty="0" err="1">
                <a:solidFill>
                  <a:schemeClr val="tx1"/>
                </a:solidFill>
                <a:ea typeface="Open Sans" panose="020B0606030504020204" pitchFamily="34" charset="0"/>
                <a:cs typeface="Open Sans" panose="020B0606030504020204" pitchFamily="34" charset="0"/>
              </a:rPr>
              <a:t>variante</a:t>
            </a:r>
            <a:r>
              <a:rPr lang="en-US" sz="1600" kern="0" dirty="0">
                <a:solidFill>
                  <a:schemeClr val="tx1"/>
                </a:solidFill>
                <a:ea typeface="Open Sans" panose="020B0606030504020204" pitchFamily="34" charset="0"/>
                <a:cs typeface="Open Sans" panose="020B0606030504020204" pitchFamily="34" charset="0"/>
              </a:rPr>
              <a:t> à 2 </a:t>
            </a:r>
            <a:r>
              <a:rPr lang="en-US" sz="1600" kern="0" dirty="0" err="1">
                <a:solidFill>
                  <a:schemeClr val="tx1"/>
                </a:solidFill>
                <a:ea typeface="Open Sans" panose="020B0606030504020204" pitchFamily="34" charset="0"/>
                <a:cs typeface="Open Sans" panose="020B0606030504020204" pitchFamily="34" charset="0"/>
              </a:rPr>
              <a:t>tuyaux</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ce</a:t>
            </a:r>
            <a:r>
              <a:rPr lang="en-US" sz="1600" kern="0" dirty="0">
                <a:solidFill>
                  <a:schemeClr val="tx1"/>
                </a:solidFill>
                <a:ea typeface="Open Sans" panose="020B0606030504020204" pitchFamily="34" charset="0"/>
                <a:cs typeface="Open Sans" panose="020B0606030504020204" pitchFamily="34" charset="0"/>
              </a:rPr>
              <a:t> qui </a:t>
            </a:r>
            <a:r>
              <a:rPr lang="en-US" sz="1600" kern="0" dirty="0" err="1">
                <a:solidFill>
                  <a:schemeClr val="tx1"/>
                </a:solidFill>
                <a:ea typeface="Open Sans" panose="020B0606030504020204" pitchFamily="34" charset="0"/>
                <a:cs typeface="Open Sans" panose="020B0606030504020204" pitchFamily="34" charset="0"/>
              </a:rPr>
              <a:t>permet</a:t>
            </a:r>
            <a:r>
              <a:rPr lang="en-US" sz="1600" kern="0" dirty="0">
                <a:solidFill>
                  <a:schemeClr val="tx1"/>
                </a:solidFill>
                <a:ea typeface="Open Sans" panose="020B0606030504020204" pitchFamily="34" charset="0"/>
                <a:cs typeface="Open Sans" panose="020B0606030504020204" pitchFamily="34" charset="0"/>
              </a:rPr>
              <a:t> de connecter un </a:t>
            </a:r>
            <a:r>
              <a:rPr lang="en-US" sz="1600" kern="0" dirty="0" err="1">
                <a:solidFill>
                  <a:schemeClr val="tx1"/>
                </a:solidFill>
                <a:ea typeface="Open Sans" panose="020B0606030504020204" pitchFamily="34" charset="0"/>
                <a:cs typeface="Open Sans" panose="020B0606030504020204" pitchFamily="34" charset="0"/>
              </a:rPr>
              <a:t>chauffage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d'appoint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électrique</a:t>
            </a:r>
            <a:r>
              <a:rPr lang="en-US" sz="1600" kern="0" dirty="0">
                <a:solidFill>
                  <a:schemeClr val="tx1"/>
                </a:solidFill>
                <a:ea typeface="Open Sans" panose="020B0606030504020204" pitchFamily="34" charset="0"/>
                <a:cs typeface="Open Sans" panose="020B0606030504020204" pitchFamily="34" charset="0"/>
              </a:rPr>
              <a:t>. </a:t>
            </a:r>
          </a:p>
          <a:p>
            <a:pPr>
              <a:lnSpc>
                <a:spcPct val="150000"/>
              </a:lnSpc>
              <a:defRPr/>
            </a:pPr>
            <a:r>
              <a:rPr lang="en-US" sz="1600" kern="0" dirty="0">
                <a:solidFill>
                  <a:schemeClr val="tx1"/>
                </a:solidFill>
                <a:ea typeface="Open Sans" panose="020B0606030504020204" pitchFamily="34" charset="0"/>
                <a:cs typeface="Open Sans" panose="020B0606030504020204" pitchFamily="34" charset="0"/>
              </a:rPr>
              <a:t>Des entrées </a:t>
            </a:r>
            <a:r>
              <a:rPr lang="en-US" sz="1600" kern="0" dirty="0" err="1">
                <a:solidFill>
                  <a:schemeClr val="tx1"/>
                </a:solidFill>
                <a:ea typeface="Open Sans" panose="020B0606030504020204" pitchFamily="34" charset="0"/>
                <a:cs typeface="Open Sans" panose="020B0606030504020204" pitchFamily="34" charset="0"/>
              </a:rPr>
              <a:t>binaires</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sont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également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intégrées</a:t>
            </a:r>
            <a:r>
              <a:rPr lang="en-US" sz="1600" kern="0" dirty="0">
                <a:solidFill>
                  <a:schemeClr val="tx1"/>
                </a:solidFill>
                <a:ea typeface="Open Sans" panose="020B0606030504020204" pitchFamily="34" charset="0"/>
                <a:cs typeface="Open Sans" panose="020B0606030504020204" pitchFamily="34" charset="0"/>
              </a:rPr>
              <a:t> dans </a:t>
            </a:r>
            <a:r>
              <a:rPr lang="en-US" sz="1600" kern="0" dirty="0" err="1">
                <a:solidFill>
                  <a:schemeClr val="tx1"/>
                </a:solidFill>
                <a:ea typeface="Open Sans" panose="020B0606030504020204" pitchFamily="34" charset="0"/>
                <a:cs typeface="Open Sans" panose="020B0606030504020204" pitchFamily="34" charset="0"/>
              </a:rPr>
              <a:t>l'actionneur</a:t>
            </a:r>
            <a:r>
              <a:rPr lang="en-US" sz="1600" kern="0" dirty="0">
                <a:solidFill>
                  <a:schemeClr val="tx1"/>
                </a:solidFill>
                <a:ea typeface="Open Sans" panose="020B0606030504020204" pitchFamily="34" charset="0"/>
                <a:cs typeface="Open Sans" panose="020B0606030504020204" pitchFamily="34" charset="0"/>
              </a:rPr>
              <a:t> pour </a:t>
            </a:r>
            <a:r>
              <a:rPr lang="en-US" sz="1600" kern="0" dirty="0" err="1">
                <a:solidFill>
                  <a:schemeClr val="tx1"/>
                </a:solidFill>
                <a:ea typeface="Open Sans" panose="020B0606030504020204" pitchFamily="34" charset="0"/>
                <a:cs typeface="Open Sans" panose="020B0606030504020204" pitchFamily="34" charset="0"/>
              </a:rPr>
              <a:t>contrôler</a:t>
            </a:r>
            <a:r>
              <a:rPr lang="en-US" sz="1600" kern="0" dirty="0">
                <a:solidFill>
                  <a:schemeClr val="tx1"/>
                </a:solidFill>
                <a:ea typeface="Open Sans" panose="020B0606030504020204" pitchFamily="34" charset="0"/>
                <a:cs typeface="Open Sans" panose="020B0606030504020204" pitchFamily="34" charset="0"/>
              </a:rPr>
              <a:t> le </a:t>
            </a:r>
            <a:r>
              <a:rPr lang="en-US" sz="1600" kern="0" dirty="0" err="1">
                <a:solidFill>
                  <a:schemeClr val="tx1"/>
                </a:solidFill>
                <a:ea typeface="Open Sans" panose="020B0606030504020204" pitchFamily="34" charset="0"/>
                <a:cs typeface="Open Sans" panose="020B0606030504020204" pitchFamily="34" charset="0"/>
              </a:rPr>
              <a:t>niveua</a:t>
            </a:r>
            <a:r>
              <a:rPr lang="en-US" sz="1600" kern="0" dirty="0">
                <a:solidFill>
                  <a:schemeClr val="tx1"/>
                </a:solidFill>
                <a:ea typeface="Open Sans" panose="020B0606030504020204" pitchFamily="34" charset="0"/>
                <a:cs typeface="Open Sans" panose="020B0606030504020204" pitchFamily="34" charset="0"/>
              </a:rPr>
              <a:t> de condensation </a:t>
            </a:r>
            <a:r>
              <a:rPr lang="en-US" sz="1600" kern="0" dirty="0" err="1">
                <a:solidFill>
                  <a:schemeClr val="tx1"/>
                </a:solidFill>
                <a:ea typeface="Open Sans" panose="020B0606030504020204" pitchFamily="34" charset="0"/>
                <a:cs typeface="Open Sans" panose="020B0606030504020204" pitchFamily="34" charset="0"/>
              </a:rPr>
              <a:t>ou</a:t>
            </a:r>
            <a:r>
              <a:rPr lang="en-US" sz="1600" kern="0" dirty="0">
                <a:solidFill>
                  <a:schemeClr val="tx1"/>
                </a:solidFill>
                <a:ea typeface="Open Sans" panose="020B0606030504020204" pitchFamily="34" charset="0"/>
                <a:cs typeface="Open Sans" panose="020B0606030504020204" pitchFamily="34" charset="0"/>
              </a:rPr>
              <a:t> un contact de </a:t>
            </a:r>
            <a:r>
              <a:rPr lang="en-US" sz="1600" kern="0" dirty="0" err="1">
                <a:solidFill>
                  <a:schemeClr val="tx1"/>
                </a:solidFill>
                <a:ea typeface="Open Sans" panose="020B0606030504020204" pitchFamily="34" charset="0"/>
                <a:cs typeface="Open Sans" panose="020B0606030504020204" pitchFamily="34" charset="0"/>
              </a:rPr>
              <a:t>fenêtre</a:t>
            </a:r>
            <a:r>
              <a:rPr lang="en-US" sz="1600" kern="0" dirty="0">
                <a:solidFill>
                  <a:schemeClr val="tx1"/>
                </a:solidFill>
                <a:ea typeface="Open Sans" panose="020B0606030504020204" pitchFamily="34" charset="0"/>
                <a:cs typeface="Open Sans" panose="020B0606030504020204" pitchFamily="34" charset="0"/>
              </a:rPr>
              <a:t> par </a:t>
            </a:r>
            <a:r>
              <a:rPr lang="en-US" sz="1600" kern="0" dirty="0" err="1">
                <a:solidFill>
                  <a:schemeClr val="tx1"/>
                </a:solidFill>
                <a:ea typeface="Open Sans" panose="020B0606030504020204" pitchFamily="34" charset="0"/>
                <a:cs typeface="Open Sans" panose="020B0606030504020204" pitchFamily="34" charset="0"/>
              </a:rPr>
              <a:t>exemple</a:t>
            </a:r>
            <a:r>
              <a:rPr lang="en-US" sz="1600" kern="0" dirty="0">
                <a:solidFill>
                  <a:schemeClr val="tx1"/>
                </a:solidFill>
                <a:ea typeface="Open Sans" panose="020B0606030504020204" pitchFamily="34" charset="0"/>
                <a:cs typeface="Open Sans" panose="020B0606030504020204" pitchFamily="34" charset="0"/>
              </a:rPr>
              <a:t>.</a:t>
            </a:r>
          </a:p>
          <a:p>
            <a:pPr>
              <a:lnSpc>
                <a:spcPct val="150000"/>
              </a:lnSpc>
              <a:defRPr/>
            </a:pP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6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866968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Ventilateurs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19675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Le </a:t>
            </a:r>
            <a:r>
              <a:rPr lang="en-US" sz="1800" kern="0" dirty="0" err="1">
                <a:solidFill>
                  <a:schemeClr val="tx1"/>
                </a:solidFill>
                <a:ea typeface="Open Sans" panose="020B0606030504020204" pitchFamily="34" charset="0"/>
                <a:cs typeface="Open Sans" panose="020B0606030504020204" pitchFamily="34" charset="0"/>
              </a:rPr>
              <a:t>contrôle</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vitesse</a:t>
            </a:r>
            <a:r>
              <a:rPr lang="en-US" sz="1800" kern="0" dirty="0">
                <a:solidFill>
                  <a:schemeClr val="tx1"/>
                </a:solidFill>
                <a:ea typeface="Open Sans" panose="020B0606030504020204" pitchFamily="34" charset="0"/>
                <a:cs typeface="Open Sans" panose="020B0606030504020204" pitchFamily="34" charset="0"/>
              </a:rPr>
              <a:t> du </a:t>
            </a:r>
            <a:r>
              <a:rPr lang="en-US" sz="1800" kern="0" dirty="0" err="1">
                <a:solidFill>
                  <a:schemeClr val="tx1"/>
                </a:solidFill>
                <a:ea typeface="Open Sans" panose="020B0606030504020204" pitchFamily="34" charset="0"/>
                <a:cs typeface="Open Sans" panose="020B0606030504020204" pitchFamily="34" charset="0"/>
              </a:rPr>
              <a:t>ventilateur</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peut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être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réglé</a:t>
            </a:r>
            <a:r>
              <a:rPr lang="en-US" sz="1800" kern="0" dirty="0">
                <a:solidFill>
                  <a:schemeClr val="tx1"/>
                </a:solidFill>
                <a:ea typeface="Open Sans" panose="020B0606030504020204" pitchFamily="34" charset="0"/>
                <a:cs typeface="Open Sans" panose="020B0606030504020204" pitchFamily="34" charset="0"/>
              </a:rPr>
              <a:t> de deux manières </a:t>
            </a:r>
            <a:r>
              <a:rPr lang="en-US" sz="1800" kern="0" dirty="0" err="1">
                <a:solidFill>
                  <a:schemeClr val="tx1"/>
                </a:solidFill>
                <a:ea typeface="Open Sans" panose="020B0606030504020204" pitchFamily="34" charset="0"/>
                <a:cs typeface="Open Sans" panose="020B0606030504020204" pitchFamily="34" charset="0"/>
              </a:rPr>
              <a:t>différentes</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err="1">
                <a:solidFill>
                  <a:schemeClr val="tx1"/>
                </a:solidFill>
                <a:ea typeface="Open Sans" panose="020B0606030504020204" pitchFamily="34" charset="0"/>
                <a:cs typeface="Open Sans" panose="020B0606030504020204" pitchFamily="34" charset="0"/>
              </a:rPr>
              <a:t>L'actionneur</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n'activera</a:t>
            </a:r>
            <a:r>
              <a:rPr lang="en-US" sz="1800" kern="0" dirty="0">
                <a:solidFill>
                  <a:schemeClr val="tx1"/>
                </a:solidFill>
                <a:ea typeface="Open Sans" panose="020B0606030504020204" pitchFamily="34" charset="0"/>
                <a:cs typeface="Open Sans" panose="020B0606030504020204" pitchFamily="34" charset="0"/>
              </a:rPr>
              <a:t> jamais deux </a:t>
            </a:r>
            <a:r>
              <a:rPr lang="en-US" sz="1800" kern="0" dirty="0" err="1">
                <a:solidFill>
                  <a:schemeClr val="tx1"/>
                </a:solidFill>
                <a:ea typeface="Open Sans" panose="020B0606030504020204" pitchFamily="34" charset="0"/>
                <a:cs typeface="Open Sans" panose="020B0606030504020204" pitchFamily="34" charset="0"/>
              </a:rPr>
              <a:t>vitesses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même</a:t>
            </a:r>
            <a:r>
              <a:rPr lang="en-US" sz="1800" kern="0" dirty="0">
                <a:solidFill>
                  <a:schemeClr val="tx1"/>
                </a:solidFill>
                <a:ea typeface="Open Sans" panose="020B0606030504020204" pitchFamily="34" charset="0"/>
                <a:cs typeface="Open Sans" panose="020B0606030504020204" pitchFamily="34" charset="0"/>
              </a:rPr>
              <a:t> temps pour </a:t>
            </a:r>
            <a:r>
              <a:rPr lang="en-US" sz="1800" kern="0" dirty="0" err="1">
                <a:solidFill>
                  <a:schemeClr val="tx1"/>
                </a:solidFill>
                <a:ea typeface="Open Sans" panose="020B0606030504020204" pitchFamily="34" charset="0"/>
                <a:cs typeface="Open Sans" panose="020B0606030504020204" pitchFamily="34" charset="0"/>
              </a:rPr>
              <a:t>éviter</a:t>
            </a:r>
            <a:r>
              <a:rPr lang="en-US" sz="1800" kern="0" dirty="0">
                <a:solidFill>
                  <a:schemeClr val="tx1"/>
                </a:solidFill>
                <a:ea typeface="Open Sans" panose="020B0606030504020204" pitchFamily="34" charset="0"/>
                <a:cs typeface="Open Sans" panose="020B0606030504020204" pitchFamily="34" charset="0"/>
              </a:rPr>
              <a:t> tout </a:t>
            </a:r>
            <a:r>
              <a:rPr lang="en-US" sz="1800" kern="0" dirty="0" err="1">
                <a:solidFill>
                  <a:schemeClr val="tx1"/>
                </a:solidFill>
                <a:ea typeface="Open Sans" panose="020B0606030504020204" pitchFamily="34" charset="0"/>
                <a:cs typeface="Open Sans" panose="020B0606030504020204" pitchFamily="34" charset="0"/>
              </a:rPr>
              <a:t>dommage</a:t>
            </a:r>
            <a:r>
              <a:rPr lang="en-US" sz="1800" kern="0" dirty="0">
                <a:solidFill>
                  <a:schemeClr val="tx1"/>
                </a:solidFill>
                <a:ea typeface="Open Sans" panose="020B0606030504020204" pitchFamily="34" charset="0"/>
                <a:cs typeface="Open Sans" panose="020B0606030504020204" pitchFamily="34" charset="0"/>
              </a:rPr>
              <a:t>. Un </a:t>
            </a:r>
            <a:r>
              <a:rPr lang="en-US" sz="1800" kern="0" dirty="0" err="1">
                <a:solidFill>
                  <a:schemeClr val="tx1"/>
                </a:solidFill>
                <a:ea typeface="Open Sans" panose="020B0606030504020204" pitchFamily="34" charset="0"/>
                <a:cs typeface="Open Sans" panose="020B0606030504020204" pitchFamily="34" charset="0"/>
              </a:rPr>
              <a:t>délai</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réglable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automatiquement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maintenu</a:t>
            </a:r>
            <a:endParaRPr lang="en-US" sz="18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graphicFrame>
        <p:nvGraphicFramePr>
          <p:cNvPr id="2" name="Table 1">
            <a:extLst>
              <a:ext uri="{FF2B5EF4-FFF2-40B4-BE49-F238E27FC236}">
                <a16:creationId xmlns:a16="http://schemas.microsoft.com/office/drawing/2014/main" id="{A2243B72-FB3A-429A-B347-672A1815791D}"/>
              </a:ext>
            </a:extLst>
          </p:cNvPr>
          <p:cNvGraphicFramePr>
            <a:graphicFrameLocks noGrp="1"/>
          </p:cNvGraphicFramePr>
          <p:nvPr/>
        </p:nvGraphicFramePr>
        <p:xfrm>
          <a:off x="1115616" y="3437683"/>
          <a:ext cx="3312368" cy="1638493"/>
        </p:xfrm>
        <a:graphic>
          <a:graphicData uri="http://schemas.openxmlformats.org/drawingml/2006/table">
            <a:tbl>
              <a:tblPr firstRow="1" firstCol="1" bandRow="1">
                <a:tableStyleId>{5C22544A-7EE6-4342-B048-85BDC9FD1C3A}</a:tableStyleId>
              </a:tblPr>
              <a:tblGrid>
                <a:gridCol w="513988">
                  <a:extLst>
                    <a:ext uri="{9D8B030D-6E8A-4147-A177-3AD203B41FA5}">
                      <a16:colId xmlns:a16="http://schemas.microsoft.com/office/drawing/2014/main" val="1248815214"/>
                    </a:ext>
                  </a:extLst>
                </a:gridCol>
                <a:gridCol w="542989">
                  <a:extLst>
                    <a:ext uri="{9D8B030D-6E8A-4147-A177-3AD203B41FA5}">
                      <a16:colId xmlns:a16="http://schemas.microsoft.com/office/drawing/2014/main" val="1082065476"/>
                    </a:ext>
                  </a:extLst>
                </a:gridCol>
                <a:gridCol w="815231">
                  <a:extLst>
                    <a:ext uri="{9D8B030D-6E8A-4147-A177-3AD203B41FA5}">
                      <a16:colId xmlns:a16="http://schemas.microsoft.com/office/drawing/2014/main" val="2492051471"/>
                    </a:ext>
                  </a:extLst>
                </a:gridCol>
                <a:gridCol w="720080">
                  <a:extLst>
                    <a:ext uri="{9D8B030D-6E8A-4147-A177-3AD203B41FA5}">
                      <a16:colId xmlns:a16="http://schemas.microsoft.com/office/drawing/2014/main" val="1200188634"/>
                    </a:ext>
                  </a:extLst>
                </a:gridCol>
                <a:gridCol w="720080">
                  <a:extLst>
                    <a:ext uri="{9D8B030D-6E8A-4147-A177-3AD203B41FA5}">
                      <a16:colId xmlns:a16="http://schemas.microsoft.com/office/drawing/2014/main" val="531672137"/>
                    </a:ext>
                  </a:extLst>
                </a:gridCol>
              </a:tblGrid>
              <a:tr h="0">
                <a:tc>
                  <a:txBody>
                    <a:bodyPr/>
                    <a:lstStyle/>
                    <a:p>
                      <a:pPr>
                        <a:lnSpc>
                          <a:spcPct val="115000"/>
                        </a:lnSpc>
                        <a:spcBef>
                          <a:spcPts val="300"/>
                        </a:spcBef>
                        <a:spcAft>
                          <a:spcPts val="0"/>
                        </a:spcAft>
                      </a:pPr>
                      <a:r>
                        <a:rPr lang="en-GB" sz="1400">
                          <a:solidFill>
                            <a:schemeClr val="tx1"/>
                          </a:solidFill>
                          <a:effectLst/>
                        </a:rPr>
                        <a:t>Ventilateur</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nSpc>
                          <a:spcPct val="115000"/>
                        </a:lnSpc>
                        <a:spcAft>
                          <a:spcPts val="0"/>
                        </a:spcAft>
                      </a:pPr>
                      <a:r>
                        <a:rPr lang="en-GB" sz="1400">
                          <a:solidFill>
                            <a:schemeClr val="tx1"/>
                          </a:solidFill>
                          <a:effectLst/>
                        </a:rPr>
                        <a:t>Agir</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Sortie 1</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Sortie 2</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Sortie 3</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646570848"/>
                  </a:ext>
                </a:extLst>
              </a:tr>
              <a:tr h="0">
                <a:tc gridSpan="2">
                  <a:txBody>
                    <a:bodyPr/>
                    <a:lstStyle/>
                    <a:p>
                      <a:pPr>
                        <a:lnSpc>
                          <a:spcPct val="115000"/>
                        </a:lnSpc>
                        <a:spcAft>
                          <a:spcPts val="0"/>
                        </a:spcAft>
                      </a:pPr>
                      <a:r>
                        <a:rPr lang="en-GB" sz="1400">
                          <a:solidFill>
                            <a:schemeClr val="tx1"/>
                          </a:solidFill>
                          <a:effectLst/>
                        </a:rPr>
                        <a:t>ARRÊT</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hMerge="1">
                  <a:txBody>
                    <a:bodyPr/>
                    <a:lstStyle/>
                    <a:p>
                      <a:endParaRPr lang="es-ES"/>
                    </a:p>
                  </a:txBody>
                  <a:tcPr/>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4255159993"/>
                  </a:ext>
                </a:extLst>
              </a:tr>
              <a:tr h="0">
                <a:tc gridSpan="2">
                  <a:txBody>
                    <a:bodyPr/>
                    <a:lstStyle/>
                    <a:p>
                      <a:pPr>
                        <a:lnSpc>
                          <a:spcPct val="115000"/>
                        </a:lnSpc>
                        <a:spcAft>
                          <a:spcPts val="0"/>
                        </a:spcAft>
                      </a:pPr>
                      <a:r>
                        <a:rPr lang="en-GB" sz="1400">
                          <a:solidFill>
                            <a:schemeClr val="tx1"/>
                          </a:solidFill>
                          <a:effectLst/>
                        </a:rPr>
                        <a:t>Vitesse 1</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hMerge="1">
                  <a:txBody>
                    <a:bodyPr/>
                    <a:lstStyle/>
                    <a:p>
                      <a:endParaRPr lang="es-ES"/>
                    </a:p>
                  </a:txBody>
                  <a:tcPr/>
                </a:tc>
                <a:tc>
                  <a:txBody>
                    <a:bodyPr/>
                    <a:lstStyle/>
                    <a:p>
                      <a:pPr algn="ctr">
                        <a:lnSpc>
                          <a:spcPct val="115000"/>
                        </a:lnSpc>
                        <a:spcAft>
                          <a:spcPts val="0"/>
                        </a:spcAft>
                      </a:pPr>
                      <a:r>
                        <a:rPr lang="en-GB" sz="1400">
                          <a:solidFill>
                            <a:schemeClr val="tx1"/>
                          </a:solidFill>
                          <a:effectLst/>
                        </a:rPr>
                        <a:t>1</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92662252"/>
                  </a:ext>
                </a:extLst>
              </a:tr>
              <a:tr h="0">
                <a:tc gridSpan="2">
                  <a:txBody>
                    <a:bodyPr/>
                    <a:lstStyle/>
                    <a:p>
                      <a:pPr>
                        <a:lnSpc>
                          <a:spcPct val="115000"/>
                        </a:lnSpc>
                        <a:spcAft>
                          <a:spcPts val="0"/>
                        </a:spcAft>
                      </a:pPr>
                      <a:r>
                        <a:rPr lang="en-GB" sz="1400">
                          <a:solidFill>
                            <a:schemeClr val="tx1"/>
                          </a:solidFill>
                          <a:effectLst/>
                        </a:rPr>
                        <a:t>Vitesse 2</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hMerge="1">
                  <a:txBody>
                    <a:bodyPr/>
                    <a:lstStyle/>
                    <a:p>
                      <a:endParaRPr lang="es-ES"/>
                    </a:p>
                  </a:txBody>
                  <a:tcPr/>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1</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408590833"/>
                  </a:ext>
                </a:extLst>
              </a:tr>
              <a:tr h="0">
                <a:tc gridSpan="2">
                  <a:txBody>
                    <a:bodyPr/>
                    <a:lstStyle/>
                    <a:p>
                      <a:pPr>
                        <a:lnSpc>
                          <a:spcPct val="115000"/>
                        </a:lnSpc>
                        <a:spcAft>
                          <a:spcPts val="0"/>
                        </a:spcAft>
                      </a:pPr>
                      <a:r>
                        <a:rPr lang="en-GB" sz="1400">
                          <a:solidFill>
                            <a:schemeClr val="tx1"/>
                          </a:solidFill>
                          <a:effectLst/>
                        </a:rPr>
                        <a:t>Vitesse 3</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hMerge="1">
                  <a:txBody>
                    <a:bodyPr/>
                    <a:lstStyle/>
                    <a:p>
                      <a:endParaRPr lang="es-ES"/>
                    </a:p>
                  </a:txBody>
                  <a:tcPr/>
                </a:tc>
                <a:tc>
                  <a:txBody>
                    <a:bodyPr/>
                    <a:lstStyle/>
                    <a:p>
                      <a:pPr algn="ctr">
                        <a:lnSpc>
                          <a:spcPct val="115000"/>
                        </a:lnSpc>
                        <a:spcAft>
                          <a:spcPts val="0"/>
                        </a:spcAft>
                      </a:pPr>
                      <a:r>
                        <a:rPr lang="en-GB" sz="1400" dirty="0">
                          <a:solidFill>
                            <a:schemeClr val="tx1"/>
                          </a:solidFill>
                          <a:effectLst/>
                        </a:rPr>
                        <a:t>0</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dirty="0">
                          <a:solidFill>
                            <a:schemeClr val="tx1"/>
                          </a:solidFill>
                          <a:effectLst/>
                        </a:rPr>
                        <a:t>1</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1757863115"/>
                  </a:ext>
                </a:extLst>
              </a:tr>
            </a:tbl>
          </a:graphicData>
        </a:graphic>
      </p:graphicFrame>
      <p:graphicFrame>
        <p:nvGraphicFramePr>
          <p:cNvPr id="6" name="Table 5">
            <a:extLst>
              <a:ext uri="{FF2B5EF4-FFF2-40B4-BE49-F238E27FC236}">
                <a16:creationId xmlns:a16="http://schemas.microsoft.com/office/drawing/2014/main" id="{CA0816A7-2647-4071-B61B-6DA554FBFA2D}"/>
              </a:ext>
            </a:extLst>
          </p:cNvPr>
          <p:cNvGraphicFramePr>
            <a:graphicFrameLocks noGrp="1"/>
          </p:cNvGraphicFramePr>
          <p:nvPr/>
        </p:nvGraphicFramePr>
        <p:xfrm>
          <a:off x="4860034" y="3429000"/>
          <a:ext cx="3312368" cy="1638493"/>
        </p:xfrm>
        <a:graphic>
          <a:graphicData uri="http://schemas.openxmlformats.org/drawingml/2006/table">
            <a:tbl>
              <a:tblPr firstRow="1" firstCol="1" bandRow="1">
                <a:tableStyleId>{5C22544A-7EE6-4342-B048-85BDC9FD1C3A}</a:tableStyleId>
              </a:tblPr>
              <a:tblGrid>
                <a:gridCol w="513988">
                  <a:extLst>
                    <a:ext uri="{9D8B030D-6E8A-4147-A177-3AD203B41FA5}">
                      <a16:colId xmlns:a16="http://schemas.microsoft.com/office/drawing/2014/main" val="1248815214"/>
                    </a:ext>
                  </a:extLst>
                </a:gridCol>
                <a:gridCol w="542989">
                  <a:extLst>
                    <a:ext uri="{9D8B030D-6E8A-4147-A177-3AD203B41FA5}">
                      <a16:colId xmlns:a16="http://schemas.microsoft.com/office/drawing/2014/main" val="1082065476"/>
                    </a:ext>
                  </a:extLst>
                </a:gridCol>
                <a:gridCol w="815231">
                  <a:extLst>
                    <a:ext uri="{9D8B030D-6E8A-4147-A177-3AD203B41FA5}">
                      <a16:colId xmlns:a16="http://schemas.microsoft.com/office/drawing/2014/main" val="2492051471"/>
                    </a:ext>
                  </a:extLst>
                </a:gridCol>
                <a:gridCol w="720080">
                  <a:extLst>
                    <a:ext uri="{9D8B030D-6E8A-4147-A177-3AD203B41FA5}">
                      <a16:colId xmlns:a16="http://schemas.microsoft.com/office/drawing/2014/main" val="1200188634"/>
                    </a:ext>
                  </a:extLst>
                </a:gridCol>
                <a:gridCol w="720080">
                  <a:extLst>
                    <a:ext uri="{9D8B030D-6E8A-4147-A177-3AD203B41FA5}">
                      <a16:colId xmlns:a16="http://schemas.microsoft.com/office/drawing/2014/main" val="531672137"/>
                    </a:ext>
                  </a:extLst>
                </a:gridCol>
              </a:tblGrid>
              <a:tr h="0">
                <a:tc>
                  <a:txBody>
                    <a:bodyPr/>
                    <a:lstStyle/>
                    <a:p>
                      <a:pPr>
                        <a:lnSpc>
                          <a:spcPct val="115000"/>
                        </a:lnSpc>
                        <a:spcBef>
                          <a:spcPts val="300"/>
                        </a:spcBef>
                        <a:spcAft>
                          <a:spcPts val="0"/>
                        </a:spcAft>
                      </a:pPr>
                      <a:r>
                        <a:rPr lang="en-GB" sz="1400">
                          <a:solidFill>
                            <a:schemeClr val="tx1"/>
                          </a:solidFill>
                          <a:effectLst/>
                        </a:rPr>
                        <a:t>Ventilateur</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nSpc>
                          <a:spcPct val="115000"/>
                        </a:lnSpc>
                        <a:spcAft>
                          <a:spcPts val="0"/>
                        </a:spcAft>
                      </a:pPr>
                      <a:r>
                        <a:rPr lang="en-GB" sz="1400">
                          <a:solidFill>
                            <a:schemeClr val="tx1"/>
                          </a:solidFill>
                          <a:effectLst/>
                        </a:rPr>
                        <a:t>Agir</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Sortie 1</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Sortie 2</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Sortie 3</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646570848"/>
                  </a:ext>
                </a:extLst>
              </a:tr>
              <a:tr h="0">
                <a:tc gridSpan="2">
                  <a:txBody>
                    <a:bodyPr/>
                    <a:lstStyle/>
                    <a:p>
                      <a:pPr>
                        <a:lnSpc>
                          <a:spcPct val="115000"/>
                        </a:lnSpc>
                        <a:spcAft>
                          <a:spcPts val="0"/>
                        </a:spcAft>
                      </a:pPr>
                      <a:r>
                        <a:rPr lang="en-GB" sz="1400">
                          <a:solidFill>
                            <a:schemeClr val="tx1"/>
                          </a:solidFill>
                          <a:effectLst/>
                        </a:rPr>
                        <a:t>ARRÊT</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hMerge="1">
                  <a:txBody>
                    <a:bodyPr/>
                    <a:lstStyle/>
                    <a:p>
                      <a:endParaRPr lang="es-ES"/>
                    </a:p>
                  </a:txBody>
                  <a:tcPr/>
                </a:tc>
                <a:tc>
                  <a:txBody>
                    <a:bodyPr/>
                    <a:lstStyle/>
                    <a:p>
                      <a:pPr algn="ctr">
                        <a:lnSpc>
                          <a:spcPct val="115000"/>
                        </a:lnSpc>
                        <a:spcAft>
                          <a:spcPts val="0"/>
                        </a:spcAft>
                      </a:pPr>
                      <a:r>
                        <a:rPr lang="en-GB" sz="1400">
                          <a:solidFill>
                            <a:schemeClr val="tx1"/>
                          </a:solidFill>
                          <a:effectLst/>
                        </a:rPr>
                        <a:t>0</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4255159993"/>
                  </a:ext>
                </a:extLst>
              </a:tr>
              <a:tr h="0">
                <a:tc gridSpan="2">
                  <a:txBody>
                    <a:bodyPr/>
                    <a:lstStyle/>
                    <a:p>
                      <a:pPr>
                        <a:lnSpc>
                          <a:spcPct val="115000"/>
                        </a:lnSpc>
                        <a:spcAft>
                          <a:spcPts val="0"/>
                        </a:spcAft>
                      </a:pPr>
                      <a:r>
                        <a:rPr lang="en-GB" sz="1400">
                          <a:solidFill>
                            <a:schemeClr val="tx1"/>
                          </a:solidFill>
                          <a:effectLst/>
                        </a:rPr>
                        <a:t>Vitesse 1</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hMerge="1">
                  <a:txBody>
                    <a:bodyPr/>
                    <a:lstStyle/>
                    <a:p>
                      <a:endParaRPr lang="es-ES"/>
                    </a:p>
                  </a:txBody>
                  <a:tcPr/>
                </a:tc>
                <a:tc>
                  <a:txBody>
                    <a:bodyPr/>
                    <a:lstStyle/>
                    <a:p>
                      <a:pPr algn="ctr">
                        <a:lnSpc>
                          <a:spcPct val="115000"/>
                        </a:lnSpc>
                        <a:spcAft>
                          <a:spcPts val="0"/>
                        </a:spcAft>
                      </a:pPr>
                      <a:r>
                        <a:rPr lang="en-GB" sz="1400">
                          <a:solidFill>
                            <a:schemeClr val="tx1"/>
                          </a:solidFill>
                          <a:effectLst/>
                        </a:rPr>
                        <a:t>1</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92662252"/>
                  </a:ext>
                </a:extLst>
              </a:tr>
              <a:tr h="0">
                <a:tc gridSpan="2">
                  <a:txBody>
                    <a:bodyPr/>
                    <a:lstStyle/>
                    <a:p>
                      <a:pPr>
                        <a:lnSpc>
                          <a:spcPct val="115000"/>
                        </a:lnSpc>
                        <a:spcAft>
                          <a:spcPts val="0"/>
                        </a:spcAft>
                      </a:pPr>
                      <a:r>
                        <a:rPr lang="en-GB" sz="1400">
                          <a:solidFill>
                            <a:schemeClr val="tx1"/>
                          </a:solidFill>
                          <a:effectLst/>
                        </a:rPr>
                        <a:t>Vitesse 2</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hMerge="1">
                  <a:txBody>
                    <a:bodyPr/>
                    <a:lstStyle/>
                    <a:p>
                      <a:endParaRPr lang="es-ES"/>
                    </a:p>
                  </a:txBody>
                  <a:tcPr/>
                </a:tc>
                <a:tc>
                  <a:txBody>
                    <a:bodyPr/>
                    <a:lstStyle/>
                    <a:p>
                      <a:pPr algn="ctr">
                        <a:lnSpc>
                          <a:spcPct val="115000"/>
                        </a:lnSpc>
                        <a:spcAft>
                          <a:spcPts val="0"/>
                        </a:spcAft>
                      </a:pPr>
                      <a:r>
                        <a:rPr lang="en-GB" sz="1400">
                          <a:solidFill>
                            <a:schemeClr val="tx1"/>
                          </a:solidFill>
                          <a:effectLst/>
                        </a:rPr>
                        <a:t>1</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1</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408590833"/>
                  </a:ext>
                </a:extLst>
              </a:tr>
              <a:tr h="0">
                <a:tc gridSpan="2">
                  <a:txBody>
                    <a:bodyPr/>
                    <a:lstStyle/>
                    <a:p>
                      <a:pPr>
                        <a:lnSpc>
                          <a:spcPct val="115000"/>
                        </a:lnSpc>
                        <a:spcAft>
                          <a:spcPts val="0"/>
                        </a:spcAft>
                      </a:pPr>
                      <a:r>
                        <a:rPr lang="en-GB" sz="1400">
                          <a:solidFill>
                            <a:schemeClr val="tx1"/>
                          </a:solidFill>
                          <a:effectLst/>
                        </a:rPr>
                        <a:t>Vitesse 3</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hMerge="1">
                  <a:txBody>
                    <a:bodyPr/>
                    <a:lstStyle/>
                    <a:p>
                      <a:endParaRPr lang="es-ES"/>
                    </a:p>
                  </a:txBody>
                  <a:tcPr/>
                </a:tc>
                <a:tc>
                  <a:txBody>
                    <a:bodyPr/>
                    <a:lstStyle/>
                    <a:p>
                      <a:pPr algn="ctr">
                        <a:lnSpc>
                          <a:spcPct val="115000"/>
                        </a:lnSpc>
                        <a:spcAft>
                          <a:spcPts val="0"/>
                        </a:spcAft>
                      </a:pPr>
                      <a:r>
                        <a:rPr lang="en-GB" sz="1400">
                          <a:solidFill>
                            <a:schemeClr val="tx1"/>
                          </a:solidFill>
                          <a:effectLst/>
                        </a:rPr>
                        <a:t>1</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1</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1</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1757863115"/>
                  </a:ext>
                </a:extLst>
              </a:tr>
            </a:tbl>
          </a:graphicData>
        </a:graphic>
      </p:graphicFrame>
      <p:sp>
        <p:nvSpPr>
          <p:cNvPr id="5" name="Rectangle 4">
            <a:extLst>
              <a:ext uri="{FF2B5EF4-FFF2-40B4-BE49-F238E27FC236}">
                <a16:creationId xmlns:a16="http://schemas.microsoft.com/office/drawing/2014/main" id="{B7DB9F0A-9CFE-4645-8A8B-33BD31AB5817}"/>
              </a:ext>
            </a:extLst>
          </p:cNvPr>
          <p:cNvSpPr/>
          <p:nvPr/>
        </p:nvSpPr>
        <p:spPr>
          <a:xfrm>
            <a:off x="1115616" y="4986727"/>
            <a:ext cx="3240360" cy="646331"/>
          </a:xfrm>
          <a:prstGeom prst="rect">
            <a:avLst/>
          </a:prstGeom>
        </p:spPr>
        <p:txBody>
          <a:bodyPr wrap="square">
            <a:spAutoFit/>
          </a:bodyPr>
          <a:lstStyle/>
          <a:p>
            <a:r>
              <a:rPr lang="en-GB" b="1" dirty="0" err="1"/>
              <a:t>modèle</a:t>
            </a:r>
            <a:r>
              <a:rPr lang="en-GB" b="1" dirty="0"/>
              <a:t> de </a:t>
            </a:r>
            <a:r>
              <a:rPr lang="en-GB" b="1" dirty="0" err="1"/>
              <a:t>ventilo-convecteur</a:t>
            </a:r>
            <a:r>
              <a:rPr lang="en-GB" b="1" dirty="0"/>
              <a:t> avec </a:t>
            </a:r>
            <a:r>
              <a:rPr lang="en-GB" b="1" dirty="0" err="1"/>
              <a:t>une</a:t>
            </a:r>
            <a:r>
              <a:rPr lang="en-GB" b="1" dirty="0"/>
              <a:t> </a:t>
            </a:r>
            <a:r>
              <a:rPr lang="en-GB" b="1" dirty="0" err="1"/>
              <a:t>bobine</a:t>
            </a:r>
            <a:r>
              <a:rPr lang="en-GB" b="1" dirty="0"/>
              <a:t> par </a:t>
            </a:r>
            <a:r>
              <a:rPr lang="en-GB" b="1" dirty="0" err="1"/>
              <a:t>vitesse</a:t>
            </a:r>
            <a:endParaRPr lang="es-ES" dirty="0"/>
          </a:p>
        </p:txBody>
      </p:sp>
      <p:sp>
        <p:nvSpPr>
          <p:cNvPr id="7" name="Rectangle 6">
            <a:extLst>
              <a:ext uri="{FF2B5EF4-FFF2-40B4-BE49-F238E27FC236}">
                <a16:creationId xmlns:a16="http://schemas.microsoft.com/office/drawing/2014/main" id="{A708DCF4-ABA1-44D7-B366-538E73F6FBA2}"/>
              </a:ext>
            </a:extLst>
          </p:cNvPr>
          <p:cNvSpPr/>
          <p:nvPr/>
        </p:nvSpPr>
        <p:spPr>
          <a:xfrm>
            <a:off x="4860034" y="4973466"/>
            <a:ext cx="3312366" cy="659591"/>
          </a:xfrm>
          <a:prstGeom prst="rect">
            <a:avLst/>
          </a:prstGeom>
        </p:spPr>
        <p:txBody>
          <a:bodyPr wrap="square">
            <a:spAutoFit/>
          </a:bodyPr>
          <a:lstStyle/>
          <a:p>
            <a:r>
              <a:rPr lang="en-GB" b="1"/>
              <a:t>modèle de ventilo-convecteur avec une bobine pour toutes les vitesses</a:t>
            </a:r>
            <a:endParaRPr lang="es-ES" b="1" dirty="0"/>
          </a:p>
        </p:txBody>
      </p:sp>
    </p:spTree>
    <p:extLst>
      <p:ext uri="{BB962C8B-B14F-4D97-AF65-F5344CB8AC3E}">
        <p14:creationId xmlns:p14="http://schemas.microsoft.com/office/powerpoint/2010/main" val="3538253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Modes de fonctionnement</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a:ea typeface="Open Sans" panose="020B0606030504020204" pitchFamily="34" charset="0"/>
                <a:cs typeface="Open Sans" panose="020B0606030504020204" pitchFamily="34" charset="0"/>
              </a:rPr>
              <a:t>Modes de fonctionnement:</a:t>
            </a:r>
          </a:p>
          <a:p>
            <a:pPr>
              <a:lnSpc>
                <a:spcPct val="150000"/>
              </a:lnSpc>
              <a:defRPr/>
            </a:pPr>
            <a:r>
              <a:rPr lang="en-US" sz="2000" kern="0">
                <a:solidFill>
                  <a:schemeClr val="tx1"/>
                </a:solidFill>
                <a:ea typeface="Open Sans" panose="020B0606030504020204" pitchFamily="34" charset="0"/>
                <a:cs typeface="Open Sans" panose="020B0606030504020204" pitchFamily="34" charset="0"/>
              </a:rPr>
              <a:t>Mode confort</a:t>
            </a:r>
          </a:p>
          <a:p>
            <a:pPr>
              <a:lnSpc>
                <a:spcPct val="150000"/>
              </a:lnSpc>
              <a:defRPr/>
            </a:pPr>
            <a:r>
              <a:rPr lang="en-US" sz="2000" kern="0">
                <a:solidFill>
                  <a:schemeClr val="tx1"/>
                </a:solidFill>
                <a:ea typeface="Open Sans" panose="020B0606030504020204" pitchFamily="34" charset="0"/>
                <a:cs typeface="Open Sans" panose="020B0606030504020204" pitchFamily="34" charset="0"/>
              </a:rPr>
              <a:t>Mode veille</a:t>
            </a:r>
          </a:p>
          <a:p>
            <a:pPr>
              <a:lnSpc>
                <a:spcPct val="150000"/>
              </a:lnSpc>
              <a:defRPr/>
            </a:pPr>
            <a:r>
              <a:rPr lang="en-US" sz="2000" kern="0">
                <a:solidFill>
                  <a:schemeClr val="tx1"/>
                </a:solidFill>
                <a:ea typeface="Open Sans" panose="020B0606030504020204" pitchFamily="34" charset="0"/>
                <a:cs typeface="Open Sans" panose="020B0606030504020204" pitchFamily="34" charset="0"/>
              </a:rPr>
              <a:t>Réduction de nuit</a:t>
            </a:r>
          </a:p>
          <a:p>
            <a:pPr>
              <a:lnSpc>
                <a:spcPct val="150000"/>
              </a:lnSpc>
              <a:defRPr/>
            </a:pPr>
            <a:r>
              <a:rPr lang="en-US" sz="2000" kern="0">
                <a:solidFill>
                  <a:schemeClr val="tx1"/>
                </a:solidFill>
                <a:ea typeface="Open Sans" panose="020B0606030504020204" pitchFamily="34" charset="0"/>
                <a:cs typeface="Open Sans" panose="020B0606030504020204" pitchFamily="34" charset="0"/>
              </a:rPr>
              <a:t>Protection contre le gel / thermique</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7629772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395536" y="513885"/>
            <a:ext cx="7344295" cy="719138"/>
          </a:xfrm>
        </p:spPr>
        <p:txBody>
          <a:bodyPr/>
          <a:lstStyle/>
          <a:p>
            <a:r>
              <a:rPr lang="en-US" sz="2400" dirty="0" err="1"/>
              <a:t>Intégration</a:t>
            </a:r>
            <a:r>
              <a:rPr lang="en-US" sz="2400" dirty="0"/>
              <a:t> des </a:t>
            </a:r>
            <a:r>
              <a:rPr lang="en-US" sz="2400" dirty="0" err="1"/>
              <a:t>systèmes</a:t>
            </a:r>
            <a:r>
              <a:rPr lang="en-US" sz="2400" dirty="0"/>
              <a:t> de </a:t>
            </a:r>
            <a:r>
              <a:rPr lang="en-US" sz="2400" dirty="0" err="1"/>
              <a:t>conditionnement</a:t>
            </a:r>
            <a:r>
              <a:rPr lang="en-US" sz="2400" dirty="0"/>
              <a:t> </a:t>
            </a:r>
            <a:r>
              <a:rPr lang="en-US" sz="2400" dirty="0" err="1"/>
              <a:t>d'air</a:t>
            </a:r>
            <a:endParaRPr lang="en-GB" sz="2400"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a:solidFill>
                  <a:schemeClr val="tx1"/>
                </a:solidFill>
                <a:ea typeface="Open Sans" panose="020B0606030504020204" pitchFamily="34" charset="0"/>
                <a:cs typeface="Open Sans" panose="020B0606030504020204" pitchFamily="34" charset="0"/>
              </a:rPr>
              <a:t>Il se compose d'un fluide de refroidissement qui circule dans un circuit dans des états agrégés variables</a:t>
            </a:r>
          </a:p>
        </p:txBody>
      </p:sp>
      <p:pic>
        <p:nvPicPr>
          <p:cNvPr id="34818" name="Picture 1">
            <a:extLst>
              <a:ext uri="{FF2B5EF4-FFF2-40B4-BE49-F238E27FC236}">
                <a16:creationId xmlns:a16="http://schemas.microsoft.com/office/drawing/2014/main" id="{1A505ED1-D75B-482E-A7F3-CF3BC7199D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191" y="2636912"/>
            <a:ext cx="6351105" cy="3528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800662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Intégration dans KNX</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a:solidFill>
                  <a:schemeClr val="tx1"/>
                </a:solidFill>
                <a:ea typeface="Open Sans" panose="020B0606030504020204" pitchFamily="34" charset="0"/>
                <a:cs typeface="Open Sans" panose="020B0606030504020204" pitchFamily="34" charset="0"/>
              </a:rPr>
              <a:t>Passerelle vers </a:t>
            </a:r>
            <a:r>
              <a:rPr lang="en-US" sz="2000">
                <a:latin typeface="Arial" charset="0"/>
              </a:rPr>
              <a:t>Protocole Propriétaire</a:t>
            </a:r>
          </a:p>
          <a:p>
            <a:pPr>
              <a:lnSpc>
                <a:spcPct val="150000"/>
              </a:lnSpc>
              <a:defRPr/>
            </a:pPr>
            <a:r>
              <a:rPr lang="en-US" sz="2000" kern="0">
                <a:solidFill>
                  <a:schemeClr val="bg1">
                    <a:lumMod val="10000"/>
                  </a:schemeClr>
                </a:solidFill>
                <a:ea typeface="Open Sans" panose="020B0606030504020204" pitchFamily="34" charset="0"/>
                <a:cs typeface="Open Sans" panose="020B0606030504020204" pitchFamily="34" charset="0"/>
              </a:rPr>
              <a:t>Passerelle vers </a:t>
            </a:r>
            <a:r>
              <a:rPr lang="en-US" sz="2000" kern="0">
                <a:ea typeface="Open Sans" panose="020B0606030504020204" pitchFamily="34" charset="0"/>
                <a:cs typeface="Open Sans" panose="020B0606030504020204" pitchFamily="34" charset="0"/>
              </a:rPr>
              <a:t>Protocole d'automatisation ouvert</a:t>
            </a:r>
          </a:p>
          <a:p>
            <a:pPr lvl="1">
              <a:lnSpc>
                <a:spcPct val="150000"/>
              </a:lnSpc>
              <a:buFont typeface="Wingdings" panose="05000000000000000000" pitchFamily="2" charset="2"/>
              <a:buChar char="§"/>
              <a:defRPr/>
            </a:pPr>
            <a:r>
              <a:rPr lang="en-GB" sz="1800" b="1">
                <a:solidFill>
                  <a:schemeClr val="tx1"/>
                </a:solidFill>
                <a:latin typeface="+mj-lt"/>
              </a:rPr>
              <a:t>La passerelle constitue un participant dans le système KNX</a:t>
            </a:r>
            <a:endParaRPr lang="en-US" sz="1800" b="1" kern="0" dirty="0">
              <a:latin typeface="+mj-lt"/>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35842" name="Picture 2">
            <a:extLst>
              <a:ext uri="{FF2B5EF4-FFF2-40B4-BE49-F238E27FC236}">
                <a16:creationId xmlns:a16="http://schemas.microsoft.com/office/drawing/2014/main" id="{EF287079-8D10-48CA-B5BD-A6E0B820E6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3689" y="3255949"/>
            <a:ext cx="5356622" cy="3196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41463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Types de communication</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1800" kern="0">
                <a:ea typeface="Open Sans" panose="020B0606030504020204" pitchFamily="34" charset="0"/>
                <a:cs typeface="Open Sans" panose="020B0606030504020204" pitchFamily="34" charset="0"/>
              </a:rPr>
              <a:t>Communication unidirectionnelle</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a:solidFill>
                  <a:schemeClr val="tx1"/>
                </a:solidFill>
                <a:ea typeface="Open Sans" panose="020B0606030504020204" pitchFamily="34" charset="0"/>
                <a:cs typeface="Open Sans" panose="020B0606030504020204" pitchFamily="34" charset="0"/>
              </a:rPr>
              <a:t>Ne communique qu'au climatiseur et ne permet pas un retour d'informations vers KNX</a:t>
            </a:r>
          </a:p>
          <a:p>
            <a:pPr marL="0" indent="0">
              <a:lnSpc>
                <a:spcPct val="150000"/>
              </a:lnSpc>
              <a:buNone/>
              <a:defRPr/>
            </a:pPr>
            <a:endParaRPr lang="en-US" sz="1000" kern="0" dirty="0">
              <a:ea typeface="Open Sans" panose="020B0606030504020204" pitchFamily="34" charset="0"/>
              <a:cs typeface="Open Sans" panose="020B0606030504020204" pitchFamily="34" charset="0"/>
            </a:endParaRPr>
          </a:p>
          <a:p>
            <a:pPr marL="0" indent="0">
              <a:lnSpc>
                <a:spcPct val="150000"/>
              </a:lnSpc>
              <a:buNone/>
              <a:defRPr/>
            </a:pPr>
            <a:r>
              <a:rPr lang="en-US" sz="1800" kern="0">
                <a:ea typeface="Open Sans" panose="020B0606030504020204" pitchFamily="34" charset="0"/>
                <a:cs typeface="Open Sans" panose="020B0606030504020204" pitchFamily="34" charset="0"/>
              </a:rPr>
              <a:t>Communication bidirectionnelle</a:t>
            </a:r>
          </a:p>
          <a:p>
            <a:pPr>
              <a:lnSpc>
                <a:spcPct val="150000"/>
              </a:lnSpc>
              <a:defRPr/>
            </a:pPr>
            <a:r>
              <a:rPr lang="en-US" sz="1800" kern="0">
                <a:solidFill>
                  <a:schemeClr val="tx1"/>
                </a:solidFill>
                <a:ea typeface="Open Sans" panose="020B0606030504020204" pitchFamily="34" charset="0"/>
                <a:cs typeface="Open Sans" panose="020B0606030504020204" pitchFamily="34" charset="0"/>
              </a:rPr>
              <a:t>Envoyer et recevoir des télégrammes depuis les deux directions</a:t>
            </a:r>
          </a:p>
          <a:p>
            <a:pPr>
              <a:lnSpc>
                <a:spcPct val="150000"/>
              </a:lnSpc>
              <a:defRPr/>
            </a:pPr>
            <a:r>
              <a:rPr lang="en-US" sz="1800" kern="0">
                <a:solidFill>
                  <a:schemeClr val="tx1"/>
                </a:solidFill>
                <a:ea typeface="Open Sans" panose="020B0606030504020204" pitchFamily="34" charset="0"/>
                <a:cs typeface="Open Sans" panose="020B0606030504020204" pitchFamily="34" charset="0"/>
              </a:rPr>
              <a:t>L'intégration peut être réalisée avec plusieurs médias : Infra rouge, Filaire, Ethernet/IP, RS232, RS485, …</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3956395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Gradation</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269454"/>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err="1">
                <a:solidFill>
                  <a:schemeClr val="tx1"/>
                </a:solidFill>
                <a:ea typeface="Open Sans" panose="020B0606030504020204" pitchFamily="34" charset="0"/>
                <a:cs typeface="Open Sans" panose="020B0606030504020204" pitchFamily="34" charset="0"/>
              </a:rPr>
              <a:t>Régulation</a:t>
            </a:r>
            <a:r>
              <a:rPr lang="en-US" sz="1800" kern="0" dirty="0">
                <a:solidFill>
                  <a:schemeClr val="tx1"/>
                </a:solidFill>
                <a:ea typeface="Open Sans" panose="020B0606030504020204" pitchFamily="34" charset="0"/>
                <a:cs typeface="Open Sans" panose="020B0606030504020204" pitchFamily="34" charset="0"/>
              </a:rPr>
              <a:t> de la </a:t>
            </a:r>
            <a:r>
              <a:rPr lang="en-US" sz="1800" kern="0" dirty="0" err="1">
                <a:solidFill>
                  <a:schemeClr val="tx1"/>
                </a:solidFill>
                <a:ea typeface="Open Sans" panose="020B0606030504020204" pitchFamily="34" charset="0"/>
                <a:cs typeface="Open Sans" panose="020B0606030504020204" pitchFamily="34" charset="0"/>
              </a:rPr>
              <a:t>température</a:t>
            </a:r>
            <a:r>
              <a:rPr lang="en-US" sz="1800" kern="0" dirty="0">
                <a:solidFill>
                  <a:schemeClr val="tx1"/>
                </a:solidFill>
                <a:ea typeface="Open Sans" panose="020B0606030504020204" pitchFamily="34" charset="0"/>
                <a:cs typeface="Open Sans" panose="020B0606030504020204" pitchFamily="34" charset="0"/>
              </a:rPr>
              <a:t> de la salle </a:t>
            </a:r>
            <a:r>
              <a:rPr lang="en-US" sz="1800" kern="0" dirty="0" err="1">
                <a:solidFill>
                  <a:schemeClr val="tx1"/>
                </a:solidFill>
                <a:ea typeface="Open Sans" panose="020B0606030504020204" pitchFamily="34" charset="0"/>
                <a:cs typeface="Open Sans" panose="020B0606030504020204" pitchFamily="34" charset="0"/>
              </a:rPr>
              <a:t>appliquée</a:t>
            </a:r>
            <a:r>
              <a:rPr lang="en-US" sz="1800" kern="0" dirty="0">
                <a:solidFill>
                  <a:schemeClr val="tx1"/>
                </a:solidFill>
                <a:ea typeface="Open Sans" panose="020B0606030504020204" pitchFamily="34" charset="0"/>
                <a:cs typeface="Open Sans" panose="020B0606030504020204" pitchFamily="34" charset="0"/>
              </a:rPr>
              <a:t> (cf. §2.1.3.1)</a:t>
            </a:r>
          </a:p>
          <a:p>
            <a:pPr>
              <a:lnSpc>
                <a:spcPct val="150000"/>
              </a:lnSpc>
              <a:defRPr/>
            </a:pPr>
            <a:r>
              <a:rPr lang="en-US" sz="1800" kern="0" dirty="0" err="1">
                <a:solidFill>
                  <a:schemeClr val="tx1"/>
                </a:solidFill>
                <a:ea typeface="Open Sans" panose="020B0606030504020204" pitchFamily="34" charset="0"/>
                <a:cs typeface="Open Sans" panose="020B0606030504020204" pitchFamily="34" charset="0"/>
              </a:rPr>
              <a:t>Définir</a:t>
            </a:r>
            <a:r>
              <a:rPr lang="en-US" sz="1800" kern="0" dirty="0">
                <a:solidFill>
                  <a:schemeClr val="tx1"/>
                </a:solidFill>
                <a:ea typeface="Open Sans" panose="020B0606030504020204" pitchFamily="34" charset="0"/>
                <a:cs typeface="Open Sans" panose="020B0606030504020204" pitchFamily="34" charset="0"/>
              </a:rPr>
              <a:t> le mode de </a:t>
            </a:r>
            <a:r>
              <a:rPr lang="en-US" sz="1800" kern="0" dirty="0" err="1">
                <a:solidFill>
                  <a:schemeClr val="tx1"/>
                </a:solidFill>
                <a:ea typeface="Open Sans" panose="020B0606030504020204" pitchFamily="34" charset="0"/>
                <a:cs typeface="Open Sans" panose="020B0606030504020204" pitchFamily="34" charset="0"/>
              </a:rPr>
              <a:t>fonctionnement</a:t>
            </a:r>
            <a:r>
              <a:rPr lang="en-US" sz="1800" kern="0" dirty="0">
                <a:solidFill>
                  <a:schemeClr val="tx1"/>
                </a:solidFill>
                <a:ea typeface="Open Sans" panose="020B0606030504020204" pitchFamily="34" charset="0"/>
                <a:cs typeface="Open Sans" panose="020B0606030504020204" pitchFamily="34" charset="0"/>
              </a:rPr>
              <a:t> via un </a:t>
            </a:r>
            <a:r>
              <a:rPr lang="en-US" sz="1800" kern="0" dirty="0" err="1">
                <a:solidFill>
                  <a:schemeClr val="tx1"/>
                </a:solidFill>
                <a:ea typeface="Open Sans" panose="020B0606030504020204" pitchFamily="34" charset="0"/>
                <a:cs typeface="Open Sans" panose="020B0606030504020204" pitchFamily="34" charset="0"/>
              </a:rPr>
              <a:t>objet</a:t>
            </a:r>
            <a:r>
              <a:rPr lang="en-US" sz="1800" kern="0" dirty="0">
                <a:solidFill>
                  <a:schemeClr val="tx1"/>
                </a:solidFill>
                <a:ea typeface="Open Sans" panose="020B0606030504020204" pitchFamily="34" charset="0"/>
                <a:cs typeface="Open Sans" panose="020B0606030504020204" pitchFamily="34" charset="0"/>
              </a:rPr>
              <a:t> (DPT 20.105) </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Deux </a:t>
            </a:r>
            <a:r>
              <a:rPr lang="en-US" sz="1800" kern="0" dirty="0" err="1">
                <a:solidFill>
                  <a:schemeClr val="tx1"/>
                </a:solidFill>
                <a:ea typeface="Open Sans" panose="020B0606030504020204" pitchFamily="34" charset="0"/>
                <a:cs typeface="Open Sans" panose="020B0606030504020204" pitchFamily="34" charset="0"/>
              </a:rPr>
              <a:t>composants</a:t>
            </a:r>
            <a:r>
              <a:rPr lang="en-US" sz="1800" kern="0" dirty="0">
                <a:solidFill>
                  <a:schemeClr val="tx1"/>
                </a:solidFill>
                <a:ea typeface="Open Sans" panose="020B0606030504020204" pitchFamily="34" charset="0"/>
                <a:cs typeface="Open Sans" panose="020B0606030504020204" pitchFamily="34" charset="0"/>
              </a:rPr>
              <a:t> pour la </a:t>
            </a:r>
            <a:r>
              <a:rPr lang="en-US" sz="1800" kern="0" dirty="0" err="1">
                <a:solidFill>
                  <a:schemeClr val="tx1"/>
                </a:solidFill>
                <a:ea typeface="Open Sans" panose="020B0606030504020204" pitchFamily="34" charset="0"/>
                <a:cs typeface="Open Sans" panose="020B0606030504020204" pitchFamily="34" charset="0"/>
              </a:rPr>
              <a:t>régulation</a:t>
            </a:r>
            <a:r>
              <a:rPr lang="en-US" sz="1800" kern="0" dirty="0">
                <a:solidFill>
                  <a:schemeClr val="tx1"/>
                </a:solidFill>
                <a:ea typeface="Open Sans" panose="020B0606030504020204" pitchFamily="34" charset="0"/>
                <a:cs typeface="Open Sans" panose="020B0606030504020204" pitchFamily="34" charset="0"/>
              </a:rPr>
              <a:t> : un </a:t>
            </a:r>
            <a:r>
              <a:rPr lang="en-US" sz="1800" kern="0" dirty="0" err="1">
                <a:solidFill>
                  <a:schemeClr val="tx1"/>
                </a:solidFill>
                <a:ea typeface="Open Sans" panose="020B0606030504020204" pitchFamily="34" charset="0"/>
                <a:cs typeface="Open Sans" panose="020B0606030504020204" pitchFamily="34" charset="0"/>
              </a:rPr>
              <a:t>capteur</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température</a:t>
            </a:r>
            <a:r>
              <a:rPr lang="en-US" sz="1800" kern="0" dirty="0">
                <a:solidFill>
                  <a:schemeClr val="tx1"/>
                </a:solidFill>
                <a:ea typeface="Open Sans" panose="020B0606030504020204" pitchFamily="34" charset="0"/>
                <a:cs typeface="Open Sans" panose="020B0606030504020204" pitchFamily="34" charset="0"/>
              </a:rPr>
              <a:t> de la pièce avec un </a:t>
            </a:r>
            <a:r>
              <a:rPr lang="en-US" sz="1800" kern="0" dirty="0" err="1">
                <a:solidFill>
                  <a:schemeClr val="tx1"/>
                </a:solidFill>
                <a:ea typeface="Open Sans" panose="020B0606030504020204" pitchFamily="34" charset="0"/>
                <a:cs typeface="Open Sans" panose="020B0606030504020204" pitchFamily="34" charset="0"/>
              </a:rPr>
              <a:t>régulateur</a:t>
            </a:r>
            <a:r>
              <a:rPr lang="en-US" sz="1800" kern="0" dirty="0">
                <a:solidFill>
                  <a:schemeClr val="tx1"/>
                </a:solidFill>
                <a:ea typeface="Open Sans" panose="020B0606030504020204" pitchFamily="34" charset="0"/>
                <a:cs typeface="Open Sans" panose="020B0606030504020204" pitchFamily="34" charset="0"/>
              </a:rPr>
              <a:t> et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vanne</a:t>
            </a:r>
            <a:r>
              <a:rPr lang="en-US" sz="1800" kern="0" dirty="0">
                <a:solidFill>
                  <a:schemeClr val="tx1"/>
                </a:solidFill>
                <a:ea typeface="Open Sans" panose="020B0606030504020204" pitchFamily="34" charset="0"/>
                <a:cs typeface="Open Sans" panose="020B0606030504020204" pitchFamily="34" charset="0"/>
              </a:rPr>
              <a:t> (interface avec le </a:t>
            </a:r>
            <a:r>
              <a:rPr lang="en-US" sz="1800" kern="0" dirty="0" err="1">
                <a:solidFill>
                  <a:schemeClr val="tx1"/>
                </a:solidFill>
                <a:ea typeface="Open Sans" panose="020B0606030504020204" pitchFamily="34" charset="0"/>
                <a:cs typeface="Open Sans" panose="020B0606030504020204" pitchFamily="34" charset="0"/>
              </a:rPr>
              <a:t>climatiseur</a:t>
            </a:r>
            <a:r>
              <a:rPr lang="en-US" sz="1800" kern="0" dirty="0">
                <a:solidFill>
                  <a:schemeClr val="tx1"/>
                </a:solidFill>
                <a:ea typeface="Open Sans" panose="020B0606030504020204" pitchFamily="34" charset="0"/>
                <a:cs typeface="Open Sans" panose="020B0606030504020204" pitchFamily="34" charset="0"/>
              </a:rPr>
              <a:t>) </a:t>
            </a:r>
          </a:p>
          <a:p>
            <a:pPr>
              <a:lnSpc>
                <a:spcPct val="150000"/>
              </a:lnSpc>
              <a:defRPr/>
            </a:pPr>
            <a:r>
              <a:rPr lang="en-US" sz="1800" kern="0" dirty="0" err="1">
                <a:solidFill>
                  <a:schemeClr val="tx1"/>
                </a:solidFill>
                <a:ea typeface="Open Sans" panose="020B0606030504020204" pitchFamily="34" charset="0"/>
                <a:cs typeface="Open Sans" panose="020B0606030504020204" pitchFamily="34" charset="0"/>
              </a:rPr>
              <a:t>Régler</a:t>
            </a:r>
            <a:r>
              <a:rPr lang="en-US" sz="1800" kern="0" dirty="0">
                <a:solidFill>
                  <a:schemeClr val="tx1"/>
                </a:solidFill>
                <a:ea typeface="Open Sans" panose="020B0606030504020204" pitchFamily="34" charset="0"/>
                <a:cs typeface="Open Sans" panose="020B0606030504020204" pitchFamily="34" charset="0"/>
              </a:rPr>
              <a:t> et </a:t>
            </a:r>
            <a:r>
              <a:rPr lang="en-US" sz="1800" kern="0" dirty="0" err="1">
                <a:solidFill>
                  <a:schemeClr val="tx1"/>
                </a:solidFill>
                <a:ea typeface="Open Sans" panose="020B0606030504020204" pitchFamily="34" charset="0"/>
                <a:cs typeface="Open Sans" panose="020B0606030504020204" pitchFamily="34" charset="0"/>
              </a:rPr>
              <a:t>surveiller</a:t>
            </a:r>
            <a:r>
              <a:rPr lang="en-US" sz="1800" kern="0" dirty="0">
                <a:solidFill>
                  <a:schemeClr val="tx1"/>
                </a:solidFill>
                <a:ea typeface="Open Sans" panose="020B0606030504020204" pitchFamily="34" charset="0"/>
                <a:cs typeface="Open Sans" panose="020B0606030504020204" pitchFamily="34" charset="0"/>
              </a:rPr>
              <a:t> la </a:t>
            </a:r>
            <a:r>
              <a:rPr lang="en-US" sz="1800" kern="0" dirty="0" err="1">
                <a:solidFill>
                  <a:schemeClr val="tx1"/>
                </a:solidFill>
                <a:ea typeface="Open Sans" panose="020B0606030504020204" pitchFamily="34" charset="0"/>
                <a:cs typeface="Open Sans" panose="020B0606030504020204" pitchFamily="34" charset="0"/>
              </a:rPr>
              <a:t>température</a:t>
            </a:r>
            <a:endParaRPr lang="en-US" sz="2000" kern="0" dirty="0">
              <a:solidFill>
                <a:schemeClr val="tx1"/>
              </a:solidFill>
              <a:ea typeface="Open Sans" panose="020B0606030504020204" pitchFamily="34" charset="0"/>
              <a:cs typeface="Open Sans" panose="020B0606030504020204" pitchFamily="34" charset="0"/>
            </a:endParaRPr>
          </a:p>
        </p:txBody>
      </p:sp>
      <p:pic>
        <p:nvPicPr>
          <p:cNvPr id="31746" name="Picture 2">
            <a:extLst>
              <a:ext uri="{FF2B5EF4-FFF2-40B4-BE49-F238E27FC236}">
                <a16:creationId xmlns:a16="http://schemas.microsoft.com/office/drawing/2014/main" id="{489C0D4F-23FE-4DA0-A90E-0B1916388E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5615" y="4365104"/>
            <a:ext cx="7125939"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52753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Gradation</a:t>
            </a:r>
            <a:endParaRPr lang="en-GB" dirty="0"/>
          </a:p>
        </p:txBody>
      </p:sp>
      <p:pic>
        <p:nvPicPr>
          <p:cNvPr id="32770" name="Picture 5">
            <a:extLst>
              <a:ext uri="{FF2B5EF4-FFF2-40B4-BE49-F238E27FC236}">
                <a16:creationId xmlns:a16="http://schemas.microsoft.com/office/drawing/2014/main" id="{30F8E62A-5BDC-4DB0-B229-21EDDB6C8A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1700808"/>
            <a:ext cx="7541201" cy="345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30F621B0-1846-41C6-A87C-0264873F91AB}"/>
              </a:ext>
            </a:extLst>
          </p:cNvPr>
          <p:cNvSpPr/>
          <p:nvPr/>
        </p:nvSpPr>
        <p:spPr>
          <a:xfrm>
            <a:off x="880406" y="5293280"/>
            <a:ext cx="4365298" cy="369332"/>
          </a:xfrm>
          <a:prstGeom prst="rect">
            <a:avLst/>
          </a:prstGeom>
        </p:spPr>
        <p:txBody>
          <a:bodyPr wrap="none">
            <a:spAutoFit/>
          </a:bodyPr>
          <a:lstStyle/>
          <a:p>
            <a:r>
              <a:rPr lang="en-GB" b="1">
                <a:latin typeface="Arial" panose="020B0604020202020204" pitchFamily="34" charset="0"/>
                <a:ea typeface="Calibri" panose="020F0502020204030204" pitchFamily="34" charset="0"/>
              </a:rPr>
              <a:t>objets de communication de la passerelle KNX</a:t>
            </a:r>
            <a:endParaRPr lang="es-ES" b="1" dirty="0"/>
          </a:p>
        </p:txBody>
      </p:sp>
    </p:spTree>
    <p:extLst>
      <p:ext uri="{BB962C8B-B14F-4D97-AF65-F5344CB8AC3E}">
        <p14:creationId xmlns:p14="http://schemas.microsoft.com/office/powerpoint/2010/main" val="42264332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La ventilation</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a:ea typeface="Open Sans" panose="020B0606030504020204" pitchFamily="34" charset="0"/>
                <a:cs typeface="Open Sans" panose="020B0606030504020204" pitchFamily="34" charset="0"/>
              </a:rPr>
              <a:t>Plusieurs configurations :</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30722" name="Picture 6">
            <a:extLst>
              <a:ext uri="{FF2B5EF4-FFF2-40B4-BE49-F238E27FC236}">
                <a16:creationId xmlns:a16="http://schemas.microsoft.com/office/drawing/2014/main" id="{EC5F7A40-24B9-4887-B468-3159EF1BE36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57310" y="2276540"/>
            <a:ext cx="4394810" cy="174397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4A2253D0-1B5A-45CD-8FA0-78263F124CEF}"/>
              </a:ext>
            </a:extLst>
          </p:cNvPr>
          <p:cNvSpPr/>
          <p:nvPr/>
        </p:nvSpPr>
        <p:spPr>
          <a:xfrm>
            <a:off x="5747652" y="2228213"/>
            <a:ext cx="2899543" cy="646331"/>
          </a:xfrm>
          <a:prstGeom prst="rect">
            <a:avLst/>
          </a:prstGeom>
        </p:spPr>
        <p:txBody>
          <a:bodyPr wrap="square">
            <a:spAutoFit/>
          </a:bodyPr>
          <a:lstStyle/>
          <a:p>
            <a:r>
              <a:rPr lang="en-US" b="1"/>
              <a:t>climatiseur avec récupération de la chaleur perdue</a:t>
            </a:r>
            <a:endParaRPr lang="es-ES" b="1" dirty="0"/>
          </a:p>
        </p:txBody>
      </p:sp>
      <p:pic>
        <p:nvPicPr>
          <p:cNvPr id="6" name="Picture 7">
            <a:extLst>
              <a:ext uri="{FF2B5EF4-FFF2-40B4-BE49-F238E27FC236}">
                <a16:creationId xmlns:a16="http://schemas.microsoft.com/office/drawing/2014/main" id="{4B85EDD0-CAC8-4C85-9EC2-54E0B85CB45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57309" y="4421332"/>
            <a:ext cx="4427699" cy="174397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B8CE675-B803-4239-A17B-02B5D7F8FF0A}"/>
              </a:ext>
            </a:extLst>
          </p:cNvPr>
          <p:cNvSpPr/>
          <p:nvPr/>
        </p:nvSpPr>
        <p:spPr>
          <a:xfrm>
            <a:off x="5750592" y="4390864"/>
            <a:ext cx="2925864" cy="646331"/>
          </a:xfrm>
          <a:prstGeom prst="rect">
            <a:avLst/>
          </a:prstGeom>
        </p:spPr>
        <p:txBody>
          <a:bodyPr wrap="square">
            <a:spAutoFit/>
          </a:bodyPr>
          <a:lstStyle/>
          <a:p>
            <a:r>
              <a:rPr lang="en-US" b="1"/>
              <a:t>Air conditionné avec récupération de refroidissement</a:t>
            </a:r>
            <a:endParaRPr lang="es-ES" b="1" dirty="0"/>
          </a:p>
        </p:txBody>
      </p:sp>
    </p:spTree>
    <p:extLst>
      <p:ext uri="{BB962C8B-B14F-4D97-AF65-F5344CB8AC3E}">
        <p14:creationId xmlns:p14="http://schemas.microsoft.com/office/powerpoint/2010/main" val="14213321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La ventilation</a:t>
            </a:r>
            <a:endParaRPr lang="en-GB" dirty="0"/>
          </a:p>
        </p:txBody>
      </p:sp>
      <p:pic>
        <p:nvPicPr>
          <p:cNvPr id="28674" name="Picture 8">
            <a:extLst>
              <a:ext uri="{FF2B5EF4-FFF2-40B4-BE49-F238E27FC236}">
                <a16:creationId xmlns:a16="http://schemas.microsoft.com/office/drawing/2014/main" id="{70742D11-3403-413E-ADA6-277FB40FB8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3095" y="1700808"/>
            <a:ext cx="7258406" cy="403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C0ACD91A-B609-43F6-8F0D-87F5121DF49F}"/>
              </a:ext>
            </a:extLst>
          </p:cNvPr>
          <p:cNvSpPr/>
          <p:nvPr/>
        </p:nvSpPr>
        <p:spPr>
          <a:xfrm>
            <a:off x="3851920" y="5942891"/>
            <a:ext cx="3762568" cy="369332"/>
          </a:xfrm>
          <a:prstGeom prst="rect">
            <a:avLst/>
          </a:prstGeom>
        </p:spPr>
        <p:txBody>
          <a:bodyPr wrap="none">
            <a:spAutoFit/>
          </a:bodyPr>
          <a:lstStyle/>
          <a:p>
            <a:r>
              <a:rPr lang="en-GB" b="1" dirty="0" err="1"/>
              <a:t>schéma</a:t>
            </a:r>
            <a:r>
              <a:rPr lang="en-GB" b="1" dirty="0"/>
              <a:t> </a:t>
            </a:r>
            <a:r>
              <a:rPr lang="en-GB" b="1" dirty="0" err="1"/>
              <a:t>d'une</a:t>
            </a:r>
            <a:r>
              <a:rPr lang="en-GB" b="1" dirty="0"/>
              <a:t> </a:t>
            </a:r>
            <a:r>
              <a:rPr lang="en-GB" b="1" dirty="0" err="1"/>
              <a:t>intégration</a:t>
            </a:r>
            <a:r>
              <a:rPr lang="en-GB" b="1" dirty="0"/>
              <a:t> avec </a:t>
            </a:r>
            <a:r>
              <a:rPr lang="en-GB" b="1" dirty="0" err="1"/>
              <a:t>une</a:t>
            </a:r>
            <a:r>
              <a:rPr lang="en-GB" b="1" dirty="0"/>
              <a:t> </a:t>
            </a:r>
            <a:r>
              <a:rPr lang="en-GB" b="1" dirty="0" err="1"/>
              <a:t>passerelle</a:t>
            </a:r>
            <a:endParaRPr lang="es-ES" dirty="0"/>
          </a:p>
        </p:txBody>
      </p:sp>
    </p:spTree>
    <p:extLst>
      <p:ext uri="{BB962C8B-B14F-4D97-AF65-F5344CB8AC3E}">
        <p14:creationId xmlns:p14="http://schemas.microsoft.com/office/powerpoint/2010/main" val="29727790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Intégration avec KNX</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611560" y="1556792"/>
            <a:ext cx="2231728"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1600" kern="0">
                <a:solidFill>
                  <a:schemeClr val="tx1"/>
                </a:solidFill>
                <a:ea typeface="Open Sans" panose="020B0606030504020204" pitchFamily="34" charset="0"/>
                <a:cs typeface="Open Sans" panose="020B0606030504020204" pitchFamily="34" charset="0"/>
              </a:rPr>
              <a:t>communication des objets pour la ventilation mécanique naturelle</a:t>
            </a: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pic>
        <p:nvPicPr>
          <p:cNvPr id="27650" name="Picture 9">
            <a:extLst>
              <a:ext uri="{FF2B5EF4-FFF2-40B4-BE49-F238E27FC236}">
                <a16:creationId xmlns:a16="http://schemas.microsoft.com/office/drawing/2014/main" id="{64092BC7-8218-42BC-9642-7AAFC2BE7F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16" y="1560297"/>
            <a:ext cx="5662636" cy="4536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54889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Intégration avec KNX</a:t>
            </a:r>
            <a:endParaRPr lang="en-GB" dirty="0"/>
          </a:p>
        </p:txBody>
      </p:sp>
      <p:pic>
        <p:nvPicPr>
          <p:cNvPr id="26626" name="Picture 10">
            <a:extLst>
              <a:ext uri="{FF2B5EF4-FFF2-40B4-BE49-F238E27FC236}">
                <a16:creationId xmlns:a16="http://schemas.microsoft.com/office/drawing/2014/main" id="{B33E62FF-5E3A-4C81-9B36-13E334BBFB7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11760" y="1545111"/>
            <a:ext cx="5491336" cy="4804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82BDB082-993E-434A-A1D4-928FD2EDD3AC}"/>
              </a:ext>
            </a:extLst>
          </p:cNvPr>
          <p:cNvSpPr/>
          <p:nvPr/>
        </p:nvSpPr>
        <p:spPr>
          <a:xfrm>
            <a:off x="539552" y="5518973"/>
            <a:ext cx="2520280" cy="646331"/>
          </a:xfrm>
          <a:prstGeom prst="rect">
            <a:avLst/>
          </a:prstGeom>
        </p:spPr>
        <p:txBody>
          <a:bodyPr wrap="square">
            <a:spAutoFit/>
          </a:bodyPr>
          <a:lstStyle/>
          <a:p>
            <a:r>
              <a:rPr lang="en-GB" b="1" dirty="0" err="1"/>
              <a:t>schéma</a:t>
            </a:r>
            <a:r>
              <a:rPr lang="en-GB" b="1" dirty="0"/>
              <a:t> </a:t>
            </a:r>
            <a:r>
              <a:rPr lang="en-GB" b="1" dirty="0" err="1"/>
              <a:t>d'une</a:t>
            </a:r>
            <a:r>
              <a:rPr lang="en-GB" b="1" dirty="0"/>
              <a:t> ventilation </a:t>
            </a:r>
            <a:r>
              <a:rPr lang="en-GB" b="1" dirty="0" err="1"/>
              <a:t>mécanique</a:t>
            </a:r>
            <a:r>
              <a:rPr lang="en-GB" b="1" dirty="0"/>
              <a:t> naturelle</a:t>
            </a:r>
            <a:endParaRPr lang="es-ES" dirty="0"/>
          </a:p>
        </p:txBody>
      </p:sp>
    </p:spTree>
    <p:extLst>
      <p:ext uri="{BB962C8B-B14F-4D97-AF65-F5344CB8AC3E}">
        <p14:creationId xmlns:p14="http://schemas.microsoft.com/office/powerpoint/2010/main" val="37338752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Les capteurs physiques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683568"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err="1">
                <a:ea typeface="Open Sans" panose="020B0606030504020204" pitchFamily="34" charset="0"/>
                <a:cs typeface="Open Sans" panose="020B0606030504020204" pitchFamily="34" charset="0"/>
              </a:rPr>
              <a:t>Détecteur</a:t>
            </a:r>
            <a:r>
              <a:rPr lang="en-US" sz="2000" kern="0" dirty="0">
                <a:ea typeface="Open Sans" panose="020B0606030504020204" pitchFamily="34" charset="0"/>
                <a:cs typeface="Open Sans" panose="020B0606030504020204" pitchFamily="34" charset="0"/>
              </a:rPr>
              <a:t> : </a:t>
            </a:r>
            <a:r>
              <a:rPr lang="en-US" sz="2000" kern="0" dirty="0" err="1">
                <a:solidFill>
                  <a:schemeClr val="tx1"/>
                </a:solidFill>
                <a:ea typeface="Open Sans" panose="020B0606030504020204" pitchFamily="34" charset="0"/>
                <a:cs typeface="Open Sans" panose="020B0606030504020204" pitchFamily="34" charset="0"/>
              </a:rPr>
              <a:t>périphérique</a:t>
            </a:r>
            <a:r>
              <a:rPr lang="en-US" sz="2000" kern="0" dirty="0">
                <a:solidFill>
                  <a:schemeClr val="tx1"/>
                </a:solidFill>
                <a:ea typeface="Open Sans" panose="020B0606030504020204" pitchFamily="34" charset="0"/>
                <a:cs typeface="Open Sans" panose="020B0606030504020204" pitchFamily="34" charset="0"/>
              </a:rPr>
              <a:t> qui </a:t>
            </a:r>
            <a:r>
              <a:rPr lang="en-US" sz="2000" kern="0" dirty="0" err="1">
                <a:solidFill>
                  <a:schemeClr val="tx1"/>
                </a:solidFill>
                <a:ea typeface="Open Sans" panose="020B0606030504020204" pitchFamily="34" charset="0"/>
                <a:cs typeface="Open Sans" panose="020B0606030504020204" pitchFamily="34" charset="0"/>
              </a:rPr>
              <a:t>mesure</a:t>
            </a:r>
            <a:r>
              <a:rPr lang="en-US" sz="2000" kern="0" dirty="0">
                <a:solidFill>
                  <a:schemeClr val="tx1"/>
                </a:solidFill>
                <a:ea typeface="Open Sans" panose="020B0606030504020204" pitchFamily="34" charset="0"/>
                <a:cs typeface="Open Sans" panose="020B0606030504020204" pitchFamily="34" charset="0"/>
              </a:rPr>
              <a:t> </a:t>
            </a:r>
            <a:r>
              <a:rPr lang="en-US" sz="2000" kern="0" dirty="0" err="1">
                <a:solidFill>
                  <a:schemeClr val="tx1"/>
                </a:solidFill>
                <a:ea typeface="Open Sans" panose="020B0606030504020204" pitchFamily="34" charset="0"/>
                <a:cs typeface="Open Sans" panose="020B0606030504020204" pitchFamily="34" charset="0"/>
              </a:rPr>
              <a:t>une</a:t>
            </a:r>
            <a:r>
              <a:rPr lang="en-US" sz="2000" kern="0" dirty="0">
                <a:solidFill>
                  <a:schemeClr val="tx1"/>
                </a:solidFill>
                <a:ea typeface="Open Sans" panose="020B0606030504020204" pitchFamily="34" charset="0"/>
                <a:cs typeface="Open Sans" panose="020B0606030504020204" pitchFamily="34" charset="0"/>
              </a:rPr>
              <a:t> grandeur physique et la </a:t>
            </a:r>
            <a:r>
              <a:rPr lang="en-US" sz="2000" kern="0" dirty="0" err="1">
                <a:solidFill>
                  <a:schemeClr val="tx1"/>
                </a:solidFill>
                <a:ea typeface="Open Sans" panose="020B0606030504020204" pitchFamily="34" charset="0"/>
                <a:cs typeface="Open Sans" panose="020B0606030504020204" pitchFamily="34" charset="0"/>
              </a:rPr>
              <a:t>convertit</a:t>
            </a:r>
            <a:r>
              <a:rPr lang="en-US" sz="2000" kern="0" dirty="0">
                <a:solidFill>
                  <a:schemeClr val="tx1"/>
                </a:solidFill>
                <a:ea typeface="Open Sans" panose="020B0606030504020204" pitchFamily="34" charset="0"/>
                <a:cs typeface="Open Sans" panose="020B0606030504020204" pitchFamily="34" charset="0"/>
              </a:rPr>
              <a:t> </a:t>
            </a:r>
            <a:r>
              <a:rPr lang="en-US" sz="2000" kern="0" dirty="0" err="1">
                <a:solidFill>
                  <a:schemeClr val="tx1"/>
                </a:solidFill>
                <a:ea typeface="Open Sans" panose="020B0606030504020204" pitchFamily="34" charset="0"/>
                <a:cs typeface="Open Sans" panose="020B0606030504020204" pitchFamily="34" charset="0"/>
              </a:rPr>
              <a:t>en</a:t>
            </a:r>
            <a:r>
              <a:rPr lang="en-US" sz="2000" kern="0" dirty="0">
                <a:solidFill>
                  <a:schemeClr val="tx1"/>
                </a:solidFill>
                <a:ea typeface="Open Sans" panose="020B0606030504020204" pitchFamily="34" charset="0"/>
                <a:cs typeface="Open Sans" panose="020B0606030504020204" pitchFamily="34" charset="0"/>
              </a:rPr>
              <a:t> un signal </a:t>
            </a:r>
            <a:r>
              <a:rPr lang="en-US" sz="2000" kern="0" dirty="0" err="1">
                <a:solidFill>
                  <a:schemeClr val="tx1"/>
                </a:solidFill>
                <a:ea typeface="Open Sans" panose="020B0606030504020204" pitchFamily="34" charset="0"/>
                <a:cs typeface="Open Sans" panose="020B0606030504020204" pitchFamily="34" charset="0"/>
              </a:rPr>
              <a:t>lisible</a:t>
            </a:r>
            <a:r>
              <a:rPr lang="en-US" sz="2000" kern="0" dirty="0">
                <a:solidFill>
                  <a:schemeClr val="tx1"/>
                </a:solidFill>
                <a:ea typeface="Open Sans" panose="020B0606030504020204" pitchFamily="34" charset="0"/>
                <a:cs typeface="Open Sans" panose="020B0606030504020204" pitchFamily="34" charset="0"/>
              </a:rPr>
              <a:t> par un </a:t>
            </a:r>
            <a:r>
              <a:rPr lang="en-US" sz="2000" kern="0" dirty="0" err="1">
                <a:solidFill>
                  <a:schemeClr val="tx1"/>
                </a:solidFill>
                <a:ea typeface="Open Sans" panose="020B0606030504020204" pitchFamily="34" charset="0"/>
                <a:cs typeface="Open Sans" panose="020B0606030504020204" pitchFamily="34" charset="0"/>
              </a:rPr>
              <a:t>observateur</a:t>
            </a:r>
            <a:r>
              <a:rPr lang="en-US" sz="2000" kern="0" dirty="0">
                <a:solidFill>
                  <a:schemeClr val="tx1"/>
                </a:solidFill>
                <a:ea typeface="Open Sans" panose="020B0606030504020204" pitchFamily="34" charset="0"/>
                <a:cs typeface="Open Sans" panose="020B0606030504020204" pitchFamily="34" charset="0"/>
              </a:rPr>
              <a:t> </a:t>
            </a:r>
            <a:r>
              <a:rPr lang="en-US" sz="2000" kern="0" dirty="0" err="1">
                <a:solidFill>
                  <a:schemeClr val="tx1"/>
                </a:solidFill>
                <a:ea typeface="Open Sans" panose="020B0606030504020204" pitchFamily="34" charset="0"/>
                <a:cs typeface="Open Sans" panose="020B0606030504020204" pitchFamily="34" charset="0"/>
              </a:rPr>
              <a:t>ou</a:t>
            </a:r>
            <a:r>
              <a:rPr lang="en-US" sz="2000" kern="0" dirty="0">
                <a:solidFill>
                  <a:schemeClr val="tx1"/>
                </a:solidFill>
                <a:ea typeface="Open Sans" panose="020B0606030504020204" pitchFamily="34" charset="0"/>
                <a:cs typeface="Open Sans" panose="020B0606030504020204" pitchFamily="34" charset="0"/>
              </a:rPr>
              <a:t> par un instrument</a:t>
            </a:r>
          </a:p>
          <a:p>
            <a:pPr>
              <a:lnSpc>
                <a:spcPct val="150000"/>
              </a:lnSpc>
              <a:defRPr/>
            </a:pPr>
            <a:endParaRPr lang="en-US" sz="2000" kern="0" dirty="0">
              <a:ea typeface="Open Sans" panose="020B0606030504020204" pitchFamily="34" charset="0"/>
              <a:cs typeface="Open Sans" panose="020B0606030504020204" pitchFamily="34" charset="0"/>
            </a:endParaRPr>
          </a:p>
          <a:p>
            <a:pPr>
              <a:lnSpc>
                <a:spcPct val="150000"/>
              </a:lnSpc>
              <a:defRPr/>
            </a:pPr>
            <a:r>
              <a:rPr lang="en-GB" sz="2000" dirty="0" err="1">
                <a:latin typeface="Arial" charset="0"/>
              </a:rPr>
              <a:t>Capteur</a:t>
            </a:r>
            <a:r>
              <a:rPr lang="en-GB" sz="2000" dirty="0">
                <a:latin typeface="Arial" charset="0"/>
              </a:rPr>
              <a:t> physique : </a:t>
            </a:r>
            <a:r>
              <a:rPr lang="en-GB" sz="2000" dirty="0" err="1">
                <a:solidFill>
                  <a:schemeClr val="tx1"/>
                </a:solidFill>
                <a:latin typeface="Arial" charset="0"/>
              </a:rPr>
              <a:t>décrire</a:t>
            </a:r>
            <a:r>
              <a:rPr lang="en-GB" sz="2000" dirty="0">
                <a:solidFill>
                  <a:schemeClr val="tx1"/>
                </a:solidFill>
                <a:latin typeface="Arial" charset="0"/>
              </a:rPr>
              <a:t> la </a:t>
            </a:r>
            <a:r>
              <a:rPr lang="en-GB" sz="2000" dirty="0" err="1">
                <a:solidFill>
                  <a:schemeClr val="tx1"/>
                </a:solidFill>
                <a:latin typeface="Arial" charset="0"/>
              </a:rPr>
              <a:t>catégorie</a:t>
            </a:r>
            <a:r>
              <a:rPr lang="en-GB" sz="2000" dirty="0">
                <a:solidFill>
                  <a:schemeClr val="tx1"/>
                </a:solidFill>
                <a:latin typeface="Arial" charset="0"/>
              </a:rPr>
              <a:t> de </a:t>
            </a:r>
            <a:r>
              <a:rPr lang="en-GB" sz="2000" dirty="0" err="1">
                <a:solidFill>
                  <a:schemeClr val="tx1"/>
                </a:solidFill>
                <a:latin typeface="Arial" charset="0"/>
              </a:rPr>
              <a:t>capteurs</a:t>
            </a:r>
            <a:r>
              <a:rPr lang="en-GB" sz="2000" dirty="0">
                <a:solidFill>
                  <a:schemeClr val="tx1"/>
                </a:solidFill>
                <a:latin typeface="Arial" charset="0"/>
              </a:rPr>
              <a:t> qui </a:t>
            </a:r>
            <a:r>
              <a:rPr lang="en-GB" sz="2000" dirty="0" err="1">
                <a:solidFill>
                  <a:schemeClr val="tx1"/>
                </a:solidFill>
                <a:latin typeface="Arial" charset="0"/>
              </a:rPr>
              <a:t>mesurent</a:t>
            </a:r>
            <a:r>
              <a:rPr lang="en-GB" sz="2000" dirty="0">
                <a:solidFill>
                  <a:schemeClr val="tx1"/>
                </a:solidFill>
                <a:latin typeface="Arial" charset="0"/>
              </a:rPr>
              <a:t> des </a:t>
            </a:r>
            <a:r>
              <a:rPr lang="en-GB" sz="2000" dirty="0" err="1">
                <a:solidFill>
                  <a:schemeClr val="tx1"/>
                </a:solidFill>
                <a:latin typeface="Arial" charset="0"/>
              </a:rPr>
              <a:t>phénomènes</a:t>
            </a:r>
            <a:r>
              <a:rPr lang="en-GB" sz="2000" dirty="0">
                <a:solidFill>
                  <a:schemeClr val="tx1"/>
                </a:solidFill>
                <a:latin typeface="Arial" charset="0"/>
              </a:rPr>
              <a:t> physiques</a:t>
            </a:r>
            <a:endParaRPr lang="en-US" sz="2000" kern="0" dirty="0">
              <a:ea typeface="Open Sans" panose="020B0606030504020204" pitchFamily="34" charset="0"/>
              <a:cs typeface="Open Sans" panose="020B0606030504020204" pitchFamily="34" charset="0"/>
            </a:endParaRP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4334054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 capteur de température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19675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600" kern="0" dirty="0" err="1">
                <a:solidFill>
                  <a:schemeClr val="tx1"/>
                </a:solidFill>
                <a:ea typeface="Open Sans" panose="020B0606030504020204" pitchFamily="34" charset="0"/>
                <a:cs typeface="Open Sans" panose="020B0606030504020204" pitchFamily="34" charset="0"/>
              </a:rPr>
              <a:t>Mesure</a:t>
            </a:r>
            <a:r>
              <a:rPr lang="en-US" sz="1600" kern="0" dirty="0">
                <a:solidFill>
                  <a:schemeClr val="tx1"/>
                </a:solidFill>
                <a:ea typeface="Open Sans" panose="020B0606030504020204" pitchFamily="34" charset="0"/>
                <a:cs typeface="Open Sans" panose="020B0606030504020204" pitchFamily="34" charset="0"/>
              </a:rPr>
              <a:t> la </a:t>
            </a:r>
            <a:r>
              <a:rPr lang="en-US" sz="1600" kern="0" dirty="0" err="1">
                <a:solidFill>
                  <a:schemeClr val="tx1"/>
                </a:solidFill>
                <a:ea typeface="Open Sans" panose="020B0606030504020204" pitchFamily="34" charset="0"/>
                <a:cs typeface="Open Sans" panose="020B0606030504020204" pitchFamily="34" charset="0"/>
              </a:rPr>
              <a:t>valeur</a:t>
            </a:r>
            <a:r>
              <a:rPr lang="en-US" sz="1600" kern="0" dirty="0">
                <a:solidFill>
                  <a:schemeClr val="tx1"/>
                </a:solidFill>
                <a:ea typeface="Open Sans" panose="020B0606030504020204" pitchFamily="34" charset="0"/>
                <a:cs typeface="Open Sans" panose="020B0606030504020204" pitchFamily="34" charset="0"/>
              </a:rPr>
              <a:t> de la </a:t>
            </a:r>
            <a:r>
              <a:rPr lang="en-US" sz="1600" kern="0" dirty="0" err="1">
                <a:solidFill>
                  <a:schemeClr val="tx1"/>
                </a:solidFill>
                <a:ea typeface="Open Sans" panose="020B0606030504020204" pitchFamily="34" charset="0"/>
                <a:cs typeface="Open Sans" panose="020B0606030504020204" pitchFamily="34" charset="0"/>
              </a:rPr>
              <a:t>température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actuelle</a:t>
            </a:r>
            <a:r>
              <a:rPr lang="en-US" sz="1600" kern="0" dirty="0">
                <a:solidFill>
                  <a:schemeClr val="tx1"/>
                </a:solidFill>
                <a:ea typeface="Open Sans" panose="020B0606030504020204" pitchFamily="34" charset="0"/>
                <a:cs typeface="Open Sans" panose="020B0606030504020204" pitchFamily="34" charset="0"/>
              </a:rPr>
              <a:t> </a:t>
            </a:r>
          </a:p>
          <a:p>
            <a:pPr>
              <a:lnSpc>
                <a:spcPct val="150000"/>
              </a:lnSpc>
              <a:defRPr/>
            </a:pPr>
            <a:r>
              <a:rPr lang="en-US" sz="1600" kern="0" dirty="0">
                <a:solidFill>
                  <a:schemeClr val="tx1"/>
                </a:solidFill>
                <a:ea typeface="Open Sans" panose="020B0606030504020204" pitchFamily="34" charset="0"/>
                <a:cs typeface="Open Sans" panose="020B0606030504020204" pitchFamily="34" charset="0"/>
              </a:rPr>
              <a:t>Sa </a:t>
            </a:r>
            <a:r>
              <a:rPr lang="en-US" sz="1600" kern="0" dirty="0" err="1">
                <a:solidFill>
                  <a:schemeClr val="tx1"/>
                </a:solidFill>
                <a:ea typeface="Open Sans" panose="020B0606030504020204" pitchFamily="34" charset="0"/>
                <a:cs typeface="Open Sans" panose="020B0606030504020204" pitchFamily="34" charset="0"/>
              </a:rPr>
              <a:t>sensibilité</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peut</a:t>
            </a:r>
            <a:r>
              <a:rPr lang="en-US" sz="1600" kern="0" dirty="0">
                <a:solidFill>
                  <a:schemeClr val="tx1"/>
                </a:solidFill>
                <a:ea typeface="Open Sans" panose="020B0606030504020204" pitchFamily="34" charset="0"/>
                <a:cs typeface="Open Sans" panose="020B0606030504020204" pitchFamily="34" charset="0"/>
              </a:rPr>
              <a:t> varier </a:t>
            </a:r>
            <a:r>
              <a:rPr lang="en-US" sz="1600" kern="0" dirty="0" err="1">
                <a:solidFill>
                  <a:schemeClr val="tx1"/>
                </a:solidFill>
                <a:ea typeface="Open Sans" panose="020B0606030504020204" pitchFamily="34" charset="0"/>
                <a:cs typeface="Open Sans" panose="020B0606030504020204" pitchFamily="34" charset="0"/>
              </a:rPr>
              <a:t>selon</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l'utilisation</a:t>
            </a:r>
            <a:r>
              <a:rPr lang="en-US" sz="1600" kern="0" dirty="0">
                <a:solidFill>
                  <a:schemeClr val="tx1"/>
                </a:solidFill>
                <a:ea typeface="Open Sans" panose="020B0606030504020204" pitchFamily="34" charset="0"/>
                <a:cs typeface="Open Sans" panose="020B0606030504020204" pitchFamily="34" charset="0"/>
              </a:rPr>
              <a:t> qui </a:t>
            </a:r>
            <a:r>
              <a:rPr lang="en-US" sz="1600" kern="0" dirty="0" err="1">
                <a:solidFill>
                  <a:schemeClr val="tx1"/>
                </a:solidFill>
                <a:ea typeface="Open Sans" panose="020B0606030504020204" pitchFamily="34" charset="0"/>
                <a:cs typeface="Open Sans" panose="020B0606030504020204" pitchFamily="34" charset="0"/>
              </a:rPr>
              <a:t>en</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est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faite</a:t>
            </a: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600" kern="0" dirty="0">
                <a:solidFill>
                  <a:schemeClr val="tx1"/>
                </a:solidFill>
                <a:ea typeface="Open Sans" panose="020B0606030504020204" pitchFamily="34" charset="0"/>
                <a:cs typeface="Open Sans" panose="020B0606030504020204" pitchFamily="34" charset="0"/>
              </a:rPr>
              <a:t>Les </a:t>
            </a:r>
            <a:r>
              <a:rPr lang="en-US" sz="1600" kern="0" dirty="0" err="1">
                <a:solidFill>
                  <a:schemeClr val="tx1"/>
                </a:solidFill>
                <a:ea typeface="Open Sans" panose="020B0606030504020204" pitchFamily="34" charset="0"/>
                <a:cs typeface="Open Sans" panose="020B0606030504020204" pitchFamily="34" charset="0"/>
              </a:rPr>
              <a:t>capteurs</a:t>
            </a:r>
            <a:r>
              <a:rPr lang="en-US" sz="1600" kern="0" dirty="0">
                <a:solidFill>
                  <a:schemeClr val="tx1"/>
                </a:solidFill>
                <a:ea typeface="Open Sans" panose="020B0606030504020204" pitchFamily="34" charset="0"/>
                <a:cs typeface="Open Sans" panose="020B0606030504020204" pitchFamily="34" charset="0"/>
              </a:rPr>
              <a:t> de </a:t>
            </a:r>
            <a:r>
              <a:rPr lang="en-US" sz="1600" kern="0" dirty="0" err="1">
                <a:solidFill>
                  <a:schemeClr val="tx1"/>
                </a:solidFill>
                <a:ea typeface="Open Sans" panose="020B0606030504020204" pitchFamily="34" charset="0"/>
                <a:cs typeface="Open Sans" panose="020B0606030504020204" pitchFamily="34" charset="0"/>
              </a:rPr>
              <a:t>température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doivent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être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calibrés</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avant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leur</a:t>
            </a:r>
            <a:r>
              <a:rPr lang="en-US" sz="1600" kern="0" dirty="0">
                <a:solidFill>
                  <a:schemeClr val="tx1"/>
                </a:solidFill>
                <a:ea typeface="Open Sans" panose="020B0606030504020204" pitchFamily="34" charset="0"/>
                <a:cs typeface="Open Sans" panose="020B0606030504020204" pitchFamily="34" charset="0"/>
              </a:rPr>
              <a:t> première </a:t>
            </a:r>
            <a:r>
              <a:rPr lang="en-US" sz="1600" kern="0" dirty="0" err="1">
                <a:solidFill>
                  <a:schemeClr val="tx1"/>
                </a:solidFill>
                <a:ea typeface="Open Sans" panose="020B0606030504020204" pitchFamily="34" charset="0"/>
                <a:cs typeface="Open Sans" panose="020B0606030504020204" pitchFamily="34" charset="0"/>
              </a:rPr>
              <a:t>utilisation</a:t>
            </a:r>
            <a:r>
              <a:rPr lang="en-US" sz="1600" kern="0" dirty="0">
                <a:solidFill>
                  <a:schemeClr val="tx1"/>
                </a:solidFill>
                <a:ea typeface="Open Sans" panose="020B0606030504020204" pitchFamily="34" charset="0"/>
                <a:cs typeface="Open Sans" panose="020B0606030504020204" pitchFamily="34" charset="0"/>
              </a:rPr>
              <a:t> </a:t>
            </a:r>
          </a:p>
          <a:p>
            <a:pPr>
              <a:lnSpc>
                <a:spcPct val="150000"/>
              </a:lnSpc>
              <a:defRPr/>
            </a:pP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9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9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600" kern="0" dirty="0">
                <a:solidFill>
                  <a:schemeClr val="tx1"/>
                </a:solidFill>
                <a:ea typeface="Open Sans" panose="020B0606030504020204" pitchFamily="34" charset="0"/>
                <a:cs typeface="Open Sans" panose="020B0606030504020204" pitchFamily="34" charset="0"/>
              </a:rPr>
              <a:t>La </a:t>
            </a:r>
            <a:r>
              <a:rPr lang="en-US" sz="1600" kern="0" dirty="0" err="1">
                <a:solidFill>
                  <a:schemeClr val="tx1"/>
                </a:solidFill>
                <a:ea typeface="Open Sans" panose="020B0606030504020204" pitchFamily="34" charset="0"/>
                <a:cs typeface="Open Sans" panose="020B0606030504020204" pitchFamily="34" charset="0"/>
              </a:rPr>
              <a:t>température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est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transmise</a:t>
            </a:r>
            <a:r>
              <a:rPr lang="en-US" sz="1600" kern="0" dirty="0">
                <a:solidFill>
                  <a:schemeClr val="tx1"/>
                </a:solidFill>
                <a:ea typeface="Open Sans" panose="020B0606030504020204" pitchFamily="34" charset="0"/>
                <a:cs typeface="Open Sans" panose="020B0606030504020204" pitchFamily="34" charset="0"/>
              </a:rPr>
              <a:t> à </a:t>
            </a:r>
            <a:r>
              <a:rPr lang="en-US" sz="1600" kern="0" dirty="0" err="1">
                <a:solidFill>
                  <a:schemeClr val="tx1"/>
                </a:solidFill>
                <a:ea typeface="Open Sans" panose="020B0606030504020204" pitchFamily="34" charset="0"/>
                <a:cs typeface="Open Sans" panose="020B0606030504020204" pitchFamily="34" charset="0"/>
              </a:rPr>
              <a:t>l'aide</a:t>
            </a:r>
            <a:r>
              <a:rPr lang="en-US" sz="1600" kern="0" dirty="0">
                <a:solidFill>
                  <a:schemeClr val="tx1"/>
                </a:solidFill>
                <a:ea typeface="Open Sans" panose="020B0606030504020204" pitchFamily="34" charset="0"/>
                <a:cs typeface="Open Sans" panose="020B0606030504020204" pitchFamily="34" charset="0"/>
              </a:rPr>
              <a:t> de 2 octets (9.001, </a:t>
            </a:r>
            <a:r>
              <a:rPr lang="en-US" sz="1600" kern="0" dirty="0" err="1">
                <a:solidFill>
                  <a:schemeClr val="tx1"/>
                </a:solidFill>
                <a:ea typeface="Open Sans" panose="020B0606030504020204" pitchFamily="34" charset="0"/>
                <a:cs typeface="Open Sans" panose="020B0606030504020204" pitchFamily="34" charset="0"/>
              </a:rPr>
              <a:t>DPT_Value_Temp</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ou</a:t>
            </a:r>
            <a:r>
              <a:rPr lang="en-US" sz="1600" kern="0" dirty="0">
                <a:solidFill>
                  <a:schemeClr val="tx1"/>
                </a:solidFill>
                <a:ea typeface="Open Sans" panose="020B0606030504020204" pitchFamily="34" charset="0"/>
                <a:cs typeface="Open Sans" panose="020B0606030504020204" pitchFamily="34" charset="0"/>
              </a:rPr>
              <a:t> 9.002, </a:t>
            </a:r>
            <a:r>
              <a:rPr lang="en-US" sz="1600" kern="0" dirty="0" err="1">
                <a:solidFill>
                  <a:schemeClr val="tx1"/>
                </a:solidFill>
                <a:ea typeface="Open Sans" panose="020B0606030504020204" pitchFamily="34" charset="0"/>
                <a:cs typeface="Open Sans" panose="020B0606030504020204" pitchFamily="34" charset="0"/>
              </a:rPr>
              <a:t>DPT_Value_Tempd</a:t>
            </a:r>
            <a:r>
              <a:rPr lang="en-US" sz="1600" kern="0" dirty="0">
                <a:solidFill>
                  <a:schemeClr val="tx1"/>
                </a:solidFill>
                <a:ea typeface="Open Sans" panose="020B0606030504020204" pitchFamily="34" charset="0"/>
                <a:cs typeface="Open Sans" panose="020B0606030504020204" pitchFamily="34" charset="0"/>
              </a:rPr>
              <a:t>)avec </a:t>
            </a:r>
            <a:r>
              <a:rPr lang="en-US" sz="1600" kern="0" dirty="0" err="1">
                <a:solidFill>
                  <a:schemeClr val="tx1"/>
                </a:solidFill>
                <a:ea typeface="Open Sans" panose="020B0606030504020204" pitchFamily="34" charset="0"/>
                <a:cs typeface="Open Sans" panose="020B0606030504020204" pitchFamily="34" charset="0"/>
              </a:rPr>
              <a:t>une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résolution</a:t>
            </a:r>
            <a:r>
              <a:rPr lang="en-US" sz="1600" kern="0" dirty="0">
                <a:solidFill>
                  <a:schemeClr val="tx1"/>
                </a:solidFill>
                <a:ea typeface="Open Sans" panose="020B0606030504020204" pitchFamily="34" charset="0"/>
                <a:cs typeface="Open Sans" panose="020B0606030504020204" pitchFamily="34" charset="0"/>
              </a:rPr>
              <a:t> de 0,01 °C </a:t>
            </a:r>
            <a:r>
              <a:rPr lang="en-US" sz="1600" kern="0" dirty="0" err="1">
                <a:solidFill>
                  <a:schemeClr val="tx1"/>
                </a:solidFill>
                <a:ea typeface="Open Sans" panose="020B0606030504020204" pitchFamily="34" charset="0"/>
                <a:cs typeface="Open Sans" panose="020B0606030504020204" pitchFamily="34" charset="0"/>
              </a:rPr>
              <a:t>ou</a:t>
            </a:r>
            <a:r>
              <a:rPr lang="en-US" sz="1600" kern="0" dirty="0">
                <a:solidFill>
                  <a:schemeClr val="tx1"/>
                </a:solidFill>
                <a:ea typeface="Open Sans" panose="020B0606030504020204" pitchFamily="34" charset="0"/>
                <a:cs typeface="Open Sans" panose="020B0606030504020204" pitchFamily="34" charset="0"/>
              </a:rPr>
              <a:t> 0,01 K </a:t>
            </a:r>
          </a:p>
          <a:p>
            <a:pPr marL="457200" indent="-457200">
              <a:buFont typeface="+mj-lt"/>
              <a:buAutoNum type="arabicPeriod"/>
            </a:pPr>
            <a:endParaRPr lang="en-US" sz="1600" kern="0" dirty="0">
              <a:solidFill>
                <a:schemeClr val="tx1"/>
              </a:solidFill>
              <a:ea typeface="Open Sans" panose="020B0606030504020204" pitchFamily="34" charset="0"/>
              <a:cs typeface="Open Sans" panose="020B0606030504020204" pitchFamily="34" charset="0"/>
            </a:endParaRPr>
          </a:p>
        </p:txBody>
      </p:sp>
      <p:pic>
        <p:nvPicPr>
          <p:cNvPr id="16386" name="Picture 2" descr="GO_temp_dpt9001">
            <a:extLst>
              <a:ext uri="{FF2B5EF4-FFF2-40B4-BE49-F238E27FC236}">
                <a16:creationId xmlns:a16="http://schemas.microsoft.com/office/drawing/2014/main" id="{FA5F8B96-9D18-4AFE-9D2C-07354FF6A0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1" y="5733256"/>
            <a:ext cx="6624737" cy="311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3" descr="arcus_temperature_sensor">
            <a:extLst>
              <a:ext uri="{FF2B5EF4-FFF2-40B4-BE49-F238E27FC236}">
                <a16:creationId xmlns:a16="http://schemas.microsoft.com/office/drawing/2014/main" id="{228757CA-59EE-4EE5-9FE0-1FB67A7388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25324">
            <a:off x="2242219" y="2921203"/>
            <a:ext cx="1096076" cy="1500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Picture 4" descr="push_button_with_thermostat">
            <a:extLst>
              <a:ext uri="{FF2B5EF4-FFF2-40B4-BE49-F238E27FC236}">
                <a16:creationId xmlns:a16="http://schemas.microsoft.com/office/drawing/2014/main" id="{CA4752B8-1A91-4DA7-AC3B-8C2E048879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6056" y="2924944"/>
            <a:ext cx="1221425" cy="1221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84609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 capteur de luminosité</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560320"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600" kern="0" dirty="0" err="1">
                <a:solidFill>
                  <a:schemeClr val="tx1"/>
                </a:solidFill>
                <a:ea typeface="Open Sans" panose="020B0606030504020204" pitchFamily="34" charset="0"/>
                <a:cs typeface="Open Sans" panose="020B0606030504020204" pitchFamily="34" charset="0"/>
              </a:rPr>
              <a:t>Détecte</a:t>
            </a:r>
            <a:r>
              <a:rPr lang="en-US" sz="1600" kern="0" dirty="0">
                <a:solidFill>
                  <a:schemeClr val="tx1"/>
                </a:solidFill>
                <a:ea typeface="Open Sans" panose="020B0606030504020204" pitchFamily="34" charset="0"/>
                <a:cs typeface="Open Sans" panose="020B0606030504020204" pitchFamily="34" charset="0"/>
              </a:rPr>
              <a:t> la </a:t>
            </a:r>
            <a:r>
              <a:rPr lang="en-US" sz="1600" kern="0" dirty="0" err="1">
                <a:solidFill>
                  <a:schemeClr val="tx1"/>
                </a:solidFill>
                <a:ea typeface="Open Sans" panose="020B0606030504020204" pitchFamily="34" charset="0"/>
                <a:cs typeface="Open Sans" panose="020B0606030504020204" pitchFamily="34" charset="0"/>
              </a:rPr>
              <a:t>valeur</a:t>
            </a:r>
            <a:r>
              <a:rPr lang="en-US" sz="1600" kern="0" dirty="0">
                <a:solidFill>
                  <a:schemeClr val="tx1"/>
                </a:solidFill>
                <a:ea typeface="Open Sans" panose="020B0606030504020204" pitchFamily="34" charset="0"/>
                <a:cs typeface="Open Sans" panose="020B0606030504020204" pitchFamily="34" charset="0"/>
              </a:rPr>
              <a:t> de </a:t>
            </a:r>
            <a:r>
              <a:rPr lang="en-US" sz="1600" kern="0" dirty="0" err="1">
                <a:solidFill>
                  <a:schemeClr val="tx1"/>
                </a:solidFill>
                <a:ea typeface="Open Sans" panose="020B0606030504020204" pitchFamily="34" charset="0"/>
                <a:cs typeface="Open Sans" panose="020B0606030504020204" pitchFamily="34" charset="0"/>
              </a:rPr>
              <a:t>luminosité</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actuelle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d'une</a:t>
            </a:r>
            <a:r>
              <a:rPr lang="en-US" sz="1600" kern="0" dirty="0">
                <a:solidFill>
                  <a:schemeClr val="tx1"/>
                </a:solidFill>
                <a:ea typeface="Open Sans" panose="020B0606030504020204" pitchFamily="34" charset="0"/>
                <a:cs typeface="Open Sans" panose="020B0606030504020204" pitchFamily="34" charset="0"/>
              </a:rPr>
              <a:t> zone </a:t>
            </a:r>
          </a:p>
          <a:p>
            <a:pPr>
              <a:lnSpc>
                <a:spcPct val="150000"/>
              </a:lnSpc>
              <a:defRPr/>
            </a:pPr>
            <a:r>
              <a:rPr lang="en-US" sz="1600" kern="0" dirty="0" err="1">
                <a:solidFill>
                  <a:schemeClr val="tx1"/>
                </a:solidFill>
                <a:ea typeface="Open Sans" panose="020B0606030504020204" pitchFamily="34" charset="0"/>
                <a:cs typeface="Open Sans" panose="020B0606030504020204" pitchFamily="34" charset="0"/>
              </a:rPr>
              <a:t>Certains</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d'entre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eux</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détectent</a:t>
            </a:r>
            <a:r>
              <a:rPr lang="en-US" sz="1600" kern="0" dirty="0">
                <a:solidFill>
                  <a:schemeClr val="tx1"/>
                </a:solidFill>
                <a:ea typeface="Open Sans" panose="020B0606030504020204" pitchFamily="34" charset="0"/>
                <a:cs typeface="Open Sans" panose="020B0606030504020204" pitchFamily="34" charset="0"/>
              </a:rPr>
              <a:t> non </a:t>
            </a:r>
            <a:r>
              <a:rPr lang="en-US" sz="1600" kern="0" dirty="0" err="1">
                <a:solidFill>
                  <a:schemeClr val="tx1"/>
                </a:solidFill>
                <a:ea typeface="Open Sans" panose="020B0606030504020204" pitchFamily="34" charset="0"/>
                <a:cs typeface="Open Sans" panose="020B0606030504020204" pitchFamily="34" charset="0"/>
              </a:rPr>
              <a:t>seulement</a:t>
            </a:r>
            <a:r>
              <a:rPr lang="en-US" sz="1600" kern="0" dirty="0">
                <a:solidFill>
                  <a:schemeClr val="tx1"/>
                </a:solidFill>
                <a:ea typeface="Open Sans" panose="020B0606030504020204" pitchFamily="34" charset="0"/>
                <a:cs typeface="Open Sans" panose="020B0606030504020204" pitchFamily="34" charset="0"/>
              </a:rPr>
              <a:t> la </a:t>
            </a:r>
            <a:r>
              <a:rPr lang="en-US" sz="1600" kern="0" dirty="0" err="1">
                <a:solidFill>
                  <a:schemeClr val="tx1"/>
                </a:solidFill>
                <a:ea typeface="Open Sans" panose="020B0606030504020204" pitchFamily="34" charset="0"/>
                <a:cs typeface="Open Sans" panose="020B0606030504020204" pitchFamily="34" charset="0"/>
              </a:rPr>
              <a:t>luminosité</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mais</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aussi</a:t>
            </a:r>
            <a:r>
              <a:rPr lang="en-US" sz="1600" kern="0" dirty="0">
                <a:solidFill>
                  <a:schemeClr val="tx1"/>
                </a:solidFill>
                <a:ea typeface="Open Sans" panose="020B0606030504020204" pitchFamily="34" charset="0"/>
                <a:cs typeface="Open Sans" panose="020B0606030504020204" pitchFamily="34" charset="0"/>
              </a:rPr>
              <a:t> la position du soleil</a:t>
            </a:r>
          </a:p>
          <a:p>
            <a:pPr>
              <a:lnSpc>
                <a:spcPct val="150000"/>
              </a:lnSpc>
              <a:defRPr/>
            </a:pP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600" kern="0" dirty="0">
                <a:solidFill>
                  <a:schemeClr val="tx1"/>
                </a:solidFill>
                <a:ea typeface="Open Sans" panose="020B0606030504020204" pitchFamily="34" charset="0"/>
                <a:cs typeface="Open Sans" panose="020B0606030504020204" pitchFamily="34" charset="0"/>
              </a:rPr>
              <a:t>La </a:t>
            </a:r>
            <a:r>
              <a:rPr lang="en-US" sz="1600" kern="0" dirty="0" err="1">
                <a:solidFill>
                  <a:schemeClr val="tx1"/>
                </a:solidFill>
                <a:ea typeface="Open Sans" panose="020B0606030504020204" pitchFamily="34" charset="0"/>
                <a:cs typeface="Open Sans" panose="020B0606030504020204" pitchFamily="34" charset="0"/>
              </a:rPr>
              <a:t>luminosité</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est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représentée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en</a:t>
            </a:r>
            <a:r>
              <a:rPr lang="en-US" sz="1600" kern="0" dirty="0">
                <a:solidFill>
                  <a:schemeClr val="tx1"/>
                </a:solidFill>
                <a:ea typeface="Open Sans" panose="020B0606030504020204" pitchFamily="34" charset="0"/>
                <a:cs typeface="Open Sans" panose="020B0606030504020204" pitchFamily="34" charset="0"/>
              </a:rPr>
              <a:t> lux et </a:t>
            </a:r>
            <a:r>
              <a:rPr lang="en-US" sz="1600" kern="0" dirty="0" err="1">
                <a:solidFill>
                  <a:schemeClr val="tx1"/>
                </a:solidFill>
                <a:ea typeface="Open Sans" panose="020B0606030504020204" pitchFamily="34" charset="0"/>
                <a:cs typeface="Open Sans" panose="020B0606030504020204" pitchFamily="34" charset="0"/>
              </a:rPr>
              <a:t>transmise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en</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utilisant</a:t>
            </a:r>
            <a:r>
              <a:rPr lang="en-US" sz="1600" kern="0" dirty="0">
                <a:solidFill>
                  <a:schemeClr val="tx1"/>
                </a:solidFill>
                <a:ea typeface="Open Sans" panose="020B0606030504020204" pitchFamily="34" charset="0"/>
                <a:cs typeface="Open Sans" panose="020B0606030504020204" pitchFamily="34" charset="0"/>
              </a:rPr>
              <a:t> 2 octets (9.004, </a:t>
            </a:r>
            <a:r>
              <a:rPr lang="en-US" sz="1600" kern="0" dirty="0" err="1">
                <a:solidFill>
                  <a:schemeClr val="tx1"/>
                </a:solidFill>
                <a:ea typeface="Open Sans" panose="020B0606030504020204" pitchFamily="34" charset="0"/>
                <a:cs typeface="Open Sans" panose="020B0606030504020204" pitchFamily="34" charset="0"/>
              </a:rPr>
              <a:t>DPT_Value_Lux</a:t>
            </a:r>
            <a:r>
              <a:rPr lang="en-US" sz="1600" kern="0" dirty="0">
                <a:solidFill>
                  <a:schemeClr val="tx1"/>
                </a:solidFill>
                <a:ea typeface="Open Sans" panose="020B0606030504020204" pitchFamily="34" charset="0"/>
                <a:cs typeface="Open Sans" panose="020B0606030504020204" pitchFamily="34" charset="0"/>
              </a:rPr>
              <a:t>) avec </a:t>
            </a:r>
            <a:r>
              <a:rPr lang="en-US" sz="1600" kern="0" dirty="0" err="1">
                <a:solidFill>
                  <a:schemeClr val="tx1"/>
                </a:solidFill>
                <a:ea typeface="Open Sans" panose="020B0606030504020204" pitchFamily="34" charset="0"/>
                <a:cs typeface="Open Sans" panose="020B0606030504020204" pitchFamily="34" charset="0"/>
              </a:rPr>
              <a:t>une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résolution</a:t>
            </a:r>
            <a:r>
              <a:rPr lang="en-US" sz="1600" kern="0" dirty="0">
                <a:solidFill>
                  <a:schemeClr val="tx1"/>
                </a:solidFill>
                <a:ea typeface="Open Sans" panose="020B0606030504020204" pitchFamily="34" charset="0"/>
                <a:cs typeface="Open Sans" panose="020B0606030504020204" pitchFamily="34" charset="0"/>
              </a:rPr>
              <a:t> de 0,01 Lux</a:t>
            </a:r>
          </a:p>
          <a:p>
            <a:pPr>
              <a:lnSpc>
                <a:spcPct val="150000"/>
              </a:lnSpc>
              <a:defRPr/>
            </a:pPr>
            <a:endParaRPr lang="en-US" sz="1600" kern="0" dirty="0">
              <a:ea typeface="Open Sans" panose="020B0606030504020204" pitchFamily="34" charset="0"/>
              <a:cs typeface="Open Sans" panose="020B0606030504020204" pitchFamily="34" charset="0"/>
            </a:endParaRPr>
          </a:p>
          <a:p>
            <a:pPr>
              <a:lnSpc>
                <a:spcPct val="150000"/>
              </a:lnSpc>
              <a:defRPr/>
            </a:pPr>
            <a:endParaRPr lang="en-US" sz="1600" kern="0" dirty="0">
              <a:ea typeface="Open Sans" panose="020B0606030504020204" pitchFamily="34" charset="0"/>
              <a:cs typeface="Open Sans" panose="020B0606030504020204" pitchFamily="34" charset="0"/>
            </a:endParaRPr>
          </a:p>
          <a:p>
            <a:pPr marL="457200" indent="-457200">
              <a:buFont typeface="+mj-lt"/>
              <a:buAutoNum type="arabicPeriod"/>
            </a:pPr>
            <a:endParaRPr lang="en-US" sz="1600" kern="0" dirty="0">
              <a:ea typeface="Open Sans" panose="020B0606030504020204" pitchFamily="34" charset="0"/>
              <a:cs typeface="Open Sans" panose="020B0606030504020204" pitchFamily="34" charset="0"/>
            </a:endParaRPr>
          </a:p>
        </p:txBody>
      </p:sp>
      <p:pic>
        <p:nvPicPr>
          <p:cNvPr id="4" name="Picture 3">
            <a:extLst>
              <a:ext uri="{FF2B5EF4-FFF2-40B4-BE49-F238E27FC236}">
                <a16:creationId xmlns:a16="http://schemas.microsoft.com/office/drawing/2014/main" id="{2B13DE58-497D-4BB2-B7B3-242B68BC403F}"/>
              </a:ext>
            </a:extLst>
          </p:cNvPr>
          <p:cNvPicPr>
            <a:picLocks noChangeAspect="1"/>
          </p:cNvPicPr>
          <p:nvPr/>
        </p:nvPicPr>
        <p:blipFill>
          <a:blip r:embed="rId3"/>
          <a:stretch>
            <a:fillRect/>
          </a:stretch>
        </p:blipFill>
        <p:spPr>
          <a:xfrm>
            <a:off x="1259632" y="5733256"/>
            <a:ext cx="6480720" cy="366630"/>
          </a:xfrm>
          <a:prstGeom prst="rect">
            <a:avLst/>
          </a:prstGeom>
        </p:spPr>
      </p:pic>
      <p:pic>
        <p:nvPicPr>
          <p:cNvPr id="15363" name="Picture 3" descr="theben_brihtness_temperature">
            <a:extLst>
              <a:ext uri="{FF2B5EF4-FFF2-40B4-BE49-F238E27FC236}">
                <a16:creationId xmlns:a16="http://schemas.microsoft.com/office/drawing/2014/main" id="{67472DBE-8ACC-436D-83AC-682BDA20275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24128" y="2873507"/>
            <a:ext cx="1408112" cy="191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Picture 4" descr="product_picture_P_I201_XX_01127I">
            <a:extLst>
              <a:ext uri="{FF2B5EF4-FFF2-40B4-BE49-F238E27FC236}">
                <a16:creationId xmlns:a16="http://schemas.microsoft.com/office/drawing/2014/main" id="{7FC390D5-E75E-4FD1-9F65-A7E9257627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42492" y="3201367"/>
            <a:ext cx="2857500" cy="14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06692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1" name="Picture 5" descr="Wind sensor">
            <a:extLst>
              <a:ext uri="{FF2B5EF4-FFF2-40B4-BE49-F238E27FC236}">
                <a16:creationId xmlns:a16="http://schemas.microsoft.com/office/drawing/2014/main" id="{187D3FCE-F962-4C38-BC1E-07077EAF7C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4288" y="1616386"/>
            <a:ext cx="1439863"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 capteur de vent</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268760"/>
            <a:ext cx="655090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a:solidFill>
                  <a:schemeClr val="tx1"/>
                </a:solidFill>
                <a:ea typeface="Open Sans" panose="020B0606030504020204" pitchFamily="34" charset="0"/>
                <a:cs typeface="Open Sans" panose="020B0606030504020204" pitchFamily="34" charset="0"/>
              </a:rPr>
              <a:t>Mesure la vitesse du vent</a:t>
            </a:r>
          </a:p>
          <a:p>
            <a:pPr>
              <a:lnSpc>
                <a:spcPct val="150000"/>
              </a:lnSpc>
              <a:defRPr/>
            </a:pPr>
            <a:r>
              <a:rPr lang="en-US" sz="1800" kern="0">
                <a:solidFill>
                  <a:schemeClr val="tx1"/>
                </a:solidFill>
                <a:ea typeface="Open Sans" panose="020B0606030504020204" pitchFamily="34" charset="0"/>
                <a:cs typeface="Open Sans" panose="020B0606030504020204" pitchFamily="34" charset="0"/>
              </a:rPr>
              <a:t>Comprend un système de chauffage individuel pour éviter le gel</a:t>
            </a:r>
          </a:p>
          <a:p>
            <a:pPr marL="0" indent="0">
              <a:lnSpc>
                <a:spcPct val="150000"/>
              </a:lnSpc>
              <a:buNone/>
              <a:defRPr/>
            </a:pPr>
            <a:r>
              <a:rPr lang="en-US" sz="1800" kern="0">
                <a:ea typeface="Open Sans" panose="020B0606030504020204" pitchFamily="34" charset="0"/>
                <a:cs typeface="Open Sans" panose="020B0606030504020204" pitchFamily="34" charset="0"/>
              </a:rPr>
              <a:t>Types: </a:t>
            </a:r>
          </a:p>
          <a:p>
            <a:pPr>
              <a:lnSpc>
                <a:spcPct val="150000"/>
              </a:lnSpc>
              <a:defRPr/>
            </a:pPr>
            <a:r>
              <a:rPr lang="en-US" sz="1800" kern="0">
                <a:ea typeface="Open Sans" panose="020B0606030504020204" pitchFamily="34" charset="0"/>
                <a:cs typeface="Open Sans" panose="020B0606030504020204" pitchFamily="34" charset="0"/>
              </a:rPr>
              <a:t>Coupe Anémomètre</a:t>
            </a:r>
            <a:r>
              <a:rPr lang="en-US" sz="1800" kern="0">
                <a:solidFill>
                  <a:schemeClr val="tx1"/>
                </a:solidFill>
                <a:ea typeface="Open Sans" panose="020B0606030504020204" pitchFamily="34" charset="0"/>
                <a:cs typeface="Open Sans" panose="020B0606030504020204" pitchFamily="34" charset="0"/>
              </a:rPr>
              <a:t> : capteur de vent avec BCU</a:t>
            </a:r>
          </a:p>
          <a:p>
            <a:pPr>
              <a:lnSpc>
                <a:spcPct val="150000"/>
              </a:lnSpc>
              <a:defRPr/>
            </a:pPr>
            <a:r>
              <a:rPr lang="en-US" sz="1800" kern="0">
                <a:ea typeface="Open Sans" panose="020B0606030504020204" pitchFamily="34" charset="0"/>
                <a:cs typeface="Open Sans" panose="020B0606030504020204" pitchFamily="34" charset="0"/>
              </a:rPr>
              <a:t>Habitations compactes</a:t>
            </a:r>
          </a:p>
          <a:p>
            <a:pPr>
              <a:lnSpc>
                <a:spcPct val="150000"/>
              </a:lnSpc>
              <a:defRPr/>
            </a:pPr>
            <a:endParaRPr lang="en-US" sz="1400" kern="0" dirty="0">
              <a:ea typeface="Open Sans" panose="020B0606030504020204" pitchFamily="34" charset="0"/>
              <a:cs typeface="Open Sans" panose="020B0606030504020204" pitchFamily="34" charset="0"/>
            </a:endParaRPr>
          </a:p>
          <a:p>
            <a:pPr>
              <a:lnSpc>
                <a:spcPct val="150000"/>
              </a:lnSpc>
              <a:defRPr/>
            </a:pPr>
            <a:r>
              <a:rPr lang="en-US" sz="1800" kern="0">
                <a:solidFill>
                  <a:schemeClr val="tx1"/>
                </a:solidFill>
                <a:ea typeface="Open Sans" panose="020B0606030504020204" pitchFamily="34" charset="0"/>
                <a:cs typeface="Open Sans" panose="020B0606030504020204" pitchFamily="34" charset="0"/>
              </a:rPr>
              <a:t>La vitesse du vent est représentée en mètre par seconde et transmise à l'aide de 2 octets (9.005, DPT_Value_Wsp) avec une résolution de 0,01 m/s</a:t>
            </a: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1800" kern="0" dirty="0">
              <a:solidFill>
                <a:schemeClr val="tx1"/>
              </a:solidFill>
              <a:ea typeface="Open Sans" panose="020B0606030504020204" pitchFamily="34" charset="0"/>
              <a:cs typeface="Open Sans" panose="020B0606030504020204" pitchFamily="34" charset="0"/>
            </a:endParaRPr>
          </a:p>
        </p:txBody>
      </p:sp>
      <p:pic>
        <p:nvPicPr>
          <p:cNvPr id="14338" name="Picture 2" descr="GO_WindSpeed_dpt9005">
            <a:extLst>
              <a:ext uri="{FF2B5EF4-FFF2-40B4-BE49-F238E27FC236}">
                <a16:creationId xmlns:a16="http://schemas.microsoft.com/office/drawing/2014/main" id="{1FEA62CA-5D58-44D1-9620-C6C4596276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6021288"/>
            <a:ext cx="6763896" cy="365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D2CB65E0-320B-46F4-8B63-6F3189029DD7}"/>
              </a:ext>
            </a:extLst>
          </p:cNvPr>
          <p:cNvPicPr>
            <a:picLocks noChangeAspect="1"/>
          </p:cNvPicPr>
          <p:nvPr/>
        </p:nvPicPr>
        <p:blipFill>
          <a:blip r:embed="rId5"/>
          <a:stretch>
            <a:fillRect/>
          </a:stretch>
        </p:blipFill>
        <p:spPr>
          <a:xfrm>
            <a:off x="7164288" y="3555665"/>
            <a:ext cx="1390476" cy="1209524"/>
          </a:xfrm>
          <a:prstGeom prst="rect">
            <a:avLst/>
          </a:prstGeom>
        </p:spPr>
      </p:pic>
    </p:spTree>
    <p:extLst>
      <p:ext uri="{BB962C8B-B14F-4D97-AF65-F5344CB8AC3E}">
        <p14:creationId xmlns:p14="http://schemas.microsoft.com/office/powerpoint/2010/main" val="29309412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 capteur de précipitations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a:solidFill>
                  <a:schemeClr val="tx1"/>
                </a:solidFill>
                <a:ea typeface="Open Sans" panose="020B0606030504020204" pitchFamily="34" charset="0"/>
                <a:cs typeface="Open Sans" panose="020B0606030504020204" pitchFamily="34" charset="0"/>
              </a:rPr>
              <a:t>Aussi connu sous le nom de capteur de pluie </a:t>
            </a:r>
          </a:p>
          <a:p>
            <a:pPr>
              <a:lnSpc>
                <a:spcPct val="150000"/>
              </a:lnSpc>
              <a:defRPr/>
            </a:pPr>
            <a:r>
              <a:rPr lang="en-US" sz="1800" kern="0">
                <a:solidFill>
                  <a:schemeClr val="tx1"/>
                </a:solidFill>
                <a:ea typeface="Open Sans" panose="020B0606030504020204" pitchFamily="34" charset="0"/>
                <a:cs typeface="Open Sans" panose="020B0606030504020204" pitchFamily="34" charset="0"/>
              </a:rPr>
              <a:t>Détecte les précipitations </a:t>
            </a: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a:solidFill>
                  <a:schemeClr val="tx1"/>
                </a:solidFill>
                <a:ea typeface="Open Sans" panose="020B0606030504020204" pitchFamily="34" charset="0"/>
                <a:cs typeface="Open Sans" panose="020B0606030504020204" pitchFamily="34" charset="0"/>
              </a:rPr>
              <a:t>Utilisé en conjonction avec des actionneurs de stores pour empêcher la toile de protection solaire de se mouiller et de se détruire ou même avec un système d'irrigation pour économiser l'eau</a:t>
            </a: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a:solidFill>
                  <a:schemeClr val="tx1"/>
                </a:solidFill>
                <a:ea typeface="Open Sans" panose="020B0606030504020204" pitchFamily="34" charset="0"/>
                <a:cs typeface="Open Sans" panose="020B0606030504020204" pitchFamily="34" charset="0"/>
              </a:rPr>
              <a:t>La détection des précipitations est transmise à l'aide de 1 bit (aucun DPT standard, 1.005, DPT_Alarm n'est utilisé)</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2" name="Picture 1">
            <a:extLst>
              <a:ext uri="{FF2B5EF4-FFF2-40B4-BE49-F238E27FC236}">
                <a16:creationId xmlns:a16="http://schemas.microsoft.com/office/drawing/2014/main" id="{8956381A-B8E2-4C12-AA3C-EB053FE5D37C}"/>
              </a:ext>
            </a:extLst>
          </p:cNvPr>
          <p:cNvPicPr>
            <a:picLocks noChangeAspect="1"/>
          </p:cNvPicPr>
          <p:nvPr/>
        </p:nvPicPr>
        <p:blipFill>
          <a:blip r:embed="rId3"/>
          <a:stretch>
            <a:fillRect/>
          </a:stretch>
        </p:blipFill>
        <p:spPr>
          <a:xfrm>
            <a:off x="8103249" y="7427714"/>
            <a:ext cx="6968519" cy="360040"/>
          </a:xfrm>
          <a:prstGeom prst="rect">
            <a:avLst/>
          </a:prstGeom>
        </p:spPr>
      </p:pic>
      <p:pic>
        <p:nvPicPr>
          <p:cNvPr id="13314" name="Picture 2" descr="rain_sensor">
            <a:extLst>
              <a:ext uri="{FF2B5EF4-FFF2-40B4-BE49-F238E27FC236}">
                <a16:creationId xmlns:a16="http://schemas.microsoft.com/office/drawing/2014/main" id="{E43A93B2-ECB8-411E-893A-FE14258B8E8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06567" y="1524672"/>
            <a:ext cx="1553865" cy="1348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760623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 capteur de rayonnement solaire</a:t>
            </a:r>
            <a:endParaRPr lang="en-GB" dirty="0"/>
          </a:p>
        </p:txBody>
      </p:sp>
      <p:pic>
        <p:nvPicPr>
          <p:cNvPr id="12290" name="Picture 2" descr="GO_solar_dpt9022">
            <a:extLst>
              <a:ext uri="{FF2B5EF4-FFF2-40B4-BE49-F238E27FC236}">
                <a16:creationId xmlns:a16="http://schemas.microsoft.com/office/drawing/2014/main" id="{D6400B2A-1FDA-4F2E-ADB4-53EA2A21A6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2793" y="6081836"/>
            <a:ext cx="7287639" cy="299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Picture 3" descr="KNX_PY_DataSheet_EN">
            <a:extLst>
              <a:ext uri="{FF2B5EF4-FFF2-40B4-BE49-F238E27FC236}">
                <a16:creationId xmlns:a16="http://schemas.microsoft.com/office/drawing/2014/main" id="{52DC63F4-907F-4F68-8477-EF5D5E797FD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17728" y="1645125"/>
            <a:ext cx="1442704" cy="1408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2" name="Picture 4" descr="3400_d2_SK08-GLBS">
            <a:extLst>
              <a:ext uri="{FF2B5EF4-FFF2-40B4-BE49-F238E27FC236}">
                <a16:creationId xmlns:a16="http://schemas.microsoft.com/office/drawing/2014/main" id="{0F53274E-04A9-49C3-A441-2015A53660C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80058" y="3804871"/>
            <a:ext cx="19812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1">
            <a:extLst>
              <a:ext uri="{FF2B5EF4-FFF2-40B4-BE49-F238E27FC236}">
                <a16:creationId xmlns:a16="http://schemas.microsoft.com/office/drawing/2014/main" id="{FDEA5290-28BB-44BF-BDF0-4B841A8DBDA0}"/>
              </a:ext>
            </a:extLst>
          </p:cNvPr>
          <p:cNvSpPr txBox="1">
            <a:spLocks/>
          </p:cNvSpPr>
          <p:nvPr/>
        </p:nvSpPr>
        <p:spPr>
          <a:xfrm>
            <a:off x="570774" y="1269454"/>
            <a:ext cx="6809538"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err="1">
                <a:solidFill>
                  <a:schemeClr val="tx1"/>
                </a:solidFill>
                <a:ea typeface="Open Sans" panose="020B0606030504020204" pitchFamily="34" charset="0"/>
                <a:cs typeface="Open Sans" panose="020B0606030504020204" pitchFamily="34" charset="0"/>
              </a:rPr>
              <a:t>Mesure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l'intensité</a:t>
            </a:r>
            <a:r>
              <a:rPr lang="en-US" sz="1800" kern="0" dirty="0">
                <a:solidFill>
                  <a:schemeClr val="tx1"/>
                </a:solidFill>
                <a:ea typeface="Open Sans" panose="020B0606030504020204" pitchFamily="34" charset="0"/>
                <a:cs typeface="Open Sans" panose="020B0606030504020204" pitchFamily="34" charset="0"/>
              </a:rPr>
              <a:t> du soleil </a:t>
            </a:r>
            <a:r>
              <a:rPr lang="en-US" sz="1800" kern="0" dirty="0" err="1">
                <a:solidFill>
                  <a:schemeClr val="tx1"/>
                </a:solidFill>
                <a:ea typeface="Open Sans" panose="020B0606030504020204" pitchFamily="34" charset="0"/>
                <a:cs typeface="Open Sans" panose="020B0606030504020204" pitchFamily="34" charset="0"/>
              </a:rPr>
              <a:t>en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quantité</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chaleur</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Le plus </a:t>
            </a:r>
            <a:r>
              <a:rPr lang="en-US" sz="1800" kern="0" dirty="0" err="1">
                <a:solidFill>
                  <a:schemeClr val="tx1"/>
                </a:solidFill>
                <a:ea typeface="Open Sans" panose="020B0606030504020204" pitchFamily="34" charset="0"/>
                <a:cs typeface="Open Sans" panose="020B0606030504020204" pitchFamily="34" charset="0"/>
              </a:rPr>
              <a:t>commun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le </a:t>
            </a:r>
            <a:r>
              <a:rPr lang="en-US" sz="1800" kern="0" dirty="0" err="1">
                <a:solidFill>
                  <a:schemeClr val="tx1"/>
                </a:solidFill>
                <a:ea typeface="Open Sans" panose="020B0606030504020204" pitchFamily="34" charset="0"/>
                <a:cs typeface="Open Sans" panose="020B0606030504020204" pitchFamily="34" charset="0"/>
              </a:rPr>
              <a:t>calcul</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l'entrée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d'énergie</a:t>
            </a:r>
            <a:r>
              <a:rPr lang="en-US" sz="1800" kern="0" dirty="0">
                <a:solidFill>
                  <a:schemeClr val="tx1"/>
                </a:solidFill>
                <a:ea typeface="Open Sans" panose="020B0606030504020204" pitchFamily="34" charset="0"/>
                <a:cs typeface="Open Sans" panose="020B0606030504020204" pitchFamily="34" charset="0"/>
              </a:rPr>
              <a:t> dans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zone</a:t>
            </a:r>
          </a:p>
          <a:p>
            <a:pPr marL="0" indent="0">
              <a:lnSpc>
                <a:spcPct val="150000"/>
              </a:lnSpc>
              <a:buNone/>
              <a:defRPr/>
            </a:pPr>
            <a:r>
              <a:rPr lang="en-US" sz="1800" kern="0" dirty="0">
                <a:ea typeface="Open Sans" panose="020B0606030504020204" pitchFamily="34" charset="0"/>
                <a:cs typeface="Open Sans" panose="020B0606030504020204" pitchFamily="34" charset="0"/>
              </a:rPr>
              <a:t>Types: </a:t>
            </a:r>
          </a:p>
          <a:p>
            <a:pPr>
              <a:lnSpc>
                <a:spcPct val="150000"/>
              </a:lnSpc>
              <a:defRPr/>
            </a:pPr>
            <a:r>
              <a:rPr lang="en-US" sz="1800" kern="0" dirty="0" err="1">
                <a:ea typeface="Open Sans" panose="020B0606030504020204" pitchFamily="34" charset="0"/>
                <a:cs typeface="Open Sans" panose="020B0606030504020204" pitchFamily="34" charset="0"/>
              </a:rPr>
              <a:t>Capteur</a:t>
            </a:r>
            <a:r>
              <a:rPr lang="en-US" sz="1800" kern="0" dirty="0">
                <a:ea typeface="Open Sans" panose="020B0606030504020204" pitchFamily="34" charset="0"/>
                <a:cs typeface="Open Sans" panose="020B0606030504020204" pitchFamily="34" charset="0"/>
              </a:rPr>
              <a:t> compact : </a:t>
            </a:r>
            <a:r>
              <a:rPr lang="en-US" sz="1800" kern="0" dirty="0" err="1">
                <a:solidFill>
                  <a:schemeClr val="tx1"/>
                </a:solidFill>
                <a:ea typeface="Open Sans" panose="020B0606030504020204" pitchFamily="34" charset="0"/>
                <a:cs typeface="Open Sans" panose="020B0606030504020204" pitchFamily="34" charset="0"/>
              </a:rPr>
              <a:t>appareil</a:t>
            </a:r>
            <a:r>
              <a:rPr lang="en-US" sz="1800" kern="0" dirty="0">
                <a:solidFill>
                  <a:schemeClr val="tx1"/>
                </a:solidFill>
                <a:ea typeface="Open Sans" panose="020B0606030504020204" pitchFamily="34" charset="0"/>
                <a:cs typeface="Open Sans" panose="020B0606030504020204" pitchFamily="34" charset="0"/>
              </a:rPr>
              <a:t> compact + </a:t>
            </a:r>
            <a:r>
              <a:rPr lang="en-US" sz="1800" kern="0" dirty="0" err="1">
                <a:solidFill>
                  <a:schemeClr val="tx1"/>
                </a:solidFill>
                <a:ea typeface="Open Sans" panose="020B0606030504020204" pitchFamily="34" charset="0"/>
                <a:cs typeface="Open Sans" panose="020B0606030504020204" pitchFamily="34" charset="0"/>
              </a:rPr>
              <a:t>capteur</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err="1">
                <a:ea typeface="Open Sans" panose="020B0606030504020204" pitchFamily="34" charset="0"/>
                <a:cs typeface="Open Sans" panose="020B0606030504020204" pitchFamily="34" charset="0"/>
              </a:rPr>
              <a:t>Détecteur</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modulaire</a:t>
            </a:r>
            <a:r>
              <a:rPr lang="en-US" sz="1800" kern="0" dirty="0">
                <a:ea typeface="Open Sans" panose="020B0606030504020204" pitchFamily="34" charset="0"/>
                <a:cs typeface="Open Sans" panose="020B0606030504020204" pitchFamily="34" charset="0"/>
              </a:rPr>
              <a:t> : </a:t>
            </a:r>
            <a:r>
              <a:rPr lang="en-US" sz="1800" kern="0" dirty="0" err="1">
                <a:solidFill>
                  <a:schemeClr val="tx1"/>
                </a:solidFill>
                <a:ea typeface="Open Sans" panose="020B0606030504020204" pitchFamily="34" charset="0"/>
                <a:cs typeface="Open Sans" panose="020B0606030504020204" pitchFamily="34" charset="0"/>
              </a:rPr>
              <a:t>unité</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capteur</a:t>
            </a:r>
            <a:r>
              <a:rPr lang="en-US" sz="1800" kern="0" dirty="0">
                <a:solidFill>
                  <a:schemeClr val="tx1"/>
                </a:solidFill>
                <a:ea typeface="Open Sans" panose="020B0606030504020204" pitchFamily="34" charset="0"/>
                <a:cs typeface="Open Sans" panose="020B0606030504020204" pitchFamily="34" charset="0"/>
              </a:rPr>
              <a:t> avec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sonde </a:t>
            </a:r>
            <a:r>
              <a:rPr lang="en-US" sz="1800" kern="0" dirty="0" err="1">
                <a:solidFill>
                  <a:schemeClr val="tx1"/>
                </a:solidFill>
                <a:ea typeface="Open Sans" panose="020B0606030504020204" pitchFamily="34" charset="0"/>
                <a:cs typeface="Open Sans" panose="020B0606030504020204" pitchFamily="34" charset="0"/>
              </a:rPr>
              <a:t>externe</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05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Le </a:t>
            </a:r>
            <a:r>
              <a:rPr lang="en-US" sz="1800" kern="0" dirty="0" err="1">
                <a:solidFill>
                  <a:schemeClr val="tx1"/>
                </a:solidFill>
                <a:ea typeface="Open Sans" panose="020B0606030504020204" pitchFamily="34" charset="0"/>
                <a:cs typeface="Open Sans" panose="020B0606030504020204" pitchFamily="34" charset="0"/>
              </a:rPr>
              <a:t>rayonnement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solaire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représenté</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en</a:t>
            </a:r>
            <a:r>
              <a:rPr lang="en-US" sz="1800" kern="0" dirty="0">
                <a:solidFill>
                  <a:schemeClr val="tx1"/>
                </a:solidFill>
                <a:ea typeface="Open Sans" panose="020B0606030504020204" pitchFamily="34" charset="0"/>
                <a:cs typeface="Open Sans" panose="020B0606030504020204" pitchFamily="34" charset="0"/>
              </a:rPr>
              <a:t> watt par </a:t>
            </a:r>
            <a:r>
              <a:rPr lang="en-US" sz="1800" kern="0" dirty="0" err="1">
                <a:solidFill>
                  <a:schemeClr val="tx1"/>
                </a:solidFill>
                <a:ea typeface="Open Sans" panose="020B0606030504020204" pitchFamily="34" charset="0"/>
                <a:cs typeface="Open Sans" panose="020B0606030504020204" pitchFamily="34" charset="0"/>
              </a:rPr>
              <a:t>mètre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carré</a:t>
            </a:r>
            <a:r>
              <a:rPr lang="en-US" sz="1800" kern="0" dirty="0">
                <a:solidFill>
                  <a:schemeClr val="tx1"/>
                </a:solidFill>
                <a:ea typeface="Open Sans" panose="020B0606030504020204" pitchFamily="34" charset="0"/>
                <a:cs typeface="Open Sans" panose="020B0606030504020204" pitchFamily="34" charset="0"/>
              </a:rPr>
              <a:t> et </a:t>
            </a:r>
            <a:r>
              <a:rPr lang="en-US" sz="1800" kern="0" dirty="0" err="1">
                <a:solidFill>
                  <a:schemeClr val="tx1"/>
                </a:solidFill>
                <a:ea typeface="Open Sans" panose="020B0606030504020204" pitchFamily="34" charset="0"/>
                <a:cs typeface="Open Sans" panose="020B0606030504020204" pitchFamily="34" charset="0"/>
              </a:rPr>
              <a:t>transmis</a:t>
            </a:r>
            <a:r>
              <a:rPr lang="en-US" sz="1800" kern="0" dirty="0">
                <a:solidFill>
                  <a:schemeClr val="tx1"/>
                </a:solidFill>
                <a:ea typeface="Open Sans" panose="020B0606030504020204" pitchFamily="34" charset="0"/>
                <a:cs typeface="Open Sans" panose="020B0606030504020204" pitchFamily="34" charset="0"/>
              </a:rPr>
              <a:t> à </a:t>
            </a:r>
            <a:r>
              <a:rPr lang="en-US" sz="1800" kern="0" dirty="0" err="1">
                <a:solidFill>
                  <a:schemeClr val="tx1"/>
                </a:solidFill>
                <a:ea typeface="Open Sans" panose="020B0606030504020204" pitchFamily="34" charset="0"/>
                <a:cs typeface="Open Sans" panose="020B0606030504020204" pitchFamily="34" charset="0"/>
              </a:rPr>
              <a:t>l'aide</a:t>
            </a:r>
            <a:r>
              <a:rPr lang="en-US" sz="1800" kern="0" dirty="0">
                <a:solidFill>
                  <a:schemeClr val="tx1"/>
                </a:solidFill>
                <a:ea typeface="Open Sans" panose="020B0606030504020204" pitchFamily="34" charset="0"/>
                <a:cs typeface="Open Sans" panose="020B0606030504020204" pitchFamily="34" charset="0"/>
              </a:rPr>
              <a:t> de 2 octets (9.022, </a:t>
            </a:r>
            <a:r>
              <a:rPr lang="en-US" sz="1800" kern="0" dirty="0" err="1">
                <a:solidFill>
                  <a:schemeClr val="tx1"/>
                </a:solidFill>
                <a:ea typeface="Open Sans" panose="020B0606030504020204" pitchFamily="34" charset="0"/>
                <a:cs typeface="Open Sans" panose="020B0606030504020204" pitchFamily="34" charset="0"/>
              </a:rPr>
              <a:t>DPT_PowerDensity</a:t>
            </a:r>
            <a:r>
              <a:rPr lang="en-US" sz="1800" kern="0" dirty="0">
                <a:solidFill>
                  <a:schemeClr val="tx1"/>
                </a:solidFill>
                <a:ea typeface="Open Sans" panose="020B0606030504020204" pitchFamily="34" charset="0"/>
                <a:cs typeface="Open Sans" panose="020B0606030504020204" pitchFamily="34" charset="0"/>
              </a:rPr>
              <a:t>) avec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résolution</a:t>
            </a:r>
            <a:r>
              <a:rPr lang="en-US" sz="1800" kern="0" dirty="0">
                <a:solidFill>
                  <a:schemeClr val="tx1"/>
                </a:solidFill>
                <a:ea typeface="Open Sans" panose="020B0606030504020204" pitchFamily="34" charset="0"/>
                <a:cs typeface="Open Sans" panose="020B0606030504020204" pitchFamily="34" charset="0"/>
              </a:rPr>
              <a:t> de 0,01 W/m2</a:t>
            </a: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1800" kern="0" dirty="0">
              <a:solidFill>
                <a:schemeClr val="tx1"/>
              </a:solidFill>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2371483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Produit combiné, station météo</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268760"/>
            <a:ext cx="7992368"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1800" kern="0" dirty="0">
                <a:ea typeface="Open Sans" panose="020B0606030504020204" pitchFamily="34" charset="0"/>
                <a:cs typeface="Open Sans" panose="020B0606030504020204" pitchFamily="34" charset="0"/>
              </a:rPr>
              <a:t>Station </a:t>
            </a:r>
            <a:r>
              <a:rPr lang="en-US" sz="1800" kern="0" dirty="0" err="1">
                <a:ea typeface="Open Sans" panose="020B0606030504020204" pitchFamily="34" charset="0"/>
                <a:cs typeface="Open Sans" panose="020B0606030504020204" pitchFamily="34" charset="0"/>
              </a:rPr>
              <a:t>météo</a:t>
            </a:r>
            <a:r>
              <a:rPr lang="en-US" sz="1800" kern="0" dirty="0">
                <a:ea typeface="Open Sans" panose="020B0606030504020204" pitchFamily="34" charset="0"/>
                <a:cs typeface="Open Sans" panose="020B0606030504020204" pitchFamily="34" charset="0"/>
              </a:rPr>
              <a:t> :  </a:t>
            </a:r>
            <a:r>
              <a:rPr lang="en-US" sz="1800" kern="0" dirty="0" err="1">
                <a:solidFill>
                  <a:schemeClr val="bg1">
                    <a:lumMod val="10000"/>
                  </a:schemeClr>
                </a:solidFill>
                <a:ea typeface="Open Sans" panose="020B0606030504020204" pitchFamily="34" charset="0"/>
                <a:cs typeface="Open Sans" panose="020B0606030504020204" pitchFamily="34" charset="0"/>
              </a:rPr>
              <a:t>combinaison</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d'au</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moins</a:t>
            </a:r>
            <a:r>
              <a:rPr lang="en-US" sz="1800" kern="0" dirty="0">
                <a:solidFill>
                  <a:schemeClr val="bg1">
                    <a:lumMod val="10000"/>
                  </a:schemeClr>
                </a:solidFill>
                <a:ea typeface="Open Sans" panose="020B0606030504020204" pitchFamily="34" charset="0"/>
                <a:cs typeface="Open Sans" panose="020B0606030504020204" pitchFamily="34" charset="0"/>
              </a:rPr>
              <a:t> trois options de </a:t>
            </a:r>
            <a:r>
              <a:rPr lang="en-US" sz="1800" kern="0" dirty="0" err="1">
                <a:solidFill>
                  <a:schemeClr val="bg1">
                    <a:lumMod val="10000"/>
                  </a:schemeClr>
                </a:solidFill>
                <a:ea typeface="Open Sans" panose="020B0606030504020204" pitchFamily="34" charset="0"/>
                <a:cs typeface="Open Sans" panose="020B0606030504020204" pitchFamily="34" charset="0"/>
              </a:rPr>
              <a:t>mesure</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différentes</a:t>
            </a:r>
            <a:r>
              <a:rPr lang="en-US" sz="1800" kern="0" dirty="0">
                <a:solidFill>
                  <a:schemeClr val="bg1">
                    <a:lumMod val="10000"/>
                  </a:schemeClr>
                </a:solidFill>
                <a:ea typeface="Open Sans" panose="020B0606030504020204" pitchFamily="34" charset="0"/>
                <a:cs typeface="Open Sans" panose="020B0606030504020204" pitchFamily="34" charset="0"/>
              </a:rPr>
              <a:t> de </a:t>
            </a:r>
            <a:r>
              <a:rPr lang="en-US" sz="1800" kern="0" dirty="0" err="1">
                <a:solidFill>
                  <a:schemeClr val="bg1">
                    <a:lumMod val="10000"/>
                  </a:schemeClr>
                </a:solidFill>
                <a:ea typeface="Open Sans" panose="020B0606030504020204" pitchFamily="34" charset="0"/>
                <a:cs typeface="Open Sans" panose="020B0606030504020204" pitchFamily="34" charset="0"/>
              </a:rPr>
              <a:t>phénomènes</a:t>
            </a:r>
            <a:r>
              <a:rPr lang="en-US" sz="1800" kern="0" dirty="0">
                <a:solidFill>
                  <a:schemeClr val="bg1">
                    <a:lumMod val="10000"/>
                  </a:schemeClr>
                </a:solidFill>
                <a:ea typeface="Open Sans" panose="020B0606030504020204" pitchFamily="34" charset="0"/>
                <a:cs typeface="Open Sans" panose="020B0606030504020204" pitchFamily="34" charset="0"/>
              </a:rPr>
              <a:t> physiques </a:t>
            </a:r>
            <a:r>
              <a:rPr lang="en-US" sz="1800" kern="0" dirty="0" err="1">
                <a:solidFill>
                  <a:schemeClr val="bg1">
                    <a:lumMod val="10000"/>
                  </a:schemeClr>
                </a:solidFill>
                <a:ea typeface="Open Sans" panose="020B0606030504020204" pitchFamily="34" charset="0"/>
                <a:cs typeface="Open Sans" panose="020B0606030504020204" pitchFamily="34" charset="0"/>
              </a:rPr>
              <a:t>en</a:t>
            </a:r>
            <a:r>
              <a:rPr lang="en-US" sz="1800" kern="0" dirty="0">
                <a:solidFill>
                  <a:schemeClr val="bg1">
                    <a:lumMod val="10000"/>
                  </a:schemeClr>
                </a:solidFill>
                <a:ea typeface="Open Sans" panose="020B0606030504020204" pitchFamily="34" charset="0"/>
                <a:cs typeface="Open Sans" panose="020B0606030504020204" pitchFamily="34" charset="0"/>
              </a:rPr>
              <a:t> un </a:t>
            </a:r>
            <a:r>
              <a:rPr lang="en-US" sz="1800" kern="0" dirty="0" err="1">
                <a:solidFill>
                  <a:schemeClr val="bg1">
                    <a:lumMod val="10000"/>
                  </a:schemeClr>
                </a:solidFill>
                <a:ea typeface="Open Sans" panose="020B0606030504020204" pitchFamily="34" charset="0"/>
                <a:cs typeface="Open Sans" panose="020B0606030504020204" pitchFamily="34" charset="0"/>
              </a:rPr>
              <a:t>seul</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dispositif</a:t>
            </a:r>
            <a:r>
              <a:rPr lang="en-US" sz="1800" kern="0" dirty="0">
                <a:solidFill>
                  <a:schemeClr val="bg1">
                    <a:lumMod val="10000"/>
                  </a:schemeClr>
                </a:solidFill>
                <a:ea typeface="Open Sans" panose="020B0606030504020204" pitchFamily="34" charset="0"/>
                <a:cs typeface="Open Sans" panose="020B0606030504020204" pitchFamily="34" charset="0"/>
              </a:rPr>
              <a:t> </a:t>
            </a:r>
          </a:p>
          <a:p>
            <a:pPr marL="0" indent="0">
              <a:lnSpc>
                <a:spcPct val="150000"/>
              </a:lnSpc>
              <a:buNone/>
              <a:defRPr/>
            </a:pPr>
            <a:endParaRPr lang="en-US" sz="1200" kern="0" dirty="0">
              <a:ea typeface="Open Sans" panose="020B0606030504020204" pitchFamily="34" charset="0"/>
              <a:cs typeface="Open Sans" panose="020B0606030504020204" pitchFamily="34" charset="0"/>
            </a:endParaRPr>
          </a:p>
          <a:p>
            <a:pPr marL="0" indent="0">
              <a:lnSpc>
                <a:spcPct val="150000"/>
              </a:lnSpc>
              <a:buNone/>
              <a:defRPr/>
            </a:pPr>
            <a:r>
              <a:rPr lang="en-US" sz="1800" kern="0" dirty="0">
                <a:ea typeface="Open Sans" panose="020B0606030504020204" pitchFamily="34" charset="0"/>
                <a:cs typeface="Open Sans" panose="020B0606030504020204" pitchFamily="34" charset="0"/>
              </a:rPr>
              <a:t>Types: </a:t>
            </a:r>
          </a:p>
          <a:p>
            <a:pPr>
              <a:lnSpc>
                <a:spcPct val="150000"/>
              </a:lnSpc>
              <a:defRPr/>
            </a:pPr>
            <a:r>
              <a:rPr lang="en-US" sz="1800" kern="0" dirty="0">
                <a:ea typeface="Open Sans" panose="020B0606030504020204" pitchFamily="34" charset="0"/>
                <a:cs typeface="Open Sans" panose="020B0606030504020204" pitchFamily="34" charset="0"/>
              </a:rPr>
              <a:t>Station </a:t>
            </a:r>
            <a:r>
              <a:rPr lang="en-US" sz="1800" kern="0" dirty="0" err="1">
                <a:ea typeface="Open Sans" panose="020B0606030504020204" pitchFamily="34" charset="0"/>
                <a:cs typeface="Open Sans" panose="020B0606030504020204" pitchFamily="34" charset="0"/>
              </a:rPr>
              <a:t>météo</a:t>
            </a:r>
            <a:r>
              <a:rPr lang="en-US" sz="1800" kern="0" dirty="0">
                <a:ea typeface="Open Sans" panose="020B0606030504020204" pitchFamily="34" charset="0"/>
                <a:cs typeface="Open Sans" panose="020B0606030504020204" pitchFamily="34" charset="0"/>
              </a:rPr>
              <a:t> à </a:t>
            </a:r>
            <a:r>
              <a:rPr lang="en-US" sz="1800" kern="0" dirty="0" err="1">
                <a:ea typeface="Open Sans" panose="020B0606030504020204" pitchFamily="34" charset="0"/>
                <a:cs typeface="Open Sans" panose="020B0606030504020204" pitchFamily="34" charset="0"/>
              </a:rPr>
              <a:t>coupelles</a:t>
            </a:r>
            <a:r>
              <a:rPr lang="en-US" sz="1800" kern="0" dirty="0">
                <a:ea typeface="Open Sans" panose="020B0606030504020204" pitchFamily="34" charset="0"/>
                <a:cs typeface="Open Sans" panose="020B0606030504020204" pitchFamily="34" charset="0"/>
              </a:rPr>
              <a:t> </a:t>
            </a:r>
          </a:p>
          <a:p>
            <a:pPr>
              <a:lnSpc>
                <a:spcPct val="150000"/>
              </a:lnSpc>
              <a:defRPr/>
            </a:pPr>
            <a:r>
              <a:rPr lang="en-US" sz="1800" kern="0" dirty="0">
                <a:ea typeface="Open Sans" panose="020B0606030504020204" pitchFamily="34" charset="0"/>
                <a:cs typeface="Open Sans" panose="020B0606030504020204" pitchFamily="34" charset="0"/>
              </a:rPr>
              <a:t>Station </a:t>
            </a:r>
            <a:r>
              <a:rPr lang="en-US" sz="1800" kern="0" dirty="0" err="1">
                <a:ea typeface="Open Sans" panose="020B0606030504020204" pitchFamily="34" charset="0"/>
                <a:cs typeface="Open Sans" panose="020B0606030504020204" pitchFamily="34" charset="0"/>
              </a:rPr>
              <a:t>météo</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compacte</a:t>
            </a:r>
            <a:endParaRPr lang="en-US" sz="1800" kern="0" dirty="0">
              <a:ea typeface="Open Sans" panose="020B0606030504020204" pitchFamily="34" charset="0"/>
              <a:cs typeface="Open Sans" panose="020B0606030504020204" pitchFamily="34" charset="0"/>
            </a:endParaRPr>
          </a:p>
          <a:p>
            <a:pPr>
              <a:lnSpc>
                <a:spcPct val="150000"/>
              </a:lnSpc>
              <a:defRPr/>
            </a:pPr>
            <a:r>
              <a:rPr lang="en-US" sz="1800" kern="0" dirty="0">
                <a:ea typeface="Open Sans" panose="020B0606030504020204" pitchFamily="34" charset="0"/>
                <a:cs typeface="Open Sans" panose="020B0606030504020204" pitchFamily="34" charset="0"/>
              </a:rPr>
              <a:t>Station </a:t>
            </a:r>
            <a:r>
              <a:rPr lang="en-US" sz="1800" kern="0" dirty="0" err="1">
                <a:ea typeface="Open Sans" panose="020B0606030504020204" pitchFamily="34" charset="0"/>
                <a:cs typeface="Open Sans" panose="020B0606030504020204" pitchFamily="34" charset="0"/>
              </a:rPr>
              <a:t>météo</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modulaire</a:t>
            </a:r>
            <a:r>
              <a:rPr lang="en-US" sz="1800" kern="0" dirty="0">
                <a:ea typeface="Open Sans" panose="020B0606030504020204" pitchFamily="34" charset="0"/>
                <a:cs typeface="Open Sans" panose="020B0606030504020204" pitchFamily="34" charset="0"/>
              </a:rPr>
              <a:t> </a:t>
            </a:r>
            <a:r>
              <a:rPr lang="en-US" sz="1800" kern="0" dirty="0">
                <a:solidFill>
                  <a:schemeClr val="bg1">
                    <a:lumMod val="10000"/>
                  </a:schemeClr>
                </a:solidFill>
                <a:ea typeface="Open Sans" panose="020B0606030504020204" pitchFamily="34" charset="0"/>
                <a:cs typeface="Open Sans" panose="020B0606030504020204" pitchFamily="34" charset="0"/>
              </a:rPr>
              <a:t>(</a:t>
            </a:r>
            <a:r>
              <a:rPr lang="en-US" sz="1800" kern="0" dirty="0" err="1">
                <a:solidFill>
                  <a:schemeClr val="bg1">
                    <a:lumMod val="10000"/>
                  </a:schemeClr>
                </a:solidFill>
                <a:ea typeface="Open Sans" panose="020B0606030504020204" pitchFamily="34" charset="0"/>
                <a:cs typeface="Open Sans" panose="020B0606030504020204" pitchFamily="34" charset="0"/>
              </a:rPr>
              <a:t>permet</a:t>
            </a:r>
            <a:r>
              <a:rPr lang="en-US" sz="1800" kern="0" dirty="0">
                <a:solidFill>
                  <a:schemeClr val="bg1">
                    <a:lumMod val="10000"/>
                  </a:schemeClr>
                </a:solidFill>
                <a:ea typeface="Open Sans" panose="020B0606030504020204" pitchFamily="34" charset="0"/>
                <a:cs typeface="Open Sans" panose="020B0606030504020204" pitchFamily="34" charset="0"/>
              </a:rPr>
              <a:t> la </a:t>
            </a:r>
            <a:r>
              <a:rPr lang="en-US" sz="1800" kern="0" dirty="0" err="1">
                <a:solidFill>
                  <a:schemeClr val="bg1">
                    <a:lumMod val="10000"/>
                  </a:schemeClr>
                </a:solidFill>
                <a:ea typeface="Open Sans" panose="020B0606030504020204" pitchFamily="34" charset="0"/>
                <a:cs typeface="Open Sans" panose="020B0606030504020204" pitchFamily="34" charset="0"/>
              </a:rPr>
              <a:t>connexion</a:t>
            </a:r>
            <a:r>
              <a:rPr lang="en-US" sz="1800" kern="0" dirty="0">
                <a:solidFill>
                  <a:schemeClr val="bg1">
                    <a:lumMod val="10000"/>
                  </a:schemeClr>
                </a:solidFill>
                <a:ea typeface="Open Sans" panose="020B0606030504020204" pitchFamily="34" charset="0"/>
                <a:cs typeface="Open Sans" panose="020B0606030504020204" pitchFamily="34" charset="0"/>
              </a:rPr>
              <a:t> de </a:t>
            </a:r>
            <a:r>
              <a:rPr lang="en-US" sz="1800" kern="0" dirty="0" err="1">
                <a:solidFill>
                  <a:schemeClr val="bg1">
                    <a:lumMod val="10000"/>
                  </a:schemeClr>
                </a:solidFill>
                <a:ea typeface="Open Sans" panose="020B0606030504020204" pitchFamily="34" charset="0"/>
                <a:cs typeface="Open Sans" panose="020B0606030504020204" pitchFamily="34" charset="0"/>
              </a:rPr>
              <a:t>capteurs</a:t>
            </a:r>
            <a:r>
              <a:rPr lang="en-US" sz="1800" kern="0" dirty="0">
                <a:solidFill>
                  <a:schemeClr val="bg1">
                    <a:lumMod val="10000"/>
                  </a:schemeClr>
                </a:solidFill>
                <a:ea typeface="Open Sans" panose="020B0606030504020204" pitchFamily="34" charset="0"/>
                <a:cs typeface="Open Sans" panose="020B0606030504020204" pitchFamily="34" charset="0"/>
              </a:rPr>
              <a:t> PT1000)</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endParaRPr lang="en-US" sz="2400" kern="0" dirty="0">
              <a:ea typeface="Open Sans" panose="020B0606030504020204" pitchFamily="34" charset="0"/>
              <a:cs typeface="Open Sans" panose="020B0606030504020204" pitchFamily="34" charset="0"/>
            </a:endParaRPr>
          </a:p>
        </p:txBody>
      </p:sp>
      <p:pic>
        <p:nvPicPr>
          <p:cNvPr id="11266" name="Picture 2" descr="weather_station">
            <a:extLst>
              <a:ext uri="{FF2B5EF4-FFF2-40B4-BE49-F238E27FC236}">
                <a16:creationId xmlns:a16="http://schemas.microsoft.com/office/drawing/2014/main" id="{6D4CD11F-8484-4B7E-B5B7-8283BFBF14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9232" y="4869160"/>
            <a:ext cx="1443351" cy="1425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7" name="Picture 3" descr="Siemens_257">
            <a:extLst>
              <a:ext uri="{FF2B5EF4-FFF2-40B4-BE49-F238E27FC236}">
                <a16:creationId xmlns:a16="http://schemas.microsoft.com/office/drawing/2014/main" id="{AD6B9E37-5C51-4510-839A-A31131FEC3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3717" y="4869159"/>
            <a:ext cx="1423604" cy="142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Picture 4" descr="WSS_41_BFA_XX_V1-1_2CDC071281F0005">
            <a:extLst>
              <a:ext uri="{FF2B5EF4-FFF2-40B4-BE49-F238E27FC236}">
                <a16:creationId xmlns:a16="http://schemas.microsoft.com/office/drawing/2014/main" id="{717365D3-3F38-45E5-B5FB-B7D242EA1AA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48456" y="4869159"/>
            <a:ext cx="1296144" cy="1425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596825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Les capteurs de qualité de l'air</a:t>
            </a:r>
            <a:endParaRPr lang="en-GB" dirty="0"/>
          </a:p>
        </p:txBody>
      </p:sp>
      <p:graphicFrame>
        <p:nvGraphicFramePr>
          <p:cNvPr id="2" name="Table 1">
            <a:extLst>
              <a:ext uri="{FF2B5EF4-FFF2-40B4-BE49-F238E27FC236}">
                <a16:creationId xmlns:a16="http://schemas.microsoft.com/office/drawing/2014/main" id="{0401E8DA-72C8-412B-A636-FA53FA4B0931}"/>
              </a:ext>
            </a:extLst>
          </p:cNvPr>
          <p:cNvGraphicFramePr>
            <a:graphicFrameLocks noGrp="1"/>
          </p:cNvGraphicFramePr>
          <p:nvPr/>
        </p:nvGraphicFramePr>
        <p:xfrm>
          <a:off x="984697" y="1578770"/>
          <a:ext cx="7547743" cy="4586534"/>
        </p:xfrm>
        <a:graphic>
          <a:graphicData uri="http://schemas.openxmlformats.org/drawingml/2006/table">
            <a:tbl>
              <a:tblPr firstRow="1" firstCol="1" bandRow="1"/>
              <a:tblGrid>
                <a:gridCol w="616020">
                  <a:extLst>
                    <a:ext uri="{9D8B030D-6E8A-4147-A177-3AD203B41FA5}">
                      <a16:colId xmlns:a16="http://schemas.microsoft.com/office/drawing/2014/main" val="2582302826"/>
                    </a:ext>
                  </a:extLst>
                </a:gridCol>
                <a:gridCol w="2124359">
                  <a:extLst>
                    <a:ext uri="{9D8B030D-6E8A-4147-A177-3AD203B41FA5}">
                      <a16:colId xmlns:a16="http://schemas.microsoft.com/office/drawing/2014/main" val="3351631452"/>
                    </a:ext>
                  </a:extLst>
                </a:gridCol>
                <a:gridCol w="3583229">
                  <a:extLst>
                    <a:ext uri="{9D8B030D-6E8A-4147-A177-3AD203B41FA5}">
                      <a16:colId xmlns:a16="http://schemas.microsoft.com/office/drawing/2014/main" val="1122898393"/>
                    </a:ext>
                  </a:extLst>
                </a:gridCol>
                <a:gridCol w="1224135">
                  <a:extLst>
                    <a:ext uri="{9D8B030D-6E8A-4147-A177-3AD203B41FA5}">
                      <a16:colId xmlns:a16="http://schemas.microsoft.com/office/drawing/2014/main" val="198628668"/>
                    </a:ext>
                  </a:extLst>
                </a:gridCol>
              </a:tblGrid>
              <a:tr h="242448">
                <a:tc>
                  <a:txBody>
                    <a:bodyPr/>
                    <a:lstStyle/>
                    <a:p>
                      <a:pPr algn="ctr">
                        <a:lnSpc>
                          <a:spcPct val="150000"/>
                        </a:lnSpc>
                        <a:spcBef>
                          <a:spcPts val="300"/>
                        </a:spcBef>
                        <a:spcAft>
                          <a:spcPts val="0"/>
                        </a:spcAft>
                      </a:pPr>
                      <a:r>
                        <a:rPr lang="en-GB" sz="1400" b="1">
                          <a:solidFill>
                            <a:srgbClr val="369226"/>
                          </a:solidFill>
                          <a:effectLst/>
                          <a:latin typeface="Arial" panose="020B0604020202020204" pitchFamily="34" charset="0"/>
                          <a:ea typeface="Times New Roman" panose="02020603050405020304" pitchFamily="18" charset="0"/>
                        </a:rPr>
                        <a:t>N°</a:t>
                      </a:r>
                      <a:endParaRPr lang="es-ES" sz="1400" b="1" dirty="0">
                        <a:solidFill>
                          <a:srgbClr val="369226"/>
                        </a:solidFill>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300"/>
                        </a:spcBef>
                        <a:spcAft>
                          <a:spcPts val="0"/>
                        </a:spcAft>
                      </a:pPr>
                      <a:r>
                        <a:rPr lang="en-GB" sz="1400" b="1" dirty="0">
                          <a:solidFill>
                            <a:srgbClr val="369226"/>
                          </a:solidFill>
                          <a:effectLst/>
                          <a:latin typeface="Arial" panose="020B0604020202020204" pitchFamily="34" charset="0"/>
                          <a:ea typeface="Times New Roman" panose="02020603050405020304" pitchFamily="18" charset="0"/>
                        </a:rPr>
                        <a:t>Terme</a:t>
                      </a:r>
                      <a:endParaRPr lang="es-ES" sz="1400" b="1" dirty="0">
                        <a:solidFill>
                          <a:srgbClr val="369226"/>
                        </a:solidFill>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300"/>
                        </a:spcBef>
                        <a:spcAft>
                          <a:spcPts val="0"/>
                        </a:spcAft>
                      </a:pPr>
                      <a:r>
                        <a:rPr lang="en-GB" sz="1400" b="1">
                          <a:solidFill>
                            <a:srgbClr val="369226"/>
                          </a:solidFill>
                          <a:effectLst/>
                          <a:latin typeface="Arial" panose="020B0604020202020204" pitchFamily="34" charset="0"/>
                          <a:ea typeface="Times New Roman" panose="02020603050405020304" pitchFamily="18" charset="0"/>
                        </a:rPr>
                        <a:t>Définition</a:t>
                      </a:r>
                      <a:endParaRPr lang="es-ES" sz="1400" b="1" dirty="0">
                        <a:solidFill>
                          <a:srgbClr val="369226"/>
                        </a:solidFill>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300"/>
                        </a:spcBef>
                        <a:spcAft>
                          <a:spcPts val="0"/>
                        </a:spcAft>
                      </a:pPr>
                      <a:r>
                        <a:rPr lang="en-GB" sz="1400" b="1">
                          <a:solidFill>
                            <a:srgbClr val="369226"/>
                          </a:solidFill>
                          <a:effectLst/>
                          <a:latin typeface="Arial" panose="020B0604020202020204" pitchFamily="34" charset="0"/>
                          <a:ea typeface="Times New Roman" panose="02020603050405020304" pitchFamily="18" charset="0"/>
                        </a:rPr>
                        <a:t>Unité</a:t>
                      </a:r>
                      <a:endParaRPr lang="es-ES" sz="1400" b="1" dirty="0">
                        <a:solidFill>
                          <a:srgbClr val="369226"/>
                        </a:solidFill>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30221048"/>
                  </a:ext>
                </a:extLst>
              </a:tr>
              <a:tr h="560961">
                <a:tc>
                  <a:txBody>
                    <a:bodyPr/>
                    <a:lstStyle/>
                    <a:p>
                      <a:pPr>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1</a:t>
                      </a:r>
                      <a:endParaRPr lang="es-ES" sz="1100" b="1">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Humidité absolue</a:t>
                      </a:r>
                      <a:endParaRPr lang="es-ES" sz="1100" b="1">
                        <a:effectLst/>
                        <a:latin typeface="Arial" panose="020B0604020202020204" pitchFamily="34" charset="0"/>
                        <a:ea typeface="Calibri" panose="020F0502020204030204" pitchFamily="34" charset="0"/>
                      </a:endParaRPr>
                    </a:p>
                    <a:p>
                      <a:pPr>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(concentration de la vapeur)</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Rapport de la masse (vapeur) sur le volume. </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grams/m</a:t>
                      </a:r>
                      <a:r>
                        <a:rPr lang="en-GB" sz="1100" b="1" baseline="30000">
                          <a:effectLst/>
                          <a:latin typeface="Arial" panose="020B0604020202020204" pitchFamily="34" charset="0"/>
                          <a:ea typeface="Times New Roman" panose="02020603050405020304" pitchFamily="18" charset="0"/>
                        </a:rPr>
                        <a:t>3</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58795068"/>
                  </a:ext>
                </a:extLst>
              </a:tr>
              <a:tr h="242448">
                <a:tc>
                  <a:txBody>
                    <a:bodyPr/>
                    <a:lstStyle/>
                    <a:p>
                      <a:pPr>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2</a:t>
                      </a:r>
                      <a:endParaRPr lang="es-ES" sz="1100" b="1">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Rapport de mélange OU rapport de masse</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Rapport de la masse (vapeur) sur la masse (gaz sec)</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grams/m</a:t>
                      </a:r>
                      <a:r>
                        <a:rPr lang="en-GB" sz="1100" b="1" baseline="30000">
                          <a:effectLst/>
                          <a:latin typeface="Arial" panose="020B0604020202020204" pitchFamily="34" charset="0"/>
                          <a:ea typeface="Times New Roman" panose="02020603050405020304" pitchFamily="18" charset="0"/>
                        </a:rPr>
                        <a:t>3</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9887103"/>
                  </a:ext>
                </a:extLst>
              </a:tr>
              <a:tr h="795655">
                <a:tc>
                  <a:txBody>
                    <a:bodyPr/>
                    <a:lstStyle/>
                    <a:p>
                      <a:pPr>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3</a:t>
                      </a:r>
                      <a:endParaRPr lang="es-ES" sz="1100" b="1">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Humidité relative</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Rapport de la masse (vapeur) sur la masse (vapeur saturée) OU rapport de la pression de vapeur actuelle sur la pression de vapeur à saturation. </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61518562"/>
                  </a:ext>
                </a:extLst>
              </a:tr>
              <a:tr h="242448">
                <a:tc>
                  <a:txBody>
                    <a:bodyPr/>
                    <a:lstStyle/>
                    <a:p>
                      <a:pPr>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4</a:t>
                      </a:r>
                      <a:endParaRPr lang="es-ES" sz="1100" b="1">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Humidité spécifique</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Rapport de la masse (vapeur) sur le volume total.</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3828168"/>
                  </a:ext>
                </a:extLst>
              </a:tr>
              <a:tr h="519051">
                <a:tc>
                  <a:txBody>
                    <a:bodyPr/>
                    <a:lstStyle/>
                    <a:p>
                      <a:pPr>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5</a:t>
                      </a:r>
                      <a:endParaRPr lang="es-ES" sz="1100" b="1">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Point de rosée </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Température (supérieure à 0 °C) à laquelle la vapeur d'eau contenue dans un gaz se condense en eau liquide</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°C</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0574723"/>
                  </a:ext>
                </a:extLst>
              </a:tr>
              <a:tr h="519051">
                <a:tc>
                  <a:txBody>
                    <a:bodyPr/>
                    <a:lstStyle/>
                    <a:p>
                      <a:pPr>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6</a:t>
                      </a:r>
                      <a:endParaRPr lang="es-ES" sz="1100" b="1">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Point de gel</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Température (inférieure à 0 °C) à laquelle la vapeur d'eau contenue dans un gaz se condense en glace</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 </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3275810"/>
                  </a:ext>
                </a:extLst>
              </a:tr>
              <a:tr h="519051">
                <a:tc>
                  <a:txBody>
                    <a:bodyPr/>
                    <a:lstStyle/>
                    <a:p>
                      <a:pPr>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7</a:t>
                      </a:r>
                      <a:endParaRPr lang="es-ES" sz="1100" b="1">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Rapport de volume </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Rapport de la pression partielle (vapeur) sur la pression partielle (gaz sec)</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 en volume</a:t>
                      </a:r>
                      <a:endParaRPr lang="es-ES" sz="1100" b="1" dirty="0">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5097715"/>
                  </a:ext>
                </a:extLst>
              </a:tr>
              <a:tr h="206681">
                <a:tc>
                  <a:txBody>
                    <a:bodyPr/>
                    <a:lstStyle/>
                    <a:p>
                      <a:pPr>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8</a:t>
                      </a:r>
                      <a:endParaRPr lang="es-ES" sz="1100" b="1">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ppm en volume</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Ratio de volume (vapeur) X 10</a:t>
                      </a:r>
                      <a:r>
                        <a:rPr lang="en-GB" sz="1100" b="1" baseline="30000">
                          <a:effectLst/>
                          <a:latin typeface="Arial" panose="020B0604020202020204" pitchFamily="34" charset="0"/>
                          <a:ea typeface="Times New Roman" panose="02020603050405020304" pitchFamily="18" charset="0"/>
                        </a:rPr>
                        <a:t>6</a:t>
                      </a:r>
                      <a:r>
                        <a:rPr lang="en-GB" sz="1100" b="1">
                          <a:effectLst/>
                          <a:latin typeface="Arial" panose="020B0604020202020204" pitchFamily="34" charset="0"/>
                          <a:ea typeface="Times New Roman" panose="02020603050405020304" pitchFamily="18" charset="0"/>
                        </a:rPr>
                        <a:t> au volume (gaz sec)</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PPM</a:t>
                      </a:r>
                      <a:r>
                        <a:rPr lang="en-GB" sz="1100" b="1" baseline="-25000">
                          <a:effectLst/>
                          <a:latin typeface="Arial" panose="020B0604020202020204" pitchFamily="34" charset="0"/>
                          <a:ea typeface="Times New Roman" panose="02020603050405020304" pitchFamily="18" charset="0"/>
                        </a:rPr>
                        <a:t>V</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1090340"/>
                  </a:ext>
                </a:extLst>
              </a:tr>
              <a:tr h="252265">
                <a:tc>
                  <a:txBody>
                    <a:bodyPr/>
                    <a:lstStyle/>
                    <a:p>
                      <a:pPr>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9</a:t>
                      </a:r>
                      <a:endParaRPr lang="es-ES" sz="1100" b="1">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ppm en poids</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a:effectLst/>
                          <a:latin typeface="Arial" panose="020B0604020202020204" pitchFamily="34" charset="0"/>
                          <a:ea typeface="Times New Roman" panose="02020603050405020304" pitchFamily="18" charset="0"/>
                        </a:rPr>
                        <a:t>PPM</a:t>
                      </a:r>
                      <a:r>
                        <a:rPr lang="en-GB" sz="1100" b="1" baseline="-25000">
                          <a:effectLst/>
                          <a:latin typeface="Arial" panose="020B0604020202020204" pitchFamily="34" charset="0"/>
                          <a:ea typeface="Times New Roman" panose="02020603050405020304" pitchFamily="18" charset="0"/>
                        </a:rPr>
                        <a:t>V </a:t>
                      </a:r>
                      <a:r>
                        <a:rPr lang="en-GB" sz="1100" b="1">
                          <a:effectLst/>
                          <a:latin typeface="Arial" panose="020B0604020202020204" pitchFamily="34" charset="0"/>
                          <a:ea typeface="Times New Roman" panose="02020603050405020304" pitchFamily="18" charset="0"/>
                        </a:rPr>
                        <a:t>X </a:t>
                      </a:r>
                      <a:endParaRPr lang="es-ES" sz="11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100" b="1" dirty="0">
                          <a:effectLst/>
                          <a:latin typeface="Arial" panose="020B0604020202020204" pitchFamily="34" charset="0"/>
                          <a:ea typeface="Times New Roman" panose="02020603050405020304" pitchFamily="18" charset="0"/>
                        </a:rPr>
                        <a:t> PPM</a:t>
                      </a:r>
                      <a:r>
                        <a:rPr lang="en-GB" sz="1100" b="1" baseline="-25000" dirty="0">
                          <a:effectLst/>
                          <a:latin typeface="Arial" panose="020B0604020202020204" pitchFamily="34" charset="0"/>
                          <a:ea typeface="Times New Roman" panose="02020603050405020304" pitchFamily="18" charset="0"/>
                        </a:rPr>
                        <a:t>W</a:t>
                      </a:r>
                      <a:endParaRPr lang="es-ES" sz="1100" b="1" dirty="0">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58392624"/>
                  </a:ext>
                </a:extLst>
              </a:tr>
            </a:tbl>
          </a:graphicData>
        </a:graphic>
      </p:graphicFrame>
    </p:spTree>
    <p:extLst>
      <p:ext uri="{BB962C8B-B14F-4D97-AF65-F5344CB8AC3E}">
        <p14:creationId xmlns:p14="http://schemas.microsoft.com/office/powerpoint/2010/main" val="28231611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capteur de concentration de CO2</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823972" y="1772816"/>
            <a:ext cx="6196300" cy="1872208"/>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600" kern="0" dirty="0" err="1">
                <a:solidFill>
                  <a:schemeClr val="tx1"/>
                </a:solidFill>
                <a:ea typeface="Open Sans" panose="020B0606030504020204" pitchFamily="34" charset="0"/>
                <a:cs typeface="Open Sans" panose="020B0606030504020204" pitchFamily="34" charset="0"/>
              </a:rPr>
              <a:t>Mesure</a:t>
            </a:r>
            <a:r>
              <a:rPr lang="en-US" sz="1600" kern="0" dirty="0">
                <a:solidFill>
                  <a:schemeClr val="tx1"/>
                </a:solidFill>
                <a:ea typeface="Open Sans" panose="020B0606030504020204" pitchFamily="34" charset="0"/>
                <a:cs typeface="Open Sans" panose="020B0606030504020204" pitchFamily="34" charset="0"/>
              </a:rPr>
              <a:t> la concentration de CO2 dans </a:t>
            </a:r>
            <a:r>
              <a:rPr lang="en-US" sz="1600" kern="0" dirty="0" err="1">
                <a:solidFill>
                  <a:schemeClr val="tx1"/>
                </a:solidFill>
                <a:ea typeface="Open Sans" panose="020B0606030504020204" pitchFamily="34" charset="0"/>
                <a:cs typeface="Open Sans" panose="020B0606030504020204" pitchFamily="34" charset="0"/>
              </a:rPr>
              <a:t>une</a:t>
            </a:r>
            <a:r>
              <a:rPr lang="en-US" sz="1600" kern="0" dirty="0">
                <a:solidFill>
                  <a:schemeClr val="tx1"/>
                </a:solidFill>
                <a:ea typeface="Open Sans" panose="020B0606030504020204" pitchFamily="34" charset="0"/>
                <a:cs typeface="Open Sans" panose="020B0606030504020204" pitchFamily="34" charset="0"/>
              </a:rPr>
              <a:t> pièce</a:t>
            </a:r>
          </a:p>
          <a:p>
            <a:pPr>
              <a:lnSpc>
                <a:spcPct val="150000"/>
              </a:lnSpc>
              <a:defRPr/>
            </a:pPr>
            <a:r>
              <a:rPr lang="en-US" sz="1600" kern="0" dirty="0" err="1">
                <a:solidFill>
                  <a:schemeClr val="tx1"/>
                </a:solidFill>
                <a:ea typeface="Open Sans" panose="020B0606030504020204" pitchFamily="34" charset="0"/>
                <a:cs typeface="Open Sans" panose="020B0606030504020204" pitchFamily="34" charset="0"/>
              </a:rPr>
              <a:t>Peut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également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recevoir</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une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valeur</a:t>
            </a:r>
            <a:r>
              <a:rPr lang="en-US" sz="1600" kern="0" dirty="0">
                <a:solidFill>
                  <a:schemeClr val="tx1"/>
                </a:solidFill>
                <a:ea typeface="Open Sans" panose="020B0606030504020204" pitchFamily="34" charset="0"/>
                <a:cs typeface="Open Sans" panose="020B0606030504020204" pitchFamily="34" charset="0"/>
              </a:rPr>
              <a:t> de CO2 </a:t>
            </a:r>
            <a:r>
              <a:rPr lang="en-US" sz="1600" kern="0" dirty="0" err="1">
                <a:solidFill>
                  <a:schemeClr val="tx1"/>
                </a:solidFill>
                <a:ea typeface="Open Sans" panose="020B0606030504020204" pitchFamily="34" charset="0"/>
                <a:cs typeface="Open Sans" panose="020B0606030504020204" pitchFamily="34" charset="0"/>
              </a:rPr>
              <a:t>externe</a:t>
            </a:r>
            <a:r>
              <a:rPr lang="en-US" sz="1600" kern="0" dirty="0">
                <a:solidFill>
                  <a:schemeClr val="tx1"/>
                </a:solidFill>
                <a:ea typeface="Open Sans" panose="020B0606030504020204" pitchFamily="34" charset="0"/>
                <a:cs typeface="Open Sans" panose="020B0606030504020204" pitchFamily="34" charset="0"/>
              </a:rPr>
              <a:t> pour </a:t>
            </a:r>
            <a:r>
              <a:rPr lang="en-US" sz="1600" kern="0" dirty="0" err="1">
                <a:solidFill>
                  <a:schemeClr val="tx1"/>
                </a:solidFill>
                <a:ea typeface="Open Sans" panose="020B0606030504020204" pitchFamily="34" charset="0"/>
                <a:cs typeface="Open Sans" panose="020B0606030504020204" pitchFamily="34" charset="0"/>
              </a:rPr>
              <a:t>calculer</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une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valeur</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globale</a:t>
            </a: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600" kern="0" dirty="0">
                <a:solidFill>
                  <a:schemeClr val="tx1"/>
                </a:solidFill>
                <a:ea typeface="Open Sans" panose="020B0606030504020204" pitchFamily="34" charset="0"/>
                <a:cs typeface="Open Sans" panose="020B0606030504020204" pitchFamily="34" charset="0"/>
              </a:rPr>
              <a:t>Utile dans les zones </a:t>
            </a:r>
            <a:r>
              <a:rPr lang="en-US" sz="1600" kern="0" dirty="0" err="1">
                <a:solidFill>
                  <a:schemeClr val="tx1"/>
                </a:solidFill>
                <a:ea typeface="Open Sans" panose="020B0606030504020204" pitchFamily="34" charset="0"/>
                <a:cs typeface="Open Sans" panose="020B0606030504020204" pitchFamily="34" charset="0"/>
              </a:rPr>
              <a:t>surpeuplées</a:t>
            </a:r>
            <a:r>
              <a:rPr lang="en-US" sz="1600" kern="0" dirty="0">
                <a:solidFill>
                  <a:schemeClr val="tx1"/>
                </a:solidFill>
                <a:ea typeface="Open Sans" panose="020B0606030504020204" pitchFamily="34" charset="0"/>
                <a:cs typeface="Open Sans" panose="020B0606030504020204" pitchFamily="34" charset="0"/>
              </a:rPr>
              <a:t> pour </a:t>
            </a:r>
            <a:r>
              <a:rPr lang="en-US" sz="1600" kern="0" dirty="0" err="1">
                <a:solidFill>
                  <a:schemeClr val="tx1"/>
                </a:solidFill>
                <a:ea typeface="Open Sans" panose="020B0606030504020204" pitchFamily="34" charset="0"/>
                <a:cs typeface="Open Sans" panose="020B0606030504020204" pitchFamily="34" charset="0"/>
              </a:rPr>
              <a:t>rafraîchir</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l'air</a:t>
            </a: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7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pic>
        <p:nvPicPr>
          <p:cNvPr id="9218" name="Picture 2" descr="KNX_AQS-B-UP_DataSheet_EN_20Jul12">
            <a:extLst>
              <a:ext uri="{FF2B5EF4-FFF2-40B4-BE49-F238E27FC236}">
                <a16:creationId xmlns:a16="http://schemas.microsoft.com/office/drawing/2014/main" id="{F47E8F33-9E40-4A4E-994F-C7B405EDE1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35852" y="1632412"/>
            <a:ext cx="1720967" cy="1720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9" name="Picture 3" descr="GO_ppm_dpt9008">
            <a:extLst>
              <a:ext uri="{FF2B5EF4-FFF2-40B4-BE49-F238E27FC236}">
                <a16:creationId xmlns:a16="http://schemas.microsoft.com/office/drawing/2014/main" id="{F2E7FDED-30F1-4E14-8EE1-5BC515AFF5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0832" y="5464093"/>
            <a:ext cx="7042335" cy="341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1">
            <a:extLst>
              <a:ext uri="{FF2B5EF4-FFF2-40B4-BE49-F238E27FC236}">
                <a16:creationId xmlns:a16="http://schemas.microsoft.com/office/drawing/2014/main" id="{5D472CAB-A17A-4F09-85B0-5DAA62ACAABC}"/>
              </a:ext>
            </a:extLst>
          </p:cNvPr>
          <p:cNvSpPr txBox="1">
            <a:spLocks/>
          </p:cNvSpPr>
          <p:nvPr/>
        </p:nvSpPr>
        <p:spPr>
          <a:xfrm>
            <a:off x="827584" y="3823692"/>
            <a:ext cx="7669684" cy="133350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600" kern="0" dirty="0">
                <a:solidFill>
                  <a:schemeClr val="tx1"/>
                </a:solidFill>
                <a:ea typeface="Open Sans" panose="020B0606030504020204" pitchFamily="34" charset="0"/>
                <a:cs typeface="Open Sans" panose="020B0606030504020204" pitchFamily="34" charset="0"/>
              </a:rPr>
              <a:t>La concentration de CO2 </a:t>
            </a:r>
            <a:r>
              <a:rPr lang="en-US" sz="1600" kern="0" dirty="0" err="1">
                <a:solidFill>
                  <a:schemeClr val="tx1"/>
                </a:solidFill>
                <a:ea typeface="Open Sans" panose="020B0606030504020204" pitchFamily="34" charset="0"/>
                <a:cs typeface="Open Sans" panose="020B0606030504020204" pitchFamily="34" charset="0"/>
              </a:rPr>
              <a:t>est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représentée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en</a:t>
            </a:r>
            <a:r>
              <a:rPr lang="en-US" sz="1600" kern="0" dirty="0">
                <a:solidFill>
                  <a:schemeClr val="tx1"/>
                </a:solidFill>
                <a:ea typeface="Open Sans" panose="020B0606030504020204" pitchFamily="34" charset="0"/>
                <a:cs typeface="Open Sans" panose="020B0606030504020204" pitchFamily="34" charset="0"/>
              </a:rPr>
              <a:t> parties par million et </a:t>
            </a:r>
            <a:r>
              <a:rPr lang="en-US" sz="1600" kern="0" dirty="0" err="1">
                <a:solidFill>
                  <a:schemeClr val="tx1"/>
                </a:solidFill>
                <a:ea typeface="Open Sans" panose="020B0606030504020204" pitchFamily="34" charset="0"/>
                <a:cs typeface="Open Sans" panose="020B0606030504020204" pitchFamily="34" charset="0"/>
              </a:rPr>
              <a:t>transmise</a:t>
            </a:r>
            <a:r>
              <a:rPr lang="en-US" sz="1600" kern="0" dirty="0">
                <a:solidFill>
                  <a:schemeClr val="tx1"/>
                </a:solidFill>
                <a:ea typeface="Open Sans" panose="020B0606030504020204" pitchFamily="34" charset="0"/>
                <a:cs typeface="Open Sans" panose="020B0606030504020204" pitchFamily="34" charset="0"/>
              </a:rPr>
              <a:t> à </a:t>
            </a:r>
            <a:r>
              <a:rPr lang="en-US" sz="1600" kern="0" dirty="0" err="1">
                <a:solidFill>
                  <a:schemeClr val="tx1"/>
                </a:solidFill>
                <a:ea typeface="Open Sans" panose="020B0606030504020204" pitchFamily="34" charset="0"/>
                <a:cs typeface="Open Sans" panose="020B0606030504020204" pitchFamily="34" charset="0"/>
              </a:rPr>
              <a:t>l'aide</a:t>
            </a:r>
            <a:r>
              <a:rPr lang="en-US" sz="1600" kern="0" dirty="0">
                <a:solidFill>
                  <a:schemeClr val="tx1"/>
                </a:solidFill>
                <a:ea typeface="Open Sans" panose="020B0606030504020204" pitchFamily="34" charset="0"/>
                <a:cs typeface="Open Sans" panose="020B0606030504020204" pitchFamily="34" charset="0"/>
              </a:rPr>
              <a:t> de 2 octets (9.008, </a:t>
            </a:r>
            <a:r>
              <a:rPr lang="en-US" sz="1600" kern="0" dirty="0" err="1">
                <a:solidFill>
                  <a:schemeClr val="tx1"/>
                </a:solidFill>
                <a:ea typeface="Open Sans" panose="020B0606030504020204" pitchFamily="34" charset="0"/>
                <a:cs typeface="Open Sans" panose="020B0606030504020204" pitchFamily="34" charset="0"/>
              </a:rPr>
              <a:t>DPT_Value_AirQuality</a:t>
            </a:r>
            <a:r>
              <a:rPr lang="en-US" sz="1600" kern="0" dirty="0">
                <a:solidFill>
                  <a:schemeClr val="tx1"/>
                </a:solidFill>
                <a:ea typeface="Open Sans" panose="020B0606030504020204" pitchFamily="34" charset="0"/>
                <a:cs typeface="Open Sans" panose="020B0606030504020204" pitchFamily="34" charset="0"/>
              </a:rPr>
              <a:t>), avec </a:t>
            </a:r>
            <a:r>
              <a:rPr lang="en-US" sz="1600" kern="0" dirty="0" err="1">
                <a:solidFill>
                  <a:schemeClr val="tx1"/>
                </a:solidFill>
                <a:ea typeface="Open Sans" panose="020B0606030504020204" pitchFamily="34" charset="0"/>
                <a:cs typeface="Open Sans" panose="020B0606030504020204" pitchFamily="34" charset="0"/>
              </a:rPr>
              <a:t>une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résolution</a:t>
            </a:r>
            <a:r>
              <a:rPr lang="en-US" sz="1600" kern="0" dirty="0">
                <a:solidFill>
                  <a:schemeClr val="tx1"/>
                </a:solidFill>
                <a:ea typeface="Open Sans" panose="020B0606030504020204" pitchFamily="34" charset="0"/>
                <a:cs typeface="Open Sans" panose="020B0606030504020204" pitchFamily="34" charset="0"/>
              </a:rPr>
              <a:t> de 0,01 ppm</a:t>
            </a:r>
          </a:p>
        </p:txBody>
      </p:sp>
    </p:spTree>
    <p:extLst>
      <p:ext uri="{BB962C8B-B14F-4D97-AF65-F5344CB8AC3E}">
        <p14:creationId xmlns:p14="http://schemas.microsoft.com/office/powerpoint/2010/main" val="39464494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 capteur d'humidité</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196752"/>
            <a:ext cx="7848352" cy="4608512"/>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600" kern="0" dirty="0" err="1">
                <a:solidFill>
                  <a:schemeClr val="tx1"/>
                </a:solidFill>
                <a:ea typeface="Open Sans" panose="020B0606030504020204" pitchFamily="34" charset="0"/>
                <a:cs typeface="Open Sans" panose="020B0606030504020204" pitchFamily="34" charset="0"/>
              </a:rPr>
              <a:t>Consiste</a:t>
            </a:r>
            <a:r>
              <a:rPr lang="en-US" sz="1600" kern="0" dirty="0">
                <a:solidFill>
                  <a:schemeClr val="tx1"/>
                </a:solidFill>
                <a:ea typeface="Open Sans" panose="020B0606030504020204" pitchFamily="34" charset="0"/>
                <a:cs typeface="Open Sans" panose="020B0606030504020204" pitchFamily="34" charset="0"/>
              </a:rPr>
              <a:t> d'un </a:t>
            </a:r>
            <a:r>
              <a:rPr lang="en-US" sz="1600" kern="0" dirty="0" err="1">
                <a:solidFill>
                  <a:schemeClr val="tx1"/>
                </a:solidFill>
                <a:ea typeface="Open Sans" panose="020B0606030504020204" pitchFamily="34" charset="0"/>
                <a:cs typeface="Open Sans" panose="020B0606030504020204" pitchFamily="34" charset="0"/>
              </a:rPr>
              <a:t>thermomètre</a:t>
            </a:r>
            <a:r>
              <a:rPr lang="en-US" sz="1600" kern="0" dirty="0">
                <a:solidFill>
                  <a:schemeClr val="tx1"/>
                </a:solidFill>
                <a:ea typeface="Open Sans" panose="020B0606030504020204" pitchFamily="34" charset="0"/>
                <a:cs typeface="Open Sans" panose="020B0606030504020204" pitchFamily="34" charset="0"/>
              </a:rPr>
              <a:t> et d'un </a:t>
            </a:r>
            <a:r>
              <a:rPr lang="en-US" sz="1600" kern="0" dirty="0" err="1">
                <a:solidFill>
                  <a:schemeClr val="tx1"/>
                </a:solidFill>
                <a:ea typeface="Open Sans" panose="020B0606030504020204" pitchFamily="34" charset="0"/>
                <a:cs typeface="Open Sans" panose="020B0606030504020204" pitchFamily="34" charset="0"/>
              </a:rPr>
              <a:t>hygromètre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mesure</a:t>
            </a:r>
            <a:r>
              <a:rPr lang="en-US" sz="1600" kern="0" dirty="0">
                <a:solidFill>
                  <a:schemeClr val="tx1"/>
                </a:solidFill>
                <a:ea typeface="Open Sans" panose="020B0606030504020204" pitchFamily="34" charset="0"/>
                <a:cs typeface="Open Sans" panose="020B0606030504020204" pitchFamily="34" charset="0"/>
              </a:rPr>
              <a:t> la </a:t>
            </a:r>
            <a:r>
              <a:rPr lang="en-US" sz="1600" kern="0" dirty="0" err="1">
                <a:solidFill>
                  <a:schemeClr val="tx1"/>
                </a:solidFill>
                <a:ea typeface="Open Sans" panose="020B0606030504020204" pitchFamily="34" charset="0"/>
                <a:cs typeface="Open Sans" panose="020B0606030504020204" pitchFamily="34" charset="0"/>
              </a:rPr>
              <a:t>température</a:t>
            </a:r>
            <a:r>
              <a:rPr lang="en-US" sz="1600" kern="0" dirty="0">
                <a:solidFill>
                  <a:schemeClr val="tx1"/>
                </a:solidFill>
                <a:ea typeface="Open Sans" panose="020B0606030504020204" pitchFamily="34" charset="0"/>
                <a:cs typeface="Open Sans" panose="020B0606030504020204" pitchFamily="34" charset="0"/>
              </a:rPr>
              <a:t> et </a:t>
            </a:r>
            <a:r>
              <a:rPr lang="en-US" sz="1600" kern="0" dirty="0" err="1">
                <a:solidFill>
                  <a:schemeClr val="tx1"/>
                </a:solidFill>
                <a:ea typeface="Open Sans" panose="020B0606030504020204" pitchFamily="34" charset="0"/>
                <a:cs typeface="Open Sans" panose="020B0606030504020204" pitchFamily="34" charset="0"/>
              </a:rPr>
              <a:t>l'humidité</a:t>
            </a:r>
            <a:r>
              <a:rPr lang="en-US" sz="1600" kern="0" dirty="0">
                <a:solidFill>
                  <a:schemeClr val="tx1"/>
                </a:solidFill>
                <a:ea typeface="Open Sans" panose="020B0606030504020204" pitchFamily="34" charset="0"/>
                <a:cs typeface="Open Sans" panose="020B0606030504020204" pitchFamily="34" charset="0"/>
              </a:rPr>
              <a:t> et </a:t>
            </a:r>
            <a:r>
              <a:rPr lang="en-US" sz="1600" kern="0" dirty="0" err="1">
                <a:solidFill>
                  <a:schemeClr val="tx1"/>
                </a:solidFill>
                <a:ea typeface="Open Sans" panose="020B0606030504020204" pitchFamily="34" charset="0"/>
                <a:cs typeface="Open Sans" panose="020B0606030504020204" pitchFamily="34" charset="0"/>
              </a:rPr>
              <a:t>calcule</a:t>
            </a:r>
            <a:r>
              <a:rPr lang="en-US" sz="1600" kern="0" dirty="0">
                <a:solidFill>
                  <a:schemeClr val="tx1"/>
                </a:solidFill>
                <a:ea typeface="Open Sans" panose="020B0606030504020204" pitchFamily="34" charset="0"/>
                <a:cs typeface="Open Sans" panose="020B0606030504020204" pitchFamily="34" charset="0"/>
              </a:rPr>
              <a:t> le point de </a:t>
            </a:r>
            <a:r>
              <a:rPr lang="en-US" sz="1600" kern="0" dirty="0" err="1">
                <a:solidFill>
                  <a:schemeClr val="tx1"/>
                </a:solidFill>
                <a:ea typeface="Open Sans" panose="020B0606030504020204" pitchFamily="34" charset="0"/>
                <a:cs typeface="Open Sans" panose="020B0606030504020204" pitchFamily="34" charset="0"/>
              </a:rPr>
              <a:t>rosée</a:t>
            </a: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600" kern="0" dirty="0">
                <a:solidFill>
                  <a:schemeClr val="tx1"/>
                </a:solidFill>
                <a:ea typeface="Open Sans" panose="020B0606030504020204" pitchFamily="34" charset="0"/>
                <a:cs typeface="Open Sans" panose="020B0606030504020204" pitchFamily="34" charset="0"/>
              </a:rPr>
              <a:t>Il </a:t>
            </a:r>
            <a:r>
              <a:rPr lang="en-GB" sz="1600" dirty="0" err="1">
                <a:solidFill>
                  <a:schemeClr val="tx1"/>
                </a:solidFill>
                <a:latin typeface="Arial" charset="0"/>
              </a:rPr>
              <a:t>détermine</a:t>
            </a:r>
            <a:r>
              <a:rPr lang="en-GB" sz="1600" dirty="0">
                <a:solidFill>
                  <a:schemeClr val="tx1"/>
                </a:solidFill>
                <a:latin typeface="Arial" charset="0"/>
              </a:rPr>
              <a:t> la </a:t>
            </a:r>
            <a:r>
              <a:rPr lang="en-GB" sz="1600" dirty="0" err="1">
                <a:solidFill>
                  <a:schemeClr val="tx1"/>
                </a:solidFill>
                <a:latin typeface="Arial" charset="0"/>
              </a:rPr>
              <a:t>quantité</a:t>
            </a:r>
            <a:r>
              <a:rPr lang="en-GB" sz="1600" dirty="0">
                <a:solidFill>
                  <a:schemeClr val="tx1"/>
                </a:solidFill>
                <a:latin typeface="Arial" charset="0"/>
              </a:rPr>
              <a:t> de </a:t>
            </a:r>
            <a:r>
              <a:rPr lang="en-GB" sz="1600" dirty="0" err="1">
                <a:solidFill>
                  <a:schemeClr val="tx1"/>
                </a:solidFill>
                <a:latin typeface="Arial" charset="0"/>
              </a:rPr>
              <a:t>vapeur</a:t>
            </a:r>
            <a:r>
              <a:rPr lang="en-GB" sz="1600" dirty="0">
                <a:solidFill>
                  <a:schemeClr val="tx1"/>
                </a:solidFill>
                <a:latin typeface="Arial" charset="0"/>
              </a:rPr>
              <a:t> </a:t>
            </a:r>
            <a:r>
              <a:rPr lang="en-GB" sz="1600" dirty="0" err="1">
                <a:solidFill>
                  <a:schemeClr val="tx1"/>
                </a:solidFill>
                <a:latin typeface="Arial" charset="0"/>
              </a:rPr>
              <a:t>d'eau</a:t>
            </a:r>
            <a:r>
              <a:rPr lang="en-GB" sz="1600" dirty="0">
                <a:solidFill>
                  <a:schemeClr val="tx1"/>
                </a:solidFill>
                <a:latin typeface="Arial" charset="0"/>
              </a:rPr>
              <a:t> </a:t>
            </a:r>
            <a:r>
              <a:rPr lang="en-GB" sz="1600" dirty="0" err="1">
                <a:solidFill>
                  <a:schemeClr val="tx1"/>
                </a:solidFill>
                <a:latin typeface="Arial" charset="0"/>
              </a:rPr>
              <a:t>présente</a:t>
            </a:r>
            <a:r>
              <a:rPr lang="en-GB" sz="1600" dirty="0">
                <a:solidFill>
                  <a:schemeClr val="tx1"/>
                </a:solidFill>
                <a:latin typeface="Arial" charset="0"/>
              </a:rPr>
              <a:t> dans un </a:t>
            </a:r>
            <a:r>
              <a:rPr lang="en-GB" sz="1600" dirty="0" err="1">
                <a:solidFill>
                  <a:schemeClr val="tx1"/>
                </a:solidFill>
                <a:latin typeface="Arial" charset="0"/>
              </a:rPr>
              <a:t>gaz</a:t>
            </a:r>
            <a:r>
              <a:rPr lang="en-US" sz="1600" dirty="0">
                <a:solidFill>
                  <a:schemeClr val="tx1"/>
                </a:solidFill>
                <a:latin typeface="Arial" charset="0"/>
              </a:rPr>
              <a:t> </a:t>
            </a:r>
          </a:p>
          <a:p>
            <a:pPr>
              <a:lnSpc>
                <a:spcPct val="150000"/>
              </a:lnSpc>
              <a:defRPr/>
            </a:pPr>
            <a:r>
              <a:rPr lang="en-US" sz="1600" dirty="0">
                <a:solidFill>
                  <a:schemeClr val="tx1"/>
                </a:solidFill>
                <a:latin typeface="Arial" charset="0"/>
              </a:rPr>
              <a:t>Important pour les </a:t>
            </a:r>
            <a:r>
              <a:rPr lang="en-US" sz="1600" dirty="0" err="1">
                <a:solidFill>
                  <a:schemeClr val="tx1"/>
                </a:solidFill>
                <a:latin typeface="Arial" charset="0"/>
              </a:rPr>
              <a:t>processus</a:t>
            </a:r>
            <a:r>
              <a:rPr lang="en-US" sz="1600" dirty="0">
                <a:solidFill>
                  <a:schemeClr val="tx1"/>
                </a:solidFill>
                <a:latin typeface="Arial" charset="0"/>
              </a:rPr>
              <a:t> </a:t>
            </a:r>
            <a:r>
              <a:rPr lang="en-US" sz="1600" dirty="0" err="1">
                <a:solidFill>
                  <a:schemeClr val="tx1"/>
                </a:solidFill>
                <a:latin typeface="Arial" charset="0"/>
              </a:rPr>
              <a:t>industriels</a:t>
            </a:r>
            <a:r>
              <a:rPr lang="en-US" sz="1600" dirty="0">
                <a:solidFill>
                  <a:schemeClr val="tx1"/>
                </a:solidFill>
                <a:latin typeface="Arial" charset="0"/>
              </a:rPr>
              <a:t> et pour assurer le </a:t>
            </a:r>
            <a:r>
              <a:rPr lang="en-US" sz="1600" dirty="0" err="1">
                <a:solidFill>
                  <a:schemeClr val="tx1"/>
                </a:solidFill>
                <a:latin typeface="Arial" charset="0"/>
              </a:rPr>
              <a:t>confort</a:t>
            </a:r>
            <a:r>
              <a:rPr lang="en-US" sz="1600" dirty="0">
                <a:solidFill>
                  <a:schemeClr val="tx1"/>
                </a:solidFill>
                <a:latin typeface="Arial" charset="0"/>
              </a:rPr>
              <a:t> </a:t>
            </a:r>
            <a:r>
              <a:rPr lang="en-US" sz="1600" dirty="0" err="1">
                <a:solidFill>
                  <a:schemeClr val="tx1"/>
                </a:solidFill>
                <a:latin typeface="Arial" charset="0"/>
              </a:rPr>
              <a:t>humain</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7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600" kern="0" dirty="0" err="1">
                <a:solidFill>
                  <a:schemeClr val="tx1"/>
                </a:solidFill>
                <a:ea typeface="Open Sans" panose="020B0606030504020204" pitchFamily="34" charset="0"/>
                <a:cs typeface="Open Sans" panose="020B0606030504020204" pitchFamily="34" charset="0"/>
              </a:rPr>
              <a:t>L'humidité</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est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représentée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en</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pourcentage</a:t>
            </a:r>
            <a:r>
              <a:rPr lang="en-US" sz="1600" kern="0" dirty="0">
                <a:solidFill>
                  <a:schemeClr val="tx1"/>
                </a:solidFill>
                <a:ea typeface="Open Sans" panose="020B0606030504020204" pitchFamily="34" charset="0"/>
                <a:cs typeface="Open Sans" panose="020B0606030504020204" pitchFamily="34" charset="0"/>
              </a:rPr>
              <a:t> et </a:t>
            </a:r>
            <a:r>
              <a:rPr lang="en-US" sz="1600" kern="0" dirty="0" err="1">
                <a:solidFill>
                  <a:schemeClr val="tx1"/>
                </a:solidFill>
                <a:ea typeface="Open Sans" panose="020B0606030504020204" pitchFamily="34" charset="0"/>
                <a:cs typeface="Open Sans" panose="020B0606030504020204" pitchFamily="34" charset="0"/>
              </a:rPr>
              <a:t>transmise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en</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utilisant</a:t>
            </a:r>
            <a:r>
              <a:rPr lang="en-US" sz="1600" kern="0" dirty="0">
                <a:solidFill>
                  <a:schemeClr val="tx1"/>
                </a:solidFill>
                <a:ea typeface="Open Sans" panose="020B0606030504020204" pitchFamily="34" charset="0"/>
                <a:cs typeface="Open Sans" panose="020B0606030504020204" pitchFamily="34" charset="0"/>
              </a:rPr>
              <a:t> 2 octets (9.007 </a:t>
            </a:r>
            <a:r>
              <a:rPr lang="en-US" sz="1600" kern="0" dirty="0" err="1">
                <a:solidFill>
                  <a:schemeClr val="tx1"/>
                </a:solidFill>
                <a:ea typeface="Open Sans" panose="020B0606030504020204" pitchFamily="34" charset="0"/>
                <a:cs typeface="Open Sans" panose="020B0606030504020204" pitchFamily="34" charset="0"/>
              </a:rPr>
              <a:t>DPT_Value_Humidity</a:t>
            </a:r>
            <a:r>
              <a:rPr lang="en-US" sz="1600" kern="0" dirty="0">
                <a:solidFill>
                  <a:schemeClr val="tx1"/>
                </a:solidFill>
                <a:ea typeface="Open Sans" panose="020B0606030504020204" pitchFamily="34" charset="0"/>
                <a:cs typeface="Open Sans" panose="020B0606030504020204" pitchFamily="34" charset="0"/>
              </a:rPr>
              <a:t>) avec </a:t>
            </a:r>
            <a:r>
              <a:rPr lang="en-US" sz="1600" kern="0" dirty="0" err="1">
                <a:solidFill>
                  <a:schemeClr val="tx1"/>
                </a:solidFill>
                <a:ea typeface="Open Sans" panose="020B0606030504020204" pitchFamily="34" charset="0"/>
                <a:cs typeface="Open Sans" panose="020B0606030504020204" pitchFamily="34" charset="0"/>
              </a:rPr>
              <a:t>une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résolution</a:t>
            </a:r>
            <a:r>
              <a:rPr lang="en-US" sz="1600" kern="0" dirty="0">
                <a:solidFill>
                  <a:schemeClr val="tx1"/>
                </a:solidFill>
                <a:ea typeface="Open Sans" panose="020B0606030504020204" pitchFamily="34" charset="0"/>
                <a:cs typeface="Open Sans" panose="020B0606030504020204" pitchFamily="34" charset="0"/>
              </a:rPr>
              <a:t> de 0,01 %</a:t>
            </a: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pic>
        <p:nvPicPr>
          <p:cNvPr id="8195" name="Picture 3" descr="humidity sensor TTFK">
            <a:extLst>
              <a:ext uri="{FF2B5EF4-FFF2-40B4-BE49-F238E27FC236}">
                <a16:creationId xmlns:a16="http://schemas.microsoft.com/office/drawing/2014/main" id="{6CB502AE-2DDA-43B6-B604-D1438D9873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0181" y="2924944"/>
            <a:ext cx="2357437"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6" name="Picture 4" descr="KNX_TH-UP_Manual_EN">
            <a:extLst>
              <a:ext uri="{FF2B5EF4-FFF2-40B4-BE49-F238E27FC236}">
                <a16:creationId xmlns:a16="http://schemas.microsoft.com/office/drawing/2014/main" id="{9F653AC2-8470-4A80-9D8F-E1BF8FD0A1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3728" y="2852936"/>
            <a:ext cx="1341437" cy="133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Picture 5" descr="GO_hum_dpt9007">
            <a:extLst>
              <a:ext uri="{FF2B5EF4-FFF2-40B4-BE49-F238E27FC236}">
                <a16:creationId xmlns:a16="http://schemas.microsoft.com/office/drawing/2014/main" id="{E76D6BAE-8DEA-4EA1-9155-7BBDF8C329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3786" y="5589240"/>
            <a:ext cx="7454822" cy="345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28103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f47fad2980124742eb3a1b2ef6477a9279f5fc26"/>
  <p:tag name="ISPRING_RESOURCE_PATHS_HASH_PRESENTER" val="afe921d51fb26fdb5fa66f1b85c65c336fff"/>
</p:tagLst>
</file>

<file path=ppt/theme/theme1.xml><?xml version="1.0" encoding="utf-8"?>
<a:theme xmlns:a="http://schemas.openxmlformats.org/drawingml/2006/main" name="Training 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2" id="{FBEFB063-18B4-47A3-AFC2-88D58203559B}" vid="{76D4A2F0-3A75-437D-877A-8CC66E725EB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7240</TotalTime>
  <Words>14975</Words>
  <Application>Microsoft Office PowerPoint</Application>
  <PresentationFormat>On-screen Show (4:3)</PresentationFormat>
  <Paragraphs>1126</Paragraphs>
  <Slides>62</Slides>
  <Notes>62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69" baseType="lpstr">
      <vt:lpstr>Arial</vt:lpstr>
      <vt:lpstr>Calibri</vt:lpstr>
      <vt:lpstr>Gotham Light</vt:lpstr>
      <vt:lpstr>Gotham Medium</vt:lpstr>
      <vt:lpstr>Wingdings</vt:lpstr>
      <vt:lpstr>Training 2</vt:lpstr>
      <vt:lpstr>Picture</vt:lpstr>
      <vt:lpstr>COURS AVANCÉ KNX Annex informative</vt:lpstr>
      <vt:lpstr>Informations générales</vt:lpstr>
      <vt:lpstr>Informations générales</vt:lpstr>
      <vt:lpstr>Exigences par rapport au système de contrôle climatique</vt:lpstr>
      <vt:lpstr>Certificat énergétique</vt:lpstr>
      <vt:lpstr>Planification du système de chauffage</vt:lpstr>
      <vt:lpstr>Comparaison entre différents types d'énergie</vt:lpstr>
      <vt:lpstr>Comparaison entre différents types d'énergie</vt:lpstr>
      <vt:lpstr>Comparaison entre différents types d'énergie</vt:lpstr>
      <vt:lpstr>Comparaison entre différents types d'énergie</vt:lpstr>
      <vt:lpstr>Comparaison entre différents types d'énergie</vt:lpstr>
      <vt:lpstr>Structure d'un système de chauffage </vt:lpstr>
      <vt:lpstr>Type de chauffage</vt:lpstr>
      <vt:lpstr>Type de chauffage</vt:lpstr>
      <vt:lpstr>Courbe de chauffage</vt:lpstr>
      <vt:lpstr>Courbe de chauffage</vt:lpstr>
      <vt:lpstr>Puissance des éléments chauffants</vt:lpstr>
      <vt:lpstr>Puissance des éléments chauffants</vt:lpstr>
      <vt:lpstr>Contrôle du chauffage</vt:lpstr>
      <vt:lpstr>Mise en service du système de chauffage</vt:lpstr>
      <vt:lpstr>Intégration du chauffage dans le système de gestion du bâtiment</vt:lpstr>
      <vt:lpstr>Domaine d'application </vt:lpstr>
      <vt:lpstr>Contrôle individuel de la pièce</vt:lpstr>
      <vt:lpstr>Contrôle à deux niveaux</vt:lpstr>
      <vt:lpstr>Contrôle PI</vt:lpstr>
      <vt:lpstr>Composants : Thermostat de la pièce</vt:lpstr>
      <vt:lpstr>Composants : Thermostat de la pièce</vt:lpstr>
      <vt:lpstr>Composants : Thermostat de la pièce</vt:lpstr>
      <vt:lpstr>Actionneur – Variante 1 (actionneur de commutation)</vt:lpstr>
      <vt:lpstr>Actionneur – Variante 2 (Contrôleur continu)</vt:lpstr>
      <vt:lpstr>Avantages et inconvénients</vt:lpstr>
      <vt:lpstr>Autres éléments</vt:lpstr>
      <vt:lpstr>Connexion par une passerelle DDC ou des actionneurs traditionnels</vt:lpstr>
      <vt:lpstr>Connexion par une passerelle KNX</vt:lpstr>
      <vt:lpstr>connexion par une passerelle KNX</vt:lpstr>
      <vt:lpstr>Connexion par un contrôleur externe de chauffage</vt:lpstr>
      <vt:lpstr>connexion par un contrôleur central externe, en utilisant le mode LTE</vt:lpstr>
      <vt:lpstr>Le ventilo-convecteur</vt:lpstr>
      <vt:lpstr>Structure technique de la bobine de ventilateur</vt:lpstr>
      <vt:lpstr>Variantes de conception de bobines de ventilateur</vt:lpstr>
      <vt:lpstr>Intégration KNX </vt:lpstr>
      <vt:lpstr>Ventilateurs</vt:lpstr>
      <vt:lpstr>Modes de fonctionnement</vt:lpstr>
      <vt:lpstr>Intégration des systèmes de conditionnement d'air</vt:lpstr>
      <vt:lpstr>Intégration dans KNX</vt:lpstr>
      <vt:lpstr>Types de communication</vt:lpstr>
      <vt:lpstr>Gradation</vt:lpstr>
      <vt:lpstr>Gradation</vt:lpstr>
      <vt:lpstr>La ventilation</vt:lpstr>
      <vt:lpstr>La ventilation</vt:lpstr>
      <vt:lpstr>Intégration avec KNX</vt:lpstr>
      <vt:lpstr>Intégration avec KNX</vt:lpstr>
      <vt:lpstr>Les capteurs physiques</vt:lpstr>
      <vt:lpstr>Le capteur de température</vt:lpstr>
      <vt:lpstr>Le capteur de luminosité</vt:lpstr>
      <vt:lpstr>Le capteur de vent</vt:lpstr>
      <vt:lpstr>Le capteur de précipitations</vt:lpstr>
      <vt:lpstr>Le capteur de rayonnement solaire</vt:lpstr>
      <vt:lpstr>Produit combiné, station météo</vt:lpstr>
      <vt:lpstr>Les capteurs de qualité de l'air</vt:lpstr>
      <vt:lpstr>capteur de concentration de CO2</vt:lpstr>
      <vt:lpstr>Le capteur d'humidité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arguments</dc:title>
  <dc:creator>KNX Association;R. Hernandez</dc:creator>
  <cp:lastModifiedBy>Ufuk Unal</cp:lastModifiedBy>
  <cp:revision>349</cp:revision>
  <dcterms:created xsi:type="dcterms:W3CDTF">2012-09-10T07:59:43Z</dcterms:created>
  <dcterms:modified xsi:type="dcterms:W3CDTF">2023-04-07T15:08:31Z</dcterms:modified>
</cp:coreProperties>
</file>