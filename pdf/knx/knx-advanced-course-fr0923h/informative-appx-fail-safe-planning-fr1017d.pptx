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20"/>
  </p:notesMasterIdLst>
  <p:handoutMasterIdLst>
    <p:handoutMasterId r:id="rId21"/>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6858000" type="screen4x3"/>
  <p:notesSz cx="6858000" cy="9144000"/>
  <p:custDataLst>
    <p:tags r:id="rId22"/>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Beaucoup de systèmes KNX qui sont installés aujourd'hui remplissent des fonctions de sécurité. </a:t>
            </a:r>
          </a:p>
          <a:p>
            <a:r>
              <a:rPr lang="en-GB" sz="1200" kern="1200">
                <a:solidFill>
                  <a:schemeClr val="tx1"/>
                </a:solidFill>
                <a:effectLst/>
                <a:latin typeface="Arial" charset="0"/>
                <a:ea typeface="+mn-ea"/>
                <a:cs typeface="+mn-cs"/>
              </a:rPr>
              <a:t>Si ces types d'applications sont exigés, des mesures de logiciel et de matériel devraient être prises en compte pour rendre le système KNX infaillible. </a:t>
            </a:r>
            <a:endParaRPr lang="es-ES" sz="1200" kern="1200" dirty="0">
              <a:solidFill>
                <a:schemeClr val="tx1"/>
              </a:solidFill>
              <a:effectLst/>
              <a:latin typeface="Arial" charset="0"/>
              <a:ea typeface="+mn-ea"/>
              <a:cs typeface="+mn-cs"/>
            </a:endParaRPr>
          </a:p>
          <a:p>
            <a:r>
              <a:rPr lang="en-GB" sz="1200" i="1" kern="1200">
                <a:solidFill>
                  <a:schemeClr val="tx1"/>
                </a:solidFill>
                <a:effectLst/>
                <a:latin typeface="Arial" charset="0"/>
                <a:ea typeface="+mn-ea"/>
                <a:cs typeface="+mn-cs"/>
              </a:rPr>
              <a:t>Voici des exemples de ces types d'exigences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Fonctions d'alarme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Systèmes de surveillance (fenêtres, portes,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Systèmes d'alarme anti-intrusion et antivol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à distance (téléphone, web,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Détecteurs d'incendie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Détecteurs d'eau</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des appareils et applications dont la défaillance pourrait entraîner des dommages indirects (capteurs de vent pour les volets roulants, capteurs de pluie pour les puits de lumière, déconnexion centrale de l'eau dans les bâtiments non utilisés...)</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Mesures Logicielles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mettre en œuvre les fonctions, il existe des actionneurs, des capteurs et des contrôleurs que l'intégrateur doit relier entre eux. En fonctionnement normal, les télégrammes sont transmis en fonction des événements. Si un événement se produit, un télégramme est généré et envoyé au système de bus. Si le capteur ne fonctionne plus, il est possible d'arrêter de générer des télégrammes qui provoquent l'exécution d'une action. Dans le pire des cas, un télégramme " important " peut être perdu. Pour éviter cela, il est possible de détecter la défaillance d'un télégramme et de signaler successivement qu'un défaut s'est produit dans la transmission.</a:t>
            </a:r>
            <a:endParaRPr lang="es-ES" sz="1200" kern="1200" dirty="0">
              <a:solidFill>
                <a:schemeClr val="tx1"/>
              </a:solidFill>
              <a:effectLst/>
              <a:latin typeface="Arial" charset="0"/>
              <a:ea typeface="+mn-ea"/>
              <a:cs typeface="+mn-cs"/>
            </a:endParaRPr>
          </a:p>
          <a:p>
            <a:endParaRPr lang="en-GB" noProof="0" dirty="0"/>
          </a:p>
          <a:p>
            <a:pPr>
              <a:defRPr/>
            </a:pPr>
            <a:r>
              <a:rPr lang="es-ES"/>
              <a:t>Les </a:t>
            </a:r>
            <a:r>
              <a:rPr lang="en-GB"/>
              <a:t>principales mesures logicielles à adopter pour assurer le temps de travail d'une installation </a:t>
            </a:r>
            <a:r>
              <a:rPr lang="es-ES"/>
              <a:t>sont :</a:t>
            </a:r>
          </a:p>
          <a:p>
            <a:pPr marL="171450" indent="-171450">
              <a:buFont typeface="Arial" panose="020B0604020202020204" pitchFamily="34" charset="0"/>
              <a:buChar char="•"/>
              <a:defRPr/>
            </a:pPr>
            <a:r>
              <a:rPr lang="en-US"/>
              <a:t>Télégrammes Cycliques pour la Surveillance</a:t>
            </a:r>
          </a:p>
          <a:p>
            <a:pPr marL="171450" indent="-171450">
              <a:buFont typeface="Arial" panose="020B0604020202020204" pitchFamily="34" charset="0"/>
              <a:buChar char="•"/>
              <a:defRPr/>
            </a:pPr>
            <a:r>
              <a:rPr lang="en-US"/>
              <a:t>Priorité d'un Télégramme</a:t>
            </a:r>
          </a:p>
          <a:p>
            <a:pPr marL="171450" indent="-171450">
              <a:buFont typeface="Arial" panose="020B0604020202020204" pitchFamily="34" charset="0"/>
              <a:buChar char="•"/>
              <a:defRPr/>
            </a:pPr>
            <a:r>
              <a:rPr lang="en-US"/>
              <a:t>Comportement après la récupération de la tension de bus</a:t>
            </a:r>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36775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Télégrammes Cycliques pour la Surveillance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des raisons de sécurité, il peut être recommandé de répéter les télégrammes à intervalles cycliques pour garantir que l'appareil de sortie est réglé sur une position de commutation définie en cas de défaillance de l'émetteur. Une fonction qui se produit fréquemment dans les systèmes KNX est l'alarme de vent ou de pluie. Le mode de fonctionnement d'un capteur de vent est décrit dans la section suivante à titre d'illustration.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L'information qu'il n'y a pas de vent (logique " 0 ") est transmise cycliquement par le capteur. Si l'actionneur de volet roulant ne reçoit pas de télégramme de sécurité dans un délai défini, le volet roulant est mis en position de sécurité et les ordres de mouvement, d'arrêt et de pas ne sont exécutés que si le capteur de vent a envoyé le télégramme " Aucun vent présent ". Il faut noter que seule l'information " Pas de vent " c'est-à-dire la logique " 0 " doit être répétée cycliquement dans le système KNX. La plupart des actionneurs de volets roulants exécutent un ordre de déplacement dès réception du télégramme " Vent présent " (" logique 1 "). Si ce télégramme est également transmis de manière cyclique, il peut, dans le pire des cas, endommager les moteurs d'entraînement.</a:t>
            </a:r>
          </a:p>
          <a:p>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 de la configuration de ce type de surveillance cyclique, il faut toujours veiller à ce que le temps de surveillance côté actionneur soit sélectionné environ trois fois plus long que le temps de cycle du capteur. En règle générale, les télégrammes qui sont envoyés cycliquement ne doivent pas être envoyés à des intervalles très courts, car cela entraînerait une charge de bus inutilement élevée. Normalement, on peut supposer que le nouvel état sera envoyé immédiatement s'il y a un changement d'état du capteur. </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815807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a:t>Paramétrage d'une Station Météo</a:t>
            </a:r>
          </a:p>
          <a:p>
            <a:r>
              <a:rPr lang="en-GB" sz="1200" kern="1200">
                <a:solidFill>
                  <a:schemeClr val="tx1"/>
                </a:solidFill>
                <a:effectLst/>
                <a:latin typeface="Arial" charset="0"/>
                <a:ea typeface="+mn-ea"/>
                <a:cs typeface="+mn-cs"/>
              </a:rPr>
              <a:t>Les diagrammes suivants montrent un exemple de paramétrage d'un capteur de vent conventionnel connecté à l'entrée binaire (Canal A) d'une station météorologique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Grâce à ce paramétrage, l'entrée envoie l'état du capteur sur le bus avec une période cyclique de 5 minutes. </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Capture d'écran ETS d'une station météorologique (par ex. entrée capteur 1, valeur limite 1, vent (54km/h), sortie 1 cyclique 50 s / 5 min retardée)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L'actionneur de volet doit maintenant être configuré de telle sorte que le volet se mette en position de sécurité si l'information (" Pas de vent présent " (logique 0)) est reçue dans les 15 minutes.</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Capture d'écran ETS d'un actionneur d'obturation</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Le mode de fonctionnement décrit précédemment peut bien entendu être mis en œuvre à l'aide d'actionneurs ou de régulateurs de commutation. Le capteur ou le contrôleur qui peut envoyer un télégramme de manière cyclique doit être configuré de telle sorte qu'il déclenche toujours une fonction d'horloge ou d'escalier dans l'appareil de sortie, de sorte qu'il ne change pas son état. Si des informations sont perdues parce que, par exemple, l'alimentation électrique d'une ligne primaire tombe en panne, l'objet de sortie change son état. Cette méthode peut être utilisée pour vérifier à partir d'une position centrale si la tension a été appliquée à tous les segments de ligne d'un système KNX. Un dispositif doit être installé dans chaque segment qui envoie des télégrammes cycliques et un dispositif doit être installé à un point central qui évalue ces informations.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Le capteur se répète cycliquement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les systèmes décentralisés à commande événementielle, la plupart des fonctions de sécurité sont basées sur des télégrammes transmis cycliquement dont la transmission est surveillée à un autre endroit. </a:t>
            </a:r>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n-US" b="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1233753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1"/>
              <a:t>Priorité d'un Télégramme</a:t>
            </a:r>
          </a:p>
          <a:p>
            <a:r>
              <a:rPr lang="en-GB" sz="1200" kern="1200">
                <a:solidFill>
                  <a:schemeClr val="tx1"/>
                </a:solidFill>
                <a:effectLst/>
                <a:latin typeface="Arial" charset="0"/>
                <a:ea typeface="+mn-ea"/>
                <a:cs typeface="+mn-cs"/>
              </a:rPr>
              <a:t>Une étape supplémentaire pour permettre l'envoi des télégrammes le plus rapidement possible est la définition des priorités sur l'objet de groupe. Normalement, elles sont réglées par le fabricant. La priorité des télégrammes d'envoi d'un objet peut être adaptée individuellement sur trois niveaux avec ETS si nécessaire.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niveaux de priorité suivants sont disponibles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Faible priorité opérationnelle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Priorité opérationnelle élevée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alarmes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Système (utilisé par ETS pendant le téléchargement)</a:t>
            </a:r>
          </a:p>
          <a:p>
            <a:pPr marL="171450" lvl="0" indent="-171450">
              <a:buFont typeface="Arial" panose="020B0604020202020204" pitchFamily="34" charset="0"/>
              <a:buChar char="•"/>
            </a:pP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diagramme suivant indique une station météorologique dans laquelle l'objet 1 (Sécurité de Sortie 2) a été réglé en priorité 'Alarme'. Ce réglage signifie que plusieurs logiques "0" sont envoyées en premier lieu dans le champ de commande du télégramme et que le télégramme prévaut immédiatement et sans délai sur un appareil de priorité automatique ou normale.  Il convient toutefois de noter que vous ne devez pas définir un grand nombre de télégrammes sur le même niveau de priorité s'ils peuvent éventuellement être envoyés en même temps.</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3265374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Comportement après le Rétablissement de la Tension du Bus</a:t>
            </a:r>
          </a:p>
          <a:p>
            <a:r>
              <a:rPr lang="en-GB" sz="1200" kern="1200">
                <a:solidFill>
                  <a:schemeClr val="tx1"/>
                </a:solidFill>
                <a:effectLst/>
                <a:latin typeface="Arial" charset="0"/>
                <a:ea typeface="+mn-ea"/>
                <a:cs typeface="+mn-cs"/>
              </a:rPr>
              <a:t>Le comportement de démarrage d'une installation KNX après une coupure de tension doit être planifié et vérifié au plus tard au moment de la remise en service. Dans la plupart des cas, on peut supposer que les actionneurs de commutation conservent leur état après le rétablissement de la tension du bus ou coupent les sorties. Pour de nombreux appareils, " l'État après le rétablissement de la tension " peut être réglé dans les paramètres de l'appareil. En particulier, si des systèmes d'irrigation, des systèmes de commande de pompes ou des contrôleurs d'appareils qui entraînent des coûts d'exploitation très élevés sont mis en œuvre avec KNX, le comportement au démarrage doit être vérifié et faire partie du rapport de réception. </a:t>
            </a:r>
          </a:p>
          <a:p>
            <a:pPr lvl="1"/>
            <a:endParaRPr lang="en-GB" sz="1200" b="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Surveillance de la Tension du Bus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possible d'installer un relais temporisé conventionnel en parallèle à l'alimentation électrique du KNX pour établir une panne de tension. Les régulateurs, valeurs de consigne et autres états d'une installation peuvent ainsi être remis à l'état initial. Le relais temporisé commute avec un retard (après env. 30 s) et le contact est relié à un canal d'une entrée binaire KNX. Cette entrée binaire envoie à une adresse de groupe qui signale une panne de courant et crée des états de base définis. Le schéma suivant représente la configuration schématique de ce type de système.</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4261181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1"/>
              <a:t>Déclenchement en réponse à un télégramme</a:t>
            </a:r>
          </a:p>
          <a:p>
            <a:r>
              <a:rPr lang="en-GB" sz="1200" kern="1200">
                <a:solidFill>
                  <a:schemeClr val="tx1"/>
                </a:solidFill>
                <a:effectLst/>
                <a:latin typeface="Arial" charset="0"/>
                <a:ea typeface="+mn-ea"/>
                <a:cs typeface="+mn-cs"/>
              </a:rPr>
              <a:t>Les nouvelles alimentations offrent des fonctions de diagnostic. Avec ces appareils, une initialisation de démarrage peut être effectuée directement via des objets de groupe. Pour plus d'informations à ce sujet, reportez-vous au chapitre " Alimentations avec fonctions de diagnostic " ci-dessous.</a:t>
            </a:r>
            <a:endParaRPr lang="es-ES" sz="1200" kern="120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cas de demande de transfert de données définies à différentes adresses de groupe lors de la récupération de tension, il est possible d'utiliser un contrôleur capable de déclencher un télégramme et d'envoyer des données définies aux adresses de groupe dès réception de ce télégramme d'initialisation. </a:t>
            </a:r>
            <a:endParaRPr lang="es-ES" sz="1200" kern="120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cet exemple, un télégramme d'initialisation déclenche l'envoi de données à différentes adresses de groupe :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7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Déclencher en réponse à un télégramme</a:t>
            </a:r>
            <a:endParaRPr lang="es-ES" sz="1200" b="1" kern="1200">
              <a:solidFill>
                <a:schemeClr val="tx1"/>
              </a:solidFill>
              <a:effectLst/>
              <a:latin typeface="Arial" charset="0"/>
              <a:ea typeface="+mn-ea"/>
              <a:cs typeface="+mn-cs"/>
            </a:endParaRPr>
          </a:p>
          <a:p>
            <a:endParaRPr lang="en-GB" b="1"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2127875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Étapes vers une installation KNX infaillible</a:t>
            </a:r>
          </a:p>
          <a:p>
            <a:pPr lvl="0"/>
            <a:r>
              <a:rPr lang="en-US" sz="1200" b="0" kern="1200">
                <a:solidFill>
                  <a:schemeClr val="tx1"/>
                </a:solidFill>
                <a:effectLst/>
                <a:latin typeface="Arial" charset="0"/>
                <a:ea typeface="+mn-ea"/>
                <a:cs typeface="+mn-cs"/>
              </a:rPr>
              <a:t>Principales mesures matérielles à adopter:</a:t>
            </a:r>
            <a:endParaRPr lang="es-ES" sz="1200" b="0" kern="1200" dirty="0">
              <a:solidFill>
                <a:schemeClr val="tx1"/>
              </a:solidFill>
              <a:effectLst/>
              <a:latin typeface="Arial" charset="0"/>
              <a:ea typeface="+mn-ea"/>
              <a:cs typeface="+mn-cs"/>
            </a:endParaRPr>
          </a:p>
          <a:p>
            <a:pPr marL="171450" indent="-171450" algn="just" eaLnBrk="1" hangingPunct="1">
              <a:buFont typeface="Arial" panose="020B0604020202020204" pitchFamily="34" charset="0"/>
              <a:buChar char="•"/>
              <a:defRPr/>
            </a:pPr>
            <a:r>
              <a:rPr lang="en-US" sz="1200">
                <a:solidFill>
                  <a:schemeClr val="bg1">
                    <a:lumMod val="10000"/>
                  </a:schemeClr>
                </a:solidFill>
                <a:cs typeface="Arial" panose="020B0604020202020204" pitchFamily="34" charset="0"/>
              </a:rPr>
              <a:t>Système Distribué avec Contrôleurs</a:t>
            </a:r>
            <a:endParaRPr lang="es-ES" sz="1200" dirty="0">
              <a:solidFill>
                <a:schemeClr val="bg1">
                  <a:lumMod val="10000"/>
                </a:schemeClr>
              </a:solidFill>
              <a:cs typeface="Arial" panose="020B0604020202020204" pitchFamily="34" charset="0"/>
            </a:endParaRPr>
          </a:p>
          <a:p>
            <a:pPr marL="171450" indent="-171450">
              <a:buFont typeface="Arial" panose="020B0604020202020204" pitchFamily="34" charset="0"/>
              <a:buChar char="•"/>
              <a:defRPr/>
            </a:pPr>
            <a:r>
              <a:rPr lang="en-US">
                <a:solidFill>
                  <a:schemeClr val="bg1">
                    <a:lumMod val="10000"/>
                  </a:schemeClr>
                </a:solidFill>
                <a:cs typeface="Arial" panose="020B0604020202020204" pitchFamily="34" charset="0"/>
              </a:rPr>
              <a:t>Modules logiques et visualisation en connexion avec Coupleurs</a:t>
            </a:r>
            <a:endParaRPr lang="es-ES" dirty="0">
              <a:solidFill>
                <a:schemeClr val="bg1">
                  <a:lumMod val="10000"/>
                </a:schemeClr>
              </a:solidFill>
              <a:cs typeface="Arial" panose="020B0604020202020204" pitchFamily="34" charset="0"/>
            </a:endParaRPr>
          </a:p>
          <a:p>
            <a:pPr marL="171450" indent="-171450" algn="just" eaLnBrk="1" hangingPunct="1">
              <a:buFont typeface="Arial" panose="020B0604020202020204" pitchFamily="34" charset="0"/>
              <a:buChar char="•"/>
              <a:defRPr/>
            </a:pPr>
            <a:r>
              <a:rPr lang="en-US" sz="1200">
                <a:solidFill>
                  <a:schemeClr val="bg1">
                    <a:lumMod val="10000"/>
                  </a:schemeClr>
                </a:solidFill>
                <a:cs typeface="Arial" panose="020B0604020202020204" pitchFamily="34" charset="0"/>
              </a:rPr>
              <a:t>Actionneurs de Commutation Multicanaux</a:t>
            </a:r>
          </a:p>
          <a:p>
            <a:pPr marL="171450" marR="0" lvl="0" indent="-171450" algn="just"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200">
                <a:solidFill>
                  <a:schemeClr val="bg1">
                    <a:lumMod val="10000"/>
                  </a:schemeClr>
                </a:solidFill>
                <a:cs typeface="Arial" panose="020B0604020202020204" pitchFamily="34" charset="0"/>
              </a:rPr>
              <a:t>Avantages des Coupleurs de Ligne</a:t>
            </a:r>
            <a:endParaRPr lang="es-ES" sz="1200" b="1" dirty="0">
              <a:solidFill>
                <a:srgbClr val="0070C0"/>
              </a:solidFill>
              <a:ea typeface="ＭＳ Ｐゴシック" pitchFamily="-97" charset="-128"/>
              <a:cs typeface="Arial" pitchFamily="34" charset="0"/>
            </a:endParaRPr>
          </a:p>
          <a:p>
            <a:pPr marL="171450" marR="0" lvl="0" indent="-171450" algn="just"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200">
                <a:solidFill>
                  <a:schemeClr val="bg1">
                    <a:lumMod val="10000"/>
                  </a:schemeClr>
                </a:solidFill>
                <a:cs typeface="Arial" panose="020B0604020202020204" pitchFamily="34" charset="0"/>
              </a:rPr>
              <a:t>La source de courant</a:t>
            </a:r>
          </a:p>
          <a:p>
            <a:pPr marL="171450" marR="0" lvl="0" indent="-171450" algn="just"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200">
                <a:solidFill>
                  <a:schemeClr val="bg1">
                    <a:lumMod val="10000"/>
                  </a:schemeClr>
                </a:solidFill>
                <a:cs typeface="Arial" panose="020B0604020202020204" pitchFamily="34" charset="0"/>
              </a:rPr>
              <a:t>Alimentation en cas d'échec de panne électrique</a:t>
            </a:r>
            <a:endParaRPr lang="es-ES" sz="1200" b="1" dirty="0">
              <a:solidFill>
                <a:srgbClr val="0070C0"/>
              </a:solidFill>
              <a:ea typeface="ＭＳ Ｐゴシック" pitchFamily="-97" charset="-128"/>
              <a:cs typeface="Arial" pitchFamily="34" charset="0"/>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732614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Système Distribué avec Contrôleurs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Chaque appareil bus dispose de sa propre autorisation et de son propre microprocesseur. En cas de défaillance d'un appareil bus, tous les autres appareils bus fonctionnent sans interférence. Ceci s'applique à tous les raccordements directs (par ex. capteur - actionneur). En cas d'utilisation de modules logiques entre l'appareil d'entrée et l'appareil de sortie, la défaillance de cet appareil empêche tout transfert de données.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8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Système distribué avec contrôleurs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convient de tenir compte de ce qui précède, en particulier lorsque l'éclairage ne peut par exemple être allumé que par l'intermédiaire de modules de scène.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pouvoir allumer et éteindre l'éclairage après une panne du module de scène, il est recommandé d'affecter une fonction EN MARCHE/À L’ARRÊT centrale pour la pièce à au moins un capteur et d'attribuer cette adresse de groupe aux actionneurs respectifs.</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891795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a:t>Modules logiques et visualisation en relation avec les coupleurs </a:t>
            </a:r>
          </a:p>
          <a:p>
            <a:r>
              <a:rPr lang="en-GB" sz="1200" kern="1200">
                <a:solidFill>
                  <a:schemeClr val="tx1"/>
                </a:solidFill>
                <a:effectLst/>
                <a:latin typeface="Arial" charset="0"/>
                <a:ea typeface="+mn-ea"/>
                <a:cs typeface="+mn-cs"/>
              </a:rPr>
              <a:t>Dans les systèmes KNX qui s'étendent sur plusieurs pièces, il est conseillé de distribuer les contrôleurs, c'est-à-dire de positionner plusieurs modules. La tolérance aux pannes s'en trouve augmentée. Il soulage également les tables de filtrage et réduit au minimum le trafic de télégrammes entre les lignes et les zones.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un programme de visualisation est présent dans un système KNX, il peut prendre en charge les fonctions logiques et le contrôle de séquence dans de nombreux cas. Il existe également des produits qui peuvent être librement programmés et qui contiennent éventuellement des fonctions logiques. En ce qui concerne la sécurité de fonctionnement, ce n'est pas une bonne idée de relier les fonctions de différentes zones dans un seul appareil car une défaillance du PC ou du système de contrôle central entraîne l'arrêt de toutes les fonctions du système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tous les cas, il est conseillé de connecter le PC sur lequel la visualisation est installée à un onduleur. En général, cependant, une option de commande doit toujours être prévue à côté du PC pour assurer un fonctionnement d'urgence. Il peut s'agir par exemple d'un capteur de commutation ou d'un tableau de commande.</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884163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Actionneurs de Commutation Multicanaux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 de l'évaluation du coût des systèmes KNX, les actionneurs de commutation multicanaux sont installés de plus en plus fréquemment. Ces dispositifs semblent peut-être être une bonne idée dans la plupart des cas en ce qui concerne les coûts du projet, mais une perturbation possible de l'appareil signifie que plusieurs charges ne peuvent plus être contrôlées en cas d'une panne. Ce fait devrait également être considéré lors de la planification d'un système KNX. Si toutefois les participants  de sortie sont utilisés avec de nombreux canaux, l'allocation devrait être distribuée de sorte qu'en cas d'échec d'un participant, les zones complètes d'un bâtiment ou de chambres entières ne sont pas affectées par le dysfonctionnement. (Voir exemple).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barrettes lumineuses sont souvent placées en séquence sur les actionneurs des interrupteurs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1 : Fonction de la pièce basée sur l'actionneur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défaillance de l'actionneur de commutation 1 ou 2 signifierait qu'il ne serait pas possible de commuter des charges dans le local. La sécurité de fonctionnement est améliorée lorsque les groupes de commutation d'un local ou d'une zone sont répartis sur plusieurs actionneurs.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Répartition de la fonction d'ambiance sur l'actionneur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2 : Fonction de la pièce basée sur l'actionneur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l'un des deux actionneurs devait avoir un dysfonctionnement, cela affecterait les deux pièces, mais au moins une rampe lumineuse par pièce resterait toujours fonctionnelle.</a:t>
            </a:r>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3889409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Avantages des Coupleurs de Ligne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Plus le nombre de coupleurs de ligne installés dans un système est élevé, meilleure est la structure et la fiabilité de l'installation complète. La condition de base est bien sûr la mise en service correcte des tables de filtrage pour réduire le nombre total de télégrammes dans le système KNX et pour éviter les télégrammes répétés. Le transfert d'informations le plus rapide possible est ainsi garanti.</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sécurité contre les pannes est considérablement améliorée par l'isolation électrique des segments de ligne par l'intermédiaire de coupleurs de ligne. Les courts-circuits, surtensions et autres défauts de signal peuvent ainsi être limités à des segments de ligne. Pour éviter l'accumulation de télégrammes par l'intermédiaire de contrôleurs (télégrammes circulant par l'intermédiaire de modules logiques en raison d'une programmation erronée) ou de télégrammes répétés, les tables de filtrage doivent être chargées et configurées correctement dans les coupleurs.</a:t>
            </a: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4077581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La source de courant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alimentation électrique de 640 mA permet dans la plupart des cas d'alimenter plus d'un segment de ligne. Il faut cependant noter que 2 segments de ligne ne peuvent plus être exploités en cas de panne de l'alimentation électrique.</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Alimentation Électrique de Secours en cas de Panne de Tension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garantir le fonctionnement d'un segment de ligne pendant un certain temps sans alimentation électrique 230 V, il existe deux possibilités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Utilisation de blocs d'alimentation avec connexion par batterie qui peuvent amortir le système KNX pendant une certaine période, même en cas de panne de courant complète. Selon la capacité et la tension, il est en outre possible de contrôler une sirène d'alarme avec une lampe clignotante via un actionneur de commutation avec des contacts flottants. (Voir le chapitre « Technologie de sécurité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Parfois, les appareils bus nécessitent une alimentation électrique séparée.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Il s'agit notamment de panneaux intégrés, de PC équipés d'un système de visualisation ou d'appareils de numérotation téléphonique connectés à des systèmes de télécommunication. On demande souvent qu'il soit également possible d'envoyer des signaux en cas de panne de courant. L'alimentation KNX peut être maintenue, par exemple via une alimentation sans interruption (UPS) pendant une certaine période.</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Les autres appareils 230V peuvent bien sûr également être connectés via l'USP comme les appareils de numérotation téléphonique, des systèmes téléphoniques et des alimentations pour les entrées binaires 24V qui sont souvent utilisées pour surveiller les contacts des fenêtres.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plusieurs coupleurs de ligne sont installés dans un système KNX, chaque segment doit également être mis en tampon. Si un système de surveillance est implémenté avec KNX, il est recommandé de connecter tous les capteurs et actionneurs nécessaires à la signalisation d'alarme à un segment de ligne tamponné. Ce segment peut être séparé du reste du système par un coupleur de ligne. Ceci génère une économie car une seule section de ligne doit être mise en mémoire tampon.</a:t>
            </a:r>
            <a:br>
              <a:rPr lang="en-GB" sz="1200" kern="1200" dirty="0">
                <a:solidFill>
                  <a:schemeClr val="tx1"/>
                </a:solidFill>
                <a:effectLst/>
                <a:latin typeface="Arial" charset="0"/>
                <a:ea typeface="+mn-ea"/>
                <a:cs typeface="+mn-cs"/>
              </a:rPr>
            </a:br>
            <a:endParaRPr lang="es-ES_tradnl" sz="14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2178905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Disposition </a:t>
            </a:r>
            <a:r>
              <a:rPr lang="en-US" b="1" dirty="0" err="1"/>
              <a:t>Redondante</a:t>
            </a:r>
            <a:r>
              <a:rPr lang="en-US" b="1" dirty="0"/>
              <a:t> des Blocs </a:t>
            </a:r>
            <a:r>
              <a:rPr lang="en-US" b="1" dirty="0" err="1"/>
              <a:t>d'Alimentation</a:t>
            </a:r>
            <a:endParaRPr lang="en-US" b="1" dirty="0"/>
          </a:p>
          <a:p>
            <a:pPr lvl="0"/>
            <a:r>
              <a:rPr lang="en-GB" sz="1200" kern="1200" dirty="0">
                <a:solidFill>
                  <a:schemeClr val="tx1"/>
                </a:solidFill>
                <a:effectLst/>
                <a:latin typeface="Arial" charset="0"/>
                <a:ea typeface="+mn-ea"/>
                <a:cs typeface="+mn-cs"/>
              </a:rPr>
              <a:t>Les alimentations standard KNX (PSU, Bloc </a:t>
            </a:r>
            <a:r>
              <a:rPr lang="en-GB" sz="1200" kern="1200" dirty="0" err="1">
                <a:solidFill>
                  <a:schemeClr val="tx1"/>
                </a:solidFill>
                <a:effectLst/>
                <a:latin typeface="Arial" charset="0"/>
                <a:ea typeface="+mn-ea"/>
                <a:cs typeface="+mn-cs"/>
              </a:rPr>
              <a:t>d'Alimentation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Électrique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sont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principalement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utilisées</a:t>
            </a:r>
            <a:r>
              <a:rPr lang="en-GB" sz="1200" kern="1200" dirty="0">
                <a:solidFill>
                  <a:schemeClr val="tx1"/>
                </a:solidFill>
                <a:effectLst/>
                <a:latin typeface="Arial" charset="0"/>
                <a:ea typeface="+mn-ea"/>
                <a:cs typeface="+mn-cs"/>
              </a:rPr>
              <a:t> pour alimenter des segments de bus (</a:t>
            </a:r>
            <a:r>
              <a:rPr lang="en-GB" sz="1200" kern="1200" dirty="0" err="1">
                <a:solidFill>
                  <a:schemeClr val="tx1"/>
                </a:solidFill>
                <a:effectLst/>
                <a:latin typeface="Arial" charset="0"/>
                <a:ea typeface="+mn-ea"/>
                <a:cs typeface="+mn-cs"/>
              </a:rPr>
              <a:t>lignes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ou</a:t>
            </a:r>
            <a:r>
              <a:rPr lang="en-GB" sz="1200" kern="1200" dirty="0">
                <a:solidFill>
                  <a:schemeClr val="tx1"/>
                </a:solidFill>
                <a:effectLst/>
                <a:latin typeface="Arial" charset="0"/>
                <a:ea typeface="+mn-ea"/>
                <a:cs typeface="+mn-cs"/>
              </a:rPr>
              <a:t> segments de </a:t>
            </a:r>
            <a:r>
              <a:rPr lang="en-GB" sz="1200" kern="1200" dirty="0" err="1">
                <a:solidFill>
                  <a:schemeClr val="tx1"/>
                </a:solidFill>
                <a:effectLst/>
                <a:latin typeface="Arial" charset="0"/>
                <a:ea typeface="+mn-ea"/>
                <a:cs typeface="+mn-cs"/>
              </a:rPr>
              <a:t>ligne</a:t>
            </a:r>
            <a:r>
              <a:rPr lang="en-GB" sz="1200" kern="1200" dirty="0">
                <a:solidFill>
                  <a:schemeClr val="tx1"/>
                </a:solidFill>
                <a:effectLst/>
                <a:latin typeface="Arial" charset="0"/>
                <a:ea typeface="+mn-ea"/>
                <a:cs typeface="+mn-cs"/>
              </a:rPr>
              <a:t>) de manière </a:t>
            </a:r>
            <a:r>
              <a:rPr lang="en-GB" sz="1200" kern="1200" dirty="0" err="1">
                <a:solidFill>
                  <a:schemeClr val="tx1"/>
                </a:solidFill>
                <a:effectLst/>
                <a:latin typeface="Arial" charset="0"/>
                <a:ea typeface="+mn-ea"/>
                <a:cs typeface="+mn-cs"/>
              </a:rPr>
              <a:t>centralisée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Cela</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signifie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qu'un</a:t>
            </a:r>
            <a:r>
              <a:rPr lang="en-GB" sz="1200" kern="1200" dirty="0">
                <a:solidFill>
                  <a:schemeClr val="tx1"/>
                </a:solidFill>
                <a:effectLst/>
                <a:latin typeface="Arial" charset="0"/>
                <a:ea typeface="+mn-ea"/>
                <a:cs typeface="+mn-cs"/>
              </a:rPr>
              <a:t> bloc </a:t>
            </a:r>
            <a:r>
              <a:rPr lang="en-GB" sz="1200" kern="1200">
                <a:solidFill>
                  <a:schemeClr val="tx1"/>
                </a:solidFill>
                <a:effectLst/>
                <a:latin typeface="Arial" charset="0"/>
                <a:ea typeface="+mn-ea"/>
                <a:cs typeface="+mn-cs"/>
              </a:rPr>
              <a:t>d'alimentation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est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installé</a:t>
            </a:r>
            <a:r>
              <a:rPr lang="en-GB" sz="1200" kern="1200" dirty="0">
                <a:solidFill>
                  <a:schemeClr val="tx1"/>
                </a:solidFill>
                <a:effectLst/>
                <a:latin typeface="Arial" charset="0"/>
                <a:ea typeface="+mn-ea"/>
                <a:cs typeface="+mn-cs"/>
              </a:rPr>
              <a:t> par </a:t>
            </a:r>
            <a:r>
              <a:rPr lang="en-GB" sz="1200" kern="1200" dirty="0" err="1">
                <a:solidFill>
                  <a:schemeClr val="tx1"/>
                </a:solidFill>
                <a:effectLst/>
                <a:latin typeface="Arial" charset="0"/>
                <a:ea typeface="+mn-ea"/>
                <a:cs typeface="+mn-cs"/>
              </a:rPr>
              <a:t>ligne</a:t>
            </a:r>
            <a:r>
              <a:rPr lang="en-GB" sz="1200" kern="1200" dirty="0">
                <a:solidFill>
                  <a:schemeClr val="tx1"/>
                </a:solidFill>
                <a:effectLst/>
                <a:latin typeface="Arial" charset="0"/>
                <a:ea typeface="+mn-ea"/>
                <a:cs typeface="+mn-cs"/>
              </a:rPr>
              <a:t>. Si </a:t>
            </a:r>
            <a:r>
              <a:rPr lang="en-GB" sz="1200" kern="1200" dirty="0" err="1">
                <a:solidFill>
                  <a:schemeClr val="tx1"/>
                </a:solidFill>
                <a:effectLst/>
                <a:latin typeface="Arial" charset="0"/>
                <a:ea typeface="+mn-ea"/>
                <a:cs typeface="+mn-cs"/>
              </a:rPr>
              <a:t>l'alimentation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en</a:t>
            </a:r>
            <a:r>
              <a:rPr lang="en-GB" sz="1200" kern="1200" dirty="0">
                <a:solidFill>
                  <a:schemeClr val="tx1"/>
                </a:solidFill>
                <a:effectLst/>
                <a:latin typeface="Arial" charset="0"/>
                <a:ea typeface="+mn-ea"/>
                <a:cs typeface="+mn-cs"/>
              </a:rPr>
              <a:t> tension du bus doit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redondante</a:t>
            </a:r>
            <a:r>
              <a:rPr lang="en-GB" sz="1200" kern="1200" dirty="0">
                <a:solidFill>
                  <a:schemeClr val="tx1"/>
                </a:solidFill>
                <a:effectLst/>
                <a:latin typeface="Arial" charset="0"/>
                <a:ea typeface="+mn-ea"/>
                <a:cs typeface="+mn-cs"/>
              </a:rPr>
              <a:t>, deux alimentations </a:t>
            </a:r>
            <a:r>
              <a:rPr lang="en-GB" sz="1200" kern="1200" dirty="0" err="1">
                <a:solidFill>
                  <a:schemeClr val="tx1"/>
                </a:solidFill>
                <a:effectLst/>
                <a:latin typeface="Arial" charset="0"/>
                <a:ea typeface="+mn-ea"/>
                <a:cs typeface="+mn-cs"/>
              </a:rPr>
              <a:t>peuvent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installées</a:t>
            </a:r>
            <a:r>
              <a:rPr lang="en-GB" sz="1200" kern="1200" dirty="0">
                <a:solidFill>
                  <a:schemeClr val="tx1"/>
                </a:solidFill>
                <a:effectLst/>
                <a:latin typeface="Arial" charset="0"/>
                <a:ea typeface="+mn-ea"/>
                <a:cs typeface="+mn-cs"/>
              </a:rPr>
              <a:t> par </a:t>
            </a:r>
            <a:r>
              <a:rPr lang="en-GB" sz="1200" kern="1200" dirty="0" err="1">
                <a:solidFill>
                  <a:schemeClr val="tx1"/>
                </a:solidFill>
                <a:effectLst/>
                <a:latin typeface="Arial" charset="0"/>
                <a:ea typeface="+mn-ea"/>
                <a:cs typeface="+mn-cs"/>
              </a:rPr>
              <a:t>ligne</a:t>
            </a:r>
            <a:r>
              <a:rPr lang="en-GB" sz="1200" kern="1200" dirty="0">
                <a:solidFill>
                  <a:schemeClr val="tx1"/>
                </a:solidFill>
                <a:effectLst/>
                <a:latin typeface="Arial" charset="0"/>
                <a:ea typeface="+mn-ea"/>
                <a:cs typeface="+mn-cs"/>
              </a:rPr>
              <a:t>. Dans </a:t>
            </a:r>
            <a:r>
              <a:rPr lang="en-GB" sz="1200" kern="1200" dirty="0" err="1">
                <a:solidFill>
                  <a:schemeClr val="tx1"/>
                </a:solidFill>
                <a:effectLst/>
                <a:latin typeface="Arial" charset="0"/>
                <a:ea typeface="+mn-ea"/>
                <a:cs typeface="+mn-cs"/>
              </a:rPr>
              <a:t>ce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cas</a:t>
            </a:r>
            <a:r>
              <a:rPr lang="en-GB" sz="1200" kern="1200" dirty="0">
                <a:solidFill>
                  <a:schemeClr val="tx1"/>
                </a:solidFill>
                <a:effectLst/>
                <a:latin typeface="Arial" charset="0"/>
                <a:ea typeface="+mn-ea"/>
                <a:cs typeface="+mn-cs"/>
              </a:rPr>
              <a:t>, il doit y </a:t>
            </a:r>
            <a:r>
              <a:rPr lang="en-GB" sz="1200" kern="1200" dirty="0" err="1">
                <a:solidFill>
                  <a:schemeClr val="tx1"/>
                </a:solidFill>
                <a:effectLst/>
                <a:latin typeface="Arial" charset="0"/>
                <a:ea typeface="+mn-ea"/>
                <a:cs typeface="+mn-cs"/>
              </a:rPr>
              <a:t>avoir</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une</a:t>
            </a:r>
            <a:r>
              <a:rPr lang="en-GB" sz="1200" kern="1200" dirty="0">
                <a:solidFill>
                  <a:schemeClr val="tx1"/>
                </a:solidFill>
                <a:effectLst/>
                <a:latin typeface="Arial" charset="0"/>
                <a:ea typeface="+mn-ea"/>
                <a:cs typeface="+mn-cs"/>
              </a:rPr>
              <a:t> longueur de </a:t>
            </a:r>
            <a:r>
              <a:rPr lang="en-GB" sz="1200" kern="1200" dirty="0" err="1">
                <a:solidFill>
                  <a:schemeClr val="tx1"/>
                </a:solidFill>
                <a:effectLst/>
                <a:latin typeface="Arial" charset="0"/>
                <a:ea typeface="+mn-ea"/>
                <a:cs typeface="+mn-cs"/>
              </a:rPr>
              <a:t>câble</a:t>
            </a:r>
            <a:r>
              <a:rPr lang="en-GB" sz="1200" kern="1200" dirty="0">
                <a:solidFill>
                  <a:schemeClr val="tx1"/>
                </a:solidFill>
                <a:effectLst/>
                <a:latin typeface="Arial" charset="0"/>
                <a:ea typeface="+mn-ea"/>
                <a:cs typeface="+mn-cs"/>
              </a:rPr>
              <a:t> de 200m entre les blocs </a:t>
            </a:r>
            <a:r>
              <a:rPr lang="en-GB" sz="1200" kern="1200" dirty="0" err="1">
                <a:solidFill>
                  <a:schemeClr val="tx1"/>
                </a:solidFill>
                <a:effectLst/>
                <a:latin typeface="Arial" charset="0"/>
                <a:ea typeface="+mn-ea"/>
                <a:cs typeface="+mn-cs"/>
              </a:rPr>
              <a:t>d'alimentation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afin</a:t>
            </a:r>
            <a:r>
              <a:rPr lang="en-GB" sz="1200" kern="1200" dirty="0">
                <a:solidFill>
                  <a:schemeClr val="tx1"/>
                </a:solidFill>
                <a:effectLst/>
                <a:latin typeface="Arial" charset="0"/>
                <a:ea typeface="+mn-ea"/>
                <a:cs typeface="+mn-cs"/>
              </a:rPr>
              <a:t> que les </a:t>
            </a:r>
            <a:r>
              <a:rPr lang="en-GB" sz="1200" kern="1200" dirty="0" err="1">
                <a:solidFill>
                  <a:schemeClr val="tx1"/>
                </a:solidFill>
                <a:effectLst/>
                <a:latin typeface="Arial" charset="0"/>
                <a:ea typeface="+mn-ea"/>
                <a:cs typeface="+mn-cs"/>
              </a:rPr>
              <a:t>selfs</a:t>
            </a:r>
            <a:r>
              <a:rPr lang="en-GB" sz="1200" kern="1200" dirty="0">
                <a:solidFill>
                  <a:schemeClr val="tx1"/>
                </a:solidFill>
                <a:effectLst/>
                <a:latin typeface="Arial" charset="0"/>
                <a:ea typeface="+mn-ea"/>
                <a:cs typeface="+mn-cs"/>
              </a:rPr>
              <a:t> ne </a:t>
            </a:r>
            <a:r>
              <a:rPr lang="en-GB" sz="1200" kern="1200" dirty="0" err="1">
                <a:solidFill>
                  <a:schemeClr val="tx1"/>
                </a:solidFill>
                <a:effectLst/>
                <a:latin typeface="Arial" charset="0"/>
                <a:ea typeface="+mn-ea"/>
                <a:cs typeface="+mn-cs"/>
              </a:rPr>
              <a:t>soient</a:t>
            </a:r>
            <a:r>
              <a:rPr lang="en-GB" sz="1200" kern="1200" dirty="0">
                <a:solidFill>
                  <a:schemeClr val="tx1"/>
                </a:solidFill>
                <a:effectLst/>
                <a:latin typeface="Arial" charset="0"/>
                <a:ea typeface="+mn-ea"/>
                <a:cs typeface="+mn-cs"/>
              </a:rPr>
              <a:t> pas </a:t>
            </a:r>
            <a:r>
              <a:rPr lang="en-GB" sz="1200" kern="1200" dirty="0" err="1">
                <a:solidFill>
                  <a:schemeClr val="tx1"/>
                </a:solidFill>
                <a:effectLst/>
                <a:latin typeface="Arial" charset="0"/>
                <a:ea typeface="+mn-ea"/>
                <a:cs typeface="+mn-cs"/>
              </a:rPr>
              <a:t>surchargés</a:t>
            </a:r>
            <a:r>
              <a:rPr lang="en-GB" sz="1200" kern="1200" dirty="0">
                <a:solidFill>
                  <a:schemeClr val="tx1"/>
                </a:solidFill>
                <a:effectLst/>
                <a:latin typeface="Arial" charset="0"/>
                <a:ea typeface="+mn-ea"/>
                <a:cs typeface="+mn-cs"/>
              </a:rPr>
              <a:t>. La fiche technique </a:t>
            </a:r>
            <a:r>
              <a:rPr lang="en-GB" sz="1200" kern="1200" dirty="0" err="1">
                <a:solidFill>
                  <a:schemeClr val="tx1"/>
                </a:solidFill>
                <a:effectLst/>
                <a:latin typeface="Arial" charset="0"/>
                <a:ea typeface="+mn-ea"/>
                <a:cs typeface="+mn-cs"/>
              </a:rPr>
              <a:t>indique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si</a:t>
            </a:r>
            <a:r>
              <a:rPr lang="en-GB" sz="1200" kern="1200" dirty="0">
                <a:solidFill>
                  <a:schemeClr val="tx1"/>
                </a:solidFill>
                <a:effectLst/>
                <a:latin typeface="Arial" charset="0"/>
                <a:ea typeface="+mn-ea"/>
                <a:cs typeface="+mn-cs"/>
              </a:rPr>
              <a:t> le fabricant </a:t>
            </a:r>
            <a:r>
              <a:rPr lang="en-GB" sz="1200" kern="1200" dirty="0" err="1">
                <a:solidFill>
                  <a:schemeClr val="tx1"/>
                </a:solidFill>
                <a:effectLst/>
                <a:latin typeface="Arial" charset="0"/>
                <a:ea typeface="+mn-ea"/>
                <a:cs typeface="+mn-cs"/>
              </a:rPr>
              <a:t>autorise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ou</a:t>
            </a:r>
            <a:r>
              <a:rPr lang="en-GB" sz="1200" kern="1200" dirty="0">
                <a:solidFill>
                  <a:schemeClr val="tx1"/>
                </a:solidFill>
                <a:effectLst/>
                <a:latin typeface="Arial" charset="0"/>
                <a:ea typeface="+mn-ea"/>
                <a:cs typeface="+mn-cs"/>
              </a:rPr>
              <a:t> non </a:t>
            </a:r>
            <a:r>
              <a:rPr lang="en-GB" sz="1200" kern="1200" dirty="0" err="1">
                <a:solidFill>
                  <a:schemeClr val="tx1"/>
                </a:solidFill>
                <a:effectLst/>
                <a:latin typeface="Arial" charset="0"/>
                <a:ea typeface="+mn-ea"/>
                <a:cs typeface="+mn-cs"/>
              </a:rPr>
              <a:t>ce</a:t>
            </a:r>
            <a:r>
              <a:rPr lang="en-GB" sz="1200" kern="1200" dirty="0">
                <a:solidFill>
                  <a:schemeClr val="tx1"/>
                </a:solidFill>
                <a:effectLst/>
                <a:latin typeface="Arial" charset="0"/>
                <a:ea typeface="+mn-ea"/>
                <a:cs typeface="+mn-cs"/>
              </a:rPr>
              <a:t> mode de </a:t>
            </a:r>
            <a:r>
              <a:rPr lang="en-GB" sz="1200" kern="1200" dirty="0" err="1">
                <a:solidFill>
                  <a:schemeClr val="tx1"/>
                </a:solidFill>
                <a:effectLst/>
                <a:latin typeface="Arial" charset="0"/>
                <a:ea typeface="+mn-ea"/>
                <a:cs typeface="+mn-cs"/>
              </a:rPr>
              <a:t>fonctionnement</a:t>
            </a: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Une </a:t>
            </a:r>
            <a:r>
              <a:rPr lang="en-GB" sz="1200" kern="1200" dirty="0" err="1">
                <a:solidFill>
                  <a:schemeClr val="tx1"/>
                </a:solidFill>
                <a:effectLst/>
                <a:latin typeface="Arial" charset="0"/>
                <a:ea typeface="+mn-ea"/>
                <a:cs typeface="+mn-cs"/>
              </a:rPr>
              <a:t>autre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possibilité</a:t>
            </a:r>
            <a:r>
              <a:rPr lang="en-GB" sz="1200" kern="1200" dirty="0">
                <a:solidFill>
                  <a:schemeClr val="tx1"/>
                </a:solidFill>
                <a:effectLst/>
                <a:latin typeface="Arial" charset="0"/>
                <a:ea typeface="+mn-ea"/>
                <a:cs typeface="+mn-cs"/>
              </a:rPr>
              <a:t> de disposition </a:t>
            </a:r>
            <a:r>
              <a:rPr lang="en-GB" sz="1200" kern="1200" dirty="0" err="1">
                <a:solidFill>
                  <a:schemeClr val="tx1"/>
                </a:solidFill>
                <a:effectLst/>
                <a:latin typeface="Arial" charset="0"/>
                <a:ea typeface="+mn-ea"/>
                <a:cs typeface="+mn-cs"/>
              </a:rPr>
              <a:t>redondante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est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l'utilisation</a:t>
            </a:r>
            <a:r>
              <a:rPr lang="en-GB" sz="1200" kern="1200" dirty="0">
                <a:solidFill>
                  <a:schemeClr val="tx1"/>
                </a:solidFill>
                <a:effectLst/>
                <a:latin typeface="Arial" charset="0"/>
                <a:ea typeface="+mn-ea"/>
                <a:cs typeface="+mn-cs"/>
              </a:rPr>
              <a:t> de DPSU (Bloc </a:t>
            </a:r>
            <a:r>
              <a:rPr lang="en-GB" sz="1200" kern="1200" dirty="0" err="1">
                <a:solidFill>
                  <a:schemeClr val="tx1"/>
                </a:solidFill>
                <a:effectLst/>
                <a:latin typeface="Arial" charset="0"/>
                <a:ea typeface="+mn-ea"/>
                <a:cs typeface="+mn-cs"/>
              </a:rPr>
              <a:t>d'Alimentation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Électrique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Décentralisé</a:t>
            </a:r>
            <a:r>
              <a:rPr lang="en-GB" sz="1200" kern="1200" dirty="0">
                <a:solidFill>
                  <a:schemeClr val="tx1"/>
                </a:solidFill>
                <a:effectLst/>
                <a:latin typeface="Arial" charset="0"/>
                <a:ea typeface="+mn-ea"/>
                <a:cs typeface="+mn-cs"/>
              </a:rPr>
              <a:t>). Un maximum de 8 DPSU </a:t>
            </a:r>
            <a:r>
              <a:rPr lang="en-GB" sz="1200" kern="1200" dirty="0" err="1">
                <a:solidFill>
                  <a:schemeClr val="tx1"/>
                </a:solidFill>
                <a:effectLst/>
                <a:latin typeface="Arial" charset="0"/>
                <a:ea typeface="+mn-ea"/>
                <a:cs typeface="+mn-cs"/>
              </a:rPr>
              <a:t>peut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réparti</a:t>
            </a:r>
            <a:r>
              <a:rPr lang="en-GB" sz="1200" kern="1200" dirty="0">
                <a:solidFill>
                  <a:schemeClr val="tx1"/>
                </a:solidFill>
                <a:effectLst/>
                <a:latin typeface="Arial" charset="0"/>
                <a:ea typeface="+mn-ea"/>
                <a:cs typeface="+mn-cs"/>
              </a:rPr>
              <a:t> sur </a:t>
            </a:r>
            <a:r>
              <a:rPr lang="en-GB" sz="1200" kern="1200" dirty="0" err="1">
                <a:solidFill>
                  <a:schemeClr val="tx1"/>
                </a:solidFill>
                <a:effectLst/>
                <a:latin typeface="Arial" charset="0"/>
                <a:ea typeface="+mn-ea"/>
                <a:cs typeface="+mn-cs"/>
              </a:rPr>
              <a:t>une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ligne</a:t>
            </a:r>
            <a:r>
              <a:rPr lang="en-GB" sz="1200" kern="1200" dirty="0">
                <a:solidFill>
                  <a:schemeClr val="tx1"/>
                </a:solidFill>
                <a:effectLst/>
                <a:latin typeface="Arial" charset="0"/>
                <a:ea typeface="+mn-ea"/>
                <a:cs typeface="+mn-cs"/>
              </a:rPr>
              <a:t>. Les DPSU </a:t>
            </a:r>
            <a:r>
              <a:rPr lang="en-GB" sz="1200" kern="1200" dirty="0" err="1">
                <a:solidFill>
                  <a:schemeClr val="tx1"/>
                </a:solidFill>
                <a:effectLst/>
                <a:latin typeface="Arial" charset="0"/>
                <a:ea typeface="+mn-ea"/>
                <a:cs typeface="+mn-cs"/>
              </a:rPr>
              <a:t>sont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particulièrement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destinés</a:t>
            </a:r>
            <a:r>
              <a:rPr lang="en-GB" sz="1200" kern="1200" dirty="0">
                <a:solidFill>
                  <a:schemeClr val="tx1"/>
                </a:solidFill>
                <a:effectLst/>
                <a:latin typeface="Arial" charset="0"/>
                <a:ea typeface="+mn-ea"/>
                <a:cs typeface="+mn-cs"/>
              </a:rPr>
              <a:t> à </a:t>
            </a:r>
            <a:r>
              <a:rPr lang="en-GB" sz="1200" kern="1200" dirty="0" err="1">
                <a:solidFill>
                  <a:schemeClr val="tx1"/>
                </a:solidFill>
                <a:effectLst/>
                <a:latin typeface="Arial" charset="0"/>
                <a:ea typeface="+mn-ea"/>
                <a:cs typeface="+mn-cs"/>
              </a:rPr>
              <a:t>l'alimentation</a:t>
            </a:r>
            <a:r>
              <a:rPr lang="en-GB" sz="1200" kern="1200" dirty="0">
                <a:solidFill>
                  <a:schemeClr val="tx1"/>
                </a:solidFill>
                <a:effectLst/>
                <a:latin typeface="Arial" charset="0"/>
                <a:ea typeface="+mn-ea"/>
                <a:cs typeface="+mn-cs"/>
              </a:rPr>
              <a:t> de petites installations avec </a:t>
            </a:r>
            <a:r>
              <a:rPr lang="en-GB" sz="1200" kern="1200" dirty="0" err="1">
                <a:solidFill>
                  <a:schemeClr val="tx1"/>
                </a:solidFill>
                <a:effectLst/>
                <a:latin typeface="Arial" charset="0"/>
                <a:ea typeface="+mn-ea"/>
                <a:cs typeface="+mn-cs"/>
              </a:rPr>
              <a:t>peu</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d'appareils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mais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peuvent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également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combinés</a:t>
            </a:r>
            <a:r>
              <a:rPr lang="en-GB" sz="1200" kern="1200" dirty="0">
                <a:solidFill>
                  <a:schemeClr val="tx1"/>
                </a:solidFill>
                <a:effectLst/>
                <a:latin typeface="Arial" charset="0"/>
                <a:ea typeface="+mn-ea"/>
                <a:cs typeface="+mn-cs"/>
              </a:rPr>
              <a:t> avec </a:t>
            </a:r>
            <a:r>
              <a:rPr lang="en-GB" sz="1200" kern="1200" dirty="0" err="1">
                <a:solidFill>
                  <a:schemeClr val="tx1"/>
                </a:solidFill>
                <a:effectLst/>
                <a:latin typeface="Arial" charset="0"/>
                <a:ea typeface="+mn-ea"/>
                <a:cs typeface="+mn-cs"/>
              </a:rPr>
              <a:t>une</a:t>
            </a:r>
            <a:r>
              <a:rPr lang="en-GB" sz="1200" kern="1200" dirty="0">
                <a:solidFill>
                  <a:schemeClr val="tx1"/>
                </a:solidFill>
                <a:effectLst/>
                <a:latin typeface="Arial" charset="0"/>
                <a:ea typeface="+mn-ea"/>
                <a:cs typeface="+mn-cs"/>
              </a:rPr>
              <a:t> alimentation </a:t>
            </a:r>
            <a:r>
              <a:rPr lang="en-GB" sz="1200" kern="1200" dirty="0" err="1">
                <a:solidFill>
                  <a:schemeClr val="tx1"/>
                </a:solidFill>
                <a:effectLst/>
                <a:latin typeface="Arial" charset="0"/>
                <a:ea typeface="+mn-ea"/>
                <a:cs typeface="+mn-cs"/>
              </a:rPr>
              <a:t>électrique</a:t>
            </a:r>
            <a:r>
              <a:rPr lang="en-GB" sz="1200" kern="1200" dirty="0">
                <a:solidFill>
                  <a:schemeClr val="tx1"/>
                </a:solidFill>
                <a:effectLst/>
                <a:latin typeface="Arial" charset="0"/>
                <a:ea typeface="+mn-ea"/>
                <a:cs typeface="+mn-cs"/>
              </a:rPr>
              <a:t> centrale. Dans </a:t>
            </a:r>
            <a:r>
              <a:rPr lang="en-GB" sz="1200" kern="1200" dirty="0" err="1">
                <a:solidFill>
                  <a:schemeClr val="tx1"/>
                </a:solidFill>
                <a:effectLst/>
                <a:latin typeface="Arial" charset="0"/>
                <a:ea typeface="+mn-ea"/>
                <a:cs typeface="+mn-cs"/>
              </a:rPr>
              <a:t>chaque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cas</a:t>
            </a:r>
            <a:r>
              <a:rPr lang="en-GB" sz="1200" kern="1200" dirty="0">
                <a:solidFill>
                  <a:schemeClr val="tx1"/>
                </a:solidFill>
                <a:effectLst/>
                <a:latin typeface="Arial" charset="0"/>
                <a:ea typeface="+mn-ea"/>
                <a:cs typeface="+mn-cs"/>
              </a:rPr>
              <a:t>, les fiches techniques des fabricants </a:t>
            </a:r>
            <a:r>
              <a:rPr lang="en-GB" sz="1200" kern="1200" dirty="0" err="1">
                <a:solidFill>
                  <a:schemeClr val="tx1"/>
                </a:solidFill>
                <a:effectLst/>
                <a:latin typeface="Arial" charset="0"/>
                <a:ea typeface="+mn-ea"/>
                <a:cs typeface="+mn-cs"/>
              </a:rPr>
              <a:t>doivent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prises </a:t>
            </a:r>
            <a:r>
              <a:rPr lang="en-GB" sz="1200" kern="1200" dirty="0" err="1">
                <a:solidFill>
                  <a:schemeClr val="tx1"/>
                </a:solidFill>
                <a:effectLst/>
                <a:latin typeface="Arial" charset="0"/>
                <a:ea typeface="+mn-ea"/>
                <a:cs typeface="+mn-cs"/>
              </a:rPr>
              <a:t>en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compte</a:t>
            </a:r>
            <a:r>
              <a:rPr lang="en-GB" sz="1200" kern="1200" dirty="0">
                <a:solidFill>
                  <a:schemeClr val="tx1"/>
                </a:solidFill>
                <a:effectLst/>
                <a:latin typeface="Arial" charset="0"/>
                <a:ea typeface="+mn-ea"/>
                <a:cs typeface="+mn-cs"/>
              </a:rPr>
              <a:t>. Le courant de court-circuit maximum </a:t>
            </a:r>
            <a:r>
              <a:rPr lang="en-GB" sz="1200" kern="1200" dirty="0" err="1">
                <a:solidFill>
                  <a:schemeClr val="tx1"/>
                </a:solidFill>
                <a:effectLst/>
                <a:latin typeface="Arial" charset="0"/>
                <a:ea typeface="+mn-ea"/>
                <a:cs typeface="+mn-cs"/>
              </a:rPr>
              <a:t>produit</a:t>
            </a:r>
            <a:r>
              <a:rPr lang="en-GB" sz="1200" kern="1200" dirty="0">
                <a:solidFill>
                  <a:schemeClr val="tx1"/>
                </a:solidFill>
                <a:effectLst/>
                <a:latin typeface="Arial" charset="0"/>
                <a:ea typeface="+mn-ea"/>
                <a:cs typeface="+mn-cs"/>
              </a:rPr>
              <a:t> sur </a:t>
            </a:r>
            <a:r>
              <a:rPr lang="en-GB" sz="1200" kern="1200" dirty="0" err="1">
                <a:solidFill>
                  <a:schemeClr val="tx1"/>
                </a:solidFill>
                <a:effectLst/>
                <a:latin typeface="Arial" charset="0"/>
                <a:ea typeface="+mn-ea"/>
                <a:cs typeface="+mn-cs"/>
              </a:rPr>
              <a:t>une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ligne</a:t>
            </a:r>
            <a:r>
              <a:rPr lang="en-GB" sz="1200" kern="1200" dirty="0">
                <a:solidFill>
                  <a:schemeClr val="tx1"/>
                </a:solidFill>
                <a:effectLst/>
                <a:latin typeface="Arial" charset="0"/>
                <a:ea typeface="+mn-ea"/>
                <a:cs typeface="+mn-cs"/>
              </a:rPr>
              <a:t> ne doit pas </a:t>
            </a:r>
            <a:r>
              <a:rPr lang="en-GB" sz="1200" kern="1200" dirty="0" err="1">
                <a:solidFill>
                  <a:schemeClr val="tx1"/>
                </a:solidFill>
                <a:effectLst/>
                <a:latin typeface="Arial" charset="0"/>
                <a:ea typeface="+mn-ea"/>
                <a:cs typeface="+mn-cs"/>
              </a:rPr>
              <a:t>dépasser</a:t>
            </a:r>
            <a:r>
              <a:rPr lang="en-GB" sz="1200" kern="1200" dirty="0">
                <a:solidFill>
                  <a:schemeClr val="tx1"/>
                </a:solidFill>
                <a:effectLst/>
                <a:latin typeface="Arial" charset="0"/>
                <a:ea typeface="+mn-ea"/>
                <a:cs typeface="+mn-cs"/>
              </a:rPr>
              <a:t> 3A.</a:t>
            </a:r>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2811993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a:t>Disposition Redondante des Blocs d'Alimentation</a:t>
            </a:r>
          </a:p>
          <a:p>
            <a:r>
              <a:rPr lang="en-GB" sz="1200" kern="1200">
                <a:solidFill>
                  <a:schemeClr val="tx1"/>
                </a:solidFill>
                <a:effectLst/>
                <a:latin typeface="Arial" charset="0"/>
                <a:ea typeface="+mn-ea"/>
                <a:cs typeface="+mn-cs"/>
              </a:rPr>
              <a:t>Depuis peu, il existe des appareils qui combinent deux alimentations à séparation galvanique dans un seul boîtier. Une redondance centrale peut être implémentée avec ces types d'appareils.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9 : alimentation redondante</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Il est à noter qu'en cas de panne d'une alimentation électrique, les autres alimentations électriques doivent fournir le courant nécessaire au bus. L'alimentation du bus doit également être dimensionnée en conséquence. Une autre variante de la connexion sécurisée de l'alimentation KNX est l'utilisation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de plusieurs alimentations standard avec un self KNX séparé.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10 : Alimentation redondante avec self séparée</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Lors de la planification d'une alimentation bus redondante, il faut également tenir compte de l'alimentation 230V. Si, par exemple, deux alimentations fournissent une alimentation redondante à une ligne, elles doivent être alimentées par des conducteurs externes différents qui sont fusibles indépendamment, si possible dans différents tableaux de sous-distribution.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2752461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Alimentations </a:t>
            </a:r>
            <a:r>
              <a:rPr lang="en-GB" sz="1200" b="1" kern="1200" dirty="0" err="1">
                <a:solidFill>
                  <a:schemeClr val="tx1"/>
                </a:solidFill>
                <a:effectLst/>
                <a:latin typeface="Arial" charset="0"/>
                <a:ea typeface="+mn-ea"/>
                <a:cs typeface="+mn-cs"/>
              </a:rPr>
              <a:t>Électriques</a:t>
            </a:r>
            <a:r>
              <a:rPr lang="en-GB" sz="1200" b="1" kern="1200" dirty="0">
                <a:solidFill>
                  <a:schemeClr val="tx1"/>
                </a:solidFill>
                <a:effectLst/>
                <a:latin typeface="Arial" charset="0"/>
                <a:ea typeface="+mn-ea"/>
                <a:cs typeface="+mn-cs"/>
              </a:rPr>
              <a:t> avec </a:t>
            </a:r>
            <a:r>
              <a:rPr lang="en-GB" sz="1200" b="1" kern="1200" dirty="0" err="1">
                <a:solidFill>
                  <a:schemeClr val="tx1"/>
                </a:solidFill>
                <a:effectLst/>
                <a:latin typeface="Arial" charset="0"/>
                <a:ea typeface="+mn-ea"/>
                <a:cs typeface="+mn-cs"/>
              </a:rPr>
              <a:t>Fonction</a:t>
            </a:r>
            <a:r>
              <a:rPr lang="en-GB" sz="1200" b="1" kern="1200" dirty="0">
                <a:solidFill>
                  <a:schemeClr val="tx1"/>
                </a:solidFill>
                <a:effectLst/>
                <a:latin typeface="Arial" charset="0"/>
                <a:ea typeface="+mn-ea"/>
                <a:cs typeface="+mn-cs"/>
              </a:rPr>
              <a:t> de Diagnostic</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Pour la </a:t>
            </a:r>
            <a:r>
              <a:rPr lang="en-GB" sz="1200" kern="1200" dirty="0" err="1">
                <a:solidFill>
                  <a:schemeClr val="tx1"/>
                </a:solidFill>
                <a:effectLst/>
                <a:latin typeface="Arial" charset="0"/>
                <a:ea typeface="+mn-ea"/>
                <a:cs typeface="+mn-cs"/>
              </a:rPr>
              <a:t>détection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précoce</a:t>
            </a:r>
            <a:r>
              <a:rPr lang="en-GB" sz="1200" kern="1200" dirty="0">
                <a:solidFill>
                  <a:schemeClr val="tx1"/>
                </a:solidFill>
                <a:effectLst/>
                <a:latin typeface="Arial" charset="0"/>
                <a:ea typeface="+mn-ea"/>
                <a:cs typeface="+mn-cs"/>
              </a:rPr>
              <a:t> des </a:t>
            </a:r>
            <a:r>
              <a:rPr lang="en-GB" sz="1200" kern="1200" dirty="0" err="1">
                <a:solidFill>
                  <a:schemeClr val="tx1"/>
                </a:solidFill>
                <a:effectLst/>
                <a:latin typeface="Arial" charset="0"/>
                <a:ea typeface="+mn-ea"/>
                <a:cs typeface="+mn-cs"/>
              </a:rPr>
              <a:t>problèmes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d'alimentation</a:t>
            </a:r>
            <a:r>
              <a:rPr lang="en-GB" sz="1200" kern="1200" dirty="0">
                <a:solidFill>
                  <a:schemeClr val="tx1"/>
                </a:solidFill>
                <a:effectLst/>
                <a:latin typeface="Arial" charset="0"/>
                <a:ea typeface="+mn-ea"/>
                <a:cs typeface="+mn-cs"/>
              </a:rPr>
              <a:t> du bus, </a:t>
            </a:r>
            <a:r>
              <a:rPr lang="en-GB" sz="1200" kern="1200" dirty="0" err="1">
                <a:solidFill>
                  <a:schemeClr val="tx1"/>
                </a:solidFill>
                <a:effectLst/>
                <a:latin typeface="Arial" charset="0"/>
                <a:ea typeface="+mn-ea"/>
                <a:cs typeface="+mn-cs"/>
              </a:rPr>
              <a:t>certains</a:t>
            </a:r>
            <a:r>
              <a:rPr lang="en-GB" sz="1200" kern="1200" dirty="0">
                <a:solidFill>
                  <a:schemeClr val="tx1"/>
                </a:solidFill>
                <a:effectLst/>
                <a:latin typeface="Arial" charset="0"/>
                <a:ea typeface="+mn-ea"/>
                <a:cs typeface="+mn-cs"/>
              </a:rPr>
              <a:t> fabricants </a:t>
            </a:r>
            <a:r>
              <a:rPr lang="en-GB" sz="1200" kern="1200" dirty="0" err="1">
                <a:solidFill>
                  <a:schemeClr val="tx1"/>
                </a:solidFill>
                <a:effectLst/>
                <a:latin typeface="Arial" charset="0"/>
                <a:ea typeface="+mn-ea"/>
                <a:cs typeface="+mn-cs"/>
              </a:rPr>
              <a:t>proposent</a:t>
            </a:r>
            <a:r>
              <a:rPr lang="en-GB" sz="1200" kern="1200" dirty="0">
                <a:solidFill>
                  <a:schemeClr val="tx1"/>
                </a:solidFill>
                <a:effectLst/>
                <a:latin typeface="Arial" charset="0"/>
                <a:ea typeface="+mn-ea"/>
                <a:cs typeface="+mn-cs"/>
              </a:rPr>
              <a:t> des alimentations avec </a:t>
            </a:r>
            <a:r>
              <a:rPr lang="en-GB" sz="1200" kern="1200" dirty="0" err="1">
                <a:solidFill>
                  <a:schemeClr val="tx1"/>
                </a:solidFill>
                <a:effectLst/>
                <a:latin typeface="Arial" charset="0"/>
                <a:ea typeface="+mn-ea"/>
                <a:cs typeface="+mn-cs"/>
              </a:rPr>
              <a:t>fonction</a:t>
            </a:r>
            <a:r>
              <a:rPr lang="en-GB" sz="1200" kern="1200" dirty="0">
                <a:solidFill>
                  <a:schemeClr val="tx1"/>
                </a:solidFill>
                <a:effectLst/>
                <a:latin typeface="Arial" charset="0"/>
                <a:ea typeface="+mn-ea"/>
                <a:cs typeface="+mn-cs"/>
              </a:rPr>
              <a:t> de diagnostic. </a:t>
            </a:r>
            <a:r>
              <a:rPr lang="en-GB" sz="1200" kern="1200" dirty="0" err="1">
                <a:solidFill>
                  <a:schemeClr val="tx1"/>
                </a:solidFill>
                <a:effectLst/>
                <a:latin typeface="Arial" charset="0"/>
                <a:ea typeface="+mn-ea"/>
                <a:cs typeface="+mn-cs"/>
              </a:rPr>
              <a:t>Ces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appareils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ont</a:t>
            </a:r>
            <a:r>
              <a:rPr lang="en-GB" sz="1200" kern="1200" dirty="0">
                <a:solidFill>
                  <a:schemeClr val="tx1"/>
                </a:solidFill>
                <a:effectLst/>
                <a:latin typeface="Arial" charset="0"/>
                <a:ea typeface="+mn-ea"/>
                <a:cs typeface="+mn-cs"/>
              </a:rPr>
              <a:t> un </a:t>
            </a:r>
            <a:r>
              <a:rPr lang="en-GB" sz="1200" kern="1200" dirty="0" err="1">
                <a:solidFill>
                  <a:schemeClr val="tx1"/>
                </a:solidFill>
                <a:effectLst/>
                <a:latin typeface="Arial" charset="0"/>
                <a:ea typeface="+mn-ea"/>
                <a:cs typeface="+mn-cs"/>
              </a:rPr>
              <a:t>coupleur</a:t>
            </a:r>
            <a:r>
              <a:rPr lang="en-GB" sz="1200" kern="1200" dirty="0">
                <a:solidFill>
                  <a:schemeClr val="tx1"/>
                </a:solidFill>
                <a:effectLst/>
                <a:latin typeface="Arial" charset="0"/>
                <a:ea typeface="+mn-ea"/>
                <a:cs typeface="+mn-cs"/>
              </a:rPr>
              <a:t> de bus et </a:t>
            </a:r>
            <a:r>
              <a:rPr lang="en-GB" sz="1200" kern="1200" dirty="0" err="1">
                <a:solidFill>
                  <a:schemeClr val="tx1"/>
                </a:solidFill>
                <a:effectLst/>
                <a:latin typeface="Arial" charset="0"/>
                <a:ea typeface="+mn-ea"/>
                <a:cs typeface="+mn-cs"/>
              </a:rPr>
              <a:t>peuvent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envoyer</a:t>
            </a:r>
            <a:r>
              <a:rPr lang="en-GB" sz="1200" kern="1200" dirty="0">
                <a:solidFill>
                  <a:schemeClr val="tx1"/>
                </a:solidFill>
                <a:effectLst/>
                <a:latin typeface="Arial" charset="0"/>
                <a:ea typeface="+mn-ea"/>
                <a:cs typeface="+mn-cs"/>
              </a:rPr>
              <a:t> des </a:t>
            </a:r>
            <a:r>
              <a:rPr lang="en-GB" sz="1200" kern="1200" dirty="0" err="1">
                <a:solidFill>
                  <a:schemeClr val="tx1"/>
                </a:solidFill>
                <a:effectLst/>
                <a:latin typeface="Arial" charset="0"/>
                <a:ea typeface="+mn-ea"/>
                <a:cs typeface="+mn-cs"/>
              </a:rPr>
              <a:t>télégrammes</a:t>
            </a:r>
            <a:r>
              <a:rPr lang="en-GB" sz="1200" kern="1200" dirty="0">
                <a:solidFill>
                  <a:schemeClr val="tx1"/>
                </a:solidFill>
                <a:effectLst/>
                <a:latin typeface="Arial" charset="0"/>
                <a:ea typeface="+mn-ea"/>
                <a:cs typeface="+mn-cs"/>
              </a:rPr>
              <a:t> sur le bus. Les diagnostics </a:t>
            </a:r>
            <a:r>
              <a:rPr lang="en-GB" sz="1200" kern="1200" dirty="0" err="1">
                <a:solidFill>
                  <a:schemeClr val="tx1"/>
                </a:solidFill>
                <a:effectLst/>
                <a:latin typeface="Arial" charset="0"/>
                <a:ea typeface="+mn-ea"/>
                <a:cs typeface="+mn-cs"/>
              </a:rPr>
              <a:t>typiques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sont</a:t>
            </a:r>
            <a:r>
              <a:rPr lang="en-GB" sz="1200" kern="1200" dirty="0">
                <a:solidFill>
                  <a:schemeClr val="tx1"/>
                </a:solidFill>
                <a:effectLst/>
                <a:latin typeface="Arial" charset="0"/>
                <a:ea typeface="+mn-ea"/>
                <a:cs typeface="+mn-cs"/>
              </a:rPr>
              <a:t> par </a:t>
            </a:r>
            <a:r>
              <a:rPr lang="en-GB" sz="1200" kern="1200" dirty="0" err="1">
                <a:solidFill>
                  <a:schemeClr val="tx1"/>
                </a:solidFill>
                <a:effectLst/>
                <a:latin typeface="Arial" charset="0"/>
                <a:ea typeface="+mn-ea"/>
                <a:cs typeface="+mn-cs"/>
              </a:rPr>
              <a:t>exemple</a:t>
            </a:r>
            <a:r>
              <a:rPr lang="en-GB" sz="1200" kern="1200" dirty="0">
                <a:solidFill>
                  <a:schemeClr val="tx1"/>
                </a:solidFill>
                <a:effectLst/>
                <a:latin typeface="Arial" charset="0"/>
                <a:ea typeface="+mn-ea"/>
                <a:cs typeface="+mn-cs"/>
              </a:rPr>
              <a:t> la </a:t>
            </a:r>
            <a:r>
              <a:rPr lang="en-GB" sz="1200" kern="1200" dirty="0" err="1">
                <a:solidFill>
                  <a:schemeClr val="tx1"/>
                </a:solidFill>
                <a:effectLst/>
                <a:latin typeface="Arial" charset="0"/>
                <a:ea typeface="+mn-ea"/>
                <a:cs typeface="+mn-cs"/>
              </a:rPr>
              <a:t>détection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précoce</a:t>
            </a:r>
            <a:r>
              <a:rPr lang="en-GB" sz="1200" kern="1200" dirty="0">
                <a:solidFill>
                  <a:schemeClr val="tx1"/>
                </a:solidFill>
                <a:effectLst/>
                <a:latin typeface="Arial" charset="0"/>
                <a:ea typeface="+mn-ea"/>
                <a:cs typeface="+mn-cs"/>
              </a:rPr>
              <a:t> de creux de tension, de </a:t>
            </a:r>
            <a:r>
              <a:rPr lang="en-GB" sz="1200" kern="1200" dirty="0" err="1">
                <a:solidFill>
                  <a:schemeClr val="tx1"/>
                </a:solidFill>
                <a:effectLst/>
                <a:latin typeface="Arial" charset="0"/>
                <a:ea typeface="+mn-ea"/>
                <a:cs typeface="+mn-cs"/>
              </a:rPr>
              <a:t>surintensité</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ou</a:t>
            </a:r>
            <a:r>
              <a:rPr lang="en-GB" sz="1200" kern="1200" dirty="0">
                <a:solidFill>
                  <a:schemeClr val="tx1"/>
                </a:solidFill>
                <a:effectLst/>
                <a:latin typeface="Arial" charset="0"/>
                <a:ea typeface="+mn-ea"/>
                <a:cs typeface="+mn-cs"/>
              </a:rPr>
              <a:t> de </a:t>
            </a:r>
            <a:r>
              <a:rPr lang="en-GB" sz="1200" kern="1200" dirty="0" err="1">
                <a:solidFill>
                  <a:schemeClr val="tx1"/>
                </a:solidFill>
                <a:effectLst/>
                <a:latin typeface="Arial" charset="0"/>
                <a:ea typeface="+mn-ea"/>
                <a:cs typeface="+mn-cs"/>
              </a:rPr>
              <a:t>surchauffe</a:t>
            </a:r>
            <a:r>
              <a:rPr lang="en-GB" sz="1200" kern="1200" dirty="0">
                <a:solidFill>
                  <a:schemeClr val="tx1"/>
                </a:solidFill>
                <a:effectLst/>
                <a:latin typeface="Arial" charset="0"/>
                <a:ea typeface="+mn-ea"/>
                <a:cs typeface="+mn-cs"/>
              </a:rPr>
              <a:t>. Si </a:t>
            </a:r>
            <a:r>
              <a:rPr lang="en-GB" sz="1200" kern="1200" dirty="0" err="1">
                <a:solidFill>
                  <a:schemeClr val="tx1"/>
                </a:solidFill>
                <a:effectLst/>
                <a:latin typeface="Arial" charset="0"/>
                <a:ea typeface="+mn-ea"/>
                <a:cs typeface="+mn-cs"/>
              </a:rPr>
              <a:t>ces</a:t>
            </a:r>
            <a:r>
              <a:rPr lang="en-GB" sz="1200" kern="1200" dirty="0">
                <a:solidFill>
                  <a:schemeClr val="tx1"/>
                </a:solidFill>
                <a:effectLst/>
                <a:latin typeface="Arial" charset="0"/>
                <a:ea typeface="+mn-ea"/>
                <a:cs typeface="+mn-cs"/>
              </a:rPr>
              <a:t> diagnostics </a:t>
            </a:r>
            <a:r>
              <a:rPr lang="en-GB" sz="1200" kern="1200" dirty="0" err="1">
                <a:solidFill>
                  <a:schemeClr val="tx1"/>
                </a:solidFill>
                <a:effectLst/>
                <a:latin typeface="Arial" charset="0"/>
                <a:ea typeface="+mn-ea"/>
                <a:cs typeface="+mn-cs"/>
              </a:rPr>
              <a:t>sont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surveillés</a:t>
            </a:r>
            <a:r>
              <a:rPr lang="en-GB" sz="1200" kern="1200" dirty="0">
                <a:solidFill>
                  <a:schemeClr val="tx1"/>
                </a:solidFill>
                <a:effectLst/>
                <a:latin typeface="Arial" charset="0"/>
                <a:ea typeface="+mn-ea"/>
                <a:cs typeface="+mn-cs"/>
              </a:rPr>
              <a:t>, des </a:t>
            </a:r>
            <a:r>
              <a:rPr lang="en-GB" sz="1200" kern="1200" dirty="0" err="1">
                <a:solidFill>
                  <a:schemeClr val="tx1"/>
                </a:solidFill>
                <a:effectLst/>
                <a:latin typeface="Arial" charset="0"/>
                <a:ea typeface="+mn-ea"/>
                <a:cs typeface="+mn-cs"/>
              </a:rPr>
              <a:t>problèmes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peuvent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éventuellement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détectés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avant</a:t>
            </a:r>
            <a:r>
              <a:rPr lang="en-GB" sz="1200" kern="1200" dirty="0">
                <a:solidFill>
                  <a:schemeClr val="tx1"/>
                </a:solidFill>
                <a:effectLst/>
                <a:latin typeface="Arial" charset="0"/>
                <a:ea typeface="+mn-ea"/>
                <a:cs typeface="+mn-cs"/>
              </a:rPr>
              <a:t> que la tension </a:t>
            </a:r>
            <a:r>
              <a:rPr lang="en-GB" sz="1200" kern="1200" dirty="0" err="1">
                <a:solidFill>
                  <a:schemeClr val="tx1"/>
                </a:solidFill>
                <a:effectLst/>
                <a:latin typeface="Arial" charset="0"/>
                <a:ea typeface="+mn-ea"/>
                <a:cs typeface="+mn-cs"/>
              </a:rPr>
              <a:t>d'alimentation</a:t>
            </a:r>
            <a:r>
              <a:rPr lang="en-GB" sz="1200" kern="1200" dirty="0">
                <a:solidFill>
                  <a:schemeClr val="tx1"/>
                </a:solidFill>
                <a:effectLst/>
                <a:latin typeface="Arial" charset="0"/>
                <a:ea typeface="+mn-ea"/>
                <a:cs typeface="+mn-cs"/>
              </a:rPr>
              <a:t> ne </a:t>
            </a:r>
            <a:r>
              <a:rPr lang="en-GB" sz="1200" kern="1200" dirty="0" err="1">
                <a:solidFill>
                  <a:schemeClr val="tx1"/>
                </a:solidFill>
                <a:effectLst/>
                <a:latin typeface="Arial" charset="0"/>
                <a:ea typeface="+mn-ea"/>
                <a:cs typeface="+mn-cs"/>
              </a:rPr>
              <a:t>tombe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en</a:t>
            </a:r>
            <a:r>
              <a:rPr lang="en-GB" sz="1200" kern="1200" dirty="0">
                <a:solidFill>
                  <a:schemeClr val="tx1"/>
                </a:solidFill>
                <a:effectLst/>
                <a:latin typeface="Arial" charset="0"/>
                <a:ea typeface="+mn-ea"/>
                <a:cs typeface="+mn-cs"/>
              </a:rPr>
              <a:t> panne. </a:t>
            </a:r>
            <a:r>
              <a:rPr lang="en-GB" sz="1200" kern="1200" dirty="0" err="1">
                <a:solidFill>
                  <a:schemeClr val="tx1"/>
                </a:solidFill>
                <a:effectLst/>
                <a:latin typeface="Arial" charset="0"/>
                <a:ea typeface="+mn-ea"/>
                <a:cs typeface="+mn-cs"/>
              </a:rPr>
              <a:t>S'il</a:t>
            </a:r>
            <a:r>
              <a:rPr lang="en-GB" sz="1200" kern="1200" dirty="0">
                <a:solidFill>
                  <a:schemeClr val="tx1"/>
                </a:solidFill>
                <a:effectLst/>
                <a:latin typeface="Arial" charset="0"/>
                <a:ea typeface="+mn-ea"/>
                <a:cs typeface="+mn-cs"/>
              </a:rPr>
              <a:t> y a </a:t>
            </a:r>
            <a:r>
              <a:rPr lang="en-GB" sz="1200" kern="1200" dirty="0" err="1">
                <a:solidFill>
                  <a:schemeClr val="tx1"/>
                </a:solidFill>
                <a:effectLst/>
                <a:latin typeface="Arial" charset="0"/>
                <a:ea typeface="+mn-ea"/>
                <a:cs typeface="+mn-cs"/>
              </a:rPr>
              <a:t>une</a:t>
            </a:r>
            <a:r>
              <a:rPr lang="en-GB" sz="1200" kern="1200" dirty="0">
                <a:solidFill>
                  <a:schemeClr val="tx1"/>
                </a:solidFill>
                <a:effectLst/>
                <a:latin typeface="Arial" charset="0"/>
                <a:ea typeface="+mn-ea"/>
                <a:cs typeface="+mn-cs"/>
              </a:rPr>
              <a:t> panne de tension de bus, le </a:t>
            </a:r>
            <a:r>
              <a:rPr lang="en-GB" sz="1200" kern="1200" dirty="0" err="1">
                <a:solidFill>
                  <a:schemeClr val="tx1"/>
                </a:solidFill>
                <a:effectLst/>
                <a:latin typeface="Arial" charset="0"/>
                <a:ea typeface="+mn-ea"/>
                <a:cs typeface="+mn-cs"/>
              </a:rPr>
              <a:t>système</a:t>
            </a:r>
            <a:r>
              <a:rPr lang="en-GB" sz="1200" kern="1200" dirty="0">
                <a:solidFill>
                  <a:schemeClr val="tx1"/>
                </a:solidFill>
                <a:effectLst/>
                <a:latin typeface="Arial" charset="0"/>
                <a:ea typeface="+mn-ea"/>
                <a:cs typeface="+mn-cs"/>
              </a:rPr>
              <a:t> doit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fréquemment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amené</a:t>
            </a:r>
            <a:r>
              <a:rPr lang="en-GB" sz="1200" kern="1200" dirty="0">
                <a:solidFill>
                  <a:schemeClr val="tx1"/>
                </a:solidFill>
                <a:effectLst/>
                <a:latin typeface="Arial" charset="0"/>
                <a:ea typeface="+mn-ea"/>
                <a:cs typeface="+mn-cs"/>
              </a:rPr>
              <a:t> à un </a:t>
            </a:r>
            <a:r>
              <a:rPr lang="en-GB" sz="1200" kern="1200" dirty="0" err="1">
                <a:solidFill>
                  <a:schemeClr val="tx1"/>
                </a:solidFill>
                <a:effectLst/>
                <a:latin typeface="Arial" charset="0"/>
                <a:ea typeface="+mn-ea"/>
                <a:cs typeface="+mn-cs"/>
              </a:rPr>
              <a:t>état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défini</a:t>
            </a:r>
            <a:r>
              <a:rPr lang="en-GB" sz="1200" kern="1200" dirty="0">
                <a:solidFill>
                  <a:schemeClr val="tx1"/>
                </a:solidFill>
                <a:effectLst/>
                <a:latin typeface="Arial" charset="0"/>
                <a:ea typeface="+mn-ea"/>
                <a:cs typeface="+mn-cs"/>
              </a:rPr>
              <a:t> après </a:t>
            </a:r>
            <a:r>
              <a:rPr lang="en-GB" sz="1200" kern="1200" dirty="0" err="1">
                <a:solidFill>
                  <a:schemeClr val="tx1"/>
                </a:solidFill>
                <a:effectLst/>
                <a:latin typeface="Arial" charset="0"/>
                <a:ea typeface="+mn-ea"/>
                <a:cs typeface="+mn-cs"/>
              </a:rPr>
              <a:t>récupération</a:t>
            </a:r>
            <a:r>
              <a:rPr lang="en-GB" sz="1200" kern="1200" dirty="0">
                <a:solidFill>
                  <a:schemeClr val="tx1"/>
                </a:solidFill>
                <a:effectLst/>
                <a:latin typeface="Arial" charset="0"/>
                <a:ea typeface="+mn-ea"/>
                <a:cs typeface="+mn-cs"/>
              </a:rPr>
              <a:t> de tension. (</a:t>
            </a:r>
            <a:r>
              <a:rPr lang="en-GB" sz="1200" kern="1200" dirty="0" err="1">
                <a:solidFill>
                  <a:schemeClr val="tx1"/>
                </a:solidFill>
                <a:effectLst/>
                <a:latin typeface="Arial" charset="0"/>
                <a:ea typeface="+mn-ea"/>
                <a:cs typeface="+mn-cs"/>
              </a:rPr>
              <a:t>Voir</a:t>
            </a:r>
            <a:r>
              <a:rPr lang="en-GB" sz="1200" kern="1200" dirty="0">
                <a:solidFill>
                  <a:schemeClr val="tx1"/>
                </a:solidFill>
                <a:effectLst/>
                <a:latin typeface="Arial" charset="0"/>
                <a:ea typeface="+mn-ea"/>
                <a:cs typeface="+mn-cs"/>
              </a:rPr>
              <a:t> « </a:t>
            </a:r>
            <a:r>
              <a:rPr lang="en-GB" sz="1200" kern="1200" dirty="0" err="1">
                <a:solidFill>
                  <a:schemeClr val="tx1"/>
                </a:solidFill>
                <a:effectLst/>
                <a:latin typeface="Arial" charset="0"/>
                <a:ea typeface="+mn-ea"/>
                <a:cs typeface="+mn-cs"/>
              </a:rPr>
              <a:t>Comportement</a:t>
            </a:r>
            <a:r>
              <a:rPr lang="en-GB" sz="1200" kern="1200" dirty="0">
                <a:solidFill>
                  <a:schemeClr val="tx1"/>
                </a:solidFill>
                <a:effectLst/>
                <a:latin typeface="Arial" charset="0"/>
                <a:ea typeface="+mn-ea"/>
                <a:cs typeface="+mn-cs"/>
              </a:rPr>
              <a:t> après </a:t>
            </a:r>
            <a:r>
              <a:rPr lang="en-GB" sz="1200" kern="1200" dirty="0" err="1">
                <a:solidFill>
                  <a:schemeClr val="tx1"/>
                </a:solidFill>
                <a:effectLst/>
                <a:latin typeface="Arial" charset="0"/>
                <a:ea typeface="+mn-ea"/>
                <a:cs typeface="+mn-cs"/>
              </a:rPr>
              <a:t>défaillance</a:t>
            </a:r>
            <a:r>
              <a:rPr lang="en-GB" sz="1200" kern="1200" dirty="0">
                <a:solidFill>
                  <a:schemeClr val="tx1"/>
                </a:solidFill>
                <a:effectLst/>
                <a:latin typeface="Arial" charset="0"/>
                <a:ea typeface="+mn-ea"/>
                <a:cs typeface="+mn-cs"/>
              </a:rPr>
              <a:t> de tension de bus ») Les alimentations avec </a:t>
            </a:r>
            <a:r>
              <a:rPr lang="en-GB" sz="1200" kern="1200" dirty="0" err="1">
                <a:solidFill>
                  <a:schemeClr val="tx1"/>
                </a:solidFill>
                <a:effectLst/>
                <a:latin typeface="Arial" charset="0"/>
                <a:ea typeface="+mn-ea"/>
                <a:cs typeface="+mn-cs"/>
              </a:rPr>
              <a:t>une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fonction</a:t>
            </a:r>
            <a:r>
              <a:rPr lang="en-GB" sz="1200" kern="1200" dirty="0">
                <a:solidFill>
                  <a:schemeClr val="tx1"/>
                </a:solidFill>
                <a:effectLst/>
                <a:latin typeface="Arial" charset="0"/>
                <a:ea typeface="+mn-ea"/>
                <a:cs typeface="+mn-cs"/>
              </a:rPr>
              <a:t> de diagnostic </a:t>
            </a:r>
            <a:r>
              <a:rPr lang="en-GB" sz="1200" kern="1200" dirty="0" err="1">
                <a:solidFill>
                  <a:schemeClr val="tx1"/>
                </a:solidFill>
                <a:effectLst/>
                <a:latin typeface="Arial" charset="0"/>
                <a:ea typeface="+mn-ea"/>
                <a:cs typeface="+mn-cs"/>
              </a:rPr>
              <a:t>intégrée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signalent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fréquemment</a:t>
            </a:r>
            <a:r>
              <a:rPr lang="en-GB" sz="1200" kern="1200" dirty="0">
                <a:solidFill>
                  <a:schemeClr val="tx1"/>
                </a:solidFill>
                <a:effectLst/>
                <a:latin typeface="Arial" charset="0"/>
                <a:ea typeface="+mn-ea"/>
                <a:cs typeface="+mn-cs"/>
              </a:rPr>
              <a:t> la </a:t>
            </a:r>
            <a:r>
              <a:rPr lang="en-GB" sz="1200" kern="1200" dirty="0" err="1">
                <a:solidFill>
                  <a:schemeClr val="tx1"/>
                </a:solidFill>
                <a:effectLst/>
                <a:latin typeface="Arial" charset="0"/>
                <a:ea typeface="+mn-ea"/>
                <a:cs typeface="+mn-cs"/>
              </a:rPr>
              <a:t>récupération</a:t>
            </a:r>
            <a:r>
              <a:rPr lang="en-GB" sz="1200" kern="1200" dirty="0">
                <a:solidFill>
                  <a:schemeClr val="tx1"/>
                </a:solidFill>
                <a:effectLst/>
                <a:latin typeface="Arial" charset="0"/>
                <a:ea typeface="+mn-ea"/>
                <a:cs typeface="+mn-cs"/>
              </a:rPr>
              <a:t> de tension avec un </a:t>
            </a:r>
            <a:r>
              <a:rPr lang="en-GB" sz="1200" kern="1200" dirty="0" err="1">
                <a:solidFill>
                  <a:schemeClr val="tx1"/>
                </a:solidFill>
                <a:effectLst/>
                <a:latin typeface="Arial" charset="0"/>
                <a:ea typeface="+mn-ea"/>
                <a:cs typeface="+mn-cs"/>
              </a:rPr>
              <a:t>délai</a:t>
            </a:r>
            <a:r>
              <a:rPr lang="en-GB" sz="1200" kern="1200" dirty="0">
                <a:solidFill>
                  <a:schemeClr val="tx1"/>
                </a:solidFill>
                <a:effectLst/>
                <a:latin typeface="Arial" charset="0"/>
                <a:ea typeface="+mn-ea"/>
                <a:cs typeface="+mn-cs"/>
              </a:rPr>
              <a:t> de temps </a:t>
            </a:r>
            <a:r>
              <a:rPr lang="en-GB" sz="1200" kern="1200" dirty="0" err="1">
                <a:solidFill>
                  <a:schemeClr val="tx1"/>
                </a:solidFill>
                <a:effectLst/>
                <a:latin typeface="Arial" charset="0"/>
                <a:ea typeface="+mn-ea"/>
                <a:cs typeface="+mn-cs"/>
              </a:rPr>
              <a:t>ou</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envoient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leur</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état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cycliquement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afin</a:t>
            </a:r>
            <a:r>
              <a:rPr lang="en-GB" sz="1200" kern="1200" dirty="0">
                <a:solidFill>
                  <a:schemeClr val="tx1"/>
                </a:solidFill>
                <a:effectLst/>
                <a:latin typeface="Arial" charset="0"/>
                <a:ea typeface="+mn-ea"/>
                <a:cs typeface="+mn-cs"/>
              </a:rPr>
              <a:t> que des </a:t>
            </a:r>
            <a:r>
              <a:rPr lang="en-GB" sz="1200" kern="1200" dirty="0" err="1">
                <a:solidFill>
                  <a:schemeClr val="tx1"/>
                </a:solidFill>
                <a:effectLst/>
                <a:latin typeface="Arial" charset="0"/>
                <a:ea typeface="+mn-ea"/>
                <a:cs typeface="+mn-cs"/>
              </a:rPr>
              <a:t>procédures</a:t>
            </a:r>
            <a:r>
              <a:rPr lang="en-GB" sz="1200" kern="1200" dirty="0">
                <a:solidFill>
                  <a:schemeClr val="tx1"/>
                </a:solidFill>
                <a:effectLst/>
                <a:latin typeface="Arial" charset="0"/>
                <a:ea typeface="+mn-ea"/>
                <a:cs typeface="+mn-cs"/>
              </a:rPr>
              <a:t> de </a:t>
            </a:r>
            <a:r>
              <a:rPr lang="en-GB" sz="1200" kern="1200" dirty="0" err="1">
                <a:solidFill>
                  <a:schemeClr val="tx1"/>
                </a:solidFill>
                <a:effectLst/>
                <a:latin typeface="Arial" charset="0"/>
                <a:ea typeface="+mn-ea"/>
                <a:cs typeface="+mn-cs"/>
              </a:rPr>
              <a:t>récupération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définies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puissent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être</a:t>
            </a:r>
            <a:r>
              <a:rPr lang="en-GB" sz="1200" kern="1200" dirty="0">
                <a:solidFill>
                  <a:schemeClr val="tx1"/>
                </a:solidFill>
                <a:effectLst/>
                <a:latin typeface="Arial" charset="0"/>
                <a:ea typeface="+mn-ea"/>
                <a:cs typeface="+mn-cs"/>
              </a:rPr>
              <a:t> mises </a:t>
            </a:r>
            <a:r>
              <a:rPr lang="en-GB" sz="1200" kern="1200" dirty="0" err="1">
                <a:solidFill>
                  <a:schemeClr val="tx1"/>
                </a:solidFill>
                <a:effectLst/>
                <a:latin typeface="Arial" charset="0"/>
                <a:ea typeface="+mn-ea"/>
                <a:cs typeface="+mn-cs"/>
              </a:rPr>
              <a:t>en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œuvre</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3350790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exemple pratique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Surveillance Cyclique de 2 Lignes à l'aide d'un Contrôleur</a:t>
            </a:r>
          </a:p>
          <a:p>
            <a:pPr lvl="0"/>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Configurez un système KNX avec 2 lignes et une ligne principale.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dispositif capable d'envoyer des télégrammes cycliques est installé sur chacune des deux lignes secondaires. Un dispositif de sortie (actionneur, LED, afficheur, visualisation...) doit être installé sur la ligne principale du système pour indiquer si la tension du bus est présente sur la ligne 1 ou 2. Vous avez besoin d'un régulateur dont l'application permet le fonctionnement par minuterie.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Intégrez un capteur de vent dans votre système qui agit sur les actionneurs de volets roulants. Ceci devrait amener le volet en position de fin de course lorsque la valeur limite est dépassée.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L'information du télégramme de vent cyclique doit également être représentée sur la ligne principale de l'appareil de sortie.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Déterminez si c'est une bonne idée de placer l'information cyclique à une porte OU et de signaler à un canal d'un dispositif de sortie. Quels problèmes pourraient survenir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algn="just" eaLnBrk="1" hangingPunct="1">
              <a:defRPr/>
            </a:pPr>
            <a:endParaRPr lang="es-ES_tradnl" sz="1200" dirty="0">
              <a:solidFill>
                <a:schemeClr val="bg2">
                  <a:lumMod val="25000"/>
                </a:schemeClr>
              </a:solidFill>
              <a:ea typeface="ＭＳ Ｐゴシック" pitchFamily="-97" charset="-128"/>
              <a:cs typeface="Arial" pitchFamily="34" charset="0"/>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3358802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6.emf"/><Relationship Id="rId5" Type="http://schemas.openxmlformats.org/officeDocument/2006/relationships/oleObject" Target="../embeddings/oleObject1.bin"/><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image" Target="../media/image16.emf"/><Relationship Id="rId5" Type="http://schemas.openxmlformats.org/officeDocument/2006/relationships/package" Target="../embeddings/Microsoft_Visio_Drawing4.vsdx"/><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a:t>COURS AVANCÉ KNX</a:t>
            </a:r>
            <a:br>
              <a:rPr lang="en-GB"/>
            </a:br>
            <a:r>
              <a:rPr lang="en-GB" sz="2400"/>
              <a:t>Annex informative</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en-GB" sz="2400" dirty="0"/>
              <a:t>Planification sans danger</a:t>
            </a:r>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Informations générales</a:t>
            </a:r>
          </a:p>
        </p:txBody>
      </p:sp>
      <p:sp>
        <p:nvSpPr>
          <p:cNvPr id="4" name="Content Placeholder 1">
            <a:extLst>
              <a:ext uri="{FF2B5EF4-FFF2-40B4-BE49-F238E27FC236}">
                <a16:creationId xmlns:a16="http://schemas.microsoft.com/office/drawing/2014/main" id="{0FD2D3BC-DCA5-4A7C-8942-9539F96D60A5}"/>
              </a:ext>
            </a:extLst>
          </p:cNvPr>
          <p:cNvSpPr txBox="1">
            <a:spLocks/>
          </p:cNvSpPr>
          <p:nvPr/>
        </p:nvSpPr>
        <p:spPr>
          <a:xfrm>
            <a:off x="971600" y="1412875"/>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400" kern="0"/>
              <a:t>Applications avec des problèmes de sécurité intégrée :</a:t>
            </a:r>
            <a:endParaRPr lang="en-US" sz="2000" kern="0" dirty="0">
              <a:solidFill>
                <a:schemeClr val="tx1"/>
              </a:solidFill>
            </a:endParaRPr>
          </a:p>
          <a:p>
            <a:r>
              <a:rPr lang="en-US" sz="2000" kern="0">
                <a:solidFill>
                  <a:schemeClr val="tx1"/>
                </a:solidFill>
              </a:rPr>
              <a:t>Fonctions d'alarme</a:t>
            </a:r>
          </a:p>
          <a:p>
            <a:r>
              <a:rPr lang="en-US" sz="2000" kern="0">
                <a:solidFill>
                  <a:schemeClr val="tx1"/>
                </a:solidFill>
              </a:rPr>
              <a:t>Systèmes de surveillance (fenêtres, portes, ....)</a:t>
            </a:r>
          </a:p>
          <a:p>
            <a:r>
              <a:rPr lang="en-US" sz="2000" kern="0">
                <a:solidFill>
                  <a:schemeClr val="tx1"/>
                </a:solidFill>
              </a:rPr>
              <a:t>Systèmes d'alarme anti-intrusion et antivol</a:t>
            </a:r>
          </a:p>
          <a:p>
            <a:r>
              <a:rPr lang="en-US" sz="2000" kern="0">
                <a:solidFill>
                  <a:schemeClr val="tx1"/>
                </a:solidFill>
              </a:rPr>
              <a:t>Signalisation à distance (téléphone, web, …)</a:t>
            </a:r>
          </a:p>
          <a:p>
            <a:r>
              <a:rPr lang="en-US" sz="2000" kern="0">
                <a:solidFill>
                  <a:schemeClr val="tx1"/>
                </a:solidFill>
              </a:rPr>
              <a:t>Détecteurs d'incendie</a:t>
            </a:r>
          </a:p>
          <a:p>
            <a:r>
              <a:rPr lang="en-US" sz="2000" kern="0">
                <a:solidFill>
                  <a:schemeClr val="tx1"/>
                </a:solidFill>
              </a:rPr>
              <a:t>Détecteurs d'eau</a:t>
            </a:r>
          </a:p>
          <a:p>
            <a:r>
              <a:rPr lang="en-US" sz="2000" kern="0">
                <a:solidFill>
                  <a:schemeClr val="tx1"/>
                </a:solidFill>
              </a:rPr>
              <a:t>Contrôle des appareils et applications dont la défaillance pourrait entraîner des dommages indirects (capteurs de vent pour les volets roulants, capteurs de pluie pour les puits de lumière, déconnexion centrale de l'eau dans les bâtiments non utilisés...)</a:t>
            </a: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Mesures Logicielles</a:t>
            </a:r>
          </a:p>
        </p:txBody>
      </p:sp>
      <p:sp>
        <p:nvSpPr>
          <p:cNvPr id="4" name="Content Placeholder 1">
            <a:extLst>
              <a:ext uri="{FF2B5EF4-FFF2-40B4-BE49-F238E27FC236}">
                <a16:creationId xmlns:a16="http://schemas.microsoft.com/office/drawing/2014/main" id="{39BAB44B-E872-4C07-8388-36364417388B}"/>
              </a:ext>
            </a:extLst>
          </p:cNvPr>
          <p:cNvSpPr txBox="1">
            <a:spLocks/>
          </p:cNvSpPr>
          <p:nvPr/>
        </p:nvSpPr>
        <p:spPr>
          <a:xfrm>
            <a:off x="971600" y="1412875"/>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Font typeface="Wingdings" pitchFamily="2" charset="2"/>
              <a:buNone/>
            </a:pPr>
            <a:r>
              <a:rPr lang="en-US" sz="2400" kern="0"/>
              <a:t>Mesures logicielles principales à adopter :</a:t>
            </a:r>
          </a:p>
          <a:p>
            <a:pPr>
              <a:lnSpc>
                <a:spcPct val="150000"/>
              </a:lnSpc>
            </a:pPr>
            <a:r>
              <a:rPr lang="en-US" sz="2000" kern="0">
                <a:solidFill>
                  <a:schemeClr val="tx1"/>
                </a:solidFill>
              </a:rPr>
              <a:t>Télégrammes Cycliques pour la Surveillance</a:t>
            </a:r>
          </a:p>
          <a:p>
            <a:pPr>
              <a:lnSpc>
                <a:spcPct val="150000"/>
              </a:lnSpc>
            </a:pPr>
            <a:r>
              <a:rPr lang="en-US" sz="2000" kern="0">
                <a:solidFill>
                  <a:schemeClr val="tx1"/>
                </a:solidFill>
              </a:rPr>
              <a:t>Priorité d'un Télégramme</a:t>
            </a:r>
          </a:p>
          <a:p>
            <a:pPr>
              <a:lnSpc>
                <a:spcPct val="150000"/>
              </a:lnSpc>
            </a:pPr>
            <a:r>
              <a:rPr lang="en-US" sz="2000" kern="0">
                <a:solidFill>
                  <a:schemeClr val="tx1"/>
                </a:solidFill>
              </a:rPr>
              <a:t>Comportement après la récupération de la tension de bus</a:t>
            </a:r>
            <a:endParaRPr lang="en-GB" sz="2000" kern="0" dirty="0">
              <a:solidFill>
                <a:schemeClr val="tx1"/>
              </a:solidFill>
            </a:endParaRPr>
          </a:p>
        </p:txBody>
      </p:sp>
    </p:spTree>
    <p:extLst>
      <p:ext uri="{BB962C8B-B14F-4D97-AF65-F5344CB8AC3E}">
        <p14:creationId xmlns:p14="http://schemas.microsoft.com/office/powerpoint/2010/main" val="3607665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107504" y="621630"/>
            <a:ext cx="7920359" cy="719138"/>
          </a:xfrm>
        </p:spPr>
        <p:txBody>
          <a:bodyPr/>
          <a:lstStyle/>
          <a:p>
            <a:r>
              <a:rPr lang="en-GB"/>
              <a:t>Télégrammes Cycliques pour la Surveillance</a:t>
            </a:r>
          </a:p>
        </p:txBody>
      </p:sp>
      <p:sp>
        <p:nvSpPr>
          <p:cNvPr id="4" name="Content Placeholder 1">
            <a:extLst>
              <a:ext uri="{FF2B5EF4-FFF2-40B4-BE49-F238E27FC236}">
                <a16:creationId xmlns:a16="http://schemas.microsoft.com/office/drawing/2014/main" id="{5C8393D7-2AC7-4464-AD18-B6E3481C3A64}"/>
              </a:ext>
            </a:extLst>
          </p:cNvPr>
          <p:cNvSpPr txBox="1">
            <a:spLocks/>
          </p:cNvSpPr>
          <p:nvPr/>
        </p:nvSpPr>
        <p:spPr>
          <a:xfrm>
            <a:off x="683568" y="1340768"/>
            <a:ext cx="7848872"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000" kern="0" dirty="0" err="1">
                <a:solidFill>
                  <a:schemeClr val="tx1"/>
                </a:solidFill>
              </a:rPr>
              <a:t>Répéter</a:t>
            </a:r>
            <a:r>
              <a:rPr lang="en-US" sz="2000" kern="0" dirty="0">
                <a:solidFill>
                  <a:schemeClr val="tx1"/>
                </a:solidFill>
              </a:rPr>
              <a:t> les </a:t>
            </a:r>
            <a:r>
              <a:rPr lang="en-US" sz="2000" kern="0" dirty="0" err="1">
                <a:solidFill>
                  <a:schemeClr val="tx1"/>
                </a:solidFill>
              </a:rPr>
              <a:t>télégrammes</a:t>
            </a:r>
            <a:r>
              <a:rPr lang="en-US" sz="2000" kern="0" dirty="0">
                <a:solidFill>
                  <a:schemeClr val="tx1"/>
                </a:solidFill>
              </a:rPr>
              <a:t> à </a:t>
            </a:r>
            <a:r>
              <a:rPr lang="en-US" sz="2000" kern="0" dirty="0" err="1">
                <a:solidFill>
                  <a:schemeClr val="tx1"/>
                </a:solidFill>
              </a:rPr>
              <a:t>intervalles</a:t>
            </a:r>
            <a:r>
              <a:rPr lang="en-US" sz="2000" kern="0" dirty="0">
                <a:solidFill>
                  <a:schemeClr val="tx1"/>
                </a:solidFill>
              </a:rPr>
              <a:t> </a:t>
            </a:r>
            <a:r>
              <a:rPr lang="en-US" sz="2000" kern="0" dirty="0" err="1">
                <a:solidFill>
                  <a:schemeClr val="tx1"/>
                </a:solidFill>
              </a:rPr>
              <a:t>cycliques</a:t>
            </a:r>
            <a:r>
              <a:rPr lang="en-US" sz="2000" kern="0" dirty="0">
                <a:solidFill>
                  <a:schemeClr val="tx1"/>
                </a:solidFill>
              </a:rPr>
              <a:t> pour </a:t>
            </a:r>
            <a:r>
              <a:rPr lang="en-US" sz="2000" kern="0" dirty="0" err="1">
                <a:solidFill>
                  <a:schemeClr val="tx1"/>
                </a:solidFill>
              </a:rPr>
              <a:t>garantir</a:t>
            </a:r>
            <a:r>
              <a:rPr lang="en-US" sz="2000" kern="0" dirty="0">
                <a:solidFill>
                  <a:schemeClr val="tx1"/>
                </a:solidFill>
              </a:rPr>
              <a:t> que le </a:t>
            </a:r>
            <a:r>
              <a:rPr lang="en-US" sz="2000" kern="0" dirty="0" err="1">
                <a:solidFill>
                  <a:schemeClr val="tx1"/>
                </a:solidFill>
              </a:rPr>
              <a:t>périphérique</a:t>
            </a:r>
            <a:r>
              <a:rPr lang="en-US" sz="2000" kern="0" dirty="0">
                <a:solidFill>
                  <a:schemeClr val="tx1"/>
                </a:solidFill>
              </a:rPr>
              <a:t> de sortie </a:t>
            </a:r>
            <a:r>
              <a:rPr lang="en-US" sz="2000" kern="0" dirty="0" err="1">
                <a:solidFill>
                  <a:schemeClr val="tx1"/>
                </a:solidFill>
              </a:rPr>
              <a:t>est</a:t>
            </a:r>
            <a:r>
              <a:rPr lang="en-US" sz="2000" kern="0" dirty="0">
                <a:solidFill>
                  <a:schemeClr val="tx1"/>
                </a:solidFill>
              </a:rPr>
              <a:t> </a:t>
            </a:r>
            <a:r>
              <a:rPr lang="en-US" sz="2000" kern="0" dirty="0" err="1">
                <a:solidFill>
                  <a:schemeClr val="tx1"/>
                </a:solidFill>
              </a:rPr>
              <a:t>réglé</a:t>
            </a:r>
            <a:r>
              <a:rPr lang="en-US" sz="2000" kern="0" dirty="0">
                <a:solidFill>
                  <a:schemeClr val="tx1"/>
                </a:solidFill>
              </a:rPr>
              <a:t> sur </a:t>
            </a:r>
            <a:r>
              <a:rPr lang="en-US" sz="2000" kern="0" dirty="0" err="1">
                <a:solidFill>
                  <a:schemeClr val="tx1"/>
                </a:solidFill>
              </a:rPr>
              <a:t>une</a:t>
            </a:r>
            <a:r>
              <a:rPr lang="en-US" sz="2000" kern="0" dirty="0">
                <a:solidFill>
                  <a:schemeClr val="tx1"/>
                </a:solidFill>
              </a:rPr>
              <a:t> position de commutation </a:t>
            </a:r>
            <a:r>
              <a:rPr lang="en-US" sz="2000" kern="0" dirty="0" err="1">
                <a:solidFill>
                  <a:schemeClr val="tx1"/>
                </a:solidFill>
              </a:rPr>
              <a:t>définie</a:t>
            </a:r>
            <a:r>
              <a:rPr lang="en-US" sz="2000" kern="0" dirty="0">
                <a:solidFill>
                  <a:schemeClr val="tx1"/>
                </a:solidFill>
              </a:rPr>
              <a:t> </a:t>
            </a:r>
            <a:r>
              <a:rPr lang="en-US" sz="2000" kern="0" dirty="0" err="1">
                <a:solidFill>
                  <a:schemeClr val="tx1"/>
                </a:solidFill>
              </a:rPr>
              <a:t>si</a:t>
            </a:r>
            <a:r>
              <a:rPr lang="en-US" sz="2000" kern="0" dirty="0">
                <a:solidFill>
                  <a:schemeClr val="tx1"/>
                </a:solidFill>
              </a:rPr>
              <a:t> le </a:t>
            </a:r>
            <a:r>
              <a:rPr lang="en-US" sz="2000" kern="0" dirty="0" err="1">
                <a:solidFill>
                  <a:schemeClr val="tx1"/>
                </a:solidFill>
              </a:rPr>
              <a:t>périphérique</a:t>
            </a:r>
            <a:r>
              <a:rPr lang="en-US" sz="2000" kern="0" dirty="0">
                <a:solidFill>
                  <a:schemeClr val="tx1"/>
                </a:solidFill>
              </a:rPr>
              <a:t> de transmission </a:t>
            </a:r>
            <a:r>
              <a:rPr lang="en-US" sz="2000" kern="0" dirty="0" err="1">
                <a:solidFill>
                  <a:schemeClr val="tx1"/>
                </a:solidFill>
              </a:rPr>
              <a:t>échoue</a:t>
            </a:r>
            <a:endParaRPr lang="en-US" sz="2000" kern="0" dirty="0">
              <a:solidFill>
                <a:schemeClr val="tx1"/>
              </a:solidFill>
            </a:endParaRPr>
          </a:p>
          <a:p>
            <a:pPr marL="0" indent="0">
              <a:buFont typeface="Wingdings" pitchFamily="2" charset="2"/>
              <a:buNone/>
            </a:pPr>
            <a:endParaRPr lang="en-US" sz="2000" kern="0" dirty="0"/>
          </a:p>
          <a:p>
            <a:pPr marL="0" indent="0">
              <a:buFont typeface="Wingdings" pitchFamily="2" charset="2"/>
              <a:buNone/>
            </a:pPr>
            <a:r>
              <a:rPr lang="en-US" sz="2000" kern="0" dirty="0" err="1"/>
              <a:t>Exemple</a:t>
            </a:r>
            <a:r>
              <a:rPr lang="en-US" sz="2000" kern="0" dirty="0"/>
              <a:t> : </a:t>
            </a:r>
            <a:r>
              <a:rPr lang="da-DK" sz="2000" kern="0" dirty="0">
                <a:solidFill>
                  <a:schemeClr val="bg1">
                    <a:lumMod val="10000"/>
                  </a:schemeClr>
                </a:solidFill>
                <a:ea typeface="ＭＳ Ｐゴシック" pitchFamily="-97" charset="-128"/>
              </a:rPr>
              <a:t>Alarme du vent : Télégramme Cyclique "Il n'y a pas de vent"</a:t>
            </a:r>
          </a:p>
          <a:p>
            <a:endParaRPr lang="en-US" sz="2000" kern="0" dirty="0"/>
          </a:p>
          <a:p>
            <a:pPr marL="0" indent="0">
              <a:buFont typeface="Wingdings" pitchFamily="2" charset="2"/>
              <a:buNone/>
            </a:pPr>
            <a:r>
              <a:rPr lang="en-US" sz="2400" kern="0" dirty="0" err="1"/>
              <a:t>Rappelez-vous</a:t>
            </a:r>
            <a:r>
              <a:rPr lang="en-US" sz="2400" kern="0" dirty="0"/>
              <a:t> que : </a:t>
            </a:r>
          </a:p>
          <a:p>
            <a:pPr marL="457200" indent="-457200">
              <a:buFont typeface="+mj-lt"/>
              <a:buAutoNum type="arabicPeriod"/>
            </a:pPr>
            <a:r>
              <a:rPr lang="en-US" sz="2000" kern="0" dirty="0">
                <a:solidFill>
                  <a:schemeClr val="bg1">
                    <a:lumMod val="10000"/>
                  </a:schemeClr>
                </a:solidFill>
                <a:cs typeface="Arial" panose="020B0604020202020204" pitchFamily="34" charset="0"/>
              </a:rPr>
              <a:t>la </a:t>
            </a:r>
            <a:r>
              <a:rPr lang="en-US" sz="2000" kern="0" dirty="0" err="1">
                <a:solidFill>
                  <a:schemeClr val="bg1">
                    <a:lumMod val="10000"/>
                  </a:schemeClr>
                </a:solidFill>
                <a:cs typeface="Arial" panose="020B0604020202020204" pitchFamily="34" charset="0"/>
              </a:rPr>
              <a:t>période</a:t>
            </a:r>
            <a:r>
              <a:rPr lang="en-US" sz="2000" kern="0" dirty="0">
                <a:solidFill>
                  <a:schemeClr val="bg1">
                    <a:lumMod val="10000"/>
                  </a:schemeClr>
                </a:solidFill>
                <a:cs typeface="Arial" panose="020B0604020202020204" pitchFamily="34" charset="0"/>
              </a:rPr>
              <a:t> de surveillance doit </a:t>
            </a:r>
            <a:r>
              <a:rPr lang="en-US" sz="2000" kern="0" dirty="0" err="1">
                <a:solidFill>
                  <a:schemeClr val="bg1">
                    <a:lumMod val="10000"/>
                  </a:schemeClr>
                </a:solidFill>
                <a:cs typeface="Arial" panose="020B0604020202020204" pitchFamily="34" charset="0"/>
              </a:rPr>
              <a:t>être</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réglée</a:t>
            </a:r>
            <a:r>
              <a:rPr lang="en-US" sz="2000" kern="0" dirty="0">
                <a:solidFill>
                  <a:schemeClr val="bg1">
                    <a:lumMod val="10000"/>
                  </a:schemeClr>
                </a:solidFill>
                <a:cs typeface="Arial" panose="020B0604020202020204" pitchFamily="34" charset="0"/>
              </a:rPr>
              <a:t> à 3 </a:t>
            </a:r>
            <a:r>
              <a:rPr lang="en-US" sz="2000" kern="0" dirty="0" err="1">
                <a:solidFill>
                  <a:schemeClr val="bg1">
                    <a:lumMod val="10000"/>
                  </a:schemeClr>
                </a:solidFill>
                <a:cs typeface="Arial" panose="020B0604020202020204" pitchFamily="34" charset="0"/>
              </a:rPr>
              <a:t>fois</a:t>
            </a:r>
            <a:r>
              <a:rPr lang="en-US" sz="2000" kern="0" dirty="0">
                <a:solidFill>
                  <a:schemeClr val="bg1">
                    <a:lumMod val="10000"/>
                  </a:schemeClr>
                </a:solidFill>
                <a:cs typeface="Arial" panose="020B0604020202020204" pitchFamily="34" charset="0"/>
              </a:rPr>
              <a:t> la durée de la </a:t>
            </a:r>
            <a:r>
              <a:rPr lang="en-US" sz="2000" kern="0" dirty="0" err="1">
                <a:solidFill>
                  <a:schemeClr val="bg1">
                    <a:lumMod val="10000"/>
                  </a:schemeClr>
                </a:solidFill>
                <a:cs typeface="Arial" panose="020B0604020202020204" pitchFamily="34" charset="0"/>
              </a:rPr>
              <a:t>période</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cyclique</a:t>
            </a:r>
            <a:r>
              <a:rPr lang="en-US" sz="2000" kern="0" dirty="0">
                <a:solidFill>
                  <a:schemeClr val="bg1">
                    <a:lumMod val="10000"/>
                  </a:schemeClr>
                </a:solidFill>
                <a:cs typeface="Arial" panose="020B0604020202020204" pitchFamily="34" charset="0"/>
              </a:rPr>
              <a:t> du </a:t>
            </a:r>
            <a:r>
              <a:rPr lang="en-US" sz="2000" kern="0" dirty="0" err="1">
                <a:solidFill>
                  <a:schemeClr val="bg1">
                    <a:lumMod val="10000"/>
                  </a:schemeClr>
                </a:solidFill>
                <a:cs typeface="Arial" panose="020B0604020202020204" pitchFamily="34" charset="0"/>
              </a:rPr>
              <a:t>capteur</a:t>
            </a:r>
            <a:endParaRPr lang="en-US" sz="2000" kern="0" dirty="0">
              <a:solidFill>
                <a:schemeClr val="bg1">
                  <a:lumMod val="10000"/>
                </a:schemeClr>
              </a:solidFill>
              <a:cs typeface="Arial" panose="020B0604020202020204" pitchFamily="34" charset="0"/>
            </a:endParaRPr>
          </a:p>
          <a:p>
            <a:pPr marL="457200" indent="-457200">
              <a:buFont typeface="+mj-lt"/>
              <a:buAutoNum type="arabicPeriod"/>
            </a:pPr>
            <a:endParaRPr lang="en-US" sz="2000" kern="0" dirty="0">
              <a:solidFill>
                <a:schemeClr val="bg1">
                  <a:lumMod val="10000"/>
                </a:schemeClr>
              </a:solidFill>
              <a:cs typeface="Arial" panose="020B0604020202020204" pitchFamily="34" charset="0"/>
            </a:endParaRPr>
          </a:p>
          <a:p>
            <a:pPr marL="457200" indent="-457200">
              <a:buFont typeface="+mj-lt"/>
              <a:buAutoNum type="arabicPeriod"/>
            </a:pPr>
            <a:r>
              <a:rPr lang="en-US" sz="2000" kern="0" dirty="0" err="1">
                <a:solidFill>
                  <a:schemeClr val="bg1">
                    <a:lumMod val="10000"/>
                  </a:schemeClr>
                </a:solidFill>
                <a:cs typeface="Arial" panose="020B0604020202020204" pitchFamily="34" charset="0"/>
              </a:rPr>
              <a:t>l'envoi</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cyclique</a:t>
            </a:r>
            <a:r>
              <a:rPr lang="en-US" sz="2000" kern="0" dirty="0">
                <a:solidFill>
                  <a:schemeClr val="bg1">
                    <a:lumMod val="10000"/>
                  </a:schemeClr>
                </a:solidFill>
                <a:cs typeface="Arial" panose="020B0604020202020204" pitchFamily="34" charset="0"/>
              </a:rPr>
              <a:t> ne </a:t>
            </a:r>
            <a:r>
              <a:rPr lang="en-US" sz="2000" kern="0" dirty="0" err="1">
                <a:solidFill>
                  <a:schemeClr val="bg1">
                    <a:lumMod val="10000"/>
                  </a:schemeClr>
                </a:solidFill>
                <a:cs typeface="Arial" panose="020B0604020202020204" pitchFamily="34" charset="0"/>
              </a:rPr>
              <a:t>devrait</a:t>
            </a:r>
            <a:r>
              <a:rPr lang="en-US" sz="2000" kern="0" dirty="0">
                <a:solidFill>
                  <a:schemeClr val="bg1">
                    <a:lumMod val="10000"/>
                  </a:schemeClr>
                </a:solidFill>
                <a:cs typeface="Arial" panose="020B0604020202020204" pitchFamily="34" charset="0"/>
              </a:rPr>
              <a:t> jamais </a:t>
            </a:r>
            <a:r>
              <a:rPr lang="en-US" sz="2000" kern="0" dirty="0" err="1">
                <a:solidFill>
                  <a:schemeClr val="bg1">
                    <a:lumMod val="10000"/>
                  </a:schemeClr>
                </a:solidFill>
                <a:cs typeface="Arial" panose="020B0604020202020204" pitchFamily="34" charset="0"/>
              </a:rPr>
              <a:t>être</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transmis</a:t>
            </a:r>
            <a:r>
              <a:rPr lang="en-US" sz="2000" kern="0" dirty="0">
                <a:solidFill>
                  <a:schemeClr val="bg1">
                    <a:lumMod val="10000"/>
                  </a:schemeClr>
                </a:solidFill>
                <a:cs typeface="Arial" panose="020B0604020202020204" pitchFamily="34" charset="0"/>
              </a:rPr>
              <a:t> à </a:t>
            </a:r>
            <a:r>
              <a:rPr lang="en-US" sz="2000" kern="0" dirty="0" err="1">
                <a:solidFill>
                  <a:schemeClr val="bg1">
                    <a:lumMod val="10000"/>
                  </a:schemeClr>
                </a:solidFill>
                <a:cs typeface="Arial" panose="020B0604020202020204" pitchFamily="34" charset="0"/>
              </a:rPr>
              <a:t>intervalles</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relativement</a:t>
            </a:r>
            <a:r>
              <a:rPr lang="en-US" sz="2000" kern="0" dirty="0">
                <a:solidFill>
                  <a:schemeClr val="bg1">
                    <a:lumMod val="10000"/>
                  </a:schemeClr>
                </a:solidFill>
                <a:cs typeface="Arial" panose="020B0604020202020204" pitchFamily="34" charset="0"/>
              </a:rPr>
              <a:t> courts pour </a:t>
            </a:r>
            <a:r>
              <a:rPr lang="en-US" sz="2000" kern="0" dirty="0" err="1">
                <a:solidFill>
                  <a:schemeClr val="bg1">
                    <a:lumMod val="10000"/>
                  </a:schemeClr>
                </a:solidFill>
                <a:cs typeface="Arial" panose="020B0604020202020204" pitchFamily="34" charset="0"/>
              </a:rPr>
              <a:t>éviter</a:t>
            </a:r>
            <a:r>
              <a:rPr lang="en-US" sz="2000" kern="0" dirty="0">
                <a:solidFill>
                  <a:schemeClr val="bg1">
                    <a:lumMod val="10000"/>
                  </a:schemeClr>
                </a:solidFill>
                <a:cs typeface="Arial" panose="020B0604020202020204" pitchFamily="34" charset="0"/>
              </a:rPr>
              <a:t> la charge du bus</a:t>
            </a:r>
            <a:endParaRPr lang="es-ES" sz="2000" kern="0" dirty="0">
              <a:solidFill>
                <a:schemeClr val="bg2">
                  <a:lumMod val="25000"/>
                </a:schemeClr>
              </a:solidFill>
              <a:ea typeface="ＭＳ Ｐゴシック" pitchFamily="-97" charset="-128"/>
              <a:cs typeface="Arial" pitchFamily="34" charset="0"/>
            </a:endParaRPr>
          </a:p>
        </p:txBody>
      </p:sp>
    </p:spTree>
    <p:extLst>
      <p:ext uri="{BB962C8B-B14F-4D97-AF65-F5344CB8AC3E}">
        <p14:creationId xmlns:p14="http://schemas.microsoft.com/office/powerpoint/2010/main" val="1705278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Paramétrage d'une Station Météo</a:t>
            </a:r>
            <a:endParaRPr lang="en-GB" dirty="0"/>
          </a:p>
        </p:txBody>
      </p:sp>
      <p:grpSp>
        <p:nvGrpSpPr>
          <p:cNvPr id="7" name="Group 6">
            <a:extLst>
              <a:ext uri="{FF2B5EF4-FFF2-40B4-BE49-F238E27FC236}">
                <a16:creationId xmlns:a16="http://schemas.microsoft.com/office/drawing/2014/main" id="{5ACFF2A5-D595-4C68-8574-CB5A75D20E74}"/>
              </a:ext>
            </a:extLst>
          </p:cNvPr>
          <p:cNvGrpSpPr/>
          <p:nvPr/>
        </p:nvGrpSpPr>
        <p:grpSpPr>
          <a:xfrm>
            <a:off x="971600" y="1348358"/>
            <a:ext cx="5581650" cy="2152650"/>
            <a:chOff x="903933" y="1306850"/>
            <a:chExt cx="5581650" cy="2152650"/>
          </a:xfrm>
        </p:grpSpPr>
        <p:pic>
          <p:nvPicPr>
            <p:cNvPr id="4" name="Grafik 1">
              <a:extLst>
                <a:ext uri="{FF2B5EF4-FFF2-40B4-BE49-F238E27FC236}">
                  <a16:creationId xmlns:a16="http://schemas.microsoft.com/office/drawing/2014/main" id="{2950F3AA-E926-45D7-9265-3D4647D78D5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03933" y="1306850"/>
              <a:ext cx="5581650" cy="2152650"/>
            </a:xfrm>
            <a:prstGeom prst="rect">
              <a:avLst/>
            </a:prstGeom>
            <a:noFill/>
            <a:ln>
              <a:noFill/>
            </a:ln>
          </p:spPr>
        </p:pic>
        <p:sp>
          <p:nvSpPr>
            <p:cNvPr id="6" name="Right Arrow 3">
              <a:extLst>
                <a:ext uri="{FF2B5EF4-FFF2-40B4-BE49-F238E27FC236}">
                  <a16:creationId xmlns:a16="http://schemas.microsoft.com/office/drawing/2014/main" id="{B90D717D-B384-4250-9129-7EF87BA0D529}"/>
                </a:ext>
              </a:extLst>
            </p:cNvPr>
            <p:cNvSpPr/>
            <p:nvPr/>
          </p:nvSpPr>
          <p:spPr bwMode="auto">
            <a:xfrm>
              <a:off x="3419872" y="2492896"/>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grpSp>
      <p:grpSp>
        <p:nvGrpSpPr>
          <p:cNvPr id="9" name="Group 8">
            <a:extLst>
              <a:ext uri="{FF2B5EF4-FFF2-40B4-BE49-F238E27FC236}">
                <a16:creationId xmlns:a16="http://schemas.microsoft.com/office/drawing/2014/main" id="{100C8332-5A46-42C9-A305-11C3E661C4E9}"/>
              </a:ext>
            </a:extLst>
          </p:cNvPr>
          <p:cNvGrpSpPr/>
          <p:nvPr/>
        </p:nvGrpSpPr>
        <p:grpSpPr>
          <a:xfrm>
            <a:off x="2782272" y="3212297"/>
            <a:ext cx="5580380" cy="1664335"/>
            <a:chOff x="3286328" y="2985954"/>
            <a:chExt cx="5580380" cy="1664335"/>
          </a:xfrm>
        </p:grpSpPr>
        <p:pic>
          <p:nvPicPr>
            <p:cNvPr id="5" name="Picture 4">
              <a:extLst>
                <a:ext uri="{FF2B5EF4-FFF2-40B4-BE49-F238E27FC236}">
                  <a16:creationId xmlns:a16="http://schemas.microsoft.com/office/drawing/2014/main" id="{FC3E19B5-ECE5-4D66-97EE-D5AC695A791A}"/>
                </a:ext>
              </a:extLst>
            </p:cNvPr>
            <p:cNvPicPr/>
            <p:nvPr/>
          </p:nvPicPr>
          <p:blipFill>
            <a:blip r:embed="rId4"/>
            <a:stretch>
              <a:fillRect/>
            </a:stretch>
          </p:blipFill>
          <p:spPr>
            <a:xfrm>
              <a:off x="3286328" y="2985954"/>
              <a:ext cx="5580380" cy="1664335"/>
            </a:xfrm>
            <a:prstGeom prst="rect">
              <a:avLst/>
            </a:prstGeom>
          </p:spPr>
        </p:pic>
        <p:sp>
          <p:nvSpPr>
            <p:cNvPr id="8" name="Right Arrow 3">
              <a:extLst>
                <a:ext uri="{FF2B5EF4-FFF2-40B4-BE49-F238E27FC236}">
                  <a16:creationId xmlns:a16="http://schemas.microsoft.com/office/drawing/2014/main" id="{B32891DC-D4C2-4DC3-A60F-43A589F7C2F7}"/>
                </a:ext>
              </a:extLst>
            </p:cNvPr>
            <p:cNvSpPr/>
            <p:nvPr/>
          </p:nvSpPr>
          <p:spPr bwMode="auto">
            <a:xfrm rot="10800000">
              <a:off x="7377509" y="3212976"/>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grpSp>
      <p:sp>
        <p:nvSpPr>
          <p:cNvPr id="10" name="Rectangle 9">
            <a:extLst>
              <a:ext uri="{FF2B5EF4-FFF2-40B4-BE49-F238E27FC236}">
                <a16:creationId xmlns:a16="http://schemas.microsoft.com/office/drawing/2014/main" id="{C771DF1A-A99F-4F22-ACBF-85C4EC06008C}"/>
              </a:ext>
            </a:extLst>
          </p:cNvPr>
          <p:cNvSpPr/>
          <p:nvPr/>
        </p:nvSpPr>
        <p:spPr>
          <a:xfrm>
            <a:off x="6293048" y="1732881"/>
            <a:ext cx="2527424" cy="1169551"/>
          </a:xfrm>
          <a:prstGeom prst="rect">
            <a:avLst/>
          </a:prstGeom>
        </p:spPr>
        <p:txBody>
          <a:bodyPr wrap="square">
            <a:spAutoFit/>
          </a:bodyPr>
          <a:lstStyle/>
          <a:p>
            <a:r>
              <a:rPr lang="en-US" sz="1400" b="1" dirty="0"/>
              <a:t>Station </a:t>
            </a:r>
            <a:r>
              <a:rPr lang="en-US" sz="1400" b="1" dirty="0" err="1"/>
              <a:t>météo</a:t>
            </a:r>
            <a:r>
              <a:rPr lang="en-US" sz="1400" b="1" dirty="0"/>
              <a:t> (par </a:t>
            </a:r>
            <a:r>
              <a:rPr lang="en-US" sz="1400" b="1" dirty="0" err="1"/>
              <a:t>exemple</a:t>
            </a:r>
            <a:r>
              <a:rPr lang="en-US" sz="1400" b="1" dirty="0"/>
              <a:t> entrée </a:t>
            </a:r>
            <a:r>
              <a:rPr lang="en-US" sz="1400" b="1" dirty="0" err="1"/>
              <a:t>capteur</a:t>
            </a:r>
            <a:r>
              <a:rPr lang="en-US" sz="1400" b="1" dirty="0"/>
              <a:t> 1, </a:t>
            </a:r>
            <a:r>
              <a:rPr lang="en-US" sz="1400" b="1" dirty="0" err="1"/>
              <a:t>valeur</a:t>
            </a:r>
            <a:r>
              <a:rPr lang="en-US" sz="1400" b="1" dirty="0"/>
              <a:t> </a:t>
            </a:r>
            <a:r>
              <a:rPr lang="en-US" sz="1400" b="1" dirty="0" err="1"/>
              <a:t>limite</a:t>
            </a:r>
            <a:r>
              <a:rPr lang="en-US" sz="1400" b="1" dirty="0"/>
              <a:t> 1, vent (54 km/h), sortie 1 </a:t>
            </a:r>
            <a:r>
              <a:rPr lang="en-US" sz="1400" b="1" dirty="0" err="1"/>
              <a:t>cyclique</a:t>
            </a:r>
            <a:r>
              <a:rPr lang="en-US" sz="1400" b="1" dirty="0"/>
              <a:t> 50s/5min </a:t>
            </a:r>
            <a:r>
              <a:rPr lang="en-US" sz="1400" b="1" dirty="0" err="1"/>
              <a:t>retardée</a:t>
            </a:r>
            <a:endParaRPr lang="en-US" sz="1400" b="1" dirty="0"/>
          </a:p>
        </p:txBody>
      </p:sp>
      <p:sp>
        <p:nvSpPr>
          <p:cNvPr id="11" name="Rectangle 10">
            <a:extLst>
              <a:ext uri="{FF2B5EF4-FFF2-40B4-BE49-F238E27FC236}">
                <a16:creationId xmlns:a16="http://schemas.microsoft.com/office/drawing/2014/main" id="{28B1423E-FEA5-4662-AB0D-8CB0AEC497E3}"/>
              </a:ext>
            </a:extLst>
          </p:cNvPr>
          <p:cNvSpPr/>
          <p:nvPr/>
        </p:nvSpPr>
        <p:spPr>
          <a:xfrm>
            <a:off x="611560" y="4581128"/>
            <a:ext cx="2304256" cy="307777"/>
          </a:xfrm>
          <a:prstGeom prst="rect">
            <a:avLst/>
          </a:prstGeom>
        </p:spPr>
        <p:txBody>
          <a:bodyPr wrap="square">
            <a:spAutoFit/>
          </a:bodyPr>
          <a:lstStyle/>
          <a:p>
            <a:r>
              <a:rPr lang="en-US" sz="1400" b="1" dirty="0" err="1"/>
              <a:t>Actionneur</a:t>
            </a:r>
            <a:r>
              <a:rPr lang="en-US" sz="1400" b="1" dirty="0"/>
              <a:t> </a:t>
            </a:r>
            <a:r>
              <a:rPr lang="en-US" sz="1400" b="1" dirty="0" err="1"/>
              <a:t>d'obturation</a:t>
            </a:r>
            <a:endParaRPr lang="en-US" sz="1400" b="1" dirty="0"/>
          </a:p>
        </p:txBody>
      </p:sp>
      <p:graphicFrame>
        <p:nvGraphicFramePr>
          <p:cNvPr id="13" name="Object 12">
            <a:extLst>
              <a:ext uri="{FF2B5EF4-FFF2-40B4-BE49-F238E27FC236}">
                <a16:creationId xmlns:a16="http://schemas.microsoft.com/office/drawing/2014/main" id="{2DEF5837-4295-4BB7-9656-6F872B162905}"/>
              </a:ext>
            </a:extLst>
          </p:cNvPr>
          <p:cNvGraphicFramePr>
            <a:graphicFrameLocks noChangeAspect="1"/>
          </p:cNvGraphicFramePr>
          <p:nvPr/>
        </p:nvGraphicFramePr>
        <p:xfrm>
          <a:off x="1620415" y="5364947"/>
          <a:ext cx="5578475" cy="769938"/>
        </p:xfrm>
        <a:graphic>
          <a:graphicData uri="http://schemas.openxmlformats.org/presentationml/2006/ole">
            <mc:AlternateContent xmlns:mc="http://schemas.openxmlformats.org/markup-compatibility/2006">
              <mc:Choice xmlns:v="urn:schemas-microsoft-com:vml" Requires="v">
                <p:oleObj r:id="rId5" imgW="9252528" imgH="1276579" progId="Visio.Drawing.15">
                  <p:embed/>
                </p:oleObj>
              </mc:Choice>
              <mc:Fallback>
                <p:oleObj r:id="rId5" imgW="9252528" imgH="1276579" progId="Visio.Drawing.15">
                  <p:embed/>
                  <p:pic>
                    <p:nvPicPr>
                      <p:cNvPr id="13" name="Object 12">
                        <a:extLst>
                          <a:ext uri="{FF2B5EF4-FFF2-40B4-BE49-F238E27FC236}">
                            <a16:creationId xmlns:a16="http://schemas.microsoft.com/office/drawing/2014/main" id="{2DEF5837-4295-4BB7-9656-6F872B16290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0415" y="5364947"/>
                        <a:ext cx="5578475" cy="769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94681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Priorité d'un Télégramme</a:t>
            </a:r>
          </a:p>
        </p:txBody>
      </p:sp>
      <p:pic>
        <p:nvPicPr>
          <p:cNvPr id="9" name="Picture 8">
            <a:extLst>
              <a:ext uri="{FF2B5EF4-FFF2-40B4-BE49-F238E27FC236}">
                <a16:creationId xmlns:a16="http://schemas.microsoft.com/office/drawing/2014/main" id="{076326C5-F5E4-498B-88A6-04CE6B79C5B3}"/>
              </a:ext>
            </a:extLst>
          </p:cNvPr>
          <p:cNvPicPr>
            <a:picLocks noChangeAspect="1"/>
          </p:cNvPicPr>
          <p:nvPr/>
        </p:nvPicPr>
        <p:blipFill>
          <a:blip r:embed="rId3"/>
          <a:stretch>
            <a:fillRect/>
          </a:stretch>
        </p:blipFill>
        <p:spPr>
          <a:xfrm>
            <a:off x="611560" y="1340768"/>
            <a:ext cx="7680151" cy="3252569"/>
          </a:xfrm>
          <a:prstGeom prst="rect">
            <a:avLst/>
          </a:prstGeom>
        </p:spPr>
      </p:pic>
      <p:grpSp>
        <p:nvGrpSpPr>
          <p:cNvPr id="10" name="Group 9">
            <a:extLst>
              <a:ext uri="{FF2B5EF4-FFF2-40B4-BE49-F238E27FC236}">
                <a16:creationId xmlns:a16="http://schemas.microsoft.com/office/drawing/2014/main" id="{841BB11E-1948-4372-8B7C-597B142FDB30}"/>
              </a:ext>
            </a:extLst>
          </p:cNvPr>
          <p:cNvGrpSpPr/>
          <p:nvPr/>
        </p:nvGrpSpPr>
        <p:grpSpPr>
          <a:xfrm>
            <a:off x="1259608" y="4738717"/>
            <a:ext cx="6624711" cy="1643033"/>
            <a:chOff x="1259608" y="4738717"/>
            <a:chExt cx="6624711" cy="1643033"/>
          </a:xfrm>
        </p:grpSpPr>
        <p:pic>
          <p:nvPicPr>
            <p:cNvPr id="11" name="Picture 10">
              <a:extLst>
                <a:ext uri="{FF2B5EF4-FFF2-40B4-BE49-F238E27FC236}">
                  <a16:creationId xmlns:a16="http://schemas.microsoft.com/office/drawing/2014/main" id="{BD7EBBB9-56DE-473F-984A-3DD6D8F531F1}"/>
                </a:ext>
              </a:extLst>
            </p:cNvPr>
            <p:cNvPicPr/>
            <p:nvPr/>
          </p:nvPicPr>
          <p:blipFill>
            <a:blip r:embed="rId4"/>
            <a:stretch>
              <a:fillRect/>
            </a:stretch>
          </p:blipFill>
          <p:spPr>
            <a:xfrm>
              <a:off x="1259608" y="4738717"/>
              <a:ext cx="6120680" cy="1643033"/>
            </a:xfrm>
            <a:prstGeom prst="rect">
              <a:avLst/>
            </a:prstGeom>
          </p:spPr>
        </p:pic>
        <p:sp>
          <p:nvSpPr>
            <p:cNvPr id="12" name="Right Arrow 3">
              <a:extLst>
                <a:ext uri="{FF2B5EF4-FFF2-40B4-BE49-F238E27FC236}">
                  <a16:creationId xmlns:a16="http://schemas.microsoft.com/office/drawing/2014/main" id="{7BD16FE6-1EDC-47EC-8854-DF1EB9B306A0}"/>
                </a:ext>
              </a:extLst>
            </p:cNvPr>
            <p:cNvSpPr/>
            <p:nvPr/>
          </p:nvSpPr>
          <p:spPr bwMode="auto">
            <a:xfrm rot="10800000">
              <a:off x="7233444" y="5848126"/>
              <a:ext cx="650875" cy="423196"/>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13" name="Right Arrow 3">
              <a:extLst>
                <a:ext uri="{FF2B5EF4-FFF2-40B4-BE49-F238E27FC236}">
                  <a16:creationId xmlns:a16="http://schemas.microsoft.com/office/drawing/2014/main" id="{6DC5310E-7E10-447B-917A-43367AF8F463}"/>
                </a:ext>
              </a:extLst>
            </p:cNvPr>
            <p:cNvSpPr/>
            <p:nvPr/>
          </p:nvSpPr>
          <p:spPr bwMode="auto">
            <a:xfrm rot="10800000">
              <a:off x="5148064" y="5417662"/>
              <a:ext cx="650875" cy="423196"/>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grpSp>
    </p:spTree>
    <p:extLst>
      <p:ext uri="{BB962C8B-B14F-4D97-AF65-F5344CB8AC3E}">
        <p14:creationId xmlns:p14="http://schemas.microsoft.com/office/powerpoint/2010/main" val="384983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611561" y="724634"/>
            <a:ext cx="7557008" cy="400110"/>
          </a:xfrm>
        </p:spPr>
        <p:txBody>
          <a:bodyPr/>
          <a:lstStyle/>
          <a:p>
            <a:r>
              <a:rPr lang="en-GB" sz="2000" dirty="0" err="1"/>
              <a:t>Comportement</a:t>
            </a:r>
            <a:r>
              <a:rPr lang="en-US" sz="2000" dirty="0"/>
              <a:t> après la </a:t>
            </a:r>
            <a:r>
              <a:rPr lang="en-US" sz="2000" dirty="0" err="1"/>
              <a:t>récupération</a:t>
            </a:r>
            <a:r>
              <a:rPr lang="en-US" sz="2000" dirty="0"/>
              <a:t> de la tension de bus</a:t>
            </a:r>
            <a:endParaRPr lang="en-GB" sz="2000" dirty="0"/>
          </a:p>
        </p:txBody>
      </p:sp>
      <p:graphicFrame>
        <p:nvGraphicFramePr>
          <p:cNvPr id="11" name="Object 10">
            <a:extLst>
              <a:ext uri="{FF2B5EF4-FFF2-40B4-BE49-F238E27FC236}">
                <a16:creationId xmlns:a16="http://schemas.microsoft.com/office/drawing/2014/main" id="{F7A69ADF-2A2F-4FAF-AFF1-35A29454BBD4}"/>
              </a:ext>
            </a:extLst>
          </p:cNvPr>
          <p:cNvGraphicFramePr>
            <a:graphicFrameLocks noChangeAspect="1"/>
          </p:cNvGraphicFramePr>
          <p:nvPr/>
        </p:nvGraphicFramePr>
        <p:xfrm>
          <a:off x="1682744" y="2690319"/>
          <a:ext cx="5778512" cy="2785539"/>
        </p:xfrm>
        <a:graphic>
          <a:graphicData uri="http://schemas.openxmlformats.org/presentationml/2006/ole">
            <mc:AlternateContent xmlns:mc="http://schemas.openxmlformats.org/markup-compatibility/2006">
              <mc:Choice xmlns:v="urn:schemas-microsoft-com:vml" Requires="v">
                <p:oleObj r:id="rId3" imgW="8220501" imgH="3974579" progId="Visio.Drawing.15">
                  <p:embed/>
                </p:oleObj>
              </mc:Choice>
              <mc:Fallback>
                <p:oleObj r:id="rId3" imgW="8220501" imgH="3974579" progId="Visio.Drawing.15">
                  <p:embed/>
                  <p:pic>
                    <p:nvPicPr>
                      <p:cNvPr id="11" name="Object 10">
                        <a:extLst>
                          <a:ext uri="{FF2B5EF4-FFF2-40B4-BE49-F238E27FC236}">
                            <a16:creationId xmlns:a16="http://schemas.microsoft.com/office/drawing/2014/main" id="{F7A69ADF-2A2F-4FAF-AFF1-35A29454BB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2744" y="2690319"/>
                        <a:ext cx="5778512" cy="2785539"/>
                      </a:xfrm>
                      <a:prstGeom prst="rect">
                        <a:avLst/>
                      </a:prstGeom>
                      <a:noFill/>
                    </p:spPr>
                  </p:pic>
                </p:oleObj>
              </mc:Fallback>
            </mc:AlternateContent>
          </a:graphicData>
        </a:graphic>
      </p:graphicFrame>
      <p:sp>
        <p:nvSpPr>
          <p:cNvPr id="12" name="Rectangle 11">
            <a:extLst>
              <a:ext uri="{FF2B5EF4-FFF2-40B4-BE49-F238E27FC236}">
                <a16:creationId xmlns:a16="http://schemas.microsoft.com/office/drawing/2014/main" id="{1AAB06F8-DF28-41BC-98B5-DF63C7E9CB42}"/>
              </a:ext>
            </a:extLst>
          </p:cNvPr>
          <p:cNvSpPr/>
          <p:nvPr/>
        </p:nvSpPr>
        <p:spPr>
          <a:xfrm>
            <a:off x="975431" y="5650076"/>
            <a:ext cx="7557009" cy="923330"/>
          </a:xfrm>
          <a:prstGeom prst="rect">
            <a:avLst/>
          </a:prstGeom>
        </p:spPr>
        <p:txBody>
          <a:bodyPr wrap="square">
            <a:spAutoFit/>
          </a:bodyPr>
          <a:lstStyle/>
          <a:p>
            <a:r>
              <a:rPr lang="en-GB" b="1">
                <a:latin typeface="+mn-lt"/>
                <a:cs typeface="+mn-cs"/>
              </a:rPr>
              <a:t>Il est possible d'installer un relais temporisé conventionnel en parallèle à l'alimentation électrique du KNX pour établir une panne de tension</a:t>
            </a:r>
            <a:endParaRPr lang="es-ES" b="1" dirty="0">
              <a:latin typeface="+mn-lt"/>
              <a:cs typeface="+mn-cs"/>
            </a:endParaRPr>
          </a:p>
        </p:txBody>
      </p:sp>
      <p:sp>
        <p:nvSpPr>
          <p:cNvPr id="13" name="Rectangle 12">
            <a:extLst>
              <a:ext uri="{FF2B5EF4-FFF2-40B4-BE49-F238E27FC236}">
                <a16:creationId xmlns:a16="http://schemas.microsoft.com/office/drawing/2014/main" id="{E798145E-4AC6-46E6-B1C1-15E13C26B932}"/>
              </a:ext>
            </a:extLst>
          </p:cNvPr>
          <p:cNvSpPr/>
          <p:nvPr/>
        </p:nvSpPr>
        <p:spPr>
          <a:xfrm>
            <a:off x="975431" y="1844824"/>
            <a:ext cx="7485001" cy="707886"/>
          </a:xfrm>
          <a:prstGeom prst="rect">
            <a:avLst/>
          </a:prstGeom>
        </p:spPr>
        <p:txBody>
          <a:bodyPr wrap="square">
            <a:spAutoFit/>
          </a:bodyPr>
          <a:lstStyle/>
          <a:p>
            <a:r>
              <a:rPr lang="en-GB" sz="2000" b="1">
                <a:latin typeface="+mn-lt"/>
                <a:cs typeface="+mn-cs"/>
              </a:rPr>
              <a:t>Les actionneurs de commutation conservent leur état après le retour de la tension du bus ou désactivent les sorties</a:t>
            </a:r>
            <a:endParaRPr lang="es-ES" sz="2000" b="1" dirty="0">
              <a:latin typeface="+mn-lt"/>
              <a:cs typeface="+mn-cs"/>
            </a:endParaRPr>
          </a:p>
        </p:txBody>
      </p:sp>
      <p:sp>
        <p:nvSpPr>
          <p:cNvPr id="14" name="Rectangle 13">
            <a:extLst>
              <a:ext uri="{FF2B5EF4-FFF2-40B4-BE49-F238E27FC236}">
                <a16:creationId xmlns:a16="http://schemas.microsoft.com/office/drawing/2014/main" id="{BE389A85-271F-4B91-BD5A-391EB47A773B}"/>
              </a:ext>
            </a:extLst>
          </p:cNvPr>
          <p:cNvSpPr/>
          <p:nvPr/>
        </p:nvSpPr>
        <p:spPr>
          <a:xfrm>
            <a:off x="975431" y="1382142"/>
            <a:ext cx="7784620" cy="400110"/>
          </a:xfrm>
          <a:prstGeom prst="rect">
            <a:avLst/>
          </a:prstGeom>
        </p:spPr>
        <p:txBody>
          <a:bodyPr wrap="square">
            <a:spAutoFit/>
          </a:bodyPr>
          <a:lstStyle/>
          <a:p>
            <a:r>
              <a:rPr lang="en-GB" sz="2000" b="1">
                <a:latin typeface="+mn-lt"/>
                <a:cs typeface="+mn-cs"/>
              </a:rPr>
              <a:t>Le comportement de démarrage doit être vérifié</a:t>
            </a:r>
            <a:endParaRPr lang="es-ES" sz="2000" b="1" dirty="0">
              <a:latin typeface="+mn-lt"/>
              <a:cs typeface="+mn-cs"/>
            </a:endParaRPr>
          </a:p>
        </p:txBody>
      </p:sp>
    </p:spTree>
    <p:extLst>
      <p:ext uri="{BB962C8B-B14F-4D97-AF65-F5344CB8AC3E}">
        <p14:creationId xmlns:p14="http://schemas.microsoft.com/office/powerpoint/2010/main" val="2544398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Déclenchement en réponse à un télégramme</a:t>
            </a:r>
          </a:p>
        </p:txBody>
      </p:sp>
      <p:graphicFrame>
        <p:nvGraphicFramePr>
          <p:cNvPr id="5" name="Object 4">
            <a:extLst>
              <a:ext uri="{FF2B5EF4-FFF2-40B4-BE49-F238E27FC236}">
                <a16:creationId xmlns:a16="http://schemas.microsoft.com/office/drawing/2014/main" id="{5375D5E8-F5CE-4AB3-B397-49EF69D3F8CB}"/>
              </a:ext>
            </a:extLst>
          </p:cNvPr>
          <p:cNvGraphicFramePr>
            <a:graphicFrameLocks noChangeAspect="1"/>
          </p:cNvGraphicFramePr>
          <p:nvPr/>
        </p:nvGraphicFramePr>
        <p:xfrm>
          <a:off x="341784" y="2229931"/>
          <a:ext cx="8460432" cy="2757581"/>
        </p:xfrm>
        <a:graphic>
          <a:graphicData uri="http://schemas.openxmlformats.org/presentationml/2006/ole">
            <mc:AlternateContent xmlns:mc="http://schemas.openxmlformats.org/markup-compatibility/2006">
              <mc:Choice xmlns:v="urn:schemas-microsoft-com:vml" Requires="v">
                <p:oleObj r:id="rId3" imgW="8455914" imgH="2761483" progId="Visio.Drawing.15">
                  <p:embed/>
                </p:oleObj>
              </mc:Choice>
              <mc:Fallback>
                <p:oleObj r:id="rId3" imgW="8455914" imgH="2761483" progId="Visio.Drawing.15">
                  <p:embed/>
                  <p:pic>
                    <p:nvPicPr>
                      <p:cNvPr id="5" name="Object 4">
                        <a:extLst>
                          <a:ext uri="{FF2B5EF4-FFF2-40B4-BE49-F238E27FC236}">
                            <a16:creationId xmlns:a16="http://schemas.microsoft.com/office/drawing/2014/main" id="{5375D5E8-F5CE-4AB3-B397-49EF69D3F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784" y="2229931"/>
                        <a:ext cx="8460432" cy="2757581"/>
                      </a:xfrm>
                      <a:prstGeom prst="rect">
                        <a:avLst/>
                      </a:prstGeom>
                      <a:noFill/>
                    </p:spPr>
                  </p:pic>
                </p:oleObj>
              </mc:Fallback>
            </mc:AlternateContent>
          </a:graphicData>
        </a:graphic>
      </p:graphicFrame>
    </p:spTree>
    <p:extLst>
      <p:ext uri="{BB962C8B-B14F-4D97-AF65-F5344CB8AC3E}">
        <p14:creationId xmlns:p14="http://schemas.microsoft.com/office/powerpoint/2010/main" val="366480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755836" y="693737"/>
            <a:ext cx="7632327" cy="719138"/>
          </a:xfrm>
        </p:spPr>
        <p:txBody>
          <a:bodyPr/>
          <a:lstStyle/>
          <a:p>
            <a:r>
              <a:rPr lang="en-US" dirty="0"/>
              <a:t>Étapes </a:t>
            </a:r>
            <a:r>
              <a:rPr lang="en-US" dirty="0" err="1"/>
              <a:t>vers</a:t>
            </a:r>
            <a:r>
              <a:rPr lang="en-US" dirty="0"/>
              <a:t> </a:t>
            </a:r>
            <a:r>
              <a:rPr lang="en-US" dirty="0" err="1"/>
              <a:t>une</a:t>
            </a:r>
            <a:r>
              <a:rPr lang="en-US" dirty="0"/>
              <a:t> installation KNX </a:t>
            </a:r>
            <a:r>
              <a:rPr lang="en-US" dirty="0" err="1"/>
              <a:t>infaillible</a:t>
            </a:r>
            <a:endParaRPr lang="en-GB" dirty="0"/>
          </a:p>
        </p:txBody>
      </p:sp>
      <p:sp>
        <p:nvSpPr>
          <p:cNvPr id="4" name="Content Placeholder 1">
            <a:extLst>
              <a:ext uri="{FF2B5EF4-FFF2-40B4-BE49-F238E27FC236}">
                <a16:creationId xmlns:a16="http://schemas.microsoft.com/office/drawing/2014/main" id="{84A0AFA7-2BF2-4494-A7AB-4A6284E7B084}"/>
              </a:ext>
            </a:extLst>
          </p:cNvPr>
          <p:cNvSpPr txBox="1">
            <a:spLocks/>
          </p:cNvSpPr>
          <p:nvPr/>
        </p:nvSpPr>
        <p:spPr>
          <a:xfrm>
            <a:off x="971600" y="1412875"/>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400" kern="0" dirty="0" err="1"/>
              <a:t>Principales</a:t>
            </a:r>
            <a:r>
              <a:rPr lang="en-US" sz="2400" kern="0" dirty="0"/>
              <a:t> </a:t>
            </a:r>
            <a:r>
              <a:rPr lang="en-US" sz="2400" kern="0" dirty="0" err="1"/>
              <a:t>mesures</a:t>
            </a:r>
            <a:r>
              <a:rPr lang="en-US" sz="2400" kern="0" dirty="0"/>
              <a:t> </a:t>
            </a:r>
            <a:r>
              <a:rPr lang="en-US" sz="2400" kern="0" dirty="0" err="1"/>
              <a:t>matérielles</a:t>
            </a:r>
            <a:r>
              <a:rPr lang="en-US" sz="2400" kern="0" dirty="0"/>
              <a:t> à adopter:</a:t>
            </a:r>
          </a:p>
          <a:p>
            <a:pPr algn="just" eaLnBrk="1" hangingPunct="1">
              <a:lnSpc>
                <a:spcPct val="150000"/>
              </a:lnSpc>
              <a:defRPr/>
            </a:pPr>
            <a:r>
              <a:rPr lang="en-US" sz="2000" kern="0" dirty="0" err="1">
                <a:solidFill>
                  <a:schemeClr val="bg1">
                    <a:lumMod val="10000"/>
                  </a:schemeClr>
                </a:solidFill>
                <a:cs typeface="Arial" panose="020B0604020202020204" pitchFamily="34" charset="0"/>
              </a:rPr>
              <a:t>Système</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Distribué</a:t>
            </a:r>
            <a:r>
              <a:rPr lang="en-US" sz="2000" kern="0" dirty="0">
                <a:solidFill>
                  <a:schemeClr val="bg1">
                    <a:lumMod val="10000"/>
                  </a:schemeClr>
                </a:solidFill>
                <a:cs typeface="Arial" panose="020B0604020202020204" pitchFamily="34" charset="0"/>
              </a:rPr>
              <a:t> avec </a:t>
            </a:r>
            <a:r>
              <a:rPr lang="en-US" sz="2000" kern="0" dirty="0" err="1">
                <a:solidFill>
                  <a:schemeClr val="bg1">
                    <a:lumMod val="10000"/>
                  </a:schemeClr>
                </a:solidFill>
                <a:cs typeface="Arial" panose="020B0604020202020204" pitchFamily="34" charset="0"/>
              </a:rPr>
              <a:t>Contrôleurs</a:t>
            </a:r>
            <a:endParaRPr lang="es-ES" sz="2000" kern="0" dirty="0">
              <a:solidFill>
                <a:schemeClr val="bg1">
                  <a:lumMod val="10000"/>
                </a:schemeClr>
              </a:solidFill>
              <a:cs typeface="Arial" panose="020B0604020202020204" pitchFamily="34" charset="0"/>
            </a:endParaRPr>
          </a:p>
          <a:p>
            <a:pPr>
              <a:lnSpc>
                <a:spcPct val="150000"/>
              </a:lnSpc>
              <a:defRPr/>
            </a:pPr>
            <a:r>
              <a:rPr lang="en-US" sz="2000" kern="0" dirty="0">
                <a:solidFill>
                  <a:schemeClr val="bg1">
                    <a:lumMod val="10000"/>
                  </a:schemeClr>
                </a:solidFill>
                <a:cs typeface="Arial" panose="020B0604020202020204" pitchFamily="34" charset="0"/>
              </a:rPr>
              <a:t>Modules </a:t>
            </a:r>
            <a:r>
              <a:rPr lang="en-US" sz="2000" kern="0" dirty="0" err="1">
                <a:solidFill>
                  <a:schemeClr val="bg1">
                    <a:lumMod val="10000"/>
                  </a:schemeClr>
                </a:solidFill>
                <a:cs typeface="Arial" panose="020B0604020202020204" pitchFamily="34" charset="0"/>
              </a:rPr>
              <a:t>logiques</a:t>
            </a:r>
            <a:r>
              <a:rPr lang="en-US" sz="2000" kern="0" dirty="0">
                <a:solidFill>
                  <a:schemeClr val="bg1">
                    <a:lumMod val="10000"/>
                  </a:schemeClr>
                </a:solidFill>
                <a:cs typeface="Arial" panose="020B0604020202020204" pitchFamily="34" charset="0"/>
              </a:rPr>
              <a:t> et </a:t>
            </a:r>
            <a:r>
              <a:rPr lang="en-US" sz="2000" kern="0" dirty="0" err="1">
                <a:solidFill>
                  <a:schemeClr val="bg1">
                    <a:lumMod val="10000"/>
                  </a:schemeClr>
                </a:solidFill>
                <a:cs typeface="Arial" panose="020B0604020202020204" pitchFamily="34" charset="0"/>
              </a:rPr>
              <a:t>visualisation</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en</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connexion</a:t>
            </a:r>
            <a:r>
              <a:rPr lang="en-US" sz="2000" kern="0" dirty="0">
                <a:solidFill>
                  <a:schemeClr val="bg1">
                    <a:lumMod val="10000"/>
                  </a:schemeClr>
                </a:solidFill>
                <a:cs typeface="Arial" panose="020B0604020202020204" pitchFamily="34" charset="0"/>
              </a:rPr>
              <a:t> avec </a:t>
            </a:r>
            <a:r>
              <a:rPr lang="en-US" sz="2000" kern="0" dirty="0" err="1">
                <a:solidFill>
                  <a:schemeClr val="bg1">
                    <a:lumMod val="10000"/>
                  </a:schemeClr>
                </a:solidFill>
                <a:cs typeface="Arial" panose="020B0604020202020204" pitchFamily="34" charset="0"/>
              </a:rPr>
              <a:t>Coupleurs</a:t>
            </a:r>
            <a:endParaRPr lang="es-ES" sz="2000" kern="0" dirty="0">
              <a:solidFill>
                <a:schemeClr val="bg1">
                  <a:lumMod val="10000"/>
                </a:schemeClr>
              </a:solidFill>
              <a:cs typeface="Arial" panose="020B0604020202020204" pitchFamily="34" charset="0"/>
            </a:endParaRPr>
          </a:p>
          <a:p>
            <a:pPr algn="just" eaLnBrk="1" hangingPunct="1">
              <a:lnSpc>
                <a:spcPct val="150000"/>
              </a:lnSpc>
              <a:defRPr/>
            </a:pPr>
            <a:r>
              <a:rPr lang="en-US" sz="2000" kern="0" dirty="0" err="1">
                <a:solidFill>
                  <a:schemeClr val="bg1">
                    <a:lumMod val="10000"/>
                  </a:schemeClr>
                </a:solidFill>
                <a:cs typeface="Arial" panose="020B0604020202020204" pitchFamily="34" charset="0"/>
              </a:rPr>
              <a:t>Actionneurs</a:t>
            </a:r>
            <a:r>
              <a:rPr lang="en-US" sz="2000" kern="0" dirty="0">
                <a:solidFill>
                  <a:schemeClr val="bg1">
                    <a:lumMod val="10000"/>
                  </a:schemeClr>
                </a:solidFill>
                <a:cs typeface="Arial" panose="020B0604020202020204" pitchFamily="34" charset="0"/>
              </a:rPr>
              <a:t> de Commutation </a:t>
            </a:r>
            <a:r>
              <a:rPr lang="en-US" sz="2000" kern="0" dirty="0" err="1">
                <a:solidFill>
                  <a:schemeClr val="bg1">
                    <a:lumMod val="10000"/>
                  </a:schemeClr>
                </a:solidFill>
                <a:cs typeface="Arial" panose="020B0604020202020204" pitchFamily="34" charset="0"/>
              </a:rPr>
              <a:t>Multicanaux</a:t>
            </a:r>
            <a:endParaRPr lang="en-US" sz="2000" kern="0" dirty="0">
              <a:solidFill>
                <a:schemeClr val="bg1">
                  <a:lumMod val="10000"/>
                </a:schemeClr>
              </a:solidFill>
              <a:cs typeface="Arial" panose="020B0604020202020204" pitchFamily="34" charset="0"/>
            </a:endParaRPr>
          </a:p>
          <a:p>
            <a:pPr algn="just" eaLnBrk="1" hangingPunct="1">
              <a:lnSpc>
                <a:spcPct val="150000"/>
              </a:lnSpc>
              <a:defRPr/>
            </a:pPr>
            <a:r>
              <a:rPr lang="en-US" sz="2000" kern="0" dirty="0" err="1">
                <a:solidFill>
                  <a:schemeClr val="bg1">
                    <a:lumMod val="10000"/>
                  </a:schemeClr>
                </a:solidFill>
                <a:cs typeface="Arial" panose="020B0604020202020204" pitchFamily="34" charset="0"/>
              </a:rPr>
              <a:t>Avantages</a:t>
            </a:r>
            <a:r>
              <a:rPr lang="en-US" sz="2000" kern="0" dirty="0">
                <a:solidFill>
                  <a:schemeClr val="bg1">
                    <a:lumMod val="10000"/>
                  </a:schemeClr>
                </a:solidFill>
                <a:cs typeface="Arial" panose="020B0604020202020204" pitchFamily="34" charset="0"/>
              </a:rPr>
              <a:t> des </a:t>
            </a:r>
            <a:r>
              <a:rPr lang="en-US" sz="2000" kern="0" dirty="0" err="1">
                <a:solidFill>
                  <a:schemeClr val="bg1">
                    <a:lumMod val="10000"/>
                  </a:schemeClr>
                </a:solidFill>
                <a:cs typeface="Arial" panose="020B0604020202020204" pitchFamily="34" charset="0"/>
              </a:rPr>
              <a:t>Coupleurs</a:t>
            </a:r>
            <a:r>
              <a:rPr lang="en-US" sz="2000" kern="0" dirty="0">
                <a:solidFill>
                  <a:schemeClr val="bg1">
                    <a:lumMod val="10000"/>
                  </a:schemeClr>
                </a:solidFill>
                <a:cs typeface="Arial" panose="020B0604020202020204" pitchFamily="34" charset="0"/>
              </a:rPr>
              <a:t> de </a:t>
            </a:r>
            <a:r>
              <a:rPr lang="en-US" sz="2000" kern="0" dirty="0" err="1">
                <a:solidFill>
                  <a:schemeClr val="bg1">
                    <a:lumMod val="10000"/>
                  </a:schemeClr>
                </a:solidFill>
                <a:cs typeface="Arial" panose="020B0604020202020204" pitchFamily="34" charset="0"/>
              </a:rPr>
              <a:t>Ligne</a:t>
            </a:r>
            <a:endParaRPr lang="es-ES" sz="2000" kern="0" dirty="0">
              <a:solidFill>
                <a:srgbClr val="0070C0"/>
              </a:solidFill>
              <a:ea typeface="ＭＳ Ｐゴシック" pitchFamily="-97" charset="-128"/>
              <a:cs typeface="Arial" pitchFamily="34" charset="0"/>
            </a:endParaRPr>
          </a:p>
          <a:p>
            <a:pPr algn="just" eaLnBrk="1" hangingPunct="1">
              <a:lnSpc>
                <a:spcPct val="150000"/>
              </a:lnSpc>
              <a:defRPr/>
            </a:pPr>
            <a:r>
              <a:rPr lang="en-US" sz="2000" kern="0" dirty="0">
                <a:solidFill>
                  <a:schemeClr val="bg1">
                    <a:lumMod val="10000"/>
                  </a:schemeClr>
                </a:solidFill>
                <a:cs typeface="Arial" panose="020B0604020202020204" pitchFamily="34" charset="0"/>
              </a:rPr>
              <a:t>La source de courant</a:t>
            </a:r>
          </a:p>
          <a:p>
            <a:pPr algn="just" eaLnBrk="1" hangingPunct="1">
              <a:lnSpc>
                <a:spcPct val="150000"/>
              </a:lnSpc>
              <a:defRPr/>
            </a:pPr>
            <a:r>
              <a:rPr lang="en-US" sz="2000" kern="0" dirty="0">
                <a:solidFill>
                  <a:schemeClr val="bg1">
                    <a:lumMod val="10000"/>
                  </a:schemeClr>
                </a:solidFill>
                <a:cs typeface="Arial" panose="020B0604020202020204" pitchFamily="34" charset="0"/>
              </a:rPr>
              <a:t>Alimentation </a:t>
            </a:r>
            <a:r>
              <a:rPr lang="en-US" sz="2000" kern="0" dirty="0" err="1">
                <a:solidFill>
                  <a:schemeClr val="bg1">
                    <a:lumMod val="10000"/>
                  </a:schemeClr>
                </a:solidFill>
                <a:cs typeface="Arial" panose="020B0604020202020204" pitchFamily="34" charset="0"/>
              </a:rPr>
              <a:t>en</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cas</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d'échec</a:t>
            </a:r>
            <a:r>
              <a:rPr lang="en-US" sz="2000" kern="0" dirty="0">
                <a:solidFill>
                  <a:schemeClr val="bg1">
                    <a:lumMod val="10000"/>
                  </a:schemeClr>
                </a:solidFill>
                <a:cs typeface="Arial" panose="020B0604020202020204" pitchFamily="34" charset="0"/>
              </a:rPr>
              <a:t> de panne </a:t>
            </a:r>
            <a:r>
              <a:rPr lang="en-US" sz="2000" kern="0" dirty="0" err="1">
                <a:solidFill>
                  <a:schemeClr val="bg1">
                    <a:lumMod val="10000"/>
                  </a:schemeClr>
                </a:solidFill>
                <a:cs typeface="Arial" panose="020B0604020202020204" pitchFamily="34" charset="0"/>
              </a:rPr>
              <a:t>électrique</a:t>
            </a:r>
            <a:endParaRPr lang="es-ES" sz="2000" kern="0" dirty="0">
              <a:solidFill>
                <a:srgbClr val="0070C0"/>
              </a:solidFill>
              <a:ea typeface="ＭＳ Ｐゴシック" pitchFamily="-97" charset="-128"/>
              <a:cs typeface="Arial" pitchFamily="34" charset="0"/>
            </a:endParaRPr>
          </a:p>
        </p:txBody>
      </p:sp>
    </p:spTree>
    <p:extLst>
      <p:ext uri="{BB962C8B-B14F-4D97-AF65-F5344CB8AC3E}">
        <p14:creationId xmlns:p14="http://schemas.microsoft.com/office/powerpoint/2010/main" val="215409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Système Distribué avec Contrôleurs</a:t>
            </a:r>
            <a:endParaRPr lang="en-GB" dirty="0"/>
          </a:p>
        </p:txBody>
      </p:sp>
      <p:graphicFrame>
        <p:nvGraphicFramePr>
          <p:cNvPr id="5" name="Object 4">
            <a:extLst>
              <a:ext uri="{FF2B5EF4-FFF2-40B4-BE49-F238E27FC236}">
                <a16:creationId xmlns:a16="http://schemas.microsoft.com/office/drawing/2014/main" id="{0CB9F0E4-C729-4EF7-8FB7-CA736C8295BF}"/>
              </a:ext>
            </a:extLst>
          </p:cNvPr>
          <p:cNvGraphicFramePr>
            <a:graphicFrameLocks noChangeAspect="1"/>
          </p:cNvGraphicFramePr>
          <p:nvPr/>
        </p:nvGraphicFramePr>
        <p:xfrm>
          <a:off x="1083146" y="1440741"/>
          <a:ext cx="6977707" cy="3888432"/>
        </p:xfrm>
        <a:graphic>
          <a:graphicData uri="http://schemas.openxmlformats.org/presentationml/2006/ole">
            <mc:AlternateContent xmlns:mc="http://schemas.openxmlformats.org/markup-compatibility/2006">
              <mc:Choice xmlns:v="urn:schemas-microsoft-com:vml" Requires="v">
                <p:oleObj r:id="rId3" imgW="8935850" imgH="4970231" progId="Visio.Drawing.15">
                  <p:embed/>
                </p:oleObj>
              </mc:Choice>
              <mc:Fallback>
                <p:oleObj r:id="rId3" imgW="8935850" imgH="4970231" progId="Visio.Drawing.15">
                  <p:embed/>
                  <p:pic>
                    <p:nvPicPr>
                      <p:cNvPr id="5" name="Object 4">
                        <a:extLst>
                          <a:ext uri="{FF2B5EF4-FFF2-40B4-BE49-F238E27FC236}">
                            <a16:creationId xmlns:a16="http://schemas.microsoft.com/office/drawing/2014/main" id="{0CB9F0E4-C729-4EF7-8FB7-CA736C8295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3146" y="1440741"/>
                        <a:ext cx="6977707" cy="3888432"/>
                      </a:xfrm>
                      <a:prstGeom prst="rect">
                        <a:avLst/>
                      </a:prstGeom>
                      <a:noFill/>
                    </p:spPr>
                  </p:pic>
                </p:oleObj>
              </mc:Fallback>
            </mc:AlternateContent>
          </a:graphicData>
        </a:graphic>
      </p:graphicFrame>
      <p:sp>
        <p:nvSpPr>
          <p:cNvPr id="6" name="Rectangle 5">
            <a:extLst>
              <a:ext uri="{FF2B5EF4-FFF2-40B4-BE49-F238E27FC236}">
                <a16:creationId xmlns:a16="http://schemas.microsoft.com/office/drawing/2014/main" id="{2BBD2223-51EF-4BA1-89D6-71E1BD8A94A2}"/>
              </a:ext>
            </a:extLst>
          </p:cNvPr>
          <p:cNvSpPr/>
          <p:nvPr/>
        </p:nvSpPr>
        <p:spPr>
          <a:xfrm>
            <a:off x="913680" y="5571450"/>
            <a:ext cx="7474743" cy="707886"/>
          </a:xfrm>
          <a:prstGeom prst="rect">
            <a:avLst/>
          </a:prstGeom>
        </p:spPr>
        <p:txBody>
          <a:bodyPr wrap="square">
            <a:spAutoFit/>
          </a:bodyPr>
          <a:lstStyle/>
          <a:p>
            <a:r>
              <a:rPr lang="en-US" sz="2000" b="1">
                <a:solidFill>
                  <a:srgbClr val="369226"/>
                </a:solidFill>
                <a:latin typeface="+mn-lt"/>
                <a:cs typeface="+mn-cs"/>
              </a:rPr>
              <a:t>Indépendance : </a:t>
            </a:r>
            <a:r>
              <a:rPr lang="en-US" sz="2000" b="1">
                <a:latin typeface="+mn-lt"/>
                <a:cs typeface="+mn-cs"/>
              </a:rPr>
              <a:t>Si un participant de bus échoue, tous les autres participants de bus fonctionnent sans aucune interférence</a:t>
            </a:r>
            <a:endParaRPr lang="es-ES" sz="2000" b="1" dirty="0">
              <a:latin typeface="+mn-lt"/>
              <a:cs typeface="+mn-cs"/>
            </a:endParaRPr>
          </a:p>
        </p:txBody>
      </p:sp>
    </p:spTree>
    <p:extLst>
      <p:ext uri="{BB962C8B-B14F-4D97-AF65-F5344CB8AC3E}">
        <p14:creationId xmlns:p14="http://schemas.microsoft.com/office/powerpoint/2010/main" val="4053494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6768231" cy="719138"/>
          </a:xfrm>
        </p:spPr>
        <p:txBody>
          <a:bodyPr/>
          <a:lstStyle/>
          <a:p>
            <a:r>
              <a:rPr lang="en-US"/>
              <a:t>Modules logiques et visualisation en relation avec les coupleurs </a:t>
            </a:r>
            <a:endParaRPr lang="en-GB" dirty="0"/>
          </a:p>
        </p:txBody>
      </p:sp>
      <p:sp>
        <p:nvSpPr>
          <p:cNvPr id="4" name="Content Placeholder 1">
            <a:extLst>
              <a:ext uri="{FF2B5EF4-FFF2-40B4-BE49-F238E27FC236}">
                <a16:creationId xmlns:a16="http://schemas.microsoft.com/office/drawing/2014/main" id="{20EDF36F-59FA-46D4-A78D-E0016F45F271}"/>
              </a:ext>
            </a:extLst>
          </p:cNvPr>
          <p:cNvSpPr txBox="1">
            <a:spLocks/>
          </p:cNvSpPr>
          <p:nvPr/>
        </p:nvSpPr>
        <p:spPr>
          <a:xfrm>
            <a:off x="755576" y="1340768"/>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a:t>Distribuer les contrôleurs </a:t>
            </a:r>
            <a:r>
              <a:rPr lang="en-US" sz="2000" kern="0">
                <a:solidFill>
                  <a:schemeClr val="tx1"/>
                </a:solidFill>
              </a:rPr>
              <a:t>c'est-à-dire pour positionner plusieurs modules. La tolérance de défaut est ainsi augmentée</a:t>
            </a:r>
          </a:p>
          <a:p>
            <a:endParaRPr lang="en-US" sz="2000" kern="0">
              <a:solidFill>
                <a:schemeClr val="bg1">
                  <a:lumMod val="10000"/>
                </a:schemeClr>
              </a:solidFill>
              <a:cs typeface="Arial" panose="020B0604020202020204" pitchFamily="34" charset="0"/>
            </a:endParaRPr>
          </a:p>
          <a:p>
            <a:r>
              <a:rPr lang="en-US" sz="2000" kern="0">
                <a:cs typeface="Arial" panose="020B0604020202020204" pitchFamily="34" charset="0"/>
              </a:rPr>
              <a:t>Les systèmes de visualisation </a:t>
            </a:r>
            <a:r>
              <a:rPr lang="en-US" sz="2000" kern="0">
                <a:solidFill>
                  <a:schemeClr val="bg1">
                    <a:lumMod val="10000"/>
                  </a:schemeClr>
                </a:solidFill>
                <a:cs typeface="Arial" panose="020B0604020202020204" pitchFamily="34" charset="0"/>
              </a:rPr>
              <a:t>peuvent prendre en charge les fonctions logiques et le pilotage de séquence dans de nombreux cas</a:t>
            </a:r>
          </a:p>
          <a:p>
            <a:endParaRPr lang="es-ES" sz="2000" kern="0">
              <a:solidFill>
                <a:schemeClr val="bg1">
                  <a:lumMod val="10000"/>
                </a:schemeClr>
              </a:solidFill>
              <a:cs typeface="Arial" panose="020B0604020202020204" pitchFamily="34" charset="0"/>
            </a:endParaRPr>
          </a:p>
          <a:p>
            <a:r>
              <a:rPr lang="es-ES" sz="2000" kern="0">
                <a:cs typeface="Arial" panose="020B0604020202020204" pitchFamily="34" charset="0"/>
              </a:rPr>
              <a:t>Réduire </a:t>
            </a:r>
            <a:r>
              <a:rPr lang="en-US" sz="2000" kern="0">
                <a:cs typeface="Arial" panose="020B0604020202020204" pitchFamily="34" charset="0"/>
              </a:rPr>
              <a:t>les dépendances avec les contrôleurs centraux </a:t>
            </a:r>
            <a:r>
              <a:rPr lang="es-ES" sz="2000" kern="0">
                <a:solidFill>
                  <a:schemeClr val="bg1">
                    <a:lumMod val="10000"/>
                  </a:schemeClr>
                </a:solidFill>
                <a:cs typeface="Arial" panose="020B0604020202020204" pitchFamily="34" charset="0"/>
              </a:rPr>
              <a:t>(PC)</a:t>
            </a:r>
          </a:p>
          <a:p>
            <a:endParaRPr lang="es-ES" sz="2000" kern="0">
              <a:solidFill>
                <a:schemeClr val="bg1">
                  <a:lumMod val="10000"/>
                </a:schemeClr>
              </a:solidFill>
              <a:cs typeface="Arial" panose="020B0604020202020204" pitchFamily="34" charset="0"/>
            </a:endParaRPr>
          </a:p>
          <a:p>
            <a:r>
              <a:rPr lang="en-US" sz="2000" kern="0">
                <a:solidFill>
                  <a:schemeClr val="bg1">
                    <a:lumMod val="10000"/>
                  </a:schemeClr>
                </a:solidFill>
                <a:cs typeface="Arial" panose="020B0604020202020204" pitchFamily="34" charset="0"/>
              </a:rPr>
              <a:t>Connectez le PC sur lequel la visualisation est installée à un </a:t>
            </a:r>
            <a:r>
              <a:rPr lang="en-US" sz="2000" kern="0">
                <a:cs typeface="Arial" panose="020B0604020202020204" pitchFamily="34" charset="0"/>
              </a:rPr>
              <a:t>UPS</a:t>
            </a:r>
          </a:p>
          <a:p>
            <a:endParaRPr lang="es-ES" sz="2000" kern="0">
              <a:solidFill>
                <a:srgbClr val="0070C0"/>
              </a:solidFill>
              <a:ea typeface="ＭＳ Ｐゴシック" pitchFamily="-97" charset="-128"/>
              <a:cs typeface="Arial" pitchFamily="34" charset="0"/>
            </a:endParaRPr>
          </a:p>
          <a:p>
            <a:r>
              <a:rPr lang="en-US" sz="2000" kern="0">
                <a:solidFill>
                  <a:schemeClr val="bg1">
                    <a:lumMod val="10000"/>
                  </a:schemeClr>
                </a:solidFill>
                <a:cs typeface="Arial" panose="020B0604020202020204" pitchFamily="34" charset="0"/>
              </a:rPr>
              <a:t>Une </a:t>
            </a:r>
            <a:r>
              <a:rPr lang="en-US" sz="2000" kern="0">
                <a:cs typeface="Arial" panose="020B0604020202020204" pitchFamily="34" charset="0"/>
              </a:rPr>
              <a:t>option de contrôle doit toujours être prévue </a:t>
            </a:r>
            <a:r>
              <a:rPr lang="en-US" sz="2000" kern="0">
                <a:solidFill>
                  <a:schemeClr val="bg1">
                    <a:lumMod val="10000"/>
                  </a:schemeClr>
                </a:solidFill>
                <a:cs typeface="Arial" panose="020B0604020202020204" pitchFamily="34" charset="0"/>
              </a:rPr>
              <a:t>à côté du PC pour assurer un fonctionnement d'urgence</a:t>
            </a:r>
            <a:endParaRPr lang="en-US" sz="2000" kern="0" dirty="0">
              <a:solidFill>
                <a:schemeClr val="tx1"/>
              </a:solidFill>
            </a:endParaRPr>
          </a:p>
        </p:txBody>
      </p:sp>
    </p:spTree>
    <p:extLst>
      <p:ext uri="{BB962C8B-B14F-4D97-AF65-F5344CB8AC3E}">
        <p14:creationId xmlns:p14="http://schemas.microsoft.com/office/powerpoint/2010/main" val="970336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899592" y="225961"/>
            <a:ext cx="6480175" cy="719138"/>
          </a:xfrm>
        </p:spPr>
        <p:txBody>
          <a:bodyPr/>
          <a:lstStyle/>
          <a:p>
            <a:r>
              <a:rPr lang="en-US" dirty="0" err="1"/>
              <a:t>Actionneurs</a:t>
            </a:r>
            <a:r>
              <a:rPr lang="en-US" dirty="0"/>
              <a:t> de Commutation </a:t>
            </a:r>
            <a:r>
              <a:rPr lang="en-US" dirty="0" err="1"/>
              <a:t>Multicanaux</a:t>
            </a:r>
            <a:endParaRPr lang="en-GB" dirty="0"/>
          </a:p>
        </p:txBody>
      </p:sp>
      <p:pic>
        <p:nvPicPr>
          <p:cNvPr id="4" name="Picture 3">
            <a:extLst>
              <a:ext uri="{FF2B5EF4-FFF2-40B4-BE49-F238E27FC236}">
                <a16:creationId xmlns:a16="http://schemas.microsoft.com/office/drawing/2014/main" id="{3B242B44-80F4-40A4-B1D5-2E88B9AC72F4}"/>
              </a:ext>
            </a:extLst>
          </p:cNvPr>
          <p:cNvPicPr>
            <a:picLocks noChangeAspect="1"/>
          </p:cNvPicPr>
          <p:nvPr/>
        </p:nvPicPr>
        <p:blipFill>
          <a:blip r:embed="rId3"/>
          <a:stretch>
            <a:fillRect/>
          </a:stretch>
        </p:blipFill>
        <p:spPr>
          <a:xfrm>
            <a:off x="1068937" y="1340767"/>
            <a:ext cx="6815431" cy="2410699"/>
          </a:xfrm>
          <a:prstGeom prst="rect">
            <a:avLst/>
          </a:prstGeom>
        </p:spPr>
      </p:pic>
      <p:pic>
        <p:nvPicPr>
          <p:cNvPr id="5" name="Picture 4">
            <a:extLst>
              <a:ext uri="{FF2B5EF4-FFF2-40B4-BE49-F238E27FC236}">
                <a16:creationId xmlns:a16="http://schemas.microsoft.com/office/drawing/2014/main" id="{6CD4AAC3-7C79-4F0D-AE9F-60F0D6C55B6D}"/>
              </a:ext>
            </a:extLst>
          </p:cNvPr>
          <p:cNvPicPr>
            <a:picLocks noChangeAspect="1"/>
          </p:cNvPicPr>
          <p:nvPr/>
        </p:nvPicPr>
        <p:blipFill>
          <a:blip r:embed="rId4"/>
          <a:stretch>
            <a:fillRect/>
          </a:stretch>
        </p:blipFill>
        <p:spPr>
          <a:xfrm>
            <a:off x="1098414" y="4000772"/>
            <a:ext cx="6947171" cy="2271698"/>
          </a:xfrm>
          <a:prstGeom prst="rect">
            <a:avLst/>
          </a:prstGeom>
        </p:spPr>
      </p:pic>
    </p:spTree>
    <p:extLst>
      <p:ext uri="{BB962C8B-B14F-4D97-AF65-F5344CB8AC3E}">
        <p14:creationId xmlns:p14="http://schemas.microsoft.com/office/powerpoint/2010/main" val="1067843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Avantages des Coupleurs de Ligne</a:t>
            </a:r>
            <a:endParaRPr lang="en-GB" dirty="0"/>
          </a:p>
        </p:txBody>
      </p:sp>
      <p:sp>
        <p:nvSpPr>
          <p:cNvPr id="4" name="Content Placeholder 1">
            <a:extLst>
              <a:ext uri="{FF2B5EF4-FFF2-40B4-BE49-F238E27FC236}">
                <a16:creationId xmlns:a16="http://schemas.microsoft.com/office/drawing/2014/main" id="{05205F49-CA22-4EDC-A305-8ABF98B3D65B}"/>
              </a:ext>
            </a:extLst>
          </p:cNvPr>
          <p:cNvSpPr txBox="1">
            <a:spLocks/>
          </p:cNvSpPr>
          <p:nvPr/>
        </p:nvSpPr>
        <p:spPr>
          <a:xfrm>
            <a:off x="899592" y="1196752"/>
            <a:ext cx="777686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kern="0" dirty="0" err="1">
                <a:solidFill>
                  <a:schemeClr val="tx1"/>
                </a:solidFill>
              </a:rPr>
              <a:t>Améliorer</a:t>
            </a:r>
            <a:r>
              <a:rPr lang="en-US" sz="1800" kern="0" dirty="0">
                <a:solidFill>
                  <a:schemeClr val="tx1"/>
                </a:solidFill>
              </a:rPr>
              <a:t> la structure et la </a:t>
            </a:r>
            <a:r>
              <a:rPr lang="en-US" sz="1800" kern="0" dirty="0" err="1">
                <a:solidFill>
                  <a:schemeClr val="tx1"/>
                </a:solidFill>
              </a:rPr>
              <a:t>tolérance</a:t>
            </a:r>
            <a:r>
              <a:rPr lang="en-US" sz="1800" kern="0" dirty="0">
                <a:solidFill>
                  <a:schemeClr val="tx1"/>
                </a:solidFill>
              </a:rPr>
              <a:t> aux </a:t>
            </a:r>
            <a:r>
              <a:rPr lang="en-US" sz="1800" kern="0" dirty="0" err="1">
                <a:solidFill>
                  <a:schemeClr val="tx1"/>
                </a:solidFill>
              </a:rPr>
              <a:t>défauts</a:t>
            </a:r>
            <a:r>
              <a:rPr lang="en-US" sz="1800" kern="0" dirty="0">
                <a:solidFill>
                  <a:schemeClr val="tx1"/>
                </a:solidFill>
              </a:rPr>
              <a:t> du </a:t>
            </a:r>
            <a:r>
              <a:rPr lang="en-US" sz="1800" kern="0" dirty="0" err="1">
                <a:solidFill>
                  <a:schemeClr val="tx1"/>
                </a:solidFill>
              </a:rPr>
              <a:t>système</a:t>
            </a:r>
            <a:endParaRPr lang="en-US" sz="1800" kern="0" dirty="0">
              <a:solidFill>
                <a:schemeClr val="tx1"/>
              </a:solidFill>
            </a:endParaRPr>
          </a:p>
          <a:p>
            <a:endParaRPr lang="en-US" sz="1800" kern="0" dirty="0">
              <a:solidFill>
                <a:schemeClr val="tx1"/>
              </a:solidFill>
            </a:endParaRPr>
          </a:p>
          <a:p>
            <a:r>
              <a:rPr lang="en-US" sz="1800" kern="0" dirty="0" err="1">
                <a:solidFill>
                  <a:schemeClr val="bg1">
                    <a:lumMod val="10000"/>
                  </a:schemeClr>
                </a:solidFill>
                <a:cs typeface="Arial" panose="020B0604020202020204" pitchFamily="34" charset="0"/>
              </a:rPr>
              <a:t>Réduire</a:t>
            </a:r>
            <a:r>
              <a:rPr lang="en-US" sz="1800" kern="0" dirty="0">
                <a:solidFill>
                  <a:schemeClr val="bg1">
                    <a:lumMod val="10000"/>
                  </a:schemeClr>
                </a:solidFill>
                <a:cs typeface="Arial" panose="020B0604020202020204" pitchFamily="34" charset="0"/>
              </a:rPr>
              <a:t> le </a:t>
            </a:r>
            <a:r>
              <a:rPr lang="en-US" sz="1800" kern="0" dirty="0" err="1">
                <a:solidFill>
                  <a:schemeClr val="bg1">
                    <a:lumMod val="10000"/>
                  </a:schemeClr>
                </a:solidFill>
                <a:cs typeface="Arial" panose="020B0604020202020204" pitchFamily="34" charset="0"/>
              </a:rPr>
              <a:t>nombre</a:t>
            </a:r>
            <a:r>
              <a:rPr lang="en-US" sz="1800" kern="0" dirty="0">
                <a:solidFill>
                  <a:schemeClr val="bg1">
                    <a:lumMod val="10000"/>
                  </a:schemeClr>
                </a:solidFill>
                <a:cs typeface="Arial" panose="020B0604020202020204" pitchFamily="34" charset="0"/>
              </a:rPr>
              <a:t> total de </a:t>
            </a:r>
            <a:r>
              <a:rPr lang="en-US" sz="1800" kern="0" dirty="0" err="1">
                <a:solidFill>
                  <a:schemeClr val="bg1">
                    <a:lumMod val="10000"/>
                  </a:schemeClr>
                </a:solidFill>
                <a:cs typeface="Arial" panose="020B0604020202020204" pitchFamily="34" charset="0"/>
              </a:rPr>
              <a:t>télégrammes</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éviter</a:t>
            </a:r>
            <a:r>
              <a:rPr lang="en-US" sz="1800" kern="0" dirty="0">
                <a:solidFill>
                  <a:schemeClr val="bg1">
                    <a:lumMod val="10000"/>
                  </a:schemeClr>
                </a:solidFill>
                <a:cs typeface="Arial" panose="020B0604020202020204" pitchFamily="34" charset="0"/>
              </a:rPr>
              <a:t> les </a:t>
            </a:r>
            <a:r>
              <a:rPr lang="en-US" sz="1800" kern="0" dirty="0" err="1">
                <a:solidFill>
                  <a:schemeClr val="bg1">
                    <a:lumMod val="10000"/>
                  </a:schemeClr>
                </a:solidFill>
                <a:cs typeface="Arial" panose="020B0604020202020204" pitchFamily="34" charset="0"/>
              </a:rPr>
              <a:t>répétitions</a:t>
            </a:r>
            <a:r>
              <a:rPr lang="en-US" sz="1800" kern="0" dirty="0">
                <a:solidFill>
                  <a:schemeClr val="bg1">
                    <a:lumMod val="10000"/>
                  </a:schemeClr>
                </a:solidFill>
                <a:cs typeface="Arial" panose="020B0604020202020204" pitchFamily="34" charset="0"/>
              </a:rPr>
              <a:t> et </a:t>
            </a:r>
            <a:r>
              <a:rPr lang="en-US" sz="1800" kern="0" dirty="0" err="1">
                <a:solidFill>
                  <a:schemeClr val="bg1">
                    <a:lumMod val="10000"/>
                  </a:schemeClr>
                </a:solidFill>
                <a:cs typeface="Arial" panose="020B0604020202020204" pitchFamily="34" charset="0"/>
              </a:rPr>
              <a:t>garantir</a:t>
            </a:r>
            <a:r>
              <a:rPr lang="en-US" sz="1800" kern="0" dirty="0">
                <a:solidFill>
                  <a:schemeClr val="bg1">
                    <a:lumMod val="10000"/>
                  </a:schemeClr>
                </a:solidFill>
                <a:cs typeface="Arial" panose="020B0604020202020204" pitchFamily="34" charset="0"/>
              </a:rPr>
              <a:t> le </a:t>
            </a:r>
            <a:r>
              <a:rPr lang="en-US" sz="1800" kern="0" dirty="0" err="1">
                <a:solidFill>
                  <a:schemeClr val="bg1">
                    <a:lumMod val="10000"/>
                  </a:schemeClr>
                </a:solidFill>
                <a:cs typeface="Arial" panose="020B0604020202020204" pitchFamily="34" charset="0"/>
              </a:rPr>
              <a:t>transfert</a:t>
            </a:r>
            <a:r>
              <a:rPr lang="en-US" sz="1800" kern="0" dirty="0">
                <a:solidFill>
                  <a:schemeClr val="bg1">
                    <a:lumMod val="10000"/>
                  </a:schemeClr>
                </a:solidFill>
                <a:cs typeface="Arial" panose="020B0604020202020204" pitchFamily="34" charset="0"/>
              </a:rPr>
              <a:t> le plus </a:t>
            </a:r>
            <a:r>
              <a:rPr lang="en-US" sz="1800" kern="0" dirty="0" err="1">
                <a:solidFill>
                  <a:schemeClr val="bg1">
                    <a:lumMod val="10000"/>
                  </a:schemeClr>
                </a:solidFill>
                <a:cs typeface="Arial" panose="020B0604020202020204" pitchFamily="34" charset="0"/>
              </a:rPr>
              <a:t>rapide</a:t>
            </a:r>
            <a:endParaRPr lang="en-US" sz="1800" kern="0" dirty="0">
              <a:solidFill>
                <a:schemeClr val="bg1">
                  <a:lumMod val="10000"/>
                </a:schemeClr>
              </a:solidFill>
              <a:cs typeface="Arial" panose="020B0604020202020204" pitchFamily="34" charset="0"/>
            </a:endParaRPr>
          </a:p>
          <a:p>
            <a:endParaRPr lang="en-US" sz="1800" kern="0" dirty="0">
              <a:solidFill>
                <a:schemeClr val="bg1">
                  <a:lumMod val="10000"/>
                </a:schemeClr>
              </a:solidFill>
              <a:cs typeface="Arial" panose="020B0604020202020204" pitchFamily="34" charset="0"/>
            </a:endParaRPr>
          </a:p>
          <a:p>
            <a:pPr algn="just" eaLnBrk="1" hangingPunct="1">
              <a:defRPr/>
            </a:pPr>
            <a:r>
              <a:rPr lang="en-US" sz="1800" kern="0" dirty="0">
                <a:solidFill>
                  <a:schemeClr val="bg1">
                    <a:lumMod val="10000"/>
                  </a:schemeClr>
                </a:solidFill>
                <a:cs typeface="Arial" panose="020B0604020202020204" pitchFamily="34" charset="0"/>
              </a:rPr>
              <a:t>La planification à </a:t>
            </a:r>
            <a:r>
              <a:rPr lang="en-US" sz="1800" kern="0" dirty="0" err="1">
                <a:solidFill>
                  <a:schemeClr val="bg1">
                    <a:lumMod val="10000"/>
                  </a:schemeClr>
                </a:solidFill>
                <a:cs typeface="Arial" panose="020B0604020202020204" pitchFamily="34" charset="0"/>
              </a:rPr>
              <a:t>sécurité</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intégrée</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est</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considérablement</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améliorée</a:t>
            </a:r>
            <a:r>
              <a:rPr lang="en-US" sz="1800" kern="0" dirty="0">
                <a:solidFill>
                  <a:schemeClr val="bg1">
                    <a:lumMod val="10000"/>
                  </a:schemeClr>
                </a:solidFill>
                <a:cs typeface="Arial" panose="020B0604020202020204" pitchFamily="34" charset="0"/>
              </a:rPr>
              <a:t> par </a:t>
            </a:r>
            <a:r>
              <a:rPr lang="en-US" sz="1800" kern="0" dirty="0" err="1">
                <a:solidFill>
                  <a:schemeClr val="bg1">
                    <a:lumMod val="10000"/>
                  </a:schemeClr>
                </a:solidFill>
                <a:cs typeface="Arial" panose="020B0604020202020204" pitchFamily="34" charset="0"/>
              </a:rPr>
              <a:t>l'isolation</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électrique</a:t>
            </a:r>
            <a:r>
              <a:rPr lang="en-US" sz="1800" kern="0" dirty="0">
                <a:solidFill>
                  <a:schemeClr val="bg1">
                    <a:lumMod val="10000"/>
                  </a:schemeClr>
                </a:solidFill>
                <a:cs typeface="Arial" panose="020B0604020202020204" pitchFamily="34" charset="0"/>
              </a:rPr>
              <a:t> des deux segments de </a:t>
            </a:r>
            <a:r>
              <a:rPr lang="en-US" sz="1800" kern="0" dirty="0" err="1">
                <a:solidFill>
                  <a:schemeClr val="bg1">
                    <a:lumMod val="10000"/>
                  </a:schemeClr>
                </a:solidFill>
                <a:cs typeface="Arial" panose="020B0604020202020204" pitchFamily="34" charset="0"/>
              </a:rPr>
              <a:t>ligne</a:t>
            </a:r>
            <a:r>
              <a:rPr lang="en-US" sz="1800" kern="0" dirty="0">
                <a:solidFill>
                  <a:schemeClr val="bg1">
                    <a:lumMod val="10000"/>
                  </a:schemeClr>
                </a:solidFill>
                <a:cs typeface="Arial" panose="020B0604020202020204" pitchFamily="34" charset="0"/>
              </a:rPr>
              <a:t> par un </a:t>
            </a:r>
            <a:r>
              <a:rPr lang="en-US" sz="1800" kern="0" dirty="0" err="1">
                <a:solidFill>
                  <a:schemeClr val="bg1">
                    <a:lumMod val="10000"/>
                  </a:schemeClr>
                </a:solidFill>
                <a:cs typeface="Arial" panose="020B0604020202020204" pitchFamily="34" charset="0"/>
              </a:rPr>
              <a:t>coupleur</a:t>
            </a:r>
            <a:r>
              <a:rPr lang="en-US" sz="1800" kern="0" dirty="0">
                <a:solidFill>
                  <a:schemeClr val="bg1">
                    <a:lumMod val="10000"/>
                  </a:schemeClr>
                </a:solidFill>
                <a:cs typeface="Arial" panose="020B0604020202020204" pitchFamily="34" charset="0"/>
              </a:rPr>
              <a:t> de </a:t>
            </a:r>
            <a:r>
              <a:rPr lang="en-US" sz="1800" kern="0" dirty="0" err="1">
                <a:solidFill>
                  <a:schemeClr val="bg1">
                    <a:lumMod val="10000"/>
                  </a:schemeClr>
                </a:solidFill>
                <a:cs typeface="Arial" panose="020B0604020202020204" pitchFamily="34" charset="0"/>
              </a:rPr>
              <a:t>ligne</a:t>
            </a:r>
            <a:endParaRPr lang="en-US" sz="1800" kern="0" dirty="0">
              <a:solidFill>
                <a:schemeClr val="bg1">
                  <a:lumMod val="10000"/>
                </a:schemeClr>
              </a:solidFill>
              <a:cs typeface="Arial" panose="020B0604020202020204" pitchFamily="34" charset="0"/>
            </a:endParaRPr>
          </a:p>
          <a:p>
            <a:pPr algn="just" eaLnBrk="1" hangingPunct="1">
              <a:defRPr/>
            </a:pPr>
            <a:endParaRPr lang="en-US" sz="1800" kern="0" dirty="0">
              <a:solidFill>
                <a:schemeClr val="bg1">
                  <a:lumMod val="10000"/>
                </a:schemeClr>
              </a:solidFill>
              <a:cs typeface="Arial" panose="020B0604020202020204" pitchFamily="34" charset="0"/>
            </a:endParaRPr>
          </a:p>
          <a:p>
            <a:pPr algn="just" eaLnBrk="1" hangingPunct="1">
              <a:defRPr/>
            </a:pPr>
            <a:r>
              <a:rPr lang="en-US" sz="1800" kern="0" dirty="0" err="1">
                <a:solidFill>
                  <a:schemeClr val="bg1">
                    <a:lumMod val="10000"/>
                  </a:schemeClr>
                </a:solidFill>
                <a:cs typeface="Arial" panose="020B0604020202020204" pitchFamily="34" charset="0"/>
              </a:rPr>
              <a:t>Évitez</a:t>
            </a:r>
            <a:r>
              <a:rPr lang="en-US" sz="1800" kern="0" dirty="0">
                <a:solidFill>
                  <a:schemeClr val="bg1">
                    <a:lumMod val="10000"/>
                  </a:schemeClr>
                </a:solidFill>
                <a:cs typeface="Arial" panose="020B0604020202020204" pitchFamily="34" charset="0"/>
              </a:rPr>
              <a:t> la construction de </a:t>
            </a:r>
            <a:r>
              <a:rPr lang="en-US" sz="1800" kern="0" dirty="0" err="1">
                <a:solidFill>
                  <a:schemeClr val="bg1">
                    <a:lumMod val="10000"/>
                  </a:schemeClr>
                </a:solidFill>
                <a:cs typeface="Arial" panose="020B0604020202020204" pitchFamily="34" charset="0"/>
              </a:rPr>
              <a:t>télégrammes</a:t>
            </a:r>
            <a:r>
              <a:rPr lang="en-US" sz="1800" kern="0" dirty="0">
                <a:solidFill>
                  <a:schemeClr val="bg1">
                    <a:lumMod val="10000"/>
                  </a:schemeClr>
                </a:solidFill>
                <a:cs typeface="Arial" panose="020B0604020202020204" pitchFamily="34" charset="0"/>
              </a:rPr>
              <a:t> via des </a:t>
            </a:r>
            <a:r>
              <a:rPr lang="en-US" sz="1800" kern="0" dirty="0" err="1">
                <a:solidFill>
                  <a:schemeClr val="bg1">
                    <a:lumMod val="10000"/>
                  </a:schemeClr>
                </a:solidFill>
                <a:cs typeface="Arial" panose="020B0604020202020204" pitchFamily="34" charset="0"/>
              </a:rPr>
              <a:t>contrôleurs</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ou</a:t>
            </a:r>
            <a:r>
              <a:rPr lang="en-US" sz="1800" kern="0" dirty="0">
                <a:solidFill>
                  <a:schemeClr val="bg1">
                    <a:lumMod val="10000"/>
                  </a:schemeClr>
                </a:solidFill>
                <a:cs typeface="Arial" panose="020B0604020202020204" pitchFamily="34" charset="0"/>
              </a:rPr>
              <a:t> </a:t>
            </a:r>
            <a:r>
              <a:rPr lang="en-US" sz="1800" kern="0" dirty="0" err="1">
                <a:solidFill>
                  <a:schemeClr val="bg1">
                    <a:lumMod val="10000"/>
                  </a:schemeClr>
                </a:solidFill>
                <a:cs typeface="Arial" panose="020B0604020202020204" pitchFamily="34" charset="0"/>
              </a:rPr>
              <a:t>répétez</a:t>
            </a:r>
            <a:r>
              <a:rPr lang="en-US" sz="1800" kern="0" dirty="0">
                <a:solidFill>
                  <a:schemeClr val="bg1">
                    <a:lumMod val="10000"/>
                  </a:schemeClr>
                </a:solidFill>
                <a:cs typeface="Arial" panose="020B0604020202020204" pitchFamily="34" charset="0"/>
              </a:rPr>
              <a:t> des </a:t>
            </a:r>
            <a:r>
              <a:rPr lang="en-US" sz="1800" kern="0" dirty="0" err="1">
                <a:solidFill>
                  <a:schemeClr val="bg1">
                    <a:lumMod val="10000"/>
                  </a:schemeClr>
                </a:solidFill>
                <a:cs typeface="Arial" panose="020B0604020202020204" pitchFamily="34" charset="0"/>
              </a:rPr>
              <a:t>télégrammes</a:t>
            </a:r>
            <a:endParaRPr lang="es-ES" sz="1800" kern="0" dirty="0">
              <a:solidFill>
                <a:srgbClr val="0070C0"/>
              </a:solidFill>
              <a:ea typeface="ＭＳ Ｐゴシック" pitchFamily="-97" charset="-128"/>
              <a:cs typeface="Arial" pitchFamily="34" charset="0"/>
            </a:endParaRPr>
          </a:p>
          <a:p>
            <a:pPr algn="just" eaLnBrk="1" hangingPunct="1">
              <a:defRPr/>
            </a:pPr>
            <a:endParaRPr lang="es-ES_tradnl" sz="1800" kern="0" dirty="0">
              <a:solidFill>
                <a:schemeClr val="bg2">
                  <a:lumMod val="25000"/>
                </a:schemeClr>
              </a:solidFill>
              <a:ea typeface="ＭＳ Ｐゴシック" pitchFamily="-97" charset="-128"/>
              <a:cs typeface="Arial" pitchFamily="34" charset="0"/>
            </a:endParaRPr>
          </a:p>
          <a:p>
            <a:pPr marL="0" indent="0" algn="just" eaLnBrk="1" hangingPunct="1">
              <a:buFont typeface="Wingdings" pitchFamily="2" charset="2"/>
              <a:buNone/>
              <a:defRPr/>
            </a:pPr>
            <a:r>
              <a:rPr lang="en-US" sz="1800" kern="0" dirty="0" err="1"/>
              <a:t>Rappelez-vous</a:t>
            </a:r>
            <a:r>
              <a:rPr lang="en-US" sz="1800" kern="0" dirty="0"/>
              <a:t> que :</a:t>
            </a:r>
          </a:p>
          <a:p>
            <a:pPr algn="just" eaLnBrk="1" hangingPunct="1">
              <a:defRPr/>
            </a:pPr>
            <a:r>
              <a:rPr lang="en-US" sz="1800" kern="0" dirty="0">
                <a:solidFill>
                  <a:schemeClr val="bg2">
                    <a:lumMod val="10000"/>
                  </a:schemeClr>
                </a:solidFill>
                <a:ea typeface="ＭＳ Ｐゴシック" pitchFamily="-97" charset="-128"/>
              </a:rPr>
              <a:t>Les tables de </a:t>
            </a:r>
            <a:r>
              <a:rPr lang="en-US" sz="1800" kern="0" dirty="0" err="1">
                <a:solidFill>
                  <a:schemeClr val="bg2">
                    <a:lumMod val="10000"/>
                  </a:schemeClr>
                </a:solidFill>
                <a:ea typeface="ＭＳ Ｐゴシック" pitchFamily="-97" charset="-128"/>
              </a:rPr>
              <a:t>filtrage</a:t>
            </a:r>
            <a:r>
              <a:rPr lang="en-US" sz="1800" kern="0" dirty="0">
                <a:solidFill>
                  <a:schemeClr val="bg2">
                    <a:lumMod val="10000"/>
                  </a:schemeClr>
                </a:solidFill>
                <a:ea typeface="ＭＳ Ｐゴシック" pitchFamily="-97" charset="-128"/>
              </a:rPr>
              <a:t> </a:t>
            </a:r>
            <a:r>
              <a:rPr lang="en-US" sz="1800" kern="0" dirty="0" err="1">
                <a:solidFill>
                  <a:schemeClr val="bg2">
                    <a:lumMod val="10000"/>
                  </a:schemeClr>
                </a:solidFill>
                <a:ea typeface="ＭＳ Ｐゴシック" pitchFamily="-97" charset="-128"/>
              </a:rPr>
              <a:t>doivent</a:t>
            </a:r>
            <a:r>
              <a:rPr lang="en-US" sz="1800" kern="0" dirty="0">
                <a:solidFill>
                  <a:schemeClr val="bg2">
                    <a:lumMod val="10000"/>
                  </a:schemeClr>
                </a:solidFill>
                <a:ea typeface="ＭＳ Ｐゴシック" pitchFamily="-97" charset="-128"/>
              </a:rPr>
              <a:t> </a:t>
            </a:r>
            <a:r>
              <a:rPr lang="en-US" sz="1800" kern="0" dirty="0" err="1">
                <a:solidFill>
                  <a:schemeClr val="bg2">
                    <a:lumMod val="10000"/>
                  </a:schemeClr>
                </a:solidFill>
                <a:ea typeface="ＭＳ Ｐゴシック" pitchFamily="-97" charset="-128"/>
              </a:rPr>
              <a:t>être</a:t>
            </a:r>
            <a:r>
              <a:rPr lang="en-US" sz="1800" kern="0" dirty="0">
                <a:solidFill>
                  <a:schemeClr val="bg2">
                    <a:lumMod val="10000"/>
                  </a:schemeClr>
                </a:solidFill>
                <a:ea typeface="ＭＳ Ｐゴシック" pitchFamily="-97" charset="-128"/>
              </a:rPr>
              <a:t> </a:t>
            </a:r>
            <a:r>
              <a:rPr lang="en-US" sz="1800" kern="0" dirty="0" err="1">
                <a:solidFill>
                  <a:schemeClr val="bg2">
                    <a:lumMod val="10000"/>
                  </a:schemeClr>
                </a:solidFill>
                <a:ea typeface="ＭＳ Ｐゴシック" pitchFamily="-97" charset="-128"/>
              </a:rPr>
              <a:t>chargées</a:t>
            </a:r>
            <a:r>
              <a:rPr lang="en-US" sz="1800" kern="0" dirty="0">
                <a:solidFill>
                  <a:schemeClr val="bg2">
                    <a:lumMod val="10000"/>
                  </a:schemeClr>
                </a:solidFill>
                <a:ea typeface="ＭＳ Ｐゴシック" pitchFamily="-97" charset="-128"/>
              </a:rPr>
              <a:t> </a:t>
            </a:r>
            <a:r>
              <a:rPr lang="en-US" sz="1800" kern="0" dirty="0" err="1">
                <a:solidFill>
                  <a:schemeClr val="bg2">
                    <a:lumMod val="10000"/>
                  </a:schemeClr>
                </a:solidFill>
                <a:ea typeface="ＭＳ Ｐゴシック" pitchFamily="-97" charset="-128"/>
              </a:rPr>
              <a:t>correctement</a:t>
            </a:r>
            <a:r>
              <a:rPr lang="en-US" sz="1800" kern="0" dirty="0">
                <a:solidFill>
                  <a:schemeClr val="bg2">
                    <a:lumMod val="10000"/>
                  </a:schemeClr>
                </a:solidFill>
                <a:ea typeface="ＭＳ Ｐゴシック" pitchFamily="-97" charset="-128"/>
              </a:rPr>
              <a:t> dans les </a:t>
            </a:r>
            <a:r>
              <a:rPr lang="en-US" sz="1800" kern="0" dirty="0" err="1">
                <a:solidFill>
                  <a:schemeClr val="bg2">
                    <a:lumMod val="10000"/>
                  </a:schemeClr>
                </a:solidFill>
                <a:ea typeface="ＭＳ Ｐゴシック" pitchFamily="-97" charset="-128"/>
              </a:rPr>
              <a:t>coupleurs</a:t>
            </a:r>
            <a:r>
              <a:rPr lang="en-US" sz="1800" kern="0" dirty="0">
                <a:solidFill>
                  <a:schemeClr val="bg2">
                    <a:lumMod val="10000"/>
                  </a:schemeClr>
                </a:solidFill>
                <a:ea typeface="ＭＳ Ｐゴシック" pitchFamily="-97" charset="-128"/>
              </a:rPr>
              <a:t> et </a:t>
            </a:r>
            <a:r>
              <a:rPr lang="en-US" sz="1800" kern="0" dirty="0" err="1">
                <a:solidFill>
                  <a:schemeClr val="bg2">
                    <a:lumMod val="10000"/>
                  </a:schemeClr>
                </a:solidFill>
                <a:ea typeface="ＭＳ Ｐゴシック" pitchFamily="-97" charset="-128"/>
              </a:rPr>
              <a:t>configurées</a:t>
            </a:r>
            <a:endParaRPr lang="en-US" sz="1800" kern="0" dirty="0"/>
          </a:p>
        </p:txBody>
      </p:sp>
    </p:spTree>
    <p:extLst>
      <p:ext uri="{BB962C8B-B14F-4D97-AF65-F5344CB8AC3E}">
        <p14:creationId xmlns:p14="http://schemas.microsoft.com/office/powerpoint/2010/main" val="3241502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24215" cy="719138"/>
          </a:xfrm>
        </p:spPr>
        <p:txBody>
          <a:bodyPr/>
          <a:lstStyle/>
          <a:p>
            <a:r>
              <a:rPr lang="en-US"/>
              <a:t>Alimentation Électrique de Secours en cas de Panne de Tension</a:t>
            </a:r>
            <a:endParaRPr lang="en-GB" dirty="0"/>
          </a:p>
        </p:txBody>
      </p:sp>
      <p:sp>
        <p:nvSpPr>
          <p:cNvPr id="4" name="Content Placeholder 1">
            <a:extLst>
              <a:ext uri="{FF2B5EF4-FFF2-40B4-BE49-F238E27FC236}">
                <a16:creationId xmlns:a16="http://schemas.microsoft.com/office/drawing/2014/main" id="{0C5E9D30-A1B7-4FA9-B8E9-5831E617F9C3}"/>
              </a:ext>
            </a:extLst>
          </p:cNvPr>
          <p:cNvSpPr txBox="1">
            <a:spLocks/>
          </p:cNvSpPr>
          <p:nvPr/>
        </p:nvSpPr>
        <p:spPr>
          <a:xfrm>
            <a:off x="971600" y="1485478"/>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Font typeface="Wingdings" pitchFamily="2" charset="2"/>
              <a:buNone/>
            </a:pPr>
            <a:r>
              <a:rPr lang="en-US" sz="2000" kern="0" dirty="0"/>
              <a:t>Deux </a:t>
            </a:r>
            <a:r>
              <a:rPr lang="en-US" sz="2000" kern="0" dirty="0" err="1"/>
              <a:t>possibilités</a:t>
            </a:r>
            <a:r>
              <a:rPr lang="en-US" sz="2000" kern="0" dirty="0"/>
              <a:t> de </a:t>
            </a:r>
            <a:r>
              <a:rPr lang="en-GB" sz="2000" kern="0" dirty="0" err="1"/>
              <a:t>garantir</a:t>
            </a:r>
            <a:r>
              <a:rPr lang="en-GB" sz="2000" kern="0" dirty="0"/>
              <a:t> le </a:t>
            </a:r>
            <a:r>
              <a:rPr lang="en-GB" sz="2000" kern="0" dirty="0" err="1"/>
              <a:t>fonctionnement</a:t>
            </a:r>
            <a:r>
              <a:rPr lang="en-GB" sz="2000" kern="0" dirty="0"/>
              <a:t> </a:t>
            </a:r>
            <a:r>
              <a:rPr lang="en-GB" sz="2000" kern="0" dirty="0" err="1"/>
              <a:t>d'une</a:t>
            </a:r>
            <a:r>
              <a:rPr lang="en-GB" sz="2000" kern="0" dirty="0"/>
              <a:t> </a:t>
            </a:r>
            <a:r>
              <a:rPr lang="en-GB" sz="2000" kern="0" dirty="0" err="1"/>
              <a:t>ligne</a:t>
            </a:r>
            <a:r>
              <a:rPr lang="en-GB" sz="2000" kern="0" dirty="0"/>
              <a:t> pour </a:t>
            </a:r>
            <a:r>
              <a:rPr lang="en-GB" sz="2000" kern="0" dirty="0" err="1"/>
              <a:t>une</a:t>
            </a:r>
            <a:r>
              <a:rPr lang="en-GB" sz="2000" kern="0" dirty="0"/>
              <a:t> </a:t>
            </a:r>
            <a:r>
              <a:rPr lang="en-GB" sz="2000" kern="0" dirty="0" err="1"/>
              <a:t>certaine</a:t>
            </a:r>
            <a:r>
              <a:rPr lang="en-GB" sz="2000" kern="0" dirty="0"/>
              <a:t> </a:t>
            </a:r>
            <a:r>
              <a:rPr lang="en-GB" sz="2000" kern="0" dirty="0" err="1"/>
              <a:t>période</a:t>
            </a:r>
            <a:r>
              <a:rPr lang="en-GB" sz="2000" kern="0" dirty="0"/>
              <a:t> sans alimentation 230V</a:t>
            </a:r>
            <a:r>
              <a:rPr lang="en-US" sz="2000" kern="0" dirty="0"/>
              <a:t>:</a:t>
            </a:r>
          </a:p>
          <a:p>
            <a:pPr algn="just" eaLnBrk="1" hangingPunct="1">
              <a:defRPr/>
            </a:pPr>
            <a:r>
              <a:rPr lang="en-US" sz="2000" kern="0" dirty="0" err="1">
                <a:solidFill>
                  <a:schemeClr val="bg1">
                    <a:lumMod val="10000"/>
                  </a:schemeClr>
                </a:solidFill>
                <a:cs typeface="Arial" panose="020B0604020202020204" pitchFamily="34" charset="0"/>
              </a:rPr>
              <a:t>Utilisation</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d'alimentations</a:t>
            </a:r>
            <a:r>
              <a:rPr lang="en-US" sz="2000" kern="0" dirty="0">
                <a:solidFill>
                  <a:schemeClr val="bg1">
                    <a:lumMod val="10000"/>
                  </a:schemeClr>
                </a:solidFill>
                <a:cs typeface="Arial" panose="020B0604020202020204" pitchFamily="34" charset="0"/>
              </a:rPr>
              <a:t> avec </a:t>
            </a:r>
            <a:r>
              <a:rPr lang="en-US" sz="2000" kern="0" dirty="0" err="1">
                <a:solidFill>
                  <a:schemeClr val="bg1">
                    <a:lumMod val="10000"/>
                  </a:schemeClr>
                </a:solidFill>
                <a:cs typeface="Arial" panose="020B0604020202020204" pitchFamily="34" charset="0"/>
              </a:rPr>
              <a:t>connexion</a:t>
            </a:r>
            <a:r>
              <a:rPr lang="en-US" sz="2000" kern="0" dirty="0">
                <a:solidFill>
                  <a:schemeClr val="bg1">
                    <a:lumMod val="10000"/>
                  </a:schemeClr>
                </a:solidFill>
                <a:cs typeface="Arial" panose="020B0604020202020204" pitchFamily="34" charset="0"/>
              </a:rPr>
              <a:t> par batterie</a:t>
            </a:r>
          </a:p>
          <a:p>
            <a:pPr algn="just" eaLnBrk="1" hangingPunct="1">
              <a:defRPr/>
            </a:pPr>
            <a:r>
              <a:rPr lang="en-US" sz="2000" kern="0" dirty="0" err="1">
                <a:solidFill>
                  <a:schemeClr val="bg1">
                    <a:lumMod val="10000"/>
                  </a:schemeClr>
                </a:solidFill>
                <a:cs typeface="Arial" panose="020B0604020202020204" pitchFamily="34" charset="0"/>
              </a:rPr>
              <a:t>L'alimentation</a:t>
            </a:r>
            <a:r>
              <a:rPr lang="en-US" sz="2000" kern="0" dirty="0">
                <a:solidFill>
                  <a:schemeClr val="bg1">
                    <a:lumMod val="10000"/>
                  </a:schemeClr>
                </a:solidFill>
                <a:cs typeface="Arial" panose="020B0604020202020204" pitchFamily="34" charset="0"/>
              </a:rPr>
              <a:t> KNX </a:t>
            </a:r>
            <a:r>
              <a:rPr lang="en-US" sz="2000" kern="0" dirty="0" err="1">
                <a:solidFill>
                  <a:schemeClr val="bg1">
                    <a:lumMod val="10000"/>
                  </a:schemeClr>
                </a:solidFill>
                <a:cs typeface="Arial" panose="020B0604020202020204" pitchFamily="34" charset="0"/>
              </a:rPr>
              <a:t>peut</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être</a:t>
            </a:r>
            <a:r>
              <a:rPr lang="en-US" sz="2000" kern="0" dirty="0">
                <a:solidFill>
                  <a:schemeClr val="bg1">
                    <a:lumMod val="10000"/>
                  </a:schemeClr>
                </a:solidFill>
                <a:cs typeface="Arial" panose="020B0604020202020204" pitchFamily="34" charset="0"/>
              </a:rPr>
              <a:t> </a:t>
            </a:r>
            <a:r>
              <a:rPr lang="en-US" sz="2000" kern="0" dirty="0" err="1">
                <a:solidFill>
                  <a:schemeClr val="bg1">
                    <a:lumMod val="10000"/>
                  </a:schemeClr>
                </a:solidFill>
                <a:cs typeface="Arial" panose="020B0604020202020204" pitchFamily="34" charset="0"/>
              </a:rPr>
              <a:t>maintenue</a:t>
            </a:r>
            <a:r>
              <a:rPr lang="en-US" sz="2000" kern="0" dirty="0">
                <a:solidFill>
                  <a:schemeClr val="bg1">
                    <a:lumMod val="10000"/>
                  </a:schemeClr>
                </a:solidFill>
                <a:cs typeface="Arial" panose="020B0604020202020204" pitchFamily="34" charset="0"/>
              </a:rPr>
              <a:t>, par </a:t>
            </a:r>
            <a:r>
              <a:rPr lang="en-US" sz="2000" kern="0" dirty="0" err="1">
                <a:solidFill>
                  <a:schemeClr val="bg1">
                    <a:lumMod val="10000"/>
                  </a:schemeClr>
                </a:solidFill>
                <a:cs typeface="Arial" panose="020B0604020202020204" pitchFamily="34" charset="0"/>
              </a:rPr>
              <a:t>exemple</a:t>
            </a:r>
            <a:r>
              <a:rPr lang="en-US" sz="2000" kern="0" dirty="0">
                <a:solidFill>
                  <a:schemeClr val="bg1">
                    <a:lumMod val="10000"/>
                  </a:schemeClr>
                </a:solidFill>
                <a:cs typeface="Arial" panose="020B0604020202020204" pitchFamily="34" charset="0"/>
              </a:rPr>
              <a:t> via </a:t>
            </a:r>
            <a:r>
              <a:rPr lang="en-US" sz="2000" kern="0" dirty="0" err="1">
                <a:solidFill>
                  <a:schemeClr val="bg1">
                    <a:lumMod val="10000"/>
                  </a:schemeClr>
                </a:solidFill>
                <a:cs typeface="Arial" panose="020B0604020202020204" pitchFamily="34" charset="0"/>
              </a:rPr>
              <a:t>une</a:t>
            </a:r>
            <a:r>
              <a:rPr lang="en-US" sz="2000" kern="0" dirty="0">
                <a:solidFill>
                  <a:schemeClr val="bg1">
                    <a:lumMod val="10000"/>
                  </a:schemeClr>
                </a:solidFill>
                <a:cs typeface="Arial" panose="020B0604020202020204" pitchFamily="34" charset="0"/>
              </a:rPr>
              <a:t> alimentation sans interruption (UPS)</a:t>
            </a:r>
          </a:p>
          <a:p>
            <a:pPr algn="just" eaLnBrk="1" hangingPunct="1">
              <a:defRPr/>
            </a:pPr>
            <a:endParaRPr lang="en-US" sz="2000" kern="0" dirty="0"/>
          </a:p>
          <a:p>
            <a:pPr marL="0" indent="0">
              <a:buFont typeface="Wingdings" pitchFamily="2" charset="2"/>
              <a:buNone/>
            </a:pPr>
            <a:r>
              <a:rPr lang="en-US" sz="2000" kern="0" dirty="0" err="1"/>
              <a:t>Rappelez-vous</a:t>
            </a:r>
            <a:r>
              <a:rPr lang="en-US" sz="2000" kern="0" dirty="0"/>
              <a:t> que :</a:t>
            </a:r>
          </a:p>
          <a:p>
            <a:pPr marL="0" indent="0">
              <a:buFont typeface="Wingdings" pitchFamily="2" charset="2"/>
              <a:buNone/>
            </a:pPr>
            <a:r>
              <a:rPr lang="en-GB" sz="2000" kern="1200" dirty="0">
                <a:solidFill>
                  <a:schemeClr val="tx1"/>
                </a:solidFill>
                <a:latin typeface="Arial" charset="0"/>
              </a:rPr>
              <a:t>Si </a:t>
            </a:r>
            <a:r>
              <a:rPr lang="en-GB" sz="2000" kern="1200" dirty="0" err="1">
                <a:solidFill>
                  <a:schemeClr val="tx1"/>
                </a:solidFill>
                <a:latin typeface="Arial" charset="0"/>
              </a:rPr>
              <a:t>plusieurs</a:t>
            </a:r>
            <a:r>
              <a:rPr lang="en-GB" sz="2000" kern="1200" dirty="0">
                <a:solidFill>
                  <a:schemeClr val="tx1"/>
                </a:solidFill>
                <a:latin typeface="Arial" charset="0"/>
              </a:rPr>
              <a:t> </a:t>
            </a:r>
            <a:r>
              <a:rPr lang="en-GB" sz="2000" kern="1200" dirty="0" err="1">
                <a:solidFill>
                  <a:schemeClr val="tx1"/>
                </a:solidFill>
                <a:latin typeface="Arial" charset="0"/>
              </a:rPr>
              <a:t>raccords</a:t>
            </a:r>
            <a:r>
              <a:rPr lang="en-GB" sz="2000" kern="1200" dirty="0">
                <a:solidFill>
                  <a:schemeClr val="tx1"/>
                </a:solidFill>
                <a:latin typeface="Arial" charset="0"/>
              </a:rPr>
              <a:t> de </a:t>
            </a:r>
            <a:r>
              <a:rPr lang="en-GB" sz="2000" kern="1200" dirty="0" err="1">
                <a:solidFill>
                  <a:schemeClr val="tx1"/>
                </a:solidFill>
                <a:latin typeface="Arial" charset="0"/>
              </a:rPr>
              <a:t>ligne</a:t>
            </a:r>
            <a:r>
              <a:rPr lang="en-GB" sz="2000" kern="1200" dirty="0">
                <a:solidFill>
                  <a:schemeClr val="tx1"/>
                </a:solidFill>
                <a:latin typeface="Arial" charset="0"/>
              </a:rPr>
              <a:t> </a:t>
            </a:r>
            <a:r>
              <a:rPr lang="en-GB" sz="2000" kern="1200" dirty="0" err="1">
                <a:solidFill>
                  <a:schemeClr val="tx1"/>
                </a:solidFill>
                <a:latin typeface="Arial" charset="0"/>
              </a:rPr>
              <a:t>sont</a:t>
            </a:r>
            <a:r>
              <a:rPr lang="en-GB" sz="2000" kern="1200" dirty="0">
                <a:solidFill>
                  <a:schemeClr val="tx1"/>
                </a:solidFill>
                <a:latin typeface="Arial" charset="0"/>
              </a:rPr>
              <a:t> </a:t>
            </a:r>
            <a:r>
              <a:rPr lang="en-GB" sz="2000" kern="1200" dirty="0" err="1">
                <a:solidFill>
                  <a:schemeClr val="tx1"/>
                </a:solidFill>
                <a:latin typeface="Arial" charset="0"/>
              </a:rPr>
              <a:t>installés</a:t>
            </a:r>
            <a:r>
              <a:rPr lang="en-GB" sz="2000" kern="1200" dirty="0">
                <a:solidFill>
                  <a:schemeClr val="tx1"/>
                </a:solidFill>
                <a:latin typeface="Arial" charset="0"/>
              </a:rPr>
              <a:t>, </a:t>
            </a:r>
            <a:r>
              <a:rPr lang="en-GB" sz="2000" kern="1200" dirty="0" err="1">
                <a:solidFill>
                  <a:schemeClr val="tx1"/>
                </a:solidFill>
                <a:latin typeface="Arial" charset="0"/>
              </a:rPr>
              <a:t>chaque</a:t>
            </a:r>
            <a:r>
              <a:rPr lang="en-GB" sz="2000" kern="1200" dirty="0">
                <a:solidFill>
                  <a:schemeClr val="tx1"/>
                </a:solidFill>
                <a:latin typeface="Arial" charset="0"/>
              </a:rPr>
              <a:t> segment </a:t>
            </a:r>
            <a:r>
              <a:rPr lang="en-GB" sz="2000" kern="1200" dirty="0" err="1">
                <a:solidFill>
                  <a:schemeClr val="tx1"/>
                </a:solidFill>
                <a:latin typeface="Arial" charset="0"/>
              </a:rPr>
              <a:t>devrait</a:t>
            </a:r>
            <a:r>
              <a:rPr lang="en-GB" sz="2000" kern="1200" dirty="0">
                <a:solidFill>
                  <a:schemeClr val="tx1"/>
                </a:solidFill>
                <a:latin typeface="Arial" charset="0"/>
              </a:rPr>
              <a:t> </a:t>
            </a:r>
            <a:r>
              <a:rPr lang="en-GB" sz="2000" kern="1200" dirty="0" err="1">
                <a:solidFill>
                  <a:schemeClr val="tx1"/>
                </a:solidFill>
                <a:latin typeface="Arial" charset="0"/>
              </a:rPr>
              <a:t>également</a:t>
            </a:r>
            <a:r>
              <a:rPr lang="en-GB" sz="2000" kern="1200" dirty="0">
                <a:solidFill>
                  <a:schemeClr val="tx1"/>
                </a:solidFill>
                <a:latin typeface="Arial" charset="0"/>
              </a:rPr>
              <a:t> </a:t>
            </a:r>
            <a:r>
              <a:rPr lang="en-GB" sz="2000" kern="1200" dirty="0" err="1">
                <a:solidFill>
                  <a:schemeClr val="tx1"/>
                </a:solidFill>
                <a:latin typeface="Arial" charset="0"/>
              </a:rPr>
              <a:t>être</a:t>
            </a:r>
            <a:r>
              <a:rPr lang="en-GB" sz="2000" kern="1200" dirty="0">
                <a:solidFill>
                  <a:schemeClr val="tx1"/>
                </a:solidFill>
                <a:latin typeface="Arial" charset="0"/>
              </a:rPr>
              <a:t> </a:t>
            </a:r>
            <a:r>
              <a:rPr lang="en-GB" sz="2000" kern="1200" dirty="0" err="1">
                <a:solidFill>
                  <a:schemeClr val="tx1"/>
                </a:solidFill>
                <a:latin typeface="Arial" charset="0"/>
              </a:rPr>
              <a:t>tamponné</a:t>
            </a:r>
            <a:endParaRPr lang="en-GB" sz="2000" kern="1200" dirty="0">
              <a:solidFill>
                <a:schemeClr val="tx1"/>
              </a:solidFill>
              <a:latin typeface="Arial" charset="0"/>
            </a:endParaRPr>
          </a:p>
          <a:p>
            <a:pPr marL="0" indent="0">
              <a:buFont typeface="Wingdings" pitchFamily="2" charset="2"/>
              <a:buNone/>
            </a:pPr>
            <a:endParaRPr lang="en-GB" sz="800" kern="1200" dirty="0">
              <a:solidFill>
                <a:schemeClr val="tx1"/>
              </a:solidFill>
              <a:latin typeface="Arial" charset="0"/>
            </a:endParaRPr>
          </a:p>
          <a:p>
            <a:pPr marL="0" indent="0">
              <a:buFont typeface="Wingdings" pitchFamily="2" charset="2"/>
              <a:buNone/>
            </a:pPr>
            <a:r>
              <a:rPr lang="en-US" sz="2000" kern="0" dirty="0">
                <a:solidFill>
                  <a:schemeClr val="bg2">
                    <a:lumMod val="10000"/>
                  </a:schemeClr>
                </a:solidFill>
                <a:ea typeface="ＭＳ Ｐゴシック" pitchFamily="-97" charset="-128"/>
              </a:rPr>
              <a:t>Il </a:t>
            </a:r>
            <a:r>
              <a:rPr lang="en-US" sz="2000" kern="0" dirty="0" err="1">
                <a:solidFill>
                  <a:schemeClr val="bg2">
                    <a:lumMod val="10000"/>
                  </a:schemeClr>
                </a:solidFill>
                <a:ea typeface="ＭＳ Ｐゴシック" pitchFamily="-97" charset="-128"/>
              </a:rPr>
              <a:t>est</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conseillé</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d'isoler</a:t>
            </a:r>
            <a:r>
              <a:rPr lang="en-US" sz="2000" kern="0" dirty="0">
                <a:solidFill>
                  <a:schemeClr val="bg2">
                    <a:lumMod val="10000"/>
                  </a:schemeClr>
                </a:solidFill>
                <a:ea typeface="ＭＳ Ｐゴシック" pitchFamily="-97" charset="-128"/>
              </a:rPr>
              <a:t> et de connecter les </a:t>
            </a:r>
            <a:r>
              <a:rPr lang="en-US" sz="2000" kern="0" dirty="0" err="1">
                <a:solidFill>
                  <a:schemeClr val="bg2">
                    <a:lumMod val="10000"/>
                  </a:schemeClr>
                </a:solidFill>
                <a:ea typeface="ＭＳ Ｐゴシック" pitchFamily="-97" charset="-128"/>
              </a:rPr>
              <a:t>appareils</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nécessaires</a:t>
            </a:r>
            <a:r>
              <a:rPr lang="en-US" sz="2000" kern="0" dirty="0">
                <a:solidFill>
                  <a:schemeClr val="bg2">
                    <a:lumMod val="10000"/>
                  </a:schemeClr>
                </a:solidFill>
                <a:ea typeface="ＭＳ Ｐゴシック" pitchFamily="-97" charset="-128"/>
              </a:rPr>
              <a:t> à la </a:t>
            </a:r>
            <a:r>
              <a:rPr lang="en-US" sz="2000" kern="0" dirty="0" err="1">
                <a:solidFill>
                  <a:schemeClr val="bg2">
                    <a:lumMod val="10000"/>
                  </a:schemeClr>
                </a:solidFill>
                <a:ea typeface="ＭＳ Ｐゴシック" pitchFamily="-97" charset="-128"/>
              </a:rPr>
              <a:t>signalisation</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d'alarme</a:t>
            </a:r>
            <a:r>
              <a:rPr lang="en-US" sz="2000" kern="0" dirty="0">
                <a:solidFill>
                  <a:schemeClr val="bg2">
                    <a:lumMod val="10000"/>
                  </a:schemeClr>
                </a:solidFill>
                <a:ea typeface="ＭＳ Ｐゴシック" pitchFamily="-97" charset="-128"/>
              </a:rPr>
              <a:t> </a:t>
            </a:r>
            <a:r>
              <a:rPr lang="en-GB" sz="2000" kern="0" dirty="0" err="1">
                <a:solidFill>
                  <a:schemeClr val="bg2">
                    <a:lumMod val="10000"/>
                  </a:schemeClr>
                </a:solidFill>
                <a:ea typeface="ＭＳ Ｐゴシック" pitchFamily="-97" charset="-128"/>
              </a:rPr>
              <a:t>signalement</a:t>
            </a:r>
            <a:r>
              <a:rPr lang="en-US" sz="2000" kern="0" dirty="0">
                <a:solidFill>
                  <a:schemeClr val="bg2">
                    <a:lumMod val="10000"/>
                  </a:schemeClr>
                </a:solidFill>
                <a:ea typeface="ＭＳ Ｐゴシック" pitchFamily="-97" charset="-128"/>
              </a:rPr>
              <a:t> à un segment de </a:t>
            </a:r>
            <a:r>
              <a:rPr lang="en-US" sz="2000" kern="0" dirty="0" err="1">
                <a:solidFill>
                  <a:schemeClr val="bg2">
                    <a:lumMod val="10000"/>
                  </a:schemeClr>
                </a:solidFill>
                <a:ea typeface="ＭＳ Ｐゴシック" pitchFamily="-97" charset="-128"/>
              </a:rPr>
              <a:t>ligne</a:t>
            </a:r>
            <a:r>
              <a:rPr lang="en-US" sz="2000" kern="0" dirty="0">
                <a:solidFill>
                  <a:schemeClr val="bg2">
                    <a:lumMod val="10000"/>
                  </a:schemeClr>
                </a:solidFill>
                <a:ea typeface="ＭＳ Ｐゴシック" pitchFamily="-97" charset="-128"/>
              </a:rPr>
              <a:t>. Il </a:t>
            </a:r>
            <a:r>
              <a:rPr lang="en-US" sz="2000" kern="0" dirty="0" err="1">
                <a:solidFill>
                  <a:schemeClr val="bg2">
                    <a:lumMod val="10000"/>
                  </a:schemeClr>
                </a:solidFill>
                <a:ea typeface="ＭＳ Ｐゴシック" pitchFamily="-97" charset="-128"/>
              </a:rPr>
              <a:t>en</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résulte</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une</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sauvegarde</a:t>
            </a:r>
            <a:r>
              <a:rPr lang="en-US" sz="2000" kern="0" dirty="0">
                <a:solidFill>
                  <a:schemeClr val="bg2">
                    <a:lumMod val="10000"/>
                  </a:schemeClr>
                </a:solidFill>
                <a:ea typeface="ＭＳ Ｐゴシック" pitchFamily="-97" charset="-128"/>
              </a:rPr>
              <a:t> car </a:t>
            </a:r>
            <a:r>
              <a:rPr lang="en-US" sz="2000" kern="0" dirty="0" err="1">
                <a:solidFill>
                  <a:schemeClr val="bg2">
                    <a:lumMod val="10000"/>
                  </a:schemeClr>
                </a:solidFill>
                <a:ea typeface="ＭＳ Ｐゴシック" pitchFamily="-97" charset="-128"/>
              </a:rPr>
              <a:t>seul</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ce</a:t>
            </a:r>
            <a:r>
              <a:rPr lang="en-US" sz="2000" kern="0" dirty="0">
                <a:solidFill>
                  <a:schemeClr val="bg2">
                    <a:lumMod val="10000"/>
                  </a:schemeClr>
                </a:solidFill>
                <a:ea typeface="ＭＳ Ｐゴシック" pitchFamily="-97" charset="-128"/>
              </a:rPr>
              <a:t> segment de </a:t>
            </a:r>
            <a:r>
              <a:rPr lang="en-US" sz="2000" kern="0" dirty="0" err="1">
                <a:solidFill>
                  <a:schemeClr val="bg2">
                    <a:lumMod val="10000"/>
                  </a:schemeClr>
                </a:solidFill>
                <a:ea typeface="ＭＳ Ｐゴシック" pitchFamily="-97" charset="-128"/>
              </a:rPr>
              <a:t>ligne</a:t>
            </a:r>
            <a:r>
              <a:rPr lang="en-US" sz="2000" kern="0" dirty="0">
                <a:solidFill>
                  <a:schemeClr val="bg2">
                    <a:lumMod val="10000"/>
                  </a:schemeClr>
                </a:solidFill>
                <a:ea typeface="ＭＳ Ｐゴシック" pitchFamily="-97" charset="-128"/>
              </a:rPr>
              <a:t> doit </a:t>
            </a:r>
            <a:r>
              <a:rPr lang="en-US" sz="2000" kern="0" dirty="0" err="1">
                <a:solidFill>
                  <a:schemeClr val="bg2">
                    <a:lumMod val="10000"/>
                  </a:schemeClr>
                </a:solidFill>
                <a:ea typeface="ＭＳ Ｐゴシック" pitchFamily="-97" charset="-128"/>
              </a:rPr>
              <a:t>être</a:t>
            </a:r>
            <a:r>
              <a:rPr lang="en-US" sz="2000" kern="0" dirty="0">
                <a:solidFill>
                  <a:schemeClr val="bg2">
                    <a:lumMod val="10000"/>
                  </a:schemeClr>
                </a:solidFill>
                <a:ea typeface="ＭＳ Ｐゴシック" pitchFamily="-97" charset="-128"/>
              </a:rPr>
              <a:t> mis </a:t>
            </a:r>
            <a:r>
              <a:rPr lang="en-US" sz="2000" kern="0" dirty="0" err="1">
                <a:solidFill>
                  <a:schemeClr val="bg2">
                    <a:lumMod val="10000"/>
                  </a:schemeClr>
                </a:solidFill>
                <a:ea typeface="ＭＳ Ｐゴシック" pitchFamily="-97" charset="-128"/>
              </a:rPr>
              <a:t>en</a:t>
            </a:r>
            <a:r>
              <a:rPr lang="en-US" sz="2000" kern="0" dirty="0">
                <a:solidFill>
                  <a:schemeClr val="bg2">
                    <a:lumMod val="10000"/>
                  </a:schemeClr>
                </a:solidFill>
                <a:ea typeface="ＭＳ Ｐゴシック" pitchFamily="-97" charset="-128"/>
              </a:rPr>
              <a:t> </a:t>
            </a:r>
            <a:r>
              <a:rPr lang="en-US" sz="2000" kern="0" dirty="0" err="1">
                <a:solidFill>
                  <a:schemeClr val="bg2">
                    <a:lumMod val="10000"/>
                  </a:schemeClr>
                </a:solidFill>
                <a:ea typeface="ＭＳ Ｐゴシック" pitchFamily="-97" charset="-128"/>
              </a:rPr>
              <a:t>mémoire</a:t>
            </a:r>
            <a:r>
              <a:rPr lang="en-US" sz="2000" kern="0" dirty="0">
                <a:solidFill>
                  <a:schemeClr val="bg2">
                    <a:lumMod val="10000"/>
                  </a:schemeClr>
                </a:solidFill>
                <a:ea typeface="ＭＳ Ｐゴシック" pitchFamily="-97" charset="-128"/>
              </a:rPr>
              <a:t> tampon</a:t>
            </a:r>
            <a:endParaRPr lang="en-US" sz="2000" kern="0" dirty="0"/>
          </a:p>
        </p:txBody>
      </p:sp>
    </p:spTree>
    <p:extLst>
      <p:ext uri="{BB962C8B-B14F-4D97-AF65-F5344CB8AC3E}">
        <p14:creationId xmlns:p14="http://schemas.microsoft.com/office/powerpoint/2010/main" val="1105420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251520" y="692696"/>
            <a:ext cx="7992888" cy="719138"/>
          </a:xfrm>
        </p:spPr>
        <p:txBody>
          <a:bodyPr/>
          <a:lstStyle/>
          <a:p>
            <a:r>
              <a:rPr lang="en-US" sz="2400" dirty="0"/>
              <a:t>Disposition </a:t>
            </a:r>
            <a:r>
              <a:rPr lang="en-US" sz="2400" dirty="0" err="1"/>
              <a:t>Redondante</a:t>
            </a:r>
            <a:r>
              <a:rPr lang="en-US" sz="2400" dirty="0"/>
              <a:t> des Blocs </a:t>
            </a:r>
            <a:r>
              <a:rPr lang="en-US" sz="2400" dirty="0" err="1"/>
              <a:t>d'Alimentation</a:t>
            </a:r>
            <a:endParaRPr lang="en-GB" sz="2400" dirty="0"/>
          </a:p>
        </p:txBody>
      </p:sp>
      <p:pic>
        <p:nvPicPr>
          <p:cNvPr id="5" name="Picture 4">
            <a:extLst>
              <a:ext uri="{FF2B5EF4-FFF2-40B4-BE49-F238E27FC236}">
                <a16:creationId xmlns:a16="http://schemas.microsoft.com/office/drawing/2014/main" id="{991D6A9B-8EC3-4100-A12D-9809AAC20326}"/>
              </a:ext>
            </a:extLst>
          </p:cNvPr>
          <p:cNvPicPr>
            <a:picLocks noChangeAspect="1"/>
          </p:cNvPicPr>
          <p:nvPr/>
        </p:nvPicPr>
        <p:blipFill>
          <a:blip r:embed="rId3"/>
          <a:stretch>
            <a:fillRect/>
          </a:stretch>
        </p:blipFill>
        <p:spPr>
          <a:xfrm>
            <a:off x="899592" y="1417851"/>
            <a:ext cx="6163022" cy="4532803"/>
          </a:xfrm>
          <a:prstGeom prst="rect">
            <a:avLst/>
          </a:prstGeom>
        </p:spPr>
      </p:pic>
    </p:spTree>
    <p:extLst>
      <p:ext uri="{BB962C8B-B14F-4D97-AF65-F5344CB8AC3E}">
        <p14:creationId xmlns:p14="http://schemas.microsoft.com/office/powerpoint/2010/main" val="3269067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899592" y="323029"/>
            <a:ext cx="6840239" cy="719138"/>
          </a:xfrm>
        </p:spPr>
        <p:txBody>
          <a:bodyPr/>
          <a:lstStyle/>
          <a:p>
            <a:r>
              <a:rPr lang="en-US" dirty="0"/>
              <a:t>Disposition </a:t>
            </a:r>
            <a:r>
              <a:rPr lang="en-US" dirty="0" err="1"/>
              <a:t>Redondante</a:t>
            </a:r>
            <a:r>
              <a:rPr lang="en-US" dirty="0"/>
              <a:t> des Blocs </a:t>
            </a:r>
            <a:r>
              <a:rPr lang="en-US" dirty="0" err="1"/>
              <a:t>d'Alimentation</a:t>
            </a:r>
            <a:endParaRPr lang="en-GB" dirty="0"/>
          </a:p>
        </p:txBody>
      </p:sp>
      <p:graphicFrame>
        <p:nvGraphicFramePr>
          <p:cNvPr id="5" name="Object 4">
            <a:extLst>
              <a:ext uri="{FF2B5EF4-FFF2-40B4-BE49-F238E27FC236}">
                <a16:creationId xmlns:a16="http://schemas.microsoft.com/office/drawing/2014/main" id="{4E3AEF7E-C98D-4439-8A3C-3E1655405E29}"/>
              </a:ext>
            </a:extLst>
          </p:cNvPr>
          <p:cNvGraphicFramePr>
            <a:graphicFrameLocks noChangeAspect="1"/>
          </p:cNvGraphicFramePr>
          <p:nvPr/>
        </p:nvGraphicFramePr>
        <p:xfrm>
          <a:off x="662481" y="1412777"/>
          <a:ext cx="2757392" cy="2787430"/>
        </p:xfrm>
        <a:graphic>
          <a:graphicData uri="http://schemas.openxmlformats.org/presentationml/2006/ole">
            <mc:AlternateContent xmlns:mc="http://schemas.openxmlformats.org/markup-compatibility/2006">
              <mc:Choice xmlns:v="urn:schemas-microsoft-com:vml" Requires="v">
                <p:oleObj r:id="rId3" imgW="5441099" imgH="5504358" progId="Visio.Drawing.15">
                  <p:embed/>
                </p:oleObj>
              </mc:Choice>
              <mc:Fallback>
                <p:oleObj r:id="rId3" imgW="5441099" imgH="5504358" progId="Visio.Drawing.15">
                  <p:embed/>
                  <p:pic>
                    <p:nvPicPr>
                      <p:cNvPr id="5" name="Object 4">
                        <a:extLst>
                          <a:ext uri="{FF2B5EF4-FFF2-40B4-BE49-F238E27FC236}">
                            <a16:creationId xmlns:a16="http://schemas.microsoft.com/office/drawing/2014/main" id="{4E3AEF7E-C98D-4439-8A3C-3E1655405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481" y="1412777"/>
                        <a:ext cx="2757392" cy="2787430"/>
                      </a:xfrm>
                      <a:prstGeom prst="rect">
                        <a:avLst/>
                      </a:prstGeom>
                      <a:noFill/>
                      <a:ln>
                        <a:solidFill>
                          <a:schemeClr val="accent1"/>
                        </a:solidFill>
                      </a:ln>
                    </p:spPr>
                  </p:pic>
                </p:oleObj>
              </mc:Fallback>
            </mc:AlternateContent>
          </a:graphicData>
        </a:graphic>
      </p:graphicFrame>
      <p:sp>
        <p:nvSpPr>
          <p:cNvPr id="6" name="Rectangle 5">
            <a:extLst>
              <a:ext uri="{FF2B5EF4-FFF2-40B4-BE49-F238E27FC236}">
                <a16:creationId xmlns:a16="http://schemas.microsoft.com/office/drawing/2014/main" id="{C383F4FF-87D3-477F-B811-9B99128D30EA}"/>
              </a:ext>
            </a:extLst>
          </p:cNvPr>
          <p:cNvSpPr/>
          <p:nvPr/>
        </p:nvSpPr>
        <p:spPr>
          <a:xfrm>
            <a:off x="3420121" y="1412777"/>
            <a:ext cx="2941831" cy="369332"/>
          </a:xfrm>
          <a:prstGeom prst="rect">
            <a:avLst/>
          </a:prstGeom>
        </p:spPr>
        <p:txBody>
          <a:bodyPr wrap="none">
            <a:spAutoFit/>
          </a:bodyPr>
          <a:lstStyle/>
          <a:p>
            <a:r>
              <a:rPr lang="en-US" b="1"/>
              <a:t>Alimentation électrique redondante</a:t>
            </a:r>
          </a:p>
        </p:txBody>
      </p:sp>
      <p:graphicFrame>
        <p:nvGraphicFramePr>
          <p:cNvPr id="8" name="Object 7">
            <a:extLst>
              <a:ext uri="{FF2B5EF4-FFF2-40B4-BE49-F238E27FC236}">
                <a16:creationId xmlns:a16="http://schemas.microsoft.com/office/drawing/2014/main" id="{7CC6467F-8DB4-4EF7-B674-7CF5412B4F6B}"/>
              </a:ext>
            </a:extLst>
          </p:cNvPr>
          <p:cNvGraphicFramePr>
            <a:graphicFrameLocks noChangeAspect="1"/>
          </p:cNvGraphicFramePr>
          <p:nvPr/>
        </p:nvGraphicFramePr>
        <p:xfrm>
          <a:off x="3706918" y="3573016"/>
          <a:ext cx="5222596" cy="2602386"/>
        </p:xfrm>
        <a:graphic>
          <a:graphicData uri="http://schemas.openxmlformats.org/presentationml/2006/ole">
            <mc:AlternateContent xmlns:mc="http://schemas.openxmlformats.org/markup-compatibility/2006">
              <mc:Choice xmlns:v="urn:schemas-microsoft-com:vml" Requires="v">
                <p:oleObj r:id="rId5" imgW="8827254" imgH="4390863" progId="Visio.Drawing.15">
                  <p:embed/>
                </p:oleObj>
              </mc:Choice>
              <mc:Fallback>
                <p:oleObj r:id="rId5" imgW="8827254" imgH="4390863" progId="Visio.Drawing.15">
                  <p:embed/>
                  <p:pic>
                    <p:nvPicPr>
                      <p:cNvPr id="8" name="Object 7">
                        <a:extLst>
                          <a:ext uri="{FF2B5EF4-FFF2-40B4-BE49-F238E27FC236}">
                            <a16:creationId xmlns:a16="http://schemas.microsoft.com/office/drawing/2014/main" id="{7CC6467F-8DB4-4EF7-B674-7CF5412B4F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6918" y="3573016"/>
                        <a:ext cx="5222596" cy="2602386"/>
                      </a:xfrm>
                      <a:prstGeom prst="rect">
                        <a:avLst/>
                      </a:prstGeom>
                      <a:noFill/>
                      <a:ln>
                        <a:solidFill>
                          <a:schemeClr val="accent1"/>
                        </a:solidFill>
                      </a:ln>
                    </p:spPr>
                  </p:pic>
                </p:oleObj>
              </mc:Fallback>
            </mc:AlternateContent>
          </a:graphicData>
        </a:graphic>
      </p:graphicFrame>
      <p:sp>
        <p:nvSpPr>
          <p:cNvPr id="9" name="Rectangle 8">
            <a:extLst>
              <a:ext uri="{FF2B5EF4-FFF2-40B4-BE49-F238E27FC236}">
                <a16:creationId xmlns:a16="http://schemas.microsoft.com/office/drawing/2014/main" id="{2CAD6AAC-B264-4327-B459-D9482D0C5A07}"/>
              </a:ext>
            </a:extLst>
          </p:cNvPr>
          <p:cNvSpPr/>
          <p:nvPr/>
        </p:nvSpPr>
        <p:spPr>
          <a:xfrm>
            <a:off x="107503" y="5508532"/>
            <a:ext cx="3562103" cy="923330"/>
          </a:xfrm>
          <a:prstGeom prst="rect">
            <a:avLst/>
          </a:prstGeom>
        </p:spPr>
        <p:txBody>
          <a:bodyPr wrap="square">
            <a:spAutoFit/>
          </a:bodyPr>
          <a:lstStyle/>
          <a:p>
            <a:pPr algn="r"/>
            <a:r>
              <a:rPr lang="en-GB" b="1" dirty="0"/>
              <a:t>Alimentation </a:t>
            </a:r>
            <a:r>
              <a:rPr lang="en-GB" b="1" dirty="0" err="1"/>
              <a:t>électrique</a:t>
            </a:r>
            <a:r>
              <a:rPr lang="en-GB" b="1" dirty="0"/>
              <a:t> </a:t>
            </a:r>
            <a:r>
              <a:rPr lang="en-GB" b="1" dirty="0" err="1"/>
              <a:t>redondante</a:t>
            </a:r>
            <a:endParaRPr lang="en-GB" b="1" dirty="0"/>
          </a:p>
          <a:p>
            <a:pPr algn="r"/>
            <a:r>
              <a:rPr lang="en-GB" b="1" dirty="0"/>
              <a:t>avec self </a:t>
            </a:r>
            <a:r>
              <a:rPr lang="en-GB" b="1" dirty="0" err="1"/>
              <a:t>séparé</a:t>
            </a:r>
            <a:endParaRPr lang="es-ES" b="1" dirty="0"/>
          </a:p>
        </p:txBody>
      </p:sp>
    </p:spTree>
    <p:extLst>
      <p:ext uri="{BB962C8B-B14F-4D97-AF65-F5344CB8AC3E}">
        <p14:creationId xmlns:p14="http://schemas.microsoft.com/office/powerpoint/2010/main" val="1212630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24215" cy="719138"/>
          </a:xfrm>
        </p:spPr>
        <p:txBody>
          <a:bodyPr/>
          <a:lstStyle/>
          <a:p>
            <a:r>
              <a:rPr lang="en-US"/>
              <a:t>Alimentations Électriques avec Fonction de Diagnostic</a:t>
            </a:r>
            <a:endParaRPr lang="en-GB" dirty="0"/>
          </a:p>
        </p:txBody>
      </p:sp>
      <p:pic>
        <p:nvPicPr>
          <p:cNvPr id="4" name="Picture 3">
            <a:extLst>
              <a:ext uri="{FF2B5EF4-FFF2-40B4-BE49-F238E27FC236}">
                <a16:creationId xmlns:a16="http://schemas.microsoft.com/office/drawing/2014/main" id="{A07679C8-2926-4C8E-A595-7761FA5AB7A1}"/>
              </a:ext>
            </a:extLst>
          </p:cNvPr>
          <p:cNvPicPr>
            <a:picLocks noChangeAspect="1"/>
          </p:cNvPicPr>
          <p:nvPr/>
        </p:nvPicPr>
        <p:blipFill>
          <a:blip r:embed="rId3"/>
          <a:stretch>
            <a:fillRect/>
          </a:stretch>
        </p:blipFill>
        <p:spPr>
          <a:xfrm>
            <a:off x="765212" y="4221088"/>
            <a:ext cx="8026660" cy="1809054"/>
          </a:xfrm>
          <a:prstGeom prst="rect">
            <a:avLst/>
          </a:prstGeom>
        </p:spPr>
      </p:pic>
      <p:sp>
        <p:nvSpPr>
          <p:cNvPr id="5" name="Content Placeholder 1">
            <a:extLst>
              <a:ext uri="{FF2B5EF4-FFF2-40B4-BE49-F238E27FC236}">
                <a16:creationId xmlns:a16="http://schemas.microsoft.com/office/drawing/2014/main" id="{A5FE3D00-EA69-4E48-AA66-A7C91D59384B}"/>
              </a:ext>
            </a:extLst>
          </p:cNvPr>
          <p:cNvSpPr txBox="1">
            <a:spLocks/>
          </p:cNvSpPr>
          <p:nvPr/>
        </p:nvSpPr>
        <p:spPr>
          <a:xfrm>
            <a:off x="971600" y="1268760"/>
            <a:ext cx="7488832" cy="28083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gn="just" eaLnBrk="1" hangingPunct="1">
              <a:defRPr/>
            </a:pPr>
            <a:r>
              <a:rPr lang="en-GB" sz="1800" kern="1200">
                <a:solidFill>
                  <a:schemeClr val="tx1"/>
                </a:solidFill>
                <a:latin typeface="Arial" charset="0"/>
              </a:rPr>
              <a:t>Avoir un coupler de bus et peut envoyer des télégrammes sur le bus</a:t>
            </a:r>
          </a:p>
          <a:p>
            <a:pPr algn="just" eaLnBrk="1" hangingPunct="1">
              <a:defRPr/>
            </a:pPr>
            <a:endParaRPr lang="en-GB" sz="1800" kern="1200">
              <a:solidFill>
                <a:schemeClr val="tx1"/>
              </a:solidFill>
              <a:latin typeface="Arial" charset="0"/>
            </a:endParaRPr>
          </a:p>
          <a:p>
            <a:pPr algn="just" eaLnBrk="1" hangingPunct="1">
              <a:defRPr/>
            </a:pPr>
            <a:r>
              <a:rPr lang="en-GB" sz="1800" kern="1200">
                <a:solidFill>
                  <a:schemeClr val="tx1"/>
                </a:solidFill>
                <a:latin typeface="Arial" charset="0"/>
              </a:rPr>
              <a:t>S'il y a une panne de tension de bus, le système doit être porté à un état défini après la récupération de la tension</a:t>
            </a:r>
          </a:p>
          <a:p>
            <a:pPr algn="just" eaLnBrk="1" hangingPunct="1">
              <a:defRPr/>
            </a:pPr>
            <a:endParaRPr lang="en-GB" sz="1800" kern="1200">
              <a:solidFill>
                <a:schemeClr val="tx1"/>
              </a:solidFill>
              <a:latin typeface="Arial" charset="0"/>
            </a:endParaRPr>
          </a:p>
          <a:p>
            <a:pPr algn="just" eaLnBrk="1" hangingPunct="1">
              <a:defRPr/>
            </a:pPr>
            <a:r>
              <a:rPr lang="en-GB" sz="1800" kern="1200">
                <a:solidFill>
                  <a:schemeClr val="tx1"/>
                </a:solidFill>
                <a:latin typeface="Arial" charset="0"/>
              </a:rPr>
              <a:t>Signaler la récupération de tension avec un délai de temps ou envoyer leur statut cycliquement pour implémenter les procédures de récupération</a:t>
            </a:r>
            <a:endParaRPr lang="en-US" sz="1800" kern="0" dirty="0"/>
          </a:p>
        </p:txBody>
      </p:sp>
    </p:spTree>
    <p:extLst>
      <p:ext uri="{BB962C8B-B14F-4D97-AF65-F5344CB8AC3E}">
        <p14:creationId xmlns:p14="http://schemas.microsoft.com/office/powerpoint/2010/main" val="2599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560319" cy="719138"/>
          </a:xfrm>
        </p:spPr>
        <p:txBody>
          <a:bodyPr/>
          <a:lstStyle/>
          <a:p>
            <a:r>
              <a:rPr lang="en-US" sz="2400" dirty="0" err="1"/>
              <a:t>Exemple</a:t>
            </a:r>
            <a:r>
              <a:rPr lang="en-US" sz="2400" dirty="0"/>
              <a:t> pratique :</a:t>
            </a:r>
            <a:br>
              <a:rPr lang="en-US" sz="2400" dirty="0"/>
            </a:br>
            <a:r>
              <a:rPr lang="en-US" sz="2000" dirty="0"/>
              <a:t>Surveillance </a:t>
            </a:r>
            <a:r>
              <a:rPr lang="en-US" sz="2000" dirty="0" err="1"/>
              <a:t>cyclique</a:t>
            </a:r>
            <a:r>
              <a:rPr lang="en-US" sz="2000" dirty="0"/>
              <a:t> de 2 </a:t>
            </a:r>
            <a:r>
              <a:rPr lang="en-US" sz="2000" dirty="0" err="1"/>
              <a:t>lignes</a:t>
            </a:r>
            <a:r>
              <a:rPr lang="en-US" sz="2000" dirty="0"/>
              <a:t> à </a:t>
            </a:r>
            <a:r>
              <a:rPr lang="en-US" sz="2000" dirty="0" err="1"/>
              <a:t>l'aide</a:t>
            </a:r>
            <a:r>
              <a:rPr lang="en-US" sz="2000" dirty="0"/>
              <a:t> d'un </a:t>
            </a:r>
            <a:r>
              <a:rPr lang="en-US" sz="2000" dirty="0" err="1"/>
              <a:t>contrôleur</a:t>
            </a:r>
            <a:endParaRPr lang="en-US" sz="2000" dirty="0"/>
          </a:p>
        </p:txBody>
      </p:sp>
      <p:sp>
        <p:nvSpPr>
          <p:cNvPr id="4" name="Content Placeholder 1">
            <a:extLst>
              <a:ext uri="{FF2B5EF4-FFF2-40B4-BE49-F238E27FC236}">
                <a16:creationId xmlns:a16="http://schemas.microsoft.com/office/drawing/2014/main" id="{12D24998-A077-4E30-B9BB-FE16AFABA210}"/>
              </a:ext>
            </a:extLst>
          </p:cNvPr>
          <p:cNvSpPr txBox="1">
            <a:spLocks/>
          </p:cNvSpPr>
          <p:nvPr/>
        </p:nvSpPr>
        <p:spPr>
          <a:xfrm>
            <a:off x="971600" y="1412776"/>
            <a:ext cx="7560319" cy="496855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gn="just" eaLnBrk="1" hangingPunct="1">
              <a:buFont typeface="Wingdings" pitchFamily="2" charset="2"/>
              <a:buNone/>
              <a:defRPr/>
            </a:pPr>
            <a:r>
              <a:rPr lang="en-US" sz="2000" kern="0" dirty="0"/>
              <a:t>Étapes :</a:t>
            </a:r>
          </a:p>
          <a:p>
            <a:pPr marL="0" indent="0" algn="just" eaLnBrk="1" hangingPunct="1">
              <a:buFont typeface="Wingdings" pitchFamily="2" charset="2"/>
              <a:buNone/>
              <a:defRPr/>
            </a:pPr>
            <a:endParaRPr lang="en-US" sz="700" kern="1200" dirty="0">
              <a:solidFill>
                <a:schemeClr val="tx1"/>
              </a:solidFill>
              <a:latin typeface="Arial" charset="0"/>
            </a:endParaRPr>
          </a:p>
          <a:p>
            <a:pPr algn="just" eaLnBrk="1" hangingPunct="1">
              <a:buFont typeface="+mj-lt"/>
              <a:buAutoNum type="arabicPeriod"/>
              <a:defRPr/>
            </a:pPr>
            <a:r>
              <a:rPr lang="en-US" sz="1600" kern="1200" dirty="0" err="1">
                <a:solidFill>
                  <a:schemeClr val="tx1"/>
                </a:solidFill>
                <a:latin typeface="Arial" charset="0"/>
              </a:rPr>
              <a:t>Configurez</a:t>
            </a:r>
            <a:r>
              <a:rPr lang="en-US" sz="1600" kern="1200" dirty="0">
                <a:solidFill>
                  <a:schemeClr val="tx1"/>
                </a:solidFill>
                <a:latin typeface="Arial" charset="0"/>
              </a:rPr>
              <a:t> un </a:t>
            </a:r>
            <a:r>
              <a:rPr lang="en-US" sz="1600" kern="1200" dirty="0" err="1">
                <a:solidFill>
                  <a:schemeClr val="tx1"/>
                </a:solidFill>
                <a:latin typeface="Arial" charset="0"/>
              </a:rPr>
              <a:t>système</a:t>
            </a:r>
            <a:r>
              <a:rPr lang="en-US" sz="1600" kern="1200" dirty="0">
                <a:solidFill>
                  <a:schemeClr val="tx1"/>
                </a:solidFill>
                <a:latin typeface="Arial" charset="0"/>
              </a:rPr>
              <a:t> KNX avec 2 </a:t>
            </a:r>
            <a:r>
              <a:rPr lang="en-US" sz="1600" kern="1200" dirty="0" err="1">
                <a:solidFill>
                  <a:schemeClr val="tx1"/>
                </a:solidFill>
                <a:latin typeface="Arial" charset="0"/>
              </a:rPr>
              <a:t>lignes</a:t>
            </a:r>
            <a:r>
              <a:rPr lang="en-US" sz="1600" kern="1200" dirty="0">
                <a:solidFill>
                  <a:schemeClr val="tx1"/>
                </a:solidFill>
                <a:latin typeface="Arial" charset="0"/>
              </a:rPr>
              <a:t> et </a:t>
            </a:r>
            <a:r>
              <a:rPr lang="en-US" sz="1600" kern="1200" dirty="0" err="1">
                <a:solidFill>
                  <a:schemeClr val="tx1"/>
                </a:solidFill>
                <a:latin typeface="Arial" charset="0"/>
              </a:rPr>
              <a:t>une</a:t>
            </a:r>
            <a:r>
              <a:rPr lang="en-US" sz="1600" kern="1200" dirty="0">
                <a:solidFill>
                  <a:schemeClr val="tx1"/>
                </a:solidFill>
                <a:latin typeface="Arial" charset="0"/>
              </a:rPr>
              <a:t> </a:t>
            </a:r>
            <a:r>
              <a:rPr lang="en-US" sz="1600" kern="1200" dirty="0" err="1">
                <a:solidFill>
                  <a:schemeClr val="tx1"/>
                </a:solidFill>
                <a:latin typeface="Arial" charset="0"/>
              </a:rPr>
              <a:t>ligne</a:t>
            </a:r>
            <a:r>
              <a:rPr lang="en-US" sz="1600" kern="1200" dirty="0">
                <a:solidFill>
                  <a:schemeClr val="tx1"/>
                </a:solidFill>
                <a:latin typeface="Arial" charset="0"/>
              </a:rPr>
              <a:t> </a:t>
            </a:r>
            <a:r>
              <a:rPr lang="en-US" sz="1600" kern="1200" dirty="0" err="1">
                <a:solidFill>
                  <a:schemeClr val="tx1"/>
                </a:solidFill>
                <a:latin typeface="Arial" charset="0"/>
              </a:rPr>
              <a:t>principale</a:t>
            </a:r>
            <a:endParaRPr lang="en-US" sz="1600" kern="1200" dirty="0">
              <a:solidFill>
                <a:schemeClr val="tx1"/>
              </a:solidFill>
              <a:latin typeface="Arial" charset="0"/>
            </a:endParaRPr>
          </a:p>
          <a:p>
            <a:pPr algn="just" eaLnBrk="1" hangingPunct="1">
              <a:buFont typeface="+mj-lt"/>
              <a:buAutoNum type="arabicPeriod"/>
              <a:defRPr/>
            </a:pPr>
            <a:endParaRPr lang="en-US" sz="1600" kern="1200" dirty="0">
              <a:solidFill>
                <a:schemeClr val="tx1"/>
              </a:solidFill>
              <a:latin typeface="Arial" charset="0"/>
            </a:endParaRPr>
          </a:p>
          <a:p>
            <a:pPr algn="just" eaLnBrk="1" hangingPunct="1">
              <a:buFont typeface="+mj-lt"/>
              <a:buAutoNum type="arabicPeriod"/>
              <a:defRPr/>
            </a:pPr>
            <a:r>
              <a:rPr lang="en-US" sz="1600" kern="1200" dirty="0">
                <a:solidFill>
                  <a:schemeClr val="tx1"/>
                </a:solidFill>
                <a:latin typeface="Arial" charset="0"/>
              </a:rPr>
              <a:t>Un </a:t>
            </a:r>
            <a:r>
              <a:rPr lang="en-US" sz="1600" kern="1200" dirty="0" err="1">
                <a:solidFill>
                  <a:schemeClr val="tx1"/>
                </a:solidFill>
                <a:latin typeface="Arial" charset="0"/>
              </a:rPr>
              <a:t>dispositif</a:t>
            </a:r>
            <a:r>
              <a:rPr lang="en-US" sz="1600" kern="1200" dirty="0">
                <a:solidFill>
                  <a:schemeClr val="tx1"/>
                </a:solidFill>
                <a:latin typeface="Arial" charset="0"/>
              </a:rPr>
              <a:t> capable </a:t>
            </a:r>
            <a:r>
              <a:rPr lang="en-US" sz="1600" kern="1200" dirty="0" err="1">
                <a:solidFill>
                  <a:schemeClr val="tx1"/>
                </a:solidFill>
                <a:latin typeface="Arial" charset="0"/>
              </a:rPr>
              <a:t>d'envoyer</a:t>
            </a:r>
            <a:r>
              <a:rPr lang="en-US" sz="1600" kern="1200" dirty="0">
                <a:solidFill>
                  <a:schemeClr val="tx1"/>
                </a:solidFill>
                <a:latin typeface="Arial" charset="0"/>
              </a:rPr>
              <a:t> des </a:t>
            </a:r>
            <a:r>
              <a:rPr lang="en-US" sz="1600" kern="1200" dirty="0" err="1">
                <a:solidFill>
                  <a:schemeClr val="tx1"/>
                </a:solidFill>
                <a:latin typeface="Arial" charset="0"/>
              </a:rPr>
              <a:t>télégrammes</a:t>
            </a:r>
            <a:r>
              <a:rPr lang="en-US" sz="1600" kern="1200" dirty="0">
                <a:solidFill>
                  <a:schemeClr val="tx1"/>
                </a:solidFill>
                <a:latin typeface="Arial" charset="0"/>
              </a:rPr>
              <a:t> </a:t>
            </a:r>
            <a:r>
              <a:rPr lang="en-US" sz="1600" kern="1200" dirty="0" err="1">
                <a:solidFill>
                  <a:schemeClr val="tx1"/>
                </a:solidFill>
                <a:latin typeface="Arial" charset="0"/>
              </a:rPr>
              <a:t>cycliques</a:t>
            </a:r>
            <a:r>
              <a:rPr lang="en-US" sz="1600" kern="1200" dirty="0">
                <a:solidFill>
                  <a:schemeClr val="tx1"/>
                </a:solidFill>
                <a:latin typeface="Arial" charset="0"/>
              </a:rPr>
              <a:t> </a:t>
            </a:r>
            <a:r>
              <a:rPr lang="en-US" sz="1600" kern="1200" dirty="0" err="1">
                <a:solidFill>
                  <a:schemeClr val="tx1"/>
                </a:solidFill>
                <a:latin typeface="Arial" charset="0"/>
              </a:rPr>
              <a:t>est</a:t>
            </a:r>
            <a:r>
              <a:rPr lang="en-US" sz="1600" kern="1200" dirty="0">
                <a:solidFill>
                  <a:schemeClr val="tx1"/>
                </a:solidFill>
                <a:latin typeface="Arial" charset="0"/>
              </a:rPr>
              <a:t> </a:t>
            </a:r>
            <a:r>
              <a:rPr lang="en-US" sz="1600" kern="1200" dirty="0" err="1">
                <a:solidFill>
                  <a:schemeClr val="tx1"/>
                </a:solidFill>
                <a:latin typeface="Arial" charset="0"/>
              </a:rPr>
              <a:t>installé</a:t>
            </a:r>
            <a:r>
              <a:rPr lang="en-US" sz="1600" kern="1200" dirty="0">
                <a:solidFill>
                  <a:schemeClr val="tx1"/>
                </a:solidFill>
                <a:latin typeface="Arial" charset="0"/>
              </a:rPr>
              <a:t> sur </a:t>
            </a:r>
            <a:r>
              <a:rPr lang="en-US" sz="1600" kern="1200" dirty="0" err="1">
                <a:solidFill>
                  <a:schemeClr val="tx1"/>
                </a:solidFill>
                <a:latin typeface="Arial" charset="0"/>
              </a:rPr>
              <a:t>chacune</a:t>
            </a:r>
            <a:r>
              <a:rPr lang="en-US" sz="1600" kern="1200" dirty="0">
                <a:solidFill>
                  <a:schemeClr val="tx1"/>
                </a:solidFill>
                <a:latin typeface="Arial" charset="0"/>
              </a:rPr>
              <a:t> des deux </a:t>
            </a:r>
            <a:r>
              <a:rPr lang="en-US" sz="1600" kern="1200" dirty="0" err="1">
                <a:solidFill>
                  <a:schemeClr val="tx1"/>
                </a:solidFill>
                <a:latin typeface="Arial" charset="0"/>
              </a:rPr>
              <a:t>lignes</a:t>
            </a:r>
            <a:r>
              <a:rPr lang="en-US" sz="1600" kern="1200" dirty="0">
                <a:solidFill>
                  <a:schemeClr val="tx1"/>
                </a:solidFill>
                <a:latin typeface="Arial" charset="0"/>
              </a:rPr>
              <a:t> </a:t>
            </a:r>
            <a:r>
              <a:rPr lang="en-US" sz="1600" kern="1200" dirty="0" err="1">
                <a:solidFill>
                  <a:schemeClr val="tx1"/>
                </a:solidFill>
                <a:latin typeface="Arial" charset="0"/>
              </a:rPr>
              <a:t>secondaires</a:t>
            </a:r>
            <a:endParaRPr lang="en-US" sz="1600" kern="1200" dirty="0">
              <a:solidFill>
                <a:schemeClr val="tx1"/>
              </a:solidFill>
              <a:latin typeface="Arial" charset="0"/>
            </a:endParaRPr>
          </a:p>
          <a:p>
            <a:pPr algn="just" eaLnBrk="1" hangingPunct="1">
              <a:buFont typeface="+mj-lt"/>
              <a:buAutoNum type="arabicPeriod"/>
              <a:defRPr/>
            </a:pPr>
            <a:endParaRPr lang="en-US" sz="1600" kern="1200" dirty="0">
              <a:solidFill>
                <a:schemeClr val="tx1"/>
              </a:solidFill>
              <a:latin typeface="Arial" charset="0"/>
            </a:endParaRPr>
          </a:p>
          <a:p>
            <a:pPr algn="just" eaLnBrk="1" hangingPunct="1">
              <a:buFont typeface="+mj-lt"/>
              <a:buAutoNum type="arabicPeriod"/>
              <a:defRPr/>
            </a:pPr>
            <a:r>
              <a:rPr lang="en-US" sz="1600" kern="1200" dirty="0">
                <a:solidFill>
                  <a:schemeClr val="tx1"/>
                </a:solidFill>
                <a:latin typeface="Arial" charset="0"/>
              </a:rPr>
              <a:t>Un participant de sortie doit </a:t>
            </a:r>
            <a:r>
              <a:rPr lang="en-US" sz="1600" kern="1200" dirty="0" err="1">
                <a:solidFill>
                  <a:schemeClr val="tx1"/>
                </a:solidFill>
                <a:latin typeface="Arial" charset="0"/>
              </a:rPr>
              <a:t>être</a:t>
            </a:r>
            <a:r>
              <a:rPr lang="en-US" sz="1600" kern="1200" dirty="0">
                <a:solidFill>
                  <a:schemeClr val="tx1"/>
                </a:solidFill>
                <a:latin typeface="Arial" charset="0"/>
              </a:rPr>
              <a:t> </a:t>
            </a:r>
            <a:r>
              <a:rPr lang="en-US" sz="1600" kern="1200" dirty="0" err="1">
                <a:solidFill>
                  <a:schemeClr val="tx1"/>
                </a:solidFill>
                <a:latin typeface="Arial" charset="0"/>
              </a:rPr>
              <a:t>installé</a:t>
            </a:r>
            <a:r>
              <a:rPr lang="en-US" sz="1600" kern="1200" dirty="0">
                <a:solidFill>
                  <a:schemeClr val="tx1"/>
                </a:solidFill>
                <a:latin typeface="Arial" charset="0"/>
              </a:rPr>
              <a:t> sur la </a:t>
            </a:r>
            <a:r>
              <a:rPr lang="en-US" sz="1600" kern="1200" dirty="0" err="1">
                <a:solidFill>
                  <a:schemeClr val="tx1"/>
                </a:solidFill>
                <a:latin typeface="Arial" charset="0"/>
              </a:rPr>
              <a:t>ligne</a:t>
            </a:r>
            <a:r>
              <a:rPr lang="en-US" sz="1600" kern="1200" dirty="0">
                <a:solidFill>
                  <a:schemeClr val="tx1"/>
                </a:solidFill>
                <a:latin typeface="Arial" charset="0"/>
              </a:rPr>
              <a:t> </a:t>
            </a:r>
            <a:r>
              <a:rPr lang="en-US" sz="1600" kern="1200" dirty="0" err="1">
                <a:solidFill>
                  <a:schemeClr val="tx1"/>
                </a:solidFill>
                <a:latin typeface="Arial" charset="0"/>
              </a:rPr>
              <a:t>principale</a:t>
            </a:r>
            <a:r>
              <a:rPr lang="en-US" sz="1600" kern="1200" dirty="0">
                <a:solidFill>
                  <a:schemeClr val="tx1"/>
                </a:solidFill>
                <a:latin typeface="Arial" charset="0"/>
              </a:rPr>
              <a:t> du </a:t>
            </a:r>
            <a:r>
              <a:rPr lang="en-US" sz="1600" kern="1200" dirty="0" err="1">
                <a:solidFill>
                  <a:schemeClr val="tx1"/>
                </a:solidFill>
                <a:latin typeface="Arial" charset="0"/>
              </a:rPr>
              <a:t>système</a:t>
            </a:r>
            <a:r>
              <a:rPr lang="en-US" sz="1600" kern="1200" dirty="0">
                <a:solidFill>
                  <a:schemeClr val="tx1"/>
                </a:solidFill>
                <a:latin typeface="Arial" charset="0"/>
              </a:rPr>
              <a:t> qui </a:t>
            </a:r>
            <a:r>
              <a:rPr lang="en-US" sz="1600" kern="1200" dirty="0" err="1">
                <a:solidFill>
                  <a:schemeClr val="tx1"/>
                </a:solidFill>
                <a:latin typeface="Arial" charset="0"/>
              </a:rPr>
              <a:t>indique</a:t>
            </a:r>
            <a:r>
              <a:rPr lang="en-US" sz="1600" kern="1200" dirty="0">
                <a:solidFill>
                  <a:schemeClr val="tx1"/>
                </a:solidFill>
                <a:latin typeface="Arial" charset="0"/>
              </a:rPr>
              <a:t> </a:t>
            </a:r>
            <a:r>
              <a:rPr lang="en-US" sz="1600" kern="1200" dirty="0" err="1">
                <a:solidFill>
                  <a:schemeClr val="tx1"/>
                </a:solidFill>
                <a:latin typeface="Arial" charset="0"/>
              </a:rPr>
              <a:t>si</a:t>
            </a:r>
            <a:r>
              <a:rPr lang="en-US" sz="1600" kern="1200" dirty="0">
                <a:solidFill>
                  <a:schemeClr val="tx1"/>
                </a:solidFill>
                <a:latin typeface="Arial" charset="0"/>
              </a:rPr>
              <a:t> la tension du bus </a:t>
            </a:r>
            <a:r>
              <a:rPr lang="en-US" sz="1600" kern="1200" dirty="0" err="1">
                <a:solidFill>
                  <a:schemeClr val="tx1"/>
                </a:solidFill>
                <a:latin typeface="Arial" charset="0"/>
              </a:rPr>
              <a:t>est</a:t>
            </a:r>
            <a:r>
              <a:rPr lang="en-US" sz="1600" kern="1200" dirty="0">
                <a:solidFill>
                  <a:schemeClr val="tx1"/>
                </a:solidFill>
                <a:latin typeface="Arial" charset="0"/>
              </a:rPr>
              <a:t> </a:t>
            </a:r>
            <a:r>
              <a:rPr lang="en-US" sz="1600" kern="1200" dirty="0" err="1">
                <a:solidFill>
                  <a:schemeClr val="tx1"/>
                </a:solidFill>
                <a:latin typeface="Arial" charset="0"/>
              </a:rPr>
              <a:t>présente</a:t>
            </a:r>
            <a:r>
              <a:rPr lang="en-US" sz="1600" kern="1200" dirty="0">
                <a:solidFill>
                  <a:schemeClr val="tx1"/>
                </a:solidFill>
                <a:latin typeface="Arial" charset="0"/>
              </a:rPr>
              <a:t> à la </a:t>
            </a:r>
            <a:r>
              <a:rPr lang="en-US" sz="1600" kern="1200" dirty="0" err="1">
                <a:solidFill>
                  <a:schemeClr val="tx1"/>
                </a:solidFill>
                <a:latin typeface="Arial" charset="0"/>
              </a:rPr>
              <a:t>ligne</a:t>
            </a:r>
            <a:r>
              <a:rPr lang="en-US" sz="1600" kern="1200" dirty="0">
                <a:solidFill>
                  <a:schemeClr val="tx1"/>
                </a:solidFill>
                <a:latin typeface="Arial" charset="0"/>
              </a:rPr>
              <a:t> 1 </a:t>
            </a:r>
            <a:r>
              <a:rPr lang="en-US" sz="1600" kern="1200" dirty="0" err="1">
                <a:solidFill>
                  <a:schemeClr val="tx1"/>
                </a:solidFill>
                <a:latin typeface="Arial" charset="0"/>
              </a:rPr>
              <a:t>ou</a:t>
            </a:r>
            <a:r>
              <a:rPr lang="en-US" sz="1600" kern="1200" dirty="0">
                <a:solidFill>
                  <a:schemeClr val="tx1"/>
                </a:solidFill>
                <a:latin typeface="Arial" charset="0"/>
              </a:rPr>
              <a:t> 2. Le </a:t>
            </a:r>
            <a:r>
              <a:rPr lang="en-US" sz="1600" kern="1200" dirty="0" err="1">
                <a:solidFill>
                  <a:schemeClr val="tx1"/>
                </a:solidFill>
                <a:latin typeface="Arial" charset="0"/>
              </a:rPr>
              <a:t>contrôleur</a:t>
            </a:r>
            <a:r>
              <a:rPr lang="en-US" sz="1600" kern="1200" dirty="0">
                <a:solidFill>
                  <a:schemeClr val="tx1"/>
                </a:solidFill>
                <a:latin typeface="Arial" charset="0"/>
              </a:rPr>
              <a:t> doit </a:t>
            </a:r>
            <a:r>
              <a:rPr lang="en-US" sz="1600" kern="1200" dirty="0" err="1">
                <a:solidFill>
                  <a:schemeClr val="tx1"/>
                </a:solidFill>
                <a:latin typeface="Arial" charset="0"/>
              </a:rPr>
              <a:t>fournir</a:t>
            </a:r>
            <a:r>
              <a:rPr lang="en-US" sz="1600" kern="1200" dirty="0">
                <a:solidFill>
                  <a:schemeClr val="tx1"/>
                </a:solidFill>
                <a:latin typeface="Arial" charset="0"/>
              </a:rPr>
              <a:t> </a:t>
            </a:r>
            <a:r>
              <a:rPr lang="en-US" sz="1600" kern="1200" dirty="0" err="1">
                <a:solidFill>
                  <a:schemeClr val="tx1"/>
                </a:solidFill>
                <a:latin typeface="Arial" charset="0"/>
              </a:rPr>
              <a:t>une</a:t>
            </a:r>
            <a:r>
              <a:rPr lang="en-US" sz="1600" kern="1200" dirty="0">
                <a:solidFill>
                  <a:schemeClr val="tx1"/>
                </a:solidFill>
                <a:latin typeface="Arial" charset="0"/>
              </a:rPr>
              <a:t> </a:t>
            </a:r>
            <a:r>
              <a:rPr lang="en-US" sz="1600" kern="1200" dirty="0" err="1">
                <a:solidFill>
                  <a:schemeClr val="tx1"/>
                </a:solidFill>
                <a:latin typeface="Arial" charset="0"/>
              </a:rPr>
              <a:t>opération</a:t>
            </a:r>
            <a:r>
              <a:rPr lang="en-US" sz="1600" kern="1200" dirty="0">
                <a:solidFill>
                  <a:schemeClr val="tx1"/>
                </a:solidFill>
                <a:latin typeface="Arial" charset="0"/>
              </a:rPr>
              <a:t> de commutation de temps</a:t>
            </a:r>
          </a:p>
          <a:p>
            <a:pPr algn="just" eaLnBrk="1" hangingPunct="1">
              <a:buFont typeface="+mj-lt"/>
              <a:buAutoNum type="arabicPeriod"/>
              <a:defRPr/>
            </a:pPr>
            <a:endParaRPr lang="en-US" sz="1600" kern="1200" dirty="0">
              <a:solidFill>
                <a:schemeClr val="tx1"/>
              </a:solidFill>
              <a:latin typeface="Arial" charset="0"/>
            </a:endParaRPr>
          </a:p>
          <a:p>
            <a:pPr algn="just" eaLnBrk="1" hangingPunct="1">
              <a:buFont typeface="+mj-lt"/>
              <a:buAutoNum type="arabicPeriod"/>
              <a:defRPr/>
            </a:pPr>
            <a:r>
              <a:rPr lang="en-US" sz="1600" kern="1200" dirty="0" err="1">
                <a:solidFill>
                  <a:schemeClr val="tx1"/>
                </a:solidFill>
                <a:latin typeface="Arial" charset="0"/>
              </a:rPr>
              <a:t>Intégrez</a:t>
            </a:r>
            <a:r>
              <a:rPr lang="en-US" sz="1600" kern="1200" dirty="0">
                <a:solidFill>
                  <a:schemeClr val="tx1"/>
                </a:solidFill>
                <a:latin typeface="Arial" charset="0"/>
              </a:rPr>
              <a:t> un </a:t>
            </a:r>
            <a:r>
              <a:rPr lang="en-US" sz="1600" kern="1200" dirty="0" err="1">
                <a:solidFill>
                  <a:schemeClr val="tx1"/>
                </a:solidFill>
                <a:latin typeface="Arial" charset="0"/>
              </a:rPr>
              <a:t>capteur</a:t>
            </a:r>
            <a:r>
              <a:rPr lang="en-US" sz="1600" kern="1200" dirty="0">
                <a:solidFill>
                  <a:schemeClr val="tx1"/>
                </a:solidFill>
                <a:latin typeface="Arial" charset="0"/>
              </a:rPr>
              <a:t> de vent dans </a:t>
            </a:r>
            <a:r>
              <a:rPr lang="en-US" sz="1600" kern="1200" dirty="0" err="1">
                <a:solidFill>
                  <a:schemeClr val="tx1"/>
                </a:solidFill>
                <a:latin typeface="Arial" charset="0"/>
              </a:rPr>
              <a:t>votre</a:t>
            </a:r>
            <a:r>
              <a:rPr lang="en-US" sz="1600" kern="1200" dirty="0">
                <a:solidFill>
                  <a:schemeClr val="tx1"/>
                </a:solidFill>
                <a:latin typeface="Arial" charset="0"/>
              </a:rPr>
              <a:t> </a:t>
            </a:r>
            <a:r>
              <a:rPr lang="en-US" sz="1600" kern="1200" dirty="0" err="1">
                <a:solidFill>
                  <a:schemeClr val="tx1"/>
                </a:solidFill>
                <a:latin typeface="Arial" charset="0"/>
              </a:rPr>
              <a:t>système</a:t>
            </a:r>
            <a:r>
              <a:rPr lang="en-US" sz="1600" kern="1200" dirty="0">
                <a:solidFill>
                  <a:schemeClr val="tx1"/>
                </a:solidFill>
                <a:latin typeface="Arial" charset="0"/>
              </a:rPr>
              <a:t> qui agit sur les </a:t>
            </a:r>
            <a:r>
              <a:rPr lang="en-US" sz="1600" kern="1200" dirty="0" err="1">
                <a:solidFill>
                  <a:schemeClr val="tx1"/>
                </a:solidFill>
                <a:latin typeface="Arial" charset="0"/>
              </a:rPr>
              <a:t>actionneurs</a:t>
            </a:r>
            <a:r>
              <a:rPr lang="en-US" sz="1600" kern="1200" dirty="0">
                <a:solidFill>
                  <a:schemeClr val="tx1"/>
                </a:solidFill>
                <a:latin typeface="Arial" charset="0"/>
              </a:rPr>
              <a:t> de volets </a:t>
            </a:r>
            <a:r>
              <a:rPr lang="en-US" sz="1600" kern="1200" dirty="0" err="1">
                <a:solidFill>
                  <a:schemeClr val="tx1"/>
                </a:solidFill>
                <a:latin typeface="Arial" charset="0"/>
              </a:rPr>
              <a:t>roulants</a:t>
            </a:r>
            <a:r>
              <a:rPr lang="en-US" sz="1600" kern="1200" dirty="0">
                <a:solidFill>
                  <a:schemeClr val="tx1"/>
                </a:solidFill>
                <a:latin typeface="Arial" charset="0"/>
              </a:rPr>
              <a:t>. Ce </a:t>
            </a:r>
            <a:r>
              <a:rPr lang="en-US" sz="1600" kern="1200" dirty="0" err="1">
                <a:solidFill>
                  <a:schemeClr val="tx1"/>
                </a:solidFill>
                <a:latin typeface="Arial" charset="0"/>
              </a:rPr>
              <a:t>capteur</a:t>
            </a:r>
            <a:r>
              <a:rPr lang="en-US" sz="1600" kern="1200" dirty="0">
                <a:solidFill>
                  <a:schemeClr val="tx1"/>
                </a:solidFill>
                <a:latin typeface="Arial" charset="0"/>
              </a:rPr>
              <a:t> </a:t>
            </a:r>
            <a:r>
              <a:rPr lang="en-US" sz="1600" kern="1200" dirty="0" err="1">
                <a:solidFill>
                  <a:schemeClr val="tx1"/>
                </a:solidFill>
                <a:latin typeface="Arial" charset="0"/>
              </a:rPr>
              <a:t>devrait</a:t>
            </a:r>
            <a:r>
              <a:rPr lang="en-US" sz="1600" kern="1200" dirty="0">
                <a:solidFill>
                  <a:schemeClr val="tx1"/>
                </a:solidFill>
                <a:latin typeface="Arial" charset="0"/>
              </a:rPr>
              <a:t> </a:t>
            </a:r>
            <a:r>
              <a:rPr lang="en-US" sz="1600" kern="1200" dirty="0" err="1">
                <a:solidFill>
                  <a:schemeClr val="tx1"/>
                </a:solidFill>
                <a:latin typeface="Arial" charset="0"/>
              </a:rPr>
              <a:t>déplacer</a:t>
            </a:r>
            <a:r>
              <a:rPr lang="en-US" sz="1600" kern="1200" dirty="0">
                <a:solidFill>
                  <a:schemeClr val="tx1"/>
                </a:solidFill>
                <a:latin typeface="Arial" charset="0"/>
              </a:rPr>
              <a:t> </a:t>
            </a:r>
            <a:r>
              <a:rPr lang="en-US" sz="1600" kern="1200" dirty="0" err="1">
                <a:solidFill>
                  <a:schemeClr val="tx1"/>
                </a:solidFill>
                <a:latin typeface="Arial" charset="0"/>
              </a:rPr>
              <a:t>l'obturateur</a:t>
            </a:r>
            <a:r>
              <a:rPr lang="en-US" sz="1600" kern="1200" dirty="0">
                <a:solidFill>
                  <a:schemeClr val="tx1"/>
                </a:solidFill>
                <a:latin typeface="Arial" charset="0"/>
              </a:rPr>
              <a:t> dans la position </a:t>
            </a:r>
            <a:r>
              <a:rPr lang="en-US" sz="1600" kern="1200" dirty="0" err="1">
                <a:solidFill>
                  <a:schemeClr val="tx1"/>
                </a:solidFill>
                <a:latin typeface="Arial" charset="0"/>
              </a:rPr>
              <a:t>limite</a:t>
            </a:r>
            <a:r>
              <a:rPr lang="en-US" sz="1600" kern="1200" dirty="0">
                <a:solidFill>
                  <a:schemeClr val="tx1"/>
                </a:solidFill>
                <a:latin typeface="Arial" charset="0"/>
              </a:rPr>
              <a:t> supérieure </a:t>
            </a:r>
            <a:r>
              <a:rPr lang="en-US" sz="1600" kern="1200" dirty="0" err="1">
                <a:solidFill>
                  <a:schemeClr val="tx1"/>
                </a:solidFill>
                <a:latin typeface="Arial" charset="0"/>
              </a:rPr>
              <a:t>lorsque</a:t>
            </a:r>
            <a:r>
              <a:rPr lang="en-US" sz="1600" kern="1200" dirty="0">
                <a:solidFill>
                  <a:schemeClr val="tx1"/>
                </a:solidFill>
                <a:latin typeface="Arial" charset="0"/>
              </a:rPr>
              <a:t> la </a:t>
            </a:r>
            <a:r>
              <a:rPr lang="en-US" sz="1600" kern="1200" dirty="0" err="1">
                <a:solidFill>
                  <a:schemeClr val="tx1"/>
                </a:solidFill>
                <a:latin typeface="Arial" charset="0"/>
              </a:rPr>
              <a:t>valeur</a:t>
            </a:r>
            <a:r>
              <a:rPr lang="en-US" sz="1600" kern="1200" dirty="0">
                <a:solidFill>
                  <a:schemeClr val="tx1"/>
                </a:solidFill>
                <a:latin typeface="Arial" charset="0"/>
              </a:rPr>
              <a:t> </a:t>
            </a:r>
            <a:r>
              <a:rPr lang="en-US" sz="1600" kern="1200" dirty="0" err="1">
                <a:solidFill>
                  <a:schemeClr val="tx1"/>
                </a:solidFill>
                <a:latin typeface="Arial" charset="0"/>
              </a:rPr>
              <a:t>limite</a:t>
            </a:r>
            <a:r>
              <a:rPr lang="en-US" sz="1600" kern="1200" dirty="0">
                <a:solidFill>
                  <a:schemeClr val="tx1"/>
                </a:solidFill>
                <a:latin typeface="Arial" charset="0"/>
              </a:rPr>
              <a:t> </a:t>
            </a:r>
            <a:r>
              <a:rPr lang="en-US" sz="1600" kern="1200" dirty="0" err="1">
                <a:solidFill>
                  <a:schemeClr val="tx1"/>
                </a:solidFill>
                <a:latin typeface="Arial" charset="0"/>
              </a:rPr>
              <a:t>est</a:t>
            </a:r>
            <a:r>
              <a:rPr lang="en-US" sz="1600" kern="1200" dirty="0">
                <a:solidFill>
                  <a:schemeClr val="tx1"/>
                </a:solidFill>
                <a:latin typeface="Arial" charset="0"/>
              </a:rPr>
              <a:t> </a:t>
            </a:r>
            <a:r>
              <a:rPr lang="en-US" sz="1600" kern="1200" dirty="0" err="1">
                <a:solidFill>
                  <a:schemeClr val="tx1"/>
                </a:solidFill>
                <a:latin typeface="Arial" charset="0"/>
              </a:rPr>
              <a:t>dépassée</a:t>
            </a:r>
            <a:r>
              <a:rPr lang="en-US" sz="1600" kern="1200" dirty="0">
                <a:solidFill>
                  <a:schemeClr val="tx1"/>
                </a:solidFill>
                <a:latin typeface="Arial" charset="0"/>
              </a:rPr>
              <a:t>. </a:t>
            </a:r>
            <a:r>
              <a:rPr lang="en-US" sz="1600" kern="1200" dirty="0" err="1">
                <a:solidFill>
                  <a:schemeClr val="tx1"/>
                </a:solidFill>
                <a:latin typeface="Arial" charset="0"/>
              </a:rPr>
              <a:t>L'information</a:t>
            </a:r>
            <a:r>
              <a:rPr lang="en-US" sz="1600" kern="1200" dirty="0">
                <a:solidFill>
                  <a:schemeClr val="tx1"/>
                </a:solidFill>
                <a:latin typeface="Arial" charset="0"/>
              </a:rPr>
              <a:t> du </a:t>
            </a:r>
            <a:r>
              <a:rPr lang="en-US" sz="1600" kern="1200" dirty="0" err="1">
                <a:solidFill>
                  <a:schemeClr val="tx1"/>
                </a:solidFill>
                <a:latin typeface="Arial" charset="0"/>
              </a:rPr>
              <a:t>télégramme</a:t>
            </a:r>
            <a:r>
              <a:rPr lang="en-US" sz="1600" kern="1200" dirty="0">
                <a:solidFill>
                  <a:schemeClr val="tx1"/>
                </a:solidFill>
                <a:latin typeface="Arial" charset="0"/>
              </a:rPr>
              <a:t> de vent </a:t>
            </a:r>
            <a:r>
              <a:rPr lang="en-US" sz="1600" kern="1200" dirty="0" err="1">
                <a:solidFill>
                  <a:schemeClr val="tx1"/>
                </a:solidFill>
                <a:latin typeface="Arial" charset="0"/>
              </a:rPr>
              <a:t>cyclique</a:t>
            </a:r>
            <a:r>
              <a:rPr lang="en-US" sz="1600" kern="1200" dirty="0">
                <a:solidFill>
                  <a:schemeClr val="tx1"/>
                </a:solidFill>
                <a:latin typeface="Arial" charset="0"/>
              </a:rPr>
              <a:t> doit </a:t>
            </a:r>
            <a:r>
              <a:rPr lang="en-US" sz="1600" kern="1200" dirty="0" err="1">
                <a:solidFill>
                  <a:schemeClr val="tx1"/>
                </a:solidFill>
                <a:latin typeface="Arial" charset="0"/>
              </a:rPr>
              <a:t>également</a:t>
            </a:r>
            <a:r>
              <a:rPr lang="en-US" sz="1600" kern="1200" dirty="0">
                <a:solidFill>
                  <a:schemeClr val="tx1"/>
                </a:solidFill>
                <a:latin typeface="Arial" charset="0"/>
              </a:rPr>
              <a:t> </a:t>
            </a:r>
            <a:r>
              <a:rPr lang="en-US" sz="1600" kern="1200" dirty="0" err="1">
                <a:solidFill>
                  <a:schemeClr val="tx1"/>
                </a:solidFill>
                <a:latin typeface="Arial" charset="0"/>
              </a:rPr>
              <a:t>être</a:t>
            </a:r>
            <a:r>
              <a:rPr lang="en-US" sz="1600" kern="1200" dirty="0">
                <a:solidFill>
                  <a:schemeClr val="tx1"/>
                </a:solidFill>
                <a:latin typeface="Arial" charset="0"/>
              </a:rPr>
              <a:t> </a:t>
            </a:r>
            <a:r>
              <a:rPr lang="en-US" sz="1600" kern="1200" dirty="0" err="1">
                <a:solidFill>
                  <a:schemeClr val="tx1"/>
                </a:solidFill>
                <a:latin typeface="Arial" charset="0"/>
              </a:rPr>
              <a:t>représentée</a:t>
            </a:r>
            <a:r>
              <a:rPr lang="en-US" sz="1600" kern="1200" dirty="0">
                <a:solidFill>
                  <a:schemeClr val="tx1"/>
                </a:solidFill>
                <a:latin typeface="Arial" charset="0"/>
              </a:rPr>
              <a:t> sur la </a:t>
            </a:r>
            <a:r>
              <a:rPr lang="en-US" sz="1600" kern="1200" dirty="0" err="1">
                <a:solidFill>
                  <a:schemeClr val="tx1"/>
                </a:solidFill>
                <a:latin typeface="Arial" charset="0"/>
              </a:rPr>
              <a:t>ligne</a:t>
            </a:r>
            <a:r>
              <a:rPr lang="en-US" sz="1600" kern="1200" dirty="0">
                <a:solidFill>
                  <a:schemeClr val="tx1"/>
                </a:solidFill>
                <a:latin typeface="Arial" charset="0"/>
              </a:rPr>
              <a:t> </a:t>
            </a:r>
            <a:r>
              <a:rPr lang="en-US" sz="1600" kern="1200" dirty="0" err="1">
                <a:solidFill>
                  <a:schemeClr val="tx1"/>
                </a:solidFill>
                <a:latin typeface="Arial" charset="0"/>
              </a:rPr>
              <a:t>principale</a:t>
            </a:r>
            <a:r>
              <a:rPr lang="en-US" sz="1600" kern="1200" dirty="0">
                <a:solidFill>
                  <a:schemeClr val="tx1"/>
                </a:solidFill>
                <a:latin typeface="Arial" charset="0"/>
              </a:rPr>
              <a:t> de </a:t>
            </a:r>
            <a:r>
              <a:rPr lang="en-US" sz="1600" kern="1200" dirty="0" err="1">
                <a:solidFill>
                  <a:schemeClr val="tx1"/>
                </a:solidFill>
                <a:latin typeface="Arial" charset="0"/>
              </a:rPr>
              <a:t>l'appareil</a:t>
            </a:r>
            <a:r>
              <a:rPr lang="en-US" sz="1600" kern="1200" dirty="0">
                <a:solidFill>
                  <a:schemeClr val="tx1"/>
                </a:solidFill>
                <a:latin typeface="Arial" charset="0"/>
              </a:rPr>
              <a:t> de sortie</a:t>
            </a:r>
          </a:p>
        </p:txBody>
      </p:sp>
    </p:spTree>
    <p:extLst>
      <p:ext uri="{BB962C8B-B14F-4D97-AF65-F5344CB8AC3E}">
        <p14:creationId xmlns:p14="http://schemas.microsoft.com/office/powerpoint/2010/main" val="2013027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7240</TotalTime>
  <Words>4183</Words>
  <Application>Microsoft Office PowerPoint</Application>
  <PresentationFormat>On-screen Show (4:3)</PresentationFormat>
  <Paragraphs>245</Paragraphs>
  <Slides>18</Slides>
  <Notes>18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Gotham Light</vt:lpstr>
      <vt:lpstr>Gotham Medium</vt:lpstr>
      <vt:lpstr>Wingdings</vt:lpstr>
      <vt:lpstr>Training 2</vt:lpstr>
      <vt:lpstr>Microsoft Visio Drawing</vt:lpstr>
      <vt:lpstr>COURS AVANCÉ KNX Annex informative</vt:lpstr>
      <vt:lpstr>Informations générales</vt:lpstr>
      <vt:lpstr>Mesures Logicielles</vt:lpstr>
      <vt:lpstr>Télégrammes Cycliques pour la Surveillance</vt:lpstr>
      <vt:lpstr>Paramétrage d'une Station Météo</vt:lpstr>
      <vt:lpstr>Priorité d'un Télégramme</vt:lpstr>
      <vt:lpstr>Comportement après la récupération de la tension de bus</vt:lpstr>
      <vt:lpstr>Déclenchement en réponse à un télégramme</vt:lpstr>
      <vt:lpstr>Étapes vers une installation KNX infaillible</vt:lpstr>
      <vt:lpstr>Système Distribué avec Contrôleurs</vt:lpstr>
      <vt:lpstr>Modules logiques et visualisation en relation avec les coupleurs </vt:lpstr>
      <vt:lpstr>Actionneurs de Commutation Multicanaux</vt:lpstr>
      <vt:lpstr>Avantages des Coupleurs de Ligne</vt:lpstr>
      <vt:lpstr>Alimentation Électrique de Secours en cas de Panne de Tension</vt:lpstr>
      <vt:lpstr>Disposition Redondante des Blocs d'Alimentation</vt:lpstr>
      <vt:lpstr>Disposition Redondante des Blocs d'Alimentation</vt:lpstr>
      <vt:lpstr>Alimentations Électriques avec Fonction de Diagnostic</vt:lpstr>
      <vt:lpstr>Exemple pratique : Surveillance cyclique de 2 lignes à l'aide d'un contrôleur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349</cp:revision>
  <dcterms:created xsi:type="dcterms:W3CDTF">2012-09-10T07:59:43Z</dcterms:created>
  <dcterms:modified xsi:type="dcterms:W3CDTF">2023-04-07T15:08:22Z</dcterms:modified>
</cp:coreProperties>
</file>