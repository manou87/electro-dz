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17"/>
  </p:notesMasterIdLst>
  <p:handoutMasterIdLst>
    <p:handoutMasterId r:id="rId18"/>
  </p:handoutMasterIdLst>
  <p:sldIdLst>
    <p:sldId id="256" r:id="rId2"/>
    <p:sldId id="258" r:id="rId3"/>
    <p:sldId id="259" r:id="rId4"/>
    <p:sldId id="274" r:id="rId5"/>
    <p:sldId id="275" r:id="rId6"/>
    <p:sldId id="277" r:id="rId7"/>
    <p:sldId id="278" r:id="rId8"/>
    <p:sldId id="279" r:id="rId9"/>
    <p:sldId id="280" r:id="rId10"/>
    <p:sldId id="281" r:id="rId11"/>
    <p:sldId id="282" r:id="rId12"/>
    <p:sldId id="283" r:id="rId13"/>
    <p:sldId id="284" r:id="rId14"/>
    <p:sldId id="285" r:id="rId15"/>
    <p:sldId id="286" r:id="rId16"/>
  </p:sldIdLst>
  <p:sldSz cx="9144000" cy="6858000" type="screen4x3"/>
  <p:notesSz cx="6858000" cy="9144000"/>
  <p:custDataLst>
    <p:tags r:id="rId1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52" d="100"/>
          <a:sy n="52" d="100"/>
        </p:scale>
        <p:origin x="2184" y="26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ldLayoutChg>
      </pc:sldMasterChg>
    </pc:docChg>
  </pc:docChgLst>
  <pc:docChgLst>
    <pc:chgData name="Ufuk Unal" userId="d77f72b3-53d7-4cb7-8425-5a8f29447216" providerId="ADAL" clId="{3725B750-FEEC-4A73-BFFB-BBC01C6C39BE}"/>
    <pc:docChg chg="delSld modSld">
      <pc:chgData name="Ufuk Unal" userId="d77f72b3-53d7-4cb7-8425-5a8f29447216" providerId="ADAL" clId="{3725B750-FEEC-4A73-BFFB-BBC01C6C39BE}" dt="2025-09-26T08:28:48.783" v="4" actId="47"/>
      <pc:docMkLst>
        <pc:docMk/>
      </pc:docMkLst>
      <pc:sldChg chg="modSp mod modNotesTx">
        <pc:chgData name="Ufuk Unal" userId="d77f72b3-53d7-4cb7-8425-5a8f29447216" providerId="ADAL" clId="{3725B750-FEEC-4A73-BFFB-BBC01C6C39BE}" dt="2025-09-26T08:22:40.602" v="3" actId="6549"/>
        <pc:sldMkLst>
          <pc:docMk/>
          <pc:sldMk cId="2188780187" sldId="275"/>
        </pc:sldMkLst>
        <pc:spChg chg="mod">
          <ac:chgData name="Ufuk Unal" userId="d77f72b3-53d7-4cb7-8425-5a8f29447216" providerId="ADAL" clId="{3725B750-FEEC-4A73-BFFB-BBC01C6C39BE}" dt="2025-09-26T08:22:35.490" v="1" actId="6549"/>
          <ac:spMkLst>
            <pc:docMk/>
            <pc:sldMk cId="2188780187" sldId="275"/>
            <ac:spMk id="12" creationId="{A18FBEB3-16D3-4B44-824A-478C8D80107F}"/>
          </ac:spMkLst>
        </pc:spChg>
      </pc:sldChg>
      <pc:sldChg chg="del">
        <pc:chgData name="Ufuk Unal" userId="d77f72b3-53d7-4cb7-8425-5a8f29447216" providerId="ADAL" clId="{3725B750-FEEC-4A73-BFFB-BBC01C6C39BE}" dt="2025-09-26T08:28:48.783" v="4" actId="47"/>
        <pc:sldMkLst>
          <pc:docMk/>
          <pc:sldMk cId="1705278462" sldId="27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26.09.2025</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indicateurs (flags)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Chaque objet de groupe possède cinq à six indicateurs de communication. Ces indicateurs contrôlent les possibilités de communication d'un objet avec le bus.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Réglage d'Indicateurs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la plupart des cas, les indicateurs sont prédéfinis par les fabricants. Toutefois, si la configuration va au-delà des fonctions de base, des adaptations doivent être effectuées.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réglages d'indicateur peuvent avoir lieu dans la vue Bâtiments/Fonctions, dans la vue Adresses de Groupe et dans la vue Topologie des objets des appareils. Les indicateurs peuvent être définis sur des objets individuels ou définis et supprimés simultanément sur plusieurs objets.</a:t>
            </a: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1.1 Exemple: Définir un drapeau dans la vue des bâtiments</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Réglage d'Indicateurs</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1.2 Exemple: Réglage simultané des drapeaux à plusieurs objets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Pour définir ou supprimer des indicateurs sur plusieurs objets simultanément, les objets correspondants doivent être marqués (Shift + clic ou Ctrl + clic) et le réglage est effectué dans les propriétés de l'objet dans la barre latérale.</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20423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err="1">
                <a:solidFill>
                  <a:schemeClr val="tx1"/>
                </a:solidFill>
                <a:effectLst/>
                <a:latin typeface="Arial" charset="0"/>
                <a:ea typeface="+mn-ea"/>
                <a:cs typeface="+mn-cs"/>
              </a:rPr>
              <a:t>L'Indicateur</a:t>
            </a:r>
            <a:r>
              <a:rPr lang="en-GB" sz="1200" b="1" kern="1200" dirty="0">
                <a:solidFill>
                  <a:schemeClr val="tx1"/>
                </a:solidFill>
                <a:effectLst/>
                <a:latin typeface="Arial" charset="0"/>
                <a:ea typeface="+mn-ea"/>
                <a:cs typeface="+mn-cs"/>
              </a:rPr>
              <a:t> de Communication ‘C’</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Le </a:t>
            </a:r>
            <a:r>
              <a:rPr lang="en-GB" sz="1200" kern="1200" dirty="0" err="1">
                <a:solidFill>
                  <a:schemeClr val="tx1"/>
                </a:solidFill>
                <a:effectLst/>
                <a:latin typeface="Arial" charset="0"/>
                <a:ea typeface="+mn-ea"/>
                <a:cs typeface="+mn-cs"/>
              </a:rPr>
              <a:t>drapeau</a:t>
            </a:r>
            <a:r>
              <a:rPr lang="en-GB" sz="1200" kern="1200" dirty="0">
                <a:solidFill>
                  <a:schemeClr val="tx1"/>
                </a:solidFill>
                <a:effectLst/>
                <a:latin typeface="Arial" charset="0"/>
                <a:ea typeface="+mn-ea"/>
                <a:cs typeface="+mn-cs"/>
              </a:rPr>
              <a:t> de communication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le “ switch maître” pour la communication et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défini</a:t>
            </a:r>
            <a:r>
              <a:rPr lang="en-GB" sz="1200" kern="1200" dirty="0">
                <a:solidFill>
                  <a:schemeClr val="tx1"/>
                </a:solidFill>
                <a:effectLst/>
                <a:latin typeface="Arial" charset="0"/>
                <a:ea typeface="+mn-ea"/>
                <a:cs typeface="+mn-cs"/>
              </a:rPr>
              <a:t> par </a:t>
            </a:r>
            <a:r>
              <a:rPr lang="en-GB" sz="1200" kern="1200" dirty="0" err="1">
                <a:solidFill>
                  <a:schemeClr val="tx1"/>
                </a:solidFill>
                <a:effectLst/>
                <a:latin typeface="Arial" charset="0"/>
                <a:ea typeface="+mn-ea"/>
                <a:cs typeface="+mn-cs"/>
              </a:rPr>
              <a:t>défaut</a:t>
            </a:r>
            <a:r>
              <a:rPr lang="en-GB" sz="1200" kern="1200" dirty="0">
                <a:solidFill>
                  <a:schemeClr val="tx1"/>
                </a:solidFill>
                <a:effectLst/>
                <a:latin typeface="Arial" charset="0"/>
                <a:ea typeface="+mn-ea"/>
                <a:cs typeface="+mn-cs"/>
              </a:rPr>
              <a:t> à </a:t>
            </a:r>
            <a:r>
              <a:rPr lang="en-GB" sz="1200" kern="1200" dirty="0" err="1">
                <a:solidFill>
                  <a:schemeClr val="tx1"/>
                </a:solidFill>
                <a:effectLst/>
                <a:latin typeface="Arial" charset="0"/>
                <a:ea typeface="+mn-ea"/>
                <a:cs typeface="+mn-cs"/>
              </a:rPr>
              <a:t>tous</a:t>
            </a:r>
            <a:r>
              <a:rPr lang="en-GB" sz="1200" kern="1200" dirty="0">
                <a:solidFill>
                  <a:schemeClr val="tx1"/>
                </a:solidFill>
                <a:effectLst/>
                <a:latin typeface="Arial" charset="0"/>
                <a:ea typeface="+mn-ea"/>
                <a:cs typeface="+mn-cs"/>
              </a:rPr>
              <a:t> les </a:t>
            </a:r>
            <a:r>
              <a:rPr lang="en-GB" sz="1200" kern="1200" dirty="0" err="1">
                <a:solidFill>
                  <a:schemeClr val="tx1"/>
                </a:solidFill>
                <a:effectLst/>
                <a:latin typeface="Arial" charset="0"/>
                <a:ea typeface="+mn-ea"/>
                <a:cs typeface="+mn-cs"/>
              </a:rPr>
              <a:t>objets</a:t>
            </a:r>
            <a:r>
              <a:rPr lang="en-GB" sz="1200" kern="1200" dirty="0">
                <a:solidFill>
                  <a:schemeClr val="tx1"/>
                </a:solidFill>
                <a:effectLst/>
                <a:latin typeface="Arial" charset="0"/>
                <a:ea typeface="+mn-ea"/>
                <a:cs typeface="+mn-cs"/>
              </a:rPr>
              <a:t> du </a:t>
            </a:r>
            <a:r>
              <a:rPr lang="en-GB" sz="1200" kern="1200" dirty="0" err="1">
                <a:solidFill>
                  <a:schemeClr val="tx1"/>
                </a:solidFill>
                <a:effectLst/>
                <a:latin typeface="Arial" charset="0"/>
                <a:ea typeface="+mn-ea"/>
                <a:cs typeface="+mn-cs"/>
              </a:rPr>
              <a:t>groupe</a:t>
            </a:r>
            <a:r>
              <a:rPr lang="en-GB" sz="1200" kern="1200" dirty="0">
                <a:solidFill>
                  <a:schemeClr val="tx1"/>
                </a:solidFill>
                <a:effectLst/>
                <a:latin typeface="Arial" charset="0"/>
                <a:ea typeface="+mn-ea"/>
                <a:cs typeface="+mn-cs"/>
              </a:rPr>
              <a:t>. Si </a:t>
            </a:r>
            <a:r>
              <a:rPr lang="en-GB" sz="1200" kern="1200" dirty="0" err="1">
                <a:solidFill>
                  <a:schemeClr val="tx1"/>
                </a:solidFill>
                <a:effectLst/>
                <a:latin typeface="Arial" charset="0"/>
                <a:ea typeface="+mn-ea"/>
                <a:cs typeface="+mn-cs"/>
              </a:rPr>
              <a:t>cet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indicateur</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n'est</a:t>
            </a:r>
            <a:r>
              <a:rPr lang="en-GB" sz="1200" kern="1200" dirty="0">
                <a:solidFill>
                  <a:schemeClr val="tx1"/>
                </a:solidFill>
                <a:effectLst/>
                <a:latin typeface="Arial" charset="0"/>
                <a:ea typeface="+mn-ea"/>
                <a:cs typeface="+mn-cs"/>
              </a:rPr>
              <a:t> pas </a:t>
            </a:r>
            <a:r>
              <a:rPr lang="en-GB" sz="1200" kern="1200" dirty="0" err="1">
                <a:solidFill>
                  <a:schemeClr val="tx1"/>
                </a:solidFill>
                <a:effectLst/>
                <a:latin typeface="Arial" charset="0"/>
                <a:ea typeface="+mn-ea"/>
                <a:cs typeface="+mn-cs"/>
              </a:rPr>
              <a:t>défini</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l'objet</a:t>
            </a:r>
            <a:r>
              <a:rPr lang="en-GB" sz="1200" kern="1200" dirty="0">
                <a:solidFill>
                  <a:schemeClr val="tx1"/>
                </a:solidFill>
                <a:effectLst/>
                <a:latin typeface="Arial" charset="0"/>
                <a:ea typeface="+mn-ea"/>
                <a:cs typeface="+mn-cs"/>
              </a:rPr>
              <a:t> ne </a:t>
            </a:r>
            <a:r>
              <a:rPr lang="en-GB" sz="1200" kern="1200" dirty="0" err="1">
                <a:solidFill>
                  <a:schemeClr val="tx1"/>
                </a:solidFill>
                <a:effectLst/>
                <a:latin typeface="Arial" charset="0"/>
                <a:ea typeface="+mn-ea"/>
                <a:cs typeface="+mn-cs"/>
              </a:rPr>
              <a:t>peut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ni</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envoyer</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ni</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recevoir</a:t>
            </a:r>
            <a:r>
              <a:rPr lang="en-GB" sz="1200" kern="1200" dirty="0">
                <a:solidFill>
                  <a:schemeClr val="tx1"/>
                </a:solidFill>
                <a:effectLst/>
                <a:latin typeface="Arial" charset="0"/>
                <a:ea typeface="+mn-ea"/>
                <a:cs typeface="+mn-cs"/>
              </a:rPr>
              <a:t> de </a:t>
            </a:r>
            <a:r>
              <a:rPr lang="en-GB" sz="1200" kern="1200" dirty="0" err="1">
                <a:solidFill>
                  <a:schemeClr val="tx1"/>
                </a:solidFill>
                <a:effectLst/>
                <a:latin typeface="Arial" charset="0"/>
                <a:ea typeface="+mn-ea"/>
                <a:cs typeface="+mn-cs"/>
              </a:rPr>
              <a:t>télégrammes</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Remarque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Si </a:t>
            </a:r>
            <a:r>
              <a:rPr lang="en-GB" sz="1200" kern="1200" dirty="0" err="1">
                <a:solidFill>
                  <a:schemeClr val="tx1"/>
                </a:solidFill>
                <a:effectLst/>
                <a:latin typeface="Arial" charset="0"/>
                <a:ea typeface="+mn-ea"/>
                <a:cs typeface="+mn-cs"/>
              </a:rPr>
              <a:t>cet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objet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lié</a:t>
            </a:r>
            <a:r>
              <a:rPr lang="en-GB" sz="1200" kern="1200" dirty="0">
                <a:solidFill>
                  <a:schemeClr val="tx1"/>
                </a:solidFill>
                <a:effectLst/>
                <a:latin typeface="Arial" charset="0"/>
                <a:ea typeface="+mn-ea"/>
                <a:cs typeface="+mn-cs"/>
              </a:rPr>
              <a:t> à </a:t>
            </a:r>
            <a:r>
              <a:rPr lang="en-GB" sz="1200" kern="1200" dirty="0" err="1">
                <a:solidFill>
                  <a:schemeClr val="tx1"/>
                </a:solidFill>
                <a:effectLst/>
                <a:latin typeface="Arial" charset="0"/>
                <a:ea typeface="+mn-ea"/>
                <a:cs typeface="+mn-cs"/>
              </a:rPr>
              <a:t>une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adresse</a:t>
            </a:r>
            <a:r>
              <a:rPr lang="en-GB" sz="1200" kern="1200" dirty="0">
                <a:solidFill>
                  <a:schemeClr val="tx1"/>
                </a:solidFill>
                <a:effectLst/>
                <a:latin typeface="Arial" charset="0"/>
                <a:ea typeface="+mn-ea"/>
                <a:cs typeface="+mn-cs"/>
              </a:rPr>
              <a:t> de </a:t>
            </a:r>
            <a:r>
              <a:rPr lang="en-GB" sz="1200" kern="1200" dirty="0" err="1">
                <a:solidFill>
                  <a:schemeClr val="tx1"/>
                </a:solidFill>
                <a:effectLst/>
                <a:latin typeface="Arial" charset="0"/>
                <a:ea typeface="+mn-ea"/>
                <a:cs typeface="+mn-cs"/>
              </a:rPr>
              <a:t>groupe</a:t>
            </a:r>
            <a:r>
              <a:rPr lang="en-GB" sz="1200" kern="1200" dirty="0">
                <a:solidFill>
                  <a:schemeClr val="tx1"/>
                </a:solidFill>
                <a:effectLst/>
                <a:latin typeface="Arial" charset="0"/>
                <a:ea typeface="+mn-ea"/>
                <a:cs typeface="+mn-cs"/>
              </a:rPr>
              <a:t>, un </a:t>
            </a:r>
            <a:r>
              <a:rPr lang="en-GB" sz="1200" kern="1200" dirty="0" err="1">
                <a:solidFill>
                  <a:schemeClr val="tx1"/>
                </a:solidFill>
                <a:effectLst/>
                <a:latin typeface="Arial" charset="0"/>
                <a:ea typeface="+mn-ea"/>
                <a:cs typeface="+mn-cs"/>
              </a:rPr>
              <a:t>accusé</a:t>
            </a:r>
            <a:r>
              <a:rPr lang="en-GB" sz="1200" kern="1200" dirty="0">
                <a:solidFill>
                  <a:schemeClr val="tx1"/>
                </a:solidFill>
                <a:effectLst/>
                <a:latin typeface="Arial" charset="0"/>
                <a:ea typeface="+mn-ea"/>
                <a:cs typeface="+mn-cs"/>
              </a:rPr>
              <a:t> de </a:t>
            </a:r>
            <a:r>
              <a:rPr lang="en-GB" sz="1200" kern="1200" dirty="0" err="1">
                <a:solidFill>
                  <a:schemeClr val="tx1"/>
                </a:solidFill>
                <a:effectLst/>
                <a:latin typeface="Arial" charset="0"/>
                <a:ea typeface="+mn-ea"/>
                <a:cs typeface="+mn-cs"/>
              </a:rPr>
              <a:t>réception</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est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également</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envoyé</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lorsque</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l'indicateur</a:t>
            </a:r>
            <a:r>
              <a:rPr lang="en-GB" sz="1200" kern="1200" dirty="0">
                <a:solidFill>
                  <a:schemeClr val="tx1"/>
                </a:solidFill>
                <a:effectLst/>
                <a:latin typeface="Arial" charset="0"/>
                <a:ea typeface="+mn-ea"/>
                <a:cs typeface="+mn-cs"/>
              </a:rPr>
              <a:t> de communication a </a:t>
            </a:r>
            <a:r>
              <a:rPr lang="en-GB" sz="1200" kern="1200" dirty="0" err="1">
                <a:solidFill>
                  <a:schemeClr val="tx1"/>
                </a:solidFill>
                <a:effectLst/>
                <a:latin typeface="Arial" charset="0"/>
                <a:ea typeface="+mn-ea"/>
                <a:cs typeface="+mn-cs"/>
              </a:rPr>
              <a:t>été</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supprimé</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612110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L'Indicateur d'Écriture 'W'.</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l'indicateur d'écriture est activé, la valeur d'un objet de groupe peut être décrite via le bus avec des adresses de groupe.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Applications typiques :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Un actionneur ne peut être commuté par adresse de groupe que si l'indicateur d'écriture est placé sur son objet de commutation.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Une LED sur un bouton-poussoir ne peut réagir aux adresses de groupe que si l'indicateur d'écriture est placé sur son objet LED.</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a:solidFill>
                  <a:schemeClr val="tx1"/>
                </a:solidFill>
                <a:effectLst/>
                <a:latin typeface="Arial" charset="0"/>
                <a:ea typeface="+mn-ea"/>
                <a:cs typeface="+mn-cs"/>
              </a:rPr>
              <a:t>L'indicateur d'écriture est activé par défaut pour tous les objets de commutation, les objets de valeur sur les actionneurs de gradation ainsi que de nombreux objets de boutons poussoirs (par ex. pour la mise à jour des fonctions inversion/toggle).</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268732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L'indicateur d'Émission 'T'.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drapeau de transmission est défini, un objet de groupe peut </a:t>
            </a:r>
            <a:r>
              <a:rPr lang="en-GB" sz="1200" u="sng" kern="1200">
                <a:solidFill>
                  <a:schemeClr val="tx1"/>
                </a:solidFill>
                <a:effectLst/>
                <a:latin typeface="Arial" charset="0"/>
                <a:ea typeface="+mn-ea"/>
                <a:cs typeface="+mn-cs"/>
              </a:rPr>
              <a:t>transmettre</a:t>
            </a:r>
            <a:r>
              <a:rPr lang="en-GB" sz="1200" kern="1200">
                <a:solidFill>
                  <a:schemeClr val="tx1"/>
                </a:solidFill>
                <a:effectLst/>
                <a:latin typeface="Arial" charset="0"/>
                <a:ea typeface="+mn-ea"/>
                <a:cs typeface="+mn-cs"/>
              </a:rPr>
              <a:t> changements dans sa valeur sur le bus en déclenchant des télégrammes de groupe à l'adresse du groupe d'envoi.</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de l'objet peut être modifiée par exemple par une action sur un bouton-poussoir, un changement de température ou la réception d'un adresse de groupe.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L'indicateur d'émission est activé par défaut pour les capteurs et, dans la plupart des cas, également pour les objets d'état des actionneurs.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13280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d'un Indicateur d'Émission</a:t>
            </a:r>
            <a:endParaRPr lang="es-ES" sz="1200" b="1"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8 : Exemple: Des configurations spécifiques de transmission de drapeau peuvent déclencher des réactions de télégramme en chaîne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l'exemple, deux actionneurs de gradation sont commutés en parallèle. Le drapeau de transmission a été défini pour </a:t>
            </a:r>
            <a:r>
              <a:rPr lang="en-GB" sz="1200" u="sng" kern="1200">
                <a:solidFill>
                  <a:schemeClr val="tx1"/>
                </a:solidFill>
                <a:effectLst/>
                <a:latin typeface="Arial" charset="0"/>
                <a:ea typeface="+mn-ea"/>
                <a:cs typeface="+mn-cs"/>
              </a:rPr>
              <a:t>les deux</a:t>
            </a:r>
            <a:r>
              <a:rPr lang="en-GB" sz="1200" kern="1200">
                <a:solidFill>
                  <a:schemeClr val="tx1"/>
                </a:solidFill>
                <a:effectLst/>
                <a:latin typeface="Arial" charset="0"/>
                <a:ea typeface="+mn-ea"/>
                <a:cs typeface="+mn-cs"/>
              </a:rPr>
              <a:t> actionneurs de gradation à l'objet commutateur/statut combiné.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cette configuration, les deux actionneurs envoient un télégramme au 1/0/1 après chaque mise à jour de l'état de commutation. L' autre actionneur reçoit le télégramme et envoie un télégramme de mise à jour. Résultat : Une réaction en chaîne des télégrammes de mise à jour. Le bus est soumis à une forte charge et les actionneurs peuvent ne plus réagir.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506326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 indicateur de Lecture 'R'.</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 indicateur de lecture permet de lire la valeur de l'objet par télégramme de lecture.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Cette fonction est nécessaire pour la visualisation, les scènes d'éclairage, etc. pour interroger l'état actuel de l'objet.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Plus précisément : Si le télégramme lu est défini à un objet, les appareils de bus répondent à un télégramme de requête en lecture avec un télégramme de réponse à l'adresse du groupe d'envoi de l'objet. Si l'indicateur de lecture est supprimé, il n'y a pas de réponse.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L'indicateur de lecture n'est pas activé par défaut dans la plupart des cas. L'indicateur est activé par de nombreux fabricants pour les objets de statut.</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3540668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d'un Indicateur d'Émission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représente la séquence d'un ordre de lecture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par une visualisation (1.1.255)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sur l'objet d'état (indicateur de lecture activé ici) d'un actionneur de commutation (1.1.1)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par l'adresse de groupe 3/2/1 (état du feu 1) :</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583911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Caractéristiques spéciales des indicateurs de lecture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Certaines caractéristiques spécifiques doivent être notées lors de l'utilisation des indicateurs de lecture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a:solidFill>
                  <a:schemeClr val="tx1"/>
                </a:solidFill>
                <a:effectLst/>
                <a:latin typeface="Arial" charset="0"/>
                <a:ea typeface="+mn-ea"/>
                <a:cs typeface="+mn-cs"/>
              </a:rPr>
              <a:t>L'indicateur de lecture ne doit être placé que sur l'appareil bus qui doit répondre.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drapeau en lecture n'est </a:t>
            </a:r>
            <a:r>
              <a:rPr lang="en-GB" sz="1200" b="1" kern="1200">
                <a:solidFill>
                  <a:schemeClr val="tx1"/>
                </a:solidFill>
                <a:effectLst/>
                <a:latin typeface="Arial" charset="0"/>
                <a:ea typeface="+mn-ea"/>
                <a:cs typeface="+mn-cs"/>
              </a:rPr>
              <a:t>défini qu'une seule fois</a:t>
            </a:r>
            <a:r>
              <a:rPr lang="en-GB" sz="1200" kern="1200">
                <a:solidFill>
                  <a:schemeClr val="tx1"/>
                </a:solidFill>
                <a:effectLst/>
                <a:latin typeface="Arial" charset="0"/>
                <a:ea typeface="+mn-ea"/>
                <a:cs typeface="+mn-cs"/>
              </a:rPr>
              <a:t> pour chaque adresse de groupe.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Si l'indicateur de lecture a été activé pour une adresse de groupe à plusieurs objets, une demande de lecture déclencherait plusieurs télégrammes de réponse. Différentes valeurs d'état pouvaient être répondues peu de temps après l'une l'autre. Les effets sur les appareils de lecture seraient alors difficiles à prévoir.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a:solidFill>
                  <a:schemeClr val="tx1"/>
                </a:solidFill>
                <a:effectLst/>
                <a:latin typeface="Arial" charset="0"/>
                <a:ea typeface="+mn-ea"/>
                <a:cs typeface="+mn-cs"/>
              </a:rPr>
              <a:t>Le groupe d'adresse qui est utilisé pour lire le statut d'objet </a:t>
            </a:r>
            <a:r>
              <a:rPr lang="en-GB" sz="1200" b="1" u="sng" kern="1200">
                <a:solidFill>
                  <a:schemeClr val="tx1"/>
                </a:solidFill>
                <a:effectLst/>
                <a:latin typeface="Arial" charset="0"/>
                <a:ea typeface="+mn-ea"/>
                <a:cs typeface="+mn-cs"/>
              </a:rPr>
              <a:t>doit</a:t>
            </a:r>
            <a:r>
              <a:rPr lang="en-GB" sz="1200" b="1" kern="1200">
                <a:solidFill>
                  <a:schemeClr val="tx1"/>
                </a:solidFill>
                <a:effectLst/>
                <a:latin typeface="Arial" charset="0"/>
                <a:ea typeface="+mn-ea"/>
                <a:cs typeface="+mn-cs"/>
              </a:rPr>
              <a:t> être placé au point de transmission du périphérique de bus qui doit être lu.</a:t>
            </a:r>
            <a:r>
              <a:rPr lang="en-GB" sz="1200" kern="1200">
                <a:solidFill>
                  <a:schemeClr val="tx1"/>
                </a:solidFill>
                <a:effectLst/>
                <a:latin typeface="Arial" charset="0"/>
                <a:ea typeface="+mn-ea"/>
                <a:cs typeface="+mn-cs"/>
              </a:rPr>
              <a:t> car l'adresse du groupe d'envoi n'est utilisée que comme une destination dans le télégramme de réponse (voir l'exemple suivant).</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 L'adresse de groupe pour la demande de lecture serait le 3/1/6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Caractéristiques spéciales des indicateurs de lecture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Certaines caractéristiques spécifiques doivent être notées lors de l'utilisation des indicateurs de lecture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a:solidFill>
                  <a:schemeClr val="tx1"/>
                </a:solidFill>
                <a:effectLst/>
                <a:latin typeface="Arial" charset="0"/>
                <a:ea typeface="+mn-ea"/>
                <a:cs typeface="+mn-cs"/>
              </a:rPr>
              <a:t>L'indicateur de lecture ne doit être placé que sur l'appareil bus qui doit répondre.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drapeau en lecture n'est </a:t>
            </a:r>
            <a:r>
              <a:rPr lang="en-GB" sz="1200" b="1" kern="1200">
                <a:solidFill>
                  <a:schemeClr val="tx1"/>
                </a:solidFill>
                <a:effectLst/>
                <a:latin typeface="Arial" charset="0"/>
                <a:ea typeface="+mn-ea"/>
                <a:cs typeface="+mn-cs"/>
              </a:rPr>
              <a:t>défini qu'une seule fois</a:t>
            </a:r>
            <a:r>
              <a:rPr lang="en-GB" sz="1200" kern="1200">
                <a:solidFill>
                  <a:schemeClr val="tx1"/>
                </a:solidFill>
                <a:effectLst/>
                <a:latin typeface="Arial" charset="0"/>
                <a:ea typeface="+mn-ea"/>
                <a:cs typeface="+mn-cs"/>
              </a:rPr>
              <a:t> pour chaque adresse de groupe.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Si l'indicateur de lecture a été activé pour une adresse de groupe à plusieurs objets, une demande de lecture déclencherait plusieurs télégrammes de réponse. Différentes valeurs d'état pouvaient être répondues peu de temps après l'une l'autre. Les effets sur les appareils de lecture seraient alors difficiles à prévoir.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a:solidFill>
                  <a:schemeClr val="tx1"/>
                </a:solidFill>
                <a:effectLst/>
                <a:latin typeface="Arial" charset="0"/>
                <a:ea typeface="+mn-ea"/>
                <a:cs typeface="+mn-cs"/>
              </a:rPr>
              <a:t>Le groupe d'adresse qui est utilisé pour lire le statut d'objet </a:t>
            </a:r>
            <a:r>
              <a:rPr lang="en-GB" sz="1200" b="1" u="sng" kern="1200">
                <a:solidFill>
                  <a:schemeClr val="tx1"/>
                </a:solidFill>
                <a:effectLst/>
                <a:latin typeface="Arial" charset="0"/>
                <a:ea typeface="+mn-ea"/>
                <a:cs typeface="+mn-cs"/>
              </a:rPr>
              <a:t>doit</a:t>
            </a:r>
            <a:r>
              <a:rPr lang="en-GB" sz="1200" b="1" kern="1200">
                <a:solidFill>
                  <a:schemeClr val="tx1"/>
                </a:solidFill>
                <a:effectLst/>
                <a:latin typeface="Arial" charset="0"/>
                <a:ea typeface="+mn-ea"/>
                <a:cs typeface="+mn-cs"/>
              </a:rPr>
              <a:t> être placé au point de transmission du périphérique de bus qui doit être lu.</a:t>
            </a:r>
            <a:r>
              <a:rPr lang="en-GB" sz="1200" kern="1200">
                <a:solidFill>
                  <a:schemeClr val="tx1"/>
                </a:solidFill>
                <a:effectLst/>
                <a:latin typeface="Arial" charset="0"/>
                <a:ea typeface="+mn-ea"/>
                <a:cs typeface="+mn-cs"/>
              </a:rPr>
              <a:t> car l'adresse du groupe d'envoi n'est utilisée que comme une destination dans le télégramme de réponse (voir l'exemple suivant).</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 L'adresse de groupe pour la demande de lecture serait le 3/1/6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1858185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drapeau de mise à jour 'U'</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L'indicateur de mise à jour adopte un rôle spécial : il contrôle si les télégrammes de réponse reçus doivent être ignorés ou si la valeur reçue doit être transférée à l'objet de groupe.</a:t>
            </a:r>
          </a:p>
          <a:p>
            <a:endParaRPr lang="en-U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Si l'indicateur de mise à jour est activé, un télégramme de réponse d'une procédure de lecture est interprété comme un télégramme d'écriture " normal ", c'est-à-dire que la valeur de l'objet groupe est modifiée par le télégramme de réponse. </a:t>
            </a:r>
          </a:p>
          <a:p>
            <a:endParaRPr lang="en-U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S'il est supprimé, les télégrammes de réponse sont ignorés.</a:t>
            </a:r>
          </a:p>
          <a:p>
            <a:endParaRPr lang="en-U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Les indicateurs de mise à jour ne peuvent être supprimés qu'à partir des coupleurs de bus du système 2. </a:t>
            </a:r>
          </a:p>
          <a:p>
            <a:endParaRPr lang="en-U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Dans le cas des coupleurs de bus du système 1, l'indicateur de mise à jour est toujours activé. Les appareils avec BCU1 ne font pas de distinction entre les télégrammes de réponse et les télégrammes d'écriture " normaux ". Ils modifient donc leur statut d'objet à la suite de séquences de lecture/réponse !</a:t>
            </a: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2424330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d'Interaction entre l'Indicateur de Lecture et de Mise à jour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suivant clarifie l'interaction des indicateurs de lecture et de mise à jour.</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13 : Structure d'adresse du groupe</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14 : Contenu du groupe: 1/0/1 – Éclairage du premier étage dans le salon ON/OFF</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15 : Contenu du groupe : 1/1/2 – Éclairage du premier étage en escalier ON/OFF </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16 : Contenu du groupe : 0/0/1 – Fonctions centrales qui allument tout ON/OFF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Séquence d'échantillon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Le bouton-poussoir multifonctions (1.3.3) avec module de scenario envoie une demande de lecture au groupe 1/1/2 pour interroger un état de commutation.</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L'indicateur de lecture est activé et l'actionneur 1.3.2 réagit par un télégramme de réponse.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Au lieu de 1/1/2, l'adresse de groupe de la fonction centrale 0/0/1 " Eclairage MARCHE/ARRÊT " est mal réglée au point d'émission. Le servomoteur envoie donc sa réponse à 0/0/1/1 au lieu de 1/1/2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Résultat : Une demande de lecture à 1/1/2 conduit maintenant à ce que l'éclairage s'allume ou s'éteigne dans tout le bâtiment (à l'aide du salon et de l'escalier par exemple) (selon l'état de commutation de l'actionneur demandé)!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Séquence en détail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Le bouton-poussoir multifonctions envoie un télégramme de lecture à 1/1/2/2</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L'actionneur 1.3.2 envoie un télégramme de réponse à l'adresse du groupe d'envoi 0/0/1 avec les données utiles "MARCHE" ou "ARRÊT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Tous les autres appareils bus " écoutent " le télégramme de réponse.</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Tous les objets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dans lesquels le drapeau de mise à jour est défini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 et qui portent l'adresse 0/0/1,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interprète maintenant le télégramme de réponse précisément comme un "normal" écrire le télégramme et adopter les données utiles i.e. «ON» ou «OFF».</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Les canaux d'actionneurs correspondants sont commutés.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Si la configuration est incorrecte, les demandes de lecture peuvent déclencher des actions de commutation (accidentelles)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914522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L'Indicateur Read on Init ‘I’</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plus des indicaters (CRWTU) décrits ci-dessus, les appareils du système B (avec les versions masque $07B0 et $17B0) offrent également un indicateur de Read on Init (appelé indicateur " I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l'indicateur Read on Init est activé pour un ou plusieurs objets de groupe, l'appareil déclenche automatiquement des télégrammes de lecture aux adresses du groupe émetteur après une panne de tension de bus et une récupération.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L'indicateur " I " n'est pas activé par défaut dans la plupart des cas.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En règle générale, il est possible de régler un retard dans les paramètres de déclenchement des télégrammes de lecture. Si de nombreux indicateurs 'I' sont activés dans une installation, les délais pour tous les appareils concernés doivent être réglés avec soin et pour une durée variable. Dans le cas contraire, la charge du bus pourrait être élevée si un grand nombre d'appareils envoient leurs demandes de lecture " simultanément " après la récupération de la tension du bus.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674224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GB" sz="2400" dirty="0"/>
              <a:t>Les </a:t>
            </a:r>
            <a:r>
              <a:rPr lang="en-GB" sz="2400" dirty="0" err="1"/>
              <a:t>indicateurs</a:t>
            </a:r>
            <a:r>
              <a:rPr lang="en-GB" sz="2400" dirty="0"/>
              <a:t> (flags)</a:t>
            </a:r>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Les indicateurs (flags)</a:t>
            </a:r>
          </a:p>
        </p:txBody>
      </p:sp>
      <p:pic>
        <p:nvPicPr>
          <p:cNvPr id="4" name="Picture 3">
            <a:extLst>
              <a:ext uri="{FF2B5EF4-FFF2-40B4-BE49-F238E27FC236}">
                <a16:creationId xmlns:a16="http://schemas.microsoft.com/office/drawing/2014/main" id="{236CA334-E2F2-43FC-9ABE-A560480EDF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404286" y="3459336"/>
            <a:ext cx="4272170" cy="2304157"/>
          </a:xfrm>
          <a:prstGeom prst="rect">
            <a:avLst/>
          </a:prstGeom>
          <a:noFill/>
          <a:ln>
            <a:noFill/>
          </a:ln>
        </p:spPr>
      </p:pic>
      <p:sp>
        <p:nvSpPr>
          <p:cNvPr id="5" name="Content Placeholder 1">
            <a:extLst>
              <a:ext uri="{FF2B5EF4-FFF2-40B4-BE49-F238E27FC236}">
                <a16:creationId xmlns:a16="http://schemas.microsoft.com/office/drawing/2014/main" id="{9C40CEA1-13D2-4509-8137-2408883E2CC4}"/>
              </a:ext>
            </a:extLst>
          </p:cNvPr>
          <p:cNvSpPr txBox="1">
            <a:spLocks/>
          </p:cNvSpPr>
          <p:nvPr/>
        </p:nvSpPr>
        <p:spPr>
          <a:xfrm>
            <a:off x="971600" y="2504976"/>
            <a:ext cx="364871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pPr>
            <a:r>
              <a:rPr lang="es-ES" sz="2400" kern="0">
                <a:ea typeface="Open Sans" panose="020B0606030504020204" pitchFamily="34" charset="0"/>
                <a:cs typeface="Open Sans" panose="020B0606030504020204" pitchFamily="34" charset="0"/>
              </a:rPr>
              <a:t>6 </a:t>
            </a:r>
            <a:r>
              <a:rPr lang="en-GB" sz="2400" kern="0">
                <a:ea typeface="Open Sans" panose="020B0606030504020204" pitchFamily="34" charset="0"/>
                <a:cs typeface="Open Sans" panose="020B0606030504020204" pitchFamily="34" charset="0"/>
              </a:rPr>
              <a:t>Drapeaux</a:t>
            </a:r>
            <a:r>
              <a:rPr lang="es-ES" sz="2400" kern="0">
                <a:ea typeface="Open Sans" panose="020B0606030504020204" pitchFamily="34" charset="0"/>
                <a:cs typeface="Open Sans" panose="020B0606030504020204" pitchFamily="34" charset="0"/>
              </a:rPr>
              <a:t>:</a:t>
            </a:r>
          </a:p>
          <a:p>
            <a:pPr>
              <a:lnSpc>
                <a:spcPct val="150000"/>
              </a:lnSpc>
              <a:defRPr/>
            </a:pPr>
            <a:r>
              <a:rPr lang="es-ES" sz="2000" kern="0">
                <a:solidFill>
                  <a:schemeClr val="bg1">
                    <a:lumMod val="10000"/>
                  </a:schemeClr>
                </a:solidFill>
                <a:ea typeface="Open Sans" panose="020B0606030504020204" pitchFamily="34" charset="0"/>
                <a:cs typeface="Open Sans" panose="020B0606030504020204" pitchFamily="34" charset="0"/>
              </a:rPr>
              <a:t>C :  </a:t>
            </a:r>
            <a:r>
              <a:rPr lang="en-GB" sz="2000" kern="0">
                <a:solidFill>
                  <a:schemeClr val="bg1">
                    <a:lumMod val="10000"/>
                  </a:schemeClr>
                </a:solidFill>
                <a:ea typeface="Open Sans" panose="020B0606030504020204" pitchFamily="34" charset="0"/>
                <a:cs typeface="Open Sans" panose="020B0606030504020204" pitchFamily="34" charset="0"/>
              </a:rPr>
              <a:t>Communication</a:t>
            </a:r>
          </a:p>
          <a:p>
            <a:pPr>
              <a:lnSpc>
                <a:spcPct val="150000"/>
              </a:lnSpc>
              <a:defRPr/>
            </a:pPr>
            <a:r>
              <a:rPr lang="es-ES" sz="2000" kern="0">
                <a:solidFill>
                  <a:schemeClr val="bg1">
                    <a:lumMod val="10000"/>
                  </a:schemeClr>
                </a:solidFill>
                <a:ea typeface="Open Sans" panose="020B0606030504020204" pitchFamily="34" charset="0"/>
                <a:cs typeface="Open Sans" panose="020B0606030504020204" pitchFamily="34" charset="0"/>
              </a:rPr>
              <a:t>R :  </a:t>
            </a:r>
            <a:r>
              <a:rPr lang="en-GB" sz="2000" kern="0">
                <a:solidFill>
                  <a:schemeClr val="bg1">
                    <a:lumMod val="10000"/>
                  </a:schemeClr>
                </a:solidFill>
                <a:ea typeface="Open Sans" panose="020B0606030504020204" pitchFamily="34" charset="0"/>
                <a:cs typeface="Open Sans" panose="020B0606030504020204" pitchFamily="34" charset="0"/>
              </a:rPr>
              <a:t>Lire</a:t>
            </a:r>
          </a:p>
          <a:p>
            <a:pPr>
              <a:lnSpc>
                <a:spcPct val="150000"/>
              </a:lnSpc>
              <a:defRPr/>
            </a:pPr>
            <a:r>
              <a:rPr lang="es-ES" sz="2000" kern="0">
                <a:solidFill>
                  <a:schemeClr val="bg1">
                    <a:lumMod val="10000"/>
                  </a:schemeClr>
                </a:solidFill>
                <a:ea typeface="Open Sans" panose="020B0606030504020204" pitchFamily="34" charset="0"/>
                <a:cs typeface="Open Sans" panose="020B0606030504020204" pitchFamily="34" charset="0"/>
              </a:rPr>
              <a:t>W :  </a:t>
            </a:r>
            <a:r>
              <a:rPr lang="en-GB" sz="2000" kern="0">
                <a:solidFill>
                  <a:schemeClr val="bg1">
                    <a:lumMod val="10000"/>
                  </a:schemeClr>
                </a:solidFill>
                <a:ea typeface="Open Sans" panose="020B0606030504020204" pitchFamily="34" charset="0"/>
                <a:cs typeface="Open Sans" panose="020B0606030504020204" pitchFamily="34" charset="0"/>
              </a:rPr>
              <a:t>Écrire</a:t>
            </a:r>
          </a:p>
          <a:p>
            <a:pPr>
              <a:lnSpc>
                <a:spcPct val="150000"/>
              </a:lnSpc>
              <a:defRPr/>
            </a:pPr>
            <a:r>
              <a:rPr lang="es-ES" sz="2000" kern="0">
                <a:solidFill>
                  <a:schemeClr val="bg1">
                    <a:lumMod val="10000"/>
                  </a:schemeClr>
                </a:solidFill>
                <a:ea typeface="Open Sans" panose="020B0606030504020204" pitchFamily="34" charset="0"/>
                <a:cs typeface="Open Sans" panose="020B0606030504020204" pitchFamily="34" charset="0"/>
              </a:rPr>
              <a:t>T :  </a:t>
            </a:r>
            <a:r>
              <a:rPr lang="en-GB" sz="2000" kern="0">
                <a:solidFill>
                  <a:schemeClr val="bg1">
                    <a:lumMod val="10000"/>
                  </a:schemeClr>
                </a:solidFill>
                <a:ea typeface="Open Sans" panose="020B0606030504020204" pitchFamily="34" charset="0"/>
                <a:cs typeface="Open Sans" panose="020B0606030504020204" pitchFamily="34" charset="0"/>
              </a:rPr>
              <a:t>Transmettre</a:t>
            </a:r>
          </a:p>
          <a:p>
            <a:pPr>
              <a:lnSpc>
                <a:spcPct val="150000"/>
              </a:lnSpc>
              <a:defRPr/>
            </a:pPr>
            <a:r>
              <a:rPr lang="es-ES" sz="2000" kern="0">
                <a:solidFill>
                  <a:schemeClr val="bg1">
                    <a:lumMod val="10000"/>
                  </a:schemeClr>
                </a:solidFill>
                <a:ea typeface="Open Sans" panose="020B0606030504020204" pitchFamily="34" charset="0"/>
                <a:cs typeface="Open Sans" panose="020B0606030504020204" pitchFamily="34" charset="0"/>
              </a:rPr>
              <a:t>U :  </a:t>
            </a:r>
            <a:r>
              <a:rPr lang="en-GB" sz="2000" kern="0">
                <a:solidFill>
                  <a:schemeClr val="bg1">
                    <a:lumMod val="10000"/>
                  </a:schemeClr>
                </a:solidFill>
                <a:ea typeface="Open Sans" panose="020B0606030504020204" pitchFamily="34" charset="0"/>
                <a:cs typeface="Open Sans" panose="020B0606030504020204" pitchFamily="34" charset="0"/>
              </a:rPr>
              <a:t>Mise à jour</a:t>
            </a:r>
          </a:p>
          <a:p>
            <a:pPr>
              <a:lnSpc>
                <a:spcPct val="150000"/>
              </a:lnSpc>
              <a:defRPr/>
            </a:pPr>
            <a:r>
              <a:rPr lang="en-GB" sz="2000" kern="0">
                <a:solidFill>
                  <a:schemeClr val="bg1">
                    <a:lumMod val="10000"/>
                  </a:schemeClr>
                </a:solidFill>
                <a:ea typeface="Open Sans" panose="020B0606030504020204" pitchFamily="34" charset="0"/>
                <a:cs typeface="Open Sans" panose="020B0606030504020204" pitchFamily="34" charset="0"/>
              </a:rPr>
              <a:t>I : Lire sur l'initialisation</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6" name="Content Placeholder 1">
            <a:extLst>
              <a:ext uri="{FF2B5EF4-FFF2-40B4-BE49-F238E27FC236}">
                <a16:creationId xmlns:a16="http://schemas.microsoft.com/office/drawing/2014/main" id="{3B27D006-0CBF-40E4-BDC1-91C638C656DF}"/>
              </a:ext>
            </a:extLst>
          </p:cNvPr>
          <p:cNvSpPr txBox="1">
            <a:spLocks/>
          </p:cNvSpPr>
          <p:nvPr/>
        </p:nvSpPr>
        <p:spPr>
          <a:xfrm>
            <a:off x="971600" y="1412875"/>
            <a:ext cx="7704856" cy="1080021"/>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GB" sz="2000" kern="0">
                <a:solidFill>
                  <a:schemeClr val="bg2">
                    <a:lumMod val="10000"/>
                  </a:schemeClr>
                </a:solidFill>
                <a:ea typeface="Open Sans" panose="020B0606030504020204" pitchFamily="34" charset="0"/>
                <a:cs typeface="Open Sans" panose="020B0606030504020204" pitchFamily="34" charset="0"/>
              </a:rPr>
              <a:t>Les drapeaux contrôlent les possibilités de communication d'un objet sur le bus</a:t>
            </a: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Réglage d'Indicateurs</a:t>
            </a:r>
          </a:p>
        </p:txBody>
      </p:sp>
      <p:pic>
        <p:nvPicPr>
          <p:cNvPr id="4" name="Picture 3">
            <a:extLst>
              <a:ext uri="{FF2B5EF4-FFF2-40B4-BE49-F238E27FC236}">
                <a16:creationId xmlns:a16="http://schemas.microsoft.com/office/drawing/2014/main" id="{FA09BC2F-66BF-4C53-A772-81249F73A2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4350" y="2132856"/>
            <a:ext cx="7531608" cy="2080260"/>
          </a:xfrm>
          <a:prstGeom prst="rect">
            <a:avLst/>
          </a:prstGeom>
          <a:noFill/>
          <a:ln>
            <a:noFill/>
          </a:ln>
        </p:spPr>
      </p:pic>
      <p:sp>
        <p:nvSpPr>
          <p:cNvPr id="7" name="Right Arrow 3">
            <a:extLst>
              <a:ext uri="{FF2B5EF4-FFF2-40B4-BE49-F238E27FC236}">
                <a16:creationId xmlns:a16="http://schemas.microsoft.com/office/drawing/2014/main" id="{034088F7-23BD-455B-B261-63F1C5ED58FC}"/>
              </a:ext>
            </a:extLst>
          </p:cNvPr>
          <p:cNvSpPr/>
          <p:nvPr/>
        </p:nvSpPr>
        <p:spPr bwMode="auto">
          <a:xfrm rot="16200000">
            <a:off x="6529263" y="4052107"/>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6" name="Content Placeholder 1">
            <a:extLst>
              <a:ext uri="{FF2B5EF4-FFF2-40B4-BE49-F238E27FC236}">
                <a16:creationId xmlns:a16="http://schemas.microsoft.com/office/drawing/2014/main" id="{2220AF08-79F9-4E22-AF52-1CBEB04E76AF}"/>
              </a:ext>
            </a:extLst>
          </p:cNvPr>
          <p:cNvSpPr txBox="1">
            <a:spLocks/>
          </p:cNvSpPr>
          <p:nvPr/>
        </p:nvSpPr>
        <p:spPr>
          <a:xfrm>
            <a:off x="1307166" y="1590223"/>
            <a:ext cx="7128792" cy="71913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gn="r">
              <a:spcBef>
                <a:spcPct val="30000"/>
              </a:spcBef>
              <a:buClrTx/>
              <a:buFont typeface="Wingdings" pitchFamily="2" charset="2"/>
              <a:buNone/>
              <a:defRPr/>
            </a:pPr>
            <a:r>
              <a:rPr lang="en-GB" sz="2000" kern="1200">
                <a:solidFill>
                  <a:schemeClr val="tx1"/>
                </a:solidFill>
                <a:latin typeface="Arial" charset="0"/>
              </a:rPr>
              <a:t>Réglage d'un Indicateur dans la Vue des Bâtiments</a:t>
            </a:r>
            <a:endParaRPr lang="es-ES" sz="2000" kern="1200" dirty="0">
              <a:solidFill>
                <a:schemeClr val="tx1"/>
              </a:solidFill>
              <a:latin typeface="Arial" charset="0"/>
            </a:endParaRPr>
          </a:p>
        </p:txBody>
      </p:sp>
    </p:spTree>
    <p:extLst>
      <p:ext uri="{BB962C8B-B14F-4D97-AF65-F5344CB8AC3E}">
        <p14:creationId xmlns:p14="http://schemas.microsoft.com/office/powerpoint/2010/main" val="360766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Réglage d'Indicateurs</a:t>
            </a:r>
          </a:p>
        </p:txBody>
      </p:sp>
      <p:pic>
        <p:nvPicPr>
          <p:cNvPr id="5" name="Picture 4">
            <a:extLst>
              <a:ext uri="{FF2B5EF4-FFF2-40B4-BE49-F238E27FC236}">
                <a16:creationId xmlns:a16="http://schemas.microsoft.com/office/drawing/2014/main" id="{9155BD92-F2AC-4F32-81E1-01E295C5C2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212689"/>
            <a:ext cx="7499985" cy="3118104"/>
          </a:xfrm>
          <a:prstGeom prst="rect">
            <a:avLst/>
          </a:prstGeom>
          <a:noFill/>
          <a:ln>
            <a:noFill/>
          </a:ln>
        </p:spPr>
      </p:pic>
      <p:sp>
        <p:nvSpPr>
          <p:cNvPr id="6" name="Content Placeholder 1">
            <a:extLst>
              <a:ext uri="{FF2B5EF4-FFF2-40B4-BE49-F238E27FC236}">
                <a16:creationId xmlns:a16="http://schemas.microsoft.com/office/drawing/2014/main" id="{D0625D2C-5A7E-4B42-9790-A0F6A7A0AACA}"/>
              </a:ext>
            </a:extLst>
          </p:cNvPr>
          <p:cNvSpPr txBox="1">
            <a:spLocks/>
          </p:cNvSpPr>
          <p:nvPr/>
        </p:nvSpPr>
        <p:spPr>
          <a:xfrm>
            <a:off x="755575" y="1526206"/>
            <a:ext cx="7788017" cy="58052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lvl="0" indent="0" algn="r">
              <a:spcBef>
                <a:spcPct val="30000"/>
              </a:spcBef>
              <a:buClrTx/>
              <a:buNone/>
              <a:defRPr/>
            </a:pPr>
            <a:r>
              <a:rPr lang="en-GB" sz="2000">
                <a:solidFill>
                  <a:schemeClr val="tx1"/>
                </a:solidFill>
                <a:latin typeface="Arial" charset="0"/>
              </a:rPr>
              <a:t>Réglage Simultané des Indicateurs sur Plusieurs Objets</a:t>
            </a:r>
          </a:p>
          <a:p>
            <a:pPr marL="0" lvl="0" indent="0" algn="r">
              <a:spcBef>
                <a:spcPct val="30000"/>
              </a:spcBef>
              <a:buClrTx/>
              <a:buNone/>
              <a:defRPr/>
            </a:pPr>
            <a:endParaRPr lang="en-GB" sz="2000" b="0" dirty="0">
              <a:solidFill>
                <a:schemeClr val="tx1"/>
              </a:solidFill>
              <a:latin typeface="Arial" charset="0"/>
            </a:endParaRPr>
          </a:p>
          <a:p>
            <a:pPr algn="r"/>
            <a:endParaRPr lang="en-US" sz="2000" b="0" kern="0" dirty="0"/>
          </a:p>
          <a:p>
            <a:pPr algn="r"/>
            <a:endParaRPr lang="en-US" sz="2000" b="0" kern="0" dirty="0">
              <a:solidFill>
                <a:schemeClr val="tx1"/>
              </a:solidFill>
            </a:endParaRPr>
          </a:p>
          <a:p>
            <a:pPr marL="457200" indent="-457200" algn="r">
              <a:buFont typeface="+mj-lt"/>
              <a:buAutoNum type="arabicPeriod"/>
            </a:pPr>
            <a:endParaRPr lang="en-US" sz="2000" b="0" kern="0" dirty="0"/>
          </a:p>
        </p:txBody>
      </p:sp>
      <p:sp>
        <p:nvSpPr>
          <p:cNvPr id="7" name="Content Placeholder 1">
            <a:extLst>
              <a:ext uri="{FF2B5EF4-FFF2-40B4-BE49-F238E27FC236}">
                <a16:creationId xmlns:a16="http://schemas.microsoft.com/office/drawing/2014/main" id="{82CD2937-EA21-4280-A67B-8EE0E7D97CAE}"/>
              </a:ext>
            </a:extLst>
          </p:cNvPr>
          <p:cNvSpPr txBox="1">
            <a:spLocks/>
          </p:cNvSpPr>
          <p:nvPr/>
        </p:nvSpPr>
        <p:spPr>
          <a:xfrm>
            <a:off x="4995698" y="3659005"/>
            <a:ext cx="1656184"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a:solidFill>
                  <a:schemeClr val="tx1"/>
                </a:solidFill>
                <a:latin typeface="Arial" charset="0"/>
              </a:rPr>
              <a:t>2. Définir les drapeaux pour tous les objets</a:t>
            </a: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
        <p:nvSpPr>
          <p:cNvPr id="8" name="Right Arrow 3">
            <a:extLst>
              <a:ext uri="{FF2B5EF4-FFF2-40B4-BE49-F238E27FC236}">
                <a16:creationId xmlns:a16="http://schemas.microsoft.com/office/drawing/2014/main" id="{405BCB83-B3E1-48D9-8B89-D4C2CC21328C}"/>
              </a:ext>
            </a:extLst>
          </p:cNvPr>
          <p:cNvSpPr/>
          <p:nvPr/>
        </p:nvSpPr>
        <p:spPr bwMode="auto">
          <a:xfrm rot="16200000">
            <a:off x="1128663" y="345055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9" name="Right Arrow 3">
            <a:extLst>
              <a:ext uri="{FF2B5EF4-FFF2-40B4-BE49-F238E27FC236}">
                <a16:creationId xmlns:a16="http://schemas.microsoft.com/office/drawing/2014/main" id="{C0FBA4A9-B8F2-4E61-A3D9-AC7100CD8E70}"/>
              </a:ext>
            </a:extLst>
          </p:cNvPr>
          <p:cNvSpPr/>
          <p:nvPr/>
        </p:nvSpPr>
        <p:spPr bwMode="auto">
          <a:xfrm>
            <a:off x="6444208" y="3842273"/>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10" name="Content Placeholder 1">
            <a:extLst>
              <a:ext uri="{FF2B5EF4-FFF2-40B4-BE49-F238E27FC236}">
                <a16:creationId xmlns:a16="http://schemas.microsoft.com/office/drawing/2014/main" id="{7FAF01B1-9162-443D-BEFE-306C455692AA}"/>
              </a:ext>
            </a:extLst>
          </p:cNvPr>
          <p:cNvSpPr txBox="1">
            <a:spLocks/>
          </p:cNvSpPr>
          <p:nvPr/>
        </p:nvSpPr>
        <p:spPr>
          <a:xfrm>
            <a:off x="600407" y="4061234"/>
            <a:ext cx="2675449"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a:solidFill>
                  <a:schemeClr val="tx1"/>
                </a:solidFill>
                <a:latin typeface="Arial" charset="0"/>
              </a:rPr>
              <a:t>1. Les objets pertinents doivent être marqués avec Maj+clic ou Ctrl+clic</a:t>
            </a:r>
            <a:endParaRPr lang="en-GB" sz="1600" b="0" dirty="0">
              <a:solidFill>
                <a:schemeClr val="tx1"/>
              </a:solidFill>
              <a:latin typeface="Arial" charset="0"/>
            </a:endParaRP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Tree>
    <p:extLst>
      <p:ext uri="{BB962C8B-B14F-4D97-AF65-F5344CB8AC3E}">
        <p14:creationId xmlns:p14="http://schemas.microsoft.com/office/powerpoint/2010/main" val="272624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L'Indicateur de Communication ‘C’</a:t>
            </a:r>
          </a:p>
        </p:txBody>
      </p:sp>
      <p:pic>
        <p:nvPicPr>
          <p:cNvPr id="11" name="Picture 10">
            <a:extLst>
              <a:ext uri="{FF2B5EF4-FFF2-40B4-BE49-F238E27FC236}">
                <a16:creationId xmlns:a16="http://schemas.microsoft.com/office/drawing/2014/main" id="{E42C4C2B-1537-4BB1-A0F6-23C7A6363BB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55940" y="1628800"/>
            <a:ext cx="2848695" cy="4363254"/>
          </a:xfrm>
          <a:prstGeom prst="rect">
            <a:avLst/>
          </a:prstGeom>
          <a:noFill/>
          <a:ln>
            <a:noFill/>
          </a:ln>
        </p:spPr>
      </p:pic>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6920" y="1398208"/>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600" dirty="0" err="1">
                <a:solidFill>
                  <a:schemeClr val="tx1"/>
                </a:solidFill>
              </a:rPr>
              <a:t>C'est</a:t>
            </a:r>
            <a:r>
              <a:rPr lang="en-GB" sz="1600" dirty="0">
                <a:solidFill>
                  <a:schemeClr val="tx1"/>
                </a:solidFill>
              </a:rPr>
              <a:t> «</a:t>
            </a:r>
            <a:r>
              <a:rPr lang="en-GB" sz="1600" dirty="0" err="1"/>
              <a:t>l'interrupteur</a:t>
            </a:r>
            <a:r>
              <a:rPr lang="en-GB" sz="1600" dirty="0"/>
              <a:t> maître</a:t>
            </a:r>
            <a:r>
              <a:rPr lang="en-GB" sz="1600" dirty="0">
                <a:solidFill>
                  <a:schemeClr val="tx1"/>
                </a:solidFill>
              </a:rPr>
              <a:t>» pour la communication </a:t>
            </a:r>
          </a:p>
          <a:p>
            <a:endParaRPr lang="en-GB" sz="1600" kern="0" dirty="0">
              <a:solidFill>
                <a:schemeClr val="tx1"/>
              </a:solidFill>
            </a:endParaRPr>
          </a:p>
          <a:p>
            <a:r>
              <a:rPr lang="en-GB" sz="1600" dirty="0" err="1"/>
              <a:t>Définir</a:t>
            </a:r>
            <a:r>
              <a:rPr lang="en-GB" sz="1600" dirty="0"/>
              <a:t> par </a:t>
            </a:r>
            <a:r>
              <a:rPr lang="en-GB" sz="1600" dirty="0" err="1"/>
              <a:t>défaut</a:t>
            </a:r>
            <a:r>
              <a:rPr lang="en-GB" sz="1600" dirty="0"/>
              <a:t> </a:t>
            </a:r>
            <a:r>
              <a:rPr lang="en-GB" sz="1600" dirty="0">
                <a:solidFill>
                  <a:schemeClr val="tx1"/>
                </a:solidFill>
              </a:rPr>
              <a:t>à </a:t>
            </a:r>
            <a:r>
              <a:rPr lang="en-GB" sz="1600" dirty="0" err="1">
                <a:solidFill>
                  <a:schemeClr val="tx1"/>
                </a:solidFill>
              </a:rPr>
              <a:t>tous</a:t>
            </a:r>
            <a:r>
              <a:rPr lang="en-GB" sz="1600" dirty="0">
                <a:solidFill>
                  <a:schemeClr val="tx1"/>
                </a:solidFill>
              </a:rPr>
              <a:t> les </a:t>
            </a:r>
            <a:r>
              <a:rPr lang="en-GB" sz="1600" dirty="0" err="1">
                <a:solidFill>
                  <a:schemeClr val="tx1"/>
                </a:solidFill>
              </a:rPr>
              <a:t>objets</a:t>
            </a:r>
            <a:r>
              <a:rPr lang="en-GB" sz="1600" dirty="0">
                <a:solidFill>
                  <a:schemeClr val="tx1"/>
                </a:solidFill>
              </a:rPr>
              <a:t> du </a:t>
            </a:r>
            <a:r>
              <a:rPr lang="en-GB" sz="1600" dirty="0" err="1">
                <a:solidFill>
                  <a:schemeClr val="tx1"/>
                </a:solidFill>
              </a:rPr>
              <a:t>groupe</a:t>
            </a:r>
            <a:endParaRPr lang="en-US" sz="1600" kern="0" dirty="0"/>
          </a:p>
          <a:p>
            <a:endParaRPr lang="en-US" sz="1600" kern="0" dirty="0"/>
          </a:p>
          <a:p>
            <a:r>
              <a:rPr lang="en-GB" sz="1600" dirty="0">
                <a:solidFill>
                  <a:schemeClr val="tx1"/>
                </a:solidFill>
              </a:rPr>
              <a:t>Si </a:t>
            </a:r>
            <a:r>
              <a:rPr lang="en-GB" sz="1600" dirty="0" err="1">
                <a:solidFill>
                  <a:schemeClr val="tx1"/>
                </a:solidFill>
              </a:rPr>
              <a:t>ce</a:t>
            </a:r>
            <a:r>
              <a:rPr lang="en-GB" sz="1600" dirty="0">
                <a:solidFill>
                  <a:schemeClr val="tx1"/>
                </a:solidFill>
              </a:rPr>
              <a:t> </a:t>
            </a:r>
            <a:r>
              <a:rPr lang="en-GB" sz="1600" dirty="0" err="1">
                <a:solidFill>
                  <a:schemeClr val="tx1"/>
                </a:solidFill>
              </a:rPr>
              <a:t>drapeau</a:t>
            </a:r>
            <a:r>
              <a:rPr lang="en-GB" sz="1600" dirty="0">
                <a:solidFill>
                  <a:schemeClr val="tx1"/>
                </a:solidFill>
              </a:rPr>
              <a:t> </a:t>
            </a:r>
            <a:r>
              <a:rPr lang="en-GB" sz="1600" dirty="0" err="1">
                <a:solidFill>
                  <a:schemeClr val="tx1"/>
                </a:solidFill>
              </a:rPr>
              <a:t>n'est</a:t>
            </a:r>
            <a:r>
              <a:rPr lang="en-GB" sz="1600" dirty="0">
                <a:solidFill>
                  <a:schemeClr val="tx1"/>
                </a:solidFill>
              </a:rPr>
              <a:t> pas </a:t>
            </a:r>
            <a:r>
              <a:rPr lang="en-GB" sz="1600" dirty="0" err="1">
                <a:solidFill>
                  <a:schemeClr val="tx1"/>
                </a:solidFill>
              </a:rPr>
              <a:t>défini</a:t>
            </a:r>
            <a:r>
              <a:rPr lang="en-GB" sz="1600" dirty="0">
                <a:solidFill>
                  <a:schemeClr val="tx1"/>
                </a:solidFill>
              </a:rPr>
              <a:t>, </a:t>
            </a:r>
            <a:r>
              <a:rPr lang="en-GB" sz="1600" dirty="0" err="1">
                <a:solidFill>
                  <a:schemeClr val="tx1"/>
                </a:solidFill>
              </a:rPr>
              <a:t>l'objet</a:t>
            </a:r>
            <a:r>
              <a:rPr lang="en-GB" sz="1600" dirty="0">
                <a:solidFill>
                  <a:schemeClr val="tx1"/>
                </a:solidFill>
              </a:rPr>
              <a:t> ne </a:t>
            </a:r>
            <a:r>
              <a:rPr lang="en-GB" sz="1600" dirty="0" err="1">
                <a:solidFill>
                  <a:schemeClr val="tx1"/>
                </a:solidFill>
              </a:rPr>
              <a:t>peut</a:t>
            </a:r>
            <a:r>
              <a:rPr lang="en-GB" sz="1600" dirty="0">
                <a:solidFill>
                  <a:schemeClr val="tx1"/>
                </a:solidFill>
              </a:rPr>
              <a:t> pas </a:t>
            </a:r>
            <a:r>
              <a:rPr lang="en-GB" sz="1600" dirty="0" err="1"/>
              <a:t>envoyer</a:t>
            </a:r>
            <a:r>
              <a:rPr lang="en-GB" sz="1600" dirty="0"/>
              <a:t> </a:t>
            </a:r>
            <a:r>
              <a:rPr lang="en-GB" sz="1600" dirty="0" err="1"/>
              <a:t>ou</a:t>
            </a:r>
            <a:r>
              <a:rPr lang="en-GB" sz="1600" dirty="0"/>
              <a:t> </a:t>
            </a:r>
            <a:r>
              <a:rPr lang="en-GB" sz="1600" dirty="0" err="1"/>
              <a:t>recevoir</a:t>
            </a:r>
            <a:r>
              <a:rPr lang="en-GB" sz="1600" dirty="0"/>
              <a:t> des </a:t>
            </a:r>
            <a:r>
              <a:rPr lang="en-GB" sz="1600" dirty="0" err="1"/>
              <a:t>télégrammes</a:t>
            </a:r>
            <a:endParaRPr lang="en-GB" sz="1600" dirty="0">
              <a:solidFill>
                <a:schemeClr val="tx1"/>
              </a:solidFill>
            </a:endParaRPr>
          </a:p>
          <a:p>
            <a:endParaRPr lang="en-GB" sz="1600" dirty="0">
              <a:solidFill>
                <a:schemeClr val="tx1"/>
              </a:solidFill>
            </a:endParaRPr>
          </a:p>
          <a:p>
            <a:r>
              <a:rPr lang="en-GB" sz="1600" dirty="0">
                <a:solidFill>
                  <a:schemeClr val="tx1"/>
                </a:solidFill>
              </a:rPr>
              <a:t>Si </a:t>
            </a:r>
            <a:r>
              <a:rPr lang="en-GB" sz="1600" dirty="0" err="1">
                <a:solidFill>
                  <a:schemeClr val="tx1"/>
                </a:solidFill>
              </a:rPr>
              <a:t>cet</a:t>
            </a:r>
            <a:r>
              <a:rPr lang="en-GB" sz="1600" dirty="0">
                <a:solidFill>
                  <a:schemeClr val="tx1"/>
                </a:solidFill>
              </a:rPr>
              <a:t> </a:t>
            </a:r>
            <a:r>
              <a:rPr lang="en-GB" sz="1600" dirty="0" err="1">
                <a:solidFill>
                  <a:schemeClr val="tx1"/>
                </a:solidFill>
              </a:rPr>
              <a:t>objet</a:t>
            </a:r>
            <a:r>
              <a:rPr lang="en-GB" sz="1600" dirty="0">
                <a:solidFill>
                  <a:schemeClr val="tx1"/>
                </a:solidFill>
              </a:rPr>
              <a:t> </a:t>
            </a:r>
            <a:r>
              <a:rPr lang="en-GB" sz="1600" dirty="0" err="1">
                <a:solidFill>
                  <a:schemeClr val="tx1"/>
                </a:solidFill>
              </a:rPr>
              <a:t>est</a:t>
            </a:r>
            <a:r>
              <a:rPr lang="en-GB" sz="1600" dirty="0">
                <a:solidFill>
                  <a:schemeClr val="tx1"/>
                </a:solidFill>
              </a:rPr>
              <a:t> </a:t>
            </a:r>
            <a:r>
              <a:rPr lang="en-GB" sz="1600" dirty="0" err="1">
                <a:solidFill>
                  <a:schemeClr val="tx1"/>
                </a:solidFill>
              </a:rPr>
              <a:t>lié</a:t>
            </a:r>
            <a:r>
              <a:rPr lang="en-GB" sz="1600" dirty="0">
                <a:solidFill>
                  <a:schemeClr val="tx1"/>
                </a:solidFill>
              </a:rPr>
              <a:t> à </a:t>
            </a:r>
            <a:r>
              <a:rPr lang="en-GB" sz="1600" dirty="0" err="1">
                <a:solidFill>
                  <a:schemeClr val="tx1"/>
                </a:solidFill>
              </a:rPr>
              <a:t>une</a:t>
            </a:r>
            <a:r>
              <a:rPr lang="en-GB" sz="1600" dirty="0">
                <a:solidFill>
                  <a:schemeClr val="tx1"/>
                </a:solidFill>
              </a:rPr>
              <a:t> </a:t>
            </a:r>
            <a:r>
              <a:rPr lang="en-GB" sz="1600" dirty="0" err="1">
                <a:solidFill>
                  <a:schemeClr val="tx1"/>
                </a:solidFill>
              </a:rPr>
              <a:t>adresse</a:t>
            </a:r>
            <a:r>
              <a:rPr lang="en-GB" sz="1600" dirty="0">
                <a:solidFill>
                  <a:schemeClr val="tx1"/>
                </a:solidFill>
              </a:rPr>
              <a:t> de </a:t>
            </a:r>
            <a:r>
              <a:rPr lang="en-GB" sz="1600" dirty="0" err="1">
                <a:solidFill>
                  <a:schemeClr val="tx1"/>
                </a:solidFill>
              </a:rPr>
              <a:t>groupe</a:t>
            </a:r>
            <a:r>
              <a:rPr lang="en-GB" sz="1600" dirty="0">
                <a:solidFill>
                  <a:schemeClr val="tx1"/>
                </a:solidFill>
              </a:rPr>
              <a:t>, un </a:t>
            </a:r>
            <a:r>
              <a:rPr lang="en-GB" sz="1600" dirty="0" err="1">
                <a:solidFill>
                  <a:schemeClr val="tx1"/>
                </a:solidFill>
              </a:rPr>
              <a:t>accusé</a:t>
            </a:r>
            <a:r>
              <a:rPr lang="en-GB" sz="1600" dirty="0">
                <a:solidFill>
                  <a:schemeClr val="tx1"/>
                </a:solidFill>
              </a:rPr>
              <a:t> de </a:t>
            </a:r>
            <a:r>
              <a:rPr lang="en-GB" sz="1600" dirty="0" err="1">
                <a:solidFill>
                  <a:schemeClr val="tx1"/>
                </a:solidFill>
              </a:rPr>
              <a:t>réception</a:t>
            </a:r>
            <a:r>
              <a:rPr lang="en-GB" sz="1600" dirty="0">
                <a:solidFill>
                  <a:schemeClr val="tx1"/>
                </a:solidFill>
              </a:rPr>
              <a:t> </a:t>
            </a:r>
            <a:r>
              <a:rPr lang="en-GB" sz="1600" dirty="0" err="1">
                <a:solidFill>
                  <a:schemeClr val="tx1"/>
                </a:solidFill>
              </a:rPr>
              <a:t>est</a:t>
            </a:r>
            <a:r>
              <a:rPr lang="en-GB" sz="1600" dirty="0">
                <a:solidFill>
                  <a:schemeClr val="tx1"/>
                </a:solidFill>
              </a:rPr>
              <a:t> </a:t>
            </a:r>
            <a:r>
              <a:rPr lang="en-GB" sz="1600" dirty="0" err="1">
                <a:solidFill>
                  <a:schemeClr val="tx1"/>
                </a:solidFill>
              </a:rPr>
              <a:t>également</a:t>
            </a:r>
            <a:r>
              <a:rPr lang="en-GB" sz="1600" dirty="0">
                <a:solidFill>
                  <a:schemeClr val="tx1"/>
                </a:solidFill>
              </a:rPr>
              <a:t> </a:t>
            </a:r>
            <a:r>
              <a:rPr lang="en-GB" sz="1600" dirty="0" err="1">
                <a:solidFill>
                  <a:schemeClr val="tx1"/>
                </a:solidFill>
              </a:rPr>
              <a:t>envoyé</a:t>
            </a:r>
            <a:r>
              <a:rPr lang="en-GB" sz="1600" dirty="0">
                <a:solidFill>
                  <a:schemeClr val="tx1"/>
                </a:solidFill>
              </a:rPr>
              <a:t> </a:t>
            </a:r>
            <a:r>
              <a:rPr lang="en-GB" sz="1600" dirty="0" err="1">
                <a:solidFill>
                  <a:schemeClr val="tx1"/>
                </a:solidFill>
              </a:rPr>
              <a:t>lorsque</a:t>
            </a:r>
            <a:r>
              <a:rPr lang="en-GB" sz="1600" dirty="0">
                <a:solidFill>
                  <a:schemeClr val="tx1"/>
                </a:solidFill>
              </a:rPr>
              <a:t> </a:t>
            </a:r>
            <a:r>
              <a:rPr lang="en-GB" sz="1600" dirty="0" err="1">
                <a:solidFill>
                  <a:schemeClr val="tx1"/>
                </a:solidFill>
              </a:rPr>
              <a:t>l'indicateur</a:t>
            </a:r>
            <a:r>
              <a:rPr lang="en-GB" sz="1600" dirty="0">
                <a:solidFill>
                  <a:schemeClr val="tx1"/>
                </a:solidFill>
              </a:rPr>
              <a:t> de communication a </a:t>
            </a:r>
            <a:r>
              <a:rPr lang="en-GB" sz="1600" dirty="0" err="1">
                <a:solidFill>
                  <a:schemeClr val="tx1"/>
                </a:solidFill>
              </a:rPr>
              <a:t>été</a:t>
            </a:r>
            <a:r>
              <a:rPr lang="en-GB" sz="1600" dirty="0">
                <a:solidFill>
                  <a:schemeClr val="tx1"/>
                </a:solidFill>
              </a:rPr>
              <a:t> </a:t>
            </a:r>
            <a:r>
              <a:rPr lang="en-GB" sz="1600" dirty="0" err="1">
                <a:solidFill>
                  <a:schemeClr val="tx1"/>
                </a:solidFill>
              </a:rPr>
              <a:t>supprimé</a:t>
            </a:r>
            <a:r>
              <a:rPr lang="en-GB" sz="1600" dirty="0">
                <a:solidFill>
                  <a:schemeClr val="tx1"/>
                </a:solidFill>
              </a:rPr>
              <a:t> !</a:t>
            </a:r>
            <a:endParaRPr lang="es-ES" sz="1600" dirty="0">
              <a:solidFill>
                <a:schemeClr val="tx1"/>
              </a:solidFill>
            </a:endParaRPr>
          </a:p>
          <a:p>
            <a:pPr marL="457200" indent="-457200">
              <a:buFont typeface="+mj-lt"/>
              <a:buAutoNum type="arabicPeriod"/>
            </a:pPr>
            <a:endParaRPr lang="en-US" sz="1600" kern="0" dirty="0"/>
          </a:p>
        </p:txBody>
      </p:sp>
    </p:spTree>
    <p:extLst>
      <p:ext uri="{BB962C8B-B14F-4D97-AF65-F5344CB8AC3E}">
        <p14:creationId xmlns:p14="http://schemas.microsoft.com/office/powerpoint/2010/main" val="218878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L'Indicateur d'Écriture 'W'.</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3" y="1412776"/>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600">
                <a:solidFill>
                  <a:schemeClr val="tx1"/>
                </a:solidFill>
              </a:rPr>
              <a:t>Si elle est définie, </a:t>
            </a:r>
            <a:r>
              <a:rPr lang="en-US" sz="1600"/>
              <a:t>la valeur d'un groupe objet peut être décrite</a:t>
            </a:r>
            <a:r>
              <a:rPr lang="en-US" sz="1600">
                <a:solidFill>
                  <a:schemeClr val="tx1"/>
                </a:solidFill>
              </a:rPr>
              <a:t> avec le groupe télégrammes</a:t>
            </a:r>
          </a:p>
          <a:p>
            <a:endParaRPr lang="en-GB" sz="1600" kern="0" dirty="0">
              <a:solidFill>
                <a:schemeClr val="tx1"/>
              </a:solidFill>
            </a:endParaRPr>
          </a:p>
          <a:p>
            <a:r>
              <a:rPr lang="en-GB" sz="1600"/>
              <a:t>Définir par défaut </a:t>
            </a:r>
            <a:r>
              <a:rPr lang="en-US" sz="1600">
                <a:solidFill>
                  <a:schemeClr val="tx1"/>
                </a:solidFill>
              </a:rPr>
              <a:t>pour tous les objets de commutation, les objets de valeur sur les actionneurs de gradation ainsi que plusieurs objets de bouton pousser</a:t>
            </a:r>
            <a:endParaRPr lang="en-US" sz="1600" kern="0" dirty="0"/>
          </a:p>
          <a:p>
            <a:endParaRPr lang="en-US" sz="1600" kern="0" dirty="0"/>
          </a:p>
          <a:p>
            <a:r>
              <a:rPr lang="en-GB" sz="1600">
                <a:latin typeface="Arial" charset="0"/>
              </a:rPr>
              <a:t>Applications typiques : </a:t>
            </a:r>
            <a:endParaRPr lang="es-ES" sz="1600" dirty="0">
              <a:latin typeface="Arial" charset="0"/>
            </a:endParaRPr>
          </a:p>
          <a:p>
            <a:pPr marL="685800" lvl="1">
              <a:buFont typeface="Wingdings" panose="05000000000000000000" pitchFamily="2" charset="2"/>
              <a:buChar char="§"/>
            </a:pPr>
            <a:r>
              <a:rPr lang="en-GB" sz="1600" b="1">
                <a:solidFill>
                  <a:schemeClr val="tx1"/>
                </a:solidFill>
                <a:latin typeface="Arial" charset="0"/>
              </a:rPr>
              <a:t>Un actionneur ne peut être changé que si le drapeau d'écriture est défini à son objet de commutation</a:t>
            </a:r>
          </a:p>
          <a:p>
            <a:pPr marL="685800" lvl="1">
              <a:buFont typeface="Wingdings" panose="05000000000000000000" pitchFamily="2" charset="2"/>
              <a:buChar char="§"/>
            </a:pPr>
            <a:endParaRPr lang="es-ES" sz="1600" b="1" dirty="0">
              <a:solidFill>
                <a:schemeClr val="tx1"/>
              </a:solidFill>
              <a:latin typeface="Arial" charset="0"/>
            </a:endParaRPr>
          </a:p>
          <a:p>
            <a:pPr marL="685800" lvl="1">
              <a:buFont typeface="Wingdings" panose="05000000000000000000" pitchFamily="2" charset="2"/>
              <a:buChar char="§"/>
            </a:pPr>
            <a:r>
              <a:rPr lang="en-GB" sz="1600" b="1">
                <a:solidFill>
                  <a:schemeClr val="tx1"/>
                </a:solidFill>
                <a:latin typeface="Arial" charset="0"/>
              </a:rPr>
              <a:t>Une LED sur un bouton-poussoir ne peut réagir aux adresses de groupe que si l'indicateur d'écriture est placé sur son objet LED</a:t>
            </a:r>
            <a:endParaRPr lang="es-ES" sz="1600" b="1" dirty="0">
              <a:solidFill>
                <a:schemeClr val="tx1"/>
              </a:solidFill>
              <a:latin typeface="Arial" charset="0"/>
            </a:endParaRPr>
          </a:p>
          <a:p>
            <a:pPr marL="0" indent="0">
              <a:buNone/>
            </a:pPr>
            <a:endParaRPr lang="en-US" sz="1600" kern="0" dirty="0"/>
          </a:p>
        </p:txBody>
      </p:sp>
      <p:pic>
        <p:nvPicPr>
          <p:cNvPr id="5" name="Picture 4">
            <a:extLst>
              <a:ext uri="{FF2B5EF4-FFF2-40B4-BE49-F238E27FC236}">
                <a16:creationId xmlns:a16="http://schemas.microsoft.com/office/drawing/2014/main" id="{D6157E89-490A-4007-A1CF-9AF1A7C6BA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09147" y="1578236"/>
            <a:ext cx="2542282" cy="4176464"/>
          </a:xfrm>
          <a:prstGeom prst="rect">
            <a:avLst/>
          </a:prstGeom>
          <a:noFill/>
          <a:ln>
            <a:noFill/>
          </a:ln>
        </p:spPr>
      </p:pic>
    </p:spTree>
    <p:extLst>
      <p:ext uri="{BB962C8B-B14F-4D97-AF65-F5344CB8AC3E}">
        <p14:creationId xmlns:p14="http://schemas.microsoft.com/office/powerpoint/2010/main" val="30111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L'indicateur d'Émission 'T'.</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a:solidFill>
                  <a:schemeClr val="tx1"/>
                </a:solidFill>
              </a:rPr>
              <a:t>Si elle est définie, un objet de groupe </a:t>
            </a:r>
            <a:r>
              <a:rPr lang="en-US" sz="1800"/>
              <a:t>peut transmettre des changements </a:t>
            </a:r>
            <a:r>
              <a:rPr lang="en-US" sz="1800">
                <a:solidFill>
                  <a:schemeClr val="tx1"/>
                </a:solidFill>
              </a:rPr>
              <a:t>dans sa valeur sur le bus </a:t>
            </a:r>
            <a:r>
              <a:rPr lang="en-US" sz="1800"/>
              <a:t>en déclenchant des télégrammes de groupe </a:t>
            </a:r>
            <a:r>
              <a:rPr lang="en-US" sz="1800">
                <a:solidFill>
                  <a:schemeClr val="tx1"/>
                </a:solidFill>
              </a:rPr>
              <a:t>à l'adresse du groupe d'envoi</a:t>
            </a:r>
          </a:p>
          <a:p>
            <a:endParaRPr lang="en-GB" sz="1800" kern="0" dirty="0">
              <a:solidFill>
                <a:schemeClr val="tx1"/>
              </a:solidFill>
            </a:endParaRPr>
          </a:p>
          <a:p>
            <a:r>
              <a:rPr lang="en-GB" sz="1800"/>
              <a:t>Définir par défaut </a:t>
            </a:r>
            <a:r>
              <a:rPr lang="en-US" sz="1800">
                <a:solidFill>
                  <a:schemeClr val="tx1"/>
                </a:solidFill>
              </a:rPr>
              <a:t>pour les capteurs et dans la plupart des cas aussi pour les objets d'état des actionneurs </a:t>
            </a:r>
            <a:endParaRPr lang="en-US" sz="1800" kern="0" dirty="0"/>
          </a:p>
          <a:p>
            <a:endParaRPr lang="en-US" sz="1800" kern="0" dirty="0"/>
          </a:p>
          <a:p>
            <a:pPr marL="0" indent="0">
              <a:buNone/>
            </a:pPr>
            <a:endParaRPr lang="en-US" sz="1800" kern="0" dirty="0"/>
          </a:p>
        </p:txBody>
      </p:sp>
      <p:pic>
        <p:nvPicPr>
          <p:cNvPr id="6" name="Picture 5">
            <a:extLst>
              <a:ext uri="{FF2B5EF4-FFF2-40B4-BE49-F238E27FC236}">
                <a16:creationId xmlns:a16="http://schemas.microsoft.com/office/drawing/2014/main" id="{B258ED1C-65F3-4275-9915-B8FDF96F31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6808" y="1557313"/>
            <a:ext cx="2346960" cy="4171188"/>
          </a:xfrm>
          <a:prstGeom prst="rect">
            <a:avLst/>
          </a:prstGeom>
          <a:noFill/>
          <a:ln>
            <a:noFill/>
          </a:ln>
        </p:spPr>
      </p:pic>
    </p:spTree>
    <p:extLst>
      <p:ext uri="{BB962C8B-B14F-4D97-AF65-F5344CB8AC3E}">
        <p14:creationId xmlns:p14="http://schemas.microsoft.com/office/powerpoint/2010/main" val="273124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Exemple d'un Indicateur d'Émission</a:t>
            </a:r>
            <a:endParaRPr lang="en-GB" dirty="0"/>
          </a:p>
        </p:txBody>
      </p:sp>
      <p:sp>
        <p:nvSpPr>
          <p:cNvPr id="5" name="Rectangle 4">
            <a:extLst>
              <a:ext uri="{FF2B5EF4-FFF2-40B4-BE49-F238E27FC236}">
                <a16:creationId xmlns:a16="http://schemas.microsoft.com/office/drawing/2014/main" id="{A7FD2CED-9B3B-47D9-8813-B763E9D26495}"/>
              </a:ext>
            </a:extLst>
          </p:cNvPr>
          <p:cNvSpPr/>
          <p:nvPr/>
        </p:nvSpPr>
        <p:spPr>
          <a:xfrm>
            <a:off x="895099" y="5458420"/>
            <a:ext cx="7517664" cy="646331"/>
          </a:xfrm>
          <a:prstGeom prst="rect">
            <a:avLst/>
          </a:prstGeom>
        </p:spPr>
        <p:txBody>
          <a:bodyPr wrap="square">
            <a:spAutoFit/>
          </a:bodyPr>
          <a:lstStyle/>
          <a:p>
            <a:r>
              <a:rPr lang="en-US" b="1">
                <a:solidFill>
                  <a:srgbClr val="369226"/>
                </a:solidFill>
              </a:rPr>
              <a:t>Résultat : </a:t>
            </a:r>
            <a:r>
              <a:rPr lang="en-US" b="1"/>
              <a:t>Une réaction en chaîne de mise à jour des télégrammes. Le bus est soumis à une forte charge et les actionneurs peuvent ne plus réagir</a:t>
            </a:r>
          </a:p>
        </p:txBody>
      </p:sp>
      <p:pic>
        <p:nvPicPr>
          <p:cNvPr id="8" name="Picture 7">
            <a:extLst>
              <a:ext uri="{FF2B5EF4-FFF2-40B4-BE49-F238E27FC236}">
                <a16:creationId xmlns:a16="http://schemas.microsoft.com/office/drawing/2014/main" id="{6C4B1237-C6FA-4466-86EF-7DC580263F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58556"/>
            <a:ext cx="7369155" cy="3628085"/>
          </a:xfrm>
          <a:prstGeom prst="rect">
            <a:avLst/>
          </a:prstGeom>
          <a:noFill/>
          <a:ln>
            <a:noFill/>
          </a:ln>
        </p:spPr>
      </p:pic>
    </p:spTree>
    <p:extLst>
      <p:ext uri="{BB962C8B-B14F-4D97-AF65-F5344CB8AC3E}">
        <p14:creationId xmlns:p14="http://schemas.microsoft.com/office/powerpoint/2010/main" val="2993101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 indicateur de Lecture 'R'.</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a:t>Permet</a:t>
            </a:r>
            <a:r>
              <a:rPr lang="en-US" sz="1800">
                <a:solidFill>
                  <a:schemeClr val="tx1"/>
                </a:solidFill>
              </a:rPr>
              <a:t> la valeur de l'objet à être </a:t>
            </a:r>
            <a:r>
              <a:rPr lang="en-US" sz="1800"/>
              <a:t>lue </a:t>
            </a:r>
            <a:r>
              <a:rPr lang="en-US" sz="1800">
                <a:solidFill>
                  <a:schemeClr val="tx1"/>
                </a:solidFill>
              </a:rPr>
              <a:t>via le télégramme lu.</a:t>
            </a:r>
          </a:p>
          <a:p>
            <a:endParaRPr lang="en-US" sz="1800" dirty="0">
              <a:solidFill>
                <a:schemeClr val="tx1"/>
              </a:solidFill>
            </a:endParaRPr>
          </a:p>
          <a:p>
            <a:r>
              <a:rPr lang="en-US" sz="1800">
                <a:solidFill>
                  <a:schemeClr val="tx1"/>
                </a:solidFill>
              </a:rPr>
              <a:t>S'il est réglé à un objet, le participant de bus </a:t>
            </a:r>
            <a:r>
              <a:rPr lang="en-US" sz="1800"/>
              <a:t>répond à une demande de lecture </a:t>
            </a:r>
            <a:r>
              <a:rPr lang="en-US" sz="1800">
                <a:solidFill>
                  <a:schemeClr val="tx1"/>
                </a:solidFill>
              </a:rPr>
              <a:t>télégramme avec un télégramme de réponse à l'adresse du groupe d'envoi. S'il est supprimé, il n'y a pas de réponse</a:t>
            </a:r>
          </a:p>
          <a:p>
            <a:pPr marL="0" indent="0">
              <a:buNone/>
            </a:pPr>
            <a:r>
              <a:rPr lang="en-US" sz="1800"/>
              <a:t> </a:t>
            </a:r>
          </a:p>
          <a:p>
            <a:r>
              <a:rPr lang="en-GB" sz="1800"/>
              <a:t>Non défini par défaut </a:t>
            </a:r>
            <a:r>
              <a:rPr lang="en-US" sz="1800">
                <a:solidFill>
                  <a:schemeClr val="tx1"/>
                </a:solidFill>
              </a:rPr>
              <a:t>dans la plupart des cas</a:t>
            </a:r>
          </a:p>
          <a:p>
            <a:endParaRPr lang="en-US" sz="1800" dirty="0">
              <a:solidFill>
                <a:schemeClr val="tx1"/>
              </a:solidFill>
              <a:latin typeface="Arial" charset="0"/>
            </a:endParaRPr>
          </a:p>
          <a:p>
            <a:r>
              <a:rPr lang="en-US" sz="1800">
                <a:latin typeface="Arial" charset="0"/>
              </a:rPr>
              <a:t>Définir</a:t>
            </a:r>
            <a:r>
              <a:rPr lang="en-GB" sz="1800">
                <a:solidFill>
                  <a:schemeClr val="tx1"/>
                </a:solidFill>
                <a:latin typeface="Arial" charset="0"/>
              </a:rPr>
              <a:t>par nombre de fabricants </a:t>
            </a:r>
            <a:r>
              <a:rPr lang="en-GB" sz="1800">
                <a:latin typeface="Arial" charset="0"/>
              </a:rPr>
              <a:t>pour les objets d'état</a:t>
            </a:r>
            <a:endParaRPr lang="en-US" sz="1800" kern="0" dirty="0"/>
          </a:p>
        </p:txBody>
      </p:sp>
      <p:pic>
        <p:nvPicPr>
          <p:cNvPr id="6" name="Picture 5">
            <a:extLst>
              <a:ext uri="{FF2B5EF4-FFF2-40B4-BE49-F238E27FC236}">
                <a16:creationId xmlns:a16="http://schemas.microsoft.com/office/drawing/2014/main" id="{4B70B9D3-2B10-4EEB-9677-D5E3926737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2160" y="1557313"/>
            <a:ext cx="2517775" cy="4465955"/>
          </a:xfrm>
          <a:prstGeom prst="rect">
            <a:avLst/>
          </a:prstGeom>
          <a:noFill/>
          <a:ln>
            <a:noFill/>
          </a:ln>
        </p:spPr>
      </p:pic>
    </p:spTree>
    <p:extLst>
      <p:ext uri="{BB962C8B-B14F-4D97-AF65-F5344CB8AC3E}">
        <p14:creationId xmlns:p14="http://schemas.microsoft.com/office/powerpoint/2010/main" val="1994521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8889" y="272478"/>
            <a:ext cx="6759455" cy="719138"/>
          </a:xfrm>
        </p:spPr>
        <p:txBody>
          <a:bodyPr/>
          <a:lstStyle/>
          <a:p>
            <a:r>
              <a:rPr lang="en-US" dirty="0" err="1"/>
              <a:t>Séquence</a:t>
            </a:r>
            <a:r>
              <a:rPr lang="en-US" dirty="0"/>
              <a:t> de </a:t>
            </a:r>
            <a:r>
              <a:rPr lang="en-US" dirty="0" err="1"/>
              <a:t>principes</a:t>
            </a:r>
            <a:r>
              <a:rPr lang="en-US" dirty="0"/>
              <a:t> </a:t>
            </a:r>
            <a:r>
              <a:rPr lang="en-US" dirty="0" err="1"/>
              <a:t>d'une</a:t>
            </a:r>
            <a:r>
              <a:rPr lang="en-US" dirty="0"/>
              <a:t> </a:t>
            </a:r>
            <a:r>
              <a:rPr lang="en-US" dirty="0" err="1"/>
              <a:t>Demande</a:t>
            </a:r>
            <a:r>
              <a:rPr lang="en-US" dirty="0"/>
              <a:t> de Lecture </a:t>
            </a:r>
            <a:endParaRPr lang="en-GB" dirty="0"/>
          </a:p>
        </p:txBody>
      </p:sp>
      <p:pic>
        <p:nvPicPr>
          <p:cNvPr id="4" name="Picture 3">
            <a:extLst>
              <a:ext uri="{FF2B5EF4-FFF2-40B4-BE49-F238E27FC236}">
                <a16:creationId xmlns:a16="http://schemas.microsoft.com/office/drawing/2014/main" id="{EC24409D-D1DB-41A6-9595-12A6793B1813}"/>
              </a:ext>
            </a:extLst>
          </p:cNvPr>
          <p:cNvPicPr>
            <a:picLocks noChangeAspect="1"/>
          </p:cNvPicPr>
          <p:nvPr/>
        </p:nvPicPr>
        <p:blipFill>
          <a:blip r:embed="rId3"/>
          <a:stretch>
            <a:fillRect/>
          </a:stretch>
        </p:blipFill>
        <p:spPr>
          <a:xfrm>
            <a:off x="908889" y="3739152"/>
            <a:ext cx="7740352" cy="1143542"/>
          </a:xfrm>
          <a:prstGeom prst="rect">
            <a:avLst/>
          </a:prstGeom>
        </p:spPr>
      </p:pic>
      <p:sp>
        <p:nvSpPr>
          <p:cNvPr id="6" name="Rectangle 5">
            <a:extLst>
              <a:ext uri="{FF2B5EF4-FFF2-40B4-BE49-F238E27FC236}">
                <a16:creationId xmlns:a16="http://schemas.microsoft.com/office/drawing/2014/main" id="{AE51FC98-007C-4865-A3A4-3EBB47F4A8B1}"/>
              </a:ext>
            </a:extLst>
          </p:cNvPr>
          <p:cNvSpPr/>
          <p:nvPr/>
        </p:nvSpPr>
        <p:spPr>
          <a:xfrm>
            <a:off x="942047" y="1457763"/>
            <a:ext cx="7878425" cy="2019014"/>
          </a:xfrm>
          <a:prstGeom prst="rect">
            <a:avLst/>
          </a:prstGeom>
        </p:spPr>
        <p:txBody>
          <a:bodyPr/>
          <a:lstStyle/>
          <a:p>
            <a:pPr eaLnBrk="0" hangingPunct="0">
              <a:lnSpc>
                <a:spcPct val="150000"/>
              </a:lnSpc>
              <a:spcBef>
                <a:spcPct val="20000"/>
              </a:spcBef>
              <a:buClr>
                <a:srgbClr val="369226"/>
              </a:buClr>
            </a:pPr>
            <a:r>
              <a:rPr lang="en-GB" b="1">
                <a:solidFill>
                  <a:srgbClr val="369226"/>
                </a:solidFill>
                <a:latin typeface="+mn-lt"/>
                <a:cs typeface="+mn-cs"/>
              </a:rPr>
              <a:t>Séquence d'une demande de lecture :</a:t>
            </a:r>
          </a:p>
          <a:p>
            <a:pPr marL="342900" indent="-342900" eaLnBrk="0" hangingPunct="0">
              <a:lnSpc>
                <a:spcPct val="150000"/>
              </a:lnSpc>
              <a:spcBef>
                <a:spcPct val="20000"/>
              </a:spcBef>
              <a:buClr>
                <a:srgbClr val="369226"/>
              </a:buClr>
              <a:buFont typeface="Wingdings" pitchFamily="2" charset="2"/>
              <a:buChar char="§"/>
            </a:pPr>
            <a:r>
              <a:rPr lang="en-GB" b="1">
                <a:latin typeface="+mn-lt"/>
                <a:cs typeface="+mn-cs"/>
              </a:rPr>
              <a:t>par une visualisation (1.1.255)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a:latin typeface="+mn-lt"/>
                <a:cs typeface="+mn-cs"/>
              </a:rPr>
              <a:t>sur l'objet d'état (indicateur de lecture activé ici) d'un actionneur de commutation (1.1.1)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a:latin typeface="+mn-lt"/>
                <a:cs typeface="+mn-cs"/>
              </a:rPr>
              <a:t>par l'adresse de groupe 3/2/1 (état du feu 1) :</a:t>
            </a:r>
            <a:endParaRPr lang="es-ES" b="1" dirty="0">
              <a:latin typeface="+mn-lt"/>
              <a:cs typeface="+mn-cs"/>
            </a:endParaRPr>
          </a:p>
        </p:txBody>
      </p:sp>
    </p:spTree>
    <p:extLst>
      <p:ext uri="{BB962C8B-B14F-4D97-AF65-F5344CB8AC3E}">
        <p14:creationId xmlns:p14="http://schemas.microsoft.com/office/powerpoint/2010/main" val="7770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2" y="260648"/>
            <a:ext cx="6696223" cy="719138"/>
          </a:xfrm>
        </p:spPr>
        <p:txBody>
          <a:bodyPr/>
          <a:lstStyle/>
          <a:p>
            <a:r>
              <a:rPr lang="en-US" dirty="0" err="1"/>
              <a:t>Caractéristiques</a:t>
            </a:r>
            <a:r>
              <a:rPr lang="en-US" dirty="0"/>
              <a:t> </a:t>
            </a:r>
            <a:r>
              <a:rPr lang="en-US" dirty="0" err="1"/>
              <a:t>spéciales</a:t>
            </a:r>
            <a:r>
              <a:rPr lang="en-US" dirty="0"/>
              <a:t> des </a:t>
            </a:r>
            <a:r>
              <a:rPr lang="en-US" dirty="0" err="1"/>
              <a:t>indicateurs</a:t>
            </a:r>
            <a:r>
              <a:rPr lang="en-US" dirty="0"/>
              <a:t> de lecture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898334"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a:ea typeface="Open Sans" panose="020B0606030504020204" pitchFamily="34" charset="0"/>
                <a:cs typeface="Open Sans" panose="020B0606030504020204" pitchFamily="34" charset="0"/>
              </a:rPr>
              <a:t>L'indicateur de lecture ne devrait être défini que sur le participant qui doit répondre</a:t>
            </a:r>
          </a:p>
          <a:p>
            <a:pPr>
              <a:lnSpc>
                <a:spcPct val="150000"/>
              </a:lnSpc>
              <a:defRPr/>
            </a:pPr>
            <a:endParaRPr lang="en-US" sz="1100" kern="0" dirty="0">
              <a:ea typeface="Open Sans" panose="020B0606030504020204" pitchFamily="34" charset="0"/>
              <a:cs typeface="Open Sans" panose="020B0606030504020204" pitchFamily="34" charset="0"/>
            </a:endParaRPr>
          </a:p>
          <a:p>
            <a:pPr>
              <a:lnSpc>
                <a:spcPct val="150000"/>
              </a:lnSpc>
              <a:defRPr/>
            </a:pPr>
            <a:r>
              <a:rPr lang="en-US" sz="1600" kern="0">
                <a:solidFill>
                  <a:schemeClr val="bg1">
                    <a:lumMod val="10000"/>
                  </a:schemeClr>
                </a:solidFill>
                <a:ea typeface="Open Sans" panose="020B0606030504020204" pitchFamily="34" charset="0"/>
                <a:cs typeface="Open Sans" panose="020B0606030504020204" pitchFamily="34" charset="0"/>
              </a:rPr>
              <a:t>Le drapeau lu est </a:t>
            </a:r>
            <a:r>
              <a:rPr lang="en-US" sz="1600" kern="0">
                <a:ea typeface="Open Sans" panose="020B0606030504020204" pitchFamily="34" charset="0"/>
                <a:cs typeface="Open Sans" panose="020B0606030504020204" pitchFamily="34" charset="0"/>
              </a:rPr>
              <a:t>seulement défini une fois </a:t>
            </a:r>
            <a:r>
              <a:rPr lang="en-US" sz="1600" kern="0">
                <a:solidFill>
                  <a:schemeClr val="bg1">
                    <a:lumMod val="10000"/>
                  </a:schemeClr>
                </a:solidFill>
                <a:ea typeface="Open Sans" panose="020B0606030504020204" pitchFamily="34" charset="0"/>
                <a:cs typeface="Open Sans" panose="020B0606030504020204" pitchFamily="34" charset="0"/>
              </a:rPr>
              <a:t>pour chaque groupe d'adresse</a:t>
            </a:r>
          </a:p>
          <a:p>
            <a:pPr>
              <a:lnSpc>
                <a:spcPct val="150000"/>
              </a:lnSpc>
              <a:defRPr/>
            </a:pPr>
            <a:endParaRPr lang="en-US" sz="11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1600" kern="0">
                <a:solidFill>
                  <a:schemeClr val="bg1">
                    <a:lumMod val="10000"/>
                  </a:schemeClr>
                </a:solidFill>
                <a:ea typeface="Open Sans" panose="020B0606030504020204" pitchFamily="34" charset="0"/>
                <a:cs typeface="Open Sans" panose="020B0606030504020204" pitchFamily="34" charset="0"/>
              </a:rPr>
              <a:t>Si l'indicateur de lecture a été activé pour une adresse de groupe à plusieurs objets, une demande de lecture déclencherait plusieurs télégrammes de réponse</a:t>
            </a:r>
          </a:p>
          <a:p>
            <a:pPr>
              <a:lnSpc>
                <a:spcPct val="150000"/>
              </a:lnSpc>
              <a:defRPr/>
            </a:pPr>
            <a:endParaRPr lang="en-US" sz="1100" kern="0" dirty="0">
              <a:ea typeface="Open Sans" panose="020B0606030504020204" pitchFamily="34" charset="0"/>
              <a:cs typeface="Open Sans" panose="020B0606030504020204" pitchFamily="34" charset="0"/>
            </a:endParaRPr>
          </a:p>
          <a:p>
            <a:pPr>
              <a:lnSpc>
                <a:spcPct val="150000"/>
              </a:lnSpc>
              <a:defRPr/>
            </a:pPr>
            <a:r>
              <a:rPr lang="en-US" sz="1600" kern="0">
                <a:ea typeface="Open Sans" panose="020B0606030504020204" pitchFamily="34" charset="0"/>
                <a:cs typeface="Open Sans" panose="020B0606030504020204" pitchFamily="34" charset="0"/>
              </a:rPr>
              <a:t>Le groupe d'adresse qui est utilisé pour lire le statut de l'objet doit être placé au point de transmission de l'appareil qui doit être lu </a:t>
            </a:r>
            <a:r>
              <a:rPr lang="en-US" sz="1600" kern="0">
                <a:solidFill>
                  <a:schemeClr val="bg1">
                    <a:lumMod val="10000"/>
                  </a:schemeClr>
                </a:solidFill>
                <a:ea typeface="Open Sans" panose="020B0606030504020204" pitchFamily="34" charset="0"/>
                <a:cs typeface="Open Sans" panose="020B0606030504020204" pitchFamily="34" charset="0"/>
              </a:rPr>
              <a:t>car l'adresse du groupe d'envoi n'est utilisée que comme une destination dans la réponse télégramme</a:t>
            </a:r>
          </a:p>
        </p:txBody>
      </p:sp>
    </p:spTree>
    <p:extLst>
      <p:ext uri="{BB962C8B-B14F-4D97-AF65-F5344CB8AC3E}">
        <p14:creationId xmlns:p14="http://schemas.microsoft.com/office/powerpoint/2010/main" val="1533774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11946" y="312548"/>
            <a:ext cx="6696223" cy="719138"/>
          </a:xfrm>
        </p:spPr>
        <p:txBody>
          <a:bodyPr/>
          <a:lstStyle/>
          <a:p>
            <a:r>
              <a:rPr lang="en-US" dirty="0" err="1"/>
              <a:t>Caractéristiques</a:t>
            </a:r>
            <a:r>
              <a:rPr lang="en-US" dirty="0"/>
              <a:t> </a:t>
            </a:r>
            <a:r>
              <a:rPr lang="en-US" dirty="0" err="1"/>
              <a:t>spéciales</a:t>
            </a:r>
            <a:r>
              <a:rPr lang="en-US" dirty="0"/>
              <a:t> des </a:t>
            </a:r>
            <a:r>
              <a:rPr lang="en-US" dirty="0" err="1"/>
              <a:t>indicateurs</a:t>
            </a:r>
            <a:r>
              <a:rPr lang="en-US" dirty="0"/>
              <a:t> de lecture</a:t>
            </a:r>
            <a:endParaRPr lang="en-GB" dirty="0"/>
          </a:p>
        </p:txBody>
      </p:sp>
      <p:sp>
        <p:nvSpPr>
          <p:cNvPr id="6" name="Rectangle 5">
            <a:extLst>
              <a:ext uri="{FF2B5EF4-FFF2-40B4-BE49-F238E27FC236}">
                <a16:creationId xmlns:a16="http://schemas.microsoft.com/office/drawing/2014/main" id="{AE51FC98-007C-4865-A3A4-3EBB47F4A8B1}"/>
              </a:ext>
            </a:extLst>
          </p:cNvPr>
          <p:cNvSpPr/>
          <p:nvPr/>
        </p:nvSpPr>
        <p:spPr>
          <a:xfrm>
            <a:off x="911946" y="1554002"/>
            <a:ext cx="7527446" cy="428974"/>
          </a:xfrm>
          <a:prstGeom prst="rect">
            <a:avLst/>
          </a:prstGeom>
        </p:spPr>
        <p:txBody>
          <a:bodyPr/>
          <a:lstStyle/>
          <a:p>
            <a:pPr eaLnBrk="0" hangingPunct="0">
              <a:spcBef>
                <a:spcPct val="20000"/>
              </a:spcBef>
              <a:buClr>
                <a:srgbClr val="369226"/>
              </a:buClr>
            </a:pPr>
            <a:r>
              <a:rPr lang="en-GB" b="1">
                <a:solidFill>
                  <a:srgbClr val="369226"/>
                </a:solidFill>
                <a:latin typeface="+mn-lt"/>
                <a:cs typeface="+mn-cs"/>
              </a:rPr>
              <a:t>Incorrect : </a:t>
            </a:r>
            <a:r>
              <a:rPr lang="en-US" b="1">
                <a:latin typeface="+mn-lt"/>
                <a:cs typeface="+mn-cs"/>
              </a:rPr>
              <a:t>Le groupe 3/1/6 de demande de lecture n'est pas l'adresse d'envoi.</a:t>
            </a:r>
            <a:endParaRPr lang="en-GB" b="1" dirty="0">
              <a:latin typeface="+mn-lt"/>
              <a:cs typeface="+mn-cs"/>
            </a:endParaRPr>
          </a:p>
        </p:txBody>
      </p:sp>
      <p:pic>
        <p:nvPicPr>
          <p:cNvPr id="5" name="Picture 4">
            <a:extLst>
              <a:ext uri="{FF2B5EF4-FFF2-40B4-BE49-F238E27FC236}">
                <a16:creationId xmlns:a16="http://schemas.microsoft.com/office/drawing/2014/main" id="{F7A3DDF9-9EA7-4117-A233-C8F4027AAE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2299" y="2078734"/>
            <a:ext cx="7457313" cy="1494282"/>
          </a:xfrm>
          <a:prstGeom prst="rect">
            <a:avLst/>
          </a:prstGeom>
          <a:noFill/>
          <a:ln>
            <a:noFill/>
          </a:ln>
        </p:spPr>
      </p:pic>
      <p:pic>
        <p:nvPicPr>
          <p:cNvPr id="7" name="Picture 6">
            <a:extLst>
              <a:ext uri="{FF2B5EF4-FFF2-40B4-BE49-F238E27FC236}">
                <a16:creationId xmlns:a16="http://schemas.microsoft.com/office/drawing/2014/main" id="{E9398811-3D19-488B-AACE-DD8D31D196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575012"/>
            <a:ext cx="7467791" cy="1446276"/>
          </a:xfrm>
          <a:prstGeom prst="rect">
            <a:avLst/>
          </a:prstGeom>
          <a:noFill/>
          <a:ln>
            <a:noFill/>
          </a:ln>
        </p:spPr>
      </p:pic>
      <p:sp>
        <p:nvSpPr>
          <p:cNvPr id="8" name="Rectangle 7">
            <a:extLst>
              <a:ext uri="{FF2B5EF4-FFF2-40B4-BE49-F238E27FC236}">
                <a16:creationId xmlns:a16="http://schemas.microsoft.com/office/drawing/2014/main" id="{A4692046-0107-4E1E-9A93-A00F971AFD19}"/>
              </a:ext>
            </a:extLst>
          </p:cNvPr>
          <p:cNvSpPr/>
          <p:nvPr/>
        </p:nvSpPr>
        <p:spPr>
          <a:xfrm>
            <a:off x="941660" y="4077072"/>
            <a:ext cx="7878425" cy="428974"/>
          </a:xfrm>
          <a:prstGeom prst="rect">
            <a:avLst/>
          </a:prstGeom>
        </p:spPr>
        <p:txBody>
          <a:bodyPr/>
          <a:lstStyle/>
          <a:p>
            <a:pPr eaLnBrk="0" hangingPunct="0">
              <a:spcBef>
                <a:spcPct val="20000"/>
              </a:spcBef>
              <a:buClr>
                <a:srgbClr val="369226"/>
              </a:buClr>
            </a:pPr>
            <a:r>
              <a:rPr lang="en-GB" b="1">
                <a:solidFill>
                  <a:srgbClr val="369226"/>
                </a:solidFill>
                <a:latin typeface="+mn-lt"/>
                <a:cs typeface="+mn-cs"/>
              </a:rPr>
              <a:t>Correct: </a:t>
            </a:r>
            <a:r>
              <a:rPr lang="en-US" b="1">
                <a:latin typeface="+mn-lt"/>
                <a:cs typeface="+mn-cs"/>
              </a:rPr>
              <a:t>Le groupe 3/1/6 de demande de lecture est l'adresse d'envoi</a:t>
            </a:r>
            <a:r>
              <a:rPr lang="en-GB" b="1">
                <a:solidFill>
                  <a:srgbClr val="369226"/>
                </a:solidFill>
                <a:latin typeface="+mn-lt"/>
                <a:cs typeface="+mn-cs"/>
              </a:rPr>
              <a:t> </a:t>
            </a:r>
          </a:p>
        </p:txBody>
      </p:sp>
    </p:spTree>
    <p:extLst>
      <p:ext uri="{BB962C8B-B14F-4D97-AF65-F5344CB8AC3E}">
        <p14:creationId xmlns:p14="http://schemas.microsoft.com/office/powerpoint/2010/main" val="4092861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Le drapeau de mise à jour 'U'</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3" y="1340768"/>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600" dirty="0">
                <a:solidFill>
                  <a:schemeClr val="tx1"/>
                </a:solidFill>
              </a:rPr>
              <a:t>Il </a:t>
            </a:r>
            <a:r>
              <a:rPr lang="en-US" sz="1600" dirty="0" err="1"/>
              <a:t>contrôle</a:t>
            </a:r>
            <a:r>
              <a:rPr lang="en-US" sz="1600" dirty="0">
                <a:solidFill>
                  <a:schemeClr val="tx1"/>
                </a:solidFill>
              </a:rPr>
              <a:t> </a:t>
            </a:r>
            <a:r>
              <a:rPr lang="en-US" sz="1600" dirty="0" err="1">
                <a:solidFill>
                  <a:schemeClr val="tx1"/>
                </a:solidFill>
              </a:rPr>
              <a:t>si</a:t>
            </a:r>
            <a:r>
              <a:rPr lang="en-US" sz="1600" dirty="0">
                <a:solidFill>
                  <a:schemeClr val="tx1"/>
                </a:solidFill>
              </a:rPr>
              <a:t> la </a:t>
            </a:r>
            <a:r>
              <a:rPr lang="en-US" sz="1600" dirty="0" err="1"/>
              <a:t>valeur</a:t>
            </a:r>
            <a:r>
              <a:rPr lang="en-US" sz="1600" dirty="0"/>
              <a:t> reçue</a:t>
            </a:r>
            <a:r>
              <a:rPr lang="en-US" sz="1600" dirty="0">
                <a:solidFill>
                  <a:schemeClr val="tx1"/>
                </a:solidFill>
              </a:rPr>
              <a:t> d'un </a:t>
            </a:r>
            <a:r>
              <a:rPr lang="en-US" sz="1600" dirty="0" err="1">
                <a:solidFill>
                  <a:schemeClr val="tx1"/>
                </a:solidFill>
              </a:rPr>
              <a:t>télégramme</a:t>
            </a:r>
            <a:r>
              <a:rPr lang="en-US" sz="1600" dirty="0">
                <a:solidFill>
                  <a:schemeClr val="tx1"/>
                </a:solidFill>
              </a:rPr>
              <a:t> de </a:t>
            </a:r>
            <a:r>
              <a:rPr lang="en-US" sz="1600" dirty="0" err="1">
                <a:solidFill>
                  <a:schemeClr val="tx1"/>
                </a:solidFill>
              </a:rPr>
              <a:t>réponse</a:t>
            </a:r>
            <a:r>
              <a:rPr lang="en-US" sz="1600" dirty="0"/>
              <a:t> doit </a:t>
            </a:r>
            <a:r>
              <a:rPr lang="en-US" sz="1600" dirty="0" err="1"/>
              <a:t>être</a:t>
            </a:r>
            <a:r>
              <a:rPr lang="en-US" sz="1600" dirty="0"/>
              <a:t> </a:t>
            </a:r>
            <a:r>
              <a:rPr lang="en-US" sz="1600" dirty="0" err="1"/>
              <a:t>ignorée</a:t>
            </a:r>
            <a:r>
              <a:rPr lang="en-US" sz="1600" dirty="0"/>
              <a:t> </a:t>
            </a:r>
            <a:r>
              <a:rPr lang="en-US" sz="1600" dirty="0" err="1"/>
              <a:t>ou</a:t>
            </a:r>
            <a:r>
              <a:rPr lang="en-US" sz="1600" dirty="0"/>
              <a:t> </a:t>
            </a:r>
            <a:r>
              <a:rPr lang="en-US" sz="1600" dirty="0" err="1"/>
              <a:t>transférée</a:t>
            </a:r>
            <a:r>
              <a:rPr lang="en-US" sz="1600" dirty="0">
                <a:solidFill>
                  <a:schemeClr val="tx1"/>
                </a:solidFill>
              </a:rPr>
              <a:t> à </a:t>
            </a:r>
            <a:r>
              <a:rPr lang="en-US" sz="1600" dirty="0" err="1">
                <a:solidFill>
                  <a:schemeClr val="tx1"/>
                </a:solidFill>
              </a:rPr>
              <a:t>l'objet</a:t>
            </a:r>
            <a:r>
              <a:rPr lang="en-US" sz="1600" dirty="0">
                <a:solidFill>
                  <a:schemeClr val="tx1"/>
                </a:solidFill>
              </a:rPr>
              <a:t> de </a:t>
            </a:r>
            <a:r>
              <a:rPr lang="en-US" sz="1600" dirty="0" err="1">
                <a:solidFill>
                  <a:schemeClr val="tx1"/>
                </a:solidFill>
              </a:rPr>
              <a:t>groupe</a:t>
            </a:r>
            <a:r>
              <a:rPr lang="en-US" sz="1600" dirty="0"/>
              <a:t> </a:t>
            </a:r>
          </a:p>
          <a:p>
            <a:endParaRPr lang="en-US" sz="1600" dirty="0">
              <a:solidFill>
                <a:schemeClr val="tx1"/>
              </a:solidFill>
            </a:endParaRPr>
          </a:p>
          <a:p>
            <a:r>
              <a:rPr lang="en-US" sz="1600" dirty="0">
                <a:solidFill>
                  <a:schemeClr val="tx1"/>
                </a:solidFill>
              </a:rPr>
              <a:t>Si </a:t>
            </a:r>
            <a:r>
              <a:rPr lang="en-US" sz="1600" dirty="0" err="1">
                <a:solidFill>
                  <a:schemeClr val="tx1"/>
                </a:solidFill>
              </a:rPr>
              <a:t>elle</a:t>
            </a:r>
            <a:r>
              <a:rPr lang="en-US" sz="1600" dirty="0">
                <a:solidFill>
                  <a:schemeClr val="tx1"/>
                </a:solidFill>
              </a:rPr>
              <a:t> </a:t>
            </a:r>
            <a:r>
              <a:rPr lang="en-US" sz="1600" dirty="0" err="1">
                <a:solidFill>
                  <a:schemeClr val="tx1"/>
                </a:solidFill>
              </a:rPr>
              <a:t>est</a:t>
            </a:r>
            <a:r>
              <a:rPr lang="en-US" sz="1600" dirty="0">
                <a:solidFill>
                  <a:schemeClr val="tx1"/>
                </a:solidFill>
              </a:rPr>
              <a:t> </a:t>
            </a:r>
            <a:r>
              <a:rPr lang="en-US" sz="1600" dirty="0" err="1">
                <a:solidFill>
                  <a:schemeClr val="tx1"/>
                </a:solidFill>
              </a:rPr>
              <a:t>définie</a:t>
            </a:r>
            <a:r>
              <a:rPr lang="en-US" sz="1600" dirty="0">
                <a:solidFill>
                  <a:schemeClr val="tx1"/>
                </a:solidFill>
              </a:rPr>
              <a:t>, </a:t>
            </a:r>
            <a:r>
              <a:rPr lang="en-US" sz="1600" dirty="0"/>
              <a:t>un </a:t>
            </a:r>
            <a:r>
              <a:rPr lang="en-US" sz="1600" dirty="0" err="1"/>
              <a:t>télégramme</a:t>
            </a:r>
            <a:r>
              <a:rPr lang="en-US" sz="1600" dirty="0"/>
              <a:t> de </a:t>
            </a:r>
            <a:r>
              <a:rPr lang="en-US" sz="1600" dirty="0" err="1"/>
              <a:t>réponse</a:t>
            </a:r>
            <a:r>
              <a:rPr lang="en-US" sz="1600" dirty="0"/>
              <a:t> </a:t>
            </a:r>
            <a:r>
              <a:rPr lang="en-US" sz="1600" dirty="0" err="1">
                <a:solidFill>
                  <a:schemeClr val="tx1"/>
                </a:solidFill>
              </a:rPr>
              <a:t>d'une</a:t>
            </a:r>
            <a:r>
              <a:rPr lang="en-US" sz="1600" dirty="0">
                <a:solidFill>
                  <a:schemeClr val="tx1"/>
                </a:solidFill>
              </a:rPr>
              <a:t> lecture </a:t>
            </a:r>
            <a:r>
              <a:rPr lang="en-US" sz="1600" dirty="0" err="1"/>
              <a:t>est</a:t>
            </a:r>
            <a:r>
              <a:rPr lang="en-US" sz="1600" dirty="0"/>
              <a:t> </a:t>
            </a:r>
            <a:r>
              <a:rPr lang="en-US" sz="1600" dirty="0" err="1"/>
              <a:t>interprété</a:t>
            </a:r>
            <a:r>
              <a:rPr lang="en-US" sz="1600" dirty="0"/>
              <a:t> </a:t>
            </a:r>
            <a:r>
              <a:rPr lang="en-US" sz="1600" dirty="0" err="1"/>
              <a:t>comme</a:t>
            </a:r>
            <a:r>
              <a:rPr lang="en-US" sz="1600" dirty="0"/>
              <a:t> un </a:t>
            </a:r>
            <a:r>
              <a:rPr lang="en-US" sz="1600" dirty="0" err="1"/>
              <a:t>télégramme</a:t>
            </a:r>
            <a:r>
              <a:rPr lang="en-US" sz="1600" dirty="0"/>
              <a:t> </a:t>
            </a:r>
            <a:r>
              <a:rPr lang="en-US" sz="1600" dirty="0" err="1">
                <a:solidFill>
                  <a:schemeClr val="tx1"/>
                </a:solidFill>
              </a:rPr>
              <a:t>d'écriture</a:t>
            </a:r>
            <a:r>
              <a:rPr lang="en-US" sz="1600" dirty="0">
                <a:solidFill>
                  <a:schemeClr val="tx1"/>
                </a:solidFill>
              </a:rPr>
              <a:t>.  Si </a:t>
            </a:r>
            <a:r>
              <a:rPr lang="en-US" sz="1600" dirty="0" err="1">
                <a:solidFill>
                  <a:schemeClr val="tx1"/>
                </a:solidFill>
              </a:rPr>
              <a:t>elle</a:t>
            </a:r>
            <a:r>
              <a:rPr lang="en-US" sz="1600" dirty="0">
                <a:solidFill>
                  <a:schemeClr val="tx1"/>
                </a:solidFill>
              </a:rPr>
              <a:t> </a:t>
            </a:r>
            <a:r>
              <a:rPr lang="en-US" sz="1600" dirty="0" err="1">
                <a:solidFill>
                  <a:schemeClr val="tx1"/>
                </a:solidFill>
              </a:rPr>
              <a:t>est</a:t>
            </a:r>
            <a:r>
              <a:rPr lang="en-US" sz="1600" dirty="0">
                <a:solidFill>
                  <a:schemeClr val="tx1"/>
                </a:solidFill>
              </a:rPr>
              <a:t> </a:t>
            </a:r>
            <a:r>
              <a:rPr lang="en-US" sz="1600" dirty="0" err="1">
                <a:solidFill>
                  <a:schemeClr val="tx1"/>
                </a:solidFill>
              </a:rPr>
              <a:t>supprimée</a:t>
            </a:r>
            <a:r>
              <a:rPr lang="en-US" sz="1600" dirty="0">
                <a:solidFill>
                  <a:schemeClr val="tx1"/>
                </a:solidFill>
              </a:rPr>
              <a:t>, les </a:t>
            </a:r>
            <a:r>
              <a:rPr lang="en-US" sz="1600" dirty="0" err="1">
                <a:solidFill>
                  <a:schemeClr val="tx1"/>
                </a:solidFill>
              </a:rPr>
              <a:t>télégrammes</a:t>
            </a:r>
            <a:r>
              <a:rPr lang="en-US" sz="1600" dirty="0">
                <a:solidFill>
                  <a:schemeClr val="tx1"/>
                </a:solidFill>
              </a:rPr>
              <a:t> de </a:t>
            </a:r>
            <a:r>
              <a:rPr lang="en-US" sz="1600" dirty="0" err="1">
                <a:solidFill>
                  <a:schemeClr val="tx1"/>
                </a:solidFill>
              </a:rPr>
              <a:t>réponse</a:t>
            </a:r>
            <a:r>
              <a:rPr lang="en-US" sz="1600" dirty="0">
                <a:solidFill>
                  <a:schemeClr val="tx1"/>
                </a:solidFill>
              </a:rPr>
              <a:t> </a:t>
            </a:r>
            <a:r>
              <a:rPr lang="en-US" sz="1600" dirty="0" err="1">
                <a:solidFill>
                  <a:schemeClr val="tx1"/>
                </a:solidFill>
              </a:rPr>
              <a:t>sont</a:t>
            </a:r>
            <a:r>
              <a:rPr lang="en-US" sz="1600" dirty="0">
                <a:solidFill>
                  <a:schemeClr val="tx1"/>
                </a:solidFill>
              </a:rPr>
              <a:t> </a:t>
            </a:r>
            <a:r>
              <a:rPr lang="en-US" sz="1600" dirty="0" err="1">
                <a:solidFill>
                  <a:schemeClr val="tx1"/>
                </a:solidFill>
              </a:rPr>
              <a:t>ignorés</a:t>
            </a:r>
            <a:endParaRPr lang="en-US" sz="1600" dirty="0">
              <a:solidFill>
                <a:schemeClr val="tx1"/>
              </a:solidFill>
            </a:endParaRPr>
          </a:p>
          <a:p>
            <a:endParaRPr lang="en-US" sz="1600" dirty="0">
              <a:solidFill>
                <a:schemeClr val="tx1"/>
              </a:solidFill>
            </a:endParaRPr>
          </a:p>
          <a:p>
            <a:r>
              <a:rPr lang="en-US" sz="1600" dirty="0">
                <a:solidFill>
                  <a:schemeClr val="tx1"/>
                </a:solidFill>
              </a:rPr>
              <a:t>Il ne </a:t>
            </a:r>
            <a:r>
              <a:rPr lang="en-US" sz="1600" dirty="0" err="1">
                <a:solidFill>
                  <a:schemeClr val="tx1"/>
                </a:solidFill>
              </a:rPr>
              <a:t>peut</a:t>
            </a:r>
            <a:r>
              <a:rPr lang="en-US" sz="1600" dirty="0">
                <a:solidFill>
                  <a:schemeClr val="tx1"/>
                </a:solidFill>
              </a:rPr>
              <a:t> </a:t>
            </a:r>
            <a:r>
              <a:rPr lang="en-US" sz="1600" dirty="0" err="1">
                <a:solidFill>
                  <a:schemeClr val="tx1"/>
                </a:solidFill>
              </a:rPr>
              <a:t>être</a:t>
            </a:r>
            <a:r>
              <a:rPr lang="en-US" sz="1600" dirty="0">
                <a:solidFill>
                  <a:schemeClr val="tx1"/>
                </a:solidFill>
              </a:rPr>
              <a:t> </a:t>
            </a:r>
            <a:r>
              <a:rPr lang="en-US" sz="1600" dirty="0" err="1">
                <a:solidFill>
                  <a:schemeClr val="tx1"/>
                </a:solidFill>
              </a:rPr>
              <a:t>supprimé</a:t>
            </a:r>
            <a:r>
              <a:rPr lang="en-US" sz="1600" dirty="0">
                <a:solidFill>
                  <a:schemeClr val="tx1"/>
                </a:solidFill>
              </a:rPr>
              <a:t> que des </a:t>
            </a:r>
            <a:r>
              <a:rPr lang="en-US" sz="1600" dirty="0" err="1">
                <a:solidFill>
                  <a:schemeClr val="tx1"/>
                </a:solidFill>
              </a:rPr>
              <a:t>coupleurs</a:t>
            </a:r>
            <a:r>
              <a:rPr lang="en-US" sz="1600" dirty="0">
                <a:solidFill>
                  <a:schemeClr val="tx1"/>
                </a:solidFill>
              </a:rPr>
              <a:t> de bus du </a:t>
            </a:r>
            <a:r>
              <a:rPr lang="en-US" sz="1600" dirty="0" err="1">
                <a:solidFill>
                  <a:schemeClr val="tx1"/>
                </a:solidFill>
              </a:rPr>
              <a:t>système</a:t>
            </a:r>
            <a:r>
              <a:rPr lang="en-US" sz="1600" dirty="0">
                <a:solidFill>
                  <a:schemeClr val="tx1"/>
                </a:solidFill>
              </a:rPr>
              <a:t> 2. Il </a:t>
            </a:r>
            <a:r>
              <a:rPr lang="en-US" sz="1600" dirty="0" err="1">
                <a:solidFill>
                  <a:schemeClr val="tx1"/>
                </a:solidFill>
              </a:rPr>
              <a:t>est</a:t>
            </a:r>
            <a:r>
              <a:rPr lang="en-US" sz="1600" dirty="0">
                <a:solidFill>
                  <a:schemeClr val="tx1"/>
                </a:solidFill>
              </a:rPr>
              <a:t> </a:t>
            </a:r>
            <a:r>
              <a:rPr lang="en-US" sz="1600" dirty="0" err="1">
                <a:solidFill>
                  <a:schemeClr val="tx1"/>
                </a:solidFill>
              </a:rPr>
              <a:t>toujours</a:t>
            </a:r>
            <a:r>
              <a:rPr lang="en-US" sz="1600" dirty="0">
                <a:solidFill>
                  <a:schemeClr val="tx1"/>
                </a:solidFill>
              </a:rPr>
              <a:t> </a:t>
            </a:r>
            <a:r>
              <a:rPr lang="en-US" sz="1600" dirty="0" err="1">
                <a:solidFill>
                  <a:schemeClr val="tx1"/>
                </a:solidFill>
              </a:rPr>
              <a:t>réglé</a:t>
            </a:r>
            <a:r>
              <a:rPr lang="en-US" sz="1600" dirty="0">
                <a:solidFill>
                  <a:schemeClr val="tx1"/>
                </a:solidFill>
              </a:rPr>
              <a:t> pour les </a:t>
            </a:r>
            <a:r>
              <a:rPr lang="en-US" sz="1600" dirty="0" err="1">
                <a:solidFill>
                  <a:schemeClr val="tx1"/>
                </a:solidFill>
              </a:rPr>
              <a:t>coupleurs</a:t>
            </a:r>
            <a:r>
              <a:rPr lang="en-US" sz="1600" dirty="0">
                <a:solidFill>
                  <a:schemeClr val="tx1"/>
                </a:solidFill>
              </a:rPr>
              <a:t> de bus </a:t>
            </a:r>
            <a:r>
              <a:rPr lang="en-US" sz="1600" dirty="0" err="1">
                <a:solidFill>
                  <a:schemeClr val="tx1"/>
                </a:solidFill>
              </a:rPr>
              <a:t>système</a:t>
            </a:r>
            <a:r>
              <a:rPr lang="en-US" sz="1600" dirty="0">
                <a:solidFill>
                  <a:schemeClr val="tx1"/>
                </a:solidFill>
              </a:rPr>
              <a:t> 1 </a:t>
            </a:r>
          </a:p>
          <a:p>
            <a:endParaRPr lang="en-US" sz="1600" dirty="0">
              <a:solidFill>
                <a:schemeClr val="tx1"/>
              </a:solidFill>
            </a:endParaRPr>
          </a:p>
          <a:p>
            <a:r>
              <a:rPr lang="en-US" sz="1600" dirty="0">
                <a:solidFill>
                  <a:schemeClr val="tx1"/>
                </a:solidFill>
              </a:rPr>
              <a:t>Les </a:t>
            </a:r>
            <a:r>
              <a:rPr lang="en-US" sz="1600" dirty="0" err="1">
                <a:solidFill>
                  <a:schemeClr val="tx1"/>
                </a:solidFill>
              </a:rPr>
              <a:t>appareils</a:t>
            </a:r>
            <a:r>
              <a:rPr lang="en-US" sz="1600" dirty="0">
                <a:solidFill>
                  <a:schemeClr val="tx1"/>
                </a:solidFill>
              </a:rPr>
              <a:t> avec BCU1 </a:t>
            </a:r>
            <a:r>
              <a:rPr lang="en-US" sz="1600" dirty="0" err="1">
                <a:solidFill>
                  <a:schemeClr val="tx1"/>
                </a:solidFill>
              </a:rPr>
              <a:t>changent</a:t>
            </a:r>
            <a:r>
              <a:rPr lang="en-US" sz="1600" dirty="0">
                <a:solidFill>
                  <a:schemeClr val="tx1"/>
                </a:solidFill>
              </a:rPr>
              <a:t> </a:t>
            </a:r>
            <a:r>
              <a:rPr lang="en-US" sz="1600" dirty="0" err="1">
                <a:solidFill>
                  <a:schemeClr val="tx1"/>
                </a:solidFill>
              </a:rPr>
              <a:t>toujours</a:t>
            </a:r>
            <a:r>
              <a:rPr lang="en-US" sz="1600" dirty="0">
                <a:solidFill>
                  <a:schemeClr val="tx1"/>
                </a:solidFill>
              </a:rPr>
              <a:t> </a:t>
            </a:r>
            <a:r>
              <a:rPr lang="en-US" sz="1600" dirty="0" err="1">
                <a:solidFill>
                  <a:schemeClr val="tx1"/>
                </a:solidFill>
              </a:rPr>
              <a:t>leur</a:t>
            </a:r>
            <a:r>
              <a:rPr lang="en-US" sz="1600" dirty="0">
                <a:solidFill>
                  <a:schemeClr val="tx1"/>
                </a:solidFill>
              </a:rPr>
              <a:t> </a:t>
            </a:r>
            <a:r>
              <a:rPr lang="en-US" sz="1600" dirty="0" err="1">
                <a:solidFill>
                  <a:schemeClr val="tx1"/>
                </a:solidFill>
              </a:rPr>
              <a:t>état</a:t>
            </a:r>
            <a:r>
              <a:rPr lang="en-US" sz="1600" dirty="0">
                <a:solidFill>
                  <a:schemeClr val="tx1"/>
                </a:solidFill>
              </a:rPr>
              <a:t> </a:t>
            </a:r>
            <a:r>
              <a:rPr lang="en-US" sz="1600" dirty="0" err="1">
                <a:solidFill>
                  <a:schemeClr val="tx1"/>
                </a:solidFill>
              </a:rPr>
              <a:t>d'objet</a:t>
            </a:r>
            <a:r>
              <a:rPr lang="en-US" sz="1600" dirty="0">
                <a:solidFill>
                  <a:schemeClr val="tx1"/>
                </a:solidFill>
              </a:rPr>
              <a:t> à la suite de </a:t>
            </a:r>
            <a:r>
              <a:rPr lang="en-US" sz="1600" dirty="0" err="1">
                <a:solidFill>
                  <a:schemeClr val="tx1"/>
                </a:solidFill>
              </a:rPr>
              <a:t>séquences</a:t>
            </a:r>
            <a:r>
              <a:rPr lang="en-US" sz="1600" dirty="0">
                <a:solidFill>
                  <a:schemeClr val="tx1"/>
                </a:solidFill>
              </a:rPr>
              <a:t> de lecture/</a:t>
            </a:r>
            <a:r>
              <a:rPr lang="en-US" sz="1600" dirty="0" err="1">
                <a:solidFill>
                  <a:schemeClr val="tx1"/>
                </a:solidFill>
              </a:rPr>
              <a:t>réponse</a:t>
            </a:r>
            <a:r>
              <a:rPr lang="en-US" sz="1600" dirty="0">
                <a:solidFill>
                  <a:schemeClr val="tx1"/>
                </a:solidFill>
              </a:rPr>
              <a:t>!</a:t>
            </a:r>
          </a:p>
          <a:p>
            <a:endParaRPr lang="en-US" sz="1600" kern="0" dirty="0"/>
          </a:p>
          <a:p>
            <a:pPr marL="0" indent="0">
              <a:buNone/>
            </a:pPr>
            <a:endParaRPr lang="en-US" sz="1600" kern="0" dirty="0"/>
          </a:p>
        </p:txBody>
      </p:sp>
      <p:pic>
        <p:nvPicPr>
          <p:cNvPr id="5" name="Picture 4">
            <a:extLst>
              <a:ext uri="{FF2B5EF4-FFF2-40B4-BE49-F238E27FC236}">
                <a16:creationId xmlns:a16="http://schemas.microsoft.com/office/drawing/2014/main" id="{E69DF900-090D-49C7-B191-0F4FD03F900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4405" y="1628800"/>
            <a:ext cx="2731765" cy="3959585"/>
          </a:xfrm>
          <a:prstGeom prst="rect">
            <a:avLst/>
          </a:prstGeom>
          <a:noFill/>
          <a:ln>
            <a:noFill/>
          </a:ln>
        </p:spPr>
      </p:pic>
    </p:spTree>
    <p:extLst>
      <p:ext uri="{BB962C8B-B14F-4D97-AF65-F5344CB8AC3E}">
        <p14:creationId xmlns:p14="http://schemas.microsoft.com/office/powerpoint/2010/main" val="3935427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3600" y="241713"/>
            <a:ext cx="6628351" cy="825104"/>
          </a:xfrm>
        </p:spPr>
        <p:txBody>
          <a:bodyPr/>
          <a:lstStyle/>
          <a:p>
            <a:r>
              <a:rPr lang="en-US" sz="2400" dirty="0" err="1"/>
              <a:t>Exemple</a:t>
            </a:r>
            <a:r>
              <a:rPr lang="en-US" sz="2400" dirty="0"/>
              <a:t> </a:t>
            </a:r>
            <a:r>
              <a:rPr lang="en-US" sz="2400" dirty="0" err="1"/>
              <a:t>d'Interaction</a:t>
            </a:r>
            <a:r>
              <a:rPr lang="en-US" sz="2400" dirty="0"/>
              <a:t> entre </a:t>
            </a:r>
            <a:r>
              <a:rPr lang="en-US" sz="2400" dirty="0" err="1"/>
              <a:t>l'Indicateur</a:t>
            </a:r>
            <a:r>
              <a:rPr lang="en-US" sz="2400" dirty="0"/>
              <a:t> de Lecture et de Mise à jour </a:t>
            </a:r>
            <a:endParaRPr lang="en-GB" sz="2400" dirty="0"/>
          </a:p>
        </p:txBody>
      </p:sp>
      <p:pic>
        <p:nvPicPr>
          <p:cNvPr id="7" name="Picture 6">
            <a:extLst>
              <a:ext uri="{FF2B5EF4-FFF2-40B4-BE49-F238E27FC236}">
                <a16:creationId xmlns:a16="http://schemas.microsoft.com/office/drawing/2014/main" id="{31745515-E58A-4B1B-8BA1-7C35E1C96F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0288" y="1974918"/>
            <a:ext cx="7468362" cy="493776"/>
          </a:xfrm>
          <a:prstGeom prst="rect">
            <a:avLst/>
          </a:prstGeom>
          <a:noFill/>
          <a:ln>
            <a:noFill/>
          </a:ln>
        </p:spPr>
      </p:pic>
      <p:pic>
        <p:nvPicPr>
          <p:cNvPr id="8" name="Picture 7">
            <a:extLst>
              <a:ext uri="{FF2B5EF4-FFF2-40B4-BE49-F238E27FC236}">
                <a16:creationId xmlns:a16="http://schemas.microsoft.com/office/drawing/2014/main" id="{67280263-CBD3-46F0-91CA-179CD0DEFA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0288" y="3285134"/>
            <a:ext cx="7515225" cy="500063"/>
          </a:xfrm>
          <a:prstGeom prst="rect">
            <a:avLst/>
          </a:prstGeom>
          <a:noFill/>
          <a:ln>
            <a:noFill/>
          </a:ln>
        </p:spPr>
      </p:pic>
      <p:pic>
        <p:nvPicPr>
          <p:cNvPr id="2" name="Picture 1">
            <a:extLst>
              <a:ext uri="{FF2B5EF4-FFF2-40B4-BE49-F238E27FC236}">
                <a16:creationId xmlns:a16="http://schemas.microsoft.com/office/drawing/2014/main" id="{EA6EFFBF-4400-4348-8822-53DAF79BB328}"/>
              </a:ext>
            </a:extLst>
          </p:cNvPr>
          <p:cNvPicPr>
            <a:picLocks noChangeAspect="1"/>
          </p:cNvPicPr>
          <p:nvPr/>
        </p:nvPicPr>
        <p:blipFill>
          <a:blip r:embed="rId5"/>
          <a:stretch>
            <a:fillRect/>
          </a:stretch>
        </p:blipFill>
        <p:spPr>
          <a:xfrm>
            <a:off x="870288" y="4404096"/>
            <a:ext cx="7483123" cy="825104"/>
          </a:xfrm>
          <a:prstGeom prst="rect">
            <a:avLst/>
          </a:prstGeom>
        </p:spPr>
      </p:pic>
      <p:sp>
        <p:nvSpPr>
          <p:cNvPr id="9" name="Rectangle 8">
            <a:extLst>
              <a:ext uri="{FF2B5EF4-FFF2-40B4-BE49-F238E27FC236}">
                <a16:creationId xmlns:a16="http://schemas.microsoft.com/office/drawing/2014/main" id="{8F19F263-45A5-4021-AB00-8EB608E50BC7}"/>
              </a:ext>
            </a:extLst>
          </p:cNvPr>
          <p:cNvSpPr/>
          <p:nvPr/>
        </p:nvSpPr>
        <p:spPr>
          <a:xfrm>
            <a:off x="903600" y="1373200"/>
            <a:ext cx="7515225" cy="338554"/>
          </a:xfrm>
          <a:prstGeom prst="rect">
            <a:avLst/>
          </a:prstGeom>
        </p:spPr>
        <p:txBody>
          <a:bodyPr wrap="square">
            <a:spAutoFit/>
          </a:bodyPr>
          <a:lstStyle/>
          <a:p>
            <a:r>
              <a:rPr lang="en-GB" sz="1600" b="1" dirty="0" err="1"/>
              <a:t>Contenu</a:t>
            </a:r>
            <a:r>
              <a:rPr lang="en-GB" sz="1600" b="1" dirty="0"/>
              <a:t> du </a:t>
            </a:r>
            <a:r>
              <a:rPr lang="en-GB" sz="1600" b="1" dirty="0" err="1"/>
              <a:t>groupe</a:t>
            </a:r>
            <a:r>
              <a:rPr lang="en-GB" sz="1600" b="1" dirty="0"/>
              <a:t>: 1/0/1 – </a:t>
            </a:r>
            <a:r>
              <a:rPr lang="en-GB" sz="1600" b="1" dirty="0" err="1"/>
              <a:t>Éclairage</a:t>
            </a:r>
            <a:r>
              <a:rPr lang="en-GB" sz="1600" b="1" dirty="0"/>
              <a:t> du premier étage dans le salon ON/OFF</a:t>
            </a:r>
            <a:endParaRPr lang="es-ES" sz="1600" b="1" dirty="0"/>
          </a:p>
        </p:txBody>
      </p:sp>
      <p:sp>
        <p:nvSpPr>
          <p:cNvPr id="10" name="Rectangle 9">
            <a:extLst>
              <a:ext uri="{FF2B5EF4-FFF2-40B4-BE49-F238E27FC236}">
                <a16:creationId xmlns:a16="http://schemas.microsoft.com/office/drawing/2014/main" id="{3BB5B0AF-6AEB-49F5-B33A-908014D66CDF}"/>
              </a:ext>
            </a:extLst>
          </p:cNvPr>
          <p:cNvSpPr/>
          <p:nvPr/>
        </p:nvSpPr>
        <p:spPr>
          <a:xfrm>
            <a:off x="903600" y="2766560"/>
            <a:ext cx="7468362" cy="338554"/>
          </a:xfrm>
          <a:prstGeom prst="rect">
            <a:avLst/>
          </a:prstGeom>
        </p:spPr>
        <p:txBody>
          <a:bodyPr wrap="square">
            <a:spAutoFit/>
          </a:bodyPr>
          <a:lstStyle/>
          <a:p>
            <a:r>
              <a:rPr lang="en-GB" sz="1600" b="1" dirty="0" err="1"/>
              <a:t>Contenu</a:t>
            </a:r>
            <a:r>
              <a:rPr lang="en-GB" sz="1600" b="1" dirty="0"/>
              <a:t> du </a:t>
            </a:r>
            <a:r>
              <a:rPr lang="en-GB" sz="1600" b="1" dirty="0" err="1"/>
              <a:t>groupe</a:t>
            </a:r>
            <a:r>
              <a:rPr lang="en-GB" sz="1600" b="1" dirty="0"/>
              <a:t>: 1/1/2 – </a:t>
            </a:r>
            <a:r>
              <a:rPr lang="en-GB" sz="1600" b="1" dirty="0" err="1"/>
              <a:t>Éclairage</a:t>
            </a:r>
            <a:r>
              <a:rPr lang="en-GB" sz="1600" b="1" dirty="0"/>
              <a:t> du premier étage </a:t>
            </a:r>
            <a:r>
              <a:rPr lang="en-GB" sz="1600" b="1" dirty="0" err="1"/>
              <a:t>en</a:t>
            </a:r>
            <a:r>
              <a:rPr lang="en-GB" sz="1600" b="1" dirty="0"/>
              <a:t> escalier ON/OFF </a:t>
            </a:r>
            <a:endParaRPr lang="es-ES" sz="1600" b="1" dirty="0"/>
          </a:p>
        </p:txBody>
      </p:sp>
      <p:sp>
        <p:nvSpPr>
          <p:cNvPr id="11" name="Rectangle 10">
            <a:extLst>
              <a:ext uri="{FF2B5EF4-FFF2-40B4-BE49-F238E27FC236}">
                <a16:creationId xmlns:a16="http://schemas.microsoft.com/office/drawing/2014/main" id="{8B8AAE23-0F24-4883-9B6E-00E203078DB7}"/>
              </a:ext>
            </a:extLst>
          </p:cNvPr>
          <p:cNvSpPr/>
          <p:nvPr/>
        </p:nvSpPr>
        <p:spPr>
          <a:xfrm>
            <a:off x="903600" y="4048361"/>
            <a:ext cx="7483122" cy="338554"/>
          </a:xfrm>
          <a:prstGeom prst="rect">
            <a:avLst/>
          </a:prstGeom>
        </p:spPr>
        <p:txBody>
          <a:bodyPr wrap="square">
            <a:spAutoFit/>
          </a:bodyPr>
          <a:lstStyle/>
          <a:p>
            <a:r>
              <a:rPr lang="en-GB" sz="1600" b="1"/>
              <a:t>Contenu du groupe: 0/0/1 – Fonctions centrales qui allument tout ON/OFF </a:t>
            </a:r>
            <a:endParaRPr lang="es-ES" sz="1600" b="1" dirty="0"/>
          </a:p>
        </p:txBody>
      </p:sp>
      <p:sp>
        <p:nvSpPr>
          <p:cNvPr id="12" name="Rectangle 11">
            <a:extLst>
              <a:ext uri="{FF2B5EF4-FFF2-40B4-BE49-F238E27FC236}">
                <a16:creationId xmlns:a16="http://schemas.microsoft.com/office/drawing/2014/main" id="{A050179B-E3CB-4D88-B06B-5E3087CAE828}"/>
              </a:ext>
            </a:extLst>
          </p:cNvPr>
          <p:cNvSpPr/>
          <p:nvPr/>
        </p:nvSpPr>
        <p:spPr>
          <a:xfrm>
            <a:off x="903600" y="5589240"/>
            <a:ext cx="7614623" cy="646331"/>
          </a:xfrm>
          <a:prstGeom prst="rect">
            <a:avLst/>
          </a:prstGeom>
        </p:spPr>
        <p:txBody>
          <a:bodyPr wrap="square">
            <a:spAutoFit/>
          </a:bodyPr>
          <a:lstStyle/>
          <a:p>
            <a:r>
              <a:rPr lang="en-GB" b="1" dirty="0">
                <a:solidFill>
                  <a:srgbClr val="369226"/>
                </a:solidFill>
              </a:rPr>
              <a:t>Si la configuration </a:t>
            </a:r>
            <a:r>
              <a:rPr lang="en-GB" b="1" dirty="0" err="1">
                <a:solidFill>
                  <a:srgbClr val="369226"/>
                </a:solidFill>
              </a:rPr>
              <a:t>est</a:t>
            </a:r>
            <a:r>
              <a:rPr lang="en-GB" b="1" dirty="0">
                <a:solidFill>
                  <a:srgbClr val="369226"/>
                </a:solidFill>
              </a:rPr>
              <a:t> </a:t>
            </a:r>
            <a:r>
              <a:rPr lang="en-GB" b="1" dirty="0" err="1">
                <a:solidFill>
                  <a:srgbClr val="369226"/>
                </a:solidFill>
              </a:rPr>
              <a:t>incorrecte</a:t>
            </a:r>
            <a:r>
              <a:rPr lang="en-GB" b="1" dirty="0">
                <a:solidFill>
                  <a:srgbClr val="369226"/>
                </a:solidFill>
              </a:rPr>
              <a:t>, les </a:t>
            </a:r>
            <a:r>
              <a:rPr lang="en-GB" b="1" dirty="0" err="1">
                <a:solidFill>
                  <a:srgbClr val="369226"/>
                </a:solidFill>
              </a:rPr>
              <a:t>demandes</a:t>
            </a:r>
            <a:r>
              <a:rPr lang="en-GB" b="1" dirty="0">
                <a:solidFill>
                  <a:srgbClr val="369226"/>
                </a:solidFill>
              </a:rPr>
              <a:t> de lecture </a:t>
            </a:r>
            <a:r>
              <a:rPr lang="en-GB" b="1" dirty="0" err="1">
                <a:solidFill>
                  <a:srgbClr val="369226"/>
                </a:solidFill>
              </a:rPr>
              <a:t>peuvent</a:t>
            </a:r>
            <a:r>
              <a:rPr lang="en-GB" b="1" dirty="0">
                <a:solidFill>
                  <a:srgbClr val="369226"/>
                </a:solidFill>
              </a:rPr>
              <a:t> </a:t>
            </a:r>
            <a:r>
              <a:rPr lang="en-GB" b="1" dirty="0" err="1">
                <a:solidFill>
                  <a:srgbClr val="369226"/>
                </a:solidFill>
              </a:rPr>
              <a:t>déclencher</a:t>
            </a:r>
            <a:r>
              <a:rPr lang="en-GB" b="1" dirty="0">
                <a:solidFill>
                  <a:srgbClr val="369226"/>
                </a:solidFill>
              </a:rPr>
              <a:t> des actions de commutation (</a:t>
            </a:r>
            <a:r>
              <a:rPr lang="en-GB" b="1" dirty="0" err="1">
                <a:solidFill>
                  <a:srgbClr val="369226"/>
                </a:solidFill>
              </a:rPr>
              <a:t>accidentelles</a:t>
            </a:r>
            <a:r>
              <a:rPr lang="en-GB" b="1" dirty="0">
                <a:solidFill>
                  <a:srgbClr val="369226"/>
                </a:solidFill>
              </a:rPr>
              <a:t>) !</a:t>
            </a:r>
            <a:endParaRPr lang="es-ES" dirty="0">
              <a:solidFill>
                <a:srgbClr val="369226"/>
              </a:solidFill>
            </a:endParaRPr>
          </a:p>
        </p:txBody>
      </p:sp>
    </p:spTree>
    <p:extLst>
      <p:ext uri="{BB962C8B-B14F-4D97-AF65-F5344CB8AC3E}">
        <p14:creationId xmlns:p14="http://schemas.microsoft.com/office/powerpoint/2010/main" val="4126221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L'Indicateur Read on Init ‘I’</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5184056"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600" dirty="0">
                <a:solidFill>
                  <a:schemeClr val="tx1"/>
                </a:solidFill>
                <a:latin typeface="Arial" charset="0"/>
              </a:rPr>
              <a:t>Disponible pour les </a:t>
            </a:r>
            <a:r>
              <a:rPr lang="en-GB" sz="1600" dirty="0" err="1">
                <a:solidFill>
                  <a:schemeClr val="tx1"/>
                </a:solidFill>
                <a:latin typeface="Arial" charset="0"/>
              </a:rPr>
              <a:t>appareils</a:t>
            </a:r>
            <a:r>
              <a:rPr lang="en-GB" sz="1600" dirty="0">
                <a:solidFill>
                  <a:schemeClr val="tx1"/>
                </a:solidFill>
                <a:latin typeface="Arial" charset="0"/>
              </a:rPr>
              <a:t> du </a:t>
            </a:r>
            <a:r>
              <a:rPr lang="en-GB" sz="1600" dirty="0" err="1">
                <a:solidFill>
                  <a:schemeClr val="tx1"/>
                </a:solidFill>
                <a:latin typeface="Arial" charset="0"/>
              </a:rPr>
              <a:t>système</a:t>
            </a:r>
            <a:r>
              <a:rPr lang="en-GB" sz="1600" dirty="0">
                <a:solidFill>
                  <a:schemeClr val="tx1"/>
                </a:solidFill>
                <a:latin typeface="Arial" charset="0"/>
              </a:rPr>
              <a:t> B avec les versions de masque $07B0 et $17B0</a:t>
            </a:r>
            <a:endParaRPr lang="es-ES" sz="1600" dirty="0">
              <a:solidFill>
                <a:schemeClr val="tx1"/>
              </a:solidFill>
              <a:latin typeface="Arial" charset="0"/>
            </a:endParaRPr>
          </a:p>
          <a:p>
            <a:endParaRPr lang="es-ES" sz="1600" dirty="0">
              <a:solidFill>
                <a:schemeClr val="tx1"/>
              </a:solidFill>
              <a:latin typeface="Arial" charset="0"/>
            </a:endParaRPr>
          </a:p>
          <a:p>
            <a:r>
              <a:rPr lang="en-GB" sz="1600" dirty="0" err="1">
                <a:solidFill>
                  <a:schemeClr val="tx1"/>
                </a:solidFill>
                <a:latin typeface="Arial" charset="0"/>
              </a:rPr>
              <a:t>S'il</a:t>
            </a:r>
            <a:r>
              <a:rPr lang="en-GB" sz="1600" dirty="0">
                <a:solidFill>
                  <a:schemeClr val="tx1"/>
                </a:solidFill>
                <a:latin typeface="Arial" charset="0"/>
              </a:rPr>
              <a:t> </a:t>
            </a:r>
            <a:r>
              <a:rPr lang="en-GB" sz="1600" dirty="0" err="1">
                <a:solidFill>
                  <a:schemeClr val="tx1"/>
                </a:solidFill>
                <a:latin typeface="Arial" charset="0"/>
              </a:rPr>
              <a:t>est</a:t>
            </a:r>
            <a:r>
              <a:rPr lang="en-GB" sz="1600" dirty="0">
                <a:solidFill>
                  <a:schemeClr val="tx1"/>
                </a:solidFill>
                <a:latin typeface="Arial" charset="0"/>
              </a:rPr>
              <a:t> </a:t>
            </a:r>
            <a:r>
              <a:rPr lang="en-GB" sz="1600" dirty="0" err="1">
                <a:solidFill>
                  <a:schemeClr val="tx1"/>
                </a:solidFill>
                <a:latin typeface="Arial" charset="0"/>
              </a:rPr>
              <a:t>réglé</a:t>
            </a:r>
            <a:r>
              <a:rPr lang="en-GB" sz="1600" dirty="0">
                <a:solidFill>
                  <a:schemeClr val="tx1"/>
                </a:solidFill>
                <a:latin typeface="Arial" charset="0"/>
              </a:rPr>
              <a:t> pour un </a:t>
            </a:r>
            <a:r>
              <a:rPr lang="en-GB" sz="1600" dirty="0" err="1">
                <a:solidFill>
                  <a:schemeClr val="tx1"/>
                </a:solidFill>
                <a:latin typeface="Arial" charset="0"/>
              </a:rPr>
              <a:t>ou</a:t>
            </a:r>
            <a:r>
              <a:rPr lang="en-GB" sz="1600" dirty="0">
                <a:solidFill>
                  <a:schemeClr val="tx1"/>
                </a:solidFill>
                <a:latin typeface="Arial" charset="0"/>
              </a:rPr>
              <a:t> </a:t>
            </a:r>
            <a:r>
              <a:rPr lang="en-GB" sz="1600" dirty="0" err="1">
                <a:solidFill>
                  <a:schemeClr val="tx1"/>
                </a:solidFill>
                <a:latin typeface="Arial" charset="0"/>
              </a:rPr>
              <a:t>plusieurs</a:t>
            </a:r>
            <a:r>
              <a:rPr lang="en-GB" sz="1600" dirty="0">
                <a:solidFill>
                  <a:schemeClr val="tx1"/>
                </a:solidFill>
                <a:latin typeface="Arial" charset="0"/>
              </a:rPr>
              <a:t> </a:t>
            </a:r>
            <a:r>
              <a:rPr lang="en-GB" sz="1600" dirty="0" err="1">
                <a:solidFill>
                  <a:schemeClr val="tx1"/>
                </a:solidFill>
                <a:latin typeface="Arial" charset="0"/>
              </a:rPr>
              <a:t>objets</a:t>
            </a:r>
            <a:r>
              <a:rPr lang="en-GB" sz="1600" dirty="0">
                <a:solidFill>
                  <a:schemeClr val="tx1"/>
                </a:solidFill>
                <a:latin typeface="Arial" charset="0"/>
              </a:rPr>
              <a:t> de </a:t>
            </a:r>
            <a:r>
              <a:rPr lang="en-GB" sz="1600" dirty="0" err="1">
                <a:solidFill>
                  <a:schemeClr val="tx1"/>
                </a:solidFill>
                <a:latin typeface="Arial" charset="0"/>
              </a:rPr>
              <a:t>groupe</a:t>
            </a:r>
            <a:r>
              <a:rPr lang="en-GB" sz="1600" dirty="0">
                <a:solidFill>
                  <a:schemeClr val="tx1"/>
                </a:solidFill>
                <a:latin typeface="Arial" charset="0"/>
              </a:rPr>
              <a:t>, </a:t>
            </a:r>
            <a:r>
              <a:rPr lang="en-GB" sz="1600" dirty="0" err="1">
                <a:solidFill>
                  <a:schemeClr val="tx1"/>
                </a:solidFill>
                <a:latin typeface="Arial" charset="0"/>
              </a:rPr>
              <a:t>l'appareil</a:t>
            </a:r>
            <a:r>
              <a:rPr lang="en-GB" sz="1600" dirty="0">
                <a:solidFill>
                  <a:schemeClr val="tx1"/>
                </a:solidFill>
                <a:latin typeface="Arial" charset="0"/>
              </a:rPr>
              <a:t> </a:t>
            </a:r>
            <a:r>
              <a:rPr lang="en-GB" sz="1600" dirty="0" err="1">
                <a:latin typeface="Arial" charset="0"/>
              </a:rPr>
              <a:t>déclenche</a:t>
            </a:r>
            <a:r>
              <a:rPr lang="en-GB" sz="1600" dirty="0">
                <a:latin typeface="Arial" charset="0"/>
              </a:rPr>
              <a:t> </a:t>
            </a:r>
            <a:r>
              <a:rPr lang="en-GB" sz="1600" dirty="0" err="1">
                <a:latin typeface="Arial" charset="0"/>
              </a:rPr>
              <a:t>automatiquement</a:t>
            </a:r>
            <a:r>
              <a:rPr lang="en-GB" sz="1600" dirty="0">
                <a:latin typeface="Arial" charset="0"/>
              </a:rPr>
              <a:t> la lecture de </a:t>
            </a:r>
            <a:r>
              <a:rPr lang="en-GB" sz="1600" dirty="0" err="1">
                <a:solidFill>
                  <a:schemeClr val="tx1"/>
                </a:solidFill>
                <a:latin typeface="Arial" charset="0"/>
              </a:rPr>
              <a:t>télégrammes</a:t>
            </a:r>
            <a:r>
              <a:rPr lang="en-GB" sz="1600" dirty="0">
                <a:solidFill>
                  <a:schemeClr val="tx1"/>
                </a:solidFill>
                <a:latin typeface="Arial" charset="0"/>
              </a:rPr>
              <a:t> aux </a:t>
            </a:r>
            <a:r>
              <a:rPr lang="en-GB" sz="1600" dirty="0" err="1">
                <a:solidFill>
                  <a:schemeClr val="tx1"/>
                </a:solidFill>
                <a:latin typeface="Arial" charset="0"/>
              </a:rPr>
              <a:t>adresses</a:t>
            </a:r>
            <a:r>
              <a:rPr lang="en-GB" sz="1600" dirty="0">
                <a:solidFill>
                  <a:schemeClr val="tx1"/>
                </a:solidFill>
                <a:latin typeface="Arial" charset="0"/>
              </a:rPr>
              <a:t> du </a:t>
            </a:r>
            <a:r>
              <a:rPr lang="en-GB" sz="1600" dirty="0" err="1">
                <a:solidFill>
                  <a:schemeClr val="tx1"/>
                </a:solidFill>
                <a:latin typeface="Arial" charset="0"/>
              </a:rPr>
              <a:t>groupe</a:t>
            </a:r>
            <a:r>
              <a:rPr lang="en-GB" sz="1600" dirty="0">
                <a:solidFill>
                  <a:schemeClr val="tx1"/>
                </a:solidFill>
                <a:latin typeface="Arial" charset="0"/>
              </a:rPr>
              <a:t> </a:t>
            </a:r>
            <a:r>
              <a:rPr lang="en-GB" sz="1600" dirty="0" err="1">
                <a:solidFill>
                  <a:schemeClr val="tx1"/>
                </a:solidFill>
                <a:latin typeface="Arial" charset="0"/>
              </a:rPr>
              <a:t>d'envoi</a:t>
            </a:r>
            <a:r>
              <a:rPr lang="en-GB" sz="1600" dirty="0">
                <a:latin typeface="Arial" charset="0"/>
              </a:rPr>
              <a:t> après </a:t>
            </a:r>
            <a:r>
              <a:rPr lang="en-GB" sz="1600" dirty="0" err="1">
                <a:latin typeface="Arial" charset="0"/>
              </a:rPr>
              <a:t>défaillance</a:t>
            </a:r>
            <a:r>
              <a:rPr lang="en-GB" sz="1600" dirty="0">
                <a:latin typeface="Arial" charset="0"/>
              </a:rPr>
              <a:t> et </a:t>
            </a:r>
            <a:r>
              <a:rPr lang="en-GB" sz="1600" dirty="0" err="1">
                <a:latin typeface="Arial" charset="0"/>
              </a:rPr>
              <a:t>récupération</a:t>
            </a:r>
            <a:r>
              <a:rPr lang="en-GB" sz="1600" dirty="0">
                <a:latin typeface="Arial" charset="0"/>
              </a:rPr>
              <a:t> de la tension du bus</a:t>
            </a:r>
            <a:endParaRPr lang="es-ES" sz="1600" dirty="0">
              <a:solidFill>
                <a:schemeClr val="tx1"/>
              </a:solidFill>
              <a:latin typeface="Arial" charset="0"/>
            </a:endParaRPr>
          </a:p>
          <a:p>
            <a:endParaRPr lang="es-ES" sz="1600" dirty="0">
              <a:solidFill>
                <a:schemeClr val="tx1"/>
              </a:solidFill>
              <a:latin typeface="Arial" charset="0"/>
            </a:endParaRPr>
          </a:p>
          <a:p>
            <a:r>
              <a:rPr lang="en-GB" sz="1600" dirty="0">
                <a:latin typeface="Arial" charset="0"/>
              </a:rPr>
              <a:t>Non </a:t>
            </a:r>
            <a:r>
              <a:rPr lang="en-GB" sz="1600" dirty="0" err="1">
                <a:latin typeface="Arial" charset="0"/>
              </a:rPr>
              <a:t>défini</a:t>
            </a:r>
            <a:r>
              <a:rPr lang="en-GB" sz="1600" dirty="0">
                <a:latin typeface="Arial" charset="0"/>
              </a:rPr>
              <a:t> par </a:t>
            </a:r>
            <a:r>
              <a:rPr lang="en-GB" sz="1600" dirty="0" err="1">
                <a:latin typeface="Arial" charset="0"/>
              </a:rPr>
              <a:t>défaut</a:t>
            </a:r>
            <a:r>
              <a:rPr lang="en-GB" sz="1600" dirty="0">
                <a:latin typeface="Arial" charset="0"/>
              </a:rPr>
              <a:t> </a:t>
            </a:r>
            <a:r>
              <a:rPr lang="en-GB" sz="1600" dirty="0">
                <a:solidFill>
                  <a:schemeClr val="tx1"/>
                </a:solidFill>
                <a:latin typeface="Arial" charset="0"/>
              </a:rPr>
              <a:t>dans la </a:t>
            </a:r>
            <a:r>
              <a:rPr lang="en-GB" sz="1600" dirty="0" err="1">
                <a:solidFill>
                  <a:schemeClr val="tx1"/>
                </a:solidFill>
                <a:latin typeface="Arial" charset="0"/>
              </a:rPr>
              <a:t>plupart</a:t>
            </a:r>
            <a:r>
              <a:rPr lang="en-GB" sz="1600" dirty="0">
                <a:solidFill>
                  <a:schemeClr val="tx1"/>
                </a:solidFill>
                <a:latin typeface="Arial" charset="0"/>
              </a:rPr>
              <a:t> des </a:t>
            </a:r>
            <a:r>
              <a:rPr lang="en-GB" sz="1600" dirty="0" err="1">
                <a:solidFill>
                  <a:schemeClr val="tx1"/>
                </a:solidFill>
                <a:latin typeface="Arial" charset="0"/>
              </a:rPr>
              <a:t>cas</a:t>
            </a:r>
            <a:endParaRPr lang="es-ES" sz="1600" dirty="0">
              <a:solidFill>
                <a:schemeClr val="tx1"/>
              </a:solidFill>
              <a:latin typeface="Arial" charset="0"/>
            </a:endParaRPr>
          </a:p>
          <a:p>
            <a:endParaRPr lang="es-ES" sz="1600" dirty="0">
              <a:solidFill>
                <a:schemeClr val="tx1"/>
              </a:solidFill>
              <a:latin typeface="Arial" charset="0"/>
            </a:endParaRPr>
          </a:p>
          <a:p>
            <a:r>
              <a:rPr lang="en-GB" sz="1600" dirty="0" err="1">
                <a:solidFill>
                  <a:schemeClr val="tx1"/>
                </a:solidFill>
                <a:latin typeface="Arial" charset="0"/>
              </a:rPr>
              <a:t>En</a:t>
            </a:r>
            <a:r>
              <a:rPr lang="en-GB" sz="1600" dirty="0">
                <a:solidFill>
                  <a:schemeClr val="tx1"/>
                </a:solidFill>
                <a:latin typeface="Arial" charset="0"/>
              </a:rPr>
              <a:t> </a:t>
            </a:r>
            <a:r>
              <a:rPr lang="en-GB" sz="1600" dirty="0" err="1">
                <a:solidFill>
                  <a:schemeClr val="tx1"/>
                </a:solidFill>
                <a:latin typeface="Arial" charset="0"/>
              </a:rPr>
              <a:t>règle</a:t>
            </a:r>
            <a:r>
              <a:rPr lang="en-GB" sz="1600" dirty="0">
                <a:solidFill>
                  <a:schemeClr val="tx1"/>
                </a:solidFill>
                <a:latin typeface="Arial" charset="0"/>
              </a:rPr>
              <a:t> </a:t>
            </a:r>
            <a:r>
              <a:rPr lang="en-GB" sz="1600" dirty="0" err="1">
                <a:solidFill>
                  <a:schemeClr val="tx1"/>
                </a:solidFill>
                <a:latin typeface="Arial" charset="0"/>
              </a:rPr>
              <a:t>générale</a:t>
            </a:r>
            <a:r>
              <a:rPr lang="en-GB" sz="1600" dirty="0">
                <a:solidFill>
                  <a:schemeClr val="tx1"/>
                </a:solidFill>
                <a:latin typeface="Arial" charset="0"/>
              </a:rPr>
              <a:t>, il </a:t>
            </a:r>
            <a:r>
              <a:rPr lang="en-GB" sz="1600" dirty="0" err="1">
                <a:solidFill>
                  <a:schemeClr val="tx1"/>
                </a:solidFill>
                <a:latin typeface="Arial" charset="0"/>
              </a:rPr>
              <a:t>est</a:t>
            </a:r>
            <a:r>
              <a:rPr lang="en-GB" sz="1600" dirty="0">
                <a:solidFill>
                  <a:schemeClr val="tx1"/>
                </a:solidFill>
                <a:latin typeface="Arial" charset="0"/>
              </a:rPr>
              <a:t> possible de </a:t>
            </a:r>
            <a:r>
              <a:rPr lang="en-GB" sz="1600" dirty="0" err="1">
                <a:solidFill>
                  <a:schemeClr val="tx1"/>
                </a:solidFill>
                <a:latin typeface="Arial" charset="0"/>
              </a:rPr>
              <a:t>régler</a:t>
            </a:r>
            <a:r>
              <a:rPr lang="en-GB" sz="1600" dirty="0">
                <a:solidFill>
                  <a:schemeClr val="tx1"/>
                </a:solidFill>
                <a:latin typeface="Arial" charset="0"/>
              </a:rPr>
              <a:t> un retard dans les </a:t>
            </a:r>
            <a:r>
              <a:rPr lang="en-GB" sz="1600" dirty="0" err="1">
                <a:solidFill>
                  <a:schemeClr val="tx1"/>
                </a:solidFill>
                <a:latin typeface="Arial" charset="0"/>
              </a:rPr>
              <a:t>paramètres</a:t>
            </a:r>
            <a:r>
              <a:rPr lang="en-GB" sz="1600" dirty="0">
                <a:solidFill>
                  <a:schemeClr val="tx1"/>
                </a:solidFill>
                <a:latin typeface="Arial" charset="0"/>
              </a:rPr>
              <a:t> de </a:t>
            </a:r>
            <a:r>
              <a:rPr lang="en-GB" sz="1600" dirty="0" err="1">
                <a:solidFill>
                  <a:schemeClr val="tx1"/>
                </a:solidFill>
                <a:latin typeface="Arial" charset="0"/>
              </a:rPr>
              <a:t>déclenchement</a:t>
            </a:r>
            <a:r>
              <a:rPr lang="en-GB" sz="1600" dirty="0">
                <a:solidFill>
                  <a:schemeClr val="tx1"/>
                </a:solidFill>
                <a:latin typeface="Arial" charset="0"/>
              </a:rPr>
              <a:t> des </a:t>
            </a:r>
            <a:r>
              <a:rPr lang="en-GB" sz="1600" dirty="0" err="1">
                <a:solidFill>
                  <a:schemeClr val="tx1"/>
                </a:solidFill>
                <a:latin typeface="Arial" charset="0"/>
              </a:rPr>
              <a:t>télégrammes</a:t>
            </a:r>
            <a:r>
              <a:rPr lang="en-GB" sz="1600" dirty="0">
                <a:solidFill>
                  <a:schemeClr val="tx1"/>
                </a:solidFill>
                <a:latin typeface="Arial" charset="0"/>
              </a:rPr>
              <a:t> de lecture. Les </a:t>
            </a:r>
            <a:r>
              <a:rPr lang="en-GB" sz="1600" dirty="0" err="1">
                <a:solidFill>
                  <a:schemeClr val="tx1"/>
                </a:solidFill>
                <a:latin typeface="Arial" charset="0"/>
              </a:rPr>
              <a:t>délais</a:t>
            </a:r>
            <a:r>
              <a:rPr lang="en-GB" sz="1600" dirty="0">
                <a:solidFill>
                  <a:schemeClr val="tx1"/>
                </a:solidFill>
                <a:latin typeface="Arial" charset="0"/>
              </a:rPr>
              <a:t> </a:t>
            </a:r>
            <a:r>
              <a:rPr lang="en-GB" sz="1600" dirty="0" err="1">
                <a:solidFill>
                  <a:schemeClr val="tx1"/>
                </a:solidFill>
                <a:latin typeface="Arial" charset="0"/>
              </a:rPr>
              <a:t>devraient</a:t>
            </a:r>
            <a:r>
              <a:rPr lang="en-GB" sz="1600" dirty="0">
                <a:solidFill>
                  <a:schemeClr val="tx1"/>
                </a:solidFill>
                <a:latin typeface="Arial" charset="0"/>
              </a:rPr>
              <a:t> </a:t>
            </a:r>
            <a:r>
              <a:rPr lang="en-GB" sz="1600" dirty="0" err="1">
                <a:solidFill>
                  <a:schemeClr val="tx1"/>
                </a:solidFill>
                <a:latin typeface="Arial" charset="0"/>
              </a:rPr>
              <a:t>être</a:t>
            </a:r>
            <a:r>
              <a:rPr lang="en-GB" sz="1600" dirty="0">
                <a:solidFill>
                  <a:schemeClr val="tx1"/>
                </a:solidFill>
                <a:latin typeface="Arial" charset="0"/>
              </a:rPr>
              <a:t> </a:t>
            </a:r>
            <a:r>
              <a:rPr lang="en-GB" sz="1600" dirty="0" err="1">
                <a:solidFill>
                  <a:schemeClr val="tx1"/>
                </a:solidFill>
                <a:latin typeface="Arial" charset="0"/>
              </a:rPr>
              <a:t>réglés</a:t>
            </a:r>
            <a:r>
              <a:rPr lang="en-GB" sz="1600" dirty="0">
                <a:solidFill>
                  <a:schemeClr val="tx1"/>
                </a:solidFill>
                <a:latin typeface="Arial" charset="0"/>
              </a:rPr>
              <a:t> avec </a:t>
            </a:r>
            <a:r>
              <a:rPr lang="en-GB" sz="1600" dirty="0" err="1">
                <a:solidFill>
                  <a:schemeClr val="tx1"/>
                </a:solidFill>
                <a:latin typeface="Arial" charset="0"/>
              </a:rPr>
              <a:t>soin</a:t>
            </a:r>
            <a:r>
              <a:rPr lang="en-GB" sz="1600" dirty="0">
                <a:solidFill>
                  <a:schemeClr val="tx1"/>
                </a:solidFill>
                <a:latin typeface="Arial" charset="0"/>
              </a:rPr>
              <a:t> pour </a:t>
            </a:r>
            <a:r>
              <a:rPr lang="en-GB" sz="1600" dirty="0" err="1">
                <a:solidFill>
                  <a:schemeClr val="tx1"/>
                </a:solidFill>
                <a:latin typeface="Arial" charset="0"/>
              </a:rPr>
              <a:t>éviter</a:t>
            </a:r>
            <a:r>
              <a:rPr lang="en-GB" sz="1600" dirty="0">
                <a:solidFill>
                  <a:schemeClr val="tx1"/>
                </a:solidFill>
                <a:latin typeface="Arial" charset="0"/>
              </a:rPr>
              <a:t> </a:t>
            </a:r>
            <a:r>
              <a:rPr lang="en-GB" sz="1600" dirty="0" err="1">
                <a:solidFill>
                  <a:schemeClr val="tx1"/>
                </a:solidFill>
                <a:latin typeface="Arial" charset="0"/>
              </a:rPr>
              <a:t>une</a:t>
            </a:r>
            <a:r>
              <a:rPr lang="en-GB" sz="1600" dirty="0">
                <a:solidFill>
                  <a:schemeClr val="tx1"/>
                </a:solidFill>
                <a:latin typeface="Arial" charset="0"/>
              </a:rPr>
              <a:t> charge de bus </a:t>
            </a:r>
            <a:r>
              <a:rPr lang="en-GB" sz="1600" dirty="0" err="1">
                <a:solidFill>
                  <a:schemeClr val="tx1"/>
                </a:solidFill>
                <a:latin typeface="Arial" charset="0"/>
              </a:rPr>
              <a:t>élevée</a:t>
            </a:r>
            <a:r>
              <a:rPr lang="en-GB" sz="1600" dirty="0">
                <a:solidFill>
                  <a:schemeClr val="tx1"/>
                </a:solidFill>
                <a:latin typeface="Arial" charset="0"/>
              </a:rPr>
              <a:t> après la </a:t>
            </a:r>
            <a:r>
              <a:rPr lang="en-GB" sz="1600" dirty="0" err="1">
                <a:solidFill>
                  <a:schemeClr val="tx1"/>
                </a:solidFill>
                <a:latin typeface="Arial" charset="0"/>
              </a:rPr>
              <a:t>récupération</a:t>
            </a:r>
            <a:r>
              <a:rPr lang="en-GB" sz="1600" dirty="0">
                <a:solidFill>
                  <a:schemeClr val="tx1"/>
                </a:solidFill>
                <a:latin typeface="Arial" charset="0"/>
              </a:rPr>
              <a:t> de la tension du bus</a:t>
            </a:r>
            <a:endParaRPr lang="es-ES" sz="1600" dirty="0">
              <a:solidFill>
                <a:schemeClr val="tx1"/>
              </a:solidFill>
              <a:latin typeface="Arial" charset="0"/>
            </a:endParaRPr>
          </a:p>
          <a:p>
            <a:endParaRPr lang="en-US" sz="1600" kern="0" dirty="0"/>
          </a:p>
          <a:p>
            <a:pPr marL="0" indent="0">
              <a:buNone/>
            </a:pPr>
            <a:endParaRPr lang="en-US" sz="1600" kern="0" dirty="0"/>
          </a:p>
        </p:txBody>
      </p:sp>
      <p:pic>
        <p:nvPicPr>
          <p:cNvPr id="6" name="Picture 5">
            <a:extLst>
              <a:ext uri="{FF2B5EF4-FFF2-40B4-BE49-F238E27FC236}">
                <a16:creationId xmlns:a16="http://schemas.microsoft.com/office/drawing/2014/main" id="{49440179-0CFC-4142-A998-53303D09603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67120" y="1559560"/>
            <a:ext cx="2426335" cy="3738880"/>
          </a:xfrm>
          <a:prstGeom prst="rect">
            <a:avLst/>
          </a:prstGeom>
          <a:noFill/>
          <a:ln>
            <a:noFill/>
          </a:ln>
        </p:spPr>
      </p:pic>
    </p:spTree>
    <p:extLst>
      <p:ext uri="{BB962C8B-B14F-4D97-AF65-F5344CB8AC3E}">
        <p14:creationId xmlns:p14="http://schemas.microsoft.com/office/powerpoint/2010/main" val="37932861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7238</TotalTime>
  <Words>2698</Words>
  <Application>Microsoft Office PowerPoint</Application>
  <PresentationFormat>On-screen Show (4:3)</PresentationFormat>
  <Paragraphs>225</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Gotham Light</vt:lpstr>
      <vt:lpstr>Gotham Medium</vt:lpstr>
      <vt:lpstr>Arial</vt:lpstr>
      <vt:lpstr>Calibri</vt:lpstr>
      <vt:lpstr>Open Sans</vt:lpstr>
      <vt:lpstr>Wingdings</vt:lpstr>
      <vt:lpstr>Training 2</vt:lpstr>
      <vt:lpstr>COURS AVANCÉ KNX</vt:lpstr>
      <vt:lpstr>Les indicateurs (flags)</vt:lpstr>
      <vt:lpstr>Réglage d'Indicateurs</vt:lpstr>
      <vt:lpstr>Réglage d'Indicateurs</vt:lpstr>
      <vt:lpstr>L'Indicateur de Communication ‘C’</vt:lpstr>
      <vt:lpstr>L'Indicateur d'Écriture 'W'.</vt:lpstr>
      <vt:lpstr>L'indicateur d'Émission 'T'.</vt:lpstr>
      <vt:lpstr>Exemple d'un Indicateur d'Émission</vt:lpstr>
      <vt:lpstr>L' indicateur de Lecture 'R'.</vt:lpstr>
      <vt:lpstr>Séquence de principes d'une Demande de Lecture </vt:lpstr>
      <vt:lpstr>Caractéristiques spéciales des indicateurs de lecture</vt:lpstr>
      <vt:lpstr>Caractéristiques spéciales des indicateurs de lecture</vt:lpstr>
      <vt:lpstr>Le drapeau de mise à jour 'U'</vt:lpstr>
      <vt:lpstr>Exemple d'Interaction entre l'Indicateur de Lecture et de Mise à jour </vt:lpstr>
      <vt:lpstr>L'Indicateur Read on Init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348</cp:revision>
  <dcterms:created xsi:type="dcterms:W3CDTF">2012-09-10T07:59:43Z</dcterms:created>
  <dcterms:modified xsi:type="dcterms:W3CDTF">2025-09-26T08:28:52Z</dcterms:modified>
</cp:coreProperties>
</file>