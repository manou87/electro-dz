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8" r:id="rId3"/>
    <p:sldId id="299" r:id="rId4"/>
    <p:sldId id="311" r:id="rId5"/>
    <p:sldId id="300" r:id="rId6"/>
    <p:sldId id="301" r:id="rId7"/>
    <p:sldId id="302" r:id="rId8"/>
    <p:sldId id="306" r:id="rId9"/>
    <p:sldId id="307" r:id="rId10"/>
    <p:sldId id="303" r:id="rId11"/>
    <p:sldId id="304" r:id="rId12"/>
    <p:sldId id="305" r:id="rId13"/>
    <p:sldId id="308" r:id="rId14"/>
    <p:sldId id="309" r:id="rId15"/>
    <p:sldId id="257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310" r:id="rId29"/>
    <p:sldId id="295" r:id="rId30"/>
    <p:sldId id="296" r:id="rId31"/>
    <p:sldId id="297" r:id="rId32"/>
  </p:sldIdLst>
  <p:sldSz cx="9144000" cy="6858000" type="screen4x3"/>
  <p:notesSz cx="6858000" cy="9144000"/>
  <p:custDataLst>
    <p:tags r:id="rId35"/>
  </p:custDataLst>
  <p:defaultTextStyle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EAFF"/>
    <a:srgbClr val="B4CAFA"/>
    <a:srgbClr val="369226"/>
    <a:srgbClr val="0C4BAF"/>
    <a:srgbClr val="D6E3BC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63027" autoAdjust="0"/>
  </p:normalViewPr>
  <p:slideViewPr>
    <p:cSldViewPr>
      <p:cViewPr varScale="1">
        <p:scale>
          <a:sx n="57" d="100"/>
          <a:sy n="57" d="100"/>
        </p:scale>
        <p:origin x="1823" y="40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26EAAA8B-3A80-476B-B2A9-0129818A1C7C}"/>
    <pc:docChg chg="modSld">
      <pc:chgData name="Ufuk Unal" userId="d77f72b3-53d7-4cb7-8425-5a8f29447216" providerId="ADAL" clId="{26EAAA8B-3A80-476B-B2A9-0129818A1C7C}" dt="2023-04-07T11:29:20.299" v="2" actId="404"/>
      <pc:docMkLst>
        <pc:docMk/>
      </pc:docMkLst>
      <pc:sldChg chg="modSp mod">
        <pc:chgData name="Ufuk Unal" userId="d77f72b3-53d7-4cb7-8425-5a8f29447216" providerId="ADAL" clId="{26EAAA8B-3A80-476B-B2A9-0129818A1C7C}" dt="2023-04-07T11:29:12.196" v="1" actId="404"/>
        <pc:sldMkLst>
          <pc:docMk/>
          <pc:sldMk cId="3311760208" sldId="291"/>
        </pc:sldMkLst>
        <pc:spChg chg="mod">
          <ac:chgData name="Ufuk Unal" userId="d77f72b3-53d7-4cb7-8425-5a8f29447216" providerId="ADAL" clId="{26EAAA8B-3A80-476B-B2A9-0129818A1C7C}" dt="2023-04-07T11:29:12.196" v="1" actId="404"/>
          <ac:spMkLst>
            <pc:docMk/>
            <pc:sldMk cId="3311760208" sldId="291"/>
            <ac:spMk id="5" creationId="{EDB6DE9B-BE9C-4232-BD2C-62E2A7DEE454}"/>
          </ac:spMkLst>
        </pc:spChg>
      </pc:sldChg>
      <pc:sldChg chg="modSp mod">
        <pc:chgData name="Ufuk Unal" userId="d77f72b3-53d7-4cb7-8425-5a8f29447216" providerId="ADAL" clId="{26EAAA8B-3A80-476B-B2A9-0129818A1C7C}" dt="2023-04-07T11:29:20.299" v="2" actId="404"/>
        <pc:sldMkLst>
          <pc:docMk/>
          <pc:sldMk cId="4188884644" sldId="296"/>
        </pc:sldMkLst>
        <pc:spChg chg="mod">
          <ac:chgData name="Ufuk Unal" userId="d77f72b3-53d7-4cb7-8425-5a8f29447216" providerId="ADAL" clId="{26EAAA8B-3A80-476B-B2A9-0129818A1C7C}" dt="2023-04-07T11:29:20.299" v="2" actId="404"/>
          <ac:spMkLst>
            <pc:docMk/>
            <pc:sldMk cId="4188884644" sldId="296"/>
            <ac:spMk id="8" creationId="{CE387497-B56F-4D63-A4B5-B378183EC264}"/>
          </ac:spMkLst>
        </pc:spChg>
      </pc:sldChg>
      <pc:sldChg chg="modSp mod">
        <pc:chgData name="Ufuk Unal" userId="d77f72b3-53d7-4cb7-8425-5a8f29447216" providerId="ADAL" clId="{26EAAA8B-3A80-476B-B2A9-0129818A1C7C}" dt="2023-04-07T11:28:55.400" v="0" actId="14100"/>
        <pc:sldMkLst>
          <pc:docMk/>
          <pc:sldMk cId="1604600404" sldId="311"/>
        </pc:sldMkLst>
        <pc:spChg chg="mod">
          <ac:chgData name="Ufuk Unal" userId="d77f72b3-53d7-4cb7-8425-5a8f29447216" providerId="ADAL" clId="{26EAAA8B-3A80-476B-B2A9-0129818A1C7C}" dt="2023-04-07T11:28:55.400" v="0" actId="14100"/>
          <ac:spMkLst>
            <pc:docMk/>
            <pc:sldMk cId="1604600404" sldId="311"/>
            <ac:spMk id="15" creationId="{E5284ED0-EC35-91F1-F500-F5B4A5F3822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07.04.2023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t>Cliquez pour 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974181A-B52E-4AEA-801A-5F0AC153D34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8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49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48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55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67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28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88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1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37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32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90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85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31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2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90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52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8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64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81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60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01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85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58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58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216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00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447675" y="1020763"/>
            <a:ext cx="42243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400">
                <a:solidFill>
                  <a:srgbClr val="404040"/>
                </a:solidFill>
                <a:latin typeface="Gotham Light" charset="0"/>
              </a:defRPr>
            </a:pPr>
            <a:r>
              <a:t>Smart home and building solutions.</a:t>
            </a:r>
          </a:p>
          <a:p>
            <a:pPr eaLnBrk="1" hangingPunct="1">
              <a:defRPr sz="1400">
                <a:solidFill>
                  <a:srgbClr val="404040"/>
                </a:solidFill>
                <a:latin typeface="Gotham Light" charset="0"/>
              </a:defRPr>
            </a:pPr>
            <a:r>
              <a:t>Global. Secure. Connected.</a:t>
            </a:r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8799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Smart home and building solutions.</a:t>
            </a:r>
          </a:p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</a:lvl2pPr>
            <a:lvl3pPr marL="914400" indent="0">
              <a:buNone/>
            </a:lvl3pPr>
            <a:lvl4pPr marL="1371600" indent="0">
              <a:buNone/>
            </a:lvl4pPr>
            <a:lvl5pPr marL="1828800" indent="0">
              <a:buNone/>
            </a:lvl5pPr>
          </a:lstStyle>
          <a:p>
            <a:pPr lvl="0"/>
            <a:r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t>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623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19239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027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869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353833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69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83627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06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t>Cliquez pour modifier le style du titre principal</a:t>
            </a:r>
          </a:p>
        </p:txBody>
      </p:sp>
    </p:spTree>
    <p:extLst>
      <p:ext uri="{BB962C8B-B14F-4D97-AF65-F5344CB8AC3E}">
        <p14:creationId xmlns:p14="http://schemas.microsoft.com/office/powerpoint/2010/main" val="82434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581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32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476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3369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853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t>Cliquez pour modifier le style du titre principal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t>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Smart home and building solutions.</a:t>
            </a:r>
          </a:p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383321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70" r:id="rId16"/>
    <p:sldLayoutId id="2147483772" r:id="rId17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.vsdx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Visio_Drawing4.vsdx"/><Relationship Id="rId4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5.vsdx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AVANCÉ KNX</a:t>
            </a:r>
            <a:endParaRPr sz="2400" b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AD0C2BC-0F89-4FA7-ABF3-8E3EFEC4B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Communication IP</a:t>
            </a:r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Classes réseau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67E90-F087-07CB-9E20-076D647E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371950"/>
          </a:xfrm>
        </p:spPr>
        <p:txBody>
          <a:bodyPr/>
          <a:lstStyle/>
          <a:p>
            <a:r>
              <a:t>Par technologie de transmission :</a:t>
            </a:r>
          </a:p>
          <a:p>
            <a:endParaRPr/>
          </a:p>
          <a:p>
            <a:pPr lvl="1"/>
            <a:r>
              <a:t>Point à point de transmission- Réseaux de diffusion</a:t>
            </a:r>
          </a:p>
          <a:p>
            <a:pPr marL="457200" lvl="1" indent="0">
              <a:buNone/>
            </a:pPr>
            <a:r>
              <a:t>(unicasting)							</a:t>
            </a:r>
            <a:r>
              <a:rPr sz="1600"/>
              <a:t>(diffusion et multicasting)</a:t>
            </a:r>
          </a:p>
          <a:p>
            <a:pPr lvl="1"/>
            <a:endParaRPr sz="1600"/>
          </a:p>
        </p:txBody>
      </p:sp>
      <p:pic>
        <p:nvPicPr>
          <p:cNvPr id="14338" name="Picture 2" descr="Point to Point Network Topology">
            <a:extLst>
              <a:ext uri="{FF2B5EF4-FFF2-40B4-BE49-F238E27FC236}">
                <a16:creationId xmlns:a16="http://schemas.microsoft.com/office/drawing/2014/main" id="{B678F028-47E9-2178-F2F1-8112895CD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84984"/>
            <a:ext cx="445238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Broadcasting (networking) - Wikipedia">
            <a:extLst>
              <a:ext uri="{FF2B5EF4-FFF2-40B4-BE49-F238E27FC236}">
                <a16:creationId xmlns:a16="http://schemas.microsoft.com/office/drawing/2014/main" id="{F2CB4E6E-0919-0851-3344-83B561AA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996952"/>
            <a:ext cx="4788024" cy="319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72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Classes réseau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67E90-F087-07CB-9E20-076D647E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443958"/>
          </a:xfrm>
        </p:spPr>
        <p:txBody>
          <a:bodyPr/>
          <a:lstStyle/>
          <a:p>
            <a:r>
              <a:t>Par échelle:</a:t>
            </a:r>
          </a:p>
          <a:p>
            <a:endParaRPr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D5768CC-2CC2-8A85-5001-71498ECB5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021559"/>
              </p:ext>
            </p:extLst>
          </p:nvPr>
        </p:nvGraphicFramePr>
        <p:xfrm>
          <a:off x="899592" y="2021365"/>
          <a:ext cx="7200800" cy="3979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2604">
                  <a:extLst>
                    <a:ext uri="{9D8B030D-6E8A-4147-A177-3AD203B41FA5}">
                      <a16:colId xmlns:a16="http://schemas.microsoft.com/office/drawing/2014/main" val="2441541603"/>
                    </a:ext>
                  </a:extLst>
                </a:gridCol>
                <a:gridCol w="2258351">
                  <a:extLst>
                    <a:ext uri="{9D8B030D-6E8A-4147-A177-3AD203B41FA5}">
                      <a16:colId xmlns:a16="http://schemas.microsoft.com/office/drawing/2014/main" val="3167702347"/>
                    </a:ext>
                  </a:extLst>
                </a:gridCol>
                <a:gridCol w="3109845">
                  <a:extLst>
                    <a:ext uri="{9D8B030D-6E8A-4147-A177-3AD203B41FA5}">
                      <a16:colId xmlns:a16="http://schemas.microsoft.com/office/drawing/2014/main" val="677400381"/>
                    </a:ext>
                  </a:extLst>
                </a:gridCol>
              </a:tblGrid>
              <a:tr h="555876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300"/>
                        </a:spcBef>
                        <a:defRPr sz="1100">
                          <a:effectLst/>
                        </a:defRPr>
                      </a:pPr>
                      <a:r>
                        <a:t>Distance entre les processeurs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Processeurs </a:t>
                      </a:r>
                      <a:endParaRPr sz="1100">
                        <a:effectLst/>
                      </a:endParaRPr>
                    </a:p>
                    <a:p>
                      <a:pPr marR="6985"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situé dans le/la même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Exemple 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0625155"/>
                  </a:ext>
                </a:extLst>
              </a:tr>
              <a:tr h="782880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 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Mètre carré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PAN (Espace Personnel Réseau &gt; Espace de réseau personnel)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2298124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10 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Pièce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rowSpan="3"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LAN (Local Area Network &gt; réseau local)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942033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100 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Bâtiment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943211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 km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Campus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783554"/>
                  </a:ext>
                </a:extLst>
              </a:tr>
              <a:tr h="782880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10 km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Ville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MAN (Metropolitan Area Network &gt; réseau métropolitain)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2349355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100 km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Pays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WAN (Wide Area Network &gt; réseau étendu)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8187483"/>
                  </a:ext>
                </a:extLst>
              </a:tr>
              <a:tr h="514164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1 000 km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Continent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150089"/>
                  </a:ext>
                </a:extLst>
              </a:tr>
              <a:tr h="268717"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10 000 Km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Planète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Internet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1541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63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E72E33-E177-9479-D0F5-3E1E305C5D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Structure de base d'un réseau sans fil et d'un réseau câblé</a:t>
            </a:r>
          </a:p>
        </p:txBody>
      </p:sp>
      <p:grpSp>
        <p:nvGrpSpPr>
          <p:cNvPr id="1683" name="Group 1682">
            <a:extLst>
              <a:ext uri="{FF2B5EF4-FFF2-40B4-BE49-F238E27FC236}">
                <a16:creationId xmlns:a16="http://schemas.microsoft.com/office/drawing/2014/main" id="{AFD0CC4A-9E5C-CE8B-6E55-51A139531B9B}"/>
              </a:ext>
            </a:extLst>
          </p:cNvPr>
          <p:cNvGrpSpPr/>
          <p:nvPr/>
        </p:nvGrpSpPr>
        <p:grpSpPr>
          <a:xfrm>
            <a:off x="1008357" y="2436755"/>
            <a:ext cx="7029280" cy="2086278"/>
            <a:chOff x="1008357" y="2436755"/>
            <a:chExt cx="7029280" cy="2086278"/>
          </a:xfrm>
        </p:grpSpPr>
        <p:pic>
          <p:nvPicPr>
            <p:cNvPr id="1680" name="Picture 1679">
              <a:extLst>
                <a:ext uri="{FF2B5EF4-FFF2-40B4-BE49-F238E27FC236}">
                  <a16:creationId xmlns:a16="http://schemas.microsoft.com/office/drawing/2014/main" id="{49003D3D-9E5A-615D-D09F-8EBC2C701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6130" y="2503152"/>
              <a:ext cx="2441352" cy="201988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CA5F6-12FD-E605-25D3-8789FC3ADA89}"/>
                </a:ext>
              </a:extLst>
            </p:cNvPr>
            <p:cNvSpPr txBox="1"/>
            <p:nvPr/>
          </p:nvSpPr>
          <p:spPr>
            <a:xfrm>
              <a:off x="1008357" y="2436755"/>
              <a:ext cx="17281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/>
              </a:pPr>
              <a:r>
                <a:t>Vers le réseau câblé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C69A0C-D368-EC7F-92AD-73111219BB7D}"/>
                </a:ext>
              </a:extLst>
            </p:cNvPr>
            <p:cNvSpPr txBox="1"/>
            <p:nvPr/>
          </p:nvSpPr>
          <p:spPr>
            <a:xfrm>
              <a:off x="2625742" y="2581555"/>
              <a:ext cx="17281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/>
              </a:pPr>
              <a:r>
                <a:t>Point d'accès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284ED0-EC35-91F1-F500-F5B4A5F3822F}"/>
                </a:ext>
              </a:extLst>
            </p:cNvPr>
            <p:cNvSpPr txBox="1"/>
            <p:nvPr/>
          </p:nvSpPr>
          <p:spPr>
            <a:xfrm>
              <a:off x="5192558" y="2581555"/>
              <a:ext cx="20437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/>
              </a:pPr>
              <a:r>
                <a:rPr dirty="0" err="1"/>
                <a:t>Vers</a:t>
              </a:r>
              <a:r>
                <a:rPr dirty="0"/>
                <a:t> le </a:t>
              </a:r>
              <a:r>
                <a:rPr dirty="0" err="1"/>
                <a:t>reste</a:t>
              </a:r>
              <a:r>
                <a:rPr dirty="0"/>
                <a:t> du </a:t>
              </a:r>
              <a:r>
                <a:rPr dirty="0" err="1"/>
                <a:t>réseau</a:t>
              </a:r>
              <a:endParaRPr dirty="0"/>
            </a:p>
          </p:txBody>
        </p:sp>
        <p:pic>
          <p:nvPicPr>
            <p:cNvPr id="1682" name="Picture 1681">
              <a:extLst>
                <a:ext uri="{FF2B5EF4-FFF2-40B4-BE49-F238E27FC236}">
                  <a16:creationId xmlns:a16="http://schemas.microsoft.com/office/drawing/2014/main" id="{23CEBF4C-A325-3C16-6FB0-E8D751D26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0331" y="2799385"/>
              <a:ext cx="2043738" cy="167793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C99C69-31CD-8E22-9CFF-4F3878C03D74}"/>
                </a:ext>
              </a:extLst>
            </p:cNvPr>
            <p:cNvSpPr txBox="1"/>
            <p:nvPr/>
          </p:nvSpPr>
          <p:spPr>
            <a:xfrm>
              <a:off x="7008547" y="2788193"/>
              <a:ext cx="102909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/>
              </a:pPr>
              <a:r>
                <a:t>Commutateur Ethernet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460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Communication par couches</a:t>
            </a:r>
          </a:p>
        </p:txBody>
      </p:sp>
      <p:pic>
        <p:nvPicPr>
          <p:cNvPr id="5" name="Marcador de contenido 4" descr="Diagrama  Descripción generada automáticamente">
            <a:extLst>
              <a:ext uri="{FF2B5EF4-FFF2-40B4-BE49-F238E27FC236}">
                <a16:creationId xmlns:a16="http://schemas.microsoft.com/office/drawing/2014/main" id="{20EA0179-F996-01AF-CFC8-19DFC3FFA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52046"/>
            <a:ext cx="5832648" cy="2944859"/>
          </a:xfrm>
          <a:prstGeom prst="rect">
            <a:avLst/>
          </a:prstGeom>
        </p:spPr>
      </p:pic>
      <p:pic>
        <p:nvPicPr>
          <p:cNvPr id="6" name="Imagen 5" descr="Diagrama  Descripción generada automáticamente">
            <a:extLst>
              <a:ext uri="{FF2B5EF4-FFF2-40B4-BE49-F238E27FC236}">
                <a16:creationId xmlns:a16="http://schemas.microsoft.com/office/drawing/2014/main" id="{6C66B3BA-9708-ED57-2602-2A806DD62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117" y="1772816"/>
            <a:ext cx="2947379" cy="25725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53A23E0-A042-9128-FE72-655E6ED35A48}"/>
              </a:ext>
            </a:extLst>
          </p:cNvPr>
          <p:cNvSpPr txBox="1"/>
          <p:nvPr/>
        </p:nvSpPr>
        <p:spPr>
          <a:xfrm>
            <a:off x="467544" y="4789642"/>
            <a:ext cx="46255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Avantages des communications par couches :</a:t>
            </a:r>
          </a:p>
          <a:p>
            <a:pPr marL="285750" indent="-285750">
              <a:buFontTx/>
              <a:buChar char="-"/>
              <a:defRPr sz="1400"/>
            </a:pPr>
            <a:r>
              <a:t>Réduit la complexité</a:t>
            </a:r>
          </a:p>
          <a:p>
            <a:pPr marL="285750" indent="-285750">
              <a:buFontTx/>
              <a:buChar char="-"/>
              <a:defRPr sz="1400"/>
            </a:pPr>
            <a:r>
              <a:t>Aide à standardiser les interfaces</a:t>
            </a:r>
          </a:p>
          <a:p>
            <a:pPr marL="285750" indent="-285750">
              <a:buFontTx/>
              <a:buChar char="-"/>
              <a:defRPr sz="1400"/>
            </a:pPr>
            <a:r>
              <a:t>Assurer des technologies interopérables</a:t>
            </a:r>
          </a:p>
          <a:p>
            <a:pPr marL="285750" indent="-285750">
              <a:buFontTx/>
              <a:buChar char="-"/>
              <a:defRPr sz="1400"/>
            </a:pPr>
            <a:r>
              <a:t>Accélère l'évolution des systèmes</a:t>
            </a:r>
          </a:p>
          <a:p>
            <a:pPr marL="285750" indent="-285750">
              <a:buFontTx/>
              <a:buChar char="-"/>
              <a:defRPr sz="1400"/>
            </a:pPr>
            <a:r>
              <a:t>Facilite l'enseignement et l'apprentissage de ces systèmes</a:t>
            </a:r>
          </a:p>
        </p:txBody>
      </p:sp>
    </p:spTree>
    <p:extLst>
      <p:ext uri="{BB962C8B-B14F-4D97-AF65-F5344CB8AC3E}">
        <p14:creationId xmlns:p14="http://schemas.microsoft.com/office/powerpoint/2010/main" val="359123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Modèle OSI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FBEFFB5-6B64-4572-CAA5-D974ACDD4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279936"/>
              </p:ext>
            </p:extLst>
          </p:nvPr>
        </p:nvGraphicFramePr>
        <p:xfrm>
          <a:off x="395536" y="1772815"/>
          <a:ext cx="4320481" cy="3722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7109">
                  <a:extLst>
                    <a:ext uri="{9D8B030D-6E8A-4147-A177-3AD203B41FA5}">
                      <a16:colId xmlns:a16="http://schemas.microsoft.com/office/drawing/2014/main" val="3738335556"/>
                    </a:ext>
                  </a:extLst>
                </a:gridCol>
                <a:gridCol w="1003730">
                  <a:extLst>
                    <a:ext uri="{9D8B030D-6E8A-4147-A177-3AD203B41FA5}">
                      <a16:colId xmlns:a16="http://schemas.microsoft.com/office/drawing/2014/main" val="2373760308"/>
                    </a:ext>
                  </a:extLst>
                </a:gridCol>
                <a:gridCol w="1344821">
                  <a:extLst>
                    <a:ext uri="{9D8B030D-6E8A-4147-A177-3AD203B41FA5}">
                      <a16:colId xmlns:a16="http://schemas.microsoft.com/office/drawing/2014/main" val="2781992922"/>
                    </a:ext>
                  </a:extLst>
                </a:gridCol>
                <a:gridCol w="1344821">
                  <a:extLst>
                    <a:ext uri="{9D8B030D-6E8A-4147-A177-3AD203B41FA5}">
                      <a16:colId xmlns:a16="http://schemas.microsoft.com/office/drawing/2014/main" val="660408522"/>
                    </a:ext>
                  </a:extLst>
                </a:gridCol>
              </a:tblGrid>
              <a:tr h="417831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Couche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Unité de données de protocole (PDU)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450039"/>
                  </a:ext>
                </a:extLst>
              </a:tr>
              <a:tr h="417831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Couches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t>de l'hôte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7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Demande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Donnée (bit)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232631243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6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Présentation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165434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5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Session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953222"/>
                  </a:ext>
                </a:extLst>
              </a:tr>
              <a:tr h="747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4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Transport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Segment, Datagramme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166540229"/>
                  </a:ext>
                </a:extLst>
              </a:tr>
              <a:tr h="417831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Couches</a:t>
                      </a:r>
                      <a:br>
                        <a:rPr lang="en-US" sz="1200">
                          <a:effectLst/>
                        </a:rPr>
                      </a:br>
                      <a:r>
                        <a:t>du média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3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Réseau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Paquet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002224710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2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Liaison des données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Trame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311814593"/>
                  </a:ext>
                </a:extLst>
              </a:tr>
              <a:tr h="4178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1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200">
                          <a:effectLst/>
                        </a:defRPr>
                      </a:pPr>
                      <a:r>
                        <a:t>Physique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defRPr sz="1200">
                          <a:effectLst/>
                        </a:defRPr>
                      </a:pPr>
                      <a:r>
                        <a:t>Bit, Symbole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40621451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23AEBF50-B432-99B4-2186-6CBA5BEE8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245643"/>
              </p:ext>
            </p:extLst>
          </p:nvPr>
        </p:nvGraphicFramePr>
        <p:xfrm>
          <a:off x="5075208" y="1842939"/>
          <a:ext cx="3889280" cy="360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000379" imgH="4629150" progId="Visio.Drawing.15">
                  <p:embed/>
                </p:oleObj>
              </mc:Choice>
              <mc:Fallback>
                <p:oleObj name="Visio" r:id="rId3" imgW="5000379" imgH="4629150" progId="Visio.Drawing.15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23AEBF50-B432-99B4-2186-6CBA5BEE8E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08" y="1842939"/>
                        <a:ext cx="3889280" cy="36022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23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Modèle TCP/IP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3" name="Imagen 2" descr="Diagrama  Descripción generada automáticamente">
            <a:extLst>
              <a:ext uri="{FF2B5EF4-FFF2-40B4-BE49-F238E27FC236}">
                <a16:creationId xmlns:a16="http://schemas.microsoft.com/office/drawing/2014/main" id="{03D85E24-E84D-A7BC-0455-C489285D3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2390626"/>
            <a:ext cx="4364990" cy="2622550"/>
          </a:xfrm>
          <a:prstGeom prst="rect">
            <a:avLst/>
          </a:prstGeom>
        </p:spPr>
      </p:pic>
      <p:pic>
        <p:nvPicPr>
          <p:cNvPr id="4" name="Imagen 3" descr="Diagrama  Descripción generada automáticamente">
            <a:extLst>
              <a:ext uri="{FF2B5EF4-FFF2-40B4-BE49-F238E27FC236}">
                <a16:creationId xmlns:a16="http://schemas.microsoft.com/office/drawing/2014/main" id="{100763C6-7A17-7F37-B591-3E99A9E7B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060" y="1556792"/>
            <a:ext cx="447484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8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La couche de liaison de la pile TCP/IP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5" name="Imagen 4" descr="Diagrama  Descripción generada automáticamente">
            <a:extLst>
              <a:ext uri="{FF2B5EF4-FFF2-40B4-BE49-F238E27FC236}">
                <a16:creationId xmlns:a16="http://schemas.microsoft.com/office/drawing/2014/main" id="{2BC7B63B-79A3-2619-8083-CAD8840E6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710" y="2924944"/>
            <a:ext cx="4080579" cy="233696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324D69B-3BE6-03A3-047C-B2511C565183}"/>
              </a:ext>
            </a:extLst>
          </p:cNvPr>
          <p:cNvSpPr txBox="1"/>
          <p:nvPr/>
        </p:nvSpPr>
        <p:spPr>
          <a:xfrm>
            <a:off x="2915816" y="2065297"/>
            <a:ext cx="4625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Contrôle de l'accès aux médias (MAC)</a:t>
            </a:r>
          </a:p>
        </p:txBody>
      </p:sp>
    </p:spTree>
    <p:extLst>
      <p:ext uri="{BB962C8B-B14F-4D97-AF65-F5344CB8AC3E}">
        <p14:creationId xmlns:p14="http://schemas.microsoft.com/office/powerpoint/2010/main" val="112758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La couche Internet de la pile TCP/IP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24D69B-3BE6-03A3-047C-B2511C565183}"/>
              </a:ext>
            </a:extLst>
          </p:cNvPr>
          <p:cNvSpPr txBox="1"/>
          <p:nvPr/>
        </p:nvSpPr>
        <p:spPr>
          <a:xfrm>
            <a:off x="539552" y="1700808"/>
            <a:ext cx="532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ICMP (Internet Control Message Protocol)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210701-C8D4-FE9D-2846-5D25F0F4AB6C}"/>
              </a:ext>
            </a:extLst>
          </p:cNvPr>
          <p:cNvSpPr txBox="1"/>
          <p:nvPr/>
        </p:nvSpPr>
        <p:spPr>
          <a:xfrm>
            <a:off x="527809" y="2428015"/>
            <a:ext cx="532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IGMP (Internet Group Management Protocol)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6CBC02-81D7-2EE7-7BC7-D63697E3CDE0}"/>
              </a:ext>
            </a:extLst>
          </p:cNvPr>
          <p:cNvSpPr txBox="1"/>
          <p:nvPr/>
        </p:nvSpPr>
        <p:spPr>
          <a:xfrm>
            <a:off x="527809" y="3140968"/>
            <a:ext cx="4625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ARP (protocole de résolution d'adresses)</a:t>
            </a:r>
          </a:p>
        </p:txBody>
      </p:sp>
    </p:spTree>
    <p:extLst>
      <p:ext uri="{BB962C8B-B14F-4D97-AF65-F5344CB8AC3E}">
        <p14:creationId xmlns:p14="http://schemas.microsoft.com/office/powerpoint/2010/main" val="1264201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93" y="1000803"/>
            <a:ext cx="9092307" cy="444500"/>
          </a:xfrm>
        </p:spPr>
        <p:txBody>
          <a:bodyPr/>
          <a:lstStyle/>
          <a:p>
            <a:r>
              <a:t>La couche Internet : Adresse TCP/IP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395536" y="1514569"/>
            <a:ext cx="7921745" cy="2053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8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IPv4 :</a:t>
            </a:r>
            <a:r>
              <a:t> L'adresse IPv4 se compose de 4 octets et est représentée en décimal pointé. Exemple : 192.168.1.1. Cette adresse est divisée en 2 parties : </a:t>
            </a:r>
            <a:endParaRPr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300"/>
              </a:spcBef>
              <a:buFont typeface="Symbol" panose="05050102010706020507" pitchFamily="18" charset="2"/>
              <a:buBlip>
                <a:blip r:embed="rId3"/>
              </a:buBlip>
              <a:defRPr sz="18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Identificateur de réseau (Network ID &gt; ID de réseau)</a:t>
            </a:r>
            <a:r>
              <a:t>: Aussi appelé préfixe réseau. Constitué par un certain nombre de bits commençant le plus à gauche.</a:t>
            </a:r>
            <a:endParaRPr sz="180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300"/>
              </a:spcAft>
              <a:buFont typeface="Symbol" panose="05050102010706020507" pitchFamily="18" charset="2"/>
              <a:buBlip>
                <a:blip r:embed="rId3"/>
              </a:buBlip>
              <a:defRPr sz="18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Identifiant d'hôte (Host ID &gt; ID d'hôte)</a:t>
            </a:r>
            <a:r>
              <a:t>: Les autres bits sont utilisés pour identifier de manière unique l'hôte respectif.</a:t>
            </a:r>
            <a:endParaRPr sz="180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F3811BE-3C17-EA80-3C0B-ED2A369EA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00355"/>
              </p:ext>
            </p:extLst>
          </p:nvPr>
        </p:nvGraphicFramePr>
        <p:xfrm>
          <a:off x="1116047" y="3667584"/>
          <a:ext cx="6480722" cy="14661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7905">
                  <a:extLst>
                    <a:ext uri="{9D8B030D-6E8A-4147-A177-3AD203B41FA5}">
                      <a16:colId xmlns:a16="http://schemas.microsoft.com/office/drawing/2014/main" val="677183006"/>
                    </a:ext>
                  </a:extLst>
                </a:gridCol>
                <a:gridCol w="1255603">
                  <a:extLst>
                    <a:ext uri="{9D8B030D-6E8A-4147-A177-3AD203B41FA5}">
                      <a16:colId xmlns:a16="http://schemas.microsoft.com/office/drawing/2014/main" val="143201958"/>
                    </a:ext>
                  </a:extLst>
                </a:gridCol>
                <a:gridCol w="1185738">
                  <a:extLst>
                    <a:ext uri="{9D8B030D-6E8A-4147-A177-3AD203B41FA5}">
                      <a16:colId xmlns:a16="http://schemas.microsoft.com/office/drawing/2014/main" val="2409448182"/>
                    </a:ext>
                  </a:extLst>
                </a:gridCol>
                <a:gridCol w="1185738">
                  <a:extLst>
                    <a:ext uri="{9D8B030D-6E8A-4147-A177-3AD203B41FA5}">
                      <a16:colId xmlns:a16="http://schemas.microsoft.com/office/drawing/2014/main" val="3662988585"/>
                    </a:ext>
                  </a:extLst>
                </a:gridCol>
                <a:gridCol w="1185738">
                  <a:extLst>
                    <a:ext uri="{9D8B030D-6E8A-4147-A177-3AD203B41FA5}">
                      <a16:colId xmlns:a16="http://schemas.microsoft.com/office/drawing/2014/main" val="4238236033"/>
                    </a:ext>
                  </a:extLst>
                </a:gridCol>
              </a:tblGrid>
              <a:tr h="359907"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effectLst/>
                        </a:defRPr>
                      </a:pPr>
                      <a:r>
                        <a:t>0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effectLst/>
                        </a:defRPr>
                      </a:pPr>
                      <a:r>
                        <a:t>8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effectLst/>
                        </a:defRPr>
                      </a:pPr>
                      <a:r>
                        <a:t>16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effectLst/>
                        </a:defRPr>
                      </a:pPr>
                      <a:r>
                        <a:t>24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000">
                          <a:effectLst/>
                        </a:defRPr>
                      </a:pPr>
                      <a:r>
                        <a:t>32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3325138"/>
                  </a:ext>
                </a:extLst>
              </a:tr>
              <a:tr h="359907"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Binaire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11100011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01010010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10011101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10110001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317863"/>
                  </a:ext>
                </a:extLst>
              </a:tr>
              <a:tr h="359907">
                <a:tc>
                  <a:txBody>
                    <a:bodyPr/>
                    <a:lstStyle/>
                    <a:p>
                      <a:pPr marL="457200" marR="6985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Décimal avec point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227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82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157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177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044148"/>
                  </a:ext>
                </a:extLst>
              </a:tr>
              <a:tr h="359907"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 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ID de réseau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57200" marR="6985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ID de l'hôte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B4CA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5026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533C89-6FE4-D314-C1A1-A2F4D679D582}"/>
              </a:ext>
            </a:extLst>
          </p:cNvPr>
          <p:cNvSpPr txBox="1"/>
          <p:nvPr/>
        </p:nvSpPr>
        <p:spPr>
          <a:xfrm>
            <a:off x="395536" y="5343431"/>
            <a:ext cx="8065604" cy="70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8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IPv6 :</a:t>
            </a:r>
            <a:r>
              <a:t>  L'adresse IPv6 se compose de 16 octets et est représentée en hexadécimal. Exemple : C0A8:164 </a:t>
            </a:r>
            <a:endParaRPr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5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Adresses TCP/IP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251520" y="1509691"/>
            <a:ext cx="8748464" cy="1457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8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IPv4 : </a:t>
            </a:r>
            <a:r>
              <a:t>Adresses privées / publiques et classes </a:t>
            </a:r>
          </a:p>
          <a:p>
            <a:pPr marL="342900" lvl="0" indent="-342900">
              <a:lnSpc>
                <a:spcPct val="115000"/>
              </a:lnSpc>
              <a:spcBef>
                <a:spcPts val="300"/>
              </a:spcBef>
              <a:buFont typeface="Symbol" panose="05050102010706020507" pitchFamily="18" charset="2"/>
              <a:buBlip>
                <a:blip r:embed="rId3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Adresses IP privées</a:t>
            </a:r>
            <a:r>
              <a:t>: sont utilisées pour la transmission de données au sein de réseaux privés et peuvent être librement choisies par l'opérateur de réseau selon certaines règles.</a:t>
            </a:r>
            <a:endParaRPr sz="140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300"/>
              </a:spcAft>
              <a:buFont typeface="Symbol" panose="05050102010706020507" pitchFamily="18" charset="2"/>
              <a:buBlip>
                <a:blip r:embed="rId3"/>
              </a:buBlip>
              <a:defRPr sz="14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Adresses IP publiques</a:t>
            </a:r>
            <a:r>
              <a:t>: assignées par l'Internet Assigned Numbers Authority (IANA) &gt; Autorité des Numéros Assignés Internet , qui fait partie de l'Internet Corporation for Assigned Names and Numbers (ICANN).</a:t>
            </a:r>
            <a:endParaRPr sz="180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9520BA5-4EED-9853-F3AD-C934E15DD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69005"/>
              </p:ext>
            </p:extLst>
          </p:nvPr>
        </p:nvGraphicFramePr>
        <p:xfrm>
          <a:off x="820689" y="3140968"/>
          <a:ext cx="7135687" cy="3024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9821">
                  <a:extLst>
                    <a:ext uri="{9D8B030D-6E8A-4147-A177-3AD203B41FA5}">
                      <a16:colId xmlns:a16="http://schemas.microsoft.com/office/drawing/2014/main" val="2225283177"/>
                    </a:ext>
                  </a:extLst>
                </a:gridCol>
                <a:gridCol w="1372215">
                  <a:extLst>
                    <a:ext uri="{9D8B030D-6E8A-4147-A177-3AD203B41FA5}">
                      <a16:colId xmlns:a16="http://schemas.microsoft.com/office/drawing/2014/main" val="1243424883"/>
                    </a:ext>
                  </a:extLst>
                </a:gridCol>
                <a:gridCol w="1401993">
                  <a:extLst>
                    <a:ext uri="{9D8B030D-6E8A-4147-A177-3AD203B41FA5}">
                      <a16:colId xmlns:a16="http://schemas.microsoft.com/office/drawing/2014/main" val="2013185885"/>
                    </a:ext>
                  </a:extLst>
                </a:gridCol>
                <a:gridCol w="1290329">
                  <a:extLst>
                    <a:ext uri="{9D8B030D-6E8A-4147-A177-3AD203B41FA5}">
                      <a16:colId xmlns:a16="http://schemas.microsoft.com/office/drawing/2014/main" val="658851111"/>
                    </a:ext>
                  </a:extLst>
                </a:gridCol>
                <a:gridCol w="1089336">
                  <a:extLst>
                    <a:ext uri="{9D8B030D-6E8A-4147-A177-3AD203B41FA5}">
                      <a16:colId xmlns:a16="http://schemas.microsoft.com/office/drawing/2014/main" val="1478882937"/>
                    </a:ext>
                  </a:extLst>
                </a:gridCol>
                <a:gridCol w="1401993">
                  <a:extLst>
                    <a:ext uri="{9D8B030D-6E8A-4147-A177-3AD203B41FA5}">
                      <a16:colId xmlns:a16="http://schemas.microsoft.com/office/drawing/2014/main" val="66193097"/>
                    </a:ext>
                  </a:extLst>
                </a:gridCol>
              </a:tblGrid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defRPr sz="1100">
                          <a:effectLst/>
                        </a:defRPr>
                      </a:pPr>
                      <a:r>
                        <a:t>Classe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Étendue IP publique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Étendue IP privée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Masque de sous-réseau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nombre de Réseaux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effectLst/>
                        </a:defRPr>
                      </a:pPr>
                      <a:r>
                        <a:t>nombre d'hôtes par réseau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9639329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Z</a:t>
                      </a:r>
                      <a:endParaRPr sz="1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1.0.0.0 à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t>127.0.0.0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10.0.0.0 à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t>10.255.255.255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255.0.0.0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126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16 777 214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340005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P</a:t>
                      </a:r>
                      <a:endParaRPr sz="1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128.0.0.0 à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t>191.255.0.0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172.16.0.0 à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t>172.31.255.255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255.255.0.0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16 382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65 534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FE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529032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C</a:t>
                      </a:r>
                      <a:endParaRPr sz="1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192.0.0.0 à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t>223.255.255.0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192.168.0.0 à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t>192.168.255.255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255.255.255.0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2 0970 150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254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008714"/>
                  </a:ext>
                </a:extLst>
              </a:tr>
              <a:tr h="46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D</a:t>
                      </a:r>
                      <a:endParaRPr sz="1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N/A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224.0.0.0 à 239.255.255.255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N/A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N/A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Multicasting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88128"/>
                  </a:ext>
                </a:extLst>
              </a:tr>
              <a:tr h="694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E</a:t>
                      </a:r>
                      <a:endParaRPr sz="1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N/A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240.0.0.0 à 255.255.255.255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N/A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N/A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defRPr sz="1100">
                          <a:effectLst/>
                        </a:defRPr>
                      </a:pPr>
                      <a:r>
                        <a:t>Recherche / Réservé / Expérimental</a:t>
                      </a:r>
                      <a:endParaRPr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58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6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La couche Internet de la pile TCP/IP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251520" y="1509691"/>
            <a:ext cx="3888432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</a:defRPr>
            </a:pPr>
            <a:r>
              <a:rPr sz="1800" b="1">
                <a:effectLst/>
                <a:ea typeface="Calibri" panose="020F0502020204030204" pitchFamily="34" charset="0"/>
              </a:rPr>
              <a:t>TCP :</a:t>
            </a:r>
            <a:r>
              <a:rPr sz="1800">
                <a:effectLst/>
                <a:ea typeface="Calibri" panose="020F0502020204030204" pitchFamily="34" charset="0"/>
              </a:rPr>
              <a:t> </a:t>
            </a:r>
            <a:r>
              <a:t>Protocole de contrôle de transmission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AF11F8-69D3-FADB-B1AB-F9CF9DBC121A}"/>
              </a:ext>
            </a:extLst>
          </p:cNvPr>
          <p:cNvSpPr txBox="1"/>
          <p:nvPr/>
        </p:nvSpPr>
        <p:spPr>
          <a:xfrm>
            <a:off x="5075208" y="1509691"/>
            <a:ext cx="3456384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</a:defRPr>
            </a:pPr>
            <a:r>
              <a:rPr sz="1800" b="1">
                <a:effectLst/>
                <a:ea typeface="Calibri" panose="020F0502020204030204" pitchFamily="34" charset="0"/>
              </a:rPr>
              <a:t>UDP :</a:t>
            </a:r>
            <a:r>
              <a:rPr sz="1800">
                <a:effectLst/>
                <a:ea typeface="Calibri" panose="020F0502020204030204" pitchFamily="34" charset="0"/>
              </a:rPr>
              <a:t> </a:t>
            </a:r>
            <a:r>
              <a:t>Protocole de données utilisateur</a:t>
            </a:r>
          </a:p>
        </p:txBody>
      </p:sp>
      <p:pic>
        <p:nvPicPr>
          <p:cNvPr id="5" name="Imagen 4" descr="Functioning of TCP">
            <a:extLst>
              <a:ext uri="{FF2B5EF4-FFF2-40B4-BE49-F238E27FC236}">
                <a16:creationId xmlns:a16="http://schemas.microsoft.com/office/drawing/2014/main" id="{06618BE7-AAB5-421A-1277-F8D8202D78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95"/>
          <a:stretch/>
        </p:blipFill>
        <p:spPr bwMode="auto">
          <a:xfrm>
            <a:off x="366405" y="2211938"/>
            <a:ext cx="3888432" cy="30447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n 6" descr="Diagrama  Descripción generada automáticamente">
            <a:extLst>
              <a:ext uri="{FF2B5EF4-FFF2-40B4-BE49-F238E27FC236}">
                <a16:creationId xmlns:a16="http://schemas.microsoft.com/office/drawing/2014/main" id="{7339A549-2C89-58BE-C0A3-887DB93351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2" t="27625" r="882" b="-3917"/>
          <a:stretch/>
        </p:blipFill>
        <p:spPr bwMode="auto">
          <a:xfrm>
            <a:off x="4644008" y="2254249"/>
            <a:ext cx="4181618" cy="272922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1972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La couche d'application de la pile TCP/IP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35496" y="1493387"/>
            <a:ext cx="4176464" cy="71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De nombreux protocoles (+500) à cette couche : 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TELNET, FTP, SMTP, HTTP, MQTT,…</a:t>
            </a:r>
            <a:endParaRPr sz="1600"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50CE03-964F-12F6-5E7C-80834CAA42A7}"/>
              </a:ext>
            </a:extLst>
          </p:cNvPr>
          <p:cNvSpPr txBox="1"/>
          <p:nvPr/>
        </p:nvSpPr>
        <p:spPr>
          <a:xfrm>
            <a:off x="3275856" y="1466451"/>
            <a:ext cx="5832648" cy="179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Protocoles intéressants pour les administrateurs réseau : </a:t>
            </a: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SNMP : </a:t>
            </a:r>
            <a:r>
              <a:t>Protocole de gestion de réseau simple </a:t>
            </a:r>
            <a:endParaRPr sz="1600" b="1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DNS: </a:t>
            </a:r>
            <a:r>
              <a:rPr>
                <a:effectLst/>
              </a:rPr>
              <a:t>Système de noms de domaine </a:t>
            </a:r>
            <a:endParaRPr sz="1600" b="1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DHCP : </a:t>
            </a:r>
            <a:r>
              <a:t>Protocole de configuration d'hôte dynamique </a:t>
            </a:r>
            <a:endParaRPr sz="1600" b="1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 b="1"/>
              <a:t>NAT: </a:t>
            </a:r>
            <a:r>
              <a:rPr>
                <a:effectLst/>
              </a:rPr>
              <a:t>Traduction d'adresses réseau</a:t>
            </a:r>
            <a:endParaRPr sz="1600" b="1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9" name="Imagen 8" descr="Diagrama  Descripción generada automáticamente">
            <a:extLst>
              <a:ext uri="{FF2B5EF4-FFF2-40B4-BE49-F238E27FC236}">
                <a16:creationId xmlns:a16="http://schemas.microsoft.com/office/drawing/2014/main" id="{0BD726C0-1AAD-8341-6981-682F097DA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2220088"/>
            <a:ext cx="4824536" cy="3458646"/>
          </a:xfrm>
          <a:prstGeom prst="rect">
            <a:avLst/>
          </a:prstGeom>
        </p:spPr>
      </p:pic>
      <p:pic>
        <p:nvPicPr>
          <p:cNvPr id="11" name="Imagen 10" descr="Diagrama  Descripción generada automáticamente">
            <a:extLst>
              <a:ext uri="{FF2B5EF4-FFF2-40B4-BE49-F238E27FC236}">
                <a16:creationId xmlns:a16="http://schemas.microsoft.com/office/drawing/2014/main" id="{6E3D116E-32E3-EBD2-45FE-0316733FD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1" y="3222554"/>
            <a:ext cx="4176464" cy="300830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654F299-EBD1-2C57-254E-FB7FEFD524D2}"/>
              </a:ext>
            </a:extLst>
          </p:cNvPr>
          <p:cNvSpPr txBox="1"/>
          <p:nvPr/>
        </p:nvSpPr>
        <p:spPr>
          <a:xfrm>
            <a:off x="1619672" y="5661248"/>
            <a:ext cx="3348372" cy="542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100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Exemple NAPT</a:t>
            </a:r>
          </a:p>
          <a:p>
            <a:pPr algn="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100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(NAPT : Traduction de l'adresse et du port du réseau)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CC63A3-9D25-B4A0-C8CB-C164F3F426FB}"/>
              </a:ext>
            </a:extLst>
          </p:cNvPr>
          <p:cNvSpPr txBox="1"/>
          <p:nvPr/>
        </p:nvSpPr>
        <p:spPr>
          <a:xfrm>
            <a:off x="68151" y="5693958"/>
            <a:ext cx="1047465" cy="270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100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Exemple de NAT</a:t>
            </a:r>
          </a:p>
        </p:txBody>
      </p:sp>
    </p:spTree>
    <p:extLst>
      <p:ext uri="{BB962C8B-B14F-4D97-AF65-F5344CB8AC3E}">
        <p14:creationId xmlns:p14="http://schemas.microsoft.com/office/powerpoint/2010/main" val="203678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B7A53C5-CA74-4EA3-A663-3F92AC79D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Equipement lié aux couches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541B8A9-2250-0B1E-CF77-9E40B5F8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08" y="17907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CFA619-4936-6067-219C-FED85265E2B7}"/>
              </a:ext>
            </a:extLst>
          </p:cNvPr>
          <p:cNvSpPr txBox="1"/>
          <p:nvPr/>
        </p:nvSpPr>
        <p:spPr>
          <a:xfrm>
            <a:off x="35496" y="1493387"/>
            <a:ext cx="4176464" cy="35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Routeur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1A8C1B-7772-B5F8-2AD7-D90ABB49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1263" y="4098036"/>
            <a:ext cx="136045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CC51C4-CF6B-D51B-DDC6-688FD397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694" y="18408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3F21DD1A-B9F9-E5EB-73DD-6B4069B9E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267348"/>
              </p:ext>
            </p:extLst>
          </p:nvPr>
        </p:nvGraphicFramePr>
        <p:xfrm>
          <a:off x="4819972" y="1556792"/>
          <a:ext cx="4216524" cy="4598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52627" imgH="5181135" progId="Visio.Drawing.15">
                  <p:embed/>
                </p:oleObj>
              </mc:Choice>
              <mc:Fallback>
                <p:oleObj name="Visio" r:id="rId3" imgW="4352627" imgH="5181135" progId="Visio.Drawing.15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3F21DD1A-B9F9-E5EB-73DD-6B4069B9E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456"/>
                      <a:stretch>
                        <a:fillRect/>
                      </a:stretch>
                    </p:blipFill>
                    <p:spPr bwMode="auto">
                      <a:xfrm>
                        <a:off x="4819972" y="1556792"/>
                        <a:ext cx="4216524" cy="45980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n 6" descr="Diagrama  Descripción generada automáticamente">
            <a:extLst>
              <a:ext uri="{FF2B5EF4-FFF2-40B4-BE49-F238E27FC236}">
                <a16:creationId xmlns:a16="http://schemas.microsoft.com/office/drawing/2014/main" id="{F969EDAA-E06F-00DE-D389-3E44D22207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4" y="1989553"/>
            <a:ext cx="4612570" cy="198952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BBB11BE-2D79-9033-9BF5-CE7260506805}"/>
              </a:ext>
            </a:extLst>
          </p:cNvPr>
          <p:cNvSpPr txBox="1"/>
          <p:nvPr/>
        </p:nvSpPr>
        <p:spPr>
          <a:xfrm>
            <a:off x="107504" y="4373590"/>
            <a:ext cx="4176464" cy="143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Interrupteur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 b="1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Passerelle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 b="1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Répétiteur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600" b="1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Hub</a:t>
            </a:r>
            <a:endParaRPr sz="1600" b="1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61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IP dans les systèmes KNX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63AC9-9CED-48FD-AB26-D8B253BB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738269"/>
            <a:ext cx="8172400" cy="842386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A6DB5A87-A92C-47B0-BEBD-A0C993C1961B}"/>
              </a:ext>
            </a:extLst>
          </p:cNvPr>
          <p:cNvSpPr txBox="1">
            <a:spLocks/>
          </p:cNvSpPr>
          <p:nvPr/>
        </p:nvSpPr>
        <p:spPr>
          <a:xfrm>
            <a:off x="971600" y="1412875"/>
            <a:ext cx="7992888" cy="316825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La communication a lieu via les : </a:t>
            </a:r>
          </a:p>
          <a:p>
            <a:pPr>
              <a:defRPr sz="200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Couche d'application qui génère le télégramme KNXnet/IP</a:t>
            </a:r>
          </a:p>
          <a:p>
            <a:pPr>
              <a:defRPr sz="200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Couche de transport (UDP)</a:t>
            </a:r>
          </a:p>
          <a:p>
            <a:pPr>
              <a:defRPr sz="200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Couche réseau (IP) </a:t>
            </a:r>
          </a:p>
          <a:p>
            <a:pPr>
              <a:defRPr sz="200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Ethernet en tant que couche physique</a:t>
            </a:r>
          </a:p>
          <a:p>
            <a:pPr marL="0" indent="0">
              <a:buFont typeface="Wingdings" pitchFamily="2" charset="2"/>
              <a:buNone/>
              <a:defRPr sz="2400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 </a:t>
            </a:r>
            <a:endParaRPr sz="2400" kern="0">
              <a:solidFill>
                <a:schemeClr val="bg2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Font typeface="Wingdings" pitchFamily="2" charset="2"/>
              <a:buNone/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Des informations supplémentaires pour la couche respective (l'en-tête) sont toujours ajoutées aux informations KNXnet/IP </a:t>
            </a:r>
            <a:endParaRPr sz="20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842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IP dans les systèmes KNX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7CAC5AC-F8B2-4718-BF30-F61B07468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357384"/>
              </p:ext>
            </p:extLst>
          </p:nvPr>
        </p:nvGraphicFramePr>
        <p:xfrm>
          <a:off x="675611" y="1340769"/>
          <a:ext cx="7792778" cy="4896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929243" imgH="5637532" progId="Visio.Drawing.15">
                  <p:embed/>
                </p:oleObj>
              </mc:Choice>
              <mc:Fallback>
                <p:oleObj name="Visio" r:id="rId3" imgW="8929243" imgH="5637532" progId="Visio.Drawing.15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7CAC5AC-F8B2-4718-BF30-F61B074688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11" y="1340769"/>
                        <a:ext cx="7792778" cy="48965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073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Adressage des Périphériques Réseau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971600" y="1412874"/>
            <a:ext cx="7992888" cy="4968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  <a:defRPr sz="2000">
                <a:latin typeface="Arial" charset="0"/>
              </a:defRPr>
            </a:pPr>
            <a:r>
              <a:rPr>
                <a:solidFill>
                  <a:schemeClr val="tx1"/>
                </a:solidFill>
              </a:rPr>
              <a:t>Un périphérique réseau a au moins </a:t>
            </a:r>
            <a:r>
              <a:t>deux adresses :</a:t>
            </a:r>
          </a:p>
          <a:p>
            <a:pPr marL="0" indent="0">
              <a:buNone/>
            </a:pPr>
            <a:endParaRPr sz="2000">
              <a:latin typeface="Arial" charset="0"/>
            </a:endParaRPr>
          </a:p>
          <a:p>
            <a:pPr lvl="0"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Adresse MAC (Media Access Control) </a:t>
            </a: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Lié au matériel et ne peut pas être modifié</a:t>
            </a: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C'est un ''numéro de série'' unique au monde </a:t>
            </a: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Il se compose de 6 octets au format : 00-50-C2-55-40-00</a:t>
            </a:r>
          </a:p>
          <a:p>
            <a:pPr marL="400050" lvl="1" indent="0">
              <a:buNone/>
            </a:pPr>
            <a:endParaRPr sz="1600">
              <a:solidFill>
                <a:schemeClr val="tx1"/>
              </a:solidFill>
              <a:latin typeface="Arial" charset="0"/>
            </a:endParaRPr>
          </a:p>
          <a:p>
            <a:pPr lvl="0">
              <a:defRPr sz="2000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Adresse IP (protocole Internet) </a:t>
            </a: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Assigné par l'administrateur ou par DHCP</a:t>
            </a: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Il se compose de 4 octets (IPv4) au format : 192.168.1.1</a:t>
            </a: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IPv6 n'est actuellement pas utilisé </a:t>
            </a: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Similaire à l'adresse physique KNX</a:t>
            </a:r>
            <a:endParaRPr sz="2000" b="1">
              <a:solidFill>
                <a:schemeClr val="bg2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2" indent="-342900">
              <a:buFont typeface="Wingdings" pitchFamily="2" charset="2"/>
              <a:buChar char="§"/>
              <a:defRPr sz="2000" b="1">
                <a:solidFill>
                  <a:schemeClr val="bg2">
                    <a:lumMod val="1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Entré dans la mémoire du périphérique réseau</a:t>
            </a:r>
            <a:endParaRPr sz="2000" b="1">
              <a:solidFill>
                <a:schemeClr val="bg2">
                  <a:lumMod val="1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13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Adresse Multicast KNX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395536" y="1628898"/>
            <a:ext cx="8568952" cy="23761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Une adresse MAC définie composée de 6 octets est envoyée dans la couche réseau comme adresse de destination. Il commence par 01-00-5E- et est complété par une IP multicast longue de 4 octets</a:t>
            </a:r>
          </a:p>
          <a:p>
            <a:pPr marL="0" indent="0">
              <a:buNone/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Plusieurs adresses IP multicast peuvent être mappées sur la même adresse MAC </a:t>
            </a:r>
          </a:p>
          <a:p>
            <a:pPr marL="0" indent="0">
              <a:buNone/>
              <a:defRPr sz="2000">
                <a:latin typeface="Arial" charset="0"/>
              </a:defRPr>
            </a:pPr>
            <a:r>
              <a:t>Adresse IP multicast : </a:t>
            </a:r>
            <a:r>
              <a:rPr>
                <a:solidFill>
                  <a:schemeClr val="tx1"/>
                </a:solidFill>
              </a:rPr>
              <a:t>224.0.23.12</a:t>
            </a:r>
          </a:p>
          <a:p>
            <a:pPr marL="0" indent="0">
              <a:buNone/>
              <a:defRPr sz="2000">
                <a:latin typeface="Arial" charset="0"/>
              </a:defRPr>
            </a:pPr>
            <a:r>
              <a:t>Adresse Multicast MAC</a:t>
            </a:r>
            <a:r>
              <a:rPr>
                <a:solidFill>
                  <a:schemeClr val="tx1"/>
                </a:solidFill>
              </a:rPr>
              <a:t>: 01-00-5E--00-17-0C</a:t>
            </a:r>
          </a:p>
          <a:p>
            <a:pPr marL="0" indent="0">
              <a:buNone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6DB8B-FD89-43EA-A77E-D7684AEDA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149080"/>
            <a:ext cx="9067869" cy="20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27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Adresse Multicast KNX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971600" y="1412874"/>
            <a:ext cx="7992888" cy="4968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Il est possible de changer les adresses IP multicast KNX prédéfinies dans les paramètres des périphériques KNXnet/IP</a:t>
            </a: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Il est possible d'établir une communication entre les installations séparées de KNX au sein du même réseau IP</a:t>
            </a: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  <a:defRPr sz="2000">
                <a:latin typeface="Arial" charset="0"/>
              </a:defRPr>
            </a:pPr>
            <a:r>
              <a:t>Tous les routeurs IP d'une installation sont à l'écoute sur la même adresse IP multicast</a:t>
            </a:r>
            <a:endParaRPr sz="2000">
              <a:latin typeface="Arial" charset="0"/>
            </a:endParaRP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</a:pPr>
            <a:endParaRPr sz="24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A4EFA3-CCCC-441F-96CA-66969C93EC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89" y="2276872"/>
            <a:ext cx="6898622" cy="2160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0121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Protocole KNXnet/IP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539552" y="3947514"/>
            <a:ext cx="8313359" cy="22177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 sz="1800">
                <a:latin typeface="Arial" charset="0"/>
              </a:defRPr>
            </a:pPr>
            <a:r>
              <a:t>Longueur de l'en-tête : </a:t>
            </a:r>
            <a:r>
              <a:rPr>
                <a:solidFill>
                  <a:schemeClr val="tx1"/>
                </a:solidFill>
              </a:rPr>
              <a:t>Début de la trame KNXnet/IP (Valeur = 06h)</a:t>
            </a:r>
          </a:p>
          <a:p>
            <a:pPr>
              <a:defRPr sz="1800">
                <a:latin typeface="Arial" charset="0"/>
              </a:defRPr>
            </a:pPr>
            <a:r>
              <a:t>Version Protocole :  </a:t>
            </a:r>
            <a:r>
              <a:rPr>
                <a:solidFill>
                  <a:schemeClr val="tx1"/>
                </a:solidFill>
              </a:rPr>
              <a:t>Statut du protocole KNXnet/IP (Valeur = 10h)</a:t>
            </a:r>
            <a:endParaRPr sz="1800">
              <a:solidFill>
                <a:schemeClr val="tx1"/>
              </a:solidFill>
              <a:latin typeface="Arial" charset="0"/>
            </a:endParaRPr>
          </a:p>
          <a:p>
            <a:pPr>
              <a:defRPr sz="1800">
                <a:latin typeface="Arial" charset="0"/>
              </a:defRPr>
            </a:pPr>
            <a:r>
              <a:t>Identifiant de type de service : </a:t>
            </a:r>
            <a:r>
              <a:rPr>
                <a:solidFill>
                  <a:schemeClr val="tx1"/>
                </a:solidFill>
              </a:rPr>
              <a:t>Action à effectuer </a:t>
            </a:r>
          </a:p>
          <a:p>
            <a:pPr>
              <a:defRPr sz="1800">
                <a:latin typeface="Arial" charset="0"/>
              </a:defRPr>
            </a:pPr>
            <a:r>
              <a:t>Longueur totale : </a:t>
            </a:r>
            <a:r>
              <a:rPr>
                <a:solidFill>
                  <a:schemeClr val="tx1"/>
                </a:solidFill>
              </a:rPr>
              <a:t>Longueur en octets de KNXnet/IP</a:t>
            </a:r>
          </a:p>
          <a:p>
            <a:pPr>
              <a:defRPr sz="1800">
                <a:latin typeface="Arial" charset="0"/>
              </a:defRPr>
            </a:pPr>
            <a:r>
              <a:t>KNXnet/IP Body</a:t>
            </a:r>
            <a:r>
              <a:rPr>
                <a:solidFill>
                  <a:schemeClr val="tx1"/>
                </a:solidFill>
              </a:rPr>
              <a:t>: Données utiles dans une trame KNXnet/IP. Les données utiles adoptent une structure différente en fonction du contenu d'information qui doit être envoyé </a:t>
            </a:r>
          </a:p>
          <a:p>
            <a:endParaRPr sz="180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A77A5D-E779-401B-9849-AE9676FE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645094"/>
            <a:ext cx="7724582" cy="1071938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A8BAA058-E56C-C2E5-59A7-72D0E85C7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904" y="1526038"/>
            <a:ext cx="6300192" cy="649405"/>
          </a:xfrm>
          <a:prstGeom prst="rect">
            <a:avLst/>
          </a:prstGeom>
        </p:spPr>
      </p:pic>
      <p:sp>
        <p:nvSpPr>
          <p:cNvPr id="13" name="Conector recto 16">
            <a:extLst>
              <a:ext uri="{FF2B5EF4-FFF2-40B4-BE49-F238E27FC236}">
                <a16:creationId xmlns:a16="http://schemas.microsoft.com/office/drawing/2014/main" id="{CB9E8627-27B2-BF94-DDB3-ED82D4C112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1168" y="2066742"/>
            <a:ext cx="5000991" cy="649406"/>
          </a:xfrm>
          <a:prstGeom prst="line">
            <a:avLst/>
          </a:prstGeom>
          <a:noFill/>
          <a:ln w="6350">
            <a:solidFill>
              <a:srgbClr val="5B9BD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4" name="Conector recto 27">
            <a:extLst>
              <a:ext uri="{FF2B5EF4-FFF2-40B4-BE49-F238E27FC236}">
                <a16:creationId xmlns:a16="http://schemas.microsoft.com/office/drawing/2014/main" id="{63DD3E0C-CCAE-18F2-F574-84F159303D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24327" y="2066741"/>
            <a:ext cx="1008112" cy="687053"/>
          </a:xfrm>
          <a:prstGeom prst="line">
            <a:avLst/>
          </a:prstGeom>
          <a:noFill/>
          <a:ln w="6350">
            <a:solidFill>
              <a:srgbClr val="5B9BD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134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KNXnet/IP - </a:t>
            </a:r>
            <a:r>
              <a:rPr>
                <a:latin typeface="Arial" charset="0"/>
              </a:rPr>
              <a:t>Identifiant de Type de Service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610FEF-1218-44F8-B4F6-905766D6E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426436"/>
            <a:ext cx="7647083" cy="27363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900113" y="1695261"/>
            <a:ext cx="53914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9226"/>
                </a:solidFill>
              </a:defRPr>
            </a:pPr>
            <a:r>
              <a:t>Plages et actions d'identification du type de service :</a:t>
            </a:r>
          </a:p>
        </p:txBody>
      </p:sp>
    </p:spTree>
    <p:extLst>
      <p:ext uri="{BB962C8B-B14F-4D97-AF65-F5344CB8AC3E}">
        <p14:creationId xmlns:p14="http://schemas.microsoft.com/office/powerpoint/2010/main" val="1182389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KNXnet/IP - </a:t>
            </a:r>
            <a:r>
              <a:rPr>
                <a:latin typeface="Arial" charset="0"/>
              </a:rPr>
              <a:t>Corps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899592" y="1412776"/>
            <a:ext cx="7754088" cy="15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34290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Il se compose de : </a:t>
            </a:r>
          </a:p>
          <a:p>
            <a:pPr marL="742950" lvl="2" indent="-34290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rPr>
                <a:solidFill>
                  <a:srgbClr val="369226"/>
                </a:solidFill>
              </a:rPr>
              <a:t>En-tête de connexion</a:t>
            </a:r>
            <a:r>
              <a:rPr>
                <a:solidFill>
                  <a:schemeClr val="bg2">
                    <a:lumMod val="10000"/>
                  </a:schemeClr>
                </a:solidFill>
              </a:rPr>
              <a:t>, y compris : Code de message (1 octet) et informations de longueur supplémentaire (1 octet)</a:t>
            </a:r>
          </a:p>
          <a:p>
            <a:pPr marL="742950" lvl="2" indent="-34290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rPr>
                <a:solidFill>
                  <a:srgbClr val="369226"/>
                </a:solidFill>
                <a:latin typeface="+mn-lt"/>
              </a:rPr>
              <a:t>Corps IP </a:t>
            </a:r>
            <a:r>
              <a:rPr>
                <a:solidFill>
                  <a:schemeClr val="bg2">
                    <a:lumMod val="10000"/>
                  </a:schemeClr>
                </a:solidFill>
                <a:latin typeface="+mn-lt"/>
              </a:rPr>
              <a:t>contient ce que l'on appelle </a:t>
            </a:r>
            <a:r>
              <a:rPr>
                <a:solidFill>
                  <a:srgbClr val="369226"/>
                </a:solidFill>
                <a:latin typeface="+mn-lt"/>
              </a:rPr>
              <a:t>la trame cEMI </a:t>
            </a:r>
            <a:r>
              <a:rPr>
                <a:solidFill>
                  <a:schemeClr val="bg2">
                    <a:lumMod val="10000"/>
                  </a:schemeClr>
                </a:solidFill>
                <a:latin typeface="+mn-lt"/>
              </a:rPr>
              <a:t>que </a:t>
            </a:r>
            <a:r>
              <a:rPr>
                <a:solidFill>
                  <a:schemeClr val="bg2">
                    <a:lumMod val="10000"/>
                  </a:schemeClr>
                </a:solidFill>
              </a:rPr>
              <a:t>contient la structure de télégramme TP1</a:t>
            </a:r>
            <a:endParaRPr b="1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FB903E-5F59-4A7A-8138-22A317FB0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72" y="3120199"/>
            <a:ext cx="7586059" cy="5968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5A942C-D24B-42B3-9536-0F8F615A555C}"/>
              </a:ext>
            </a:extLst>
          </p:cNvPr>
          <p:cNvSpPr/>
          <p:nvPr/>
        </p:nvSpPr>
        <p:spPr>
          <a:xfrm>
            <a:off x="929680" y="3944764"/>
            <a:ext cx="7754088" cy="243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Le champ de vérification n'est pas utilisé. La détection des erreurs est effectuée via le protocole IP </a:t>
            </a: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endParaRPr b="1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Deuxième champ de contrôle (1 octet) inclus derrière le champ de contrôle TP1 avec : type d'adresse de destination (1 bit) + compteur de routage (3 bits) + format de cadre étendu (4 bits):</a:t>
            </a:r>
            <a:endParaRPr b="1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2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sz="1600" b="1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0000bin : pour cadres standard</a:t>
            </a:r>
            <a:endParaRPr sz="1600" b="1">
              <a:solidFill>
                <a:schemeClr val="bg2">
                  <a:lumMod val="10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2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sz="1600" b="1">
                <a:solidFill>
                  <a:schemeClr val="bg2">
                    <a:lumMod val="10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01xxbin: pour les cadres LTE</a:t>
            </a:r>
          </a:p>
        </p:txBody>
      </p:sp>
    </p:spTree>
    <p:extLst>
      <p:ext uri="{BB962C8B-B14F-4D97-AF65-F5344CB8AC3E}">
        <p14:creationId xmlns:p14="http://schemas.microsoft.com/office/powerpoint/2010/main" val="3329768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A6CF1D-10E5-438C-BAEA-6E0ABCD6A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87846" y="1435344"/>
            <a:ext cx="4969882" cy="516221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t>TP1 comparé aux télégrammes KNXnet/IP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1263655" y="1440804"/>
            <a:ext cx="26119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Télégramme KNXnet/IP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51B84-CAFA-4556-91D3-A1ECCF35D565}"/>
              </a:ext>
            </a:extLst>
          </p:cNvPr>
          <p:cNvSpPr/>
          <p:nvPr/>
        </p:nvSpPr>
        <p:spPr>
          <a:xfrm>
            <a:off x="5724128" y="1471582"/>
            <a:ext cx="2313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Telegramme TP KNX</a:t>
            </a:r>
          </a:p>
        </p:txBody>
      </p:sp>
    </p:spTree>
    <p:extLst>
      <p:ext uri="{BB962C8B-B14F-4D97-AF65-F5344CB8AC3E}">
        <p14:creationId xmlns:p14="http://schemas.microsoft.com/office/powerpoint/2010/main" val="206263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Tunnelage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971600" y="1412874"/>
            <a:ext cx="7920880" cy="4968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  <a:defRPr sz="2000">
                <a:latin typeface="Arial" charset="0"/>
              </a:defRPr>
            </a:pPr>
            <a:r>
              <a:rPr sz="1800" dirty="0">
                <a:solidFill>
                  <a:schemeClr val="tx1"/>
                </a:solidFill>
              </a:rPr>
              <a:t>Active la </a:t>
            </a:r>
            <a:r>
              <a:rPr sz="1800" dirty="0"/>
              <a:t>transmission </a:t>
            </a:r>
            <a:r>
              <a:rPr sz="1800" dirty="0" err="1"/>
              <a:t>orientée</a:t>
            </a:r>
            <a:r>
              <a:rPr sz="1800" dirty="0"/>
              <a:t> </a:t>
            </a:r>
            <a:r>
              <a:rPr sz="1800" dirty="0" err="1"/>
              <a:t>connexion</a:t>
            </a:r>
            <a:r>
              <a:rPr sz="1800" dirty="0"/>
              <a:t> </a:t>
            </a:r>
            <a:r>
              <a:rPr sz="1800" dirty="0">
                <a:solidFill>
                  <a:schemeClr val="tx1"/>
                </a:solidFill>
              </a:rPr>
              <a:t>de </a:t>
            </a:r>
            <a:r>
              <a:rPr sz="1800" dirty="0" err="1">
                <a:solidFill>
                  <a:schemeClr val="tx1"/>
                </a:solidFill>
              </a:rPr>
              <a:t>télégrammes</a:t>
            </a:r>
            <a:r>
              <a:rPr sz="1800" dirty="0">
                <a:solidFill>
                  <a:schemeClr val="tx1"/>
                </a:solidFill>
              </a:rPr>
              <a:t> KNX </a:t>
            </a:r>
            <a:r>
              <a:rPr sz="1800" dirty="0"/>
              <a:t>dans </a:t>
            </a:r>
            <a:r>
              <a:rPr sz="1800" dirty="0" err="1"/>
              <a:t>une</a:t>
            </a:r>
            <a:r>
              <a:rPr sz="1800" dirty="0"/>
              <a:t> cadre IP </a:t>
            </a:r>
            <a:r>
              <a:rPr sz="1800" dirty="0">
                <a:solidFill>
                  <a:schemeClr val="tx1"/>
                </a:solidFill>
              </a:rPr>
              <a:t>avec ETS</a:t>
            </a:r>
          </a:p>
          <a:p>
            <a:pPr marL="0" indent="0">
              <a:buNone/>
            </a:pPr>
            <a:endParaRPr sz="18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  <a:defRPr sz="2000">
                <a:solidFill>
                  <a:schemeClr val="tx1"/>
                </a:solidFill>
                <a:latin typeface="Arial" charset="0"/>
              </a:defRPr>
            </a:pPr>
            <a:r>
              <a:rPr sz="1800" dirty="0" err="1"/>
              <a:t>Utilisé</a:t>
            </a:r>
            <a:r>
              <a:rPr sz="1800" dirty="0"/>
              <a:t> </a:t>
            </a:r>
            <a:r>
              <a:rPr sz="1800" dirty="0" err="1"/>
              <a:t>quand</a:t>
            </a:r>
            <a:r>
              <a:rPr sz="1800" dirty="0"/>
              <a:t> un </a:t>
            </a:r>
            <a:r>
              <a:rPr sz="1800" dirty="0" err="1"/>
              <a:t>périphérique</a:t>
            </a:r>
            <a:r>
              <a:rPr sz="1800" dirty="0"/>
              <a:t> KNXnet/IP doit </a:t>
            </a:r>
            <a:r>
              <a:rPr sz="1800" dirty="0" err="1"/>
              <a:t>être</a:t>
            </a:r>
            <a:r>
              <a:rPr sz="1800" dirty="0"/>
              <a:t> </a:t>
            </a:r>
            <a:r>
              <a:rPr sz="1800" dirty="0" err="1"/>
              <a:t>adressé</a:t>
            </a:r>
            <a:r>
              <a:rPr sz="1800" dirty="0"/>
              <a:t> </a:t>
            </a:r>
            <a:r>
              <a:rPr sz="1800" dirty="0" err="1"/>
              <a:t>directement</a:t>
            </a:r>
            <a:r>
              <a:rPr sz="1800" dirty="0"/>
              <a:t> via Ethernet (par </a:t>
            </a:r>
            <a:r>
              <a:rPr sz="1800" dirty="0" err="1"/>
              <a:t>exemple</a:t>
            </a:r>
            <a:r>
              <a:rPr sz="1800" dirty="0"/>
              <a:t> charger </a:t>
            </a:r>
            <a:r>
              <a:rPr sz="1800" dirty="0" err="1"/>
              <a:t>l'application</a:t>
            </a:r>
            <a:r>
              <a:rPr sz="1800" dirty="0"/>
              <a:t> dans un </a:t>
            </a:r>
            <a:r>
              <a:rPr sz="1800" dirty="0" err="1"/>
              <a:t>périphérique</a:t>
            </a:r>
            <a:r>
              <a:rPr sz="1800" dirty="0"/>
              <a:t>)</a:t>
            </a:r>
          </a:p>
          <a:p>
            <a:pPr marL="0" indent="0">
              <a:buNone/>
            </a:pPr>
            <a:endParaRPr sz="18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  <a:defRPr sz="2000">
                <a:latin typeface="Arial" charset="0"/>
              </a:defRPr>
            </a:pPr>
            <a:r>
              <a:rPr sz="1800" dirty="0" err="1"/>
              <a:t>Plage</a:t>
            </a:r>
            <a:r>
              <a:rPr sz="1800" dirty="0"/>
              <a:t> </a:t>
            </a:r>
            <a:r>
              <a:rPr sz="1800" dirty="0" err="1"/>
              <a:t>d'adresses</a:t>
            </a:r>
            <a:r>
              <a:rPr sz="1800" dirty="0"/>
              <a:t> </a:t>
            </a:r>
            <a:r>
              <a:rPr sz="1800" dirty="0">
                <a:solidFill>
                  <a:schemeClr val="tx1"/>
                </a:solidFill>
              </a:rPr>
              <a:t>de 0420h à 042Fh dans le champ </a:t>
            </a:r>
            <a:r>
              <a:rPr sz="1800" dirty="0" err="1">
                <a:solidFill>
                  <a:schemeClr val="tx1"/>
                </a:solidFill>
              </a:rPr>
              <a:t>identificateur</a:t>
            </a:r>
            <a:r>
              <a:rPr sz="1800" dirty="0">
                <a:solidFill>
                  <a:schemeClr val="tx1"/>
                </a:solidFill>
              </a:rPr>
              <a:t> de type. </a:t>
            </a:r>
            <a:r>
              <a:rPr sz="1800" dirty="0" err="1">
                <a:solidFill>
                  <a:schemeClr val="tx1"/>
                </a:solidFill>
              </a:rPr>
              <a:t>Adresses</a:t>
            </a:r>
            <a:r>
              <a:rPr sz="1800" dirty="0">
                <a:solidFill>
                  <a:schemeClr val="tx1"/>
                </a:solidFill>
              </a:rPr>
              <a:t> </a:t>
            </a:r>
            <a:r>
              <a:rPr sz="1800" dirty="0" err="1">
                <a:solidFill>
                  <a:schemeClr val="tx1"/>
                </a:solidFill>
              </a:rPr>
              <a:t>prédéfinies</a:t>
            </a:r>
            <a:r>
              <a:rPr sz="1800" dirty="0">
                <a:solidFill>
                  <a:schemeClr val="tx1"/>
                </a:solidFill>
              </a:rPr>
              <a:t>: </a:t>
            </a:r>
          </a:p>
          <a:p>
            <a:pPr>
              <a:defRPr sz="2000">
                <a:latin typeface="Arial" charset="0"/>
              </a:defRPr>
            </a:pPr>
            <a:r>
              <a:rPr sz="1800" dirty="0">
                <a:solidFill>
                  <a:schemeClr val="tx1"/>
                </a:solidFill>
              </a:rPr>
              <a:t>0420h : </a:t>
            </a:r>
            <a:r>
              <a:rPr sz="1800" dirty="0"/>
              <a:t>TUNNELLING_REQUEST</a:t>
            </a:r>
            <a:r>
              <a:rPr sz="1800" dirty="0">
                <a:solidFill>
                  <a:schemeClr val="tx1"/>
                </a:solidFill>
              </a:rPr>
              <a:t>: </a:t>
            </a:r>
          </a:p>
          <a:p>
            <a:pPr marL="400050" lvl="1" indent="0">
              <a:buNone/>
              <a:defRPr sz="1800" b="1">
                <a:solidFill>
                  <a:schemeClr val="tx1"/>
                </a:solidFill>
                <a:latin typeface="Arial" charset="0"/>
              </a:defRPr>
            </a:pPr>
            <a:r>
              <a:rPr sz="1600" dirty="0" err="1"/>
              <a:t>Utilisé</a:t>
            </a:r>
            <a:r>
              <a:rPr sz="1600" dirty="0"/>
              <a:t> pour </a:t>
            </a:r>
            <a:r>
              <a:rPr sz="1600" dirty="0" err="1"/>
              <a:t>envoyer</a:t>
            </a:r>
            <a:r>
              <a:rPr sz="1600" dirty="0"/>
              <a:t> et </a:t>
            </a:r>
            <a:r>
              <a:rPr sz="1600" dirty="0" err="1"/>
              <a:t>recevoir</a:t>
            </a:r>
            <a:r>
              <a:rPr sz="1600" dirty="0"/>
              <a:t> des </a:t>
            </a:r>
            <a:r>
              <a:rPr sz="1600" dirty="0" err="1"/>
              <a:t>télégrammes</a:t>
            </a:r>
            <a:r>
              <a:rPr sz="1600" dirty="0"/>
              <a:t> </a:t>
            </a:r>
            <a:r>
              <a:rPr sz="1600" dirty="0" err="1"/>
              <a:t>individuels</a:t>
            </a:r>
            <a:r>
              <a:rPr sz="1600" dirty="0"/>
              <a:t> entre le client KNXnet/IP et le </a:t>
            </a:r>
            <a:r>
              <a:rPr sz="1600" dirty="0" err="1"/>
              <a:t>serveur</a:t>
            </a:r>
            <a:endParaRPr sz="1600" dirty="0"/>
          </a:p>
          <a:p>
            <a:endParaRPr sz="1800" dirty="0">
              <a:solidFill>
                <a:schemeClr val="tx1"/>
              </a:solidFill>
              <a:latin typeface="Arial" charset="0"/>
            </a:endParaRPr>
          </a:p>
          <a:p>
            <a:pPr>
              <a:defRPr sz="2000">
                <a:latin typeface="Arial" charset="0"/>
              </a:defRPr>
            </a:pPr>
            <a:r>
              <a:rPr sz="1800" dirty="0">
                <a:solidFill>
                  <a:schemeClr val="tx1"/>
                </a:solidFill>
              </a:rPr>
              <a:t>0421h : </a:t>
            </a:r>
            <a:r>
              <a:rPr sz="1800" dirty="0"/>
              <a:t>TUNNELLING_ACK</a:t>
            </a:r>
            <a:r>
              <a:rPr sz="1800" dirty="0">
                <a:solidFill>
                  <a:schemeClr val="tx1"/>
                </a:solidFill>
              </a:rPr>
              <a:t>: </a:t>
            </a:r>
          </a:p>
          <a:p>
            <a:pPr marL="400050" lvl="1" indent="0">
              <a:buNone/>
              <a:defRPr sz="1800" b="1">
                <a:solidFill>
                  <a:schemeClr val="tx1"/>
                </a:solidFill>
                <a:latin typeface="Arial" charset="0"/>
              </a:defRPr>
            </a:pPr>
            <a:r>
              <a:rPr sz="1600" dirty="0" err="1"/>
              <a:t>Envoyé</a:t>
            </a:r>
            <a:r>
              <a:rPr sz="1600" dirty="0"/>
              <a:t> pour confirmer la </a:t>
            </a:r>
            <a:r>
              <a:rPr sz="1600" dirty="0" err="1"/>
              <a:t>réception</a:t>
            </a:r>
            <a:r>
              <a:rPr sz="1600" dirty="0"/>
              <a:t> des </a:t>
            </a:r>
            <a:r>
              <a:rPr sz="1600" dirty="0" err="1"/>
              <a:t>informations</a:t>
            </a:r>
            <a:r>
              <a:rPr sz="1600" dirty="0"/>
              <a:t> TUNNELLING_REQUEST</a:t>
            </a:r>
          </a:p>
          <a:p>
            <a:pPr marL="0" indent="0">
              <a:buNone/>
            </a:pPr>
            <a:endParaRPr sz="18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60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t>Exemples de Tunnelage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900113" y="1425075"/>
            <a:ext cx="3812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Passerelle IP sur la ligne principale / principale en tant que coupleur universel</a:t>
            </a:r>
            <a:endParaRPr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51B84-CAFA-4556-91D3-A1ECCF35D565}"/>
              </a:ext>
            </a:extLst>
          </p:cNvPr>
          <p:cNvSpPr/>
          <p:nvPr/>
        </p:nvSpPr>
        <p:spPr>
          <a:xfrm>
            <a:off x="5652120" y="1469961"/>
            <a:ext cx="3024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Routeur IP en tant que coupleur entre lignes TP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5565128-2AF7-40DA-8C68-F29C1B64FE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845598"/>
              </p:ext>
            </p:extLst>
          </p:nvPr>
        </p:nvGraphicFramePr>
        <p:xfrm>
          <a:off x="611560" y="2298988"/>
          <a:ext cx="3701219" cy="3936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96015" imgH="7124515" progId="Visio.Drawing.15">
                  <p:embed/>
                </p:oleObj>
              </mc:Choice>
              <mc:Fallback>
                <p:oleObj r:id="rId3" imgW="6696015" imgH="7124515" progId="Visio.Drawing.15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5565128-2AF7-40DA-8C68-F29C1B64FE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298988"/>
                        <a:ext cx="3701219" cy="39362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CB8A156-8798-4AA2-82D0-59910EA4D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053056"/>
              </p:ext>
            </p:extLst>
          </p:nvPr>
        </p:nvGraphicFramePr>
        <p:xfrm>
          <a:off x="4928561" y="2300232"/>
          <a:ext cx="3603879" cy="393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819955" imgH="6314990" progId="Visio.Drawing.15">
                  <p:embed/>
                </p:oleObj>
              </mc:Choice>
              <mc:Fallback>
                <p:oleObj r:id="rId5" imgW="5819955" imgH="6314990" progId="Visio.Drawing.15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6CB8A156-8798-4AA2-82D0-59910EA4DE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561" y="2300232"/>
                        <a:ext cx="3603879" cy="3936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7615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t>Paramètres de tunnels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4" name="Imagen 3" descr="Interfaz de usuario gráfica, Aplicación  Descripción generada automáticamente">
            <a:extLst>
              <a:ext uri="{FF2B5EF4-FFF2-40B4-BE49-F238E27FC236}">
                <a16:creationId xmlns:a16="http://schemas.microsoft.com/office/drawing/2014/main" id="{35025863-4A12-0DCA-2D97-A297CC3A5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772816"/>
            <a:ext cx="3160137" cy="4364664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E1648F8-6E2B-C5BD-79BB-6D7DFACCA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6873"/>
              </p:ext>
            </p:extLst>
          </p:nvPr>
        </p:nvGraphicFramePr>
        <p:xfrm>
          <a:off x="251520" y="2348880"/>
          <a:ext cx="5040560" cy="3166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443">
                  <a:extLst>
                    <a:ext uri="{9D8B030D-6E8A-4147-A177-3AD203B41FA5}">
                      <a16:colId xmlns:a16="http://schemas.microsoft.com/office/drawing/2014/main" val="2979004667"/>
                    </a:ext>
                  </a:extLst>
                </a:gridCol>
                <a:gridCol w="1550454">
                  <a:extLst>
                    <a:ext uri="{9D8B030D-6E8A-4147-A177-3AD203B41FA5}">
                      <a16:colId xmlns:a16="http://schemas.microsoft.com/office/drawing/2014/main" val="1207308621"/>
                    </a:ext>
                  </a:extLst>
                </a:gridCol>
                <a:gridCol w="3182663">
                  <a:extLst>
                    <a:ext uri="{9D8B030D-6E8A-4147-A177-3AD203B41FA5}">
                      <a16:colId xmlns:a16="http://schemas.microsoft.com/office/drawing/2014/main" val="4190382245"/>
                    </a:ext>
                  </a:extLst>
                </a:gridCol>
              </a:tblGrid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1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Nom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Entrez un nom convivial pour l'interface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225632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2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Adresse individuelle de l'hôte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Adresse individuelle de l'appareil hôte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987340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3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Adresse individuelle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Adresse individuelle à sélectionner pour le périphérique hôte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1319989"/>
                  </a:ext>
                </a:extLst>
              </a:tr>
              <a:tr h="5934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4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Adresse IP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Adresse IP trouvée pour l'interface; </a:t>
                      </a:r>
                      <a:br>
                        <a:rPr lang="en-GB" sz="1100">
                          <a:effectLst/>
                        </a:rPr>
                      </a:br>
                      <a:r>
                        <a:t>si reconnu/résolue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1783936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5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Port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3671 (défaut)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6416279"/>
                  </a:ext>
                </a:extLst>
              </a:tr>
              <a:tr h="5934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6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MAC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Adresse matérielle MAC de l'interface, </a:t>
                      </a:r>
                      <a:br>
                        <a:rPr lang="en-GB" sz="1100" dirty="0">
                          <a:effectLst/>
                        </a:rPr>
                      </a:br>
                      <a:r>
                        <a:t>pour autant qu'elle puisse être déterminée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7057572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7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APDU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Longueur maximale du télégramme (charge utile)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8999240"/>
                  </a:ext>
                </a:extLst>
              </a:tr>
              <a:tr h="2868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8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Numéro de série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defRPr sz="1100">
                          <a:effectLst/>
                        </a:defRPr>
                      </a:pPr>
                      <a:r>
                        <a:t>Visible uniquement après que l'appareil ait été programmé</a:t>
                      </a:r>
                      <a:endParaRPr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4938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057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1" y="1026198"/>
            <a:ext cx="6984255" cy="314570"/>
          </a:xfrm>
        </p:spPr>
        <p:txBody>
          <a:bodyPr/>
          <a:lstStyle/>
          <a:p>
            <a:r>
              <a:t>Paramètres de tunnels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B55D67-F884-4982-8BE1-480ADBF530A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18" y="1656702"/>
            <a:ext cx="2704212" cy="43204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8C4408-2AA9-497C-B0F7-3B20054C0631}"/>
              </a:ext>
            </a:extLst>
          </p:cNvPr>
          <p:cNvSpPr/>
          <p:nvPr/>
        </p:nvSpPr>
        <p:spPr>
          <a:xfrm>
            <a:off x="3923928" y="1656702"/>
            <a:ext cx="460851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eaLnBrk="0" hangingPunct="0">
              <a:spcBef>
                <a:spcPct val="20000"/>
              </a:spcBef>
              <a:buClr>
                <a:srgbClr val="369226"/>
              </a:buClr>
              <a:defRPr sz="2000" b="1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L'adresse locale individuelle doit correspondre à la ligne ou à la zone de l'appareil à traiter et ne pas être utilisée dans l'installation ou le projet.</a:t>
            </a:r>
          </a:p>
          <a:p>
            <a:pPr eaLnBrk="0" hangingPunct="0">
              <a:spcBef>
                <a:spcPct val="20000"/>
              </a:spcBef>
              <a:buClr>
                <a:srgbClr val="369226"/>
              </a:buClr>
              <a:defRPr sz="2000" b="1">
                <a:cs typeface="+mn-cs"/>
              </a:defRPr>
            </a:pPr>
            <a:r>
              <a:t> </a:t>
            </a: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endParaRPr sz="2000" b="1">
              <a:cs typeface="+mn-cs"/>
            </a:endParaRP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endParaRPr sz="2000" b="1">
              <a:cs typeface="+mn-cs"/>
            </a:endParaRPr>
          </a:p>
          <a:p>
            <a:pPr eaLnBrk="0" hangingPunct="0">
              <a:spcBef>
                <a:spcPct val="20000"/>
              </a:spcBef>
              <a:buClr>
                <a:srgbClr val="369226"/>
              </a:buClr>
              <a:defRPr sz="2000" b="1">
                <a:cs typeface="+mn-cs"/>
              </a:defRPr>
            </a:pPr>
            <a:r>
              <a:t>Exemple: le routeur KNXnet/IP de la ligne 1.1 a donc une adresse individuelle 1.1.0 comme adresse de coupler et adresse 1.1.255 comme adresse locale individuelle</a:t>
            </a:r>
          </a:p>
          <a:p>
            <a:pPr eaLnBrk="0" hangingPunct="0">
              <a:spcBef>
                <a:spcPct val="20000"/>
              </a:spcBef>
              <a:buClr>
                <a:srgbClr val="369226"/>
              </a:buClr>
            </a:pPr>
            <a:endParaRPr sz="2000" b="1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975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129" y="908720"/>
            <a:ext cx="6984255" cy="430683"/>
          </a:xfrm>
        </p:spPr>
        <p:txBody>
          <a:bodyPr/>
          <a:lstStyle/>
          <a:p>
            <a:r>
              <a:t>Accès à distance à une installation KNX via connexion Tunnelling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pic>
        <p:nvPicPr>
          <p:cNvPr id="2" name="Imagen 1" descr="Diagrama  Descripción generada automáticamente con confianza media">
            <a:extLst>
              <a:ext uri="{FF2B5EF4-FFF2-40B4-BE49-F238E27FC236}">
                <a16:creationId xmlns:a16="http://schemas.microsoft.com/office/drawing/2014/main" id="{B628AC6C-C1FB-48BF-BE3A-534379CCD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84" y="1988840"/>
            <a:ext cx="2171700" cy="3556635"/>
          </a:xfrm>
          <a:prstGeom prst="rect">
            <a:avLst/>
          </a:prstGeom>
        </p:spPr>
      </p:pic>
      <p:pic>
        <p:nvPicPr>
          <p:cNvPr id="5" name="Imagen 4" descr="Imagen de la pantalla de un celular con letras  Descripción generada automáticamente con confianza media">
            <a:extLst>
              <a:ext uri="{FF2B5EF4-FFF2-40B4-BE49-F238E27FC236}">
                <a16:creationId xmlns:a16="http://schemas.microsoft.com/office/drawing/2014/main" id="{C9110DDD-F99D-4E6A-8573-4D0AE1D67CA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75856" y="1484784"/>
            <a:ext cx="5089525" cy="1264920"/>
          </a:xfrm>
          <a:prstGeom prst="rect">
            <a:avLst/>
          </a:prstGeom>
        </p:spPr>
      </p:pic>
      <p:pic>
        <p:nvPicPr>
          <p:cNvPr id="8" name="Imagen 7" descr="Diagrama  Descripción generada automáticamente">
            <a:extLst>
              <a:ext uri="{FF2B5EF4-FFF2-40B4-BE49-F238E27FC236}">
                <a16:creationId xmlns:a16="http://schemas.microsoft.com/office/drawing/2014/main" id="{914B4787-05A2-40D2-867B-7D6D14DA4F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312" y="2867024"/>
            <a:ext cx="2365375" cy="3333750"/>
          </a:xfrm>
          <a:prstGeom prst="rect">
            <a:avLst/>
          </a:prstGeom>
        </p:spPr>
      </p:pic>
      <p:pic>
        <p:nvPicPr>
          <p:cNvPr id="9" name="Imagen 8" descr="Escala de tiempo  Descripción generada automáticamente">
            <a:extLst>
              <a:ext uri="{FF2B5EF4-FFF2-40B4-BE49-F238E27FC236}">
                <a16:creationId xmlns:a16="http://schemas.microsoft.com/office/drawing/2014/main" id="{03BF8672-0436-49B7-8683-D35FD4E2A9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867024"/>
            <a:ext cx="22320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29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Routage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DB6DE9B-BE9C-4232-BD2C-62E2A7DEE454}"/>
              </a:ext>
            </a:extLst>
          </p:cNvPr>
          <p:cNvSpPr txBox="1">
            <a:spLocks/>
          </p:cNvSpPr>
          <p:nvPr/>
        </p:nvSpPr>
        <p:spPr>
          <a:xfrm>
            <a:off x="539552" y="1628800"/>
            <a:ext cx="8280920" cy="475294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  <a:defRPr sz="2000">
                <a:latin typeface="Arial" charset="0"/>
              </a:defRPr>
            </a:pPr>
            <a:r>
              <a:rPr>
                <a:solidFill>
                  <a:schemeClr val="tx1"/>
                </a:solidFill>
              </a:rPr>
              <a:t>Active la </a:t>
            </a:r>
            <a:r>
              <a:t>transmission sans connexion et simultanée </a:t>
            </a:r>
            <a:r>
              <a:rPr>
                <a:solidFill>
                  <a:schemeClr val="tx1"/>
                </a:solidFill>
              </a:rPr>
              <a:t>de télégrammes KNX entre réseaux via un coupleur IP ou un routeur IP</a:t>
            </a:r>
          </a:p>
          <a:p>
            <a:pPr marL="0" indent="0">
              <a:buNone/>
            </a:pPr>
            <a:endParaRPr sz="2000">
              <a:solidFill>
                <a:schemeClr val="tx1"/>
              </a:solidFill>
              <a:latin typeface="Arial" charset="0"/>
            </a:endParaRPr>
          </a:p>
          <a:p>
            <a:pPr marL="0" indent="0">
              <a:buNone/>
              <a:defRPr sz="2000">
                <a:latin typeface="Arial" charset="0"/>
              </a:defRPr>
            </a:pPr>
            <a:r>
              <a:t>Plage d'adresses </a:t>
            </a:r>
            <a:r>
              <a:rPr>
                <a:solidFill>
                  <a:schemeClr val="tx1"/>
                </a:solidFill>
              </a:rPr>
              <a:t>de 0530h à 053Fh dans le champ identificateur de type. Adresses prédéfinies: </a:t>
            </a:r>
          </a:p>
          <a:p>
            <a:pPr>
              <a:defRPr sz="2000">
                <a:latin typeface="Arial" charset="0"/>
              </a:defRPr>
            </a:pPr>
            <a:r>
              <a:rPr>
                <a:solidFill>
                  <a:schemeClr val="tx1"/>
                </a:solidFill>
              </a:rPr>
              <a:t>0530h : </a:t>
            </a:r>
            <a:r>
              <a:t>ROUTING_INDICATION</a:t>
            </a:r>
            <a:r>
              <a:rPr>
                <a:solidFill>
                  <a:schemeClr val="tx1"/>
                </a:solidFill>
              </a:rPr>
              <a:t>: </a:t>
            </a:r>
          </a:p>
          <a:p>
            <a:pPr marL="400050" lvl="1" indent="0">
              <a:buNone/>
              <a:defRPr sz="1800" b="1">
                <a:solidFill>
                  <a:schemeClr val="tx1"/>
                </a:solidFill>
                <a:latin typeface="Arial" charset="0"/>
              </a:defRPr>
            </a:pPr>
            <a:r>
              <a:t>Utilisé pour envoyer des télégrammes KNX via des réseaux IP sans connexion</a:t>
            </a:r>
          </a:p>
          <a:p>
            <a:endParaRPr sz="2000">
              <a:solidFill>
                <a:schemeClr val="tx1"/>
              </a:solidFill>
              <a:latin typeface="Arial" charset="0"/>
            </a:endParaRPr>
          </a:p>
          <a:p>
            <a:pPr>
              <a:defRPr sz="2000">
                <a:latin typeface="Arial" charset="0"/>
              </a:defRPr>
            </a:pPr>
            <a:r>
              <a:rPr>
                <a:solidFill>
                  <a:schemeClr val="tx1"/>
                </a:solidFill>
              </a:rPr>
              <a:t>0531h : </a:t>
            </a:r>
            <a:r>
              <a:t>ROUTING_LOST_MESSAGE</a:t>
            </a:r>
            <a:r>
              <a:rPr>
                <a:solidFill>
                  <a:schemeClr val="tx1"/>
                </a:solidFill>
              </a:rPr>
              <a:t>: </a:t>
            </a:r>
          </a:p>
          <a:p>
            <a:pPr marL="400050" lvl="1" indent="0">
              <a:buNone/>
              <a:defRPr sz="1800" b="1">
                <a:solidFill>
                  <a:schemeClr val="tx1"/>
                </a:solidFill>
                <a:latin typeface="Arial" charset="0"/>
              </a:defRPr>
            </a:pPr>
            <a:r>
              <a:t>Utilisé pour afficher toutes les informations de routage KNXnet/IP perdues </a:t>
            </a:r>
            <a:endParaRPr sz="2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194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t>Exemple de Routage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5796138" y="2780928"/>
            <a:ext cx="316835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600" dirty="0"/>
              <a:t>Une transmission </a:t>
            </a:r>
            <a:r>
              <a:rPr sz="1600" dirty="0" err="1"/>
              <a:t>réussie</a:t>
            </a:r>
            <a:r>
              <a:rPr sz="1600" dirty="0"/>
              <a:t> </a:t>
            </a:r>
            <a:r>
              <a:rPr sz="1600" dirty="0" err="1"/>
              <a:t>n'est</a:t>
            </a:r>
            <a:r>
              <a:rPr sz="1600" dirty="0"/>
              <a:t> pas </a:t>
            </a:r>
            <a:r>
              <a:rPr sz="1600" dirty="0" err="1"/>
              <a:t>confirmée</a:t>
            </a:r>
            <a:r>
              <a:rPr sz="1600" dirty="0"/>
              <a:t>.  La </a:t>
            </a:r>
            <a:r>
              <a:rPr sz="1600" dirty="0" err="1"/>
              <a:t>perte</a:t>
            </a:r>
            <a:r>
              <a:rPr sz="1600" dirty="0"/>
              <a:t> de </a:t>
            </a:r>
            <a:r>
              <a:rPr sz="1600" dirty="0" err="1"/>
              <a:t>données</a:t>
            </a:r>
            <a:r>
              <a:rPr sz="1600" dirty="0"/>
              <a:t> sur le </a:t>
            </a:r>
            <a:r>
              <a:rPr sz="1600" dirty="0" err="1"/>
              <a:t>côté</a:t>
            </a:r>
            <a:r>
              <a:rPr sz="1600" dirty="0"/>
              <a:t> IP </a:t>
            </a:r>
            <a:r>
              <a:rPr sz="1600" dirty="0" err="1"/>
              <a:t>est</a:t>
            </a:r>
            <a:r>
              <a:rPr sz="1600" dirty="0"/>
              <a:t> </a:t>
            </a:r>
            <a:r>
              <a:rPr sz="1600" dirty="0" err="1"/>
              <a:t>peu</a:t>
            </a:r>
            <a:r>
              <a:rPr sz="1600" dirty="0"/>
              <a:t> probable </a:t>
            </a:r>
          </a:p>
          <a:p>
            <a:pPr>
              <a:defRPr b="1"/>
            </a:pPr>
            <a:r>
              <a:rPr sz="1600" dirty="0"/>
              <a:t> </a:t>
            </a:r>
          </a:p>
          <a:p>
            <a:pPr>
              <a:defRPr b="1"/>
            </a:pPr>
            <a:r>
              <a:rPr sz="1600" dirty="0"/>
              <a:t>Un </a:t>
            </a:r>
            <a:r>
              <a:rPr sz="1600" dirty="0" err="1"/>
              <a:t>routeur</a:t>
            </a:r>
            <a:r>
              <a:rPr sz="1600" dirty="0"/>
              <a:t> IP qui </a:t>
            </a:r>
            <a:r>
              <a:rPr sz="1600" dirty="0" err="1"/>
              <a:t>reçoit</a:t>
            </a:r>
            <a:r>
              <a:rPr sz="1600" dirty="0"/>
              <a:t> un </a:t>
            </a:r>
            <a:r>
              <a:rPr sz="1600" dirty="0" err="1"/>
              <a:t>télégramme</a:t>
            </a:r>
            <a:r>
              <a:rPr sz="1600" dirty="0"/>
              <a:t> KNXnet/IP ne </a:t>
            </a:r>
            <a:r>
              <a:rPr sz="1600" dirty="0" err="1"/>
              <a:t>l'achemine</a:t>
            </a:r>
            <a:r>
              <a:rPr sz="1600" dirty="0"/>
              <a:t> que sur son </a:t>
            </a:r>
            <a:r>
              <a:rPr sz="1600" dirty="0" err="1"/>
              <a:t>côté</a:t>
            </a:r>
            <a:r>
              <a:rPr sz="1600" dirty="0"/>
              <a:t> TP </a:t>
            </a:r>
            <a:r>
              <a:rPr sz="1600" dirty="0" err="1"/>
              <a:t>si</a:t>
            </a:r>
            <a:r>
              <a:rPr sz="1600" dirty="0"/>
              <a:t> </a:t>
            </a:r>
            <a:r>
              <a:rPr sz="1600" dirty="0" err="1"/>
              <a:t>l'adresse</a:t>
            </a:r>
            <a:r>
              <a:rPr sz="1600" dirty="0"/>
              <a:t> du </a:t>
            </a:r>
            <a:r>
              <a:rPr sz="1600" dirty="0" err="1"/>
              <a:t>groupe</a:t>
            </a:r>
            <a:r>
              <a:rPr sz="1600" dirty="0"/>
              <a:t> </a:t>
            </a:r>
            <a:r>
              <a:rPr sz="1600" dirty="0" err="1"/>
              <a:t>correspondant</a:t>
            </a:r>
            <a:r>
              <a:rPr sz="1600" dirty="0"/>
              <a:t> se </a:t>
            </a:r>
            <a:r>
              <a:rPr sz="1600" dirty="0" err="1"/>
              <a:t>trouve</a:t>
            </a:r>
            <a:r>
              <a:rPr sz="1600" dirty="0"/>
              <a:t> dans la table de </a:t>
            </a:r>
            <a:r>
              <a:rPr sz="1600" dirty="0" err="1"/>
              <a:t>filtres</a:t>
            </a:r>
            <a:r>
              <a:rPr sz="1600" dirty="0"/>
              <a:t> et le </a:t>
            </a:r>
            <a:r>
              <a:rPr sz="1600" dirty="0" err="1"/>
              <a:t>paramètre</a:t>
            </a:r>
            <a:r>
              <a:rPr sz="1600" dirty="0"/>
              <a:t> </a:t>
            </a:r>
            <a:r>
              <a:rPr sz="1600" dirty="0" err="1"/>
              <a:t>est</a:t>
            </a:r>
            <a:r>
              <a:rPr sz="1600" dirty="0"/>
              <a:t> </a:t>
            </a:r>
            <a:r>
              <a:rPr sz="1600" dirty="0" err="1"/>
              <a:t>réglé</a:t>
            </a:r>
            <a:r>
              <a:rPr sz="1600" dirty="0"/>
              <a:t> sur "</a:t>
            </a:r>
            <a:r>
              <a:rPr sz="1600" dirty="0" err="1"/>
              <a:t>filtre</a:t>
            </a:r>
            <a:r>
              <a:rPr sz="1600" dirty="0"/>
              <a:t>"</a:t>
            </a:r>
          </a:p>
          <a:p>
            <a:endParaRPr sz="1600" b="1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DBBB1B7-C02E-424F-BC44-8A1FBB4CD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0010"/>
              </p:ext>
            </p:extLst>
          </p:nvPr>
        </p:nvGraphicFramePr>
        <p:xfrm>
          <a:off x="755576" y="2545375"/>
          <a:ext cx="4870573" cy="3238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201367" imgH="6800850" progId="Visio.Drawing.15">
                  <p:embed/>
                </p:oleObj>
              </mc:Choice>
              <mc:Fallback>
                <p:oleObj r:id="rId3" imgW="10201367" imgH="6800850" progId="Visio.Drawing.15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DBBB1B7-C02E-424F-BC44-8A1FBB4CD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545375"/>
                        <a:ext cx="4870573" cy="3238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C882AD7-E768-4457-AF6D-89611A33894E}"/>
              </a:ext>
            </a:extLst>
          </p:cNvPr>
          <p:cNvSpPr/>
          <p:nvPr/>
        </p:nvSpPr>
        <p:spPr>
          <a:xfrm>
            <a:off x="827584" y="1493168"/>
            <a:ext cx="81369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Routeurs IP utilisés comme coupleurs de ligne ou de zone </a:t>
            </a:r>
          </a:p>
          <a:p>
            <a:pPr>
              <a:defRPr b="1"/>
            </a:pPr>
            <a:r>
              <a:t>Le télégramme envoyé via UDP avec l'adresse multicast 224.0.23.12 (port 3671) </a:t>
            </a:r>
          </a:p>
          <a:p>
            <a:endParaRPr b="1"/>
          </a:p>
          <a:p>
            <a:endParaRPr b="1"/>
          </a:p>
        </p:txBody>
      </p:sp>
    </p:spTree>
    <p:extLst>
      <p:ext uri="{BB962C8B-B14F-4D97-AF65-F5344CB8AC3E}">
        <p14:creationId xmlns:p14="http://schemas.microsoft.com/office/powerpoint/2010/main" val="41888846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76250"/>
            <a:ext cx="6984255" cy="719138"/>
          </a:xfrm>
        </p:spPr>
        <p:txBody>
          <a:bodyPr/>
          <a:lstStyle/>
          <a:p>
            <a:r>
              <a:t>Remarques sur le routage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8863DD-775F-445C-8796-484E6A02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387497-B56F-4D63-A4B5-B378183EC264}"/>
              </a:ext>
            </a:extLst>
          </p:cNvPr>
          <p:cNvSpPr/>
          <p:nvPr/>
        </p:nvSpPr>
        <p:spPr>
          <a:xfrm>
            <a:off x="323529" y="1859364"/>
            <a:ext cx="8352928" cy="4109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rPr>
                <a:solidFill>
                  <a:srgbClr val="369226"/>
                </a:solidFill>
              </a:rPr>
              <a:t>La communication directe </a:t>
            </a:r>
            <a:r>
              <a:rPr>
                <a:solidFill>
                  <a:schemeClr val="bg2">
                    <a:lumMod val="10000"/>
                  </a:schemeClr>
                </a:solidFill>
              </a:rPr>
              <a:t>entre deux périphériques IP est normalement </a:t>
            </a:r>
            <a:r>
              <a:rPr>
                <a:solidFill>
                  <a:srgbClr val="369226"/>
                </a:solidFill>
              </a:rPr>
              <a:t>uniquement possible via les adresses IP respectives </a:t>
            </a:r>
            <a:r>
              <a:rPr>
                <a:solidFill>
                  <a:schemeClr val="bg2">
                    <a:lumMod val="10000"/>
                  </a:schemeClr>
                </a:solidFill>
              </a:rPr>
              <a:t>(L'adresse de destination est l'adresse IP du destinataire ) </a:t>
            </a: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endParaRPr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t>Dans le cas du routage KNXnet/IP, la structure de réseau qui a été préaffectée par les adresses IP et de sous-réseau est supprimée en utilisant l'IP multicast</a:t>
            </a: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</a:pPr>
            <a:endParaRPr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285750" lvl="1" indent="-342900" eaLnBrk="0" hangingPunct="0">
              <a:lnSpc>
                <a:spcPct val="115000"/>
              </a:lnSpc>
              <a:spcBef>
                <a:spcPct val="20000"/>
              </a:spcBef>
              <a:buClr>
                <a:srgbClr val="369226"/>
              </a:buClr>
              <a:buFont typeface="Wingdings" pitchFamily="2" charset="2"/>
              <a:buChar char="§"/>
              <a:defRPr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pPr>
            <a:r>
              <a:t>Si deux réseaux doivent maintenant être connectés ensemble via l'IP multicast KNX, il faut s'assurer que les routeurs intermédiaires laissent également l'IP multicast à travers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610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6451</TotalTime>
  <Words>1735</Words>
  <Application>Microsoft Office PowerPoint</Application>
  <PresentationFormat>On-screen Show (4:3)</PresentationFormat>
  <Paragraphs>316</Paragraphs>
  <Slides>31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Gotham Light</vt:lpstr>
      <vt:lpstr>Gotham Medium</vt:lpstr>
      <vt:lpstr>Symbol</vt:lpstr>
      <vt:lpstr>Times New Roman</vt:lpstr>
      <vt:lpstr>Wingdings</vt:lpstr>
      <vt:lpstr>Training 2</vt:lpstr>
      <vt:lpstr>Visio</vt:lpstr>
      <vt:lpstr>Microsoft Visio Drawing</vt:lpstr>
      <vt:lpstr>COURS AVANCÉ KNX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Communication IP dans les systèmes KNX</vt:lpstr>
      <vt:lpstr>Communication IP dans les systèmes KNX</vt:lpstr>
      <vt:lpstr>Adressage des Périphériques Réseau</vt:lpstr>
      <vt:lpstr>Adresse Multicast KNX </vt:lpstr>
      <vt:lpstr>Adresse Multicast KNX </vt:lpstr>
      <vt:lpstr>Protocole KNXnet/IP</vt:lpstr>
      <vt:lpstr>KNXnet/IP - Identifiant de Type de Service</vt:lpstr>
      <vt:lpstr>KNXnet/IP - Corps</vt:lpstr>
      <vt:lpstr>TP1 comparé aux télégrammes KNXnet/IP</vt:lpstr>
      <vt:lpstr>Tunnelage</vt:lpstr>
      <vt:lpstr>Exemples de Tunnelage</vt:lpstr>
      <vt:lpstr>Paramètres de tunnels</vt:lpstr>
      <vt:lpstr>Paramètres de tunnels</vt:lpstr>
      <vt:lpstr>Accès à distance à une installation KNX via connexion Tunnelling</vt:lpstr>
      <vt:lpstr>Routage</vt:lpstr>
      <vt:lpstr>Exemple de Routage</vt:lpstr>
      <vt:lpstr>Remarques sur le routage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Communication</dc:title>
  <dc:creator>KNX Association;R. Hernandez</dc:creator>
  <cp:lastModifiedBy>Ufuk Unal</cp:lastModifiedBy>
  <cp:revision>273</cp:revision>
  <dcterms:created xsi:type="dcterms:W3CDTF">2012-09-10T07:59:43Z</dcterms:created>
  <dcterms:modified xsi:type="dcterms:W3CDTF">2023-04-07T11:29:22Z</dcterms:modified>
</cp:coreProperties>
</file>