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37"/>
  </p:notesMasterIdLst>
  <p:handoutMasterIdLst>
    <p:handoutMasterId r:id="rId38"/>
  </p:handoutMasterIdLst>
  <p:sldIdLst>
    <p:sldId id="256" r:id="rId2"/>
    <p:sldId id="258" r:id="rId3"/>
    <p:sldId id="259" r:id="rId4"/>
    <p:sldId id="274" r:id="rId5"/>
    <p:sldId id="275" r:id="rId6"/>
    <p:sldId id="276" r:id="rId7"/>
    <p:sldId id="286" r:id="rId8"/>
    <p:sldId id="287" r:id="rId9"/>
    <p:sldId id="277" r:id="rId10"/>
    <p:sldId id="278" r:id="rId11"/>
    <p:sldId id="279" r:id="rId12"/>
    <p:sldId id="280" r:id="rId13"/>
    <p:sldId id="282" r:id="rId14"/>
    <p:sldId id="281" r:id="rId15"/>
    <p:sldId id="283" r:id="rId16"/>
    <p:sldId id="284" r:id="rId17"/>
    <p:sldId id="285" r:id="rId18"/>
    <p:sldId id="288" r:id="rId19"/>
    <p:sldId id="289" r:id="rId20"/>
    <p:sldId id="290" r:id="rId21"/>
    <p:sldId id="291" r:id="rId22"/>
    <p:sldId id="292" r:id="rId23"/>
    <p:sldId id="293" r:id="rId24"/>
    <p:sldId id="294" r:id="rId25"/>
    <p:sldId id="296" r:id="rId26"/>
    <p:sldId id="295" r:id="rId27"/>
    <p:sldId id="297" r:id="rId28"/>
    <p:sldId id="298" r:id="rId29"/>
    <p:sldId id="299" r:id="rId30"/>
    <p:sldId id="301" r:id="rId31"/>
    <p:sldId id="300" r:id="rId32"/>
    <p:sldId id="302" r:id="rId33"/>
    <p:sldId id="303" r:id="rId34"/>
    <p:sldId id="304" r:id="rId35"/>
    <p:sldId id="305" r:id="rId36"/>
  </p:sldIdLst>
  <p:sldSz cx="9144000" cy="6858000" type="screen4x3"/>
  <p:notesSz cx="6858000" cy="9144000"/>
  <p:custDataLst>
    <p:tags r:id="rId3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Déjà sous le système prédécesseur de KNX, c.-à-d. La BEI, l'association s'est chargée non seulement de la normalisation du protocole, mais elle a également fixé des règles pour l'encodage des données utiles à l'intérieur des télégrammes.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Sans standardisation de cet aspect, les appareils de différents fabricants seraient capables de parler KNX mais pourraient encore coder différemment les données utiles contenues dans la queue du télégramme, par exemple, le fabricant A coderait les températures sur 1 octet et un autre sur 3 octets.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commencer, de tels objets de groupe ne pourraient pas être liés au moyen de l'ETS et deuxièmement, ces dispositifs ne se comprendraient pas entre eux.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Afin d'assurer l'interfonctionnement entre les fabricants et même les produits de différents domaines d'application, l'association KNX a donc établi des formats pour des fonctions communes comme la commutation, la gradation, la commande de stores, les valeurs entières et flottantes, le pourcentage, la date/heure, les modes HVAC, le contrôle de scène, ..... Ces formats sont appelés « types de données normalisées KNX ».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types de données les plus courants ont également été normalisés au niveau européen et intégrés dans la série EN 50090 en tant que partie 3-3.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S'il existe un format standardisé pour une certaine fonction, pour la certification le fabricant de KNX est obligé d'utiliser ce format. La conformité au format est également vérifiée pendant les tests d'interfonctionnement KNX effectués par des laboratoires d'essais accrédités par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Avantages de l'Interfonctionnement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avantages du Home and Building Control ne deviennent vraiment visibles que lorsque les appareils de différents fabricants et domaines d'application interagissent :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détecteur de présence fait partie du système d'alarme la nuit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thermostat d'ambiance du Fabricant A règle la position des vannes du Fabricant B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bouton " Tout éteint " du fabricant A éteint les lumières, commandées par les actionneurs de commutation du Fabricant B, C, D, .....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planificateur de fabricant A garantit la simulation de présence, pilotant ainsi les stores du fabricant b</a:t>
            </a:r>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a:solidFill>
                  <a:schemeClr val="tx1"/>
                </a:solidFill>
                <a:effectLst/>
                <a:latin typeface="Arial" charset="0"/>
                <a:ea typeface="+mn-ea"/>
                <a:cs typeface="+mn-cs"/>
              </a:rPr>
              <a:t>Il va sans dire qu'il s'agit d'un avantage énorme pour les utilisateurs finaux. Lorsqu'une ligne de produits A est défectueuse mais que le Fabricant A a abandonné sa ligne de produits, l'utilisateur final peut trouver un produit de remplacement chez le Fabricant B.</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avec un véritable interfonctionnement attire également les fabricants de produits de niche, car un seul fabricant ne peut tout simplement pas offrir toutes les solutions HBES possibles, du Chauffage, de la Ventilation et de la Climatisation en passant par la gestion des charges, etc.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Cela renforce à son tour le marché OEM : ce que le fabricant A ne produit pas lui-même, il peut facilement le trouver chez un autre fabricant HBES et compléter son offre en renommant les produits qu'il achète au fabricant A.</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solutions de passerelle entre KNX et des systèmes propriétaires ou d'autres systèmes standardisés (par exemple DALI, BACnet, ...) sont plus faciles à développer, car l'encodage propriétaire peut être facilement mappé aux formats de données KNX courants comme décrit dans la norme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Enfin et surtout, il aurait été impossible pour KNX d'établir l'infrastructure du marché commun qui existe aujourd'hui :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 fait que tous les produits de tous les fabricants peuvent être reliés à une installation de travail est la pierre angulaire de l'approche KNX one configuration tool (ETS).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Il aurait été impossible d'établir le programme commun de formation pour la formation des personnes intéressées à utiliser la technologie KNX dans des projets domestiques ou commerciaux. Le programme de formation des cours de base, avancés et de tuteur est standardisé dans le monde entier. En revanche, les fabricants de systèmes propriétaires doivent établir individuellement leurs propres programmes de formation et les utilisateurs de ce matériel doivent suivre plusieurs cours s'ils souhaitent combiner le matériel de plusieurs fabricants dans une installation. </a:t>
            </a:r>
            <a:endParaRPr lang="en-GB"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nl-BE" sz="1200" kern="1200">
                <a:solidFill>
                  <a:schemeClr val="tx1"/>
                </a:solidFill>
                <a:effectLst/>
                <a:latin typeface="Arial" charset="0"/>
                <a:ea typeface="+mn-ea"/>
                <a:cs typeface="+mn-cs"/>
              </a:rPr>
              <a:t>OEM: Fabricant d'équipement original</a:t>
            </a: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36775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Principes de l'Interfonctionnement de KNX</a:t>
            </a: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les appareils KNX qui sont programmés avec l'ETS, KNX exige qu'au moins les objets de groupe soient codés selon les types de données standardisés KNX. L'encodage des paramètres décrits dans les descriptions des données produit peut être spécifique au fabricant.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certains types d'appareils (par ex. gradation, commande de stores ou commutation avec priorité), il est toutefois nécessaire que les actionneurs affichent un certain comportement lors de l'envoi de données aux objets de groupe disponibles. Dans ce cas, la spécification des blocs fonctionnels devient nécessaire et doit être respectée pendant la certification du produit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blocs fonctionnels regroupent un certain nombre d'entrées, de sorties et de paramètres. Pour cette combinaison, une description précise de la fonction est fournie.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définition claire de la description de chaque canal de l'appareil sous la forme de blocs fonctionnels est nécessaire, en particulier lorsque les appareils prennent en charge l'installation facile. </a:t>
            </a:r>
            <a:endParaRPr lang="es-ES" sz="14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20423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Codage des types de points de données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Introduction</a:t>
            </a:r>
          </a:p>
          <a:p>
            <a:r>
              <a:rPr lang="en-GB" sz="1200" kern="1200">
                <a:solidFill>
                  <a:schemeClr val="tx1"/>
                </a:solidFill>
                <a:effectLst/>
                <a:latin typeface="Arial" charset="0"/>
                <a:ea typeface="+mn-ea"/>
                <a:cs typeface="+mn-cs"/>
              </a:rPr>
              <a:t>Un objet de groupe est considéré comme un certain type de points de données. Les paramètres peuvent également être considérés comme des points de données.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type de points de données est déterminé par les quatre éléments suivants</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Format : De quels champs est composé le type Datapoint ? Chaque champ peut être composé d'un ou plusieurs bits.</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Codage: Comment les données sont-elles encodées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Plage de valeurs : Y a-t-il des limitations à la plage de valeurs ? Il peut y avoir des valeurs minimales et maximales ou des valeurs valides différentes pour chaque champ ou des listes de valeurs valides.</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Unité : Quelles sont les unités de données des différents champs ?</a:t>
            </a:r>
            <a:endParaRPr lang="es-ES" sz="1200"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612110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Principe Classes de types de points de données</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Introduction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Cinq classes peuvent être distinguées en fonction de leur structure interne. De plus amples explications sont données dans les paragraphes suivants.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Types Simples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Exemples de types simples : valeurs booléennes, valeurs numériques pures.</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Types Énumérés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énumérations sont utilisées pour des points de données avec un nombre clairement limité de valeurs et sans ordre hiérarchique précis. Si un point de données utilise un type de données énuméré, tous les états possibles doivent être décrits. Si des valeurs non valides / indéfinies sont envoyées, aucun dysfonctionnement ne peut survenir.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exemples sont : basculer entre “Confort”, “Standby” “Nuit”,… modes de fonctionnement dans les thermostats de pièce.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Types Structurés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types de points de données structurés se composent de plusieurs parties qui sont combinées dans un de point de données. Seuls les champs qui ne peuvent pas être interprétés de manière significative peuvent être combinés à un type de point de données structuré.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Exemples : variation relative KNX (3.007 DPT_Control_Dimming)</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Types de Statut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types de points de données pour la transmission des informations d'état doivent répondre à deux objectifs :</a:t>
            </a:r>
            <a:endParaRPr lang="es-ES" sz="1200" kern="1200" dirty="0">
              <a:solidFill>
                <a:schemeClr val="tx1"/>
              </a:solidFill>
              <a:effectLst/>
              <a:latin typeface="Arial" charset="0"/>
              <a:ea typeface="+mn-ea"/>
              <a:cs typeface="+mn-cs"/>
            </a:endParaRPr>
          </a:p>
          <a:p>
            <a:pPr marL="228600" lvl="0" indent="-228600">
              <a:buFont typeface="+mj-lt"/>
              <a:buAutoNum type="arabicPeriod"/>
            </a:pPr>
            <a:r>
              <a:rPr lang="en-GB" sz="1200" kern="1200">
                <a:solidFill>
                  <a:schemeClr val="tx1"/>
                </a:solidFill>
                <a:effectLst/>
                <a:latin typeface="Arial" charset="0"/>
                <a:ea typeface="+mn-ea"/>
                <a:cs typeface="+mn-cs"/>
              </a:rPr>
              <a:t>Un appareil doit pouvoir signaler son mode de fonctionnement à d'autres appareils.</a:t>
            </a:r>
            <a:endParaRPr lang="es-ES" sz="1200" kern="1200" dirty="0">
              <a:solidFill>
                <a:schemeClr val="tx1"/>
              </a:solidFill>
              <a:effectLst/>
              <a:latin typeface="Arial" charset="0"/>
              <a:ea typeface="+mn-ea"/>
              <a:cs typeface="+mn-cs"/>
            </a:endParaRPr>
          </a:p>
          <a:p>
            <a:pPr marL="228600" lvl="0" indent="-228600">
              <a:buFont typeface="+mj-lt"/>
              <a:buAutoNum type="arabicPeriod"/>
            </a:pPr>
            <a:r>
              <a:rPr lang="en-GB" sz="1200" kern="1200">
                <a:solidFill>
                  <a:schemeClr val="tx1"/>
                </a:solidFill>
                <a:effectLst/>
                <a:latin typeface="Arial" charset="0"/>
                <a:ea typeface="+mn-ea"/>
                <a:cs typeface="+mn-cs"/>
              </a:rPr>
              <a:t>Un appareil doit pouvoir être commuté sur un mode de fonctionnement spécifique.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ce faire, d'autres bits sont envoyés comme masque en plus des informations d'état actuelles. Le masque détermine si les données des champs d'état doivent être utilisées comme commandes valides ou uniquement à titre d'information.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 types de points de données sont principalement utilisés dans le domaine de la technique de chauffage.</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815807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Principe Classes de types de points de données</a:t>
            </a:r>
            <a:endParaRPr lang="es-ES" sz="1200" b="1"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Types " Multi-états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types de points de données à états multiples sont destinés à transmettre des données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 dont les valeurs codables suivent une séquence hiérarchique et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dont toutes les valeurs codables sont significatives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Exemples : un contrôleur de ventilateur (moteur) peut entraîner le ventilateur de l'arrêt sur 5 positions jusqu'à une vitesse maximale. </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Définition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pouvoir couvrir tous les cas où les émetteurs et les récepteurs fonctionnent avec de nombreux pas différents, ils convertissent tous les deux leurs pas dans une plage comprise entre 0 et 255.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qui suit s'applique à l'expéditeur :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Cette valeur est arrondie à l'unité supérieure ou inférieure et envoyée sous forme d'octet sans signe.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qui suit s'applique au récepteur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756735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Exemple de Types “Multi-états”</a:t>
            </a:r>
          </a:p>
          <a:p>
            <a:pPr lvl="0"/>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Exemple : Un expéditeur à 3 pas (N</a:t>
            </a:r>
            <a:r>
              <a:rPr lang="en-GB" sz="1200" kern="1200" baseline="-25000">
                <a:solidFill>
                  <a:schemeClr val="tx1"/>
                </a:solidFill>
                <a:effectLst/>
                <a:latin typeface="Arial" charset="0"/>
                <a:ea typeface="+mn-ea"/>
                <a:cs typeface="+mn-cs"/>
              </a:rPr>
              <a:t>S</a:t>
            </a:r>
            <a:r>
              <a:rPr lang="en-GB" sz="1200" kern="1200">
                <a:solidFill>
                  <a:schemeClr val="tx1"/>
                </a:solidFill>
                <a:effectLst/>
                <a:latin typeface="Arial" charset="0"/>
                <a:ea typeface="+mn-ea"/>
                <a:cs typeface="+mn-cs"/>
              </a:rPr>
              <a:t>=3) commande un récepteur à 5 pas (N</a:t>
            </a:r>
            <a:r>
              <a:rPr lang="en-GB" sz="1200" kern="1200" baseline="-25000">
                <a:solidFill>
                  <a:schemeClr val="tx1"/>
                </a:solidFill>
                <a:effectLst/>
                <a:latin typeface="Arial" charset="0"/>
                <a:ea typeface="+mn-ea"/>
                <a:cs typeface="+mn-cs"/>
              </a:rPr>
              <a:t>R</a:t>
            </a:r>
            <a:r>
              <a:rPr lang="en-GB" sz="1200" kern="1200">
                <a:solidFill>
                  <a:schemeClr val="tx1"/>
                </a:solidFill>
                <a:effectLst/>
                <a:latin typeface="Arial" charset="0"/>
                <a:ea typeface="+mn-ea"/>
                <a:cs typeface="+mn-cs"/>
              </a:rPr>
              <a:t>=5).</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Étape 2 (S</a:t>
            </a:r>
            <a:r>
              <a:rPr lang="en-GB" sz="1200" kern="1200" baseline="-25000">
                <a:solidFill>
                  <a:schemeClr val="tx1"/>
                </a:solidFill>
                <a:effectLst/>
                <a:latin typeface="Arial" charset="0"/>
                <a:ea typeface="+mn-ea"/>
                <a:cs typeface="+mn-cs"/>
              </a:rPr>
              <a:t> x</a:t>
            </a:r>
            <a:r>
              <a:rPr lang="en-GB" sz="1200" kern="1200">
                <a:solidFill>
                  <a:schemeClr val="tx1"/>
                </a:solidFill>
                <a:effectLst/>
                <a:latin typeface="Arial" charset="0"/>
                <a:ea typeface="+mn-ea"/>
                <a:cs typeface="+mn-cs"/>
              </a:rPr>
              <a:t>=2) de l'expéditeur est donc transmise comme = 170. Le récepteur l'interprète et passe au niveau 3.</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 types de points de données ne peuvent être utilisés que si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états ont une séquence clairement définie,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aucune conversion linéaire exacte des pas entre émetteur et récepteur n'est nécessaire</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2687325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Types communs de points de données KNX</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Introduction</a:t>
            </a:r>
            <a:endParaRPr lang="es-ES" sz="16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Cette section énumère quelques types courants de points de données KNX.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Tous les types de points de données ont une identification unique composée de deux chiffres. Le premier chiffre indique le format et l'encodage. Le deuxième chiffre représente la plage de valeurs et l'unité.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Au cours du développement technique, les membres de KNX peuvent soumettre des suggestions pour de nouveaux types de points de données à l'Association KNX. De nouveaux types de points de données sont également élaborés par le groupe de travail KNX responsable « WGI » (Working Group Interworking) lors de l'élaboration de nouvelles descriptions d'application et des blocs fonctionnels standardisés KNX correspondants.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objets de groupe conformes aux types DPT d'une taille de 6 bits ou moins n'utilisent que les bits qui suivent directement l'APCI (les bits non utilisés sont mis à zéro) dans le télégramme KNX. Tout groupe d'objets conformes aux DPT dont la taille est supérieure à 6 bits donnera lieu à des télégrammes, où les 6 bits qui suivent l'APCI sont mis à zéro et les données utiles sont capitonnées après ces bits non utilisés. </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13280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Données Booléennes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ID 1.xxx est utilisé pour toutes les applications possibles dans lesquelles deux valeurs différentes doivent être définies ou envoyées. </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Types de données B</a:t>
            </a:r>
            <a:r>
              <a:rPr lang="en-GB" sz="1200" b="1" kern="1200" baseline="-25000">
                <a:solidFill>
                  <a:schemeClr val="tx1"/>
                </a:solidFill>
                <a:effectLst/>
                <a:latin typeface="Arial" charset="0"/>
                <a:ea typeface="+mn-ea"/>
                <a:cs typeface="+mn-cs"/>
              </a:rPr>
              <a:t>1</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506326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Bit avec contrôle de priorité</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 types de points de données sont destinés aux applications offrant un contrôle prioritaire qui a priorité sur le fonctionnement normal (manuel). En d'autres termes, si un actionneur est commuté via son point de données prioritaire, la commutation via ses objets de groupe DPT 1.xxx habituels est désactivée.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commutation avec priorité est assurée par des types de points de données à 2 bits.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L'interaction entre les points de données 2 et 1 bit fonctionne selon le diagramme ci-dessous.</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3540668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Bit avec contrôle de priorité</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Types de données B</a:t>
            </a:r>
            <a:r>
              <a:rPr lang="en-GB" sz="1200" b="1" kern="1200" baseline="-25000">
                <a:solidFill>
                  <a:schemeClr val="tx1"/>
                </a:solidFill>
                <a:effectLst/>
                <a:latin typeface="Arial" charset="0"/>
                <a:ea typeface="+mn-ea"/>
                <a:cs typeface="+mn-cs"/>
              </a:rPr>
              <a:t>2</a:t>
            </a:r>
            <a:endParaRPr lang="es-ES" sz="1200" b="1"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583911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3 Bits avec Contrôle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 types de points de données sont entre autres utilisés pour réaliser la variation relative ou le déplacement de stores par rapport à une certaine position de départ. </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Point de donnée DPT_Control_Dimming</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2954952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3 Bits avec Contrôle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r>
              <a:rPr lang="en-GB" sz="1200" b="1" kern="1200">
                <a:solidFill>
                  <a:schemeClr val="tx1"/>
                </a:solidFill>
                <a:effectLst/>
                <a:latin typeface="Arial" charset="0"/>
                <a:ea typeface="+mn-ea"/>
                <a:cs typeface="+mn-cs"/>
              </a:rPr>
              <a:t>Point de donnée DPT_Control_Blinds</a:t>
            </a:r>
            <a:endParaRPr lang="en-GB"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0" kern="1200">
                <a:solidFill>
                  <a:schemeClr val="tx1"/>
                </a:solidFill>
                <a:effectLst/>
                <a:latin typeface="Arial" charset="0"/>
                <a:ea typeface="+mn-ea"/>
                <a:cs typeface="+mn-cs"/>
              </a:rPr>
              <a:t>NOTE: </a:t>
            </a:r>
            <a:r>
              <a:rPr lang="en-GB" sz="1200" kern="1200">
                <a:solidFill>
                  <a:schemeClr val="tx1"/>
                </a:solidFill>
                <a:effectLst/>
                <a:latin typeface="Arial" charset="0"/>
                <a:ea typeface="+mn-ea"/>
                <a:cs typeface="+mn-cs"/>
              </a:rPr>
              <a:t>Ce DPT peut être utilisé pour le positionnement relatif des stores verticaux ainsi que pour le positionnement relatif de l'angle des lames.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1858185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Jeu de Caractères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4.xxx est défini pour la transmission de caractères (texte) individuels. L'encodage envoyé sur le bus correspond aux coordonnées d'une table de consultation, contenant les différents caractères.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Types de points de données Jeu de Caractères</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2424330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8 Bits sans Signe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5.xxx est défini pour transmettre des valeurs non signées jusqu'à 255.</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Valeurs graduées</a:t>
            </a: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Valeurs non graduées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914522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8 Bits avec Signe</a:t>
            </a:r>
          </a:p>
          <a:p>
            <a:pPr lvl="0"/>
            <a:endParaRPr lang="en-US" sz="1200"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Informations générales</a:t>
            </a:r>
          </a:p>
          <a:p>
            <a:pPr lvl="0"/>
            <a:r>
              <a:rPr lang="en-US" sz="1200" kern="1200">
                <a:solidFill>
                  <a:schemeClr val="tx1"/>
                </a:solidFill>
                <a:effectLst/>
                <a:latin typeface="Arial" charset="0"/>
                <a:ea typeface="+mn-ea"/>
                <a:cs typeface="+mn-cs"/>
              </a:rPr>
              <a:t>DPT 6.xxx est défini pour transmettre des valeurs de -128 à +127.</a:t>
            </a:r>
          </a:p>
          <a:p>
            <a:pPr lvl="0"/>
            <a:r>
              <a:rPr lang="en-US" sz="1200" kern="1200">
                <a:solidFill>
                  <a:schemeClr val="tx1"/>
                </a:solidFill>
                <a:effectLst/>
                <a:latin typeface="Arial" charset="0"/>
                <a:ea typeface="+mn-ea"/>
                <a:cs typeface="+mn-cs"/>
              </a:rPr>
              <a:t>Les nombres négatifs sont représentés comme un complément à deux. Pour ce faire, la représentation binaire du nombre positif est inversée et 1 est ajouté.</a:t>
            </a:r>
          </a:p>
          <a:p>
            <a:pPr lvl="0"/>
            <a:endParaRPr lang="en-US" sz="1200"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Types de points de données V8 - Valeur relative signée</a:t>
            </a: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2674224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2 Octets sans Signe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7.xxx est défini pour la transmission de valeurs jusqu'à 65535. </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Valeur du compteur non signé de 2 octet</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1480993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2 Octets avec Signe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8.xxx est défini pour transmettre des valeurs de -32768 à +32767. Comme pour 1 octet avec signe, les valeurs négatives sont transférées comme complément à deux.</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Valeur du compteur signé à 2 octet</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590514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Octets Nombre à Virgule Flottante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9.xxx est défini pour la transmission de valeurs en virgule flottante. Divers types de points de données ont été définis pour différentes variables physiques.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Tous les types de points de données n'utilisent pas la plage de valeurs maximale. Les dispositifs doivent ignorer les valeurs invalides ou non définies.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à transférer est codée dans la mantisse. Si la valeur multipliée par 100 (en raison de la résolution de 0,01) n'est pas comprise entre -2048 et +2047, la mantisse doit être divisée par un facteur qui constitue l'exposant. Le bit de signe indique si la valeur est négative (S bit = 1) ou positive (S bit = 0). En cas de valeurs négatives, la mantisse doit en outre être le complément des deux de la valeur positive correspondante. </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a:p>
            <a:pPr lvl="2"/>
            <a:r>
              <a:rPr lang="en-GB" sz="1200" b="1" kern="1200">
                <a:solidFill>
                  <a:schemeClr val="tx1"/>
                </a:solidFill>
                <a:effectLst/>
                <a:latin typeface="Arial" charset="0"/>
                <a:ea typeface="+mn-ea"/>
                <a:cs typeface="+mn-cs"/>
              </a:rPr>
              <a:t>Exemple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valeur de température de - 30 degrés C peut être calculée selon DPT 9.001 comme suit : </a:t>
            </a:r>
            <a:endParaRPr lang="es-ES" sz="1200" kern="1200" dirty="0">
              <a:solidFill>
                <a:schemeClr val="tx1"/>
              </a:solidFill>
              <a:effectLst/>
              <a:latin typeface="Arial" charset="0"/>
              <a:ea typeface="+mn-ea"/>
              <a:cs typeface="+mn-cs"/>
            </a:endParaRPr>
          </a:p>
          <a:p>
            <a:r>
              <a:rPr lang="en-GB" sz="1200" u="sng" kern="1200">
                <a:solidFill>
                  <a:schemeClr val="tx1"/>
                </a:solidFill>
                <a:effectLst/>
                <a:latin typeface="Arial" charset="0"/>
                <a:ea typeface="+mn-ea"/>
                <a:cs typeface="+mn-cs"/>
              </a:rPr>
              <a:t>Étape 1 : Calculer la mantisse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raison de la résolution de 0,01, la valeur à coder doit être multipliée par 100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30 x 100 = 3000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a:solidFill>
                  <a:schemeClr val="tx1"/>
                </a:solidFill>
                <a:effectLst/>
                <a:latin typeface="Arial" charset="0"/>
                <a:ea typeface="+mn-ea"/>
                <a:cs typeface="+mn-cs"/>
              </a:rPr>
              <a:t>Étape 2 : Vérifier si l'exposant est requis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Mantissa est de 11 bits, la plage est de + 2047 à -2048.</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3000 est plus grand, un exposant est donc nécessaire.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Quel exposant? 2</a:t>
            </a:r>
            <a:r>
              <a:rPr lang="en-GB" sz="1200" kern="1200" baseline="30000">
                <a:solidFill>
                  <a:schemeClr val="tx1"/>
                </a:solidFill>
                <a:effectLst/>
                <a:latin typeface="Arial" charset="0"/>
                <a:ea typeface="+mn-ea"/>
                <a:cs typeface="+mn-cs"/>
              </a:rPr>
              <a:t>1 </a:t>
            </a:r>
            <a:r>
              <a:rPr lang="en-GB" sz="1200" kern="1200">
                <a:solidFill>
                  <a:schemeClr val="tx1"/>
                </a:solidFill>
                <a:effectLst/>
                <a:latin typeface="Arial" charset="0"/>
                <a:ea typeface="+mn-ea"/>
                <a:cs typeface="+mn-cs"/>
              </a:rPr>
              <a:t>= 2</a:t>
            </a:r>
            <a:r>
              <a:rPr lang="en-GB" sz="1200" kern="1200" baseline="300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est suffisant comme 3000 : 2 = 1500, et ce nombre peut être codé dans la mantissa.</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a:solidFill>
                  <a:schemeClr val="tx1"/>
                </a:solidFill>
                <a:effectLst/>
                <a:latin typeface="Arial" charset="0"/>
                <a:ea typeface="+mn-ea"/>
                <a:cs typeface="+mn-cs"/>
              </a:rPr>
              <a:t>Étape 3: Codez la mantissa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Valeur :</a:t>
            </a:r>
            <a:endParaRPr lang="es-ES" sz="16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1024 | 512 | 256 | 128 | 64 | 32 | 16 | 8 | 4 | 2 | 1</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Nombre :</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1 | 0 </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1</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1</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1</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0</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1</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1</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1</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0</a:t>
            </a:r>
            <a:r>
              <a:rPr lang="en-GB" sz="1600" kern="1200">
                <a:solidFill>
                  <a:schemeClr val="tx1"/>
                </a:solidFill>
                <a:effectLst/>
                <a:latin typeface="Arial" charset="0"/>
                <a:ea typeface="+mn-ea"/>
                <a:cs typeface="+mn-cs"/>
              </a:rPr>
              <a:t> | </a:t>
            </a:r>
            <a:r>
              <a:rPr lang="en-GB" sz="1200" kern="1200">
                <a:solidFill>
                  <a:schemeClr val="tx1"/>
                </a:solidFill>
                <a:effectLst/>
                <a:latin typeface="Arial" charset="0"/>
                <a:ea typeface="+mn-ea"/>
                <a:cs typeface="+mn-cs"/>
              </a:rPr>
              <a:t>0</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le nombre est négatif, créez un complément à deux !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Valeur de sortie : 101 1101 1100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Invert:		010 0010 0011</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+1		                      1</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010 0010 0100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a:solidFill>
                  <a:schemeClr val="tx1"/>
                </a:solidFill>
                <a:effectLst/>
                <a:latin typeface="Arial" charset="0"/>
                <a:ea typeface="+mn-ea"/>
                <a:cs typeface="+mn-cs"/>
              </a:rPr>
              <a:t>Étape 4 : Signal et exposant du code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nombre est négatif, donc le bit S = 1</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Exposant = 1, codé en quatre bits = 0001</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u="sng" kern="1200">
                <a:solidFill>
                  <a:schemeClr val="tx1"/>
                </a:solidFill>
                <a:effectLst/>
                <a:latin typeface="Arial" charset="0"/>
                <a:ea typeface="+mn-ea"/>
                <a:cs typeface="+mn-cs"/>
              </a:rPr>
              <a:t>Étape 5 : Résultat final</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-30 = 1   0001   010 0010 0100</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2684690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Temps</a:t>
            </a:r>
          </a:p>
          <a:p>
            <a:pPr lvl="0"/>
            <a:endParaRPr lang="en-U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Informations générales</a:t>
            </a:r>
          </a:p>
          <a:p>
            <a:pPr lvl="0"/>
            <a:r>
              <a:rPr lang="en-US" sz="1200" b="0" kern="1200">
                <a:solidFill>
                  <a:schemeClr val="tx1"/>
                </a:solidFill>
                <a:effectLst/>
                <a:latin typeface="Arial" charset="0"/>
                <a:ea typeface="+mn-ea"/>
                <a:cs typeface="+mn-cs"/>
              </a:rPr>
              <a:t>DPT 10.001 est défini pour la transmission de l'heure du jour (par ex. cycliquement par une horloge système).</a:t>
            </a:r>
          </a:p>
          <a:p>
            <a:pPr lvl="0"/>
            <a:endParaRPr lang="en-U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Type de point de données Heure</a:t>
            </a: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3682039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Date</a:t>
            </a:r>
          </a:p>
          <a:p>
            <a:pPr lvl="0"/>
            <a:r>
              <a:rPr lang="en-US" sz="1200" b="1" kern="1200">
                <a:solidFill>
                  <a:schemeClr val="tx1"/>
                </a:solidFill>
                <a:effectLst/>
                <a:latin typeface="Arial" charset="0"/>
                <a:ea typeface="+mn-ea"/>
                <a:cs typeface="+mn-cs"/>
              </a:rPr>
              <a:t>Informations générales</a:t>
            </a:r>
          </a:p>
          <a:p>
            <a:pPr lvl="0"/>
            <a:r>
              <a:rPr lang="en-US" sz="1200" b="0" kern="1200">
                <a:solidFill>
                  <a:schemeClr val="tx1"/>
                </a:solidFill>
                <a:effectLst/>
                <a:latin typeface="Arial" charset="0"/>
                <a:ea typeface="+mn-ea"/>
                <a:cs typeface="+mn-cs"/>
              </a:rPr>
              <a:t>DPT 11.001 est défini pour transmettre la date du jour (par ex. cycliquement par une horloge système). Veuillez noter que le jour de la semaine n'est pas transmis en DPT 11.001. </a:t>
            </a:r>
          </a:p>
          <a:p>
            <a:pPr lvl="0"/>
            <a:r>
              <a:rPr lang="en-US" sz="1200" b="0" kern="1200">
                <a:solidFill>
                  <a:schemeClr val="tx1"/>
                </a:solidFill>
                <a:effectLst/>
                <a:latin typeface="Arial" charset="0"/>
                <a:ea typeface="+mn-ea"/>
                <a:cs typeface="+mn-cs"/>
              </a:rPr>
              <a:t>Il est à noter que les valeurs doivent être interprétées comme suit par un récepteur :</a:t>
            </a:r>
          </a:p>
          <a:p>
            <a:pPr lvl="0"/>
            <a:r>
              <a:rPr lang="en-US" sz="1200" b="0" kern="1200">
                <a:solidFill>
                  <a:schemeClr val="tx1"/>
                </a:solidFill>
                <a:effectLst/>
                <a:latin typeface="Arial" charset="0"/>
                <a:ea typeface="+mn-ea"/>
                <a:cs typeface="+mn-cs"/>
              </a:rPr>
              <a:t>Les données de l'année &gt;= 90 signifient l'année au XXe siècle.</a:t>
            </a:r>
          </a:p>
          <a:p>
            <a:pPr lvl="0"/>
            <a:r>
              <a:rPr lang="en-US" sz="1200" b="0" kern="1200">
                <a:solidFill>
                  <a:schemeClr val="tx1"/>
                </a:solidFill>
                <a:effectLst/>
                <a:latin typeface="Arial" charset="0"/>
                <a:ea typeface="+mn-ea"/>
                <a:cs typeface="+mn-cs"/>
              </a:rPr>
              <a:t>La date de l'année &lt; 90 signifie l'année du 21e siècle (ce siècle).</a:t>
            </a:r>
          </a:p>
          <a:p>
            <a:pPr lvl="0"/>
            <a:r>
              <a:rPr lang="en-US" sz="1200" b="0" kern="1200">
                <a:solidFill>
                  <a:schemeClr val="tx1"/>
                </a:solidFill>
                <a:effectLst/>
                <a:latin typeface="Arial" charset="0"/>
                <a:ea typeface="+mn-ea"/>
                <a:cs typeface="+mn-cs"/>
              </a:rPr>
              <a:t>Le codage couvre donc les années entre 1990 et 2089.</a:t>
            </a:r>
          </a:p>
          <a:p>
            <a:pPr lvl="0"/>
            <a:r>
              <a:rPr lang="en-US" sz="1200" b="0" kern="1200">
                <a:solidFill>
                  <a:schemeClr val="tx1"/>
                </a:solidFill>
                <a:effectLst/>
                <a:latin typeface="Arial" charset="0"/>
                <a:ea typeface="+mn-ea"/>
                <a:cs typeface="+mn-cs"/>
              </a:rPr>
              <a:t>Exemple :</a:t>
            </a:r>
          </a:p>
          <a:p>
            <a:pPr marL="171450" lvl="0" indent="-171450">
              <a:buFont typeface="Arial" panose="020B0604020202020204" pitchFamily="34" charset="0"/>
              <a:buChar char="•"/>
            </a:pPr>
            <a:r>
              <a:rPr lang="en-US" sz="1200" b="0" kern="1200">
                <a:solidFill>
                  <a:schemeClr val="tx1"/>
                </a:solidFill>
                <a:effectLst/>
                <a:latin typeface="Arial" charset="0"/>
                <a:ea typeface="+mn-ea"/>
                <a:cs typeface="+mn-cs"/>
              </a:rPr>
              <a:t>YYYYYYY = 99d égale à 1999</a:t>
            </a:r>
          </a:p>
          <a:p>
            <a:pPr marL="171450" lvl="0" indent="-171450">
              <a:buFont typeface="Arial" panose="020B0604020202020204" pitchFamily="34" charset="0"/>
              <a:buChar char="•"/>
            </a:pPr>
            <a:r>
              <a:rPr lang="en-US" sz="1200" b="0" kern="1200">
                <a:solidFill>
                  <a:schemeClr val="tx1"/>
                </a:solidFill>
                <a:effectLst/>
                <a:latin typeface="Arial" charset="0"/>
                <a:ea typeface="+mn-ea"/>
                <a:cs typeface="+mn-cs"/>
              </a:rPr>
              <a:t>YYYYYYY = 0d égale à 2000</a:t>
            </a:r>
          </a:p>
          <a:p>
            <a:pPr marL="171450" lvl="0" indent="-171450">
              <a:buFont typeface="Arial" panose="020B0604020202020204" pitchFamily="34" charset="0"/>
              <a:buChar char="•"/>
            </a:pPr>
            <a:r>
              <a:rPr lang="en-US" sz="1200" b="0" kern="1200">
                <a:solidFill>
                  <a:schemeClr val="tx1"/>
                </a:solidFill>
                <a:effectLst/>
                <a:latin typeface="Arial" charset="0"/>
                <a:ea typeface="+mn-ea"/>
                <a:cs typeface="+mn-cs"/>
              </a:rPr>
              <a:t>YYYYYYY = 4d égale à 2004</a:t>
            </a:r>
          </a:p>
          <a:p>
            <a:pPr lvl="0"/>
            <a:endParaRPr lang="en-U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Type de point de données Date</a:t>
            </a:r>
          </a:p>
          <a:p>
            <a:pPr lvl="0"/>
            <a:endParaRPr lang="en-US" sz="1200"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Types de points de données V8 - Valeur relative signée</a:t>
            </a: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477586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Date et Heure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DPT 19.001 est défini pour transmettre la date et l'heure de la journée.</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Le type Datapoint combine et étend les DPT_TimeOfDay (10.001) et DPT_Date (11.001) et a une taille de 8 octets.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ce type de point de données, l'année est codée comme un byte non signé et calculée comme un décalage à l'année 1900. La période comprise entre 1900 et 2155 est donc couverte par ce type de point de données.</a:t>
            </a:r>
            <a:endParaRPr lang="es-ES" sz="1200" kern="1200" dirty="0">
              <a:solidFill>
                <a:schemeClr val="tx1"/>
              </a:solidFill>
              <a:effectLst/>
              <a:latin typeface="Arial" charset="0"/>
              <a:ea typeface="+mn-ea"/>
              <a:cs typeface="+mn-cs"/>
            </a:endParaRPr>
          </a:p>
          <a:p>
            <a:pPr lvl="0"/>
            <a:br>
              <a:rPr lang="en-GB" sz="1200" b="1" kern="1200" dirty="0">
                <a:solidFill>
                  <a:schemeClr val="tx1"/>
                </a:solidFill>
                <a:effectLst/>
                <a:latin typeface="Arial" charset="0"/>
                <a:ea typeface="+mn-ea"/>
                <a:cs typeface="+mn-cs"/>
              </a:rPr>
            </a:br>
            <a:r>
              <a:rPr lang="en-GB" sz="1200" b="1" kern="1200">
                <a:solidFill>
                  <a:schemeClr val="tx1"/>
                </a:solidFill>
                <a:effectLst/>
                <a:latin typeface="Arial" charset="0"/>
                <a:ea typeface="+mn-ea"/>
                <a:cs typeface="+mn-cs"/>
              </a:rPr>
              <a:t>Type de point de données Heure et Date</a:t>
            </a:r>
          </a:p>
          <a:p>
            <a:pPr lvl="0"/>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1645483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Date et Heure</a:t>
            </a:r>
          </a:p>
          <a:p>
            <a:pPr lvl="0"/>
            <a:r>
              <a:rPr lang="en-GB" sz="1200" b="1" kern="1200">
                <a:solidFill>
                  <a:schemeClr val="tx1"/>
                </a:solidFill>
                <a:effectLst/>
                <a:latin typeface="Arial" charset="0"/>
                <a:ea typeface="+mn-ea"/>
                <a:cs typeface="+mn-cs"/>
              </a:rPr>
              <a:t>Commentaires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Champ Année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L'année est codée sur 8 bits au lieu de 7 bits comme dans DPT_Date.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Champ horaire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codage de l'heure se situe dans la plage[0...24] au lieu de[0...23].</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Lorsque l'heure est réglée sur " 24 ", les valeurs de l'octet 3 (minutes) et 2 (secondes) doivent être mises à zéro. Les messages dont les valeurs sont invalides ( "Hour = 24 ", Minutes et Secondes non nulles) doivent être ignorés par le destinataire.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De cette façon, il est possible d'utiliser ce Type de point de données pour coder, par exemple, des programmes de planification. Dans les programmes d'horaire journaliers, le code " fin de journée " est généralement codé comme 24:00:00:00 et non 23:59:59 ; sinon, il y aurait une "pause" de 1 s à minuit.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Sans la valeur 24:00:00:00 on ne peut pas faire la différence entre une période complète de 24 heures et une période de 0 heure.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Exemples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Un programme quotidien avec un niveau de confort de 24 h est codé comme "confort de départ: 00:00:00" et "fin de confort: 24:00:00".</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Un programme quotidien avec un niveau de confort de 0 h ( niveau d'économie toute la journée) est codé comme "début confort : 00:00:00" et "fin confort : 00:00:00" .</a:t>
            </a:r>
            <a:endParaRPr lang="es-ES" sz="1200" kern="1200" dirty="0">
              <a:solidFill>
                <a:schemeClr val="tx1"/>
              </a:solidFill>
              <a:effectLst/>
              <a:latin typeface="Arial" charset="0"/>
              <a:ea typeface="+mn-ea"/>
              <a:cs typeface="+mn-cs"/>
            </a:endParaRPr>
          </a:p>
          <a:p>
            <a:pPr lvl="3"/>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Champ défaut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"Défaut" est défini si un ou plusieurs champs supportés de l'information Date &amp; Heure sont corrompus. Ce n'est pas la même chose que lorsque les attributs NY, ND, NW etc. sont définis (dans ce cas, les champs correspondants ne sont pas supportés).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Défaut " est réglé par ex.</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Après la mise hors tension, si la batterie de secours de l'horloge n'était pas suffisante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Après la 1ère mise en service de l'appareil (horloge non configurée)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L'horloge radio (DCF 77) n'a pas reçu de réception depuis très longtemps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règle générale, l'appareil (producteur) efface automatiquement le " défaut " si l'horloge locale est réglée ou si les données de l'horloge sont rafraîchies par d'autres moyens (par exemple, réception d'un message d'horloge système, réception d'un message radio DCF 77, etc.)</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récepteur (par ex. l'interface utilisateur d'une unité d'ambiance) interprétera la date et l'heure avec "Défaut" comme étant corrompues et ignorera le message ou affichera --:--:--:-- ou clignotera 00:00:00 (comme connu des enregistreurs vidéo après mise sous tension).</a:t>
            </a:r>
          </a:p>
          <a:p>
            <a:endParaRPr lang="en-GB"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Champ SUTI</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SUTI n'est qu'un attribut d'information / visualisation. Dans le champ heure, la correction de l'heure d'été est déjà prise en compte. Par conséquent, aucun décalage horaire ne doit être ajouté par le récepteur si le SUTI est réglé.</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SUTI = 0 heure standard</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SUTI = 1 heure d'été </a:t>
            </a:r>
            <a:endParaRPr lang="es-ES" sz="1200" kern="1200" dirty="0">
              <a:solidFill>
                <a:schemeClr val="tx1"/>
              </a:solidFill>
              <a:effectLst/>
              <a:latin typeface="Arial" charset="0"/>
              <a:ea typeface="+mn-ea"/>
              <a:cs typeface="+mn-cs"/>
            </a:endParaRPr>
          </a:p>
          <a:p>
            <a:pPr lvl="3"/>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Champ NDoW</a:t>
            </a:r>
            <a:endParaRPr lang="es-ES" sz="1200" b="1"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NDoW = 1signifie que le champ ddd « Jour de la semaine» est invalide et que les informations ddd doivent être ignorées. Une Horloge qui ne prend pas en charge l'information sur le Jour de la Semaine doit régler NdoW = 1.</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NDoW = 0 et ddd = 0 signifie que le champ ddd est valide et que ddd est un caractère générique. Cette fonction d'encodage est conçue pour être utilisée, par exemple, dans les informations de planification.</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Champ CLQ</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Bit 7 du 1</a:t>
            </a:r>
            <a:r>
              <a:rPr lang="en-GB" sz="1200" kern="1200" baseline="30000">
                <a:solidFill>
                  <a:schemeClr val="tx1"/>
                </a:solidFill>
                <a:effectLst/>
                <a:latin typeface="Arial" charset="0"/>
                <a:ea typeface="+mn-ea"/>
                <a:cs typeface="+mn-cs"/>
              </a:rPr>
              <a:t>st</a:t>
            </a:r>
            <a:r>
              <a:rPr lang="en-GB" sz="1200" kern="1200">
                <a:solidFill>
                  <a:schemeClr val="tx1"/>
                </a:solidFill>
                <a:effectLst/>
                <a:latin typeface="Arial" charset="0"/>
                <a:ea typeface="+mn-ea"/>
                <a:cs typeface="+mn-cs"/>
              </a:rPr>
              <a:t> octets est utilisé pour "Qualité de l'horloge" bit (CLQ). Les autres bits de cet byte sont réservés pour des extensions futures. Leur valeur est égale à 0. Si ce type de point de données typeDatapoint est utilisé pour la transmission de données, les émetteurs doivent régler les 7 bits inférieurs sur 0. Les récepteurs doivent vérifier que ces bits sont à 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Encodage</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0 : Horloge sans signal de synchronisation externe.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L'appareil qui envoie les informations de date et d'heure dispose d'une horloge locale, qui peut cependant être inexacte ! </a:t>
            </a:r>
            <a:endParaRPr lang="es-ES" sz="1200" kern="1200" dirty="0">
              <a:solidFill>
                <a:schemeClr val="tx1"/>
              </a:solidFill>
              <a:effectLst/>
              <a:latin typeface="Arial" charset="0"/>
              <a:ea typeface="+mn-ea"/>
              <a:cs typeface="+mn-cs"/>
            </a:endParaRPr>
          </a:p>
          <a:p>
            <a:pPr lvl="0"/>
            <a:r>
              <a:rPr lang="en-GB" sz="1200" kern="1200">
                <a:solidFill>
                  <a:schemeClr val="tx1"/>
                </a:solidFill>
                <a:effectLst/>
                <a:latin typeface="Arial" charset="0"/>
                <a:ea typeface="+mn-ea"/>
                <a:cs typeface="+mn-cs"/>
              </a:rPr>
              <a:t>1 : Horloge avec un signal de synchronisation externe (comme DCF77, vidéotexte, etc.).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L'appareil qui envoie des informations de date et d'heure envoie des signaux qui sont synchronisés (de temps en temps) avec des informations de date et d'heure externes.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valeur par défaut est 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 même, une horloge synchronisée en externe doit envoyer CLQ = 0 après le démarrage (jusqu'à réception du premier signal de synchronisation) ou après un délai de synchronisation.</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2194297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4 Octets sans Signe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12.xxx est défini pour la transmission de valeurs de compteur non signées jusqu'à 4294967295. </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9258235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4 Octets avec Signe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DPT 13.xxx est défini pour la transmission de valeurs de compteur signées de -214748483648 à +214748363647, où les valeurs négatives sont transmises comme complément de 2. </a:t>
            </a:r>
            <a:endParaRPr lang="en-GB"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Valeur du compteur signé à 2 octet</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2579942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4 Octets Nombre à Virgule Flottante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DPT 14.xxx est défini pour les valeurs en virgule flottante avec une plus grande précision. Différents types de Points de données ont été définis en fonction des différentes variables physiques.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format de virgule flottante IEEE est utilisé conformément à la norme IEEE 754 de sorte que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des valeurs plus élevées que pour DPT 9.xxx peuvent être transférées,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la compatibilité avec les autres systèmes utilisant ce format est assurée.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79 types de Points de données différents ont été définis, dont certains sont donnés dans le paragraphe ci-dessous. </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920056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Contrôle d'Accès</a:t>
            </a:r>
          </a:p>
          <a:p>
            <a:pPr lvl="0"/>
            <a:r>
              <a:rPr lang="en-US" sz="1200" b="1" kern="1200">
                <a:solidFill>
                  <a:schemeClr val="tx1"/>
                </a:solidFill>
                <a:effectLst/>
                <a:latin typeface="Arial" charset="0"/>
                <a:ea typeface="+mn-ea"/>
                <a:cs typeface="+mn-cs"/>
              </a:rPr>
              <a:t>Informations générales</a:t>
            </a:r>
          </a:p>
          <a:p>
            <a:pPr lvl="0"/>
            <a:r>
              <a:rPr lang="en-US" sz="1200" b="0" kern="1200">
                <a:solidFill>
                  <a:schemeClr val="tx1"/>
                </a:solidFill>
                <a:effectLst/>
                <a:latin typeface="Arial" charset="0"/>
                <a:ea typeface="+mn-ea"/>
                <a:cs typeface="+mn-cs"/>
              </a:rPr>
              <a:t>DPT 15.000 est défini pour représenter ou enregistrer les procédures d'accès. </a:t>
            </a:r>
          </a:p>
          <a:p>
            <a:pPr lvl="0"/>
            <a:endParaRPr lang="en-U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Type de point de données  DPT_Access_Data</a:t>
            </a:r>
            <a:endParaRPr lang="en-U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4011726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Contrôle d'Accès</a:t>
            </a:r>
          </a:p>
          <a:p>
            <a:pPr lvl="0"/>
            <a:endParaRPr lang="en-GB"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EXEMPLE 1 : Transmission du code d’identification d’accès « 123456 », sans indication d’erreur, autorisation acceptée, badge lu de gauche à droite, pas de cryptage et d’index 13.</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14649638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Chaîne de Caractères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transférer des chaînes de caractères, les types de points de données 16.000 et 16.001 permettent d'envoyer du texte jusqu'à 14 caractères. Le codage des différents caractères correspond aux types de points de données 4.001 et 4.002. Dans les deux cas, le contenu commence par le MSB. </a:t>
            </a:r>
          </a:p>
          <a:p>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existe deux types de données : DPT 16.001 (DPT_String_ASCII – les caractères non utilisés sont à 00h) et DPT 16.002 (DPT_String_8859_1).</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1022433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Contrôle de Scène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KNX trois approches différentes existent pour mettre en scène des scènes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Réglage des conditions de scène via les paramètres ETS et appel de la scène paramétrée souhaitée à l'aide du type DPT_Scene_AB (1.022) 1 bit de Points de données. Dans ce cas, il n'est pas possible que l'utilisateur change de scène.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Réglez les conditions de scène des actionneurs raccordés et enregistrer cette scène comme numéro de scène dans les actionneurs raccordés en utilisant le DPT_Scene_Control. Avec le même DPT, des scènes peuvent ainsi être réglées et appelées.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En utilisant le DPT_SceneNumber : ce DPT est identique au DPT_Scene_Control, mais il ne permet pas de stocker de nouvelles scènes. </a:t>
            </a:r>
            <a:endParaRPr lang="es-ES" sz="1200" kern="1200" dirty="0">
              <a:solidFill>
                <a:schemeClr val="tx1"/>
              </a:solidFill>
              <a:effectLst/>
              <a:latin typeface="Arial" charset="0"/>
              <a:ea typeface="+mn-ea"/>
              <a:cs typeface="+mn-cs"/>
            </a:endParaRPr>
          </a:p>
          <a:p>
            <a:pPr lvl="2"/>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 de Pointde données Numéro de Scène</a:t>
            </a: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Type de point de données DPT_SceneControl</a:t>
            </a:r>
            <a:endParaRPr lang="es-ES" sz="1200" b="1"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1353170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Types courants de Points de données HVAC</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les développements précédents, le mode de fonctionnement du thermostat d'ambiance était réglé par des types de Points de données à un bit.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Depuis quelques années, un nouveau mode DPT_HVACMode général a été introduit, dont l'utilisation est devenue obligatoire pour les nouveaux développements. Le mode de fonctionnement peut en outre être réglé par des DPT sur un bit.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outre, un certain nombre d'énumérations ont été normalisées, notamment en ce qui concerne l'occupation des bâtiments et le mode de construction.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Les thermostats d'ambiance informent sur leur état avec le mode DPT_HVACContrMode standardisé.</a:t>
            </a: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1470126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Combinaison de DPT dans des dispositifs</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deux types d'appareils très courants, la combinaison des DPT dans les appareils a été normalisée et est obligatoire pour la certification.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 normes appelées ' blocs fonctionnels ' sont respectivement le ' Servomoteur de gradation basic ' et le ' Actionneur de Store de base '. </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Bloc Fonctionnel - Actionneur de Gradation de Base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actionneur de gradation doit supporter par canal au moins trois objets de groupe conformes aux DTC indiqués ci-dessous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Interrupteur, DPT 1.001</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Gradation relative, DTC 3.007</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Gradation absolue, DPT 5.001</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Tous les autres objets de groupe sont facultatifs.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1067675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Actionneur de Gradation de Base - Diagramme d'État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de base de l'actionneur de gradation est décrite dans le diagramme d'état suivant.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actionneur de gradation peut se trouver dans l'un des trois états suivants - selon le(s) télégramme(s) qu'il reçoit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État</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Description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Arrêt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L'actionneur de gradation est désactivé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marche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L'actionneur de gradation est allumé,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au moins la luminosité la plus faible possible est réglée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Gradation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variateur est activé, la luminosité est réglée dans le sens de la consigne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passage d'un état à un autre est déclenché par des " événements ". Les événements incluent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Nom</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Signification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Commande OFF</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de commutation reçoit la valeur 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Commande 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de commutation reçoit la valeur 1</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Atténuation de l'intensité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de gradation reçoit une nouvelle valeur, direction de gradation vers le haut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Atténuation de l'intensité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de gradation reçoit une nouvelle valeur, direction de gradation vers le bas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Arrêt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de gradation reçoit la valeur ' Stop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Valeur de gradation OFF</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luminosité de l'objet reçoit la valeur 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Valeur de gradation x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luminosité de l'objet reçoit une valeur &gt; 0</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Valeur atteinte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luminosité a atteint le point de consigne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L'événement " Valeur atteinte " est un événement interne. Le fonctionnement du logiciel d'application d'un actionneur de gradation est illustré par le diagramme d'état suivant. Les ellipses représentent les états tandis que les flèches représentent les événements.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comportement est vérifié lors des tests de certification KNX.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4290685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Bloc Fonctionnel - Actionneur de Store de Base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fonction " Contrôle de l'Entraînement " est principalement utilisée pour la commande de moteurs de stores et de volets roulants.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actionneur de marquise solaire doit supporter au moins deux objets de groupe par canal, conformément aux DPT indiquées ci-dessous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Marche/Arrêt (DPT 1.007)</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Haut/Bas (DPT 1.008)</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Tous les autres objets de groupe sont facultatifs.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Important : </a:t>
            </a:r>
            <a:r>
              <a:rPr lang="en-GB" sz="1200" kern="1200">
                <a:solidFill>
                  <a:schemeClr val="tx1"/>
                </a:solidFill>
                <a:effectLst/>
                <a:latin typeface="Arial" charset="0"/>
                <a:ea typeface="+mn-ea"/>
                <a:cs typeface="+mn-cs"/>
              </a:rPr>
              <a:t>Grouper les objets</a:t>
            </a:r>
            <a:r>
              <a:rPr lang="en-GB" sz="1200" b="1"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utilisant cette fonction ne doit pas répondre à des requêtes de lecture via le bus (Messages de lecture de la valeur du groupe). Cette restriction garantit que les entraînements ne sont pas mis en mouvement par inadvertance. Le drapeau READ des objets de groupe doit donc être réinitialisé ! Ceci s'applique aussi bien aux capteurs AND qu'aux actionneurs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les appareils ne sont pas du type BCU 1, ce qui précède n'est pas nécessaire, à condition que le témoin de mise à jour dans les objets de groupe correspondants ne soit pas activé.</a:t>
            </a:r>
            <a:endParaRPr lang="es-ES" sz="1200" kern="1200" dirty="0">
              <a:solidFill>
                <a:schemeClr val="tx1"/>
              </a:solidFill>
              <a:effectLst/>
              <a:latin typeface="Arial" charset="0"/>
              <a:ea typeface="+mn-ea"/>
              <a:cs typeface="+mn-cs"/>
            </a:endParaRPr>
          </a:p>
          <a:p>
            <a:br>
              <a:rPr lang="en-GB" sz="11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Ce comportement est vérifié lors des tests de certification KNX. </a:t>
            </a:r>
          </a:p>
          <a:p>
            <a:endParaRPr lang="en-GB" sz="1200" kern="1200" dirty="0">
              <a:solidFill>
                <a:schemeClr val="tx1"/>
              </a:solidFill>
              <a:effectLst/>
              <a:latin typeface="Arial" charset="0"/>
              <a:ea typeface="+mn-ea"/>
              <a:cs typeface="+mn-cs"/>
            </a:endParaRPr>
          </a:p>
          <a:p>
            <a:pPr lvl="2"/>
            <a:r>
              <a:rPr lang="en-GB" sz="1200" b="1" kern="1200">
                <a:solidFill>
                  <a:schemeClr val="tx1"/>
                </a:solidFill>
                <a:effectLst/>
                <a:latin typeface="Arial" charset="0"/>
                <a:ea typeface="+mn-ea"/>
                <a:cs typeface="+mn-cs"/>
              </a:rPr>
              <a:t>Actionneur de Stores de Base - Diagramme d'État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actionneur pour la commande de stores et de volets roulants peut se trouver dans l'un des quatre états suivants, selon le type de télégramme(s) reçu(s)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État</a:t>
            </a:r>
            <a:endParaRPr lang="es-ES" sz="16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Description</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Stoppé</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Pas de mouvement</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mouvement</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L'entraînement raccordé se déplace vers le haut ou vers le bas</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Étape VERS LE HAUT</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variateur est en mode pas à pas et se déplace d'un pas vers le haut</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Étape VERS LE BAS</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variateur est en mode pas à pas et est déplacé d'un pas vers le bas</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(Selon le type d'application, il est bien entendu possible de déclarer d'autres directions de mouvement que celles mentionnées ci-dessus, e. . à droite/gauche ou avant/arrière.</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Exemple : porte glissante entraînée par le moteur.)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événements suivants déclenchent le passage d'un statut à un autre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Nom</a:t>
            </a:r>
            <a:endParaRPr lang="es-ES" sz="1600" kern="1200" dirty="0">
              <a:solidFill>
                <a:schemeClr val="tx1"/>
              </a:solidFill>
              <a:effectLst/>
              <a:latin typeface="Arial" charset="0"/>
              <a:ea typeface="+mn-ea"/>
              <a:cs typeface="+mn-cs"/>
            </a:endParaRPr>
          </a:p>
          <a:p>
            <a:r>
              <a:rPr lang="en-GB" sz="1200" b="1" i="1" kern="1200">
                <a:solidFill>
                  <a:schemeClr val="tx1"/>
                </a:solidFill>
                <a:effectLst/>
                <a:latin typeface="Arial" charset="0"/>
                <a:ea typeface="+mn-ea"/>
                <a:cs typeface="+mn-cs"/>
              </a:rPr>
              <a:t>Signification</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Déplacement vers le HAUT</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Déplacement de l'objet qui reçoit la valeur '0'</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Déplacement vers le BAS</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Déplacement de l'objet qui reçoit la valeur '1'</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Étape VERS LE HAUT</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pas à pas reçoit la valeur '0'</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Étape VERS LE BAS</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L'objet étape reçoit la valeur '1'</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Temps écoulé</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délai défini pour le mouvement d'une étape ou pour l'ensemble des mouvements est écoulé.</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L'événement ' Temps écoulé ' est un événement interne. Le fonctionnement d'un actionneur pour la commande de stores et de volets roulants est illustré par le diagramme d'état suivant. Les ellipses représentent les états alors que les flèches indiquent les événements. Ce comportement est vérifié lors des tests de certification KNX.</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lvl="0"/>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4028032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0.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34.xml"/><Relationship Id="rId1" Type="http://schemas.openxmlformats.org/officeDocument/2006/relationships/slideLayout" Target="../slideLayouts/slideLayout10.xml"/><Relationship Id="rId4" Type="http://schemas.openxmlformats.org/officeDocument/2006/relationships/image" Target="../media/image34.emf"/></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35.xml"/><Relationship Id="rId1" Type="http://schemas.openxmlformats.org/officeDocument/2006/relationships/slideLayout" Target="../slideLayouts/slideLayout10.xml"/><Relationship Id="rId4" Type="http://schemas.openxmlformats.org/officeDocument/2006/relationships/image" Target="../media/image3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a:t>COURS AVANCÉ KNX</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en-GB" sz="2400" dirty="0" err="1"/>
              <a:t>L'interopérabilité</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Introduction</a:t>
            </a:r>
          </a:p>
        </p:txBody>
      </p:sp>
      <p:sp>
        <p:nvSpPr>
          <p:cNvPr id="4" name="Content Placeholder 1">
            <a:extLst>
              <a:ext uri="{FF2B5EF4-FFF2-40B4-BE49-F238E27FC236}">
                <a16:creationId xmlns:a16="http://schemas.microsoft.com/office/drawing/2014/main" id="{538A7ABA-4547-437A-BFFC-9D47001B09A4}"/>
              </a:ext>
            </a:extLst>
          </p:cNvPr>
          <p:cNvSpPr txBox="1">
            <a:spLocks/>
          </p:cNvSpPr>
          <p:nvPr/>
        </p:nvSpPr>
        <p:spPr>
          <a:xfrm>
            <a:off x="971600" y="1412875"/>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s-ES" sz="2000" kern="0">
                <a:ea typeface="Open Sans" panose="020B0606030504020204" pitchFamily="34" charset="0"/>
                <a:cs typeface="Open Sans" panose="020B0606030504020204" pitchFamily="34" charset="0"/>
              </a:rPr>
              <a:t>KNXA</a:t>
            </a:r>
            <a:r>
              <a:rPr lang="es-ES" sz="2000" kern="0">
                <a:solidFill>
                  <a:schemeClr val="bg2">
                    <a:lumMod val="10000"/>
                  </a:schemeClr>
                </a:solidFill>
                <a:ea typeface="Open Sans" panose="020B0606030504020204" pitchFamily="34" charset="0"/>
                <a:cs typeface="Open Sans" panose="020B0606030504020204" pitchFamily="34" charset="0"/>
              </a:rPr>
              <a:t> </a:t>
            </a:r>
            <a:r>
              <a:rPr lang="en-GB" sz="2000" kern="1200">
                <a:solidFill>
                  <a:schemeClr val="tx1"/>
                </a:solidFill>
                <a:latin typeface="Arial" charset="0"/>
              </a:rPr>
              <a:t>s'occupe de la </a:t>
            </a:r>
            <a:r>
              <a:rPr lang="en-GB" sz="2000" kern="1200">
                <a:latin typeface="Arial" charset="0"/>
              </a:rPr>
              <a:t>normalisation </a:t>
            </a:r>
            <a:r>
              <a:rPr lang="en-GB" sz="2000" kern="1200">
                <a:solidFill>
                  <a:schemeClr val="tx1"/>
                </a:solidFill>
                <a:latin typeface="Arial" charset="0"/>
              </a:rPr>
              <a:t>du protocole et édicte </a:t>
            </a:r>
            <a:r>
              <a:rPr lang="en-GB" sz="2000" kern="1200">
                <a:latin typeface="Arial" charset="0"/>
              </a:rPr>
              <a:t>des règles d'encodage </a:t>
            </a:r>
            <a:r>
              <a:rPr lang="en-GB" sz="2000" kern="1200">
                <a:solidFill>
                  <a:schemeClr val="tx1"/>
                </a:solidFill>
                <a:latin typeface="Arial" charset="0"/>
              </a:rPr>
              <a:t> des données utiles à l'intérieur des télégrammes</a:t>
            </a:r>
            <a:r>
              <a:rPr lang="es-ES" sz="2000" kern="0">
                <a:solidFill>
                  <a:schemeClr val="bg2">
                    <a:lumMod val="10000"/>
                  </a:schemeClr>
                </a:solidFill>
                <a:ea typeface="Open Sans" panose="020B0606030504020204" pitchFamily="34" charset="0"/>
                <a:cs typeface="Open Sans" panose="020B0606030504020204" pitchFamily="34" charset="0"/>
              </a:rPr>
              <a:t> </a:t>
            </a:r>
          </a:p>
          <a:p>
            <a:endParaRPr lang="es-ES" sz="2000" kern="0" dirty="0">
              <a:solidFill>
                <a:schemeClr val="bg2">
                  <a:lumMod val="10000"/>
                </a:schemeClr>
              </a:solidFill>
              <a:ea typeface="Open Sans" panose="020B0606030504020204" pitchFamily="34" charset="0"/>
              <a:cs typeface="Open Sans" panose="020B0606030504020204" pitchFamily="34" charset="0"/>
            </a:endParaRPr>
          </a:p>
          <a:p>
            <a:r>
              <a:rPr lang="en-US" sz="2000" kern="0">
                <a:solidFill>
                  <a:schemeClr val="bg2">
                    <a:lumMod val="10000"/>
                  </a:schemeClr>
                </a:solidFill>
                <a:ea typeface="Open Sans" panose="020B0606030504020204" pitchFamily="34" charset="0"/>
                <a:cs typeface="Open Sans" panose="020B0606030504020204" pitchFamily="34" charset="0"/>
              </a:rPr>
              <a:t>Les types de données les plus communs sont standardisés au niveau européen et intégrés dans la série </a:t>
            </a:r>
            <a:r>
              <a:rPr lang="en-US" sz="2000" kern="0">
                <a:ea typeface="Open Sans" panose="020B0606030504020204" pitchFamily="34" charset="0"/>
                <a:cs typeface="Open Sans" panose="020B0606030504020204" pitchFamily="34" charset="0"/>
              </a:rPr>
              <a:t>EN 50090 comme Partie 3-3</a:t>
            </a:r>
            <a:endParaRPr lang="en-US" sz="2000" kern="0" dirty="0">
              <a:solidFill>
                <a:schemeClr val="bg2">
                  <a:lumMod val="10000"/>
                </a:schemeClr>
              </a:solidFill>
              <a:ea typeface="Open Sans" panose="020B0606030504020204" pitchFamily="34" charset="0"/>
              <a:cs typeface="Open Sans" panose="020B0606030504020204" pitchFamily="34" charset="0"/>
            </a:endParaRPr>
          </a:p>
          <a:p>
            <a:endParaRPr lang="en-US" sz="2000" kern="0" dirty="0">
              <a:solidFill>
                <a:schemeClr val="bg2">
                  <a:lumMod val="10000"/>
                </a:schemeClr>
              </a:solidFill>
              <a:ea typeface="Open Sans" panose="020B0606030504020204" pitchFamily="34" charset="0"/>
              <a:cs typeface="Open Sans" panose="020B0606030504020204" pitchFamily="34" charset="0"/>
            </a:endParaRPr>
          </a:p>
          <a:p>
            <a:r>
              <a:rPr lang="en-GB" sz="2000" kern="1200">
                <a:latin typeface="Arial" charset="0"/>
              </a:rPr>
              <a:t>Les formats standardisés </a:t>
            </a:r>
            <a:r>
              <a:rPr lang="en-GB" sz="2000" kern="1200">
                <a:solidFill>
                  <a:schemeClr val="tx1"/>
                </a:solidFill>
                <a:latin typeface="Arial" charset="0"/>
              </a:rPr>
              <a:t>pour les fonctions sont </a:t>
            </a:r>
            <a:r>
              <a:rPr lang="en-GB" sz="2000" kern="1200">
                <a:latin typeface="Arial" charset="0"/>
              </a:rPr>
              <a:t>obligatoires pour la certification</a:t>
            </a:r>
            <a:r>
              <a:rPr lang="en-GB" sz="2000" kern="1200">
                <a:solidFill>
                  <a:schemeClr val="tx1"/>
                </a:solidFill>
                <a:latin typeface="Arial" charset="0"/>
              </a:rPr>
              <a:t>. La conformité au format est vérifiée lors des </a:t>
            </a:r>
            <a:r>
              <a:rPr lang="en-GB" sz="2000" kern="1200">
                <a:latin typeface="Arial" charset="0"/>
              </a:rPr>
              <a:t>tests d'interopérabilité KNX </a:t>
            </a:r>
            <a:r>
              <a:rPr lang="en-GB" sz="2000" kern="1200">
                <a:solidFill>
                  <a:schemeClr val="tx1"/>
                </a:solidFill>
                <a:latin typeface="Arial" charset="0"/>
              </a:rPr>
              <a:t>effectués par les laboratoires de test accrédités KNX</a:t>
            </a:r>
            <a:endParaRPr lang="es-ES" sz="2000" kern="1200" dirty="0">
              <a:solidFill>
                <a:schemeClr val="tx1"/>
              </a:solidFill>
              <a:latin typeface="Arial" charset="0"/>
            </a:endParaRP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Avantages de l'Interfonctionnement</a:t>
            </a:r>
          </a:p>
        </p:txBody>
      </p:sp>
      <p:sp>
        <p:nvSpPr>
          <p:cNvPr id="4" name="Content Placeholder 1">
            <a:extLst>
              <a:ext uri="{FF2B5EF4-FFF2-40B4-BE49-F238E27FC236}">
                <a16:creationId xmlns:a16="http://schemas.microsoft.com/office/drawing/2014/main" id="{EB693853-05CC-4DA9-A27C-61170ED90CEE}"/>
              </a:ext>
            </a:extLst>
          </p:cNvPr>
          <p:cNvSpPr txBox="1">
            <a:spLocks/>
          </p:cNvSpPr>
          <p:nvPr/>
        </p:nvSpPr>
        <p:spPr>
          <a:xfrm>
            <a:off x="971600" y="1412875"/>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a:solidFill>
                  <a:schemeClr val="tx1"/>
                </a:solidFill>
                <a:ea typeface="Open Sans" panose="020B0606030504020204" pitchFamily="34" charset="0"/>
                <a:cs typeface="Open Sans" panose="020B0606030504020204" pitchFamily="34" charset="0"/>
              </a:rPr>
              <a:t>Lorsqu'une ligne de produit A est défectueuse mais que le fabricant A a interrompu la ligne de produit l'utilisateur final peut trouver un </a:t>
            </a:r>
            <a:r>
              <a:rPr lang="en-US" sz="2000" kern="0">
                <a:ea typeface="Open Sans" panose="020B0606030504020204" pitchFamily="34" charset="0"/>
                <a:cs typeface="Open Sans" panose="020B0606030504020204" pitchFamily="34" charset="0"/>
              </a:rPr>
              <a:t>remplacement </a:t>
            </a:r>
            <a:r>
              <a:rPr lang="en-US" sz="2000" kern="0">
                <a:solidFill>
                  <a:schemeClr val="tx1"/>
                </a:solidFill>
                <a:ea typeface="Open Sans" panose="020B0606030504020204" pitchFamily="34" charset="0"/>
                <a:cs typeface="Open Sans" panose="020B0606030504020204" pitchFamily="34" charset="0"/>
              </a:rPr>
              <a:t>chez le fabricant B</a:t>
            </a:r>
            <a:endParaRPr lang="es-ES" sz="2000" kern="0" dirty="0">
              <a:solidFill>
                <a:schemeClr val="tx1"/>
              </a:solidFill>
              <a:ea typeface="Open Sans" panose="020B0606030504020204" pitchFamily="34" charset="0"/>
              <a:cs typeface="Open Sans" panose="020B0606030504020204" pitchFamily="34" charset="0"/>
            </a:endParaRPr>
          </a:p>
          <a:p>
            <a:endParaRPr lang="es-ES" sz="2400" kern="0" dirty="0">
              <a:solidFill>
                <a:schemeClr val="tx1"/>
              </a:solidFill>
              <a:ea typeface="Open Sans" panose="020B0606030504020204" pitchFamily="34" charset="0"/>
              <a:cs typeface="Open Sans" panose="020B0606030504020204" pitchFamily="34" charset="0"/>
            </a:endParaRPr>
          </a:p>
          <a:p>
            <a:r>
              <a:rPr lang="en-US" sz="2000" kern="0">
                <a:solidFill>
                  <a:schemeClr val="tx1"/>
                </a:solidFill>
                <a:ea typeface="Open Sans" panose="020B0606030504020204" pitchFamily="34" charset="0"/>
                <a:cs typeface="Open Sans" panose="020B0606030504020204" pitchFamily="34" charset="0"/>
              </a:rPr>
              <a:t>Marché OEM : ce que le fabricant A ne produit pas lui-même, il peut le trouver chez un autre fabricant de HBES et </a:t>
            </a:r>
            <a:r>
              <a:rPr lang="en-US" sz="2000" kern="0">
                <a:ea typeface="Open Sans" panose="020B0606030504020204" pitchFamily="34" charset="0"/>
                <a:cs typeface="Open Sans" panose="020B0606030504020204" pitchFamily="34" charset="0"/>
              </a:rPr>
              <a:t>réétiqueter les produits </a:t>
            </a:r>
            <a:r>
              <a:rPr lang="en-US" sz="2000" kern="0">
                <a:solidFill>
                  <a:schemeClr val="tx1"/>
                </a:solidFill>
                <a:ea typeface="Open Sans" panose="020B0606030504020204" pitchFamily="34" charset="0"/>
                <a:cs typeface="Open Sans" panose="020B0606030504020204" pitchFamily="34" charset="0"/>
              </a:rPr>
              <a:t>qu'il achète au fabricant A</a:t>
            </a: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a:ea typeface="Open Sans" panose="020B0606030504020204" pitchFamily="34" charset="0"/>
                <a:cs typeface="Open Sans" panose="020B0606030504020204" pitchFamily="34" charset="0"/>
              </a:rPr>
              <a:t>Tous les produits de tous les fabricants peuvent être liés </a:t>
            </a:r>
            <a:r>
              <a:rPr lang="en-US" sz="2000" kern="0">
                <a:solidFill>
                  <a:schemeClr val="tx1"/>
                </a:solidFill>
                <a:ea typeface="Open Sans" panose="020B0606030504020204" pitchFamily="34" charset="0"/>
                <a:cs typeface="Open Sans" panose="020B0606030504020204" pitchFamily="34" charset="0"/>
              </a:rPr>
              <a:t>à une installation fonctionnelle est la pierre angulaire de l'approche de l'outil de configuration unique (ETS) KNX</a:t>
            </a:r>
          </a:p>
          <a:p>
            <a:endParaRPr lang="en-US" sz="2000" kern="0" dirty="0">
              <a:solidFill>
                <a:schemeClr val="tx1"/>
              </a:solidFill>
              <a:ea typeface="Open Sans" panose="020B0606030504020204" pitchFamily="34" charset="0"/>
              <a:cs typeface="Open Sans" panose="020B0606030504020204" pitchFamily="34" charset="0"/>
            </a:endParaRPr>
          </a:p>
          <a:p>
            <a:r>
              <a:rPr lang="en-US" sz="2000" kern="0">
                <a:solidFill>
                  <a:schemeClr val="tx1"/>
                </a:solidFill>
                <a:ea typeface="Open Sans" panose="020B0606030504020204" pitchFamily="34" charset="0"/>
                <a:cs typeface="Open Sans" panose="020B0606030504020204" pitchFamily="34" charset="0"/>
              </a:rPr>
              <a:t>KNX </a:t>
            </a:r>
            <a:r>
              <a:rPr lang="en-US" sz="2000" kern="0">
                <a:ea typeface="Open Sans" panose="020B0606030504020204" pitchFamily="34" charset="0"/>
                <a:cs typeface="Open Sans" panose="020B0606030504020204" pitchFamily="34" charset="0"/>
              </a:rPr>
              <a:t>programme de formation standardisé mondial</a:t>
            </a:r>
            <a:r>
              <a:rPr lang="en-US" sz="2000" kern="0">
                <a:solidFill>
                  <a:schemeClr val="tx1"/>
                </a:solidFill>
                <a:ea typeface="Open Sans" panose="020B0606030504020204" pitchFamily="34" charset="0"/>
                <a:cs typeface="Open Sans" panose="020B0606030504020204" pitchFamily="34" charset="0"/>
              </a:rPr>
              <a:t> </a:t>
            </a:r>
          </a:p>
          <a:p>
            <a:endParaRPr lang="en-US" sz="2000" kern="0" dirty="0">
              <a:solidFill>
                <a:schemeClr val="tx1"/>
              </a:solidFill>
              <a:ea typeface="Open Sans" panose="020B0606030504020204" pitchFamily="34" charset="0"/>
              <a:cs typeface="Open Sans" panose="020B0606030504020204" pitchFamily="34" charset="0"/>
            </a:endParaRPr>
          </a:p>
          <a:p>
            <a:endParaRPr lang="en-US" sz="20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07665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549622"/>
            <a:ext cx="6480175" cy="719138"/>
          </a:xfrm>
        </p:spPr>
        <p:txBody>
          <a:bodyPr/>
          <a:lstStyle/>
          <a:p>
            <a:r>
              <a:rPr lang="en-GB" sz="2400" dirty="0" err="1"/>
              <a:t>Principes</a:t>
            </a:r>
            <a:r>
              <a:rPr lang="en-GB" sz="2400" dirty="0"/>
              <a:t> de </a:t>
            </a:r>
            <a:r>
              <a:rPr lang="en-GB" sz="2400" dirty="0" err="1"/>
              <a:t>l'Interfonctionnement</a:t>
            </a:r>
            <a:r>
              <a:rPr lang="en-GB" sz="2400" dirty="0"/>
              <a:t> de KNX</a:t>
            </a:r>
          </a:p>
        </p:txBody>
      </p:sp>
      <p:pic>
        <p:nvPicPr>
          <p:cNvPr id="2" name="Picture 1">
            <a:extLst>
              <a:ext uri="{FF2B5EF4-FFF2-40B4-BE49-F238E27FC236}">
                <a16:creationId xmlns:a16="http://schemas.microsoft.com/office/drawing/2014/main" id="{E850A26B-4B32-4E60-862C-FD222690AD30}"/>
              </a:ext>
            </a:extLst>
          </p:cNvPr>
          <p:cNvPicPr>
            <a:picLocks noChangeAspect="1"/>
          </p:cNvPicPr>
          <p:nvPr/>
        </p:nvPicPr>
        <p:blipFill>
          <a:blip r:embed="rId3"/>
          <a:stretch>
            <a:fillRect/>
          </a:stretch>
        </p:blipFill>
        <p:spPr>
          <a:xfrm>
            <a:off x="1634934" y="3449615"/>
            <a:ext cx="6429375" cy="3009900"/>
          </a:xfrm>
          <a:prstGeom prst="rect">
            <a:avLst/>
          </a:prstGeom>
        </p:spPr>
      </p:pic>
      <p:sp>
        <p:nvSpPr>
          <p:cNvPr id="4" name="Rectangle 3">
            <a:extLst>
              <a:ext uri="{FF2B5EF4-FFF2-40B4-BE49-F238E27FC236}">
                <a16:creationId xmlns:a16="http://schemas.microsoft.com/office/drawing/2014/main" id="{6F6513DB-9FCF-482B-A034-5C4FB9D46DC4}"/>
              </a:ext>
            </a:extLst>
          </p:cNvPr>
          <p:cNvSpPr/>
          <p:nvPr/>
        </p:nvSpPr>
        <p:spPr>
          <a:xfrm>
            <a:off x="878772" y="1268760"/>
            <a:ext cx="7941700" cy="3170099"/>
          </a:xfrm>
          <a:prstGeom prst="rect">
            <a:avLst/>
          </a:prstGeom>
        </p:spPr>
        <p:txBody>
          <a:bodyPr wrap="square">
            <a:spAutoFit/>
          </a:bodyPr>
          <a:lstStyle/>
          <a:p>
            <a:r>
              <a:rPr lang="en-US" sz="2000" b="1" dirty="0">
                <a:cs typeface="+mn-cs"/>
              </a:rPr>
              <a:t>Les </a:t>
            </a:r>
            <a:r>
              <a:rPr lang="en-US" sz="2000" b="1" dirty="0" err="1">
                <a:cs typeface="+mn-cs"/>
              </a:rPr>
              <a:t>groupes</a:t>
            </a:r>
            <a:r>
              <a:rPr lang="en-US" sz="2000" b="1" dirty="0">
                <a:cs typeface="+mn-cs"/>
              </a:rPr>
              <a:t> </a:t>
            </a:r>
            <a:r>
              <a:rPr lang="en-US" sz="2000" b="1" dirty="0" err="1">
                <a:cs typeface="+mn-cs"/>
              </a:rPr>
              <a:t>d'objets</a:t>
            </a:r>
            <a:r>
              <a:rPr lang="en-US" sz="2000" b="1" dirty="0">
                <a:cs typeface="+mn-cs"/>
              </a:rPr>
              <a:t> KNX </a:t>
            </a:r>
            <a:r>
              <a:rPr lang="en-US" sz="2000" b="1" dirty="0" err="1">
                <a:cs typeface="+mn-cs"/>
              </a:rPr>
              <a:t>sont</a:t>
            </a:r>
            <a:r>
              <a:rPr lang="en-US" sz="2000" b="1" dirty="0">
                <a:cs typeface="+mn-cs"/>
              </a:rPr>
              <a:t> </a:t>
            </a:r>
            <a:r>
              <a:rPr lang="en-US" sz="2000" b="1" dirty="0" err="1">
                <a:cs typeface="+mn-cs"/>
              </a:rPr>
              <a:t>codés</a:t>
            </a:r>
            <a:r>
              <a:rPr lang="en-US" sz="2000" b="1" dirty="0">
                <a:cs typeface="+mn-cs"/>
              </a:rPr>
              <a:t> </a:t>
            </a:r>
            <a:r>
              <a:rPr lang="en-US" sz="2000" b="1" dirty="0" err="1">
                <a:cs typeface="+mn-cs"/>
              </a:rPr>
              <a:t>suivant</a:t>
            </a:r>
            <a:r>
              <a:rPr lang="en-US" sz="2000" b="1" dirty="0">
                <a:cs typeface="+mn-cs"/>
              </a:rPr>
              <a:t> </a:t>
            </a:r>
            <a:r>
              <a:rPr lang="en-US" sz="2000" b="1" dirty="0">
                <a:solidFill>
                  <a:srgbClr val="369226"/>
                </a:solidFill>
                <a:cs typeface="+mn-cs"/>
              </a:rPr>
              <a:t>les types de </a:t>
            </a:r>
            <a:r>
              <a:rPr lang="en-US" sz="2000" b="1" dirty="0" err="1">
                <a:solidFill>
                  <a:srgbClr val="369226"/>
                </a:solidFill>
                <a:cs typeface="+mn-cs"/>
              </a:rPr>
              <a:t>données</a:t>
            </a:r>
            <a:r>
              <a:rPr lang="en-US" sz="2000" b="1" dirty="0">
                <a:solidFill>
                  <a:srgbClr val="369226"/>
                </a:solidFill>
                <a:cs typeface="+mn-cs"/>
              </a:rPr>
              <a:t> </a:t>
            </a:r>
            <a:r>
              <a:rPr lang="en-US" sz="2000" b="1" dirty="0" err="1">
                <a:solidFill>
                  <a:srgbClr val="369226"/>
                </a:solidFill>
                <a:cs typeface="+mn-cs"/>
              </a:rPr>
              <a:t>standardisés</a:t>
            </a:r>
            <a:r>
              <a:rPr lang="en-US" sz="2000" b="1" dirty="0">
                <a:solidFill>
                  <a:srgbClr val="369226"/>
                </a:solidFill>
                <a:cs typeface="+mn-cs"/>
              </a:rPr>
              <a:t> KNX</a:t>
            </a:r>
            <a:r>
              <a:rPr lang="en-US" sz="2000" b="1" dirty="0">
                <a:cs typeface="+mn-cs"/>
              </a:rPr>
              <a:t>.  </a:t>
            </a:r>
            <a:r>
              <a:rPr lang="en-US" sz="2000" b="1" dirty="0" err="1">
                <a:cs typeface="+mn-cs"/>
              </a:rPr>
              <a:t>L'encodage</a:t>
            </a:r>
            <a:r>
              <a:rPr lang="en-US" sz="2000" b="1" dirty="0">
                <a:cs typeface="+mn-cs"/>
              </a:rPr>
              <a:t> des </a:t>
            </a:r>
            <a:r>
              <a:rPr lang="en-US" sz="2000" b="1" dirty="0" err="1">
                <a:cs typeface="+mn-cs"/>
              </a:rPr>
              <a:t>paramètres</a:t>
            </a:r>
            <a:r>
              <a:rPr lang="en-US" sz="2000" b="1" dirty="0">
                <a:cs typeface="+mn-cs"/>
              </a:rPr>
              <a:t> </a:t>
            </a:r>
            <a:r>
              <a:rPr lang="en-US" sz="2000" b="1" dirty="0" err="1">
                <a:cs typeface="+mn-cs"/>
              </a:rPr>
              <a:t>peut</a:t>
            </a:r>
            <a:r>
              <a:rPr lang="en-US" sz="2000" b="1" dirty="0">
                <a:cs typeface="+mn-cs"/>
              </a:rPr>
              <a:t> </a:t>
            </a:r>
            <a:r>
              <a:rPr lang="en-US" sz="2000" b="1" dirty="0" err="1">
                <a:cs typeface="+mn-cs"/>
              </a:rPr>
              <a:t>être</a:t>
            </a:r>
            <a:r>
              <a:rPr lang="en-US" sz="2000" b="1" dirty="0">
                <a:cs typeface="+mn-cs"/>
              </a:rPr>
              <a:t> </a:t>
            </a:r>
            <a:r>
              <a:rPr lang="en-US" sz="2000" b="1" dirty="0" err="1">
                <a:cs typeface="+mn-cs"/>
              </a:rPr>
              <a:t>spécifique</a:t>
            </a:r>
            <a:r>
              <a:rPr lang="en-US" sz="2000" b="1" dirty="0">
                <a:cs typeface="+mn-cs"/>
              </a:rPr>
              <a:t> au fabricant</a:t>
            </a:r>
          </a:p>
          <a:p>
            <a:endParaRPr lang="en-US" sz="2000" b="1" dirty="0">
              <a:cs typeface="+mn-cs"/>
            </a:endParaRPr>
          </a:p>
          <a:p>
            <a:r>
              <a:rPr lang="en-US" sz="2000" b="1" dirty="0">
                <a:solidFill>
                  <a:srgbClr val="369226"/>
                </a:solidFill>
                <a:cs typeface="+mn-cs"/>
              </a:rPr>
              <a:t>Blocs </a:t>
            </a:r>
            <a:r>
              <a:rPr lang="en-US" sz="2000" b="1" dirty="0" err="1">
                <a:solidFill>
                  <a:srgbClr val="369226"/>
                </a:solidFill>
                <a:cs typeface="+mn-cs"/>
              </a:rPr>
              <a:t>fonctionnels</a:t>
            </a:r>
            <a:r>
              <a:rPr lang="en-US" sz="2000" b="1" dirty="0">
                <a:solidFill>
                  <a:srgbClr val="369226"/>
                </a:solidFill>
                <a:cs typeface="+mn-cs"/>
              </a:rPr>
              <a:t> </a:t>
            </a:r>
            <a:r>
              <a:rPr lang="en-US" sz="2000" b="1" dirty="0" err="1">
                <a:solidFill>
                  <a:srgbClr val="369226"/>
                </a:solidFill>
                <a:cs typeface="+mn-cs"/>
              </a:rPr>
              <a:t>groupe</a:t>
            </a:r>
            <a:r>
              <a:rPr lang="en-US" sz="2000" b="1" dirty="0">
                <a:solidFill>
                  <a:srgbClr val="369226"/>
                </a:solidFill>
                <a:cs typeface="+mn-cs"/>
              </a:rPr>
              <a:t> entrées, sorties et </a:t>
            </a:r>
            <a:r>
              <a:rPr lang="en-US" sz="2000" b="1" dirty="0" err="1">
                <a:solidFill>
                  <a:srgbClr val="369226"/>
                </a:solidFill>
                <a:cs typeface="+mn-cs"/>
              </a:rPr>
              <a:t>paramètres</a:t>
            </a:r>
            <a:r>
              <a:rPr lang="en-US" sz="2000" b="1" dirty="0">
                <a:cs typeface="+mn-cs"/>
              </a:rPr>
              <a:t>. Pour </a:t>
            </a:r>
            <a:r>
              <a:rPr lang="en-US" sz="2000" b="1" dirty="0" err="1">
                <a:cs typeface="+mn-cs"/>
              </a:rPr>
              <a:t>cette</a:t>
            </a:r>
            <a:r>
              <a:rPr lang="en-US" sz="2000" b="1" dirty="0">
                <a:cs typeface="+mn-cs"/>
              </a:rPr>
              <a:t> </a:t>
            </a:r>
            <a:r>
              <a:rPr lang="en-US" sz="2000" b="1" dirty="0" err="1">
                <a:cs typeface="+mn-cs"/>
              </a:rPr>
              <a:t>combinaison</a:t>
            </a:r>
            <a:r>
              <a:rPr lang="en-US" sz="2000" b="1" dirty="0">
                <a:cs typeface="+mn-cs"/>
              </a:rPr>
              <a:t>, </a:t>
            </a:r>
            <a:r>
              <a:rPr lang="en-US" sz="2000" b="1" dirty="0" err="1">
                <a:cs typeface="+mn-cs"/>
              </a:rPr>
              <a:t>une</a:t>
            </a:r>
            <a:r>
              <a:rPr lang="en-US" sz="2000" b="1" dirty="0">
                <a:cs typeface="+mn-cs"/>
              </a:rPr>
              <a:t> description </a:t>
            </a:r>
            <a:r>
              <a:rPr lang="en-US" sz="2000" b="1" dirty="0" err="1">
                <a:cs typeface="+mn-cs"/>
              </a:rPr>
              <a:t>précise</a:t>
            </a:r>
            <a:r>
              <a:rPr lang="en-US" sz="2000" b="1" dirty="0">
                <a:cs typeface="+mn-cs"/>
              </a:rPr>
              <a:t> de la </a:t>
            </a:r>
            <a:r>
              <a:rPr lang="en-US" sz="2000" b="1" dirty="0" err="1">
                <a:cs typeface="+mn-cs"/>
              </a:rPr>
              <a:t>fonction</a:t>
            </a:r>
            <a:r>
              <a:rPr lang="en-US" sz="2000" b="1" dirty="0">
                <a:cs typeface="+mn-cs"/>
              </a:rPr>
              <a:t> </a:t>
            </a:r>
            <a:r>
              <a:rPr lang="en-US" sz="2000" b="1" dirty="0" err="1">
                <a:cs typeface="+mn-cs"/>
              </a:rPr>
              <a:t>est</a:t>
            </a:r>
            <a:r>
              <a:rPr lang="en-US" sz="2000" b="1" dirty="0">
                <a:cs typeface="+mn-cs"/>
              </a:rPr>
              <a:t> </a:t>
            </a:r>
            <a:r>
              <a:rPr lang="en-US" sz="2000" b="1" dirty="0" err="1">
                <a:cs typeface="+mn-cs"/>
              </a:rPr>
              <a:t>fournie</a:t>
            </a:r>
            <a:endParaRPr lang="en-US" sz="2000" b="1" dirty="0">
              <a:cs typeface="+mn-cs"/>
            </a:endParaRPr>
          </a:p>
          <a:p>
            <a:endParaRPr lang="en-US" sz="2000" b="1" dirty="0">
              <a:cs typeface="+mn-cs"/>
            </a:endParaRPr>
          </a:p>
          <a:p>
            <a:endParaRPr lang="en-US" sz="2000" b="1" dirty="0">
              <a:cs typeface="+mn-cs"/>
            </a:endParaRPr>
          </a:p>
          <a:p>
            <a:r>
              <a:rPr lang="en-US" sz="2000" b="1" dirty="0">
                <a:cs typeface="+mn-cs"/>
              </a:rPr>
              <a:t> </a:t>
            </a:r>
          </a:p>
          <a:p>
            <a:endParaRPr lang="es-ES" sz="2000" b="1" dirty="0">
              <a:cs typeface="+mn-cs"/>
            </a:endParaRPr>
          </a:p>
        </p:txBody>
      </p:sp>
    </p:spTree>
    <p:extLst>
      <p:ext uri="{BB962C8B-B14F-4D97-AF65-F5344CB8AC3E}">
        <p14:creationId xmlns:p14="http://schemas.microsoft.com/office/powerpoint/2010/main" val="272624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549622"/>
            <a:ext cx="6984255" cy="719138"/>
          </a:xfrm>
        </p:spPr>
        <p:txBody>
          <a:bodyPr/>
          <a:lstStyle/>
          <a:p>
            <a:r>
              <a:rPr lang="en-GB" sz="2400"/>
              <a:t>Codage des types de points de données</a:t>
            </a:r>
          </a:p>
        </p:txBody>
      </p:sp>
      <p:pic>
        <p:nvPicPr>
          <p:cNvPr id="2" name="Picture 1">
            <a:extLst>
              <a:ext uri="{FF2B5EF4-FFF2-40B4-BE49-F238E27FC236}">
                <a16:creationId xmlns:a16="http://schemas.microsoft.com/office/drawing/2014/main" id="{2C3F6D12-D156-49D6-B58F-C9C0EC09C6C9}"/>
              </a:ext>
            </a:extLst>
          </p:cNvPr>
          <p:cNvPicPr>
            <a:picLocks noChangeAspect="1"/>
          </p:cNvPicPr>
          <p:nvPr/>
        </p:nvPicPr>
        <p:blipFill>
          <a:blip r:embed="rId3"/>
          <a:stretch>
            <a:fillRect/>
          </a:stretch>
        </p:blipFill>
        <p:spPr>
          <a:xfrm>
            <a:off x="109537" y="1348829"/>
            <a:ext cx="8924925" cy="2790825"/>
          </a:xfrm>
          <a:prstGeom prst="rect">
            <a:avLst/>
          </a:prstGeom>
        </p:spPr>
      </p:pic>
      <p:sp>
        <p:nvSpPr>
          <p:cNvPr id="5" name="Content Placeholder 1">
            <a:extLst>
              <a:ext uri="{FF2B5EF4-FFF2-40B4-BE49-F238E27FC236}">
                <a16:creationId xmlns:a16="http://schemas.microsoft.com/office/drawing/2014/main" id="{54DA1F2D-2E64-4183-8D23-A9B1132510C9}"/>
              </a:ext>
            </a:extLst>
          </p:cNvPr>
          <p:cNvSpPr txBox="1">
            <a:spLocks/>
          </p:cNvSpPr>
          <p:nvPr/>
        </p:nvSpPr>
        <p:spPr>
          <a:xfrm>
            <a:off x="971600" y="4293096"/>
            <a:ext cx="7632848" cy="1944216"/>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kern="0" dirty="0">
                <a:ea typeface="Open Sans" panose="020B0606030504020204" pitchFamily="34" charset="0"/>
                <a:cs typeface="Open Sans" panose="020B0606030504020204" pitchFamily="34" charset="0"/>
              </a:rPr>
              <a:t>Format : </a:t>
            </a:r>
            <a:r>
              <a:rPr lang="en-US" sz="1800" kern="0" dirty="0" err="1">
                <a:solidFill>
                  <a:schemeClr val="tx1"/>
                </a:solidFill>
                <a:ea typeface="Open Sans" panose="020B0606030504020204" pitchFamily="34" charset="0"/>
                <a:cs typeface="Open Sans" panose="020B0606030504020204" pitchFamily="34" charset="0"/>
              </a:rPr>
              <a:t>Définit</a:t>
            </a:r>
            <a:r>
              <a:rPr lang="en-US" sz="1800" kern="0" dirty="0">
                <a:solidFill>
                  <a:schemeClr val="tx1"/>
                </a:solidFill>
                <a:ea typeface="Open Sans" panose="020B0606030504020204" pitchFamily="34" charset="0"/>
                <a:cs typeface="Open Sans" panose="020B0606030504020204" pitchFamily="34" charset="0"/>
              </a:rPr>
              <a:t> les champs qui </a:t>
            </a:r>
            <a:r>
              <a:rPr lang="en-US" sz="1800" kern="0" dirty="0" err="1">
                <a:solidFill>
                  <a:schemeClr val="tx1"/>
                </a:solidFill>
                <a:ea typeface="Open Sans" panose="020B0606030504020204" pitchFamily="34" charset="0"/>
                <a:cs typeface="Open Sans" panose="020B0606030504020204" pitchFamily="34" charset="0"/>
              </a:rPr>
              <a:t>composent</a:t>
            </a:r>
            <a:r>
              <a:rPr lang="en-US" sz="1800" kern="0" dirty="0">
                <a:solidFill>
                  <a:schemeClr val="tx1"/>
                </a:solidFill>
                <a:ea typeface="Open Sans" panose="020B0606030504020204" pitchFamily="34" charset="0"/>
                <a:cs typeface="Open Sans" panose="020B0606030504020204" pitchFamily="34" charset="0"/>
              </a:rPr>
              <a:t> le type de Datapoint. </a:t>
            </a:r>
            <a:r>
              <a:rPr lang="en-US" sz="1800" kern="0" dirty="0" err="1">
                <a:solidFill>
                  <a:schemeClr val="tx1"/>
                </a:solidFill>
                <a:ea typeface="Open Sans" panose="020B0606030504020204" pitchFamily="34" charset="0"/>
                <a:cs typeface="Open Sans" panose="020B0606030504020204" pitchFamily="34" charset="0"/>
              </a:rPr>
              <a:t>Chaque</a:t>
            </a:r>
            <a:r>
              <a:rPr lang="en-US" sz="1800" kern="0" dirty="0">
                <a:solidFill>
                  <a:schemeClr val="tx1"/>
                </a:solidFill>
                <a:ea typeface="Open Sans" panose="020B0606030504020204" pitchFamily="34" charset="0"/>
                <a:cs typeface="Open Sans" panose="020B0606030504020204" pitchFamily="34" charset="0"/>
              </a:rPr>
              <a:t> champ </a:t>
            </a:r>
            <a:r>
              <a:rPr lang="en-US" sz="1800" kern="0" dirty="0" err="1">
                <a:solidFill>
                  <a:schemeClr val="tx1"/>
                </a:solidFill>
                <a:ea typeface="Open Sans" panose="020B0606030504020204" pitchFamily="34" charset="0"/>
                <a:cs typeface="Open Sans" panose="020B0606030504020204" pitchFamily="34" charset="0"/>
              </a:rPr>
              <a:t>peut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contenir</a:t>
            </a:r>
            <a:r>
              <a:rPr lang="en-US" sz="1800" kern="0" dirty="0">
                <a:solidFill>
                  <a:schemeClr val="tx1"/>
                </a:solidFill>
                <a:ea typeface="Open Sans" panose="020B0606030504020204" pitchFamily="34" charset="0"/>
                <a:cs typeface="Open Sans" panose="020B0606030504020204" pitchFamily="34" charset="0"/>
              </a:rPr>
              <a:t> un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plusieurs</a:t>
            </a:r>
            <a:r>
              <a:rPr lang="en-US" sz="1800" kern="0" dirty="0">
                <a:solidFill>
                  <a:schemeClr val="tx1"/>
                </a:solidFill>
                <a:ea typeface="Open Sans" panose="020B0606030504020204" pitchFamily="34" charset="0"/>
                <a:cs typeface="Open Sans" panose="020B0606030504020204" pitchFamily="34" charset="0"/>
              </a:rPr>
              <a:t> bits</a:t>
            </a:r>
          </a:p>
          <a:p>
            <a:r>
              <a:rPr lang="en-US" sz="1800" kern="0" dirty="0" err="1">
                <a:ea typeface="Open Sans" panose="020B0606030504020204" pitchFamily="34" charset="0"/>
                <a:cs typeface="Open Sans" panose="020B0606030504020204" pitchFamily="34" charset="0"/>
              </a:rPr>
              <a:t>Codage</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Définit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l'encodage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données</a:t>
            </a:r>
            <a:endParaRPr lang="en-US" sz="1800" kern="0" dirty="0">
              <a:solidFill>
                <a:schemeClr val="tx1"/>
              </a:solidFill>
              <a:ea typeface="Open Sans" panose="020B0606030504020204" pitchFamily="34" charset="0"/>
              <a:cs typeface="Open Sans" panose="020B0606030504020204" pitchFamily="34" charset="0"/>
            </a:endParaRPr>
          </a:p>
          <a:p>
            <a:r>
              <a:rPr lang="en-US" sz="1800" kern="0" dirty="0" err="1">
                <a:ea typeface="Open Sans" panose="020B0606030504020204" pitchFamily="34" charset="0"/>
                <a:cs typeface="Open Sans" panose="020B0606030504020204" pitchFamily="34" charset="0"/>
              </a:rPr>
              <a:t>Plage</a:t>
            </a:r>
            <a:r>
              <a:rPr lang="en-US" sz="1800" kern="0" dirty="0">
                <a:ea typeface="Open Sans" panose="020B0606030504020204" pitchFamily="34" charset="0"/>
                <a:cs typeface="Open Sans" panose="020B0606030504020204" pitchFamily="34" charset="0"/>
              </a:rPr>
              <a:t> de </a:t>
            </a:r>
            <a:r>
              <a:rPr lang="en-US" sz="1800" kern="0" dirty="0" err="1">
                <a:ea typeface="Open Sans" panose="020B0606030504020204" pitchFamily="34" charset="0"/>
                <a:cs typeface="Open Sans" panose="020B0606030504020204" pitchFamily="34" charset="0"/>
              </a:rPr>
              <a:t>valeurs</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définit</a:t>
            </a:r>
            <a:r>
              <a:rPr lang="en-US" sz="1800" kern="0" dirty="0">
                <a:solidFill>
                  <a:schemeClr val="tx1"/>
                </a:solidFill>
                <a:ea typeface="Open Sans" panose="020B0606030504020204" pitchFamily="34" charset="0"/>
                <a:cs typeface="Open Sans" panose="020B0606030504020204" pitchFamily="34" charset="0"/>
              </a:rPr>
              <a:t> la </a:t>
            </a:r>
            <a:r>
              <a:rPr lang="en-US" sz="1800" kern="0" dirty="0" err="1">
                <a:solidFill>
                  <a:schemeClr val="tx1"/>
                </a:solidFill>
                <a:ea typeface="Open Sans" panose="020B0606030504020204" pitchFamily="34" charset="0"/>
                <a:cs typeface="Open Sans" panose="020B0606030504020204" pitchFamily="34" charset="0"/>
              </a:rPr>
              <a:t>plage</a:t>
            </a:r>
            <a:r>
              <a:rPr lang="en-US" sz="1800" kern="0" dirty="0">
                <a:solidFill>
                  <a:schemeClr val="tx1"/>
                </a:solidFill>
                <a:ea typeface="Open Sans" panose="020B0606030504020204" pitchFamily="34" charset="0"/>
                <a:cs typeface="Open Sans" panose="020B0606030504020204" pitchFamily="34" charset="0"/>
              </a:rPr>
              <a:t> de limitations et de </a:t>
            </a:r>
            <a:r>
              <a:rPr lang="en-US" sz="1800" kern="0" dirty="0" err="1">
                <a:solidFill>
                  <a:schemeClr val="tx1"/>
                </a:solidFill>
                <a:ea typeface="Open Sans" panose="020B0606030504020204" pitchFamily="34" charset="0"/>
                <a:cs typeface="Open Sans" panose="020B0606030504020204" pitchFamily="34" charset="0"/>
              </a:rPr>
              <a:t>valeurs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valides</a:t>
            </a:r>
            <a:endParaRPr lang="en-US" sz="1800" kern="0" dirty="0">
              <a:solidFill>
                <a:schemeClr val="tx1"/>
              </a:solidFill>
              <a:ea typeface="Open Sans" panose="020B0606030504020204" pitchFamily="34" charset="0"/>
              <a:cs typeface="Open Sans" panose="020B0606030504020204" pitchFamily="34" charset="0"/>
            </a:endParaRPr>
          </a:p>
          <a:p>
            <a:r>
              <a:rPr lang="en-US" sz="1800" kern="0" dirty="0" err="1">
                <a:ea typeface="Open Sans" panose="020B0606030504020204" pitchFamily="34" charset="0"/>
                <a:cs typeface="Open Sans" panose="020B0606030504020204" pitchFamily="34" charset="0"/>
              </a:rPr>
              <a:t>Unité</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Définit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l'unité</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données</a:t>
            </a:r>
            <a:r>
              <a:rPr lang="en-US" sz="1800" kern="0" dirty="0">
                <a:solidFill>
                  <a:schemeClr val="tx1"/>
                </a:solidFill>
                <a:ea typeface="Open Sans" panose="020B0606030504020204" pitchFamily="34" charset="0"/>
                <a:cs typeface="Open Sans" panose="020B0606030504020204" pitchFamily="34" charset="0"/>
              </a:rPr>
              <a:t> </a:t>
            </a: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8780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480175" cy="719138"/>
          </a:xfrm>
        </p:spPr>
        <p:txBody>
          <a:bodyPr/>
          <a:lstStyle/>
          <a:p>
            <a:r>
              <a:rPr lang="en-US" sz="2400" dirty="0"/>
              <a:t>Principe Classes de types de points de </a:t>
            </a:r>
            <a:r>
              <a:rPr lang="en-US" sz="2400" dirty="0" err="1"/>
              <a:t>données</a:t>
            </a:r>
            <a:endParaRPr lang="en-GB" sz="2400" dirty="0"/>
          </a:p>
        </p:txBody>
      </p:sp>
      <p:sp>
        <p:nvSpPr>
          <p:cNvPr id="4" name="Content Placeholder 1">
            <a:extLst>
              <a:ext uri="{FF2B5EF4-FFF2-40B4-BE49-F238E27FC236}">
                <a16:creationId xmlns:a16="http://schemas.microsoft.com/office/drawing/2014/main" id="{8E01A131-56CB-4632-8FB6-BD795D06DBBE}"/>
              </a:ext>
            </a:extLst>
          </p:cNvPr>
          <p:cNvSpPr txBox="1">
            <a:spLocks/>
          </p:cNvSpPr>
          <p:nvPr/>
        </p:nvSpPr>
        <p:spPr>
          <a:xfrm>
            <a:off x="971600" y="1268760"/>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kern="0" dirty="0">
                <a:ea typeface="Open Sans" panose="020B0606030504020204" pitchFamily="34" charset="0"/>
                <a:cs typeface="Open Sans" panose="020B0606030504020204" pitchFamily="34" charset="0"/>
              </a:rPr>
              <a:t>Types simples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Exemple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booléen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valeurs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numériques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pures</a:t>
            </a:r>
            <a:endParaRPr lang="en-US" sz="1800" kern="0" dirty="0">
              <a:solidFill>
                <a:schemeClr val="tx1"/>
              </a:solidFill>
              <a:ea typeface="Open Sans" panose="020B0606030504020204" pitchFamily="34" charset="0"/>
              <a:cs typeface="Open Sans" panose="020B0606030504020204" pitchFamily="34" charset="0"/>
            </a:endParaRPr>
          </a:p>
          <a:p>
            <a:endParaRPr lang="es-ES" sz="2000" kern="0" dirty="0">
              <a:solidFill>
                <a:schemeClr val="tx1"/>
              </a:solidFill>
              <a:ea typeface="Open Sans" panose="020B0606030504020204" pitchFamily="34" charset="0"/>
              <a:cs typeface="Open Sans" panose="020B0606030504020204" pitchFamily="34" charset="0"/>
            </a:endParaRPr>
          </a:p>
          <a:p>
            <a:r>
              <a:rPr lang="en-US" sz="1800" kern="0" dirty="0">
                <a:ea typeface="Open Sans" panose="020B0606030504020204" pitchFamily="34" charset="0"/>
                <a:cs typeface="Open Sans" panose="020B0606030504020204" pitchFamily="34" charset="0"/>
              </a:rPr>
              <a:t>Types </a:t>
            </a:r>
            <a:r>
              <a:rPr lang="en-US" sz="1800" kern="0" dirty="0" err="1">
                <a:ea typeface="Open Sans" panose="020B0606030504020204" pitchFamily="34" charset="0"/>
                <a:cs typeface="Open Sans" panose="020B0606030504020204" pitchFamily="34" charset="0"/>
              </a:rPr>
              <a:t>énumérés</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nombre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limité</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valeurs</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aucun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ordre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hiérarchique</a:t>
            </a:r>
            <a:r>
              <a:rPr lang="en-US" sz="1800" kern="0" dirty="0">
                <a:solidFill>
                  <a:schemeClr val="tx1"/>
                </a:solidFill>
                <a:ea typeface="Open Sans" panose="020B0606030504020204" pitchFamily="34" charset="0"/>
                <a:cs typeface="Open Sans" panose="020B0606030504020204" pitchFamily="34" charset="0"/>
              </a:rPr>
              <a:t> précis. </a:t>
            </a:r>
            <a:r>
              <a:rPr lang="en-US" sz="1800" kern="0" dirty="0" err="1">
                <a:solidFill>
                  <a:schemeClr val="tx1"/>
                </a:solidFill>
                <a:ea typeface="Open Sans" panose="020B0606030504020204" pitchFamily="34" charset="0"/>
                <a:cs typeface="Open Sans" panose="020B0606030504020204" pitchFamily="34" charset="0"/>
              </a:rPr>
              <a:t>Tous</a:t>
            </a:r>
            <a:r>
              <a:rPr lang="en-US" sz="1800" kern="0" dirty="0">
                <a:solidFill>
                  <a:schemeClr val="tx1"/>
                </a:solidFill>
                <a:ea typeface="Open Sans" panose="020B0606030504020204" pitchFamily="34" charset="0"/>
                <a:cs typeface="Open Sans" panose="020B0606030504020204" pitchFamily="34" charset="0"/>
              </a:rPr>
              <a:t> les </a:t>
            </a:r>
            <a:r>
              <a:rPr lang="en-US" sz="1800" kern="0" dirty="0" err="1">
                <a:solidFill>
                  <a:schemeClr val="tx1"/>
                </a:solidFill>
                <a:ea typeface="Open Sans" panose="020B0606030504020204" pitchFamily="34" charset="0"/>
                <a:cs typeface="Open Sans" panose="020B0606030504020204" pitchFamily="34" charset="0"/>
              </a:rPr>
              <a:t>états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décrits</a:t>
            </a:r>
            <a:r>
              <a:rPr lang="en-US" sz="1800" kern="0" dirty="0">
                <a:solidFill>
                  <a:schemeClr val="tx1"/>
                </a:solidFill>
                <a:ea typeface="Open Sans" panose="020B0606030504020204" pitchFamily="34" charset="0"/>
                <a:cs typeface="Open Sans" panose="020B0606030504020204" pitchFamily="34" charset="0"/>
              </a:rPr>
              <a:t>. Si des </a:t>
            </a:r>
            <a:r>
              <a:rPr lang="en-US" sz="1800" kern="0" dirty="0" err="1">
                <a:solidFill>
                  <a:schemeClr val="tx1"/>
                </a:solidFill>
                <a:ea typeface="Open Sans" panose="020B0606030504020204" pitchFamily="34" charset="0"/>
                <a:cs typeface="Open Sans" panose="020B0606030504020204" pitchFamily="34" charset="0"/>
              </a:rPr>
              <a:t>valeurs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invalides</a:t>
            </a:r>
            <a:r>
              <a:rPr lang="en-US" sz="1800" kern="0" dirty="0">
                <a:solidFill>
                  <a:schemeClr val="tx1"/>
                </a:solidFill>
                <a:ea typeface="Open Sans" panose="020B0606030504020204" pitchFamily="34" charset="0"/>
                <a:cs typeface="Open Sans" panose="020B0606030504020204" pitchFamily="34" charset="0"/>
              </a:rPr>
              <a:t>/non </a:t>
            </a:r>
            <a:r>
              <a:rPr lang="en-US" sz="1800" kern="0" dirty="0" err="1">
                <a:solidFill>
                  <a:schemeClr val="tx1"/>
                </a:solidFill>
                <a:ea typeface="Open Sans" panose="020B0606030504020204" pitchFamily="34" charset="0"/>
                <a:cs typeface="Open Sans" panose="020B0606030504020204" pitchFamily="34" charset="0"/>
              </a:rPr>
              <a:t>définies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envoyées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aucun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dysfonctionnement</a:t>
            </a:r>
            <a:r>
              <a:rPr lang="en-US" sz="1800" kern="0" dirty="0">
                <a:solidFill>
                  <a:schemeClr val="tx1"/>
                </a:solidFill>
                <a:ea typeface="Open Sans" panose="020B0606030504020204" pitchFamily="34" charset="0"/>
                <a:cs typeface="Open Sans" panose="020B0606030504020204" pitchFamily="34" charset="0"/>
              </a:rPr>
              <a:t> ne </a:t>
            </a:r>
            <a:r>
              <a:rPr lang="en-US" sz="1800" kern="0" dirty="0" err="1">
                <a:solidFill>
                  <a:schemeClr val="tx1"/>
                </a:solidFill>
                <a:ea typeface="Open Sans" panose="020B0606030504020204" pitchFamily="34" charset="0"/>
                <a:cs typeface="Open Sans" panose="020B0606030504020204" pitchFamily="34" charset="0"/>
              </a:rPr>
              <a:t>peut</a:t>
            </a:r>
            <a:r>
              <a:rPr lang="en-US" sz="1800" kern="0" dirty="0">
                <a:solidFill>
                  <a:schemeClr val="tx1"/>
                </a:solidFill>
                <a:ea typeface="Open Sans" panose="020B0606030504020204" pitchFamily="34" charset="0"/>
                <a:cs typeface="Open Sans" panose="020B0606030504020204" pitchFamily="34" charset="0"/>
              </a:rPr>
              <a:t> se </a:t>
            </a:r>
            <a:r>
              <a:rPr lang="en-US" sz="1800" kern="0" dirty="0" err="1">
                <a:solidFill>
                  <a:schemeClr val="tx1"/>
                </a:solidFill>
                <a:ea typeface="Open Sans" panose="020B0606030504020204" pitchFamily="34" charset="0"/>
                <a:cs typeface="Open Sans" panose="020B0606030504020204" pitchFamily="34" charset="0"/>
              </a:rPr>
              <a:t>produire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Exemples</a:t>
            </a:r>
            <a:r>
              <a:rPr lang="en-US" sz="1800" kern="0" dirty="0">
                <a:solidFill>
                  <a:schemeClr val="tx1"/>
                </a:solidFill>
                <a:ea typeface="Open Sans" panose="020B0606030504020204" pitchFamily="34" charset="0"/>
                <a:cs typeface="Open Sans" panose="020B0606030504020204" pitchFamily="34" charset="0"/>
              </a:rPr>
              <a:t>: modes de </a:t>
            </a:r>
            <a:r>
              <a:rPr lang="en-US" sz="1800" kern="0" dirty="0" err="1">
                <a:solidFill>
                  <a:schemeClr val="tx1"/>
                </a:solidFill>
                <a:ea typeface="Open Sans" panose="020B0606030504020204" pitchFamily="34" charset="0"/>
                <a:cs typeface="Open Sans" panose="020B0606030504020204" pitchFamily="34" charset="0"/>
              </a:rPr>
              <a:t>fonctionnement</a:t>
            </a:r>
            <a:r>
              <a:rPr lang="en-US" sz="1800" kern="0" dirty="0">
                <a:solidFill>
                  <a:schemeClr val="tx1"/>
                </a:solidFill>
                <a:ea typeface="Open Sans" panose="020B0606030504020204" pitchFamily="34" charset="0"/>
                <a:cs typeface="Open Sans" panose="020B0606030504020204" pitchFamily="34" charset="0"/>
              </a:rPr>
              <a:t> dans les thermostats de la pièce </a:t>
            </a:r>
          </a:p>
          <a:p>
            <a:endParaRPr lang="en-US" sz="1800" kern="0" dirty="0">
              <a:solidFill>
                <a:schemeClr val="tx1"/>
              </a:solidFill>
              <a:ea typeface="Open Sans" panose="020B0606030504020204" pitchFamily="34" charset="0"/>
              <a:cs typeface="Open Sans" panose="020B0606030504020204" pitchFamily="34" charset="0"/>
            </a:endParaRPr>
          </a:p>
          <a:p>
            <a:r>
              <a:rPr lang="en-US" sz="1800" kern="0" dirty="0">
                <a:ea typeface="Open Sans" panose="020B0606030504020204" pitchFamily="34" charset="0"/>
                <a:cs typeface="Open Sans" panose="020B0606030504020204" pitchFamily="34" charset="0"/>
              </a:rPr>
              <a:t>Type </a:t>
            </a:r>
            <a:r>
              <a:rPr lang="en-US" sz="1800" kern="0" dirty="0" err="1">
                <a:ea typeface="Open Sans" panose="020B0606030504020204" pitchFamily="34" charset="0"/>
                <a:cs typeface="Open Sans" panose="020B0606030504020204" pitchFamily="34" charset="0"/>
              </a:rPr>
              <a:t>structuré</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plusieurs</a:t>
            </a:r>
            <a:r>
              <a:rPr lang="en-US" sz="1800" kern="0" dirty="0">
                <a:solidFill>
                  <a:schemeClr val="tx1"/>
                </a:solidFill>
                <a:ea typeface="Open Sans" panose="020B0606030504020204" pitchFamily="34" charset="0"/>
                <a:cs typeface="Open Sans" panose="020B0606030504020204" pitchFamily="34" charset="0"/>
              </a:rPr>
              <a:t> parties qui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combinées</a:t>
            </a:r>
            <a:r>
              <a:rPr lang="en-US" sz="1800" kern="0" dirty="0">
                <a:solidFill>
                  <a:schemeClr val="tx1"/>
                </a:solidFill>
                <a:ea typeface="Open Sans" panose="020B0606030504020204" pitchFamily="34" charset="0"/>
                <a:cs typeface="Open Sans" panose="020B0606030504020204" pitchFamily="34" charset="0"/>
              </a:rPr>
              <a:t> dans un point de </a:t>
            </a:r>
            <a:r>
              <a:rPr lang="en-US" sz="1800" kern="0" dirty="0" err="1">
                <a:solidFill>
                  <a:schemeClr val="tx1"/>
                </a:solidFill>
                <a:ea typeface="Open Sans" panose="020B0606030504020204" pitchFamily="34" charset="0"/>
                <a:cs typeface="Open Sans" panose="020B0606030504020204" pitchFamily="34" charset="0"/>
              </a:rPr>
              <a:t>données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Exemples</a:t>
            </a:r>
            <a:r>
              <a:rPr lang="en-US" sz="1800" kern="0" dirty="0">
                <a:solidFill>
                  <a:schemeClr val="tx1"/>
                </a:solidFill>
                <a:ea typeface="Open Sans" panose="020B0606030504020204" pitchFamily="34" charset="0"/>
                <a:cs typeface="Open Sans" panose="020B0606030504020204" pitchFamily="34" charset="0"/>
              </a:rPr>
              <a:t> : variation relative KNX (3.007 DPT_Control_Dimming)</a:t>
            </a:r>
          </a:p>
          <a:p>
            <a:endParaRPr lang="en-US" sz="1800" kern="0" dirty="0">
              <a:solidFill>
                <a:schemeClr val="tx1"/>
              </a:solidFill>
              <a:ea typeface="Open Sans" panose="020B0606030504020204" pitchFamily="34" charset="0"/>
              <a:cs typeface="Open Sans" panose="020B0606030504020204" pitchFamily="34" charset="0"/>
            </a:endParaRPr>
          </a:p>
          <a:p>
            <a:r>
              <a:rPr lang="en-US" sz="1800" kern="0" dirty="0">
                <a:ea typeface="Open Sans" panose="020B0606030504020204" pitchFamily="34" charset="0"/>
                <a:cs typeface="Open Sans" panose="020B0606030504020204" pitchFamily="34" charset="0"/>
              </a:rPr>
              <a:t>Types de </a:t>
            </a:r>
            <a:r>
              <a:rPr lang="en-US" sz="1800" kern="0" dirty="0" err="1">
                <a:ea typeface="Open Sans" panose="020B0606030504020204" pitchFamily="34" charset="0"/>
                <a:cs typeface="Open Sans" panose="020B0606030504020204" pitchFamily="34" charset="0"/>
              </a:rPr>
              <a:t>statut</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Utilisé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lorsqu'un</a:t>
            </a:r>
            <a:r>
              <a:rPr lang="en-US" sz="1800" kern="0" dirty="0">
                <a:solidFill>
                  <a:schemeClr val="tx1"/>
                </a:solidFill>
                <a:ea typeface="Open Sans" panose="020B0606030504020204" pitchFamily="34" charset="0"/>
                <a:cs typeface="Open Sans" panose="020B0606030504020204" pitchFamily="34" charset="0"/>
              </a:rPr>
              <a:t> participant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est</a:t>
            </a:r>
            <a:r>
              <a:rPr lang="en-US" sz="1800" b="1" kern="0" dirty="0">
                <a:solidFill>
                  <a:schemeClr val="tx1"/>
                </a:solidFill>
                <a:ea typeface="Open Sans" panose="020B0606030504020204" pitchFamily="34" charset="0"/>
                <a:cs typeface="Open Sans" panose="020B0606030504020204" pitchFamily="34" charset="0"/>
              </a:rPr>
              <a:t> capable de signaler son mode de </a:t>
            </a:r>
            <a:r>
              <a:rPr lang="en-US" sz="1800" b="1" kern="0" dirty="0" err="1">
                <a:solidFill>
                  <a:schemeClr val="tx1"/>
                </a:solidFill>
                <a:ea typeface="Open Sans" panose="020B0606030504020204" pitchFamily="34" charset="0"/>
                <a:cs typeface="Open Sans" panose="020B0606030504020204" pitchFamily="34" charset="0"/>
              </a:rPr>
              <a:t>fonctionnement</a:t>
            </a:r>
            <a:r>
              <a:rPr lang="en-US" sz="1800" b="1" kern="0" dirty="0">
                <a:solidFill>
                  <a:schemeClr val="tx1"/>
                </a:solidFill>
                <a:ea typeface="Open Sans" panose="020B0606030504020204" pitchFamily="34" charset="0"/>
                <a:cs typeface="Open Sans" panose="020B0606030504020204" pitchFamily="34" charset="0"/>
              </a:rPr>
              <a:t> et de passer à un mode </a:t>
            </a:r>
            <a:r>
              <a:rPr lang="en-US" sz="1800" b="1" kern="0" dirty="0" err="1">
                <a:solidFill>
                  <a:schemeClr val="tx1"/>
                </a:solidFill>
                <a:ea typeface="Open Sans" panose="020B0606030504020204" pitchFamily="34" charset="0"/>
                <a:cs typeface="Open Sans" panose="020B0606030504020204" pitchFamily="34" charset="0"/>
              </a:rPr>
              <a:t>spécifique</a:t>
            </a:r>
            <a:r>
              <a:rPr lang="en-US" sz="1800" b="1" kern="0" dirty="0">
                <a:solidFill>
                  <a:schemeClr val="tx1"/>
                </a:solidFill>
                <a:ea typeface="Open Sans" panose="020B0606030504020204" pitchFamily="34" charset="0"/>
                <a:cs typeface="Open Sans" panose="020B0606030504020204" pitchFamily="34" charset="0"/>
              </a:rPr>
              <a:t>.</a:t>
            </a:r>
            <a:r>
              <a:rPr lang="en-US" sz="1800"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Envoyé</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en</a:t>
            </a:r>
            <a:r>
              <a:rPr lang="en-US" sz="1800" b="1" kern="0" dirty="0">
                <a:solidFill>
                  <a:schemeClr val="tx1"/>
                </a:solidFill>
                <a:ea typeface="Open Sans" panose="020B0606030504020204" pitchFamily="34" charset="0"/>
                <a:cs typeface="Open Sans" panose="020B0606030504020204" pitchFamily="34" charset="0"/>
              </a:rPr>
              <a:t> tant que masque. </a:t>
            </a:r>
            <a:r>
              <a:rPr lang="en-US" sz="1800" b="1" kern="0" dirty="0" err="1">
                <a:solidFill>
                  <a:schemeClr val="tx1"/>
                </a:solidFill>
                <a:ea typeface="Open Sans" panose="020B0606030504020204" pitchFamily="34" charset="0"/>
                <a:cs typeface="Open Sans" panose="020B0606030504020204" pitchFamily="34" charset="0"/>
              </a:rPr>
              <a:t>Principalement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utilisé</a:t>
            </a:r>
            <a:r>
              <a:rPr lang="en-US" sz="1800" b="1" kern="0" dirty="0">
                <a:solidFill>
                  <a:schemeClr val="tx1"/>
                </a:solidFill>
                <a:ea typeface="Open Sans" panose="020B0606030504020204" pitchFamily="34" charset="0"/>
                <a:cs typeface="Open Sans" panose="020B0606030504020204" pitchFamily="34" charset="0"/>
              </a:rPr>
              <a:t> dans la </a:t>
            </a:r>
            <a:r>
              <a:rPr lang="en-US" sz="1800" b="1" kern="0" dirty="0" err="1">
                <a:solidFill>
                  <a:schemeClr val="tx1"/>
                </a:solidFill>
                <a:ea typeface="Open Sans" panose="020B0606030504020204" pitchFamily="34" charset="0"/>
                <a:cs typeface="Open Sans" panose="020B0606030504020204" pitchFamily="34" charset="0"/>
              </a:rPr>
              <a:t>technologie</a:t>
            </a:r>
            <a:r>
              <a:rPr lang="en-US" sz="1800" b="1" kern="0" dirty="0">
                <a:solidFill>
                  <a:schemeClr val="tx1"/>
                </a:solidFill>
                <a:ea typeface="Open Sans" panose="020B0606030504020204" pitchFamily="34" charset="0"/>
                <a:cs typeface="Open Sans" panose="020B0606030504020204" pitchFamily="34" charset="0"/>
              </a:rPr>
              <a:t> de </a:t>
            </a:r>
            <a:r>
              <a:rPr lang="en-US" sz="1800" b="1" kern="0" dirty="0" err="1">
                <a:solidFill>
                  <a:schemeClr val="tx1"/>
                </a:solidFill>
                <a:ea typeface="Open Sans" panose="020B0606030504020204" pitchFamily="34" charset="0"/>
                <a:cs typeface="Open Sans" panose="020B0606030504020204" pitchFamily="34" charset="0"/>
              </a:rPr>
              <a:t>chauffage</a:t>
            </a:r>
            <a:endParaRPr lang="en-US" sz="1800" b="1"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05278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480175" cy="719138"/>
          </a:xfrm>
        </p:spPr>
        <p:txBody>
          <a:bodyPr/>
          <a:lstStyle/>
          <a:p>
            <a:r>
              <a:rPr lang="en-US" sz="2400" dirty="0"/>
              <a:t>Principe Classes de types de points de </a:t>
            </a:r>
            <a:r>
              <a:rPr lang="en-US" sz="2400" dirty="0" err="1"/>
              <a:t>données</a:t>
            </a:r>
            <a:endParaRPr lang="en-GB" sz="2400" dirty="0"/>
          </a:p>
        </p:txBody>
      </p:sp>
      <p:sp>
        <p:nvSpPr>
          <p:cNvPr id="4" name="Content Placeholder 1">
            <a:extLst>
              <a:ext uri="{FF2B5EF4-FFF2-40B4-BE49-F238E27FC236}">
                <a16:creationId xmlns:a16="http://schemas.microsoft.com/office/drawing/2014/main" id="{8E01A131-56CB-4632-8FB6-BD795D06DBBE}"/>
              </a:ext>
            </a:extLst>
          </p:cNvPr>
          <p:cNvSpPr txBox="1">
            <a:spLocks/>
          </p:cNvSpPr>
          <p:nvPr/>
        </p:nvSpPr>
        <p:spPr>
          <a:xfrm>
            <a:off x="899592" y="1340768"/>
            <a:ext cx="7776864"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kern="0" dirty="0">
                <a:ea typeface="Open Sans" panose="020B0606030504020204" pitchFamily="34" charset="0"/>
                <a:cs typeface="Open Sans" panose="020B0606030504020204" pitchFamily="34" charset="0"/>
              </a:rPr>
              <a:t>Types « multi-</a:t>
            </a:r>
            <a:r>
              <a:rPr lang="en-US" sz="1800" kern="0" dirty="0" err="1">
                <a:ea typeface="Open Sans" panose="020B0606030504020204" pitchFamily="34" charset="0"/>
                <a:cs typeface="Open Sans" panose="020B0606030504020204" pitchFamily="34" charset="0"/>
              </a:rPr>
              <a:t>états</a:t>
            </a:r>
            <a:r>
              <a:rPr lang="en-US" sz="1800" kern="0" dirty="0">
                <a:ea typeface="Open Sans" panose="020B0606030504020204" pitchFamily="34" charset="0"/>
                <a:cs typeface="Open Sans" panose="020B0606030504020204" pitchFamily="34" charset="0"/>
              </a:rPr>
              <a:t> » : </a:t>
            </a:r>
            <a:r>
              <a:rPr lang="en-US" sz="1800" kern="0" dirty="0" err="1">
                <a:solidFill>
                  <a:schemeClr val="tx1"/>
                </a:solidFill>
                <a:ea typeface="Open Sans" panose="020B0606030504020204" pitchFamily="34" charset="0"/>
                <a:cs typeface="Open Sans" panose="020B0606030504020204" pitchFamily="34" charset="0"/>
              </a:rPr>
              <a:t>valeurs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encodables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significatives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suivant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séquence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hiérarchique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Exemple</a:t>
            </a:r>
            <a:r>
              <a:rPr lang="en-US" sz="1800" kern="0" dirty="0">
                <a:solidFill>
                  <a:schemeClr val="tx1"/>
                </a:solidFill>
                <a:ea typeface="Open Sans" panose="020B0606030504020204" pitchFamily="34" charset="0"/>
                <a:cs typeface="Open Sans" panose="020B0606030504020204" pitchFamily="34" charset="0"/>
              </a:rPr>
              <a:t>: les 5 positions de </a:t>
            </a:r>
            <a:r>
              <a:rPr lang="en-US" sz="1800" kern="0" dirty="0" err="1">
                <a:solidFill>
                  <a:schemeClr val="tx1"/>
                </a:solidFill>
                <a:ea typeface="Open Sans" panose="020B0606030504020204" pitchFamily="34" charset="0"/>
                <a:cs typeface="Open Sans" panose="020B0606030504020204" pitchFamily="34" charset="0"/>
              </a:rPr>
              <a:t>vitesse</a:t>
            </a:r>
            <a:r>
              <a:rPr lang="en-US" sz="1800" kern="0" dirty="0">
                <a:solidFill>
                  <a:schemeClr val="tx1"/>
                </a:solidFill>
                <a:ea typeface="Open Sans" panose="020B0606030504020204" pitchFamily="34" charset="0"/>
                <a:cs typeface="Open Sans" panose="020B0606030504020204" pitchFamily="34" charset="0"/>
              </a:rPr>
              <a:t> d'un </a:t>
            </a:r>
            <a:r>
              <a:rPr lang="en-US" sz="1800" kern="0" dirty="0" err="1">
                <a:solidFill>
                  <a:schemeClr val="tx1"/>
                </a:solidFill>
                <a:ea typeface="Open Sans" panose="020B0606030504020204" pitchFamily="34" charset="0"/>
                <a:cs typeface="Open Sans" panose="020B0606030504020204" pitchFamily="34" charset="0"/>
              </a:rPr>
              <a:t>contrôleur</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ventilateur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moteur</a:t>
            </a:r>
            <a:r>
              <a:rPr lang="en-US" sz="1800" kern="0" dirty="0">
                <a:solidFill>
                  <a:schemeClr val="tx1"/>
                </a:solidFill>
                <a:ea typeface="Open Sans" panose="020B0606030504020204" pitchFamily="34" charset="0"/>
                <a:cs typeface="Open Sans" panose="020B0606030504020204" pitchFamily="34" charset="0"/>
              </a:rPr>
              <a:t>) </a:t>
            </a:r>
          </a:p>
          <a:p>
            <a:endParaRPr lang="en-US" sz="1800" kern="0" dirty="0">
              <a:solidFill>
                <a:schemeClr val="tx1"/>
              </a:solidFill>
              <a:ea typeface="Open Sans" panose="020B0606030504020204" pitchFamily="34" charset="0"/>
              <a:cs typeface="Open Sans" panose="020B0606030504020204" pitchFamily="34" charset="0"/>
            </a:endParaRPr>
          </a:p>
          <a:p>
            <a:r>
              <a:rPr lang="en-US" sz="1800" b="1" kern="0" dirty="0">
                <a:solidFill>
                  <a:schemeClr val="tx1"/>
                </a:solidFill>
                <a:ea typeface="Open Sans" panose="020B0606030504020204" pitchFamily="34" charset="0"/>
                <a:cs typeface="Open Sans" panose="020B0606030504020204" pitchFamily="34" charset="0"/>
              </a:rPr>
              <a:t>Pour </a:t>
            </a:r>
            <a:r>
              <a:rPr lang="en-US" sz="1800" b="1" kern="0" dirty="0" err="1">
                <a:solidFill>
                  <a:schemeClr val="tx1"/>
                </a:solidFill>
                <a:ea typeface="Open Sans" panose="020B0606030504020204" pitchFamily="34" charset="0"/>
                <a:cs typeface="Open Sans" panose="020B0606030504020204" pitchFamily="34" charset="0"/>
              </a:rPr>
              <a:t>couvrir</a:t>
            </a:r>
            <a:r>
              <a:rPr lang="en-US" sz="1800" b="1" kern="0" dirty="0">
                <a:solidFill>
                  <a:schemeClr val="tx1"/>
                </a:solidFill>
                <a:ea typeface="Open Sans" panose="020B0606030504020204" pitchFamily="34" charset="0"/>
                <a:cs typeface="Open Sans" panose="020B0606030504020204" pitchFamily="34" charset="0"/>
              </a:rPr>
              <a:t> le </a:t>
            </a:r>
            <a:r>
              <a:rPr lang="en-US" sz="1800" b="1" kern="0" dirty="0" err="1">
                <a:solidFill>
                  <a:schemeClr val="tx1"/>
                </a:solidFill>
                <a:ea typeface="Open Sans" panose="020B0606030504020204" pitchFamily="34" charset="0"/>
                <a:cs typeface="Open Sans" panose="020B0606030504020204" pitchFamily="34" charset="0"/>
              </a:rPr>
              <a:t>fonctionnement</a:t>
            </a:r>
            <a:r>
              <a:rPr lang="en-US" sz="1800" b="1" kern="0" dirty="0">
                <a:solidFill>
                  <a:schemeClr val="tx1"/>
                </a:solidFill>
                <a:ea typeface="Open Sans" panose="020B0606030504020204" pitchFamily="34" charset="0"/>
                <a:cs typeface="Open Sans" panose="020B0606030504020204" pitchFamily="34" charset="0"/>
              </a:rPr>
              <a:t> avec </a:t>
            </a:r>
            <a:r>
              <a:rPr lang="en-US" sz="1800" b="1" kern="0" dirty="0" err="1">
                <a:solidFill>
                  <a:schemeClr val="tx1"/>
                </a:solidFill>
                <a:ea typeface="Open Sans" panose="020B0606030504020204" pitchFamily="34" charset="0"/>
                <a:cs typeface="Open Sans" panose="020B0606030504020204" pitchFamily="34" charset="0"/>
              </a:rPr>
              <a:t>différentes</a:t>
            </a:r>
            <a:r>
              <a:rPr lang="en-US" sz="1800" b="1" kern="0" dirty="0">
                <a:solidFill>
                  <a:schemeClr val="tx1"/>
                </a:solidFill>
                <a:ea typeface="Open Sans" panose="020B0606030504020204" pitchFamily="34" charset="0"/>
                <a:cs typeface="Open Sans" panose="020B0606030504020204" pitchFamily="34" charset="0"/>
              </a:rPr>
              <a:t> étapes, </a:t>
            </a:r>
            <a:r>
              <a:rPr lang="en-US" sz="1800" b="1" kern="0" dirty="0" err="1">
                <a:solidFill>
                  <a:schemeClr val="tx1"/>
                </a:solidFill>
                <a:ea typeface="Open Sans" panose="020B0606030504020204" pitchFamily="34" charset="0"/>
                <a:cs typeface="Open Sans" panose="020B0606030504020204" pitchFamily="34" charset="0"/>
              </a:rPr>
              <a:t>l'expéditeur</a:t>
            </a:r>
            <a:r>
              <a:rPr lang="en-US" sz="1800" b="1" kern="0" dirty="0">
                <a:solidFill>
                  <a:schemeClr val="tx1"/>
                </a:solidFill>
                <a:ea typeface="Open Sans" panose="020B0606030504020204" pitchFamily="34" charset="0"/>
                <a:cs typeface="Open Sans" panose="020B0606030504020204" pitchFamily="34" charset="0"/>
              </a:rPr>
              <a:t> et le </a:t>
            </a:r>
            <a:r>
              <a:rPr lang="en-US" sz="1800" b="1" kern="0" dirty="0" err="1">
                <a:solidFill>
                  <a:schemeClr val="tx1"/>
                </a:solidFill>
                <a:ea typeface="Open Sans" panose="020B0606030504020204" pitchFamily="34" charset="0"/>
                <a:cs typeface="Open Sans" panose="020B0606030504020204" pitchFamily="34" charset="0"/>
              </a:rPr>
              <a:t>récepteur</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doivent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convertir</a:t>
            </a:r>
            <a:r>
              <a:rPr lang="en-US" sz="1800" b="1" kern="0" dirty="0">
                <a:solidFill>
                  <a:schemeClr val="tx1"/>
                </a:solidFill>
                <a:ea typeface="Open Sans" panose="020B0606030504020204" pitchFamily="34" charset="0"/>
                <a:cs typeface="Open Sans" panose="020B0606030504020204" pitchFamily="34" charset="0"/>
              </a:rPr>
              <a:t> les étapes </a:t>
            </a:r>
            <a:r>
              <a:rPr lang="en-US" sz="1800" b="1" kern="0" dirty="0" err="1">
                <a:solidFill>
                  <a:schemeClr val="tx1"/>
                </a:solidFill>
                <a:ea typeface="Open Sans" panose="020B0606030504020204" pitchFamily="34" charset="0"/>
                <a:cs typeface="Open Sans" panose="020B0606030504020204" pitchFamily="34" charset="0"/>
              </a:rPr>
              <a:t>en</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une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plage</a:t>
            </a:r>
            <a:r>
              <a:rPr lang="en-US" sz="1800" b="1" kern="0" dirty="0">
                <a:solidFill>
                  <a:schemeClr val="tx1"/>
                </a:solidFill>
                <a:ea typeface="Open Sans" panose="020B0606030504020204" pitchFamily="34" charset="0"/>
                <a:cs typeface="Open Sans" panose="020B0606030504020204" pitchFamily="34" charset="0"/>
              </a:rPr>
              <a:t> comprise entre 0 et 255 </a:t>
            </a: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r>
              <a:rPr lang="en-US" sz="1800" kern="0" dirty="0" err="1">
                <a:solidFill>
                  <a:schemeClr val="tx1"/>
                </a:solidFill>
                <a:ea typeface="Open Sans" panose="020B0606030504020204" pitchFamily="34" charset="0"/>
                <a:cs typeface="Open Sans" panose="020B0606030504020204" pitchFamily="34" charset="0"/>
              </a:rPr>
              <a:t>Ces</a:t>
            </a:r>
            <a:r>
              <a:rPr lang="en-US" sz="1800" kern="0" dirty="0">
                <a:solidFill>
                  <a:schemeClr val="tx1"/>
                </a:solidFill>
                <a:ea typeface="Open Sans" panose="020B0606030504020204" pitchFamily="34" charset="0"/>
                <a:cs typeface="Open Sans" panose="020B0606030504020204" pitchFamily="34" charset="0"/>
              </a:rPr>
              <a:t> types de points de </a:t>
            </a:r>
            <a:r>
              <a:rPr lang="en-US" sz="1800" kern="0" dirty="0" err="1">
                <a:solidFill>
                  <a:schemeClr val="tx1"/>
                </a:solidFill>
                <a:ea typeface="Open Sans" panose="020B0606030504020204" pitchFamily="34" charset="0"/>
                <a:cs typeface="Open Sans" panose="020B0606030504020204" pitchFamily="34" charset="0"/>
              </a:rPr>
              <a:t>données</a:t>
            </a:r>
            <a:r>
              <a:rPr lang="en-US" sz="1800" kern="0" dirty="0">
                <a:solidFill>
                  <a:schemeClr val="tx1"/>
                </a:solidFill>
                <a:ea typeface="Open Sans" panose="020B0606030504020204" pitchFamily="34" charset="0"/>
                <a:cs typeface="Open Sans" panose="020B0606030504020204" pitchFamily="34" charset="0"/>
              </a:rPr>
              <a:t> ne </a:t>
            </a:r>
            <a:r>
              <a:rPr lang="en-US" sz="1800" kern="0" dirty="0" err="1">
                <a:solidFill>
                  <a:schemeClr val="tx1"/>
                </a:solidFill>
                <a:ea typeface="Open Sans" panose="020B0606030504020204" pitchFamily="34" charset="0"/>
                <a:cs typeface="Open Sans" panose="020B0606030504020204" pitchFamily="34" charset="0"/>
              </a:rPr>
              <a:t>peuvent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utilisés</a:t>
            </a:r>
            <a:r>
              <a:rPr lang="en-US" sz="1800" kern="0" dirty="0">
                <a:solidFill>
                  <a:schemeClr val="tx1"/>
                </a:solidFill>
                <a:ea typeface="Open Sans" panose="020B0606030504020204" pitchFamily="34" charset="0"/>
                <a:cs typeface="Open Sans" panose="020B0606030504020204" pitchFamily="34" charset="0"/>
              </a:rPr>
              <a:t> que </a:t>
            </a:r>
            <a:r>
              <a:rPr lang="en-US" sz="1800" kern="0" dirty="0" err="1">
                <a:solidFill>
                  <a:schemeClr val="tx1"/>
                </a:solidFill>
                <a:ea typeface="Open Sans" panose="020B0606030504020204" pitchFamily="34" charset="0"/>
                <a:cs typeface="Open Sans" panose="020B0606030504020204" pitchFamily="34" charset="0"/>
              </a:rPr>
              <a:t>si</a:t>
            </a:r>
            <a:r>
              <a:rPr lang="en-US" sz="1800" kern="0" dirty="0">
                <a:solidFill>
                  <a:schemeClr val="tx1"/>
                </a:solidFill>
                <a:ea typeface="Open Sans" panose="020B0606030504020204" pitchFamily="34" charset="0"/>
                <a:cs typeface="Open Sans" panose="020B0606030504020204" pitchFamily="34" charset="0"/>
              </a:rPr>
              <a:t> </a:t>
            </a:r>
          </a:p>
          <a:p>
            <a:pPr lvl="1">
              <a:buFont typeface="Wingdings" panose="05000000000000000000" pitchFamily="2" charset="2"/>
              <a:buChar char="§"/>
            </a:pPr>
            <a:r>
              <a:rPr lang="en-US" sz="1800" b="1" kern="0" dirty="0">
                <a:solidFill>
                  <a:schemeClr val="tx1"/>
                </a:solidFill>
                <a:ea typeface="Open Sans" panose="020B0606030504020204" pitchFamily="34" charset="0"/>
                <a:cs typeface="Open Sans" panose="020B0606030504020204" pitchFamily="34" charset="0"/>
              </a:rPr>
              <a:t>les </a:t>
            </a:r>
            <a:r>
              <a:rPr lang="en-US" sz="1800" b="1" kern="0" dirty="0" err="1">
                <a:solidFill>
                  <a:schemeClr val="tx1"/>
                </a:solidFill>
                <a:ea typeface="Open Sans" panose="020B0606030504020204" pitchFamily="34" charset="0"/>
                <a:cs typeface="Open Sans" panose="020B0606030504020204" pitchFamily="34" charset="0"/>
              </a:rPr>
              <a:t>états</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ont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une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séquence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clairement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définie</a:t>
            </a:r>
            <a:r>
              <a:rPr lang="en-US" sz="1800" b="1" kern="0" dirty="0">
                <a:solidFill>
                  <a:schemeClr val="tx1"/>
                </a:solidFill>
                <a:ea typeface="Open Sans" panose="020B0606030504020204" pitchFamily="34" charset="0"/>
                <a:cs typeface="Open Sans" panose="020B0606030504020204" pitchFamily="34" charset="0"/>
              </a:rPr>
              <a:t>,</a:t>
            </a:r>
          </a:p>
          <a:p>
            <a:pPr lvl="1">
              <a:buFont typeface="Wingdings" panose="05000000000000000000" pitchFamily="2" charset="2"/>
              <a:buChar char="§"/>
            </a:pPr>
            <a:r>
              <a:rPr lang="en-US" sz="1800" b="1" kern="0" dirty="0" err="1">
                <a:solidFill>
                  <a:schemeClr val="tx1"/>
                </a:solidFill>
                <a:ea typeface="Open Sans" panose="020B0606030504020204" pitchFamily="34" charset="0"/>
                <a:cs typeface="Open Sans" panose="020B0606030504020204" pitchFamily="34" charset="0"/>
              </a:rPr>
              <a:t>aucune</a:t>
            </a:r>
            <a:r>
              <a:rPr lang="en-US" sz="1800" b="1" kern="0" dirty="0">
                <a:solidFill>
                  <a:schemeClr val="tx1"/>
                </a:solidFill>
                <a:ea typeface="Open Sans" panose="020B0606030504020204" pitchFamily="34" charset="0"/>
                <a:cs typeface="Open Sans" panose="020B0606030504020204" pitchFamily="34" charset="0"/>
              </a:rPr>
              <a:t> conversion </a:t>
            </a:r>
            <a:r>
              <a:rPr lang="en-US" sz="1800" b="1" kern="0" dirty="0" err="1">
                <a:solidFill>
                  <a:schemeClr val="tx1"/>
                </a:solidFill>
                <a:ea typeface="Open Sans" panose="020B0606030504020204" pitchFamily="34" charset="0"/>
                <a:cs typeface="Open Sans" panose="020B0606030504020204" pitchFamily="34" charset="0"/>
              </a:rPr>
              <a:t>linéaire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exacte</a:t>
            </a:r>
            <a:r>
              <a:rPr lang="en-US" sz="1800" b="1" kern="0" dirty="0">
                <a:solidFill>
                  <a:schemeClr val="tx1"/>
                </a:solidFill>
                <a:ea typeface="Open Sans" panose="020B0606030504020204" pitchFamily="34" charset="0"/>
                <a:cs typeface="Open Sans" panose="020B0606030504020204" pitchFamily="34" charset="0"/>
              </a:rPr>
              <a:t> de </a:t>
            </a:r>
            <a:r>
              <a:rPr lang="en-US" sz="1800" b="1" kern="0" dirty="0" err="1">
                <a:solidFill>
                  <a:schemeClr val="tx1"/>
                </a:solidFill>
                <a:ea typeface="Open Sans" panose="020B0606030504020204" pitchFamily="34" charset="0"/>
                <a:cs typeface="Open Sans" panose="020B0606030504020204" pitchFamily="34" charset="0"/>
              </a:rPr>
              <a:t>n'est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requise</a:t>
            </a:r>
            <a:endParaRPr lang="en-US" sz="1800" b="1" kern="0" dirty="0">
              <a:solidFill>
                <a:schemeClr val="tx1"/>
              </a:solidFill>
              <a:ea typeface="Open Sans" panose="020B0606030504020204" pitchFamily="34" charset="0"/>
              <a:cs typeface="Open Sans" panose="020B0606030504020204" pitchFamily="34" charset="0"/>
            </a:endParaRPr>
          </a:p>
          <a:p>
            <a:endParaRPr lang="en-US" sz="1800" b="1"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p:txBody>
      </p:sp>
      <p:graphicFrame>
        <p:nvGraphicFramePr>
          <p:cNvPr id="6" name="Object 5">
            <a:extLst>
              <a:ext uri="{FF2B5EF4-FFF2-40B4-BE49-F238E27FC236}">
                <a16:creationId xmlns:a16="http://schemas.microsoft.com/office/drawing/2014/main" id="{5B3FBBEA-2863-4340-90A8-1277CC4E76CE}"/>
              </a:ext>
            </a:extLst>
          </p:cNvPr>
          <p:cNvGraphicFramePr>
            <a:graphicFrameLocks noChangeAspect="1"/>
          </p:cNvGraphicFramePr>
          <p:nvPr/>
        </p:nvGraphicFramePr>
        <p:xfrm>
          <a:off x="1371716" y="3979303"/>
          <a:ext cx="2696228" cy="615638"/>
        </p:xfrm>
        <a:graphic>
          <a:graphicData uri="http://schemas.openxmlformats.org/presentationml/2006/ole">
            <mc:AlternateContent xmlns:mc="http://schemas.openxmlformats.org/markup-compatibility/2006">
              <mc:Choice xmlns:v="urn:schemas-microsoft-com:vml" Requires="v">
                <p:oleObj r:id="rId3" imgW="1905000" imgH="431800" progId="Equation.3">
                  <p:embed/>
                </p:oleObj>
              </mc:Choice>
              <mc:Fallback>
                <p:oleObj r:id="rId3" imgW="1905000" imgH="431800" progId="Equation.3">
                  <p:embed/>
                  <p:pic>
                    <p:nvPicPr>
                      <p:cNvPr id="6" name="Object 5">
                        <a:extLst>
                          <a:ext uri="{FF2B5EF4-FFF2-40B4-BE49-F238E27FC236}">
                            <a16:creationId xmlns:a16="http://schemas.microsoft.com/office/drawing/2014/main" id="{5B3FBBEA-2863-4340-90A8-1277CC4E76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716" y="3979303"/>
                        <a:ext cx="2696228" cy="615638"/>
                      </a:xfrm>
                      <a:prstGeom prst="rect">
                        <a:avLst/>
                      </a:prstGeom>
                      <a:noFill/>
                    </p:spPr>
                  </p:pic>
                </p:oleObj>
              </mc:Fallback>
            </mc:AlternateContent>
          </a:graphicData>
        </a:graphic>
      </p:graphicFrame>
      <p:pic>
        <p:nvPicPr>
          <p:cNvPr id="7" name="Picture 6">
            <a:extLst>
              <a:ext uri="{FF2B5EF4-FFF2-40B4-BE49-F238E27FC236}">
                <a16:creationId xmlns:a16="http://schemas.microsoft.com/office/drawing/2014/main" id="{D063FB37-98A7-4292-8DDD-08F42E6CBD35}"/>
              </a:ext>
            </a:extLst>
          </p:cNvPr>
          <p:cNvPicPr>
            <a:picLocks noChangeAspect="1"/>
          </p:cNvPicPr>
          <p:nvPr/>
        </p:nvPicPr>
        <p:blipFill>
          <a:blip r:embed="rId5"/>
          <a:stretch>
            <a:fillRect/>
          </a:stretch>
        </p:blipFill>
        <p:spPr>
          <a:xfrm>
            <a:off x="4576128" y="3991582"/>
            <a:ext cx="3829916" cy="611622"/>
          </a:xfrm>
          <a:prstGeom prst="rect">
            <a:avLst/>
          </a:prstGeom>
        </p:spPr>
      </p:pic>
      <p:sp>
        <p:nvSpPr>
          <p:cNvPr id="8" name="Rectangle 7">
            <a:extLst>
              <a:ext uri="{FF2B5EF4-FFF2-40B4-BE49-F238E27FC236}">
                <a16:creationId xmlns:a16="http://schemas.microsoft.com/office/drawing/2014/main" id="{8E80D1CD-1BE9-4B78-A633-F069C9AF95E0}"/>
              </a:ext>
            </a:extLst>
          </p:cNvPr>
          <p:cNvSpPr/>
          <p:nvPr/>
        </p:nvSpPr>
        <p:spPr>
          <a:xfrm>
            <a:off x="1342480" y="3613666"/>
            <a:ext cx="1043876" cy="369332"/>
          </a:xfrm>
          <a:prstGeom prst="rect">
            <a:avLst/>
          </a:prstGeom>
        </p:spPr>
        <p:txBody>
          <a:bodyPr wrap="none">
            <a:spAutoFit/>
          </a:bodyPr>
          <a:lstStyle/>
          <a:p>
            <a:r>
              <a:rPr lang="en-US" b="1" kern="0">
                <a:ea typeface="Open Sans" panose="020B0606030504020204" pitchFamily="34" charset="0"/>
                <a:cs typeface="Open Sans" panose="020B0606030504020204" pitchFamily="34" charset="0"/>
              </a:rPr>
              <a:t>Expéditeur:</a:t>
            </a:r>
            <a:endParaRPr lang="es-ES" b="1" dirty="0"/>
          </a:p>
        </p:txBody>
      </p:sp>
      <p:sp>
        <p:nvSpPr>
          <p:cNvPr id="9" name="Rectangle 8">
            <a:extLst>
              <a:ext uri="{FF2B5EF4-FFF2-40B4-BE49-F238E27FC236}">
                <a16:creationId xmlns:a16="http://schemas.microsoft.com/office/drawing/2014/main" id="{D2CDDAFC-1C1E-404F-8B7A-645976432F1E}"/>
              </a:ext>
            </a:extLst>
          </p:cNvPr>
          <p:cNvSpPr/>
          <p:nvPr/>
        </p:nvSpPr>
        <p:spPr>
          <a:xfrm>
            <a:off x="4497886" y="3573016"/>
            <a:ext cx="1223412" cy="369332"/>
          </a:xfrm>
          <a:prstGeom prst="rect">
            <a:avLst/>
          </a:prstGeom>
        </p:spPr>
        <p:txBody>
          <a:bodyPr wrap="none">
            <a:spAutoFit/>
          </a:bodyPr>
          <a:lstStyle/>
          <a:p>
            <a:r>
              <a:rPr lang="en-US" b="1" kern="0">
                <a:ea typeface="Open Sans" panose="020B0606030504020204" pitchFamily="34" charset="0"/>
                <a:cs typeface="Open Sans" panose="020B0606030504020204" pitchFamily="34" charset="0"/>
              </a:rPr>
              <a:t>Récepteur:</a:t>
            </a:r>
            <a:endParaRPr lang="es-ES" b="1" dirty="0"/>
          </a:p>
        </p:txBody>
      </p:sp>
    </p:spTree>
    <p:extLst>
      <p:ext uri="{BB962C8B-B14F-4D97-AF65-F5344CB8AC3E}">
        <p14:creationId xmlns:p14="http://schemas.microsoft.com/office/powerpoint/2010/main" val="984203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Exemple de Types “Multi-états”</a:t>
            </a:r>
          </a:p>
        </p:txBody>
      </p:sp>
      <p:sp>
        <p:nvSpPr>
          <p:cNvPr id="2" name="Rectangle 2">
            <a:extLst>
              <a:ext uri="{FF2B5EF4-FFF2-40B4-BE49-F238E27FC236}">
                <a16:creationId xmlns:a16="http://schemas.microsoft.com/office/drawing/2014/main" id="{E08AB984-96B8-4BF6-B2E6-0A1A19254418}"/>
              </a:ext>
            </a:extLst>
          </p:cNvPr>
          <p:cNvSpPr>
            <a:spLocks noChangeArrowheads="1"/>
          </p:cNvSpPr>
          <p:nvPr/>
        </p:nvSpPr>
        <p:spPr bwMode="auto">
          <a:xfrm>
            <a:off x="3131840" y="249289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C1B0A817-167D-4CB5-8927-E0C4CC92159B}"/>
              </a:ext>
            </a:extLst>
          </p:cNvPr>
          <p:cNvGraphicFramePr>
            <a:graphicFrameLocks noChangeAspect="1"/>
          </p:cNvGraphicFramePr>
          <p:nvPr/>
        </p:nvGraphicFramePr>
        <p:xfrm>
          <a:off x="1910962" y="2668201"/>
          <a:ext cx="6280845" cy="3851799"/>
        </p:xfrm>
        <a:graphic>
          <a:graphicData uri="http://schemas.openxmlformats.org/presentationml/2006/ole">
            <mc:AlternateContent xmlns:mc="http://schemas.openxmlformats.org/markup-compatibility/2006">
              <mc:Choice xmlns:v="urn:schemas-microsoft-com:vml" Requires="v">
                <p:oleObj r:id="rId3" imgW="8372607" imgH="5143500" progId="Visio.Drawing.15">
                  <p:embed/>
                </p:oleObj>
              </mc:Choice>
              <mc:Fallback>
                <p:oleObj r:id="rId3" imgW="8372607" imgH="5143500" progId="Visio.Drawing.15">
                  <p:embed/>
                  <p:pic>
                    <p:nvPicPr>
                      <p:cNvPr id="4" name="Object 3">
                        <a:extLst>
                          <a:ext uri="{FF2B5EF4-FFF2-40B4-BE49-F238E27FC236}">
                            <a16:creationId xmlns:a16="http://schemas.microsoft.com/office/drawing/2014/main" id="{C1B0A817-167D-4CB5-8927-E0C4CC9215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0962" y="2668201"/>
                        <a:ext cx="6280845" cy="3851799"/>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00B9F184-FBE0-44C5-A5BA-CC300C9CECE5}"/>
              </a:ext>
            </a:extLst>
          </p:cNvPr>
          <p:cNvSpPr/>
          <p:nvPr/>
        </p:nvSpPr>
        <p:spPr>
          <a:xfrm>
            <a:off x="903600" y="1559694"/>
            <a:ext cx="7844864" cy="1077218"/>
          </a:xfrm>
          <a:prstGeom prst="rect">
            <a:avLst/>
          </a:prstGeom>
        </p:spPr>
        <p:txBody>
          <a:bodyPr wrap="square">
            <a:spAutoFit/>
          </a:bodyPr>
          <a:lstStyle/>
          <a:p>
            <a:r>
              <a:rPr lang="en-US" sz="1600" b="1" dirty="0"/>
              <a:t>Un </a:t>
            </a:r>
            <a:r>
              <a:rPr lang="en-US" sz="1600" b="1" dirty="0" err="1"/>
              <a:t>émetteur</a:t>
            </a:r>
            <a:r>
              <a:rPr lang="en-US" sz="1600" b="1" dirty="0"/>
              <a:t> à 3 </a:t>
            </a:r>
            <a:r>
              <a:rPr lang="en-US" sz="1600" b="1" dirty="0" err="1"/>
              <a:t>niveaux</a:t>
            </a:r>
            <a:r>
              <a:rPr lang="en-US" sz="1600" b="1" dirty="0"/>
              <a:t> (NS=3) </a:t>
            </a:r>
            <a:r>
              <a:rPr lang="en-US" sz="1600" b="1" dirty="0" err="1"/>
              <a:t>commande</a:t>
            </a:r>
            <a:r>
              <a:rPr lang="en-US" sz="1600" b="1" dirty="0"/>
              <a:t> un </a:t>
            </a:r>
            <a:r>
              <a:rPr lang="en-US" sz="1600" b="1" dirty="0" err="1"/>
              <a:t>récepteur</a:t>
            </a:r>
            <a:r>
              <a:rPr lang="en-US" sz="1600" b="1" dirty="0"/>
              <a:t> à 5 </a:t>
            </a:r>
            <a:r>
              <a:rPr lang="en-US" sz="1600" b="1" dirty="0" err="1"/>
              <a:t>niveaux</a:t>
            </a:r>
            <a:r>
              <a:rPr lang="en-US" sz="1600" b="1" dirty="0"/>
              <a:t> (NR=5).</a:t>
            </a:r>
          </a:p>
          <a:p>
            <a:r>
              <a:rPr lang="en-US" sz="1600" b="1" dirty="0" err="1"/>
              <a:t>L'étape</a:t>
            </a:r>
            <a:r>
              <a:rPr lang="en-US" sz="1600" b="1" dirty="0"/>
              <a:t> 2 (S x=2) de </a:t>
            </a:r>
            <a:r>
              <a:rPr lang="en-US" sz="1600" b="1" dirty="0" err="1"/>
              <a:t>l'expéditeur</a:t>
            </a:r>
            <a:r>
              <a:rPr lang="en-US" sz="1600" b="1" dirty="0"/>
              <a:t> </a:t>
            </a:r>
            <a:r>
              <a:rPr lang="en-US" sz="1600" b="1" dirty="0" err="1"/>
              <a:t>est</a:t>
            </a:r>
            <a:r>
              <a:rPr lang="en-US" sz="1600" b="1" dirty="0"/>
              <a:t> </a:t>
            </a:r>
            <a:r>
              <a:rPr lang="en-US" sz="1600" b="1" dirty="0" err="1"/>
              <a:t>donc</a:t>
            </a:r>
            <a:r>
              <a:rPr lang="en-US" sz="1600" b="1" dirty="0"/>
              <a:t> </a:t>
            </a:r>
            <a:r>
              <a:rPr lang="en-US" sz="1600" b="1" dirty="0" err="1"/>
              <a:t>transmise</a:t>
            </a:r>
            <a:r>
              <a:rPr lang="en-US" sz="1600" b="1" dirty="0"/>
              <a:t> </a:t>
            </a:r>
            <a:r>
              <a:rPr lang="en-US" sz="1600" b="1" dirty="0" err="1"/>
              <a:t>comme</a:t>
            </a:r>
            <a:r>
              <a:rPr lang="en-US" sz="1600" b="1" dirty="0"/>
              <a:t> = 170 </a:t>
            </a:r>
          </a:p>
          <a:p>
            <a:endParaRPr lang="en-US" sz="1600" b="1" dirty="0"/>
          </a:p>
          <a:p>
            <a:r>
              <a:rPr lang="en-US" sz="1600" b="1" dirty="0"/>
              <a:t>Le </a:t>
            </a:r>
            <a:r>
              <a:rPr lang="en-US" sz="1600" b="1" dirty="0" err="1"/>
              <a:t>récepteur</a:t>
            </a:r>
            <a:r>
              <a:rPr lang="en-US" sz="1600" b="1" dirty="0"/>
              <a:t> </a:t>
            </a:r>
            <a:r>
              <a:rPr lang="en-US" sz="1600" b="1" dirty="0" err="1"/>
              <a:t>interprète</a:t>
            </a:r>
            <a:r>
              <a:rPr lang="en-US" sz="1600" b="1" dirty="0"/>
              <a:t> </a:t>
            </a:r>
            <a:r>
              <a:rPr lang="en-US" sz="1600" b="1" dirty="0" err="1"/>
              <a:t>ceci</a:t>
            </a:r>
            <a:r>
              <a:rPr lang="en-US" sz="1600" b="1" dirty="0"/>
              <a:t> </a:t>
            </a:r>
            <a:r>
              <a:rPr lang="en-US" sz="1600" b="1" dirty="0" err="1"/>
              <a:t>comme</a:t>
            </a:r>
            <a:r>
              <a:rPr lang="en-US" sz="1600" b="1" dirty="0"/>
              <a:t>                        et se </a:t>
            </a:r>
            <a:r>
              <a:rPr lang="en-US" sz="1600" b="1" dirty="0" err="1"/>
              <a:t>déplace</a:t>
            </a:r>
            <a:r>
              <a:rPr lang="en-US" sz="1600" b="1" dirty="0"/>
              <a:t> à son </a:t>
            </a:r>
            <a:r>
              <a:rPr lang="en-US" sz="1600" b="1" dirty="0" err="1"/>
              <a:t>niveau</a:t>
            </a:r>
            <a:r>
              <a:rPr lang="en-US" sz="1600" b="1" dirty="0"/>
              <a:t> 3</a:t>
            </a:r>
          </a:p>
        </p:txBody>
      </p:sp>
      <p:graphicFrame>
        <p:nvGraphicFramePr>
          <p:cNvPr id="7" name="Object 6">
            <a:extLst>
              <a:ext uri="{FF2B5EF4-FFF2-40B4-BE49-F238E27FC236}">
                <a16:creationId xmlns:a16="http://schemas.microsoft.com/office/drawing/2014/main" id="{5D3B0BD2-DAB3-4990-A388-F45B5D25F095}"/>
              </a:ext>
            </a:extLst>
          </p:cNvPr>
          <p:cNvGraphicFramePr>
            <a:graphicFrameLocks noChangeAspect="1"/>
          </p:cNvGraphicFramePr>
          <p:nvPr/>
        </p:nvGraphicFramePr>
        <p:xfrm>
          <a:off x="4572000" y="2221413"/>
          <a:ext cx="960437" cy="563562"/>
        </p:xfrm>
        <a:graphic>
          <a:graphicData uri="http://schemas.openxmlformats.org/presentationml/2006/ole">
            <mc:AlternateContent xmlns:mc="http://schemas.openxmlformats.org/markup-compatibility/2006">
              <mc:Choice xmlns:v="urn:schemas-microsoft-com:vml" Requires="v">
                <p:oleObj r:id="rId5" imgW="660113" imgH="393529" progId="Equation.3">
                  <p:embed/>
                </p:oleObj>
              </mc:Choice>
              <mc:Fallback>
                <p:oleObj r:id="rId5" imgW="660113" imgH="393529" progId="Equation.3">
                  <p:embed/>
                  <p:pic>
                    <p:nvPicPr>
                      <p:cNvPr id="7" name="Object 6">
                        <a:extLst>
                          <a:ext uri="{FF2B5EF4-FFF2-40B4-BE49-F238E27FC236}">
                            <a16:creationId xmlns:a16="http://schemas.microsoft.com/office/drawing/2014/main" id="{5D3B0BD2-DAB3-4990-A388-F45B5D25F0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2221413"/>
                        <a:ext cx="960437" cy="563562"/>
                      </a:xfrm>
                      <a:prstGeom prst="rect">
                        <a:avLst/>
                      </a:prstGeom>
                      <a:noFill/>
                    </p:spPr>
                  </p:pic>
                </p:oleObj>
              </mc:Fallback>
            </mc:AlternateContent>
          </a:graphicData>
        </a:graphic>
      </p:graphicFrame>
    </p:spTree>
    <p:extLst>
      <p:ext uri="{BB962C8B-B14F-4D97-AF65-F5344CB8AC3E}">
        <p14:creationId xmlns:p14="http://schemas.microsoft.com/office/powerpoint/2010/main" val="301117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sz="2400" dirty="0"/>
              <a:t>Types </a:t>
            </a:r>
            <a:r>
              <a:rPr lang="en-GB" sz="2400" dirty="0" err="1"/>
              <a:t>communs</a:t>
            </a:r>
            <a:r>
              <a:rPr lang="en-GB" sz="2400" dirty="0"/>
              <a:t> de points de </a:t>
            </a:r>
            <a:r>
              <a:rPr lang="en-GB" sz="2400" dirty="0" err="1"/>
              <a:t>données</a:t>
            </a:r>
            <a:r>
              <a:rPr lang="en-GB" sz="2400" dirty="0"/>
              <a:t> KNX</a:t>
            </a:r>
          </a:p>
        </p:txBody>
      </p:sp>
      <p:sp>
        <p:nvSpPr>
          <p:cNvPr id="4" name="Content Placeholder 1">
            <a:extLst>
              <a:ext uri="{FF2B5EF4-FFF2-40B4-BE49-F238E27FC236}">
                <a16:creationId xmlns:a16="http://schemas.microsoft.com/office/drawing/2014/main" id="{DCCF80E8-B45F-461F-BF7F-AE7A871D77CF}"/>
              </a:ext>
            </a:extLst>
          </p:cNvPr>
          <p:cNvSpPr txBox="1">
            <a:spLocks/>
          </p:cNvSpPr>
          <p:nvPr/>
        </p:nvSpPr>
        <p:spPr>
          <a:xfrm>
            <a:off x="903600" y="1412875"/>
            <a:ext cx="7632848"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kern="0" dirty="0" err="1">
                <a:solidFill>
                  <a:schemeClr val="tx1"/>
                </a:solidFill>
                <a:ea typeface="Open Sans" panose="020B0606030504020204" pitchFamily="34" charset="0"/>
                <a:cs typeface="Open Sans" panose="020B0606030504020204" pitchFamily="34" charset="0"/>
              </a:rPr>
              <a:t>Tous</a:t>
            </a:r>
            <a:r>
              <a:rPr lang="en-US" sz="1800" kern="0" dirty="0">
                <a:solidFill>
                  <a:schemeClr val="tx1"/>
                </a:solidFill>
                <a:ea typeface="Open Sans" panose="020B0606030504020204" pitchFamily="34" charset="0"/>
                <a:cs typeface="Open Sans" panose="020B0606030504020204" pitchFamily="34" charset="0"/>
              </a:rPr>
              <a:t> les types de points de </a:t>
            </a:r>
            <a:r>
              <a:rPr lang="en-US" sz="1800" kern="0" dirty="0" err="1">
                <a:solidFill>
                  <a:schemeClr val="tx1"/>
                </a:solidFill>
                <a:ea typeface="Open Sans" panose="020B0606030504020204" pitchFamily="34" charset="0"/>
                <a:cs typeface="Open Sans" panose="020B0606030504020204" pitchFamily="34" charset="0"/>
              </a:rPr>
              <a:t>données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identification unique </a:t>
            </a:r>
            <a:r>
              <a:rPr lang="en-US" sz="1800" kern="0" dirty="0" err="1">
                <a:solidFill>
                  <a:schemeClr val="tx1"/>
                </a:solidFill>
                <a:ea typeface="Open Sans" panose="020B0606030504020204" pitchFamily="34" charset="0"/>
                <a:cs typeface="Open Sans" panose="020B0606030504020204" pitchFamily="34" charset="0"/>
              </a:rPr>
              <a:t>composée</a:t>
            </a:r>
            <a:r>
              <a:rPr lang="en-US" sz="1800" kern="0" dirty="0">
                <a:solidFill>
                  <a:schemeClr val="tx1"/>
                </a:solidFill>
                <a:ea typeface="Open Sans" panose="020B0606030504020204" pitchFamily="34" charset="0"/>
                <a:cs typeface="Open Sans" panose="020B0606030504020204" pitchFamily="34" charset="0"/>
              </a:rPr>
              <a:t> de deux chiffres:</a:t>
            </a:r>
          </a:p>
          <a:p>
            <a:pPr lvl="1">
              <a:buFont typeface="Wingdings" panose="05000000000000000000" pitchFamily="2" charset="2"/>
              <a:buChar char="§"/>
            </a:pPr>
            <a:r>
              <a:rPr lang="en-US" sz="1800" b="1" kern="0" dirty="0">
                <a:solidFill>
                  <a:schemeClr val="tx1"/>
                </a:solidFill>
                <a:ea typeface="Open Sans" panose="020B0606030504020204" pitchFamily="34" charset="0"/>
                <a:cs typeface="Open Sans" panose="020B0606030504020204" pitchFamily="34" charset="0"/>
              </a:rPr>
              <a:t>Chiffre 1 : </a:t>
            </a:r>
            <a:r>
              <a:rPr lang="en-US" sz="1800" b="1" kern="0" dirty="0">
                <a:solidFill>
                  <a:srgbClr val="369226"/>
                </a:solidFill>
                <a:ea typeface="Open Sans" panose="020B0606030504020204" pitchFamily="34" charset="0"/>
                <a:cs typeface="Open Sans" panose="020B0606030504020204" pitchFamily="34" charset="0"/>
              </a:rPr>
              <a:t>Format et Codification</a:t>
            </a:r>
          </a:p>
          <a:p>
            <a:pPr lvl="1">
              <a:buFont typeface="Wingdings" panose="05000000000000000000" pitchFamily="2" charset="2"/>
              <a:buChar char="§"/>
            </a:pPr>
            <a:r>
              <a:rPr lang="en-US" sz="1800" b="1" kern="0" dirty="0">
                <a:solidFill>
                  <a:schemeClr val="tx1"/>
                </a:solidFill>
                <a:ea typeface="Open Sans" panose="020B0606030504020204" pitchFamily="34" charset="0"/>
                <a:cs typeface="Open Sans" panose="020B0606030504020204" pitchFamily="34" charset="0"/>
              </a:rPr>
              <a:t>Chiffre 2 : </a:t>
            </a:r>
            <a:r>
              <a:rPr lang="en-US" sz="1800" b="1" kern="0" dirty="0" err="1">
                <a:solidFill>
                  <a:srgbClr val="369226"/>
                </a:solidFill>
                <a:ea typeface="Open Sans" panose="020B0606030504020204" pitchFamily="34" charset="0"/>
                <a:cs typeface="Open Sans" panose="020B0606030504020204" pitchFamily="34" charset="0"/>
              </a:rPr>
              <a:t>Plage</a:t>
            </a:r>
            <a:r>
              <a:rPr lang="en-US" sz="1800" b="1" kern="0" dirty="0">
                <a:solidFill>
                  <a:srgbClr val="369226"/>
                </a:solidFill>
                <a:ea typeface="Open Sans" panose="020B0606030504020204" pitchFamily="34" charset="0"/>
                <a:cs typeface="Open Sans" panose="020B0606030504020204" pitchFamily="34" charset="0"/>
              </a:rPr>
              <a:t> et </a:t>
            </a:r>
            <a:r>
              <a:rPr lang="en-US" sz="1800" b="1" kern="0" dirty="0" err="1">
                <a:solidFill>
                  <a:srgbClr val="369226"/>
                </a:solidFill>
                <a:ea typeface="Open Sans" panose="020B0606030504020204" pitchFamily="34" charset="0"/>
                <a:cs typeface="Open Sans" panose="020B0606030504020204" pitchFamily="34" charset="0"/>
              </a:rPr>
              <a:t>Unité</a:t>
            </a:r>
            <a:endParaRPr lang="en-US" sz="1800" b="1" kern="0" dirty="0">
              <a:solidFill>
                <a:srgbClr val="369226"/>
              </a:solidFill>
              <a:ea typeface="Open Sans" panose="020B0606030504020204" pitchFamily="34" charset="0"/>
              <a:cs typeface="Open Sans" panose="020B0606030504020204" pitchFamily="34" charset="0"/>
            </a:endParaRPr>
          </a:p>
          <a:p>
            <a:endParaRPr lang="en-US" sz="1800" kern="0" dirty="0">
              <a:solidFill>
                <a:schemeClr val="tx1"/>
              </a:solidFill>
              <a:ea typeface="Open Sans" panose="020B0606030504020204" pitchFamily="34" charset="0"/>
              <a:cs typeface="Open Sans" panose="020B0606030504020204" pitchFamily="34" charset="0"/>
            </a:endParaRPr>
          </a:p>
          <a:p>
            <a:r>
              <a:rPr lang="en-US" sz="1800" kern="0" dirty="0">
                <a:solidFill>
                  <a:schemeClr val="tx1"/>
                </a:solidFill>
                <a:ea typeface="Open Sans" panose="020B0606030504020204" pitchFamily="34" charset="0"/>
                <a:cs typeface="Open Sans" panose="020B0606030504020204" pitchFamily="34" charset="0"/>
              </a:rPr>
              <a:t>Grouper les </a:t>
            </a:r>
            <a:r>
              <a:rPr lang="en-US" sz="1800" kern="0" dirty="0" err="1">
                <a:solidFill>
                  <a:schemeClr val="tx1"/>
                </a:solidFill>
                <a:ea typeface="Open Sans" panose="020B0606030504020204" pitchFamily="34" charset="0"/>
                <a:cs typeface="Open Sans" panose="020B0606030504020204" pitchFamily="34" charset="0"/>
              </a:rPr>
              <a:t>objets</a:t>
            </a:r>
            <a:r>
              <a:rPr lang="en-US" sz="1800" kern="0" dirty="0">
                <a:solidFill>
                  <a:schemeClr val="tx1"/>
                </a:solidFill>
                <a:ea typeface="Open Sans" panose="020B0606030504020204" pitchFamily="34" charset="0"/>
                <a:cs typeface="Open Sans" panose="020B0606030504020204" pitchFamily="34" charset="0"/>
              </a:rPr>
              <a:t> avec des types DPT avec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taille :  	</a:t>
            </a:r>
          </a:p>
          <a:p>
            <a:pPr lvl="1">
              <a:buFont typeface="Wingdings" panose="05000000000000000000" pitchFamily="2" charset="2"/>
              <a:buChar char="§"/>
            </a:pPr>
            <a:r>
              <a:rPr lang="en-US" sz="1800" b="1" kern="0" dirty="0">
                <a:solidFill>
                  <a:srgbClr val="369226"/>
                </a:solidFill>
                <a:ea typeface="Open Sans" panose="020B0606030504020204" pitchFamily="34" charset="0"/>
                <a:cs typeface="Open Sans" panose="020B0606030504020204" pitchFamily="34" charset="0"/>
              </a:rPr>
              <a:t>6 bits </a:t>
            </a:r>
            <a:r>
              <a:rPr lang="en-US" sz="1800" b="1" kern="0" dirty="0" err="1">
                <a:solidFill>
                  <a:srgbClr val="369226"/>
                </a:solidFill>
                <a:ea typeface="Open Sans" panose="020B0606030504020204" pitchFamily="34" charset="0"/>
                <a:cs typeface="Open Sans" panose="020B0606030504020204" pitchFamily="34" charset="0"/>
              </a:rPr>
              <a:t>ou</a:t>
            </a:r>
            <a:r>
              <a:rPr lang="en-US" sz="1800" b="1" kern="0" dirty="0">
                <a:solidFill>
                  <a:srgbClr val="369226"/>
                </a:solidFill>
                <a:ea typeface="Open Sans" panose="020B0606030504020204" pitchFamily="34" charset="0"/>
                <a:cs typeface="Open Sans" panose="020B0606030504020204" pitchFamily="34" charset="0"/>
              </a:rPr>
              <a:t> </a:t>
            </a:r>
            <a:r>
              <a:rPr lang="en-US" sz="1800" b="1" kern="0" dirty="0" err="1">
                <a:solidFill>
                  <a:srgbClr val="369226"/>
                </a:solidFill>
                <a:ea typeface="Open Sans" panose="020B0606030504020204" pitchFamily="34" charset="0"/>
                <a:cs typeface="Open Sans" panose="020B0606030504020204" pitchFamily="34" charset="0"/>
              </a:rPr>
              <a:t>moins</a:t>
            </a:r>
            <a:r>
              <a:rPr lang="en-US" sz="1800" b="1" kern="0" dirty="0">
                <a:solidFill>
                  <a:srgbClr val="369226"/>
                </a:solidFill>
                <a:ea typeface="Open Sans" panose="020B0606030504020204" pitchFamily="34" charset="0"/>
                <a:cs typeface="Open Sans" panose="020B0606030504020204" pitchFamily="34" charset="0"/>
              </a:rPr>
              <a:t> : </a:t>
            </a:r>
            <a:r>
              <a:rPr lang="en-US" sz="1800" b="1" kern="0" dirty="0" err="1">
                <a:solidFill>
                  <a:schemeClr val="tx1"/>
                </a:solidFill>
                <a:ea typeface="Open Sans" panose="020B0606030504020204" pitchFamily="34" charset="0"/>
                <a:cs typeface="Open Sans" panose="020B0606030504020204" pitchFamily="34" charset="0"/>
              </a:rPr>
              <a:t>n'utilisez</a:t>
            </a:r>
            <a:r>
              <a:rPr lang="en-US" sz="1800" b="1" kern="0" dirty="0">
                <a:solidFill>
                  <a:schemeClr val="tx1"/>
                </a:solidFill>
                <a:ea typeface="Open Sans" panose="020B0606030504020204" pitchFamily="34" charset="0"/>
                <a:cs typeface="Open Sans" panose="020B0606030504020204" pitchFamily="34" charset="0"/>
              </a:rPr>
              <a:t> que les bits </a:t>
            </a:r>
            <a:r>
              <a:rPr lang="en-US" sz="1800" b="1" kern="0" dirty="0" err="1">
                <a:solidFill>
                  <a:schemeClr val="tx1"/>
                </a:solidFill>
                <a:ea typeface="Open Sans" panose="020B0606030504020204" pitchFamily="34" charset="0"/>
                <a:cs typeface="Open Sans" panose="020B0606030504020204" pitchFamily="34" charset="0"/>
              </a:rPr>
              <a:t>suivant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directement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l'APCI</a:t>
            </a:r>
            <a:r>
              <a:rPr lang="en-US" sz="1800" b="1" kern="0" dirty="0">
                <a:solidFill>
                  <a:schemeClr val="tx1"/>
                </a:solidFill>
                <a:ea typeface="Open Sans" panose="020B0606030504020204" pitchFamily="34" charset="0"/>
                <a:cs typeface="Open Sans" panose="020B0606030504020204" pitchFamily="34" charset="0"/>
              </a:rPr>
              <a:t> (les bits non </a:t>
            </a:r>
            <a:r>
              <a:rPr lang="en-US" sz="1800" b="1" kern="0" dirty="0" err="1">
                <a:solidFill>
                  <a:schemeClr val="tx1"/>
                </a:solidFill>
                <a:ea typeface="Open Sans" panose="020B0606030504020204" pitchFamily="34" charset="0"/>
                <a:cs typeface="Open Sans" panose="020B0606030504020204" pitchFamily="34" charset="0"/>
              </a:rPr>
              <a:t>utilisés</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sont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nulles</a:t>
            </a:r>
            <a:r>
              <a:rPr lang="en-US" sz="1800" b="1" kern="0" dirty="0">
                <a:solidFill>
                  <a:schemeClr val="tx1"/>
                </a:solidFill>
                <a:ea typeface="Open Sans" panose="020B0606030504020204" pitchFamily="34" charset="0"/>
                <a:cs typeface="Open Sans" panose="020B0606030504020204" pitchFamily="34" charset="0"/>
              </a:rPr>
              <a:t>)</a:t>
            </a:r>
          </a:p>
          <a:p>
            <a:pPr lvl="1">
              <a:buFont typeface="Wingdings" panose="05000000000000000000" pitchFamily="2" charset="2"/>
              <a:buChar char="§"/>
            </a:pPr>
            <a:r>
              <a:rPr lang="en-US" sz="1800" b="1" kern="0" dirty="0" err="1">
                <a:solidFill>
                  <a:srgbClr val="369226"/>
                </a:solidFill>
                <a:ea typeface="Open Sans" panose="020B0606030504020204" pitchFamily="34" charset="0"/>
                <a:cs typeface="Open Sans" panose="020B0606030504020204" pitchFamily="34" charset="0"/>
              </a:rPr>
              <a:t>supérieur</a:t>
            </a:r>
            <a:r>
              <a:rPr lang="en-US" sz="1800" b="1" kern="0" dirty="0">
                <a:solidFill>
                  <a:srgbClr val="369226"/>
                </a:solidFill>
                <a:ea typeface="Open Sans" panose="020B0606030504020204" pitchFamily="34" charset="0"/>
                <a:cs typeface="Open Sans" panose="020B0606030504020204" pitchFamily="34" charset="0"/>
              </a:rPr>
              <a:t> à 6 bits : </a:t>
            </a:r>
            <a:r>
              <a:rPr lang="en-US" sz="1800" b="1" kern="0" dirty="0">
                <a:solidFill>
                  <a:schemeClr val="tx1"/>
                </a:solidFill>
                <a:ea typeface="Open Sans" panose="020B0606030504020204" pitchFamily="34" charset="0"/>
                <a:cs typeface="Open Sans" panose="020B0606030504020204" pitchFamily="34" charset="0"/>
              </a:rPr>
              <a:t>les 6 bits </a:t>
            </a:r>
            <a:r>
              <a:rPr lang="en-US" sz="1800" b="1" kern="0" dirty="0" err="1">
                <a:solidFill>
                  <a:schemeClr val="tx1"/>
                </a:solidFill>
                <a:ea typeface="Open Sans" panose="020B0606030504020204" pitchFamily="34" charset="0"/>
                <a:cs typeface="Open Sans" panose="020B0606030504020204" pitchFamily="34" charset="0"/>
              </a:rPr>
              <a:t>suivant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l'APCI</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sont</a:t>
            </a:r>
            <a:r>
              <a:rPr lang="en-US" sz="1800" b="1" kern="0" dirty="0">
                <a:solidFill>
                  <a:schemeClr val="tx1"/>
                </a:solidFill>
                <a:ea typeface="Open Sans" panose="020B0606030504020204" pitchFamily="34" charset="0"/>
                <a:cs typeface="Open Sans" panose="020B0606030504020204" pitchFamily="34" charset="0"/>
              </a:rPr>
              <a:t> mis à </a:t>
            </a:r>
            <a:r>
              <a:rPr lang="en-US" sz="1800" b="1" kern="0" dirty="0" err="1">
                <a:solidFill>
                  <a:schemeClr val="tx1"/>
                </a:solidFill>
                <a:ea typeface="Open Sans" panose="020B0606030504020204" pitchFamily="34" charset="0"/>
                <a:cs typeface="Open Sans" panose="020B0606030504020204" pitchFamily="34" charset="0"/>
              </a:rPr>
              <a:t>zéro</a:t>
            </a:r>
            <a:r>
              <a:rPr lang="en-US" sz="1800" b="1" kern="0" dirty="0">
                <a:solidFill>
                  <a:schemeClr val="tx1"/>
                </a:solidFill>
                <a:ea typeface="Open Sans" panose="020B0606030504020204" pitchFamily="34" charset="0"/>
                <a:cs typeface="Open Sans" panose="020B0606030504020204" pitchFamily="34" charset="0"/>
              </a:rPr>
              <a:t> et les </a:t>
            </a:r>
            <a:r>
              <a:rPr lang="en-US" sz="1800" b="1" kern="0" dirty="0" err="1">
                <a:solidFill>
                  <a:schemeClr val="tx1"/>
                </a:solidFill>
                <a:ea typeface="Open Sans" panose="020B0606030504020204" pitchFamily="34" charset="0"/>
                <a:cs typeface="Open Sans" panose="020B0606030504020204" pitchFamily="34" charset="0"/>
              </a:rPr>
              <a:t>données</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utiles</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complétées</a:t>
            </a:r>
            <a:r>
              <a:rPr lang="en-US" sz="1800" b="1" kern="0" dirty="0">
                <a:solidFill>
                  <a:schemeClr val="tx1"/>
                </a:solidFill>
                <a:ea typeface="Open Sans" panose="020B0606030504020204" pitchFamily="34" charset="0"/>
                <a:cs typeface="Open Sans" panose="020B0606030504020204" pitchFamily="34" charset="0"/>
              </a:rPr>
              <a:t> après </a:t>
            </a:r>
            <a:r>
              <a:rPr lang="en-US" sz="1800" b="1" kern="0" dirty="0" err="1">
                <a:solidFill>
                  <a:schemeClr val="tx1"/>
                </a:solidFill>
                <a:ea typeface="Open Sans" panose="020B0606030504020204" pitchFamily="34" charset="0"/>
                <a:cs typeface="Open Sans" panose="020B0606030504020204" pitchFamily="34" charset="0"/>
              </a:rPr>
              <a:t>ces</a:t>
            </a:r>
            <a:r>
              <a:rPr lang="en-US" sz="1800" b="1" kern="0" dirty="0">
                <a:solidFill>
                  <a:schemeClr val="tx1"/>
                </a:solidFill>
                <a:ea typeface="Open Sans" panose="020B0606030504020204" pitchFamily="34" charset="0"/>
                <a:cs typeface="Open Sans" panose="020B0606030504020204" pitchFamily="34" charset="0"/>
              </a:rPr>
              <a:t> bits</a:t>
            </a:r>
          </a:p>
          <a:p>
            <a:endParaRPr lang="es-ES" sz="2000" kern="0" dirty="0">
              <a:solidFill>
                <a:schemeClr val="tx1"/>
              </a:solidFill>
              <a:ea typeface="Open Sans" panose="020B0606030504020204" pitchFamily="34" charset="0"/>
              <a:cs typeface="Open Sans" panose="020B0606030504020204" pitchFamily="34" charset="0"/>
            </a:endParaRPr>
          </a:p>
          <a:p>
            <a:r>
              <a:rPr lang="en-US" sz="1800" kern="0" dirty="0">
                <a:solidFill>
                  <a:schemeClr val="tx1"/>
                </a:solidFill>
                <a:ea typeface="Open Sans" panose="020B0606030504020204" pitchFamily="34" charset="0"/>
                <a:cs typeface="Open Sans" panose="020B0606030504020204" pitchFamily="34" charset="0"/>
              </a:rPr>
              <a:t>Les types de points de </a:t>
            </a:r>
            <a:r>
              <a:rPr lang="en-US" sz="1800" kern="0" dirty="0" err="1">
                <a:solidFill>
                  <a:schemeClr val="tx1"/>
                </a:solidFill>
                <a:ea typeface="Open Sans" panose="020B0606030504020204" pitchFamily="34" charset="0"/>
                <a:cs typeface="Open Sans" panose="020B0606030504020204" pitchFamily="34" charset="0"/>
              </a:rPr>
              <a:t>données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sous la </a:t>
            </a:r>
            <a:r>
              <a:rPr lang="en-US" sz="1800" kern="0" dirty="0" err="1">
                <a:solidFill>
                  <a:schemeClr val="tx1"/>
                </a:solidFill>
                <a:ea typeface="Open Sans" panose="020B0606030504020204" pitchFamily="34" charset="0"/>
                <a:cs typeface="Open Sans" panose="020B0606030504020204" pitchFamily="34" charset="0"/>
              </a:rPr>
              <a:t>responsabilité</a:t>
            </a:r>
            <a:r>
              <a:rPr lang="en-US" sz="1800" kern="0" dirty="0">
                <a:solidFill>
                  <a:schemeClr val="tx1"/>
                </a:solidFill>
                <a:ea typeface="Open Sans" panose="020B0606030504020204" pitchFamily="34" charset="0"/>
                <a:cs typeface="Open Sans" panose="020B0606030504020204" pitchFamily="34" charset="0"/>
              </a:rPr>
              <a:t> du </a:t>
            </a:r>
            <a:r>
              <a:rPr lang="en-US" sz="1800" kern="0" dirty="0" err="1">
                <a:solidFill>
                  <a:schemeClr val="tx1"/>
                </a:solidFill>
                <a:ea typeface="Open Sans" panose="020B0606030504020204" pitchFamily="34" charset="0"/>
                <a:cs typeface="Open Sans" panose="020B0606030504020204" pitchFamily="34" charset="0"/>
              </a:rPr>
              <a:t>groupe</a:t>
            </a:r>
            <a:r>
              <a:rPr lang="en-US" sz="1800" kern="0" dirty="0">
                <a:solidFill>
                  <a:schemeClr val="tx1"/>
                </a:solidFill>
                <a:ea typeface="Open Sans" panose="020B0606030504020204" pitchFamily="34" charset="0"/>
                <a:cs typeface="Open Sans" panose="020B0606030504020204" pitchFamily="34" charset="0"/>
              </a:rPr>
              <a:t> de travail KNX « WGI » (</a:t>
            </a:r>
            <a:r>
              <a:rPr lang="en-US" sz="1800" kern="0" dirty="0" err="1">
                <a:ea typeface="Open Sans" panose="020B0606030504020204" pitchFamily="34" charset="0"/>
                <a:cs typeface="Open Sans" panose="020B0606030504020204" pitchFamily="34" charset="0"/>
              </a:rPr>
              <a:t>Interfonctionnement</a:t>
            </a:r>
            <a:r>
              <a:rPr lang="en-US" sz="1800" kern="0" dirty="0">
                <a:ea typeface="Open Sans" panose="020B0606030504020204" pitchFamily="34" charset="0"/>
                <a:cs typeface="Open Sans" panose="020B0606030504020204" pitchFamily="34" charset="0"/>
              </a:rPr>
              <a:t> des </a:t>
            </a:r>
            <a:r>
              <a:rPr lang="en-US" sz="1800" kern="0" dirty="0" err="1">
                <a:ea typeface="Open Sans" panose="020B0606030504020204" pitchFamily="34" charset="0"/>
                <a:cs typeface="Open Sans" panose="020B0606030504020204" pitchFamily="34" charset="0"/>
              </a:rPr>
              <a:t>groupes</a:t>
            </a:r>
            <a:r>
              <a:rPr lang="en-US" sz="1800" kern="0" dirty="0">
                <a:ea typeface="Open Sans" panose="020B0606030504020204" pitchFamily="34" charset="0"/>
                <a:cs typeface="Open Sans" panose="020B0606030504020204" pitchFamily="34" charset="0"/>
              </a:rPr>
              <a:t> de travail</a:t>
            </a:r>
            <a:r>
              <a:rPr lang="en-US" sz="1800" kern="0" dirty="0">
                <a:solidFill>
                  <a:schemeClr val="tx1"/>
                </a:solidFill>
                <a:ea typeface="Open Sans" panose="020B0606030504020204" pitchFamily="34" charset="0"/>
                <a:cs typeface="Open Sans" panose="020B0606030504020204" pitchFamily="34" charset="0"/>
              </a:rPr>
              <a:t>)</a:t>
            </a: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31248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Données booléennes : DPT B1</a:t>
            </a:r>
            <a:endParaRPr lang="en-GB" dirty="0"/>
          </a:p>
        </p:txBody>
      </p:sp>
      <p:graphicFrame>
        <p:nvGraphicFramePr>
          <p:cNvPr id="6" name="Table 5">
            <a:extLst>
              <a:ext uri="{FF2B5EF4-FFF2-40B4-BE49-F238E27FC236}">
                <a16:creationId xmlns:a16="http://schemas.microsoft.com/office/drawing/2014/main" id="{0510798F-8428-4D5C-9F16-6F11780ECF27}"/>
              </a:ext>
            </a:extLst>
          </p:cNvPr>
          <p:cNvGraphicFramePr>
            <a:graphicFrameLocks noGrp="1"/>
          </p:cNvGraphicFramePr>
          <p:nvPr/>
        </p:nvGraphicFramePr>
        <p:xfrm>
          <a:off x="3995934" y="1310288"/>
          <a:ext cx="4176466" cy="5143048"/>
        </p:xfrm>
        <a:graphic>
          <a:graphicData uri="http://schemas.openxmlformats.org/drawingml/2006/table">
            <a:tbl>
              <a:tblPr/>
              <a:tblGrid>
                <a:gridCol w="454328">
                  <a:extLst>
                    <a:ext uri="{9D8B030D-6E8A-4147-A177-3AD203B41FA5}">
                      <a16:colId xmlns:a16="http://schemas.microsoft.com/office/drawing/2014/main" val="630898584"/>
                    </a:ext>
                  </a:extLst>
                </a:gridCol>
                <a:gridCol w="111077">
                  <a:extLst>
                    <a:ext uri="{9D8B030D-6E8A-4147-A177-3AD203B41FA5}">
                      <a16:colId xmlns:a16="http://schemas.microsoft.com/office/drawing/2014/main" val="1729715286"/>
                    </a:ext>
                  </a:extLst>
                </a:gridCol>
                <a:gridCol w="101554">
                  <a:extLst>
                    <a:ext uri="{9D8B030D-6E8A-4147-A177-3AD203B41FA5}">
                      <a16:colId xmlns:a16="http://schemas.microsoft.com/office/drawing/2014/main" val="1237613271"/>
                    </a:ext>
                  </a:extLst>
                </a:gridCol>
                <a:gridCol w="94607">
                  <a:extLst>
                    <a:ext uri="{9D8B030D-6E8A-4147-A177-3AD203B41FA5}">
                      <a16:colId xmlns:a16="http://schemas.microsoft.com/office/drawing/2014/main" val="1065597003"/>
                    </a:ext>
                  </a:extLst>
                </a:gridCol>
                <a:gridCol w="94607">
                  <a:extLst>
                    <a:ext uri="{9D8B030D-6E8A-4147-A177-3AD203B41FA5}">
                      <a16:colId xmlns:a16="http://schemas.microsoft.com/office/drawing/2014/main" val="676385324"/>
                    </a:ext>
                  </a:extLst>
                </a:gridCol>
                <a:gridCol w="94607">
                  <a:extLst>
                    <a:ext uri="{9D8B030D-6E8A-4147-A177-3AD203B41FA5}">
                      <a16:colId xmlns:a16="http://schemas.microsoft.com/office/drawing/2014/main" val="185523216"/>
                    </a:ext>
                  </a:extLst>
                </a:gridCol>
                <a:gridCol w="95141">
                  <a:extLst>
                    <a:ext uri="{9D8B030D-6E8A-4147-A177-3AD203B41FA5}">
                      <a16:colId xmlns:a16="http://schemas.microsoft.com/office/drawing/2014/main" val="184885985"/>
                    </a:ext>
                  </a:extLst>
                </a:gridCol>
                <a:gridCol w="94607">
                  <a:extLst>
                    <a:ext uri="{9D8B030D-6E8A-4147-A177-3AD203B41FA5}">
                      <a16:colId xmlns:a16="http://schemas.microsoft.com/office/drawing/2014/main" val="4251027036"/>
                    </a:ext>
                  </a:extLst>
                </a:gridCol>
                <a:gridCol w="94607">
                  <a:extLst>
                    <a:ext uri="{9D8B030D-6E8A-4147-A177-3AD203B41FA5}">
                      <a16:colId xmlns:a16="http://schemas.microsoft.com/office/drawing/2014/main" val="2766497990"/>
                    </a:ext>
                  </a:extLst>
                </a:gridCol>
                <a:gridCol w="94607">
                  <a:extLst>
                    <a:ext uri="{9D8B030D-6E8A-4147-A177-3AD203B41FA5}">
                      <a16:colId xmlns:a16="http://schemas.microsoft.com/office/drawing/2014/main" val="537523884"/>
                    </a:ext>
                  </a:extLst>
                </a:gridCol>
                <a:gridCol w="95141">
                  <a:extLst>
                    <a:ext uri="{9D8B030D-6E8A-4147-A177-3AD203B41FA5}">
                      <a16:colId xmlns:a16="http://schemas.microsoft.com/office/drawing/2014/main" val="342785192"/>
                    </a:ext>
                  </a:extLst>
                </a:gridCol>
                <a:gridCol w="80231">
                  <a:extLst>
                    <a:ext uri="{9D8B030D-6E8A-4147-A177-3AD203B41FA5}">
                      <a16:colId xmlns:a16="http://schemas.microsoft.com/office/drawing/2014/main" val="3227459815"/>
                    </a:ext>
                  </a:extLst>
                </a:gridCol>
                <a:gridCol w="111077">
                  <a:extLst>
                    <a:ext uri="{9D8B030D-6E8A-4147-A177-3AD203B41FA5}">
                      <a16:colId xmlns:a16="http://schemas.microsoft.com/office/drawing/2014/main" val="3414872844"/>
                    </a:ext>
                  </a:extLst>
                </a:gridCol>
                <a:gridCol w="111077">
                  <a:extLst>
                    <a:ext uri="{9D8B030D-6E8A-4147-A177-3AD203B41FA5}">
                      <a16:colId xmlns:a16="http://schemas.microsoft.com/office/drawing/2014/main" val="4117012638"/>
                    </a:ext>
                  </a:extLst>
                </a:gridCol>
                <a:gridCol w="80231">
                  <a:extLst>
                    <a:ext uri="{9D8B030D-6E8A-4147-A177-3AD203B41FA5}">
                      <a16:colId xmlns:a16="http://schemas.microsoft.com/office/drawing/2014/main" val="3997127504"/>
                    </a:ext>
                  </a:extLst>
                </a:gridCol>
                <a:gridCol w="727456">
                  <a:extLst>
                    <a:ext uri="{9D8B030D-6E8A-4147-A177-3AD203B41FA5}">
                      <a16:colId xmlns:a16="http://schemas.microsoft.com/office/drawing/2014/main" val="1456310360"/>
                    </a:ext>
                  </a:extLst>
                </a:gridCol>
                <a:gridCol w="80231">
                  <a:extLst>
                    <a:ext uri="{9D8B030D-6E8A-4147-A177-3AD203B41FA5}">
                      <a16:colId xmlns:a16="http://schemas.microsoft.com/office/drawing/2014/main" val="2394286796"/>
                    </a:ext>
                  </a:extLst>
                </a:gridCol>
                <a:gridCol w="727456">
                  <a:extLst>
                    <a:ext uri="{9D8B030D-6E8A-4147-A177-3AD203B41FA5}">
                      <a16:colId xmlns:a16="http://schemas.microsoft.com/office/drawing/2014/main" val="992898981"/>
                    </a:ext>
                  </a:extLst>
                </a:gridCol>
                <a:gridCol w="833824">
                  <a:extLst>
                    <a:ext uri="{9D8B030D-6E8A-4147-A177-3AD203B41FA5}">
                      <a16:colId xmlns:a16="http://schemas.microsoft.com/office/drawing/2014/main" val="423721481"/>
                    </a:ext>
                  </a:extLst>
                </a:gridCol>
              </a:tblGrid>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Format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bit : B</a:t>
                      </a:r>
                      <a:r>
                        <a:rPr lang="en-GB" sz="500" baseline="-25000">
                          <a:effectLst/>
                          <a:latin typeface="Arial" panose="020B0604020202020204" pitchFamily="34" charset="0"/>
                          <a:ea typeface="Times New Roman" panose="02020603050405020304" pitchFamily="18" charset="0"/>
                          <a:cs typeface="Times New Roman" panose="02020603050405020304" pitchFamily="18" charset="0"/>
                        </a:rPr>
                        <a:t>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7106862"/>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octet nr</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8">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737648999"/>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8">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086308195"/>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noms des champs</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b</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953607708"/>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8">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771625114"/>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encodage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spc="100">
                          <a:effectLst/>
                          <a:latin typeface="Arial" panose="020B0604020202020204" pitchFamily="34" charset="0"/>
                          <a:ea typeface="Times New Roman" panose="02020603050405020304" pitchFamily="18" charset="0"/>
                          <a:cs typeface="Times New Roman" panose="02020603050405020304" pitchFamily="18" charset="0"/>
                        </a:rPr>
                        <a:t>P</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a:noFill/>
                    </a:lnR>
                    <a:lnT>
                      <a:noFill/>
                    </a:lnT>
                    <a:lnB>
                      <a:noFill/>
                    </a:lnB>
                  </a:tcPr>
                </a:tc>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hMerge="1">
                  <a:txBody>
                    <a:bodyPr/>
                    <a:lstStyle/>
                    <a:p>
                      <a:endParaRPr lang="es-ES"/>
                    </a:p>
                  </a:txBody>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a:noFill/>
                    </a:lnR>
                    <a:lnT>
                      <a:noFill/>
                    </a:lnT>
                    <a:lnB>
                      <a:noFill/>
                    </a:lnB>
                  </a:tcPr>
                </a:tc>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872877519"/>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Gamme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b = {0,1}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718636992"/>
                  </a:ext>
                </a:extLst>
              </a:tr>
              <a:tr h="75026">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Unité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Aucun.</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667833877"/>
                  </a:ext>
                </a:extLst>
              </a:tr>
              <a:tr h="124167">
                <a:tc gridSpan="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Resol.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s-ES"/>
                    </a:p>
                  </a:txBody>
                  <a:tcPr/>
                </a:tc>
                <a:tc gridSpan="17">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(pas applicable)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8974" marR="89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625766463"/>
                  </a:ext>
                </a:extLst>
              </a:tr>
              <a:tr h="75026">
                <a:tc gridSpan="19">
                  <a:txBody>
                    <a:bodyPr/>
                    <a:lstStyle/>
                    <a:p>
                      <a:pPr>
                        <a:spcBef>
                          <a:spcPts val="300"/>
                        </a:spcBef>
                        <a:spcAft>
                          <a:spcPts val="300"/>
                        </a:spcAft>
                      </a:pPr>
                      <a:r>
                        <a:rPr lang="en-GB" sz="500" b="1">
                          <a:effectLst/>
                          <a:latin typeface="Arial" panose="020B0604020202020204" pitchFamily="34" charset="0"/>
                          <a:ea typeface="Times New Roman" panose="02020603050405020304" pitchFamily="18" charset="0"/>
                          <a:cs typeface="Times New Roman" panose="02020603050405020304" pitchFamily="18" charset="0"/>
                        </a:rPr>
                        <a:t>Types de points de données</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07655158"/>
                  </a:ext>
                </a:extLst>
              </a:tr>
              <a:tr h="75026">
                <a:tc>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ID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Nom :</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30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Codage : b</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62489422"/>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DPT_Switch</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Off</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On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095707873"/>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1.002</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DPT_Bool</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Faux</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Vrai</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743067809"/>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1.003</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DPT_Enable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Désactiver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Activer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298332877"/>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1.004</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DPT_Ramp</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Pas de rampe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Rampe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272857690"/>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1.005</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DPT_Alarm</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Aucune alarme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Alarm</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440706286"/>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1.006</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DPT_BinaryValue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Bas</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Haut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023329424"/>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1.007</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DPT_Step</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Diminuer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Augmentation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519755854"/>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1.008</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DPT_UpDown</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Haut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Bas</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63485676"/>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1.009</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DPT_OpenClose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Ouvrir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Fermer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144316955"/>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1.010</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DPT_Start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Arrêter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Démarrer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09977773"/>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1.011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DPT_State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Inactif</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Actif</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911899007"/>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1.012</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DPT_Invert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Non inversé</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Inversé</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338364907"/>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1.013</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DPT_DimSendStyle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Démarrer/Arrêt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Cycliquement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766168406"/>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1.014</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DPT_InputSource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0 = Fixé</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Times New Roman" panose="02020603050405020304" pitchFamily="18" charset="0"/>
                        </a:rPr>
                        <a:t>1 = Calculé</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115115245"/>
                  </a:ext>
                </a:extLst>
              </a:tr>
              <a:tr h="190768">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1.015</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DPT_Reset</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 aucune action (factice)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 = commande de réinitialisation (déclenchement)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4004452142"/>
                  </a:ext>
                </a:extLst>
              </a:tr>
              <a:tr h="200412">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1.016</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DPT_Ack</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 aucune action (factice)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 = acquittement de la commande (déclenchement), par ex. pour alarmer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50532775"/>
                  </a:ext>
                </a:extLst>
              </a:tr>
              <a:tr h="188241">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1.017</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DPT_Trigger</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1 = déclencheur</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379318001"/>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1.018</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DPT_Occupancy</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 non occupé</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 = occupé</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228710754"/>
                  </a:ext>
                </a:extLst>
              </a:tr>
              <a:tr h="187565">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1.019</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DPT_Window_Door</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 fermé</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 = ouvert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510139152"/>
                  </a:ext>
                </a:extLst>
              </a:tr>
              <a:tr h="222242">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1.021</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DPT_LogicalFunction</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 fonction logique OU</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 = fonction logique ET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491399715"/>
                  </a:ext>
                </a:extLst>
              </a:tr>
              <a:tr h="191952">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1.022</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DPT_Scene_AB</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            scene A</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          =            scene B</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934219448"/>
                  </a:ext>
                </a:extLst>
              </a:tr>
              <a:tr h="215266">
                <a:tc>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1.023</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DPT_ShutterBlinds_Mode</a:t>
                      </a:r>
                      <a:endParaRPr lang="es-ES" sz="50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gridSpan="6">
                  <a:txBody>
                    <a:bodyPr/>
                    <a:lstStyle/>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0 = seulement le mode Haut/Bas (volet)</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300"/>
                        </a:spcBef>
                        <a:spcAft>
                          <a:spcPts val="0"/>
                        </a:spcAft>
                      </a:pPr>
                      <a:r>
                        <a:rPr lang="en-GB" sz="500">
                          <a:effectLst/>
                          <a:latin typeface="Arial" panose="020B0604020202020204" pitchFamily="34" charset="0"/>
                          <a:ea typeface="Times New Roman" panose="02020603050405020304" pitchFamily="18" charset="0"/>
                          <a:cs typeface="Arial" panose="020B0604020202020204" pitchFamily="34" charset="0"/>
                        </a:rPr>
                        <a:t>1 = Déplacer vers le haut/Bas + inclinaison des lamelles (store)</a:t>
                      </a:r>
                      <a:endParaRPr lang="es-ES" sz="5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34613" marR="346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997526905"/>
                  </a:ext>
                </a:extLst>
              </a:tr>
            </a:tbl>
          </a:graphicData>
        </a:graphic>
      </p:graphicFrame>
      <p:sp>
        <p:nvSpPr>
          <p:cNvPr id="2" name="Rectangle 1">
            <a:extLst>
              <a:ext uri="{FF2B5EF4-FFF2-40B4-BE49-F238E27FC236}">
                <a16:creationId xmlns:a16="http://schemas.microsoft.com/office/drawing/2014/main" id="{78D1D891-EB6B-4A4F-8441-1E284D96E12F}"/>
              </a:ext>
            </a:extLst>
          </p:cNvPr>
          <p:cNvSpPr/>
          <p:nvPr/>
        </p:nvSpPr>
        <p:spPr>
          <a:xfrm>
            <a:off x="903600" y="1484784"/>
            <a:ext cx="2882895" cy="923330"/>
          </a:xfrm>
          <a:prstGeom prst="rect">
            <a:avLst/>
          </a:prstGeom>
        </p:spPr>
        <p:txBody>
          <a:bodyPr wrap="square">
            <a:spAutoFit/>
          </a:bodyPr>
          <a:lstStyle/>
          <a:p>
            <a:r>
              <a:rPr lang="en-US" b="1" dirty="0" err="1"/>
              <a:t>Utilisé</a:t>
            </a:r>
            <a:r>
              <a:rPr lang="en-US" b="1" dirty="0"/>
              <a:t> pour des applications avec deux </a:t>
            </a:r>
            <a:r>
              <a:rPr lang="en-US" b="1" dirty="0" err="1"/>
              <a:t>valeurs</a:t>
            </a:r>
            <a:r>
              <a:rPr lang="en-US" b="1" dirty="0"/>
              <a:t> </a:t>
            </a:r>
            <a:r>
              <a:rPr lang="en-US" b="1" dirty="0" err="1"/>
              <a:t>différentes</a:t>
            </a:r>
            <a:r>
              <a:rPr lang="en-US" b="1" dirty="0"/>
              <a:t> </a:t>
            </a:r>
            <a:endParaRPr lang="es-ES" b="1" dirty="0"/>
          </a:p>
        </p:txBody>
      </p:sp>
    </p:spTree>
    <p:extLst>
      <p:ext uri="{BB962C8B-B14F-4D97-AF65-F5344CB8AC3E}">
        <p14:creationId xmlns:p14="http://schemas.microsoft.com/office/powerpoint/2010/main" val="2993101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a:t>Bit avec contrôle de priorité</a:t>
            </a:r>
          </a:p>
        </p:txBody>
      </p:sp>
      <p:sp>
        <p:nvSpPr>
          <p:cNvPr id="2" name="Rectangle 2">
            <a:extLst>
              <a:ext uri="{FF2B5EF4-FFF2-40B4-BE49-F238E27FC236}">
                <a16:creationId xmlns:a16="http://schemas.microsoft.com/office/drawing/2014/main" id="{103841BB-E976-4D36-82BA-03C2D5A534A1}"/>
              </a:ext>
            </a:extLst>
          </p:cNvPr>
          <p:cNvSpPr>
            <a:spLocks noChangeArrowheads="1"/>
          </p:cNvSpPr>
          <p:nvPr/>
        </p:nvSpPr>
        <p:spPr bwMode="auto">
          <a:xfrm>
            <a:off x="1187624" y="206084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30AD631C-ACDC-498A-AC77-2BB8F7D98C29}"/>
              </a:ext>
            </a:extLst>
          </p:cNvPr>
          <p:cNvGraphicFramePr>
            <a:graphicFrameLocks noChangeAspect="1"/>
          </p:cNvGraphicFramePr>
          <p:nvPr/>
        </p:nvGraphicFramePr>
        <p:xfrm>
          <a:off x="877961" y="2924944"/>
          <a:ext cx="7820644" cy="2232245"/>
        </p:xfrm>
        <a:graphic>
          <a:graphicData uri="http://schemas.openxmlformats.org/presentationml/2006/ole">
            <mc:AlternateContent xmlns:mc="http://schemas.openxmlformats.org/markup-compatibility/2006">
              <mc:Choice xmlns:v="urn:schemas-microsoft-com:vml" Requires="v">
                <p:oleObj r:id="rId3" imgW="7915215" imgH="2257382" progId="Visio.Drawing.15">
                  <p:embed/>
                </p:oleObj>
              </mc:Choice>
              <mc:Fallback>
                <p:oleObj r:id="rId3" imgW="7915215" imgH="2257382" progId="Visio.Drawing.15">
                  <p:embed/>
                  <p:pic>
                    <p:nvPicPr>
                      <p:cNvPr id="4" name="Object 3">
                        <a:extLst>
                          <a:ext uri="{FF2B5EF4-FFF2-40B4-BE49-F238E27FC236}">
                            <a16:creationId xmlns:a16="http://schemas.microsoft.com/office/drawing/2014/main" id="{30AD631C-ACDC-498A-AC77-2BB8F7D98C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961" y="2924944"/>
                        <a:ext cx="7820644" cy="2232245"/>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F0E33393-E948-49E3-852A-677D8B035824}"/>
              </a:ext>
            </a:extLst>
          </p:cNvPr>
          <p:cNvSpPr/>
          <p:nvPr/>
        </p:nvSpPr>
        <p:spPr>
          <a:xfrm>
            <a:off x="900112" y="1579092"/>
            <a:ext cx="7776343" cy="707886"/>
          </a:xfrm>
          <a:prstGeom prst="rect">
            <a:avLst/>
          </a:prstGeom>
        </p:spPr>
        <p:txBody>
          <a:bodyPr wrap="square">
            <a:spAutoFit/>
          </a:bodyPr>
          <a:lstStyle/>
          <a:p>
            <a:r>
              <a:rPr lang="en-US" sz="2000" b="1"/>
              <a:t>Destiné aux applications offrant un contrôle prioritaire qui a préséance sur le fonctionnement normal (manuel). </a:t>
            </a:r>
            <a:endParaRPr lang="es-ES" sz="2000" b="1" dirty="0"/>
          </a:p>
        </p:txBody>
      </p:sp>
    </p:spTree>
    <p:extLst>
      <p:ext uri="{BB962C8B-B14F-4D97-AF65-F5344CB8AC3E}">
        <p14:creationId xmlns:p14="http://schemas.microsoft.com/office/powerpoint/2010/main" val="1994521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A337C7-BCD4-4DDC-AA67-611E65BD55C2}"/>
              </a:ext>
            </a:extLst>
          </p:cNvPr>
          <p:cNvPicPr>
            <a:picLocks noChangeAspect="1"/>
          </p:cNvPicPr>
          <p:nvPr/>
        </p:nvPicPr>
        <p:blipFill>
          <a:blip r:embed="rId3"/>
          <a:stretch>
            <a:fillRect/>
          </a:stretch>
        </p:blipFill>
        <p:spPr>
          <a:xfrm>
            <a:off x="1643585" y="1268760"/>
            <a:ext cx="5976664" cy="5238054"/>
          </a:xfrm>
          <a:prstGeom prst="rect">
            <a:avLst/>
          </a:prstGeom>
        </p:spPr>
      </p:pic>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Bit avec contrôle de priorité: DPT B2</a:t>
            </a:r>
            <a:endParaRPr lang="en-GB" dirty="0"/>
          </a:p>
        </p:txBody>
      </p:sp>
    </p:spTree>
    <p:extLst>
      <p:ext uri="{BB962C8B-B14F-4D97-AF65-F5344CB8AC3E}">
        <p14:creationId xmlns:p14="http://schemas.microsoft.com/office/powerpoint/2010/main" val="77704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683568" y="693638"/>
            <a:ext cx="7416303" cy="719138"/>
          </a:xfrm>
        </p:spPr>
        <p:txBody>
          <a:bodyPr/>
          <a:lstStyle/>
          <a:p>
            <a:r>
              <a:rPr lang="en-US" sz="2400" dirty="0"/>
              <a:t>3 bits avec la </a:t>
            </a:r>
            <a:r>
              <a:rPr lang="en-US" sz="2400" dirty="0" err="1"/>
              <a:t>commande</a:t>
            </a:r>
            <a:r>
              <a:rPr lang="en-US" sz="2400" dirty="0"/>
              <a:t> : DPT_Control_Dimming</a:t>
            </a:r>
            <a:endParaRPr lang="en-GB" sz="2400" dirty="0"/>
          </a:p>
        </p:txBody>
      </p:sp>
      <p:pic>
        <p:nvPicPr>
          <p:cNvPr id="8" name="Picture 7">
            <a:extLst>
              <a:ext uri="{FF2B5EF4-FFF2-40B4-BE49-F238E27FC236}">
                <a16:creationId xmlns:a16="http://schemas.microsoft.com/office/drawing/2014/main" id="{2F0003E1-2FBC-4361-8D04-8B9609E79108}"/>
              </a:ext>
            </a:extLst>
          </p:cNvPr>
          <p:cNvPicPr>
            <a:picLocks noChangeAspect="1"/>
          </p:cNvPicPr>
          <p:nvPr/>
        </p:nvPicPr>
        <p:blipFill>
          <a:blip r:embed="rId3"/>
          <a:stretch>
            <a:fillRect/>
          </a:stretch>
        </p:blipFill>
        <p:spPr>
          <a:xfrm>
            <a:off x="1115616" y="2060848"/>
            <a:ext cx="6812375" cy="4320480"/>
          </a:xfrm>
          <a:prstGeom prst="rect">
            <a:avLst/>
          </a:prstGeom>
        </p:spPr>
      </p:pic>
      <p:sp>
        <p:nvSpPr>
          <p:cNvPr id="2" name="Rectangle 1">
            <a:extLst>
              <a:ext uri="{FF2B5EF4-FFF2-40B4-BE49-F238E27FC236}">
                <a16:creationId xmlns:a16="http://schemas.microsoft.com/office/drawing/2014/main" id="{AFCE8DBB-B27E-411A-92AB-78FF5A3EAAA3}"/>
              </a:ext>
            </a:extLst>
          </p:cNvPr>
          <p:cNvSpPr/>
          <p:nvPr/>
        </p:nvSpPr>
        <p:spPr>
          <a:xfrm>
            <a:off x="903600" y="1340768"/>
            <a:ext cx="7992368" cy="646331"/>
          </a:xfrm>
          <a:prstGeom prst="rect">
            <a:avLst/>
          </a:prstGeom>
        </p:spPr>
        <p:txBody>
          <a:bodyPr wrap="square">
            <a:spAutoFit/>
          </a:bodyPr>
          <a:lstStyle/>
          <a:p>
            <a:r>
              <a:rPr lang="en-US" b="1" dirty="0" err="1"/>
              <a:t>Luminosité</a:t>
            </a:r>
            <a:r>
              <a:rPr lang="en-US" b="1" dirty="0"/>
              <a:t> relative </a:t>
            </a:r>
            <a:r>
              <a:rPr lang="en-US" b="1" dirty="0" err="1"/>
              <a:t>ou</a:t>
            </a:r>
            <a:r>
              <a:rPr lang="en-US" b="1" dirty="0"/>
              <a:t> stores mobiles par rapport à </a:t>
            </a:r>
            <a:r>
              <a:rPr lang="en-US" b="1" dirty="0" err="1"/>
              <a:t>une</a:t>
            </a:r>
            <a:r>
              <a:rPr lang="en-US" b="1" dirty="0"/>
              <a:t> </a:t>
            </a:r>
            <a:r>
              <a:rPr lang="en-US" b="1" dirty="0" err="1"/>
              <a:t>certaine</a:t>
            </a:r>
            <a:r>
              <a:rPr lang="en-US" b="1" dirty="0"/>
              <a:t> position</a:t>
            </a:r>
            <a:endParaRPr lang="es-ES" b="1" dirty="0"/>
          </a:p>
        </p:txBody>
      </p:sp>
    </p:spTree>
    <p:extLst>
      <p:ext uri="{BB962C8B-B14F-4D97-AF65-F5344CB8AC3E}">
        <p14:creationId xmlns:p14="http://schemas.microsoft.com/office/powerpoint/2010/main" val="1533774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827584" y="692696"/>
            <a:ext cx="7556832" cy="719138"/>
          </a:xfrm>
        </p:spPr>
        <p:txBody>
          <a:bodyPr/>
          <a:lstStyle/>
          <a:p>
            <a:r>
              <a:rPr lang="en-US"/>
              <a:t>3 bits avec contrôle : DPT_Control_Blinds</a:t>
            </a:r>
            <a:endParaRPr lang="en-GB" dirty="0"/>
          </a:p>
        </p:txBody>
      </p:sp>
      <p:pic>
        <p:nvPicPr>
          <p:cNvPr id="9" name="Picture 8">
            <a:extLst>
              <a:ext uri="{FF2B5EF4-FFF2-40B4-BE49-F238E27FC236}">
                <a16:creationId xmlns:a16="http://schemas.microsoft.com/office/drawing/2014/main" id="{A768AF46-74CD-4EF2-B8E4-3B1C8104AA64}"/>
              </a:ext>
            </a:extLst>
          </p:cNvPr>
          <p:cNvPicPr>
            <a:picLocks noChangeAspect="1"/>
          </p:cNvPicPr>
          <p:nvPr/>
        </p:nvPicPr>
        <p:blipFill>
          <a:blip r:embed="rId3"/>
          <a:stretch>
            <a:fillRect/>
          </a:stretch>
        </p:blipFill>
        <p:spPr>
          <a:xfrm>
            <a:off x="1403648" y="2104680"/>
            <a:ext cx="6687269" cy="4390184"/>
          </a:xfrm>
          <a:prstGeom prst="rect">
            <a:avLst/>
          </a:prstGeom>
        </p:spPr>
      </p:pic>
      <p:sp>
        <p:nvSpPr>
          <p:cNvPr id="2" name="Rectangle 1">
            <a:extLst>
              <a:ext uri="{FF2B5EF4-FFF2-40B4-BE49-F238E27FC236}">
                <a16:creationId xmlns:a16="http://schemas.microsoft.com/office/drawing/2014/main" id="{27B2574A-4653-401A-AAA3-F5C60D57DCAF}"/>
              </a:ext>
            </a:extLst>
          </p:cNvPr>
          <p:cNvSpPr/>
          <p:nvPr/>
        </p:nvSpPr>
        <p:spPr>
          <a:xfrm>
            <a:off x="903600" y="1340768"/>
            <a:ext cx="7769095" cy="707886"/>
          </a:xfrm>
          <a:prstGeom prst="rect">
            <a:avLst/>
          </a:prstGeom>
        </p:spPr>
        <p:txBody>
          <a:bodyPr wrap="square">
            <a:spAutoFit/>
          </a:bodyPr>
          <a:lstStyle/>
          <a:p>
            <a:r>
              <a:rPr lang="en-US" sz="2000" b="1" dirty="0" err="1"/>
              <a:t>Positionnement</a:t>
            </a:r>
            <a:r>
              <a:rPr lang="en-US" sz="2000" b="1" dirty="0"/>
              <a:t> </a:t>
            </a:r>
            <a:r>
              <a:rPr lang="en-US" sz="2000" b="1" dirty="0" err="1"/>
              <a:t>relatif</a:t>
            </a:r>
            <a:r>
              <a:rPr lang="en-US" sz="2000" b="1" dirty="0"/>
              <a:t> des stores </a:t>
            </a:r>
            <a:r>
              <a:rPr lang="en-US" sz="2000" b="1" dirty="0" err="1"/>
              <a:t>verticaux</a:t>
            </a:r>
            <a:r>
              <a:rPr lang="en-US" sz="2000" b="1" dirty="0"/>
              <a:t> </a:t>
            </a:r>
            <a:r>
              <a:rPr lang="en-US" sz="2000" b="1" dirty="0" err="1"/>
              <a:t>ainsi</a:t>
            </a:r>
            <a:r>
              <a:rPr lang="en-US" sz="2000" b="1" dirty="0"/>
              <a:t> que de </a:t>
            </a:r>
            <a:r>
              <a:rPr lang="en-US" sz="2000" b="1" dirty="0" err="1"/>
              <a:t>l'angle</a:t>
            </a:r>
            <a:r>
              <a:rPr lang="en-US" sz="2000" b="1" dirty="0"/>
              <a:t> des lames</a:t>
            </a:r>
            <a:endParaRPr lang="es-ES" sz="2000" b="1" dirty="0"/>
          </a:p>
        </p:txBody>
      </p:sp>
    </p:spTree>
    <p:extLst>
      <p:ext uri="{BB962C8B-B14F-4D97-AF65-F5344CB8AC3E}">
        <p14:creationId xmlns:p14="http://schemas.microsoft.com/office/powerpoint/2010/main" val="4092861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480175" cy="719138"/>
          </a:xfrm>
        </p:spPr>
        <p:txBody>
          <a:bodyPr/>
          <a:lstStyle/>
          <a:p>
            <a:r>
              <a:rPr lang="en-GB" sz="2400"/>
              <a:t>Types de points de données Jeu de Caractères</a:t>
            </a:r>
          </a:p>
        </p:txBody>
      </p:sp>
      <p:pic>
        <p:nvPicPr>
          <p:cNvPr id="15" name="Picture 14">
            <a:extLst>
              <a:ext uri="{FF2B5EF4-FFF2-40B4-BE49-F238E27FC236}">
                <a16:creationId xmlns:a16="http://schemas.microsoft.com/office/drawing/2014/main" id="{B7625734-9CB0-4BCF-A666-28020AAD4162}"/>
              </a:ext>
            </a:extLst>
          </p:cNvPr>
          <p:cNvPicPr>
            <a:picLocks noChangeAspect="1"/>
          </p:cNvPicPr>
          <p:nvPr/>
        </p:nvPicPr>
        <p:blipFill>
          <a:blip r:embed="rId3"/>
          <a:stretch>
            <a:fillRect/>
          </a:stretch>
        </p:blipFill>
        <p:spPr>
          <a:xfrm>
            <a:off x="3563888" y="1338603"/>
            <a:ext cx="4954899" cy="5114733"/>
          </a:xfrm>
          <a:prstGeom prst="rect">
            <a:avLst/>
          </a:prstGeom>
        </p:spPr>
      </p:pic>
      <p:sp>
        <p:nvSpPr>
          <p:cNvPr id="2" name="Rectangle 1">
            <a:extLst>
              <a:ext uri="{FF2B5EF4-FFF2-40B4-BE49-F238E27FC236}">
                <a16:creationId xmlns:a16="http://schemas.microsoft.com/office/drawing/2014/main" id="{B140294C-6021-4109-9E7A-03679720A878}"/>
              </a:ext>
            </a:extLst>
          </p:cNvPr>
          <p:cNvSpPr/>
          <p:nvPr/>
        </p:nvSpPr>
        <p:spPr>
          <a:xfrm>
            <a:off x="900113" y="1412776"/>
            <a:ext cx="2375743" cy="3477875"/>
          </a:xfrm>
          <a:prstGeom prst="rect">
            <a:avLst/>
          </a:prstGeom>
        </p:spPr>
        <p:txBody>
          <a:bodyPr wrap="square">
            <a:spAutoFit/>
          </a:bodyPr>
          <a:lstStyle/>
          <a:p>
            <a:r>
              <a:rPr lang="en-US" b="1"/>
              <a:t>Transmission de caractères individuels (texte)</a:t>
            </a:r>
          </a:p>
          <a:p>
            <a:endParaRPr lang="en-US" b="1" dirty="0"/>
          </a:p>
          <a:p>
            <a:r>
              <a:rPr lang="en-US" b="1"/>
              <a:t>L'encodage correspond aux coordonnées d'une table de correspondance, contenant les différents caractères</a:t>
            </a:r>
            <a:endParaRPr lang="es-ES" b="1" dirty="0"/>
          </a:p>
        </p:txBody>
      </p:sp>
    </p:spTree>
    <p:extLst>
      <p:ext uri="{BB962C8B-B14F-4D97-AF65-F5344CB8AC3E}">
        <p14:creationId xmlns:p14="http://schemas.microsoft.com/office/powerpoint/2010/main" val="3935427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6652" y="575421"/>
            <a:ext cx="6768231" cy="719138"/>
          </a:xfrm>
        </p:spPr>
        <p:txBody>
          <a:bodyPr/>
          <a:lstStyle/>
          <a:p>
            <a:r>
              <a:rPr lang="en-US"/>
              <a:t>8 Bits sans Signe</a:t>
            </a:r>
            <a:endParaRPr lang="en-GB" dirty="0"/>
          </a:p>
        </p:txBody>
      </p:sp>
      <p:pic>
        <p:nvPicPr>
          <p:cNvPr id="5" name="Picture 4">
            <a:extLst>
              <a:ext uri="{FF2B5EF4-FFF2-40B4-BE49-F238E27FC236}">
                <a16:creationId xmlns:a16="http://schemas.microsoft.com/office/drawing/2014/main" id="{4CA2233B-450E-437E-AA39-252AB550FD67}"/>
              </a:ext>
            </a:extLst>
          </p:cNvPr>
          <p:cNvPicPr>
            <a:picLocks noChangeAspect="1"/>
          </p:cNvPicPr>
          <p:nvPr/>
        </p:nvPicPr>
        <p:blipFill>
          <a:blip r:embed="rId3"/>
          <a:stretch>
            <a:fillRect/>
          </a:stretch>
        </p:blipFill>
        <p:spPr>
          <a:xfrm>
            <a:off x="814667" y="2522654"/>
            <a:ext cx="3867091" cy="2562530"/>
          </a:xfrm>
          <a:prstGeom prst="rect">
            <a:avLst/>
          </a:prstGeom>
        </p:spPr>
      </p:pic>
      <p:sp>
        <p:nvSpPr>
          <p:cNvPr id="2" name="Rectangle 1">
            <a:extLst>
              <a:ext uri="{FF2B5EF4-FFF2-40B4-BE49-F238E27FC236}">
                <a16:creationId xmlns:a16="http://schemas.microsoft.com/office/drawing/2014/main" id="{C0130671-ACD9-449E-B282-63C015091EBF}"/>
              </a:ext>
            </a:extLst>
          </p:cNvPr>
          <p:cNvSpPr/>
          <p:nvPr/>
        </p:nvSpPr>
        <p:spPr>
          <a:xfrm>
            <a:off x="900112" y="1412776"/>
            <a:ext cx="7488311" cy="677108"/>
          </a:xfrm>
          <a:prstGeom prst="rect">
            <a:avLst/>
          </a:prstGeom>
        </p:spPr>
        <p:txBody>
          <a:bodyPr wrap="square">
            <a:spAutoFit/>
          </a:bodyPr>
          <a:lstStyle/>
          <a:p>
            <a:r>
              <a:rPr lang="en-US" sz="2000" b="1"/>
              <a:t>Transmission de valeurs non signées jusqu'à 255</a:t>
            </a:r>
          </a:p>
          <a:p>
            <a:endParaRPr lang="en-US" dirty="0"/>
          </a:p>
        </p:txBody>
      </p:sp>
      <p:pic>
        <p:nvPicPr>
          <p:cNvPr id="4" name="Picture 3">
            <a:extLst>
              <a:ext uri="{FF2B5EF4-FFF2-40B4-BE49-F238E27FC236}">
                <a16:creationId xmlns:a16="http://schemas.microsoft.com/office/drawing/2014/main" id="{985C8015-9820-4C1A-8B9E-890D5BA5E365}"/>
              </a:ext>
            </a:extLst>
          </p:cNvPr>
          <p:cNvPicPr>
            <a:picLocks noChangeAspect="1"/>
          </p:cNvPicPr>
          <p:nvPr/>
        </p:nvPicPr>
        <p:blipFill>
          <a:blip r:embed="rId4"/>
          <a:stretch>
            <a:fillRect/>
          </a:stretch>
        </p:blipFill>
        <p:spPr>
          <a:xfrm>
            <a:off x="746346" y="5412898"/>
            <a:ext cx="4064691" cy="896422"/>
          </a:xfrm>
          <a:prstGeom prst="rect">
            <a:avLst/>
          </a:prstGeom>
        </p:spPr>
      </p:pic>
      <p:sp>
        <p:nvSpPr>
          <p:cNvPr id="7" name="Rectangle 6">
            <a:extLst>
              <a:ext uri="{FF2B5EF4-FFF2-40B4-BE49-F238E27FC236}">
                <a16:creationId xmlns:a16="http://schemas.microsoft.com/office/drawing/2014/main" id="{39C89DC9-0252-4AA2-A5A3-2C5646AD67DD}"/>
              </a:ext>
            </a:extLst>
          </p:cNvPr>
          <p:cNvSpPr/>
          <p:nvPr/>
        </p:nvSpPr>
        <p:spPr>
          <a:xfrm>
            <a:off x="814667" y="2060848"/>
            <a:ext cx="3469301" cy="400110"/>
          </a:xfrm>
          <a:prstGeom prst="rect">
            <a:avLst/>
          </a:prstGeom>
        </p:spPr>
        <p:txBody>
          <a:bodyPr wrap="square">
            <a:spAutoFit/>
          </a:bodyPr>
          <a:lstStyle/>
          <a:p>
            <a:r>
              <a:rPr lang="en-US" sz="2000" b="1">
                <a:solidFill>
                  <a:srgbClr val="369226"/>
                </a:solidFill>
              </a:rPr>
              <a:t>Valeurs mises à l'échelle</a:t>
            </a:r>
            <a:endParaRPr lang="en-US" dirty="0">
              <a:solidFill>
                <a:srgbClr val="369226"/>
              </a:solidFill>
            </a:endParaRPr>
          </a:p>
        </p:txBody>
      </p:sp>
      <p:sp>
        <p:nvSpPr>
          <p:cNvPr id="8" name="Rectangle 7">
            <a:extLst>
              <a:ext uri="{FF2B5EF4-FFF2-40B4-BE49-F238E27FC236}">
                <a16:creationId xmlns:a16="http://schemas.microsoft.com/office/drawing/2014/main" id="{125D1797-9BFE-4021-A2D5-1E0CF0685778}"/>
              </a:ext>
            </a:extLst>
          </p:cNvPr>
          <p:cNvSpPr/>
          <p:nvPr/>
        </p:nvSpPr>
        <p:spPr>
          <a:xfrm>
            <a:off x="5076056" y="2060848"/>
            <a:ext cx="3469301" cy="400110"/>
          </a:xfrm>
          <a:prstGeom prst="rect">
            <a:avLst/>
          </a:prstGeom>
        </p:spPr>
        <p:txBody>
          <a:bodyPr wrap="square">
            <a:spAutoFit/>
          </a:bodyPr>
          <a:lstStyle/>
          <a:p>
            <a:r>
              <a:rPr lang="en-US" sz="2000" b="1">
                <a:solidFill>
                  <a:srgbClr val="369226"/>
                </a:solidFill>
              </a:rPr>
              <a:t>Valeurs non mises à l'échelle</a:t>
            </a:r>
            <a:endParaRPr lang="en-US" dirty="0">
              <a:solidFill>
                <a:srgbClr val="369226"/>
              </a:solidFill>
            </a:endParaRPr>
          </a:p>
        </p:txBody>
      </p:sp>
      <p:pic>
        <p:nvPicPr>
          <p:cNvPr id="9" name="Picture 8">
            <a:extLst>
              <a:ext uri="{FF2B5EF4-FFF2-40B4-BE49-F238E27FC236}">
                <a16:creationId xmlns:a16="http://schemas.microsoft.com/office/drawing/2014/main" id="{608C6136-3BF0-4AA1-BDE5-716344CD4932}"/>
              </a:ext>
            </a:extLst>
          </p:cNvPr>
          <p:cNvPicPr>
            <a:picLocks noChangeAspect="1"/>
          </p:cNvPicPr>
          <p:nvPr/>
        </p:nvPicPr>
        <p:blipFill>
          <a:blip r:embed="rId5"/>
          <a:stretch>
            <a:fillRect/>
          </a:stretch>
        </p:blipFill>
        <p:spPr>
          <a:xfrm>
            <a:off x="4954586" y="2522654"/>
            <a:ext cx="3989401" cy="1513406"/>
          </a:xfrm>
          <a:prstGeom prst="rect">
            <a:avLst/>
          </a:prstGeom>
        </p:spPr>
      </p:pic>
      <p:sp>
        <p:nvSpPr>
          <p:cNvPr id="10" name="Rectangle 9">
            <a:extLst>
              <a:ext uri="{FF2B5EF4-FFF2-40B4-BE49-F238E27FC236}">
                <a16:creationId xmlns:a16="http://schemas.microsoft.com/office/drawing/2014/main" id="{09742B36-8EB8-4CCF-8398-C37BE7098D1F}"/>
              </a:ext>
            </a:extLst>
          </p:cNvPr>
          <p:cNvSpPr/>
          <p:nvPr/>
        </p:nvSpPr>
        <p:spPr>
          <a:xfrm>
            <a:off x="746346" y="5176464"/>
            <a:ext cx="867545" cy="276999"/>
          </a:xfrm>
          <a:prstGeom prst="rect">
            <a:avLst/>
          </a:prstGeom>
        </p:spPr>
        <p:txBody>
          <a:bodyPr wrap="none">
            <a:spAutoFit/>
          </a:bodyPr>
          <a:lstStyle/>
          <a:p>
            <a:r>
              <a:rPr lang="en-GB" sz="1200" b="1"/>
              <a:t>Exemple</a:t>
            </a:r>
            <a:r>
              <a:rPr lang="es-ES" sz="1200" b="1"/>
              <a:t>:</a:t>
            </a:r>
          </a:p>
        </p:txBody>
      </p:sp>
    </p:spTree>
    <p:extLst>
      <p:ext uri="{BB962C8B-B14F-4D97-AF65-F5344CB8AC3E}">
        <p14:creationId xmlns:p14="http://schemas.microsoft.com/office/powerpoint/2010/main" val="4126221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8 Bits avec Signe</a:t>
            </a:r>
            <a:endParaRPr lang="en-GB" dirty="0"/>
          </a:p>
        </p:txBody>
      </p:sp>
      <p:pic>
        <p:nvPicPr>
          <p:cNvPr id="2" name="Picture 1">
            <a:extLst>
              <a:ext uri="{FF2B5EF4-FFF2-40B4-BE49-F238E27FC236}">
                <a16:creationId xmlns:a16="http://schemas.microsoft.com/office/drawing/2014/main" id="{318DA18E-B4D2-4654-A471-C3DCE02E9458}"/>
              </a:ext>
            </a:extLst>
          </p:cNvPr>
          <p:cNvPicPr>
            <a:picLocks noChangeAspect="1"/>
          </p:cNvPicPr>
          <p:nvPr/>
        </p:nvPicPr>
        <p:blipFill>
          <a:blip r:embed="rId3"/>
          <a:stretch>
            <a:fillRect/>
          </a:stretch>
        </p:blipFill>
        <p:spPr>
          <a:xfrm>
            <a:off x="921170" y="3140968"/>
            <a:ext cx="7467253" cy="3024336"/>
          </a:xfrm>
          <a:prstGeom prst="rect">
            <a:avLst/>
          </a:prstGeom>
        </p:spPr>
      </p:pic>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477328"/>
          </a:xfrm>
          <a:prstGeom prst="rect">
            <a:avLst/>
          </a:prstGeom>
        </p:spPr>
        <p:txBody>
          <a:bodyPr wrap="square">
            <a:spAutoFit/>
          </a:bodyPr>
          <a:lstStyle/>
          <a:p>
            <a:r>
              <a:rPr lang="en-US" b="1" dirty="0"/>
              <a:t>Transmission des </a:t>
            </a:r>
            <a:r>
              <a:rPr lang="en-US" b="1" dirty="0" err="1"/>
              <a:t>valeurs</a:t>
            </a:r>
            <a:r>
              <a:rPr lang="en-US" b="1" dirty="0"/>
              <a:t> de -128 à +127</a:t>
            </a:r>
          </a:p>
          <a:p>
            <a:endParaRPr lang="en-US" b="1" dirty="0"/>
          </a:p>
          <a:p>
            <a:r>
              <a:rPr lang="en-US" b="1" dirty="0"/>
              <a:t>Les </a:t>
            </a:r>
            <a:r>
              <a:rPr lang="en-US" b="1" dirty="0" err="1"/>
              <a:t>nombres</a:t>
            </a:r>
            <a:r>
              <a:rPr lang="en-US" b="1" dirty="0"/>
              <a:t> </a:t>
            </a:r>
            <a:r>
              <a:rPr lang="en-US" b="1" dirty="0" err="1"/>
              <a:t>négatifs</a:t>
            </a:r>
            <a:r>
              <a:rPr lang="en-US" b="1" dirty="0"/>
              <a:t> </a:t>
            </a:r>
            <a:r>
              <a:rPr lang="en-US" b="1" dirty="0" err="1"/>
              <a:t>sont</a:t>
            </a:r>
            <a:r>
              <a:rPr lang="en-US" b="1" dirty="0"/>
              <a:t> </a:t>
            </a:r>
            <a:r>
              <a:rPr lang="en-US" b="1" dirty="0" err="1"/>
              <a:t>représentés</a:t>
            </a:r>
            <a:r>
              <a:rPr lang="en-US" b="1" dirty="0"/>
              <a:t> </a:t>
            </a:r>
            <a:r>
              <a:rPr lang="en-US" b="1" dirty="0" err="1"/>
              <a:t>comme</a:t>
            </a:r>
            <a:r>
              <a:rPr lang="en-US" b="1" dirty="0"/>
              <a:t> un </a:t>
            </a:r>
            <a:r>
              <a:rPr lang="en-US" b="1" dirty="0" err="1"/>
              <a:t>complément</a:t>
            </a:r>
            <a:r>
              <a:rPr lang="en-US" b="1" dirty="0"/>
              <a:t> à deux</a:t>
            </a:r>
          </a:p>
          <a:p>
            <a:endParaRPr lang="en-US" sz="1600" dirty="0"/>
          </a:p>
        </p:txBody>
      </p:sp>
      <p:sp>
        <p:nvSpPr>
          <p:cNvPr id="6" name="Rectangle 5">
            <a:extLst>
              <a:ext uri="{FF2B5EF4-FFF2-40B4-BE49-F238E27FC236}">
                <a16:creationId xmlns:a16="http://schemas.microsoft.com/office/drawing/2014/main" id="{A7DBEFD2-D87C-42C9-9B88-6093180A74DE}"/>
              </a:ext>
            </a:extLst>
          </p:cNvPr>
          <p:cNvSpPr/>
          <p:nvPr/>
        </p:nvSpPr>
        <p:spPr>
          <a:xfrm>
            <a:off x="900112" y="2771636"/>
            <a:ext cx="2374240" cy="338554"/>
          </a:xfrm>
          <a:prstGeom prst="rect">
            <a:avLst/>
          </a:prstGeom>
        </p:spPr>
        <p:txBody>
          <a:bodyPr wrap="none">
            <a:spAutoFit/>
          </a:bodyPr>
          <a:lstStyle/>
          <a:p>
            <a:r>
              <a:rPr lang="en-GB" sz="1600" b="1"/>
              <a:t>Valeur relative signée :</a:t>
            </a:r>
          </a:p>
        </p:txBody>
      </p:sp>
    </p:spTree>
    <p:extLst>
      <p:ext uri="{BB962C8B-B14F-4D97-AF65-F5344CB8AC3E}">
        <p14:creationId xmlns:p14="http://schemas.microsoft.com/office/powerpoint/2010/main" val="3793286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2 Octets sans Signe</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2015704" cy="1600438"/>
          </a:xfrm>
          <a:prstGeom prst="rect">
            <a:avLst/>
          </a:prstGeom>
        </p:spPr>
        <p:txBody>
          <a:bodyPr wrap="square">
            <a:spAutoFit/>
          </a:bodyPr>
          <a:lstStyle/>
          <a:p>
            <a:r>
              <a:rPr lang="en-US" sz="2000" b="1"/>
              <a:t>Transmission de valeurs jusqu'à 65.535</a:t>
            </a:r>
          </a:p>
          <a:p>
            <a:endParaRPr lang="en-US" sz="2000" b="1" dirty="0"/>
          </a:p>
          <a:p>
            <a:endParaRPr lang="en-US" dirty="0"/>
          </a:p>
        </p:txBody>
      </p:sp>
      <p:pic>
        <p:nvPicPr>
          <p:cNvPr id="5" name="Picture 4">
            <a:extLst>
              <a:ext uri="{FF2B5EF4-FFF2-40B4-BE49-F238E27FC236}">
                <a16:creationId xmlns:a16="http://schemas.microsoft.com/office/drawing/2014/main" id="{B5A8FACB-4116-4206-A62B-A146D1750900}"/>
              </a:ext>
            </a:extLst>
          </p:cNvPr>
          <p:cNvPicPr>
            <a:picLocks noChangeAspect="1"/>
          </p:cNvPicPr>
          <p:nvPr/>
        </p:nvPicPr>
        <p:blipFill>
          <a:blip r:embed="rId3"/>
          <a:stretch>
            <a:fillRect/>
          </a:stretch>
        </p:blipFill>
        <p:spPr>
          <a:xfrm>
            <a:off x="3114264" y="1412776"/>
            <a:ext cx="5575389" cy="4968974"/>
          </a:xfrm>
          <a:prstGeom prst="rect">
            <a:avLst/>
          </a:prstGeom>
        </p:spPr>
      </p:pic>
    </p:spTree>
    <p:extLst>
      <p:ext uri="{BB962C8B-B14F-4D97-AF65-F5344CB8AC3E}">
        <p14:creationId xmlns:p14="http://schemas.microsoft.com/office/powerpoint/2010/main" val="2901985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2 Octets avec Signe</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292662"/>
          </a:xfrm>
          <a:prstGeom prst="rect">
            <a:avLst/>
          </a:prstGeom>
        </p:spPr>
        <p:txBody>
          <a:bodyPr wrap="square">
            <a:spAutoFit/>
          </a:bodyPr>
          <a:lstStyle/>
          <a:p>
            <a:r>
              <a:rPr lang="en-US" sz="2000" b="1"/>
              <a:t>Transmission des valeurs de -32.768 à +32.767</a:t>
            </a:r>
          </a:p>
          <a:p>
            <a:endParaRPr lang="en-US" sz="2000" b="1" dirty="0"/>
          </a:p>
          <a:p>
            <a:r>
              <a:rPr lang="en-US" sz="2000" b="1"/>
              <a:t>Les nombres négatifs sont représentés comme un complément à deux</a:t>
            </a:r>
          </a:p>
          <a:p>
            <a:endParaRPr lang="en-US" dirty="0"/>
          </a:p>
        </p:txBody>
      </p:sp>
      <p:pic>
        <p:nvPicPr>
          <p:cNvPr id="5" name="Picture 4">
            <a:extLst>
              <a:ext uri="{FF2B5EF4-FFF2-40B4-BE49-F238E27FC236}">
                <a16:creationId xmlns:a16="http://schemas.microsoft.com/office/drawing/2014/main" id="{D0BF85FF-E894-4321-A124-E57CB0FCB663}"/>
              </a:ext>
            </a:extLst>
          </p:cNvPr>
          <p:cNvPicPr>
            <a:picLocks noChangeAspect="1"/>
          </p:cNvPicPr>
          <p:nvPr/>
        </p:nvPicPr>
        <p:blipFill>
          <a:blip r:embed="rId3"/>
          <a:stretch>
            <a:fillRect/>
          </a:stretch>
        </p:blipFill>
        <p:spPr>
          <a:xfrm>
            <a:off x="904987" y="2705438"/>
            <a:ext cx="7446786" cy="3643650"/>
          </a:xfrm>
          <a:prstGeom prst="rect">
            <a:avLst/>
          </a:prstGeom>
        </p:spPr>
      </p:pic>
    </p:spTree>
    <p:extLst>
      <p:ext uri="{BB962C8B-B14F-4D97-AF65-F5344CB8AC3E}">
        <p14:creationId xmlns:p14="http://schemas.microsoft.com/office/powerpoint/2010/main" val="3861152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Octets Nombre à Virgule Flottante</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3455864" cy="707886"/>
          </a:xfrm>
          <a:prstGeom prst="rect">
            <a:avLst/>
          </a:prstGeom>
        </p:spPr>
        <p:txBody>
          <a:bodyPr wrap="square">
            <a:spAutoFit/>
          </a:bodyPr>
          <a:lstStyle/>
          <a:p>
            <a:r>
              <a:rPr lang="en-US" sz="2000" b="1" dirty="0"/>
              <a:t>Transmission des </a:t>
            </a:r>
            <a:r>
              <a:rPr lang="en-US" sz="2000" b="1" dirty="0" err="1"/>
              <a:t>valeurs</a:t>
            </a:r>
            <a:r>
              <a:rPr lang="en-US" sz="2000" b="1" dirty="0"/>
              <a:t> à virgule </a:t>
            </a:r>
            <a:r>
              <a:rPr lang="en-US" sz="2000" b="1" dirty="0" err="1"/>
              <a:t>flottante</a:t>
            </a:r>
            <a:endParaRPr lang="en-US" sz="2000" b="1" dirty="0"/>
          </a:p>
        </p:txBody>
      </p:sp>
      <p:pic>
        <p:nvPicPr>
          <p:cNvPr id="5" name="Picture 4">
            <a:extLst>
              <a:ext uri="{FF2B5EF4-FFF2-40B4-BE49-F238E27FC236}">
                <a16:creationId xmlns:a16="http://schemas.microsoft.com/office/drawing/2014/main" id="{005932D8-ABB1-4DA5-8C48-BFF1D9C4AF4B}"/>
              </a:ext>
            </a:extLst>
          </p:cNvPr>
          <p:cNvPicPr>
            <a:picLocks noChangeAspect="1"/>
          </p:cNvPicPr>
          <p:nvPr/>
        </p:nvPicPr>
        <p:blipFill>
          <a:blip r:embed="rId3"/>
          <a:stretch>
            <a:fillRect/>
          </a:stretch>
        </p:blipFill>
        <p:spPr>
          <a:xfrm>
            <a:off x="4355976" y="1308203"/>
            <a:ext cx="4393571" cy="5086896"/>
          </a:xfrm>
          <a:prstGeom prst="rect">
            <a:avLst/>
          </a:prstGeom>
        </p:spPr>
      </p:pic>
      <p:sp>
        <p:nvSpPr>
          <p:cNvPr id="7" name="Rectangle 6">
            <a:extLst>
              <a:ext uri="{FF2B5EF4-FFF2-40B4-BE49-F238E27FC236}">
                <a16:creationId xmlns:a16="http://schemas.microsoft.com/office/drawing/2014/main" id="{846F5B44-F92C-46F8-96F0-E4A4E43B0EDA}"/>
              </a:ext>
            </a:extLst>
          </p:cNvPr>
          <p:cNvSpPr/>
          <p:nvPr/>
        </p:nvSpPr>
        <p:spPr>
          <a:xfrm>
            <a:off x="889352" y="2750490"/>
            <a:ext cx="1859805" cy="369332"/>
          </a:xfrm>
          <a:prstGeom prst="rect">
            <a:avLst/>
          </a:prstGeom>
        </p:spPr>
        <p:txBody>
          <a:bodyPr wrap="none">
            <a:spAutoFit/>
          </a:bodyPr>
          <a:lstStyle/>
          <a:p>
            <a:r>
              <a:rPr lang="en-GB" b="1">
                <a:solidFill>
                  <a:srgbClr val="369226"/>
                </a:solidFill>
              </a:rPr>
              <a:t>Example</a:t>
            </a:r>
            <a:r>
              <a:rPr lang="es-ES" b="1">
                <a:solidFill>
                  <a:srgbClr val="369226"/>
                </a:solidFill>
              </a:rPr>
              <a:t>: -30oC</a:t>
            </a:r>
          </a:p>
        </p:txBody>
      </p:sp>
      <p:sp>
        <p:nvSpPr>
          <p:cNvPr id="8" name="Rectangle 5">
            <a:extLst>
              <a:ext uri="{FF2B5EF4-FFF2-40B4-BE49-F238E27FC236}">
                <a16:creationId xmlns:a16="http://schemas.microsoft.com/office/drawing/2014/main" id="{3EA94C5C-5CB9-4FBC-B5B2-4AF2E387CE29}"/>
              </a:ext>
            </a:extLst>
          </p:cNvPr>
          <p:cNvSpPr txBox="1">
            <a:spLocks noChangeArrowheads="1"/>
          </p:cNvSpPr>
          <p:nvPr/>
        </p:nvSpPr>
        <p:spPr bwMode="gray">
          <a:xfrm>
            <a:off x="1023609" y="2935125"/>
            <a:ext cx="3451096" cy="3604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defTabSz="914400">
              <a:lnSpc>
                <a:spcPct val="95000"/>
              </a:lnSpc>
              <a:defRPr/>
            </a:pPr>
            <a:r>
              <a:rPr lang="en-GB" altLang="es-ES" sz="1200" b="1">
                <a:solidFill>
                  <a:srgbClr val="171717"/>
                </a:solidFill>
                <a:cs typeface="Arial" panose="020B0604020202020204" pitchFamily="34" charset="0"/>
              </a:rPr>
              <a:t>Résolution = 0,01 → Mantis = 3.000</a:t>
            </a:r>
          </a:p>
          <a:p>
            <a:pPr defTabSz="914400">
              <a:lnSpc>
                <a:spcPct val="95000"/>
              </a:lnSpc>
              <a:defRPr/>
            </a:pPr>
            <a:r>
              <a:rPr lang="en-GB" altLang="es-ES" sz="1200" b="1">
                <a:solidFill>
                  <a:srgbClr val="171717"/>
                </a:solidFill>
                <a:cs typeface="Arial" panose="020B0604020202020204" pitchFamily="34" charset="0"/>
              </a:rPr>
              <a:t>Mantisse &gt; 2047 → Exposant = </a:t>
            </a:r>
            <a:r>
              <a:rPr lang="en-GB" sz="1200" b="1">
                <a:solidFill>
                  <a:prstClr val="black"/>
                </a:solidFill>
                <a:ea typeface="+mn-ea"/>
                <a:cs typeface="Arial" panose="020B0604020202020204" pitchFamily="34" charset="0"/>
              </a:rPr>
              <a:t>2</a:t>
            </a:r>
            <a:r>
              <a:rPr lang="en-GB" sz="1200" b="1" baseline="30000">
                <a:solidFill>
                  <a:prstClr val="black"/>
                </a:solidFill>
                <a:ea typeface="+mn-ea"/>
                <a:cs typeface="Arial" panose="020B0604020202020204" pitchFamily="34" charset="0"/>
              </a:rPr>
              <a:t>1</a:t>
            </a:r>
            <a:endParaRPr lang="en-GB" altLang="es-ES" sz="1200" b="1" dirty="0">
              <a:solidFill>
                <a:srgbClr val="171717"/>
              </a:solidFill>
              <a:cs typeface="Arial" panose="020B0604020202020204" pitchFamily="34" charset="0"/>
            </a:endParaRPr>
          </a:p>
          <a:p>
            <a:pPr defTabSz="914400">
              <a:lnSpc>
                <a:spcPct val="95000"/>
              </a:lnSpc>
              <a:defRPr/>
            </a:pPr>
            <a:r>
              <a:rPr lang="en-GB" altLang="es-ES" sz="1200" b="1">
                <a:solidFill>
                  <a:srgbClr val="171717"/>
                </a:solidFill>
                <a:cs typeface="Arial" panose="020B0604020202020204" pitchFamily="34" charset="0"/>
              </a:rPr>
              <a:t>Mantissa = 1500 x </a:t>
            </a:r>
            <a:r>
              <a:rPr lang="en-GB" sz="1200" b="1">
                <a:solidFill>
                  <a:prstClr val="black"/>
                </a:solidFill>
                <a:cs typeface="Arial" panose="020B0604020202020204" pitchFamily="34" charset="0"/>
              </a:rPr>
              <a:t>2</a:t>
            </a:r>
            <a:r>
              <a:rPr lang="en-GB" sz="1200" b="1" baseline="30000">
                <a:solidFill>
                  <a:prstClr val="black"/>
                </a:solidFill>
                <a:cs typeface="Arial" panose="020B0604020202020204" pitchFamily="34" charset="0"/>
              </a:rPr>
              <a:t>1 </a:t>
            </a:r>
            <a:endParaRPr lang="en-GB" sz="1200" b="1" baseline="30000" dirty="0">
              <a:solidFill>
                <a:prstClr val="black"/>
              </a:solidFill>
              <a:ea typeface="+mn-ea"/>
              <a:cs typeface="Arial" panose="020B0604020202020204" pitchFamily="34" charset="0"/>
            </a:endParaRPr>
          </a:p>
          <a:p>
            <a:pPr defTabSz="914400">
              <a:lnSpc>
                <a:spcPct val="95000"/>
              </a:lnSpc>
              <a:defRPr/>
            </a:pPr>
            <a:endParaRPr lang="en-GB" altLang="es-ES" sz="1200" b="1" baseline="30000" dirty="0">
              <a:solidFill>
                <a:prstClr val="black"/>
              </a:solidFill>
              <a:ea typeface="+mn-ea"/>
              <a:cs typeface="Arial" panose="020B0604020202020204" pitchFamily="34" charset="0"/>
            </a:endParaRPr>
          </a:p>
          <a:p>
            <a:pPr defTabSz="914400">
              <a:lnSpc>
                <a:spcPct val="95000"/>
              </a:lnSpc>
              <a:defRPr/>
            </a:pPr>
            <a:r>
              <a:rPr lang="en-GB" altLang="es-ES" sz="1200" b="1">
                <a:solidFill>
                  <a:srgbClr val="171717"/>
                </a:solidFill>
                <a:cs typeface="Arial" panose="020B0604020202020204" pitchFamily="34" charset="0"/>
              </a:rPr>
              <a:t>Valeur à représenter &lt; 0 → Composant de deux</a:t>
            </a:r>
          </a:p>
          <a:p>
            <a:pPr defTabSz="914400">
              <a:lnSpc>
                <a:spcPct val="95000"/>
              </a:lnSpc>
              <a:defRPr/>
            </a:pPr>
            <a:endParaRPr lang="en-GB" altLang="es-ES" sz="1200" b="1" baseline="30000" dirty="0">
              <a:solidFill>
                <a:prstClr val="black"/>
              </a:solidFill>
              <a:ea typeface="+mn-ea"/>
              <a:cs typeface="Arial" panose="020B0604020202020204" pitchFamily="34" charset="0"/>
            </a:endParaRP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r>
              <a:rPr lang="en-GB" altLang="es-ES" sz="1200" b="1">
                <a:solidFill>
                  <a:srgbClr val="171717"/>
                </a:solidFill>
                <a:cs typeface="Arial" panose="020B0604020202020204" pitchFamily="34" charset="0"/>
              </a:rPr>
              <a:t>Codez les mantes : 101 1101 1100</a:t>
            </a:r>
          </a:p>
          <a:p>
            <a:pPr defTabSz="914400">
              <a:lnSpc>
                <a:spcPct val="95000"/>
              </a:lnSpc>
              <a:defRPr/>
            </a:pPr>
            <a:r>
              <a:rPr lang="en-GB" altLang="es-ES" sz="1200" b="1">
                <a:solidFill>
                  <a:srgbClr val="171717"/>
                </a:solidFill>
                <a:cs typeface="Arial" panose="020B0604020202020204" pitchFamily="34" charset="0"/>
              </a:rPr>
              <a:t>Complément de deux: 010 0010 0100</a:t>
            </a: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br>
              <a:rPr lang="en-GB" altLang="es-ES" sz="1200" b="1" dirty="0">
                <a:solidFill>
                  <a:srgbClr val="171717"/>
                </a:solidFill>
                <a:cs typeface="Arial" panose="020B0604020202020204" pitchFamily="34" charset="0"/>
              </a:rPr>
            </a:br>
            <a:r>
              <a:rPr lang="en-GB" altLang="es-ES" sz="1200" b="1">
                <a:solidFill>
                  <a:srgbClr val="171717"/>
                </a:solidFill>
                <a:cs typeface="Arial" panose="020B0604020202020204" pitchFamily="34" charset="0"/>
              </a:rPr>
              <a:t>Valeur à représenter &lt; 0 → Signer = 1</a:t>
            </a:r>
          </a:p>
          <a:p>
            <a:pPr defTabSz="914400">
              <a:lnSpc>
                <a:spcPct val="95000"/>
              </a:lnSpc>
              <a:defRPr/>
            </a:pPr>
            <a:r>
              <a:rPr lang="en-GB" altLang="es-ES" sz="1200" b="1">
                <a:solidFill>
                  <a:srgbClr val="171717"/>
                </a:solidFill>
                <a:cs typeface="Arial" panose="020B0604020202020204" pitchFamily="34" charset="0"/>
              </a:rPr>
              <a:t>Exposant codé avec quatre bits= 0001</a:t>
            </a: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endParaRPr lang="en-GB" altLang="es-ES" sz="1200" b="1" dirty="0">
              <a:solidFill>
                <a:srgbClr val="171717"/>
              </a:solidFill>
              <a:cs typeface="Arial" panose="020B0604020202020204" pitchFamily="34" charset="0"/>
            </a:endParaRPr>
          </a:p>
          <a:p>
            <a:pPr defTabSz="914400">
              <a:lnSpc>
                <a:spcPct val="95000"/>
              </a:lnSpc>
              <a:defRPr/>
            </a:pPr>
            <a:r>
              <a:rPr lang="en-GB" altLang="es-ES" sz="1200" b="1">
                <a:solidFill>
                  <a:srgbClr val="171717"/>
                </a:solidFill>
                <a:cs typeface="Arial" panose="020B0604020202020204" pitchFamily="34" charset="0"/>
              </a:rPr>
              <a:t>Résultat (Signe | Mante | Exposant) :</a:t>
            </a:r>
          </a:p>
          <a:p>
            <a:pPr defTabSz="914400">
              <a:lnSpc>
                <a:spcPct val="95000"/>
              </a:lnSpc>
              <a:defRPr/>
            </a:pPr>
            <a:r>
              <a:rPr lang="en-GB" altLang="es-ES" sz="1200" b="1">
                <a:solidFill>
                  <a:srgbClr val="171717"/>
                </a:solidFill>
                <a:cs typeface="Arial" panose="020B0604020202020204" pitchFamily="34" charset="0"/>
              </a:rPr>
              <a:t>-30 ºC = 1  0001  010 0010 0100  = 8A24h</a:t>
            </a:r>
          </a:p>
        </p:txBody>
      </p:sp>
    </p:spTree>
    <p:extLst>
      <p:ext uri="{BB962C8B-B14F-4D97-AF65-F5344CB8AC3E}">
        <p14:creationId xmlns:p14="http://schemas.microsoft.com/office/powerpoint/2010/main" val="4260977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Temps</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400110"/>
          </a:xfrm>
          <a:prstGeom prst="rect">
            <a:avLst/>
          </a:prstGeom>
        </p:spPr>
        <p:txBody>
          <a:bodyPr wrap="square">
            <a:spAutoFit/>
          </a:bodyPr>
          <a:lstStyle/>
          <a:p>
            <a:r>
              <a:rPr lang="en-US" sz="2000" b="1"/>
              <a:t>Transmission de l'heure de la journée</a:t>
            </a:r>
          </a:p>
        </p:txBody>
      </p:sp>
      <p:pic>
        <p:nvPicPr>
          <p:cNvPr id="5" name="Picture 4">
            <a:extLst>
              <a:ext uri="{FF2B5EF4-FFF2-40B4-BE49-F238E27FC236}">
                <a16:creationId xmlns:a16="http://schemas.microsoft.com/office/drawing/2014/main" id="{2F52D029-6CE2-42D6-8AB2-963282F8F034}"/>
              </a:ext>
            </a:extLst>
          </p:cNvPr>
          <p:cNvPicPr>
            <a:picLocks noChangeAspect="1"/>
          </p:cNvPicPr>
          <p:nvPr/>
        </p:nvPicPr>
        <p:blipFill>
          <a:blip r:embed="rId3"/>
          <a:stretch>
            <a:fillRect/>
          </a:stretch>
        </p:blipFill>
        <p:spPr>
          <a:xfrm>
            <a:off x="1043608" y="2053426"/>
            <a:ext cx="7163955" cy="4034309"/>
          </a:xfrm>
          <a:prstGeom prst="rect">
            <a:avLst/>
          </a:prstGeom>
        </p:spPr>
      </p:pic>
    </p:spTree>
    <p:extLst>
      <p:ext uri="{BB962C8B-B14F-4D97-AF65-F5344CB8AC3E}">
        <p14:creationId xmlns:p14="http://schemas.microsoft.com/office/powerpoint/2010/main" val="2190519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Date</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600438"/>
          </a:xfrm>
          <a:prstGeom prst="rect">
            <a:avLst/>
          </a:prstGeom>
        </p:spPr>
        <p:txBody>
          <a:bodyPr wrap="square">
            <a:spAutoFit/>
          </a:bodyPr>
          <a:lstStyle/>
          <a:p>
            <a:r>
              <a:rPr lang="en-US" sz="2000" b="1"/>
              <a:t>Transmission de la date du jour</a:t>
            </a:r>
          </a:p>
          <a:p>
            <a:endParaRPr lang="en-US" sz="2000" b="1" dirty="0"/>
          </a:p>
          <a:p>
            <a:r>
              <a:rPr lang="en-US" sz="2000" b="1"/>
              <a:t>Données de l'année &gt;= 90 signifie l'année au 20ème siècle</a:t>
            </a:r>
          </a:p>
          <a:p>
            <a:r>
              <a:rPr lang="en-US" sz="2000" b="1"/>
              <a:t>Les données de l'année &lt; 90 signifient l'année au 21e siècle</a:t>
            </a:r>
          </a:p>
          <a:p>
            <a:endParaRPr lang="en-US" dirty="0"/>
          </a:p>
        </p:txBody>
      </p:sp>
      <p:pic>
        <p:nvPicPr>
          <p:cNvPr id="5" name="Picture 4">
            <a:extLst>
              <a:ext uri="{FF2B5EF4-FFF2-40B4-BE49-F238E27FC236}">
                <a16:creationId xmlns:a16="http://schemas.microsoft.com/office/drawing/2014/main" id="{C1C02DC9-009B-461B-856D-4375C03DA2CD}"/>
              </a:ext>
            </a:extLst>
          </p:cNvPr>
          <p:cNvPicPr>
            <a:picLocks noChangeAspect="1"/>
          </p:cNvPicPr>
          <p:nvPr/>
        </p:nvPicPr>
        <p:blipFill>
          <a:blip r:embed="rId3"/>
          <a:stretch>
            <a:fillRect/>
          </a:stretch>
        </p:blipFill>
        <p:spPr>
          <a:xfrm>
            <a:off x="1090115" y="3068960"/>
            <a:ext cx="7108304" cy="2955810"/>
          </a:xfrm>
          <a:prstGeom prst="rect">
            <a:avLst/>
          </a:prstGeom>
        </p:spPr>
      </p:pic>
    </p:spTree>
    <p:extLst>
      <p:ext uri="{BB962C8B-B14F-4D97-AF65-F5344CB8AC3E}">
        <p14:creationId xmlns:p14="http://schemas.microsoft.com/office/powerpoint/2010/main" val="1725426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Date et Heure</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3239840" cy="3970318"/>
          </a:xfrm>
          <a:prstGeom prst="rect">
            <a:avLst/>
          </a:prstGeom>
        </p:spPr>
        <p:txBody>
          <a:bodyPr wrap="square">
            <a:spAutoFit/>
          </a:bodyPr>
          <a:lstStyle/>
          <a:p>
            <a:r>
              <a:rPr lang="en-US" b="1" dirty="0"/>
              <a:t>Transmission de la date et de </a:t>
            </a:r>
            <a:r>
              <a:rPr lang="en-US" b="1" dirty="0" err="1"/>
              <a:t>l'heure</a:t>
            </a:r>
            <a:r>
              <a:rPr lang="en-US" b="1" dirty="0"/>
              <a:t> de la </a:t>
            </a:r>
            <a:r>
              <a:rPr lang="en-US" b="1" dirty="0" err="1"/>
              <a:t>journée</a:t>
            </a:r>
            <a:endParaRPr lang="en-US" b="1" dirty="0"/>
          </a:p>
          <a:p>
            <a:endParaRPr lang="en-US" b="1" dirty="0"/>
          </a:p>
          <a:p>
            <a:r>
              <a:rPr lang="en-US" b="1" dirty="0"/>
              <a:t>Combine et </a:t>
            </a:r>
            <a:r>
              <a:rPr lang="en-US" b="1" dirty="0" err="1"/>
              <a:t>étend</a:t>
            </a:r>
            <a:r>
              <a:rPr lang="en-US" b="1" dirty="0"/>
              <a:t> le </a:t>
            </a:r>
            <a:r>
              <a:rPr lang="en-US" b="1" dirty="0" err="1"/>
              <a:t>DPT_TimeOfDay</a:t>
            </a:r>
            <a:r>
              <a:rPr lang="en-US" b="1" dirty="0"/>
              <a:t> (10.001) et </a:t>
            </a:r>
            <a:r>
              <a:rPr lang="en-US" b="1" dirty="0" err="1"/>
              <a:t>DPT_Date</a:t>
            </a:r>
            <a:r>
              <a:rPr lang="en-US" b="1" dirty="0"/>
              <a:t> (11.001) </a:t>
            </a:r>
          </a:p>
          <a:p>
            <a:endParaRPr lang="en-US" b="1" dirty="0"/>
          </a:p>
          <a:p>
            <a:r>
              <a:rPr lang="en-US" b="1" dirty="0" err="1"/>
              <a:t>L'année</a:t>
            </a:r>
            <a:r>
              <a:rPr lang="en-US" b="1" dirty="0"/>
              <a:t> </a:t>
            </a:r>
            <a:r>
              <a:rPr lang="en-US" b="1" dirty="0" err="1"/>
              <a:t>est</a:t>
            </a:r>
            <a:r>
              <a:rPr lang="en-US" b="1" dirty="0"/>
              <a:t> </a:t>
            </a:r>
            <a:r>
              <a:rPr lang="en-US" b="1" dirty="0" err="1"/>
              <a:t>encodée</a:t>
            </a:r>
            <a:r>
              <a:rPr lang="en-US" b="1" dirty="0"/>
              <a:t> </a:t>
            </a:r>
            <a:r>
              <a:rPr lang="en-US" b="1" dirty="0" err="1"/>
              <a:t>comme</a:t>
            </a:r>
            <a:r>
              <a:rPr lang="en-US" b="1" dirty="0"/>
              <a:t> un octet non </a:t>
            </a:r>
            <a:r>
              <a:rPr lang="en-US" b="1" dirty="0" err="1"/>
              <a:t>signé</a:t>
            </a:r>
            <a:r>
              <a:rPr lang="en-US" b="1" dirty="0"/>
              <a:t> et </a:t>
            </a:r>
            <a:r>
              <a:rPr lang="en-US" b="1" dirty="0" err="1"/>
              <a:t>calculée</a:t>
            </a:r>
            <a:r>
              <a:rPr lang="en-US" b="1" dirty="0"/>
              <a:t> </a:t>
            </a:r>
            <a:r>
              <a:rPr lang="en-US" b="1" dirty="0" err="1"/>
              <a:t>comme</a:t>
            </a:r>
            <a:r>
              <a:rPr lang="en-US" b="1" dirty="0"/>
              <a:t> un </a:t>
            </a:r>
            <a:r>
              <a:rPr lang="en-US" b="1" dirty="0" err="1"/>
              <a:t>décalage</a:t>
            </a:r>
            <a:r>
              <a:rPr lang="en-US" b="1" dirty="0"/>
              <a:t> </a:t>
            </a:r>
            <a:r>
              <a:rPr lang="en-US" b="1" dirty="0" err="1"/>
              <a:t>vers</a:t>
            </a:r>
            <a:r>
              <a:rPr lang="en-US" b="1" dirty="0"/>
              <a:t> </a:t>
            </a:r>
            <a:r>
              <a:rPr lang="en-US" b="1" dirty="0" err="1"/>
              <a:t>l'année</a:t>
            </a:r>
            <a:r>
              <a:rPr lang="en-US" b="1" dirty="0"/>
              <a:t> 1900. </a:t>
            </a:r>
            <a:r>
              <a:rPr lang="en-US" b="1" dirty="0" err="1"/>
              <a:t>Période</a:t>
            </a:r>
            <a:r>
              <a:rPr lang="en-US" b="1" dirty="0"/>
              <a:t> couverte : 1900 - 2155</a:t>
            </a:r>
          </a:p>
          <a:p>
            <a:endParaRPr lang="en-US" sz="1600" dirty="0"/>
          </a:p>
        </p:txBody>
      </p:sp>
      <p:pic>
        <p:nvPicPr>
          <p:cNvPr id="2" name="Picture 1">
            <a:extLst>
              <a:ext uri="{FF2B5EF4-FFF2-40B4-BE49-F238E27FC236}">
                <a16:creationId xmlns:a16="http://schemas.microsoft.com/office/drawing/2014/main" id="{91935766-DF62-40FA-B705-582FF3844FE0}"/>
              </a:ext>
            </a:extLst>
          </p:cNvPr>
          <p:cNvPicPr>
            <a:picLocks noChangeAspect="1"/>
          </p:cNvPicPr>
          <p:nvPr/>
        </p:nvPicPr>
        <p:blipFill>
          <a:blip r:embed="rId3"/>
          <a:stretch>
            <a:fillRect/>
          </a:stretch>
        </p:blipFill>
        <p:spPr>
          <a:xfrm>
            <a:off x="4283968" y="1268759"/>
            <a:ext cx="4120970" cy="5157011"/>
          </a:xfrm>
          <a:prstGeom prst="rect">
            <a:avLst/>
          </a:prstGeom>
        </p:spPr>
      </p:pic>
    </p:spTree>
    <p:extLst>
      <p:ext uri="{BB962C8B-B14F-4D97-AF65-F5344CB8AC3E}">
        <p14:creationId xmlns:p14="http://schemas.microsoft.com/office/powerpoint/2010/main" val="467470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Commentaires sur la date et l'heure</a:t>
            </a:r>
            <a:endParaRPr lang="en-GB" dirty="0"/>
          </a:p>
        </p:txBody>
      </p:sp>
      <p:sp>
        <p:nvSpPr>
          <p:cNvPr id="4" name="Rectangle 3">
            <a:extLst>
              <a:ext uri="{FF2B5EF4-FFF2-40B4-BE49-F238E27FC236}">
                <a16:creationId xmlns:a16="http://schemas.microsoft.com/office/drawing/2014/main" id="{816F9A5F-289D-44E6-93C7-604C0415BFD7}"/>
              </a:ext>
            </a:extLst>
          </p:cNvPr>
          <p:cNvSpPr/>
          <p:nvPr/>
        </p:nvSpPr>
        <p:spPr>
          <a:xfrm>
            <a:off x="886638" y="1412776"/>
            <a:ext cx="7344296" cy="4752528"/>
          </a:xfrm>
          <a:prstGeom prst="rect">
            <a:avLst/>
          </a:prstGeom>
        </p:spPr>
        <p:txBody>
          <a:bodyPr/>
          <a:lstStyle/>
          <a:p>
            <a:pPr marL="342900" indent="-342900" eaLnBrk="0" hangingPunct="0">
              <a:spcBef>
                <a:spcPct val="20000"/>
              </a:spcBef>
              <a:buClr>
                <a:srgbClr val="369226"/>
              </a:buClr>
              <a:buFont typeface="Wingdings" pitchFamily="2" charset="2"/>
              <a:buChar char="§"/>
            </a:pPr>
            <a:r>
              <a:rPr lang="en-US" b="1" kern="0" dirty="0">
                <a:solidFill>
                  <a:srgbClr val="369226"/>
                </a:solidFill>
                <a:latin typeface="+mn-lt"/>
                <a:ea typeface="Open Sans" panose="020B0606030504020204" pitchFamily="34" charset="0"/>
                <a:cs typeface="Open Sans" panose="020B0606030504020204" pitchFamily="34" charset="0"/>
              </a:rPr>
              <a:t>Champ </a:t>
            </a:r>
            <a:r>
              <a:rPr lang="en-US" b="1" kern="0" dirty="0" err="1">
                <a:solidFill>
                  <a:srgbClr val="369226"/>
                </a:solidFill>
                <a:latin typeface="+mn-lt"/>
                <a:ea typeface="Open Sans" panose="020B0606030504020204" pitchFamily="34" charset="0"/>
                <a:cs typeface="Open Sans" panose="020B0606030504020204" pitchFamily="34" charset="0"/>
              </a:rPr>
              <a:t>Année</a:t>
            </a:r>
            <a:r>
              <a:rPr lang="en-US" b="1" kern="0" dirty="0">
                <a:solidFill>
                  <a:srgbClr val="369226"/>
                </a:solidFill>
                <a:latin typeface="+mn-lt"/>
                <a:ea typeface="Open Sans" panose="020B0606030504020204" pitchFamily="34" charset="0"/>
                <a:cs typeface="Open Sans" panose="020B0606030504020204" pitchFamily="34" charset="0"/>
              </a:rPr>
              <a:t> : </a:t>
            </a:r>
            <a:r>
              <a:rPr lang="en-US" b="1" kern="0" dirty="0" err="1">
                <a:latin typeface="+mn-lt"/>
                <a:ea typeface="Open Sans" panose="020B0606030504020204" pitchFamily="34" charset="0"/>
                <a:cs typeface="Open Sans" panose="020B0606030504020204" pitchFamily="34" charset="0"/>
              </a:rPr>
              <a:t>encodé</a:t>
            </a:r>
            <a:r>
              <a:rPr lang="en-US" b="1" kern="0" dirty="0">
                <a:latin typeface="+mn-lt"/>
                <a:ea typeface="Open Sans" panose="020B0606030504020204" pitchFamily="34" charset="0"/>
                <a:cs typeface="Open Sans" panose="020B0606030504020204" pitchFamily="34" charset="0"/>
              </a:rPr>
              <a:t> sur 8 bits</a:t>
            </a:r>
          </a:p>
          <a:p>
            <a:pPr marL="342900" indent="-342900" eaLnBrk="0" hangingPunct="0">
              <a:spcBef>
                <a:spcPct val="20000"/>
              </a:spcBef>
              <a:buClr>
                <a:srgbClr val="369226"/>
              </a:buClr>
              <a:buFont typeface="Wingdings" pitchFamily="2" charset="2"/>
              <a:buChar char="§"/>
            </a:pPr>
            <a:endParaRPr lang="en-US" sz="11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US" b="1" kern="0" dirty="0">
                <a:solidFill>
                  <a:srgbClr val="369226"/>
                </a:solidFill>
                <a:latin typeface="+mn-lt"/>
                <a:ea typeface="Open Sans" panose="020B0606030504020204" pitchFamily="34" charset="0"/>
                <a:cs typeface="Open Sans" panose="020B0606030504020204" pitchFamily="34" charset="0"/>
              </a:rPr>
              <a:t>Le champ </a:t>
            </a:r>
            <a:r>
              <a:rPr lang="en-US" b="1" kern="0" dirty="0" err="1">
                <a:solidFill>
                  <a:srgbClr val="369226"/>
                </a:solidFill>
                <a:latin typeface="+mn-lt"/>
                <a:ea typeface="Open Sans" panose="020B0606030504020204" pitchFamily="34" charset="0"/>
                <a:cs typeface="Open Sans" panose="020B0606030504020204" pitchFamily="34" charset="0"/>
              </a:rPr>
              <a:t>Heure</a:t>
            </a:r>
            <a:r>
              <a:rPr lang="en-US" b="1" kern="0" dirty="0">
                <a:solidFill>
                  <a:srgbClr val="369226"/>
                </a:solidFill>
                <a:latin typeface="+mn-lt"/>
                <a:ea typeface="Open Sans" panose="020B0606030504020204" pitchFamily="34" charset="0"/>
                <a:cs typeface="Open Sans" panose="020B0606030504020204" pitchFamily="34" charset="0"/>
              </a:rPr>
              <a:t> : </a:t>
            </a:r>
            <a:r>
              <a:rPr lang="en-US" b="1" kern="0" dirty="0" err="1">
                <a:latin typeface="+mn-lt"/>
                <a:ea typeface="Open Sans" panose="020B0606030504020204" pitchFamily="34" charset="0"/>
                <a:cs typeface="Open Sans" panose="020B0606030504020204" pitchFamily="34" charset="0"/>
              </a:rPr>
              <a:t>l'encodage</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est</a:t>
            </a:r>
            <a:r>
              <a:rPr lang="en-US" b="1" kern="0" dirty="0">
                <a:latin typeface="+mn-lt"/>
                <a:ea typeface="Open Sans" panose="020B0606030504020204" pitchFamily="34" charset="0"/>
                <a:cs typeface="Open Sans" panose="020B0606030504020204" pitchFamily="34" charset="0"/>
              </a:rPr>
              <a:t> dans la </a:t>
            </a:r>
            <a:r>
              <a:rPr lang="en-US" b="1" kern="0" dirty="0" err="1">
                <a:latin typeface="+mn-lt"/>
                <a:ea typeface="Open Sans" panose="020B0606030504020204" pitchFamily="34" charset="0"/>
                <a:cs typeface="Open Sans" panose="020B0606030504020204" pitchFamily="34" charset="0"/>
              </a:rPr>
              <a:t>plage</a:t>
            </a:r>
            <a:r>
              <a:rPr lang="en-US" b="1" kern="0" dirty="0">
                <a:latin typeface="+mn-lt"/>
                <a:ea typeface="Open Sans" panose="020B0606030504020204" pitchFamily="34" charset="0"/>
                <a:cs typeface="Open Sans" panose="020B0606030504020204" pitchFamily="34" charset="0"/>
              </a:rPr>
              <a:t> [0…24]. Il </a:t>
            </a:r>
            <a:r>
              <a:rPr lang="en-US" b="1" kern="0" dirty="0" err="1">
                <a:latin typeface="+mn-lt"/>
                <a:ea typeface="Open Sans" panose="020B0606030504020204" pitchFamily="34" charset="0"/>
                <a:cs typeface="Open Sans" panose="020B0606030504020204" pitchFamily="34" charset="0"/>
              </a:rPr>
              <a:t>est</a:t>
            </a:r>
            <a:r>
              <a:rPr lang="en-US" b="1" kern="0" dirty="0">
                <a:latin typeface="+mn-lt"/>
                <a:ea typeface="Open Sans" panose="020B0606030504020204" pitchFamily="34" charset="0"/>
                <a:cs typeface="Open Sans" panose="020B0606030504020204" pitchFamily="34" charset="0"/>
              </a:rPr>
              <a:t> possible </a:t>
            </a:r>
            <a:r>
              <a:rPr lang="en-US" b="1" kern="0" dirty="0" err="1">
                <a:latin typeface="+mn-lt"/>
                <a:ea typeface="Open Sans" panose="020B0606030504020204" pitchFamily="34" charset="0"/>
                <a:cs typeface="Open Sans" panose="020B0606030504020204" pitchFamily="34" charset="0"/>
              </a:rPr>
              <a:t>d'utiliser</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ce</a:t>
            </a:r>
            <a:r>
              <a:rPr lang="en-US" b="1" kern="0" dirty="0">
                <a:latin typeface="+mn-lt"/>
                <a:ea typeface="Open Sans" panose="020B0606030504020204" pitchFamily="34" charset="0"/>
                <a:cs typeface="Open Sans" panose="020B0606030504020204" pitchFamily="34" charset="0"/>
              </a:rPr>
              <a:t> type pour encoder des </a:t>
            </a:r>
            <a:r>
              <a:rPr lang="en-US" b="1" kern="0" dirty="0" err="1">
                <a:latin typeface="+mn-lt"/>
                <a:ea typeface="Open Sans" panose="020B0606030504020204" pitchFamily="34" charset="0"/>
                <a:cs typeface="Open Sans" panose="020B0606030504020204" pitchFamily="34" charset="0"/>
              </a:rPr>
              <a:t>programmes</a:t>
            </a:r>
            <a:r>
              <a:rPr lang="en-US" b="1" kern="0" dirty="0">
                <a:latin typeface="+mn-lt"/>
                <a:ea typeface="Open Sans" panose="020B0606030504020204" pitchFamily="34" charset="0"/>
                <a:cs typeface="Open Sans" panose="020B0606030504020204" pitchFamily="34" charset="0"/>
              </a:rPr>
              <a:t> de planification</a:t>
            </a:r>
          </a:p>
          <a:p>
            <a:pPr marL="342900" indent="-342900" eaLnBrk="0" hangingPunct="0">
              <a:spcBef>
                <a:spcPct val="20000"/>
              </a:spcBef>
              <a:buClr>
                <a:srgbClr val="369226"/>
              </a:buClr>
              <a:buFont typeface="Wingdings" pitchFamily="2" charset="2"/>
              <a:buChar char="§"/>
            </a:pPr>
            <a:endParaRPr lang="en-US" sz="1100" b="1" kern="0" dirty="0">
              <a:solidFill>
                <a:srgbClr val="369226"/>
              </a:solidFill>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US" b="1" kern="0" dirty="0">
                <a:solidFill>
                  <a:srgbClr val="369226"/>
                </a:solidFill>
                <a:latin typeface="+mn-lt"/>
                <a:ea typeface="Open Sans" panose="020B0606030504020204" pitchFamily="34" charset="0"/>
                <a:cs typeface="Open Sans" panose="020B0606030504020204" pitchFamily="34" charset="0"/>
              </a:rPr>
              <a:t>Champ par </a:t>
            </a:r>
            <a:r>
              <a:rPr lang="en-US" b="1" kern="0" dirty="0" err="1">
                <a:solidFill>
                  <a:srgbClr val="369226"/>
                </a:solidFill>
                <a:latin typeface="+mn-lt"/>
                <a:ea typeface="Open Sans" panose="020B0606030504020204" pitchFamily="34" charset="0"/>
                <a:cs typeface="Open Sans" panose="020B0606030504020204" pitchFamily="34" charset="0"/>
              </a:rPr>
              <a:t>défaut</a:t>
            </a:r>
            <a:r>
              <a:rPr lang="en-US" b="1" kern="0" dirty="0">
                <a:solidFill>
                  <a:srgbClr val="369226"/>
                </a:solidFill>
                <a:latin typeface="+mn-lt"/>
                <a:ea typeface="Open Sans" panose="020B0606030504020204" pitchFamily="34" charset="0"/>
                <a:cs typeface="Open Sans" panose="020B0606030504020204" pitchFamily="34" charset="0"/>
              </a:rPr>
              <a:t> : </a:t>
            </a:r>
            <a:r>
              <a:rPr lang="en-US" b="1" kern="0" dirty="0" err="1">
                <a:latin typeface="+mn-lt"/>
                <a:ea typeface="Open Sans" panose="020B0606030504020204" pitchFamily="34" charset="0"/>
                <a:cs typeface="Open Sans" panose="020B0606030504020204" pitchFamily="34" charset="0"/>
              </a:rPr>
              <a:t>est</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défini</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si</a:t>
            </a:r>
            <a:r>
              <a:rPr lang="en-US" b="1" kern="0" dirty="0">
                <a:latin typeface="+mn-lt"/>
                <a:ea typeface="Open Sans" panose="020B0606030504020204" pitchFamily="34" charset="0"/>
                <a:cs typeface="Open Sans" panose="020B0606030504020204" pitchFamily="34" charset="0"/>
              </a:rPr>
              <a:t> un </a:t>
            </a:r>
            <a:r>
              <a:rPr lang="en-US" b="1" kern="0" dirty="0" err="1">
                <a:latin typeface="+mn-lt"/>
                <a:ea typeface="Open Sans" panose="020B0606030504020204" pitchFamily="34" charset="0"/>
                <a:cs typeface="Open Sans" panose="020B0606030504020204" pitchFamily="34" charset="0"/>
              </a:rPr>
              <a:t>ou</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plusieurs</a:t>
            </a:r>
            <a:r>
              <a:rPr lang="en-US" b="1" kern="0" dirty="0">
                <a:latin typeface="+mn-lt"/>
                <a:ea typeface="Open Sans" panose="020B0606030504020204" pitchFamily="34" charset="0"/>
                <a:cs typeface="Open Sans" panose="020B0606030504020204" pitchFamily="34" charset="0"/>
              </a:rPr>
              <a:t> champs </a:t>
            </a:r>
            <a:r>
              <a:rPr lang="en-US" b="1" kern="0" dirty="0" err="1">
                <a:latin typeface="+mn-lt"/>
                <a:ea typeface="Open Sans" panose="020B0606030504020204" pitchFamily="34" charset="0"/>
                <a:cs typeface="Open Sans" panose="020B0606030504020204" pitchFamily="34" charset="0"/>
              </a:rPr>
              <a:t>supportés</a:t>
            </a:r>
            <a:r>
              <a:rPr lang="en-US" b="1" kern="0" dirty="0">
                <a:latin typeface="+mn-lt"/>
                <a:ea typeface="Open Sans" panose="020B0606030504020204" pitchFamily="34" charset="0"/>
                <a:cs typeface="Open Sans" panose="020B0606030504020204" pitchFamily="34" charset="0"/>
              </a:rPr>
              <a:t> des </a:t>
            </a:r>
            <a:r>
              <a:rPr lang="en-US" b="1" kern="0" dirty="0" err="1">
                <a:latin typeface="+mn-lt"/>
                <a:ea typeface="Open Sans" panose="020B0606030504020204" pitchFamily="34" charset="0"/>
                <a:cs typeface="Open Sans" panose="020B0606030504020204" pitchFamily="34" charset="0"/>
              </a:rPr>
              <a:t>informations</a:t>
            </a:r>
            <a:r>
              <a:rPr lang="en-US" b="1" kern="0" dirty="0">
                <a:latin typeface="+mn-lt"/>
                <a:ea typeface="Open Sans" panose="020B0606030504020204" pitchFamily="34" charset="0"/>
                <a:cs typeface="Open Sans" panose="020B0606030504020204" pitchFamily="34" charset="0"/>
              </a:rPr>
              <a:t> Date &amp; Temps </a:t>
            </a:r>
            <a:r>
              <a:rPr lang="en-US" b="1" kern="0" dirty="0" err="1">
                <a:latin typeface="+mn-lt"/>
                <a:ea typeface="Open Sans" panose="020B0606030504020204" pitchFamily="34" charset="0"/>
                <a:cs typeface="Open Sans" panose="020B0606030504020204" pitchFamily="34" charset="0"/>
              </a:rPr>
              <a:t>sont</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corrompus</a:t>
            </a:r>
            <a:endParaRPr lang="en-US"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sz="11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US" b="1" kern="0" dirty="0">
                <a:solidFill>
                  <a:srgbClr val="369226"/>
                </a:solidFill>
                <a:latin typeface="+mn-lt"/>
                <a:ea typeface="Open Sans" panose="020B0606030504020204" pitchFamily="34" charset="0"/>
                <a:cs typeface="Open Sans" panose="020B0606030504020204" pitchFamily="34" charset="0"/>
              </a:rPr>
              <a:t>Champ SUTI : </a:t>
            </a:r>
            <a:r>
              <a:rPr lang="en-US" b="1" kern="0" dirty="0" err="1">
                <a:latin typeface="+mn-lt"/>
                <a:ea typeface="Open Sans" panose="020B0606030504020204" pitchFamily="34" charset="0"/>
                <a:cs typeface="Open Sans" panose="020B0606030504020204" pitchFamily="34" charset="0"/>
              </a:rPr>
              <a:t>attribut</a:t>
            </a:r>
            <a:r>
              <a:rPr lang="en-US" b="1" kern="0" dirty="0">
                <a:latin typeface="+mn-lt"/>
                <a:ea typeface="Open Sans" panose="020B0606030504020204" pitchFamily="34" charset="0"/>
                <a:cs typeface="Open Sans" panose="020B0606030504020204" pitchFamily="34" charset="0"/>
              </a:rPr>
              <a:t> pour information / </a:t>
            </a:r>
            <a:r>
              <a:rPr lang="en-US" b="1" kern="0" dirty="0" err="1">
                <a:latin typeface="+mn-lt"/>
                <a:ea typeface="Open Sans" panose="020B0606030504020204" pitchFamily="34" charset="0"/>
                <a:cs typeface="Open Sans" panose="020B0606030504020204" pitchFamily="34" charset="0"/>
              </a:rPr>
              <a:t>visualisation</a:t>
            </a:r>
            <a:r>
              <a:rPr lang="en-US" b="1" kern="0" dirty="0">
                <a:latin typeface="+mn-lt"/>
                <a:ea typeface="Open Sans" panose="020B0606030504020204" pitchFamily="34" charset="0"/>
                <a:cs typeface="Open Sans" panose="020B0606030504020204" pitchFamily="34" charset="0"/>
              </a:rPr>
              <a:t>. Dans le champ </a:t>
            </a:r>
            <a:r>
              <a:rPr lang="en-US" b="1" kern="0" dirty="0" err="1">
                <a:latin typeface="+mn-lt"/>
                <a:ea typeface="Open Sans" panose="020B0606030504020204" pitchFamily="34" charset="0"/>
                <a:cs typeface="Open Sans" panose="020B0606030504020204" pitchFamily="34" charset="0"/>
              </a:rPr>
              <a:t>horaire</a:t>
            </a:r>
            <a:r>
              <a:rPr lang="en-US" b="1" kern="0" dirty="0">
                <a:latin typeface="+mn-lt"/>
                <a:ea typeface="Open Sans" panose="020B0606030504020204" pitchFamily="34" charset="0"/>
                <a:cs typeface="Open Sans" panose="020B0606030504020204" pitchFamily="34" charset="0"/>
              </a:rPr>
              <a:t>, la correction de </a:t>
            </a:r>
            <a:r>
              <a:rPr lang="en-US" b="1" kern="0" dirty="0" err="1">
                <a:latin typeface="+mn-lt"/>
                <a:ea typeface="Open Sans" panose="020B0606030504020204" pitchFamily="34" charset="0"/>
                <a:cs typeface="Open Sans" panose="020B0606030504020204" pitchFamily="34" charset="0"/>
              </a:rPr>
              <a:t>l'heure</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d'été</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est</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envisagée</a:t>
            </a:r>
            <a:endParaRPr lang="en-US"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sz="11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GB" b="1" dirty="0">
                <a:solidFill>
                  <a:srgbClr val="369226"/>
                </a:solidFill>
              </a:rPr>
              <a:t>Champ </a:t>
            </a:r>
            <a:r>
              <a:rPr lang="en-GB" b="1" dirty="0" err="1">
                <a:solidFill>
                  <a:srgbClr val="369226"/>
                </a:solidFill>
              </a:rPr>
              <a:t>NDoW</a:t>
            </a:r>
            <a:r>
              <a:rPr lang="en-GB" b="1" dirty="0">
                <a:solidFill>
                  <a:srgbClr val="369226"/>
                </a:solidFill>
              </a:rPr>
              <a:t> : </a:t>
            </a:r>
            <a:r>
              <a:rPr lang="en-GB" b="1" dirty="0"/>
              <a:t>Support du jour de la </a:t>
            </a:r>
            <a:r>
              <a:rPr lang="en-GB" b="1" dirty="0" err="1"/>
              <a:t>semaine</a:t>
            </a:r>
            <a:r>
              <a:rPr lang="en-GB" b="1" dirty="0"/>
              <a:t> (</a:t>
            </a:r>
            <a:r>
              <a:rPr lang="en-GB" b="1" dirty="0" err="1"/>
              <a:t>NDoW</a:t>
            </a:r>
            <a:r>
              <a:rPr lang="en-GB" b="1" dirty="0"/>
              <a:t> = 0)</a:t>
            </a:r>
            <a:endParaRPr lang="en-US" b="1" dirty="0"/>
          </a:p>
          <a:p>
            <a:pPr marL="342900" indent="-342900" eaLnBrk="0" hangingPunct="0">
              <a:spcBef>
                <a:spcPct val="20000"/>
              </a:spcBef>
              <a:buClr>
                <a:srgbClr val="369226"/>
              </a:buClr>
              <a:buFont typeface="Wingdings" pitchFamily="2" charset="2"/>
              <a:buChar char="§"/>
            </a:pPr>
            <a:endParaRPr lang="en-US" sz="1100" b="1" dirty="0">
              <a:solidFill>
                <a:srgbClr val="369226"/>
              </a:solidFill>
            </a:endParaRPr>
          </a:p>
          <a:p>
            <a:pPr marL="342900" indent="-342900" eaLnBrk="0" hangingPunct="0">
              <a:spcBef>
                <a:spcPct val="20000"/>
              </a:spcBef>
              <a:buClr>
                <a:srgbClr val="369226"/>
              </a:buClr>
              <a:buFont typeface="Wingdings" pitchFamily="2" charset="2"/>
              <a:buChar char="§"/>
            </a:pPr>
            <a:r>
              <a:rPr lang="en-US" b="1" dirty="0">
                <a:solidFill>
                  <a:srgbClr val="369226"/>
                </a:solidFill>
              </a:rPr>
              <a:t>Le champ CLQ :  </a:t>
            </a:r>
            <a:r>
              <a:rPr lang="en-US" b="1" dirty="0"/>
              <a:t>Le bit 7 du 1er octet </a:t>
            </a:r>
            <a:r>
              <a:rPr lang="en-US" b="1" dirty="0" err="1"/>
              <a:t>est</a:t>
            </a:r>
            <a:r>
              <a:rPr lang="en-US" b="1" dirty="0"/>
              <a:t> </a:t>
            </a:r>
            <a:r>
              <a:rPr lang="en-US" b="1" dirty="0" err="1"/>
              <a:t>utilisé</a:t>
            </a:r>
            <a:r>
              <a:rPr lang="en-US" b="1" dirty="0"/>
              <a:t> pour le bit "</a:t>
            </a:r>
            <a:r>
              <a:rPr lang="en-US" b="1" dirty="0" err="1"/>
              <a:t>Qualité</a:t>
            </a:r>
            <a:r>
              <a:rPr lang="en-US" b="1" dirty="0"/>
              <a:t> de </a:t>
            </a:r>
            <a:r>
              <a:rPr lang="en-US" b="1" dirty="0" err="1"/>
              <a:t>l'horloge</a:t>
            </a:r>
            <a:r>
              <a:rPr lang="en-US" b="1" dirty="0"/>
              <a:t>" .  ( 1 = </a:t>
            </a:r>
            <a:r>
              <a:rPr lang="en-GB" b="1" dirty="0" err="1"/>
              <a:t>Horloge</a:t>
            </a:r>
            <a:r>
              <a:rPr lang="en-GB" b="1" dirty="0"/>
              <a:t> avec </a:t>
            </a:r>
            <a:r>
              <a:rPr lang="en-GB" b="1" dirty="0" err="1"/>
              <a:t>une</a:t>
            </a:r>
            <a:r>
              <a:rPr lang="en-GB" b="1" dirty="0"/>
              <a:t> synchronisation </a:t>
            </a:r>
            <a:r>
              <a:rPr lang="en-GB" b="1" dirty="0" err="1"/>
              <a:t>externe</a:t>
            </a:r>
            <a:r>
              <a:rPr lang="en-GB" dirty="0"/>
              <a:t>)</a:t>
            </a:r>
            <a:endParaRPr lang="es-ES" b="1" dirty="0"/>
          </a:p>
          <a:p>
            <a:pPr marL="342900" indent="-342900" eaLnBrk="0" hangingPunct="0">
              <a:spcBef>
                <a:spcPct val="20000"/>
              </a:spcBef>
              <a:buClr>
                <a:srgbClr val="369226"/>
              </a:buClr>
              <a:buFont typeface="Wingdings" pitchFamily="2" charset="2"/>
              <a:buChar char="§"/>
            </a:pPr>
            <a:endParaRPr lang="en-US"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US" b="1" kern="0"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810644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4 Octets sans Signe</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600438"/>
          </a:xfrm>
          <a:prstGeom prst="rect">
            <a:avLst/>
          </a:prstGeom>
        </p:spPr>
        <p:txBody>
          <a:bodyPr wrap="square">
            <a:spAutoFit/>
          </a:bodyPr>
          <a:lstStyle/>
          <a:p>
            <a:r>
              <a:rPr lang="en-US" sz="2000" b="1"/>
              <a:t>Transmission des valeurs de compteur non signées jusqu'à 4.294.967.295 </a:t>
            </a:r>
          </a:p>
          <a:p>
            <a:endParaRPr lang="en-US" sz="2000" b="1" dirty="0"/>
          </a:p>
          <a:p>
            <a:endParaRPr lang="en-US" sz="2000" b="1" dirty="0"/>
          </a:p>
          <a:p>
            <a:endParaRPr lang="en-US" dirty="0"/>
          </a:p>
        </p:txBody>
      </p:sp>
      <p:pic>
        <p:nvPicPr>
          <p:cNvPr id="2" name="Picture 1">
            <a:extLst>
              <a:ext uri="{FF2B5EF4-FFF2-40B4-BE49-F238E27FC236}">
                <a16:creationId xmlns:a16="http://schemas.microsoft.com/office/drawing/2014/main" id="{7C055419-B7D6-419E-A5FF-6B926D589B6A}"/>
              </a:ext>
            </a:extLst>
          </p:cNvPr>
          <p:cNvPicPr>
            <a:picLocks noChangeAspect="1"/>
          </p:cNvPicPr>
          <p:nvPr/>
        </p:nvPicPr>
        <p:blipFill>
          <a:blip r:embed="rId3"/>
          <a:stretch>
            <a:fillRect/>
          </a:stretch>
        </p:blipFill>
        <p:spPr>
          <a:xfrm>
            <a:off x="779217" y="2483544"/>
            <a:ext cx="7730099" cy="2961680"/>
          </a:xfrm>
          <a:prstGeom prst="rect">
            <a:avLst/>
          </a:prstGeom>
        </p:spPr>
      </p:pic>
    </p:spTree>
    <p:extLst>
      <p:ext uri="{BB962C8B-B14F-4D97-AF65-F5344CB8AC3E}">
        <p14:creationId xmlns:p14="http://schemas.microsoft.com/office/powerpoint/2010/main" val="630788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4 Octets avec Signe</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600438"/>
          </a:xfrm>
          <a:prstGeom prst="rect">
            <a:avLst/>
          </a:prstGeom>
        </p:spPr>
        <p:txBody>
          <a:bodyPr wrap="square">
            <a:spAutoFit/>
          </a:bodyPr>
          <a:lstStyle/>
          <a:p>
            <a:r>
              <a:rPr lang="en-US" sz="2000" b="1"/>
              <a:t>Transmission des valeurs de -2.147.483.648 à +2.147.483.647</a:t>
            </a:r>
          </a:p>
          <a:p>
            <a:endParaRPr lang="en-US" sz="2000" b="1" dirty="0"/>
          </a:p>
          <a:p>
            <a:r>
              <a:rPr lang="en-US" sz="2000" b="1"/>
              <a:t>Les nombres négatifs sont représentés comme un complément à deux</a:t>
            </a:r>
          </a:p>
          <a:p>
            <a:endParaRPr lang="en-US" dirty="0"/>
          </a:p>
        </p:txBody>
      </p:sp>
      <p:pic>
        <p:nvPicPr>
          <p:cNvPr id="2" name="Picture 1">
            <a:extLst>
              <a:ext uri="{FF2B5EF4-FFF2-40B4-BE49-F238E27FC236}">
                <a16:creationId xmlns:a16="http://schemas.microsoft.com/office/drawing/2014/main" id="{CBBBB612-B1E0-46B7-ADB0-E5F82E52E08A}"/>
              </a:ext>
            </a:extLst>
          </p:cNvPr>
          <p:cNvPicPr>
            <a:picLocks noChangeAspect="1"/>
          </p:cNvPicPr>
          <p:nvPr/>
        </p:nvPicPr>
        <p:blipFill>
          <a:blip r:embed="rId3"/>
          <a:stretch>
            <a:fillRect/>
          </a:stretch>
        </p:blipFill>
        <p:spPr>
          <a:xfrm>
            <a:off x="806378" y="3013214"/>
            <a:ext cx="7531244" cy="3008074"/>
          </a:xfrm>
          <a:prstGeom prst="rect">
            <a:avLst/>
          </a:prstGeom>
        </p:spPr>
      </p:pic>
    </p:spTree>
    <p:extLst>
      <p:ext uri="{BB962C8B-B14F-4D97-AF65-F5344CB8AC3E}">
        <p14:creationId xmlns:p14="http://schemas.microsoft.com/office/powerpoint/2010/main" val="1969527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4 Octets Nombre à Virgule Flottante</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2447752" cy="2585323"/>
          </a:xfrm>
          <a:prstGeom prst="rect">
            <a:avLst/>
          </a:prstGeom>
        </p:spPr>
        <p:txBody>
          <a:bodyPr wrap="square">
            <a:spAutoFit/>
          </a:bodyPr>
          <a:lstStyle/>
          <a:p>
            <a:r>
              <a:rPr lang="en-US" b="1" dirty="0"/>
              <a:t>Transmission des </a:t>
            </a:r>
            <a:r>
              <a:rPr lang="en-US" b="1" dirty="0" err="1"/>
              <a:t>valeurs</a:t>
            </a:r>
            <a:r>
              <a:rPr lang="en-US" b="1" dirty="0"/>
              <a:t> à virgule </a:t>
            </a:r>
            <a:r>
              <a:rPr lang="en-US" b="1" dirty="0" err="1"/>
              <a:t>flottante</a:t>
            </a:r>
            <a:r>
              <a:rPr lang="en-US" b="1" dirty="0"/>
              <a:t> avec </a:t>
            </a:r>
            <a:r>
              <a:rPr lang="en-US" b="1" dirty="0" err="1"/>
              <a:t>une</a:t>
            </a:r>
            <a:r>
              <a:rPr lang="en-US" b="1" dirty="0"/>
              <a:t> plus </a:t>
            </a:r>
            <a:r>
              <a:rPr lang="en-US" b="1" dirty="0" err="1"/>
              <a:t>grande</a:t>
            </a:r>
            <a:r>
              <a:rPr lang="en-US" b="1" dirty="0"/>
              <a:t> </a:t>
            </a:r>
            <a:r>
              <a:rPr lang="en-US" b="1" dirty="0" err="1"/>
              <a:t>précision</a:t>
            </a:r>
            <a:endParaRPr lang="en-US" b="1" dirty="0"/>
          </a:p>
          <a:p>
            <a:endParaRPr lang="en-US" b="1" dirty="0"/>
          </a:p>
          <a:p>
            <a:r>
              <a:rPr lang="en-US" b="1" dirty="0"/>
              <a:t>Il </a:t>
            </a:r>
            <a:r>
              <a:rPr lang="en-US" b="1" dirty="0" err="1"/>
              <a:t>est</a:t>
            </a:r>
            <a:r>
              <a:rPr lang="en-US" b="1" dirty="0"/>
              <a:t> </a:t>
            </a:r>
            <a:r>
              <a:rPr lang="en-US" b="1" dirty="0" err="1"/>
              <a:t>utilisé</a:t>
            </a:r>
            <a:r>
              <a:rPr lang="en-US" b="1" dirty="0"/>
              <a:t> </a:t>
            </a:r>
            <a:r>
              <a:rPr lang="en-US" b="1" dirty="0" err="1"/>
              <a:t>conformément</a:t>
            </a:r>
            <a:r>
              <a:rPr lang="en-US" b="1" dirty="0"/>
              <a:t> à IEEE 754 </a:t>
            </a:r>
            <a:endParaRPr lang="en-US" sz="1600" dirty="0"/>
          </a:p>
        </p:txBody>
      </p:sp>
      <p:pic>
        <p:nvPicPr>
          <p:cNvPr id="5" name="Picture 4">
            <a:extLst>
              <a:ext uri="{FF2B5EF4-FFF2-40B4-BE49-F238E27FC236}">
                <a16:creationId xmlns:a16="http://schemas.microsoft.com/office/drawing/2014/main" id="{3B25BAF4-9C94-4E03-A211-79491CAD0DF0}"/>
              </a:ext>
            </a:extLst>
          </p:cNvPr>
          <p:cNvPicPr>
            <a:picLocks noChangeAspect="1"/>
          </p:cNvPicPr>
          <p:nvPr/>
        </p:nvPicPr>
        <p:blipFill>
          <a:blip r:embed="rId3"/>
          <a:stretch>
            <a:fillRect/>
          </a:stretch>
        </p:blipFill>
        <p:spPr>
          <a:xfrm>
            <a:off x="3347864" y="1412776"/>
            <a:ext cx="5407676" cy="4968974"/>
          </a:xfrm>
          <a:prstGeom prst="rect">
            <a:avLst/>
          </a:prstGeom>
        </p:spPr>
      </p:pic>
    </p:spTree>
    <p:extLst>
      <p:ext uri="{BB962C8B-B14F-4D97-AF65-F5344CB8AC3E}">
        <p14:creationId xmlns:p14="http://schemas.microsoft.com/office/powerpoint/2010/main" val="4149561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Contrôle d'Accès</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2087711" cy="923330"/>
          </a:xfrm>
          <a:prstGeom prst="rect">
            <a:avLst/>
          </a:prstGeom>
        </p:spPr>
        <p:txBody>
          <a:bodyPr wrap="square">
            <a:spAutoFit/>
          </a:bodyPr>
          <a:lstStyle/>
          <a:p>
            <a:r>
              <a:rPr lang="en-US" b="1"/>
              <a:t>Représentation ou journal des actes d'accès</a:t>
            </a:r>
            <a:endParaRPr lang="en-US" sz="1600" dirty="0"/>
          </a:p>
        </p:txBody>
      </p:sp>
      <p:pic>
        <p:nvPicPr>
          <p:cNvPr id="6" name="Picture 5">
            <a:extLst>
              <a:ext uri="{FF2B5EF4-FFF2-40B4-BE49-F238E27FC236}">
                <a16:creationId xmlns:a16="http://schemas.microsoft.com/office/drawing/2014/main" id="{9129E04D-BCDF-4BFF-B3D3-6C1ABF1653E9}"/>
              </a:ext>
            </a:extLst>
          </p:cNvPr>
          <p:cNvPicPr>
            <a:picLocks noChangeAspect="1"/>
          </p:cNvPicPr>
          <p:nvPr/>
        </p:nvPicPr>
        <p:blipFill>
          <a:blip r:embed="rId3"/>
          <a:stretch>
            <a:fillRect/>
          </a:stretch>
        </p:blipFill>
        <p:spPr>
          <a:xfrm>
            <a:off x="2699791" y="1412776"/>
            <a:ext cx="5640627" cy="5040560"/>
          </a:xfrm>
          <a:prstGeom prst="rect">
            <a:avLst/>
          </a:prstGeom>
        </p:spPr>
      </p:pic>
    </p:spTree>
    <p:extLst>
      <p:ext uri="{BB962C8B-B14F-4D97-AF65-F5344CB8AC3E}">
        <p14:creationId xmlns:p14="http://schemas.microsoft.com/office/powerpoint/2010/main" val="2067563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Exemple de contrôle d'accès</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1703030"/>
          </a:xfrm>
          <a:prstGeom prst="rect">
            <a:avLst/>
          </a:prstGeom>
        </p:spPr>
        <p:txBody>
          <a:bodyPr wrap="square">
            <a:spAutoFit/>
          </a:bodyPr>
          <a:lstStyle/>
          <a:p>
            <a:pPr>
              <a:lnSpc>
                <a:spcPct val="150000"/>
              </a:lnSpc>
            </a:pPr>
            <a:r>
              <a:rPr lang="en-US" b="1"/>
              <a:t>Transmission du code ID d'accès "123456", sans affichage d'erreur, autorisation, lecture de la carte de gauche à droite, non chiffrée, correspondance avec 13</a:t>
            </a:r>
          </a:p>
          <a:p>
            <a:pPr>
              <a:lnSpc>
                <a:spcPct val="150000"/>
              </a:lnSpc>
            </a:pPr>
            <a:endParaRPr lang="en-US" dirty="0"/>
          </a:p>
        </p:txBody>
      </p:sp>
      <p:pic>
        <p:nvPicPr>
          <p:cNvPr id="16" name="Picture 15">
            <a:extLst>
              <a:ext uri="{FF2B5EF4-FFF2-40B4-BE49-F238E27FC236}">
                <a16:creationId xmlns:a16="http://schemas.microsoft.com/office/drawing/2014/main" id="{C5BB1823-502A-48CB-B20A-A9C2D0173A2F}"/>
              </a:ext>
            </a:extLst>
          </p:cNvPr>
          <p:cNvPicPr>
            <a:picLocks noChangeAspect="1"/>
          </p:cNvPicPr>
          <p:nvPr/>
        </p:nvPicPr>
        <p:blipFill>
          <a:blip r:embed="rId3"/>
          <a:stretch>
            <a:fillRect/>
          </a:stretch>
        </p:blipFill>
        <p:spPr>
          <a:xfrm>
            <a:off x="900112" y="3284984"/>
            <a:ext cx="7343057" cy="1631791"/>
          </a:xfrm>
          <a:prstGeom prst="rect">
            <a:avLst/>
          </a:prstGeom>
        </p:spPr>
      </p:pic>
    </p:spTree>
    <p:extLst>
      <p:ext uri="{BB962C8B-B14F-4D97-AF65-F5344CB8AC3E}">
        <p14:creationId xmlns:p14="http://schemas.microsoft.com/office/powerpoint/2010/main" val="1769847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Chaîne de Caractères</a:t>
            </a:r>
          </a:p>
        </p:txBody>
      </p:sp>
      <p:sp>
        <p:nvSpPr>
          <p:cNvPr id="4" name="Rectangle 3">
            <a:extLst>
              <a:ext uri="{FF2B5EF4-FFF2-40B4-BE49-F238E27FC236}">
                <a16:creationId xmlns:a16="http://schemas.microsoft.com/office/drawing/2014/main" id="{816F9A5F-289D-44E6-93C7-604C0415BFD7}"/>
              </a:ext>
            </a:extLst>
          </p:cNvPr>
          <p:cNvSpPr/>
          <p:nvPr/>
        </p:nvSpPr>
        <p:spPr>
          <a:xfrm>
            <a:off x="900113" y="1412776"/>
            <a:ext cx="7344295" cy="2800767"/>
          </a:xfrm>
          <a:prstGeom prst="rect">
            <a:avLst/>
          </a:prstGeom>
        </p:spPr>
        <p:txBody>
          <a:bodyPr wrap="square">
            <a:spAutoFit/>
          </a:bodyPr>
          <a:lstStyle/>
          <a:p>
            <a:r>
              <a:rPr lang="en-US" sz="2000" b="1"/>
              <a:t>Transférer des chaînes de caractères, les types de données 16.000 et 16.001 permettent d'envoyer du texte de 14 caractères maximum</a:t>
            </a:r>
          </a:p>
          <a:p>
            <a:endParaRPr lang="en-US" sz="2000" b="1" dirty="0"/>
          </a:p>
          <a:p>
            <a:r>
              <a:rPr lang="en-GB" sz="2000" b="1"/>
              <a:t>Encodage des caractères individuels correspond aux types 4.001 et 4.002</a:t>
            </a:r>
          </a:p>
          <a:p>
            <a:endParaRPr lang="en-GB" sz="2000" b="1" dirty="0"/>
          </a:p>
          <a:p>
            <a:r>
              <a:rPr lang="en-GB" sz="2000" b="1"/>
              <a:t>Dans les deux cas, le contenu commence par le MSB</a:t>
            </a:r>
          </a:p>
          <a:p>
            <a:endParaRPr lang="es-ES" dirty="0"/>
          </a:p>
          <a:p>
            <a:endParaRPr lang="en-US" dirty="0"/>
          </a:p>
        </p:txBody>
      </p:sp>
      <p:pic>
        <p:nvPicPr>
          <p:cNvPr id="5" name="Picture 4">
            <a:extLst>
              <a:ext uri="{FF2B5EF4-FFF2-40B4-BE49-F238E27FC236}">
                <a16:creationId xmlns:a16="http://schemas.microsoft.com/office/drawing/2014/main" id="{B5052A97-BF08-4C5F-889E-C407517956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7023" y="4541478"/>
            <a:ext cx="7521401" cy="1295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A8C46611-79C2-4505-8B08-3D4BD400AC77}"/>
              </a:ext>
            </a:extLst>
          </p:cNvPr>
          <p:cNvSpPr/>
          <p:nvPr/>
        </p:nvSpPr>
        <p:spPr>
          <a:xfrm>
            <a:off x="955837" y="4221088"/>
            <a:ext cx="1274708" cy="369332"/>
          </a:xfrm>
          <a:prstGeom prst="rect">
            <a:avLst/>
          </a:prstGeom>
        </p:spPr>
        <p:txBody>
          <a:bodyPr wrap="none">
            <a:spAutoFit/>
          </a:bodyPr>
          <a:lstStyle/>
          <a:p>
            <a:r>
              <a:rPr lang="en-US" b="1" kern="0">
                <a:ea typeface="Open Sans" panose="020B0606030504020204" pitchFamily="34" charset="0"/>
                <a:cs typeface="Open Sans" panose="020B0606030504020204" pitchFamily="34" charset="0"/>
              </a:rPr>
              <a:t>Exemple : </a:t>
            </a:r>
            <a:endParaRPr lang="es-ES" dirty="0"/>
          </a:p>
        </p:txBody>
      </p:sp>
    </p:spTree>
    <p:extLst>
      <p:ext uri="{BB962C8B-B14F-4D97-AF65-F5344CB8AC3E}">
        <p14:creationId xmlns:p14="http://schemas.microsoft.com/office/powerpoint/2010/main" val="3664538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a:t>Contrôle de Scène</a:t>
            </a:r>
          </a:p>
        </p:txBody>
      </p:sp>
      <p:sp>
        <p:nvSpPr>
          <p:cNvPr id="4" name="Rectangle 3">
            <a:extLst>
              <a:ext uri="{FF2B5EF4-FFF2-40B4-BE49-F238E27FC236}">
                <a16:creationId xmlns:a16="http://schemas.microsoft.com/office/drawing/2014/main" id="{816F9A5F-289D-44E6-93C7-604C0415BFD7}"/>
              </a:ext>
            </a:extLst>
          </p:cNvPr>
          <p:cNvSpPr/>
          <p:nvPr/>
        </p:nvSpPr>
        <p:spPr>
          <a:xfrm>
            <a:off x="755576" y="1484784"/>
            <a:ext cx="3744416" cy="4799103"/>
          </a:xfrm>
          <a:prstGeom prst="rect">
            <a:avLst/>
          </a:prstGeom>
        </p:spPr>
        <p:txBody>
          <a:bodyPr/>
          <a:lstStyle/>
          <a:p>
            <a:pPr eaLnBrk="0" hangingPunct="0">
              <a:spcBef>
                <a:spcPct val="20000"/>
              </a:spcBef>
              <a:buClr>
                <a:srgbClr val="369226"/>
              </a:buClr>
            </a:pPr>
            <a:r>
              <a:rPr lang="en-US" b="1" kern="0">
                <a:solidFill>
                  <a:srgbClr val="369226"/>
                </a:solidFill>
                <a:latin typeface="+mn-lt"/>
                <a:ea typeface="Open Sans" panose="020B0606030504020204" pitchFamily="34" charset="0"/>
                <a:cs typeface="Open Sans" panose="020B0606030504020204" pitchFamily="34" charset="0"/>
              </a:rPr>
              <a:t>Approches :</a:t>
            </a:r>
          </a:p>
          <a:p>
            <a:pPr marL="342900" indent="-342900" eaLnBrk="0" hangingPunct="0">
              <a:spcBef>
                <a:spcPct val="20000"/>
              </a:spcBef>
              <a:buClr>
                <a:srgbClr val="369226"/>
              </a:buClr>
              <a:buFont typeface="Wingdings" pitchFamily="2" charset="2"/>
              <a:buChar char="§"/>
            </a:pPr>
            <a:r>
              <a:rPr lang="en-GB" sz="1600" b="1" kern="0">
                <a:latin typeface="+mn-lt"/>
                <a:ea typeface="Open Sans" panose="020B0606030504020204" pitchFamily="34" charset="0"/>
                <a:cs typeface="Open Sans" panose="020B0606030504020204" pitchFamily="34" charset="0"/>
              </a:rPr>
              <a:t>Réglage de la scène en utilisant le </a:t>
            </a:r>
            <a:r>
              <a:rPr lang="en-GB" sz="1600" b="1" kern="0">
                <a:solidFill>
                  <a:srgbClr val="369226"/>
                </a:solidFill>
                <a:latin typeface="+mn-lt"/>
                <a:ea typeface="Open Sans" panose="020B0606030504020204" pitchFamily="34" charset="0"/>
                <a:cs typeface="Open Sans" panose="020B0606030504020204" pitchFamily="34" charset="0"/>
              </a:rPr>
              <a:t>DPT_Scene_AB </a:t>
            </a:r>
            <a:r>
              <a:rPr lang="en-GB" sz="1600" b="1" kern="0">
                <a:latin typeface="+mn-lt"/>
                <a:ea typeface="Open Sans" panose="020B0606030504020204" pitchFamily="34" charset="0"/>
                <a:cs typeface="Open Sans" panose="020B0606030504020204" pitchFamily="34" charset="0"/>
              </a:rPr>
              <a:t>(1.022). </a:t>
            </a:r>
            <a:r>
              <a:rPr lang="en-GB" sz="1600" b="1">
                <a:latin typeface="+mn-lt"/>
              </a:rPr>
              <a:t>il n'est pas possible que l'utilisateur change la scène</a:t>
            </a:r>
            <a:endParaRPr lang="es-ES" sz="16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GB" sz="16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GB" sz="1600" b="1" kern="0">
                <a:latin typeface="+mn-lt"/>
                <a:ea typeface="Open Sans" panose="020B0606030504020204" pitchFamily="34" charset="0"/>
                <a:cs typeface="Open Sans" panose="020B0606030504020204" pitchFamily="34" charset="0"/>
              </a:rPr>
              <a:t>Définition et stockage de la scène sous forme de numéro à l'aide du </a:t>
            </a:r>
            <a:r>
              <a:rPr lang="en-GB" sz="1600" b="1" kern="0">
                <a:solidFill>
                  <a:srgbClr val="369226"/>
                </a:solidFill>
                <a:latin typeface="+mn-lt"/>
                <a:ea typeface="Open Sans" panose="020B0606030504020204" pitchFamily="34" charset="0"/>
                <a:cs typeface="Open Sans" panose="020B0606030504020204" pitchFamily="34" charset="0"/>
              </a:rPr>
              <a:t>DPT_Scene_Control</a:t>
            </a:r>
            <a:r>
              <a:rPr lang="en-GB" sz="1600" b="1" kern="0">
                <a:latin typeface="+mn-lt"/>
                <a:ea typeface="Open Sans" panose="020B0606030504020204" pitchFamily="34" charset="0"/>
                <a:cs typeface="Open Sans" panose="020B0606030504020204" pitchFamily="34" charset="0"/>
              </a:rPr>
              <a:t>. Les scènes peuvent être réglées et appelées </a:t>
            </a:r>
            <a:endParaRPr lang="es-ES" sz="16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endParaRPr lang="en-GB" sz="1600" b="1" kern="0" dirty="0">
              <a:latin typeface="+mn-lt"/>
              <a:ea typeface="Open Sans" panose="020B0606030504020204" pitchFamily="34" charset="0"/>
              <a:cs typeface="Open Sans" panose="020B0606030504020204" pitchFamily="34" charset="0"/>
            </a:endParaRPr>
          </a:p>
          <a:p>
            <a:pPr marL="342900" indent="-342900" eaLnBrk="0" hangingPunct="0">
              <a:spcBef>
                <a:spcPct val="20000"/>
              </a:spcBef>
              <a:buClr>
                <a:srgbClr val="369226"/>
              </a:buClr>
              <a:buFont typeface="Wingdings" pitchFamily="2" charset="2"/>
              <a:buChar char="§"/>
            </a:pPr>
            <a:r>
              <a:rPr lang="en-GB" sz="1600" b="1" kern="0">
                <a:latin typeface="+mn-lt"/>
                <a:ea typeface="Open Sans" panose="020B0606030504020204" pitchFamily="34" charset="0"/>
                <a:cs typeface="Open Sans" panose="020B0606030504020204" pitchFamily="34" charset="0"/>
              </a:rPr>
              <a:t>En utilisant le </a:t>
            </a:r>
            <a:r>
              <a:rPr lang="en-GB" sz="1600" b="1" kern="0">
                <a:solidFill>
                  <a:srgbClr val="369226"/>
                </a:solidFill>
                <a:latin typeface="+mn-lt"/>
                <a:ea typeface="Open Sans" panose="020B0606030504020204" pitchFamily="34" charset="0"/>
                <a:cs typeface="Open Sans" panose="020B0606030504020204" pitchFamily="34" charset="0"/>
              </a:rPr>
              <a:t>DPT_SceneNumber</a:t>
            </a:r>
            <a:r>
              <a:rPr lang="en-GB" sz="1600" b="1" kern="0">
                <a:latin typeface="+mn-lt"/>
                <a:ea typeface="Open Sans" panose="020B0606030504020204" pitchFamily="34" charset="0"/>
                <a:cs typeface="Open Sans" panose="020B0606030504020204" pitchFamily="34" charset="0"/>
              </a:rPr>
              <a:t>: identique au DPT_Scene_Control, cependant il ne permet pas de stocker de nouvelles scènes</a:t>
            </a:r>
            <a:endParaRPr lang="es-ES" sz="1600" b="1" kern="0" dirty="0">
              <a:latin typeface="+mn-lt"/>
              <a:ea typeface="Open Sans" panose="020B0606030504020204" pitchFamily="34" charset="0"/>
              <a:cs typeface="Open Sans" panose="020B0606030504020204" pitchFamily="34" charset="0"/>
            </a:endParaRPr>
          </a:p>
          <a:p>
            <a:pPr eaLnBrk="0" hangingPunct="0">
              <a:spcBef>
                <a:spcPct val="20000"/>
              </a:spcBef>
              <a:buClr>
                <a:srgbClr val="369226"/>
              </a:buClr>
            </a:pPr>
            <a:endParaRPr lang="en-US" sz="1600" b="1" kern="0" dirty="0">
              <a:latin typeface="+mn-lt"/>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C6257641-F3F9-4874-9F0C-B814DA219C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50405" y="1844824"/>
            <a:ext cx="4142075" cy="1537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C0DB980F-42DA-4850-9D6C-1ACDF937264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50405" y="4005064"/>
            <a:ext cx="4142075" cy="2260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09E8756-32AD-4EF3-9F1C-F5E45E053F88}"/>
              </a:ext>
            </a:extLst>
          </p:cNvPr>
          <p:cNvSpPr/>
          <p:nvPr/>
        </p:nvSpPr>
        <p:spPr>
          <a:xfrm>
            <a:off x="4710787" y="1484784"/>
            <a:ext cx="1877437" cy="369332"/>
          </a:xfrm>
          <a:prstGeom prst="rect">
            <a:avLst/>
          </a:prstGeom>
        </p:spPr>
        <p:txBody>
          <a:bodyPr wrap="none">
            <a:spAutoFit/>
          </a:bodyPr>
          <a:lstStyle/>
          <a:p>
            <a:pPr lvl="0"/>
            <a:r>
              <a:rPr lang="en-GB" b="1">
                <a:solidFill>
                  <a:srgbClr val="369226"/>
                </a:solidFill>
              </a:rPr>
              <a:t>Numéro de scène:</a:t>
            </a:r>
          </a:p>
        </p:txBody>
      </p:sp>
      <p:sp>
        <p:nvSpPr>
          <p:cNvPr id="8" name="Rectangle 7">
            <a:extLst>
              <a:ext uri="{FF2B5EF4-FFF2-40B4-BE49-F238E27FC236}">
                <a16:creationId xmlns:a16="http://schemas.microsoft.com/office/drawing/2014/main" id="{649755A6-9F7B-4F26-8ED4-8AF49EACAFAF}"/>
              </a:ext>
            </a:extLst>
          </p:cNvPr>
          <p:cNvSpPr/>
          <p:nvPr/>
        </p:nvSpPr>
        <p:spPr>
          <a:xfrm>
            <a:off x="4690075" y="3645024"/>
            <a:ext cx="1826141" cy="369332"/>
          </a:xfrm>
          <a:prstGeom prst="rect">
            <a:avLst/>
          </a:prstGeom>
        </p:spPr>
        <p:txBody>
          <a:bodyPr wrap="none">
            <a:spAutoFit/>
          </a:bodyPr>
          <a:lstStyle/>
          <a:p>
            <a:pPr lvl="0"/>
            <a:r>
              <a:rPr lang="en-GB" b="1">
                <a:solidFill>
                  <a:srgbClr val="369226"/>
                </a:solidFill>
              </a:rPr>
              <a:t>Contrôle de scène :</a:t>
            </a:r>
          </a:p>
        </p:txBody>
      </p:sp>
    </p:spTree>
    <p:extLst>
      <p:ext uri="{BB962C8B-B14F-4D97-AF65-F5344CB8AC3E}">
        <p14:creationId xmlns:p14="http://schemas.microsoft.com/office/powerpoint/2010/main" val="1944162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sz="2400" dirty="0"/>
              <a:t>Types courants de Points de </a:t>
            </a:r>
            <a:r>
              <a:rPr lang="en-US" sz="2400" dirty="0" err="1"/>
              <a:t>données</a:t>
            </a:r>
            <a:r>
              <a:rPr lang="en-US" sz="2400" dirty="0"/>
              <a:t> HVAC</a:t>
            </a:r>
          </a:p>
        </p:txBody>
      </p:sp>
      <p:pic>
        <p:nvPicPr>
          <p:cNvPr id="5" name="Picture 2">
            <a:extLst>
              <a:ext uri="{FF2B5EF4-FFF2-40B4-BE49-F238E27FC236}">
                <a16:creationId xmlns:a16="http://schemas.microsoft.com/office/drawing/2014/main" id="{151E401C-E987-4291-A2C2-93FC7737AD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412776"/>
            <a:ext cx="5051174" cy="4834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2117AAD-4BDA-4D66-93E9-CBCF256F6EA5}"/>
              </a:ext>
            </a:extLst>
          </p:cNvPr>
          <p:cNvSpPr/>
          <p:nvPr/>
        </p:nvSpPr>
        <p:spPr>
          <a:xfrm>
            <a:off x="900113" y="1412776"/>
            <a:ext cx="2951807" cy="2862322"/>
          </a:xfrm>
          <a:prstGeom prst="rect">
            <a:avLst/>
          </a:prstGeom>
        </p:spPr>
        <p:txBody>
          <a:bodyPr wrap="square">
            <a:spAutoFit/>
          </a:bodyPr>
          <a:lstStyle/>
          <a:p>
            <a:r>
              <a:rPr lang="en-GB" b="1"/>
              <a:t>Nouveau DPT: DPT_HVACMode </a:t>
            </a:r>
          </a:p>
          <a:p>
            <a:endParaRPr lang="en-GB" b="1" dirty="0"/>
          </a:p>
          <a:p>
            <a:r>
              <a:rPr lang="en-GB" b="1"/>
              <a:t>Les thermostats d'ambiance informent sur leur état avec le mode DPT_HVACContrMode standardisé</a:t>
            </a:r>
            <a:endParaRPr lang="en-GB" b="1" dirty="0"/>
          </a:p>
          <a:p>
            <a:endParaRPr lang="en-US" sz="1600" dirty="0"/>
          </a:p>
        </p:txBody>
      </p:sp>
    </p:spTree>
    <p:extLst>
      <p:ext uri="{BB962C8B-B14F-4D97-AF65-F5344CB8AC3E}">
        <p14:creationId xmlns:p14="http://schemas.microsoft.com/office/powerpoint/2010/main" val="38588127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877090" y="476250"/>
            <a:ext cx="6480175" cy="719138"/>
          </a:xfrm>
        </p:spPr>
        <p:txBody>
          <a:bodyPr/>
          <a:lstStyle/>
          <a:p>
            <a:r>
              <a:rPr lang="en-US" sz="2400"/>
              <a:t>Combinaison de DPT dans des dispositifs</a:t>
            </a:r>
          </a:p>
        </p:txBody>
      </p:sp>
      <p:sp>
        <p:nvSpPr>
          <p:cNvPr id="4" name="Rectangle 3">
            <a:extLst>
              <a:ext uri="{FF2B5EF4-FFF2-40B4-BE49-F238E27FC236}">
                <a16:creationId xmlns:a16="http://schemas.microsoft.com/office/drawing/2014/main" id="{816F9A5F-289D-44E6-93C7-604C0415BFD7}"/>
              </a:ext>
            </a:extLst>
          </p:cNvPr>
          <p:cNvSpPr/>
          <p:nvPr/>
        </p:nvSpPr>
        <p:spPr>
          <a:xfrm>
            <a:off x="900112" y="1412776"/>
            <a:ext cx="7488311" cy="2246769"/>
          </a:xfrm>
          <a:prstGeom prst="rect">
            <a:avLst/>
          </a:prstGeom>
        </p:spPr>
        <p:txBody>
          <a:bodyPr wrap="square">
            <a:spAutoFit/>
          </a:bodyPr>
          <a:lstStyle/>
          <a:p>
            <a:r>
              <a:rPr lang="en-US" sz="2000" b="1" dirty="0"/>
              <a:t>La </a:t>
            </a:r>
            <a:r>
              <a:rPr lang="en-US" sz="2000" b="1" dirty="0" err="1"/>
              <a:t>combinaison</a:t>
            </a:r>
            <a:r>
              <a:rPr lang="en-US" sz="2000" b="1" dirty="0"/>
              <a:t> de DPTs dans des </a:t>
            </a:r>
            <a:r>
              <a:rPr lang="en-US" sz="2000" b="1" dirty="0" err="1"/>
              <a:t>dispositifs</a:t>
            </a:r>
            <a:r>
              <a:rPr lang="en-US" sz="2000" b="1" dirty="0"/>
              <a:t> a </a:t>
            </a:r>
            <a:r>
              <a:rPr lang="en-US" sz="2000" b="1" dirty="0" err="1"/>
              <a:t>été</a:t>
            </a:r>
            <a:r>
              <a:rPr lang="en-US" sz="2000" b="1" dirty="0"/>
              <a:t> </a:t>
            </a:r>
            <a:r>
              <a:rPr lang="en-US" sz="2000" b="1" dirty="0" err="1">
                <a:solidFill>
                  <a:srgbClr val="369226"/>
                </a:solidFill>
              </a:rPr>
              <a:t>standardisée</a:t>
            </a:r>
            <a:r>
              <a:rPr lang="en-US" sz="2000" b="1" dirty="0"/>
              <a:t> et </a:t>
            </a:r>
            <a:r>
              <a:rPr lang="en-US" sz="2000" b="1" dirty="0" err="1"/>
              <a:t>est</a:t>
            </a:r>
            <a:r>
              <a:rPr lang="en-US" sz="2000" b="1" dirty="0"/>
              <a:t> </a:t>
            </a:r>
            <a:r>
              <a:rPr lang="en-US" sz="2000" b="1" dirty="0" err="1">
                <a:solidFill>
                  <a:srgbClr val="369226"/>
                </a:solidFill>
              </a:rPr>
              <a:t>obligatoire</a:t>
            </a:r>
            <a:r>
              <a:rPr lang="en-US" sz="2000" b="1" dirty="0">
                <a:solidFill>
                  <a:srgbClr val="369226"/>
                </a:solidFill>
              </a:rPr>
              <a:t> pour la certification</a:t>
            </a:r>
          </a:p>
          <a:p>
            <a:endParaRPr lang="en-US" sz="2000" b="1" dirty="0"/>
          </a:p>
          <a:p>
            <a:r>
              <a:rPr lang="en-GB" sz="2000" b="1" dirty="0" err="1"/>
              <a:t>Ces</a:t>
            </a:r>
            <a:r>
              <a:rPr lang="en-GB" sz="2000" b="1" dirty="0"/>
              <a:t> </a:t>
            </a:r>
            <a:r>
              <a:rPr lang="en-GB" sz="2000" b="1" dirty="0" err="1"/>
              <a:t>normes</a:t>
            </a:r>
            <a:r>
              <a:rPr lang="en-GB" sz="2000" b="1" dirty="0"/>
              <a:t> </a:t>
            </a:r>
            <a:r>
              <a:rPr lang="en-GB" sz="2000" b="1" dirty="0" err="1"/>
              <a:t>appelées</a:t>
            </a:r>
            <a:r>
              <a:rPr lang="en-GB" sz="2000" b="1" dirty="0"/>
              <a:t> « </a:t>
            </a:r>
            <a:r>
              <a:rPr lang="en-GB" sz="2000" b="1" dirty="0">
                <a:solidFill>
                  <a:srgbClr val="369226"/>
                </a:solidFill>
              </a:rPr>
              <a:t>blocs </a:t>
            </a:r>
            <a:r>
              <a:rPr lang="en-GB" sz="2000" b="1" dirty="0" err="1">
                <a:solidFill>
                  <a:srgbClr val="369226"/>
                </a:solidFill>
              </a:rPr>
              <a:t>fonctionnels</a:t>
            </a:r>
            <a:r>
              <a:rPr lang="en-GB" sz="2000" b="1" dirty="0"/>
              <a:t> » </a:t>
            </a:r>
            <a:r>
              <a:rPr lang="en-GB" sz="2000" b="1" dirty="0" err="1"/>
              <a:t>sont</a:t>
            </a:r>
            <a:r>
              <a:rPr lang="en-GB" sz="2000" b="1" dirty="0"/>
              <a:t> </a:t>
            </a:r>
            <a:r>
              <a:rPr lang="en-GB" sz="2000" b="1" dirty="0" err="1"/>
              <a:t>respectivement</a:t>
            </a:r>
            <a:r>
              <a:rPr lang="en-GB" sz="2000" b="1" dirty="0"/>
              <a:t> « </a:t>
            </a:r>
            <a:r>
              <a:rPr lang="en-GB" sz="2000" b="1" dirty="0" err="1">
                <a:solidFill>
                  <a:srgbClr val="369226"/>
                </a:solidFill>
              </a:rPr>
              <a:t>l'Actionneur</a:t>
            </a:r>
            <a:r>
              <a:rPr lang="en-GB" sz="2000" b="1" dirty="0">
                <a:solidFill>
                  <a:srgbClr val="369226"/>
                </a:solidFill>
              </a:rPr>
              <a:t> de variation de base</a:t>
            </a:r>
            <a:r>
              <a:rPr lang="en-GB" sz="2000" b="1" dirty="0"/>
              <a:t> » et « </a:t>
            </a:r>
            <a:r>
              <a:rPr lang="en-GB" sz="2000" b="1" dirty="0" err="1">
                <a:solidFill>
                  <a:srgbClr val="369226"/>
                </a:solidFill>
              </a:rPr>
              <a:t>l'Actionneur</a:t>
            </a:r>
            <a:r>
              <a:rPr lang="en-GB" sz="2000" b="1" dirty="0">
                <a:solidFill>
                  <a:srgbClr val="369226"/>
                </a:solidFill>
              </a:rPr>
              <a:t> de store de base</a:t>
            </a:r>
            <a:r>
              <a:rPr lang="en-GB" sz="2000" b="1" dirty="0"/>
              <a:t> » </a:t>
            </a:r>
          </a:p>
          <a:p>
            <a:endParaRPr lang="en-US" sz="2000" dirty="0">
              <a:solidFill>
                <a:srgbClr val="369226"/>
              </a:solidFill>
            </a:endParaRPr>
          </a:p>
        </p:txBody>
      </p:sp>
      <p:sp>
        <p:nvSpPr>
          <p:cNvPr id="2" name="Rectangle 1">
            <a:extLst>
              <a:ext uri="{FF2B5EF4-FFF2-40B4-BE49-F238E27FC236}">
                <a16:creationId xmlns:a16="http://schemas.microsoft.com/office/drawing/2014/main" id="{92043441-4156-44BE-9C39-9D5A75EDDE06}"/>
              </a:ext>
            </a:extLst>
          </p:cNvPr>
          <p:cNvSpPr/>
          <p:nvPr/>
        </p:nvSpPr>
        <p:spPr>
          <a:xfrm>
            <a:off x="929826" y="3876933"/>
            <a:ext cx="3786189" cy="1323439"/>
          </a:xfrm>
          <a:prstGeom prst="rect">
            <a:avLst/>
          </a:prstGeom>
        </p:spPr>
        <p:txBody>
          <a:bodyPr wrap="square">
            <a:spAutoFit/>
          </a:bodyPr>
          <a:lstStyle/>
          <a:p>
            <a:r>
              <a:rPr lang="en-GB" sz="2000" b="1" u="sng" dirty="0" err="1">
                <a:solidFill>
                  <a:srgbClr val="369226"/>
                </a:solidFill>
              </a:rPr>
              <a:t>Actionneur</a:t>
            </a:r>
            <a:r>
              <a:rPr lang="en-GB" sz="2000" b="1" u="sng" dirty="0">
                <a:solidFill>
                  <a:srgbClr val="369226"/>
                </a:solidFill>
              </a:rPr>
              <a:t> de variation de base</a:t>
            </a:r>
            <a:endParaRPr lang="es-ES" sz="2000" u="sng" dirty="0">
              <a:solidFill>
                <a:srgbClr val="369226"/>
              </a:solidFill>
            </a:endParaRPr>
          </a:p>
          <a:p>
            <a:r>
              <a:rPr lang="es-ES" sz="2000" b="1" dirty="0" err="1"/>
              <a:t>Interrupteur</a:t>
            </a:r>
            <a:r>
              <a:rPr lang="es-ES" sz="2000" b="1" dirty="0"/>
              <a:t>, DPT 1.001</a:t>
            </a:r>
          </a:p>
          <a:p>
            <a:r>
              <a:rPr lang="es-ES" sz="2000" b="1" dirty="0" err="1"/>
              <a:t>Gradation</a:t>
            </a:r>
            <a:r>
              <a:rPr lang="es-ES" sz="2000" b="1" dirty="0"/>
              <a:t> relative, DTC 3.007</a:t>
            </a:r>
          </a:p>
          <a:p>
            <a:r>
              <a:rPr lang="es-ES" sz="2000" b="1" dirty="0" err="1"/>
              <a:t>Gradation</a:t>
            </a:r>
            <a:r>
              <a:rPr lang="es-ES" sz="2000" b="1" dirty="0"/>
              <a:t> </a:t>
            </a:r>
            <a:r>
              <a:rPr lang="es-ES" sz="2000" b="1" dirty="0" err="1"/>
              <a:t>absolue</a:t>
            </a:r>
            <a:r>
              <a:rPr lang="es-ES" sz="2000" b="1" dirty="0"/>
              <a:t>, DPT 5.001</a:t>
            </a:r>
          </a:p>
        </p:txBody>
      </p:sp>
      <p:sp>
        <p:nvSpPr>
          <p:cNvPr id="6" name="Rectangle 5">
            <a:extLst>
              <a:ext uri="{FF2B5EF4-FFF2-40B4-BE49-F238E27FC236}">
                <a16:creationId xmlns:a16="http://schemas.microsoft.com/office/drawing/2014/main" id="{806DE4F8-8D7D-4746-90AA-CB6A94CFED32}"/>
              </a:ext>
            </a:extLst>
          </p:cNvPr>
          <p:cNvSpPr/>
          <p:nvPr/>
        </p:nvSpPr>
        <p:spPr>
          <a:xfrm>
            <a:off x="5004048" y="3861048"/>
            <a:ext cx="3528392" cy="1323439"/>
          </a:xfrm>
          <a:prstGeom prst="rect">
            <a:avLst/>
          </a:prstGeom>
        </p:spPr>
        <p:txBody>
          <a:bodyPr wrap="square">
            <a:spAutoFit/>
          </a:bodyPr>
          <a:lstStyle/>
          <a:p>
            <a:r>
              <a:rPr lang="en-GB" sz="2000" b="1" u="sng">
                <a:solidFill>
                  <a:srgbClr val="369226"/>
                </a:solidFill>
              </a:rPr>
              <a:t>Actionneur de stores de base</a:t>
            </a:r>
          </a:p>
          <a:p>
            <a:r>
              <a:rPr lang="en-US" sz="2000" b="1"/>
              <a:t>Marche/Arrêt (DPT 1.007)</a:t>
            </a:r>
          </a:p>
          <a:p>
            <a:r>
              <a:rPr lang="en-US" sz="2000" b="1"/>
              <a:t>Haut/Bas (DPT 1.008)</a:t>
            </a:r>
          </a:p>
          <a:p>
            <a:endParaRPr lang="es-ES" sz="2000" b="1" dirty="0"/>
          </a:p>
        </p:txBody>
      </p:sp>
    </p:spTree>
    <p:extLst>
      <p:ext uri="{BB962C8B-B14F-4D97-AF65-F5344CB8AC3E}">
        <p14:creationId xmlns:p14="http://schemas.microsoft.com/office/powerpoint/2010/main" val="180488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128271" cy="719138"/>
          </a:xfrm>
        </p:spPr>
        <p:txBody>
          <a:bodyPr/>
          <a:lstStyle/>
          <a:p>
            <a:r>
              <a:rPr lang="en-US"/>
              <a:t>Actionneur de Gradation de Base - Diagramme d'État </a:t>
            </a:r>
          </a:p>
        </p:txBody>
      </p:sp>
      <p:graphicFrame>
        <p:nvGraphicFramePr>
          <p:cNvPr id="5" name="Object 4">
            <a:extLst>
              <a:ext uri="{FF2B5EF4-FFF2-40B4-BE49-F238E27FC236}">
                <a16:creationId xmlns:a16="http://schemas.microsoft.com/office/drawing/2014/main" id="{B0902746-65CA-4273-9A5C-F91F9765543C}"/>
              </a:ext>
            </a:extLst>
          </p:cNvPr>
          <p:cNvGraphicFramePr>
            <a:graphicFrameLocks noChangeAspect="1"/>
          </p:cNvGraphicFramePr>
          <p:nvPr/>
        </p:nvGraphicFramePr>
        <p:xfrm>
          <a:off x="680934" y="1484784"/>
          <a:ext cx="7782132" cy="4608512"/>
        </p:xfrm>
        <a:graphic>
          <a:graphicData uri="http://schemas.openxmlformats.org/presentationml/2006/ole">
            <mc:AlternateContent xmlns:mc="http://schemas.openxmlformats.org/markup-compatibility/2006">
              <mc:Choice xmlns:v="urn:schemas-microsoft-com:vml" Requires="v">
                <p:oleObj r:id="rId3" imgW="9877437" imgH="5848236" progId="Visio.Drawing.15">
                  <p:embed/>
                </p:oleObj>
              </mc:Choice>
              <mc:Fallback>
                <p:oleObj r:id="rId3" imgW="9877437" imgH="5848236" progId="Visio.Drawing.15">
                  <p:embed/>
                  <p:pic>
                    <p:nvPicPr>
                      <p:cNvPr id="5" name="Object 4">
                        <a:extLst>
                          <a:ext uri="{FF2B5EF4-FFF2-40B4-BE49-F238E27FC236}">
                            <a16:creationId xmlns:a16="http://schemas.microsoft.com/office/drawing/2014/main" id="{B0902746-65CA-4273-9A5C-F91F976554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934" y="1484784"/>
                        <a:ext cx="7782132" cy="4608512"/>
                      </a:xfrm>
                      <a:prstGeom prst="rect">
                        <a:avLst/>
                      </a:prstGeom>
                      <a:noFill/>
                    </p:spPr>
                  </p:pic>
                </p:oleObj>
              </mc:Fallback>
            </mc:AlternateContent>
          </a:graphicData>
        </a:graphic>
      </p:graphicFrame>
    </p:spTree>
    <p:extLst>
      <p:ext uri="{BB962C8B-B14F-4D97-AF65-F5344CB8AC3E}">
        <p14:creationId xmlns:p14="http://schemas.microsoft.com/office/powerpoint/2010/main" val="1288756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128271" cy="719138"/>
          </a:xfrm>
        </p:spPr>
        <p:txBody>
          <a:bodyPr/>
          <a:lstStyle/>
          <a:p>
            <a:r>
              <a:rPr lang="en-US"/>
              <a:t>Actionneur de Stores de Base - Diagramme d'État </a:t>
            </a:r>
          </a:p>
        </p:txBody>
      </p:sp>
      <p:graphicFrame>
        <p:nvGraphicFramePr>
          <p:cNvPr id="4" name="Object 3">
            <a:extLst>
              <a:ext uri="{FF2B5EF4-FFF2-40B4-BE49-F238E27FC236}">
                <a16:creationId xmlns:a16="http://schemas.microsoft.com/office/drawing/2014/main" id="{4A149AF3-3CD9-40B8-8A18-6809DAAE8411}"/>
              </a:ext>
            </a:extLst>
          </p:cNvPr>
          <p:cNvGraphicFramePr>
            <a:graphicFrameLocks noChangeAspect="1"/>
          </p:cNvGraphicFramePr>
          <p:nvPr/>
        </p:nvGraphicFramePr>
        <p:xfrm>
          <a:off x="1187624" y="1484784"/>
          <a:ext cx="6408712" cy="4680972"/>
        </p:xfrm>
        <a:graphic>
          <a:graphicData uri="http://schemas.openxmlformats.org/presentationml/2006/ole">
            <mc:AlternateContent xmlns:mc="http://schemas.openxmlformats.org/markup-compatibility/2006">
              <mc:Choice xmlns:v="urn:schemas-microsoft-com:vml" Requires="v">
                <p:oleObj r:id="rId3" imgW="9258252" imgH="6753339" progId="Visio.Drawing.15">
                  <p:embed/>
                </p:oleObj>
              </mc:Choice>
              <mc:Fallback>
                <p:oleObj r:id="rId3" imgW="9258252" imgH="6753339" progId="Visio.Drawing.15">
                  <p:embed/>
                  <p:pic>
                    <p:nvPicPr>
                      <p:cNvPr id="4" name="Object 3">
                        <a:extLst>
                          <a:ext uri="{FF2B5EF4-FFF2-40B4-BE49-F238E27FC236}">
                            <a16:creationId xmlns:a16="http://schemas.microsoft.com/office/drawing/2014/main" id="{4A149AF3-3CD9-40B8-8A18-6809DAAE84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484784"/>
                        <a:ext cx="6408712" cy="4680972"/>
                      </a:xfrm>
                      <a:prstGeom prst="rect">
                        <a:avLst/>
                      </a:prstGeom>
                      <a:noFill/>
                    </p:spPr>
                  </p:pic>
                </p:oleObj>
              </mc:Fallback>
            </mc:AlternateContent>
          </a:graphicData>
        </a:graphic>
      </p:graphicFrame>
    </p:spTree>
    <p:extLst>
      <p:ext uri="{BB962C8B-B14F-4D97-AF65-F5344CB8AC3E}">
        <p14:creationId xmlns:p14="http://schemas.microsoft.com/office/powerpoint/2010/main" val="4289051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7238</TotalTime>
  <Words>7017</Words>
  <Application>Microsoft Office PowerPoint</Application>
  <PresentationFormat>On-screen Show (4:3)</PresentationFormat>
  <Paragraphs>825</Paragraphs>
  <Slides>35</Slides>
  <Notes>35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35</vt:i4>
      </vt:variant>
    </vt:vector>
  </HeadingPairs>
  <TitlesOfParts>
    <vt:vector size="43" baseType="lpstr">
      <vt:lpstr>Arial</vt:lpstr>
      <vt:lpstr>Calibri</vt:lpstr>
      <vt:lpstr>Gotham Light</vt:lpstr>
      <vt:lpstr>Gotham Medium</vt:lpstr>
      <vt:lpstr>Wingdings</vt:lpstr>
      <vt:lpstr>Training 2</vt:lpstr>
      <vt:lpstr>Equation.3</vt:lpstr>
      <vt:lpstr>Microsoft Visio Drawing</vt:lpstr>
      <vt:lpstr>COURS AVANCÉ KNX</vt:lpstr>
      <vt:lpstr>Introduction</vt:lpstr>
      <vt:lpstr>Avantages de l'Interfonctionnement</vt:lpstr>
      <vt:lpstr>Principes de l'Interfonctionnement de KNX</vt:lpstr>
      <vt:lpstr>Codage des types de points de données</vt:lpstr>
      <vt:lpstr>Principe Classes de types de points de données</vt:lpstr>
      <vt:lpstr>Principe Classes de types de points de données</vt:lpstr>
      <vt:lpstr>Exemple de Types “Multi-états”</vt:lpstr>
      <vt:lpstr>Types communs de points de données KNX</vt:lpstr>
      <vt:lpstr>Données booléennes : DPT B1</vt:lpstr>
      <vt:lpstr>Bit avec contrôle de priorité</vt:lpstr>
      <vt:lpstr>Bit avec contrôle de priorité: DPT B2</vt:lpstr>
      <vt:lpstr>3 bits avec la commande : DPT_Control_Dimming</vt:lpstr>
      <vt:lpstr>3 bits avec contrôle : DPT_Control_Blinds</vt:lpstr>
      <vt:lpstr>Types de points de données Jeu de Caractères</vt:lpstr>
      <vt:lpstr>8 Bits sans Signe</vt:lpstr>
      <vt:lpstr>8 Bits avec Signe</vt:lpstr>
      <vt:lpstr>2 Octets sans Signe</vt:lpstr>
      <vt:lpstr>2 Octets avec Signe</vt:lpstr>
      <vt:lpstr>Octets Nombre à Virgule Flottante</vt:lpstr>
      <vt:lpstr>Temps</vt:lpstr>
      <vt:lpstr>Date</vt:lpstr>
      <vt:lpstr>Date et Heure</vt:lpstr>
      <vt:lpstr>Commentaires sur la date et l'heure</vt:lpstr>
      <vt:lpstr>4 Octets sans Signe</vt:lpstr>
      <vt:lpstr>4 Octets avec Signe</vt:lpstr>
      <vt:lpstr>4 Octets Nombre à Virgule Flottante</vt:lpstr>
      <vt:lpstr>Contrôle d'Accès</vt:lpstr>
      <vt:lpstr>Exemple de contrôle d'accès</vt:lpstr>
      <vt:lpstr>Chaîne de Caractères</vt:lpstr>
      <vt:lpstr>Contrôle de Scène</vt:lpstr>
      <vt:lpstr>Types courants de Points de données HVAC</vt:lpstr>
      <vt:lpstr>Combinaison de DPT dans des dispositifs</vt:lpstr>
      <vt:lpstr>Actionneur de Gradation de Base - Diagramme d'État </vt:lpstr>
      <vt:lpstr>Actionneur de Stores de Base - Diagramme d'État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348</cp:revision>
  <dcterms:created xsi:type="dcterms:W3CDTF">2012-09-10T07:59:43Z</dcterms:created>
  <dcterms:modified xsi:type="dcterms:W3CDTF">2023-04-07T14:52:46Z</dcterms:modified>
</cp:coreProperties>
</file>